
<file path=[Content_Types].xml><?xml version="1.0" encoding="utf-8"?>
<Types xmlns="http://schemas.openxmlformats.org/package/2006/content-types">
  <Default Extension="xml" ContentType="application/xml"/>
  <Default Extension="doc" ContentType="application/msword"/>
  <Default Extension="png" ContentType="image/png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wmf" ContentType="image/x-w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>
      <p:cViewPr varScale="1">
        <p:scale>
          <a:sx n="121" d="100"/>
          <a:sy n="121" d="100"/>
        </p:scale>
        <p:origin x="1360" y="184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00" Type="http://schemas.openxmlformats.org/officeDocument/2006/relationships/slide" Target="slides/slide99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notesMaster" Target="notesMasters/notesMaster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1" Type="http://schemas.openxmlformats.org/officeDocument/2006/relationships/image" Target="../media/image7.wmf"/><Relationship Id="rId2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C51EC-6FD5-4863-83B5-92D981B3290E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40C3E-DC0F-454B-B64E-DAEF5FEB76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3C02ED99-B400-ED4F-B753-820A66DD90F9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38243" name="Rectangle 7"/>
          <p:cNvSpPr txBox="1">
            <a:spLocks noGrp="1" noChangeArrowheads="1"/>
          </p:cNvSpPr>
          <p:nvPr/>
        </p:nvSpPr>
        <p:spPr bwMode="auto">
          <a:xfrm>
            <a:off x="3884613" y="8686800"/>
            <a:ext cx="29718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556" tIns="47778" rIns="95556" bIns="47778" anchor="b"/>
          <a:lstStyle>
            <a:lvl1pPr defTabSz="955675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955675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955675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955675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955675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/>
            <a:fld id="{76ED7CF8-8678-2147-86EF-C1A434CA960D}" type="slidenum">
              <a:rPr lang="en-US" altLang="zh-CN" sz="1300"/>
              <a:pPr algn="r" eaLnBrk="1" hangingPunct="1"/>
              <a:t>1</a:t>
            </a:fld>
            <a:endParaRPr lang="en-US" altLang="zh-CN" sz="1300"/>
          </a:p>
        </p:txBody>
      </p:sp>
      <p:sp>
        <p:nvSpPr>
          <p:cNvPr id="13824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665163" y="223838"/>
            <a:ext cx="3292475" cy="2470150"/>
          </a:xfrm>
          <a:ln/>
        </p:spPr>
      </p:sp>
      <p:sp>
        <p:nvSpPr>
          <p:cNvPr id="138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2997200"/>
            <a:ext cx="5662613" cy="5767388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5556" tIns="47778" rIns="95556" bIns="47778"/>
          <a:lstStyle/>
          <a:p>
            <a:pPr eaLnBrk="1" hangingPunct="1"/>
            <a:endParaRPr lang="zh-CN" altLang="zh-CN" sz="140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401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EAC8028-D115-E746-AAE8-7726FC9910A3}" type="slidenum">
              <a:rPr lang="en-US" altLang="zh-CN"/>
              <a:pPr eaLnBrk="1" hangingPunct="1"/>
              <a:t>38</a:t>
            </a:fld>
            <a:endParaRPr lang="en-US" altLang="zh-CN"/>
          </a:p>
        </p:txBody>
      </p:sp>
      <p:sp>
        <p:nvSpPr>
          <p:cNvPr id="139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ea typeface="楷体_GB2312" charset="0"/>
              </a:rPr>
              <a:t>图的存储结构不同、图的类型不同，都会影响创建算法的实现细节；但是，图的总体创建流程是一致的</a:t>
            </a:r>
            <a:r>
              <a:rPr lang="zh-CN" altLang="en-US">
                <a:solidFill>
                  <a:srgbClr val="0000FF"/>
                </a:solidFill>
                <a:ea typeface="宋体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03401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F730BCD2-2ED1-404A-8E72-0782AC37DD8C}" type="slidenum">
              <a:rPr lang="en-US" altLang="zh-CN"/>
              <a:pPr eaLnBrk="1" hangingPunct="1"/>
              <a:t>39</a:t>
            </a:fld>
            <a:endParaRPr lang="en-US" altLang="zh-CN"/>
          </a:p>
        </p:txBody>
      </p:sp>
      <p:sp>
        <p:nvSpPr>
          <p:cNvPr id="140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/* 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步骤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2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：输入图的顶点数、边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弧数	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);/* IncInfo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为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0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则各弧不含其它信息 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/* 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步骤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3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：输入并存储顶点信息			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/* 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步骤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4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：输入并存储边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弧信息		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/* 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邻接矩阵初始化	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/* G.arcs[i][j].info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要求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G.arcs[i][j].info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指向的空间在调用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Input()</a:t>
            </a:r>
            <a:r>
              <a:rPr lang="zh-CN" altLang="en-US" sz="1400" b="1">
                <a:solidFill>
                  <a:srgbClr val="0000FF"/>
                </a:solidFill>
                <a:ea typeface="宋体" charset="-122"/>
              </a:rPr>
              <a:t>前分配	*</a:t>
            </a:r>
            <a:r>
              <a:rPr lang="en-US" altLang="zh-CN" sz="1400" b="1">
                <a:solidFill>
                  <a:srgbClr val="0000FF"/>
                </a:solidFill>
                <a:ea typeface="宋体" charset="-122"/>
              </a:rPr>
              <a:t>/</a:t>
            </a:r>
          </a:p>
          <a:p>
            <a:pPr eaLnBrk="1" hangingPunct="1"/>
            <a:endParaRPr lang="en-US" altLang="zh-CN" sz="1400" b="1">
              <a:solidFill>
                <a:srgbClr val="0000FF"/>
              </a:solidFill>
              <a:ea typeface="宋体" charset="-122"/>
            </a:endParaRPr>
          </a:p>
          <a:p>
            <a:pPr eaLnBrk="1" hangingPunct="1"/>
            <a:endParaRPr lang="en-US" altLang="zh-CN" sz="1400" b="1">
              <a:solidFill>
                <a:srgbClr val="0000FF"/>
              </a:solidFill>
              <a:ea typeface="宋体" charset="-122"/>
            </a:endParaRPr>
          </a:p>
          <a:p>
            <a:pPr eaLnBrk="1" hangingPunct="1"/>
            <a:endParaRPr lang="en-US" altLang="zh-CN" sz="1400" b="1">
              <a:solidFill>
                <a:srgbClr val="0000FF"/>
              </a:solidFill>
              <a:ea typeface="宋体" charset="-122"/>
            </a:endParaRPr>
          </a:p>
          <a:p>
            <a:pPr eaLnBrk="1" hangingPunct="1"/>
            <a:endParaRPr lang="en-US" altLang="zh-CN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65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NUL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 userDrawn="1"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1pPr>
            <a:lvl2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2pPr>
            <a:lvl3pPr>
              <a:spcAft>
                <a:spcPts val="1000"/>
              </a:spcAft>
              <a:defRPr>
                <a:solidFill>
                  <a:schemeClr val="tx2">
                    <a:lumMod val="75000"/>
                  </a:schemeClr>
                </a:solidFill>
                <a:latin typeface="华文楷体" panose="02010600040101010101" charset="-122"/>
                <a:ea typeface="华文楷体" panose="02010600040101010101" charset="-122"/>
              </a:defRPr>
            </a:lvl3pPr>
          </a:lstStyle>
          <a:p>
            <a:pPr lvl="0" eaLnBrk="1" latinLnBrk="0" hangingPunct="1"/>
            <a:r>
              <a:rPr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lang="zh-CN" altLang="en-US" dirty="0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64422" y="6407309"/>
            <a:ext cx="1920240" cy="365760"/>
          </a:xfrm>
        </p:spPr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70447" y="6408579"/>
            <a:ext cx="2350681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084185" y="6407785"/>
            <a:ext cx="929005" cy="365125"/>
          </a:xfrm>
        </p:spPr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 userDrawn="1"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 userDrawn="1"/>
        </p:nvSpPr>
        <p:spPr bwMode="auto">
          <a:xfrm>
            <a:off x="557472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C85226CB-B0C2-4344-A5A0-B57BD90EDBDF}" type="datetimeFigureOut">
              <a:rPr lang="zh-CN" altLang="en-US" smtClean="0"/>
              <a:t>2021/9/12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6E1C0148-8E4B-4B2F-95CE-20B4709700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4" Type="http://schemas.openxmlformats.org/officeDocument/2006/relationships/slide" Target="slide40.xml"/><Relationship Id="rId5" Type="http://schemas.openxmlformats.org/officeDocument/2006/relationships/slide" Target="slide68.xml"/><Relationship Id="rId6" Type="http://schemas.openxmlformats.org/officeDocument/2006/relationships/slide" Target="slide81.xml"/><Relationship Id="rId7" Type="http://schemas.openxmlformats.org/officeDocument/2006/relationships/slide" Target="slide64.xml"/><Relationship Id="rId8" Type="http://schemas.openxmlformats.org/officeDocument/2006/relationships/slide" Target="slide92.xml"/><Relationship Id="rId9" Type="http://schemas.openxmlformats.org/officeDocument/2006/relationships/slide" Target="slide103.xml"/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" Target="slide12.xml"/><Relationship Id="rId6" Type="http://schemas.openxmlformats.org/officeDocument/2006/relationships/slide" Target="slide14.xml"/><Relationship Id="rId7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4" Type="http://schemas.openxmlformats.org/officeDocument/2006/relationships/slide" Target="slide17.xml"/><Relationship Id="rId5" Type="http://schemas.openxmlformats.org/officeDocument/2006/relationships/slide" Target="slide21.xml"/><Relationship Id="rId6" Type="http://schemas.openxmlformats.org/officeDocument/2006/relationships/slide" Target="slide20.xml"/><Relationship Id="rId7" Type="http://schemas.openxmlformats.org/officeDocument/2006/relationships/slide" Target="slide2.xml"/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4" Type="http://schemas.openxmlformats.org/officeDocument/2006/relationships/slide" Target="slide33.xml"/><Relationship Id="rId5" Type="http://schemas.openxmlformats.org/officeDocument/2006/relationships/slide" Target="slide36.xml"/><Relationship Id="rId6" Type="http://schemas.openxmlformats.org/officeDocument/2006/relationships/slide" Target="slide2.xml"/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Microsoft_Word_97_-_2004___1.doc"/><Relationship Id="rId5" Type="http://schemas.openxmlformats.org/officeDocument/2006/relationships/image" Target="../media/image1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2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9.xml"/><Relationship Id="rId4" Type="http://schemas.openxmlformats.org/officeDocument/2006/relationships/slide" Target="slide54.xml"/><Relationship Id="rId5" Type="http://schemas.openxmlformats.org/officeDocument/2006/relationships/slide" Target="slide2.xml"/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1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audio2.bin"/><Relationship Id="rId3" Type="http://schemas.openxmlformats.org/officeDocument/2006/relationships/audio" Target="../media/audio3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8.xml"/><Relationship Id="rId3" Type="http://schemas.openxmlformats.org/officeDocument/2006/relationships/slide" Target="slide4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1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77.xml"/><Relationship Id="rId3" Type="http://schemas.openxmlformats.org/officeDocument/2006/relationships/slide" Target="slide8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6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5.xml"/><Relationship Id="rId3" Type="http://schemas.openxmlformats.org/officeDocument/2006/relationships/slide" Target="slide8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4" Type="http://schemas.openxmlformats.org/officeDocument/2006/relationships/image" Target="../media/image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1.bin"/><Relationship Id="rId12" Type="http://schemas.openxmlformats.org/officeDocument/2006/relationships/image" Target="../media/image11.emf"/><Relationship Id="rId13" Type="http://schemas.openxmlformats.org/officeDocument/2006/relationships/oleObject" Target="../embeddings/oleObject12.bin"/><Relationship Id="rId14" Type="http://schemas.openxmlformats.org/officeDocument/2006/relationships/image" Target="../media/image12.e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7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6" Type="http://schemas.openxmlformats.org/officeDocument/2006/relationships/image" Target="../media/image8.wmf"/><Relationship Id="rId7" Type="http://schemas.openxmlformats.org/officeDocument/2006/relationships/oleObject" Target="../embeddings/oleObject9.bin"/><Relationship Id="rId8" Type="http://schemas.openxmlformats.org/officeDocument/2006/relationships/image" Target="../media/image9.emf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10.emf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66.xml"/><Relationship Id="rId3" Type="http://schemas.openxmlformats.org/officeDocument/2006/relationships/slide" Target="slide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5" Type="http://schemas.openxmlformats.org/officeDocument/2006/relationships/slide" Target="slide64.xml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slide" Target="slide6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Text Box 2"/>
          <p:cNvSpPr txBox="1">
            <a:spLocks noChangeArrowheads="1"/>
          </p:cNvSpPr>
          <p:nvPr/>
        </p:nvSpPr>
        <p:spPr bwMode="auto">
          <a:xfrm>
            <a:off x="1524000" y="4648200"/>
            <a:ext cx="5943600" cy="390884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lIns="82304" tIns="41152" rIns="82304" bIns="41152">
            <a:spAutoFit/>
          </a:bodyPr>
          <a:lstStyle>
            <a:lvl1pPr defTabSz="823913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defTabSz="823913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defTabSz="823913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defTabSz="823913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defTabSz="823913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823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823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823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8239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en-US" altLang="zh-CN" sz="20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</a:endParaRPr>
          </a:p>
        </p:txBody>
      </p:sp>
      <p:sp>
        <p:nvSpPr>
          <p:cNvPr id="539651" name="Text Box 3"/>
          <p:cNvSpPr txBox="1">
            <a:spLocks noChangeArrowheads="1"/>
          </p:cNvSpPr>
          <p:nvPr/>
        </p:nvSpPr>
        <p:spPr bwMode="auto">
          <a:xfrm>
            <a:off x="-152400" y="2617788"/>
            <a:ext cx="9109075" cy="6651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1703" tIns="45852" rIns="91703" bIns="45852" anchor="ctr">
            <a:spAutoFit/>
          </a:bodyPr>
          <a:lstStyle>
            <a:lvl1pPr defTabSz="82391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defTabSz="82391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defTabSz="82391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defTabSz="82391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defTabSz="823913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defTabSz="8239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0" hangingPunct="0">
              <a:lnSpc>
                <a:spcPct val="80000"/>
              </a:lnSpc>
              <a:spcAft>
                <a:spcPct val="20000"/>
              </a:spcAft>
              <a:defRPr/>
            </a:pPr>
            <a:r>
              <a:rPr kumimoji="1" lang="zh-CN" altLang="en-US" sz="47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第七章 图</a:t>
            </a:r>
          </a:p>
        </p:txBody>
      </p:sp>
    </p:spTree>
    <p:extLst>
      <p:ext uri="{BB962C8B-B14F-4D97-AF65-F5344CB8AC3E}">
        <p14:creationId xmlns:p14="http://schemas.microsoft.com/office/powerpoint/2010/main" val="1089349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2"/>
    </mc:Choice>
    <mc:Fallback>
      <p:transition spd="slow" advTm="422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447800" y="260350"/>
            <a:ext cx="5457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7.1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抽象数据类型图的定义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67" name="Text Box 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055938" y="1066800"/>
            <a:ext cx="3622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7.2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图的存储表示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68" name="Text Box 4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379538" y="1873250"/>
            <a:ext cx="2705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7.3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图的遍历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69" name="Text Box 5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3055938" y="2667000"/>
            <a:ext cx="31638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7.4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最小生成树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70" name="Text Box 6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379538" y="3429000"/>
            <a:ext cx="59166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7.5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重（双）连通图和关节点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71" name="Text Box 7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3074988" y="4267200"/>
            <a:ext cx="59166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7.6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两点之间的最短路径问题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72" name="Text Box 8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1379538" y="5029200"/>
            <a:ext cx="2705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7.7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拓扑排序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4073" name="Text Box 9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3049588" y="5791200"/>
            <a:ext cx="27051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7.8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关键路径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6304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autoUpdateAnimBg="0"/>
      <p:bldP spid="344067" grpId="0" autoUpdateAnimBg="0"/>
      <p:bldP spid="344068" grpId="0" autoUpdateAnimBg="0"/>
      <p:bldP spid="344069" grpId="0" autoUpdateAnimBg="0"/>
      <p:bldP spid="344070" grpId="0" autoUpdateAnimBg="0"/>
      <p:bldP spid="344071" grpId="0" autoUpdateAnimBg="0"/>
      <p:bldP spid="344072" grpId="0" autoUpdateAnimBg="0"/>
      <p:bldP spid="34407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2"/>
          <p:cNvSpPr txBox="1">
            <a:spLocks noChangeArrowheads="1"/>
          </p:cNvSpPr>
          <p:nvPr/>
        </p:nvSpPr>
        <p:spPr bwMode="auto">
          <a:xfrm>
            <a:off x="212725" y="1187450"/>
            <a:ext cx="8931275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zh-CN" sz="4000" b="1">
                <a:solidFill>
                  <a:srgbClr val="3333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zh-CN" sz="36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图</a:t>
            </a:r>
            <a:r>
              <a:rPr kumimoji="1" lang="zh-CN" altLang="zh-CN" sz="3600" b="1">
                <a:solidFill>
                  <a:srgbClr val="333399"/>
                </a:solidFill>
                <a:latin typeface="Times New Roman" charset="0"/>
                <a:ea typeface="楷体_GB2312" charset="0"/>
              </a:rPr>
              <a:t>是由一个</a:t>
            </a:r>
            <a:r>
              <a:rPr kumimoji="1" lang="zh-CN" altLang="en-US" sz="3600" b="1">
                <a:solidFill>
                  <a:srgbClr val="CC3300"/>
                </a:solidFill>
                <a:latin typeface="Times New Roman" charset="0"/>
                <a:ea typeface="楷体_GB2312" charset="0"/>
              </a:rPr>
              <a:t>顶点集 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zh-CN" sz="3600" b="1">
                <a:solidFill>
                  <a:srgbClr val="333399"/>
                </a:solidFill>
                <a:latin typeface="Times New Roman" charset="0"/>
                <a:ea typeface="楷体_GB2312" charset="0"/>
              </a:rPr>
              <a:t>和一个</a:t>
            </a:r>
            <a:r>
              <a:rPr kumimoji="1" lang="zh-CN" altLang="en-US" sz="3600" b="1">
                <a:solidFill>
                  <a:srgbClr val="CC3300"/>
                </a:solidFill>
                <a:latin typeface="Times New Roman" charset="0"/>
                <a:ea typeface="楷体_GB2312" charset="0"/>
              </a:rPr>
              <a:t>弧集 </a:t>
            </a:r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R</a:t>
            </a:r>
            <a:r>
              <a:rPr kumimoji="1" lang="zh-CN" altLang="zh-CN" sz="3600" b="1">
                <a:solidFill>
                  <a:srgbClr val="333399"/>
                </a:solidFill>
                <a:latin typeface="Times New Roman" charset="0"/>
                <a:ea typeface="楷体_GB2312" charset="0"/>
              </a:rPr>
              <a:t>构成的数据结构。</a:t>
            </a:r>
            <a:endParaRPr kumimoji="1" lang="zh-CN" altLang="en-US" sz="3600" b="1">
              <a:solidFill>
                <a:srgbClr val="3333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Graph = (V , R )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其中，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VR</a:t>
            </a: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{&lt;v,w&gt;| v,w∈V </a:t>
            </a: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且 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P(v,w)}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&lt;v,w&gt;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表示从 </a:t>
            </a:r>
            <a:r>
              <a:rPr kumimoji="1" lang="en-US" altLang="zh-CN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到 </a:t>
            </a:r>
            <a:r>
              <a:rPr kumimoji="1" lang="en-US" altLang="zh-CN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的一条弧，并称 </a:t>
            </a:r>
            <a:r>
              <a:rPr kumimoji="1" lang="en-US" altLang="zh-CN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为</a:t>
            </a:r>
            <a:r>
              <a:rPr kumimoji="1" lang="zh-CN" altLang="en-US" sz="3600" b="1">
                <a:solidFill>
                  <a:srgbClr val="CC3300"/>
                </a:solidFill>
                <a:latin typeface="Times New Roman" charset="0"/>
                <a:ea typeface="楷体_GB2312" charset="0"/>
              </a:rPr>
              <a:t>弧头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，</a:t>
            </a:r>
            <a:r>
              <a:rPr kumimoji="1" lang="en-US" altLang="zh-CN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 v 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为</a:t>
            </a:r>
            <a:r>
              <a:rPr kumimoji="1" lang="zh-CN" altLang="en-US" sz="3600" b="1">
                <a:solidFill>
                  <a:srgbClr val="CC3300"/>
                </a:solidFill>
                <a:latin typeface="Times New Roman" charset="0"/>
                <a:ea typeface="楷体_GB2312" charset="0"/>
              </a:rPr>
              <a:t>弧尾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谓词 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P(v,w) </a:t>
            </a: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定义了弧 </a:t>
            </a:r>
            <a:r>
              <a:rPr kumimoji="1" lang="en-US" altLang="zh-CN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&lt;v,w&gt;</a:t>
            </a:r>
            <a:r>
              <a:rPr kumimoji="1" lang="zh-CN" altLang="en-US" sz="3600">
                <a:solidFill>
                  <a:srgbClr val="333399"/>
                </a:solidFill>
                <a:latin typeface="Times New Roman" charset="0"/>
                <a:ea typeface="楷体_GB2312" charset="0"/>
              </a:rPr>
              <a:t>的意义或信息。</a:t>
            </a:r>
          </a:p>
        </p:txBody>
      </p:sp>
      <p:sp>
        <p:nvSpPr>
          <p:cNvPr id="345091" name="Rectangle 3"/>
          <p:cNvSpPr>
            <a:spLocks noChangeArrowheads="1"/>
          </p:cNvSpPr>
          <p:nvPr/>
        </p:nvSpPr>
        <p:spPr bwMode="auto">
          <a:xfrm>
            <a:off x="1447800" y="152400"/>
            <a:ext cx="3411538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图的结构定义:</a:t>
            </a:r>
            <a:endParaRPr kumimoji="1" lang="zh-CN" altLang="zh-CN" sz="4000" b="1">
              <a:solidFill>
                <a:srgbClr val="333399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35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 autoUpdateAnimBg="0"/>
      <p:bldP spid="34509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2"/>
          <p:cNvSpPr txBox="1">
            <a:spLocks noChangeArrowheads="1"/>
          </p:cNvSpPr>
          <p:nvPr/>
        </p:nvSpPr>
        <p:spPr bwMode="auto">
          <a:xfrm>
            <a:off x="381000" y="1154113"/>
            <a:ext cx="8763000" cy="148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latin typeface="楷体_GB2312" charset="0"/>
                <a:ea typeface="楷体_GB2312" charset="0"/>
                <a:sym typeface="Symbol" charset="2"/>
              </a:rPr>
              <a:t>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  <a:sym typeface="Symbol" charset="2"/>
              </a:rPr>
              <a:t>由于“弧”是有方向的，因此称由顶点集和弧集构成的图为</a:t>
            </a:r>
            <a:r>
              <a:rPr kumimoji="1" lang="zh-CN" altLang="en-US" sz="3600" b="1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有向图</a:t>
            </a:r>
            <a:r>
              <a:rPr kumimoji="1" lang="zh-CN" altLang="en-US" sz="3600">
                <a:latin typeface="楷体_GB2312" charset="0"/>
                <a:ea typeface="楷体_GB2312" charset="0"/>
                <a:sym typeface="Symbol" charset="2"/>
              </a:rPr>
              <a:t>。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346115" name="Oval 3"/>
          <p:cNvSpPr>
            <a:spLocks noChangeArrowheads="1"/>
          </p:cNvSpPr>
          <p:nvPr/>
        </p:nvSpPr>
        <p:spPr bwMode="auto">
          <a:xfrm>
            <a:off x="3733800" y="4856163"/>
            <a:ext cx="685800" cy="609600"/>
          </a:xfrm>
          <a:prstGeom prst="ellipse">
            <a:avLst/>
          </a:prstGeom>
          <a:noFill/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6116" name="Oval 4"/>
          <p:cNvSpPr>
            <a:spLocks noChangeArrowheads="1"/>
          </p:cNvSpPr>
          <p:nvPr/>
        </p:nvSpPr>
        <p:spPr bwMode="auto">
          <a:xfrm>
            <a:off x="1905000" y="3865563"/>
            <a:ext cx="685800" cy="609600"/>
          </a:xfrm>
          <a:prstGeom prst="ellipse">
            <a:avLst/>
          </a:prstGeom>
          <a:noFill/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533400" y="3789363"/>
            <a:ext cx="3962400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latin typeface="Times New Roman" charset="0"/>
              </a:rPr>
              <a:t>                   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A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B                     E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    C        D</a:t>
            </a:r>
            <a:endParaRPr kumimoji="1" lang="en-US" altLang="zh-CN" sz="24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46118" name="Oval 6"/>
          <p:cNvSpPr>
            <a:spLocks noChangeArrowheads="1"/>
          </p:cNvSpPr>
          <p:nvPr/>
        </p:nvSpPr>
        <p:spPr bwMode="auto">
          <a:xfrm>
            <a:off x="1219200" y="5922963"/>
            <a:ext cx="685800" cy="609600"/>
          </a:xfrm>
          <a:prstGeom prst="ellipse">
            <a:avLst/>
          </a:prstGeom>
          <a:noFill/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6119" name="Oval 7"/>
          <p:cNvSpPr>
            <a:spLocks noChangeArrowheads="1"/>
          </p:cNvSpPr>
          <p:nvPr/>
        </p:nvSpPr>
        <p:spPr bwMode="auto">
          <a:xfrm>
            <a:off x="381000" y="4856163"/>
            <a:ext cx="685800" cy="609600"/>
          </a:xfrm>
          <a:prstGeom prst="ellipse">
            <a:avLst/>
          </a:prstGeom>
          <a:noFill/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6120" name="Oval 8"/>
          <p:cNvSpPr>
            <a:spLocks noChangeArrowheads="1"/>
          </p:cNvSpPr>
          <p:nvPr/>
        </p:nvSpPr>
        <p:spPr bwMode="auto">
          <a:xfrm>
            <a:off x="2743200" y="5922963"/>
            <a:ext cx="685800" cy="609600"/>
          </a:xfrm>
          <a:prstGeom prst="ellipse">
            <a:avLst/>
          </a:prstGeom>
          <a:noFill/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6121" name="Line 9"/>
          <p:cNvSpPr>
            <a:spLocks noChangeShapeType="1"/>
          </p:cNvSpPr>
          <p:nvPr/>
        </p:nvSpPr>
        <p:spPr bwMode="auto">
          <a:xfrm flipH="1">
            <a:off x="914400" y="4246563"/>
            <a:ext cx="990600" cy="609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2" name="Line 10"/>
          <p:cNvSpPr>
            <a:spLocks noChangeShapeType="1"/>
          </p:cNvSpPr>
          <p:nvPr/>
        </p:nvSpPr>
        <p:spPr bwMode="auto">
          <a:xfrm>
            <a:off x="914400" y="5389563"/>
            <a:ext cx="381000" cy="609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3" name="Line 11"/>
          <p:cNvSpPr>
            <a:spLocks noChangeShapeType="1"/>
          </p:cNvSpPr>
          <p:nvPr/>
        </p:nvSpPr>
        <p:spPr bwMode="auto">
          <a:xfrm>
            <a:off x="1905000" y="6227763"/>
            <a:ext cx="8382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4" name="Line 12"/>
          <p:cNvSpPr>
            <a:spLocks noChangeShapeType="1"/>
          </p:cNvSpPr>
          <p:nvPr/>
        </p:nvSpPr>
        <p:spPr bwMode="auto">
          <a:xfrm flipH="1" flipV="1">
            <a:off x="2438400" y="4398963"/>
            <a:ext cx="609600" cy="1524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5" name="Line 13"/>
          <p:cNvSpPr>
            <a:spLocks noChangeShapeType="1"/>
          </p:cNvSpPr>
          <p:nvPr/>
        </p:nvSpPr>
        <p:spPr bwMode="auto">
          <a:xfrm>
            <a:off x="2590800" y="4170363"/>
            <a:ext cx="12954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6" name="Line 14"/>
          <p:cNvSpPr>
            <a:spLocks noChangeShapeType="1"/>
          </p:cNvSpPr>
          <p:nvPr/>
        </p:nvSpPr>
        <p:spPr bwMode="auto">
          <a:xfrm flipH="1" flipV="1">
            <a:off x="1066800" y="5237163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7" name="Line 15"/>
          <p:cNvSpPr>
            <a:spLocks noChangeShapeType="1"/>
          </p:cNvSpPr>
          <p:nvPr/>
        </p:nvSpPr>
        <p:spPr bwMode="auto">
          <a:xfrm flipH="1">
            <a:off x="1752600" y="5237163"/>
            <a:ext cx="19812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28" name="Text Box 16"/>
          <p:cNvSpPr txBox="1">
            <a:spLocks noChangeArrowheads="1"/>
          </p:cNvSpPr>
          <p:nvPr/>
        </p:nvSpPr>
        <p:spPr bwMode="auto">
          <a:xfrm>
            <a:off x="381000" y="2754313"/>
            <a:ext cx="17462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4000" b="1">
                <a:solidFill>
                  <a:srgbClr val="000099"/>
                </a:solidFill>
                <a:latin typeface="楷体_GB2312" charset="0"/>
                <a:ea typeface="楷体_GB2312" charset="0"/>
                <a:sym typeface="Symbol" charset="2"/>
              </a:rPr>
              <a:t>例如</a:t>
            </a:r>
            <a:r>
              <a:rPr kumimoji="1" lang="en-US" altLang="zh-CN" sz="4000" b="1">
                <a:solidFill>
                  <a:srgbClr val="000099"/>
                </a:solidFill>
                <a:latin typeface="楷体_GB2312" charset="0"/>
                <a:ea typeface="楷体_GB2312" charset="0"/>
                <a:sym typeface="Symbol" charset="2"/>
              </a:rPr>
              <a:t>: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46129" name="Text Box 17"/>
          <p:cNvSpPr txBox="1">
            <a:spLocks noChangeArrowheads="1"/>
          </p:cNvSpPr>
          <p:nvPr/>
        </p:nvSpPr>
        <p:spPr bwMode="auto">
          <a:xfrm>
            <a:off x="2057400" y="2830513"/>
            <a:ext cx="3429000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G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1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 = (V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1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, VR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1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)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346130" name="Text Box 18"/>
          <p:cNvSpPr txBox="1">
            <a:spLocks noChangeArrowheads="1"/>
          </p:cNvSpPr>
          <p:nvPr/>
        </p:nvSpPr>
        <p:spPr bwMode="auto">
          <a:xfrm>
            <a:off x="4876800" y="3484563"/>
            <a:ext cx="4267200" cy="337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  <a:sym typeface="Symbol" charset="2"/>
              </a:rPr>
              <a:t>其中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1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={A, B, C, D, E}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VR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1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={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  <a:sym typeface="Symbol" charset="2"/>
              </a:rPr>
              <a:t>&lt;A,B&gt;, &lt;A,E&gt;,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  &lt;B,C&gt;, &lt;C,D&gt;, &lt;D,B&gt;,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  &lt;D,A&gt;, &lt;E,C&gt; }</a:t>
            </a:r>
            <a:endParaRPr kumimoji="1" lang="en-US" altLang="zh-CN" sz="3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63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6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4" grpId="0" autoUpdateAnimBg="0"/>
      <p:bldP spid="346115" grpId="0" animBg="1"/>
      <p:bldP spid="346116" grpId="0" animBg="1"/>
      <p:bldP spid="346117" grpId="0" autoUpdateAnimBg="0"/>
      <p:bldP spid="346118" grpId="0" animBg="1"/>
      <p:bldP spid="346119" grpId="0" animBg="1"/>
      <p:bldP spid="346120" grpId="0" animBg="1"/>
      <p:bldP spid="346121" grpId="0" animBg="1"/>
      <p:bldP spid="346122" grpId="0" animBg="1"/>
      <p:bldP spid="346123" grpId="0" animBg="1"/>
      <p:bldP spid="346124" grpId="0" animBg="1"/>
      <p:bldP spid="346125" grpId="0" animBg="1"/>
      <p:bldP spid="346126" grpId="0" animBg="1"/>
      <p:bldP spid="346127" grpId="0" animBg="1"/>
      <p:bldP spid="346128" grpId="0" autoUpdateAnimBg="0"/>
      <p:bldP spid="346129" grpId="0" autoUpdateAnimBg="0"/>
      <p:bldP spid="34613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/>
          <p:cNvSpPr txBox="1">
            <a:spLocks noChangeArrowheads="1"/>
          </p:cNvSpPr>
          <p:nvPr/>
        </p:nvSpPr>
        <p:spPr bwMode="auto">
          <a:xfrm>
            <a:off x="1371600" y="873125"/>
            <a:ext cx="77724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</a:rPr>
              <a:t>若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</a:rPr>
              <a:t>&lt;v, w&gt;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  <a:sym typeface="Symbol" charset="2"/>
              </a:rPr>
              <a:t>VR</a:t>
            </a:r>
            <a:r>
              <a:rPr kumimoji="1" lang="en-US" altLang="zh-CN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 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必有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  <a:sym typeface="Symbol" charset="2"/>
              </a:rPr>
              <a:t>&lt;w, v&gt;VR</a:t>
            </a:r>
            <a:r>
              <a:rPr kumimoji="1" lang="en-US" altLang="zh-CN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,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则称 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  <a:sym typeface="Symbol" charset="2"/>
              </a:rPr>
              <a:t>(v,w) 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为顶点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  <a:sym typeface="Symbol" charset="2"/>
              </a:rPr>
              <a:t>v 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和顶点 </a:t>
            </a:r>
            <a:r>
              <a:rPr kumimoji="1" lang="en-US" altLang="zh-CN" sz="3200">
                <a:solidFill>
                  <a:srgbClr val="333399"/>
                </a:solidFill>
                <a:latin typeface="Times New Roman" charset="0"/>
                <a:ea typeface="楷体_GB2312" charset="0"/>
                <a:sym typeface="Symbol" charset="2"/>
              </a:rPr>
              <a:t>w 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之间存在一条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边</a:t>
            </a:r>
            <a:r>
              <a:rPr kumimoji="1" lang="zh-CN" altLang="en-US" sz="3200">
                <a:solidFill>
                  <a:srgbClr val="333399"/>
                </a:solidFill>
                <a:latin typeface="楷体_GB2312" charset="0"/>
                <a:ea typeface="楷体_GB2312" charset="0"/>
                <a:sym typeface="Symbol" charset="2"/>
              </a:rPr>
              <a:t>。</a:t>
            </a:r>
            <a:endParaRPr kumimoji="1" lang="zh-CN" altLang="en-US" sz="3200">
              <a:latin typeface="楷体_GB2312" charset="0"/>
              <a:ea typeface="楷体_GB2312" charset="0"/>
            </a:endParaRPr>
          </a:p>
        </p:txBody>
      </p:sp>
      <p:sp>
        <p:nvSpPr>
          <p:cNvPr id="347139" name="Text Box 3"/>
          <p:cNvSpPr txBox="1">
            <a:spLocks noChangeArrowheads="1"/>
          </p:cNvSpPr>
          <p:nvPr/>
        </p:nvSpPr>
        <p:spPr bwMode="auto">
          <a:xfrm>
            <a:off x="4645025" y="3657600"/>
            <a:ext cx="39655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400">
                <a:latin typeface="Times New Roman" charset="0"/>
              </a:rPr>
              <a:t>      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B          C</a:t>
            </a:r>
          </a:p>
          <a:p>
            <a:pPr eaLnBrk="1" hangingPunct="1"/>
            <a:endParaRPr kumimoji="1" lang="en-US" altLang="zh-CN" sz="40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A                        D</a:t>
            </a:r>
          </a:p>
          <a:p>
            <a:pPr eaLnBrk="1" hangingPunct="1"/>
            <a:endParaRPr kumimoji="1" lang="en-US" altLang="zh-CN" sz="40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       F          E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47140" name="Oval 4"/>
          <p:cNvSpPr>
            <a:spLocks noChangeArrowheads="1"/>
          </p:cNvSpPr>
          <p:nvPr/>
        </p:nvSpPr>
        <p:spPr bwMode="auto">
          <a:xfrm>
            <a:off x="5651500" y="3786188"/>
            <a:ext cx="455613" cy="557212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1" name="Oval 5"/>
          <p:cNvSpPr>
            <a:spLocks noChangeArrowheads="1"/>
          </p:cNvSpPr>
          <p:nvPr/>
        </p:nvSpPr>
        <p:spPr bwMode="auto">
          <a:xfrm>
            <a:off x="7250113" y="3786188"/>
            <a:ext cx="455612" cy="481012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2" name="Oval 6"/>
          <p:cNvSpPr>
            <a:spLocks noChangeArrowheads="1"/>
          </p:cNvSpPr>
          <p:nvPr/>
        </p:nvSpPr>
        <p:spPr bwMode="auto">
          <a:xfrm>
            <a:off x="4660900" y="50292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3" name="Oval 7"/>
          <p:cNvSpPr>
            <a:spLocks noChangeArrowheads="1"/>
          </p:cNvSpPr>
          <p:nvPr/>
        </p:nvSpPr>
        <p:spPr bwMode="auto">
          <a:xfrm>
            <a:off x="5651500" y="62484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4" name="Oval 8"/>
          <p:cNvSpPr>
            <a:spLocks noChangeArrowheads="1"/>
          </p:cNvSpPr>
          <p:nvPr/>
        </p:nvSpPr>
        <p:spPr bwMode="auto">
          <a:xfrm>
            <a:off x="7251700" y="62484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5" name="Oval 9"/>
          <p:cNvSpPr>
            <a:spLocks noChangeArrowheads="1"/>
          </p:cNvSpPr>
          <p:nvPr/>
        </p:nvSpPr>
        <p:spPr bwMode="auto">
          <a:xfrm>
            <a:off x="8088313" y="5029200"/>
            <a:ext cx="455612" cy="481013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7146" name="Line 10"/>
          <p:cNvSpPr>
            <a:spLocks noChangeShapeType="1"/>
          </p:cNvSpPr>
          <p:nvPr/>
        </p:nvSpPr>
        <p:spPr bwMode="auto">
          <a:xfrm flipH="1">
            <a:off x="4887913" y="4114800"/>
            <a:ext cx="762000" cy="9144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47" name="Line 11"/>
          <p:cNvSpPr>
            <a:spLocks noChangeShapeType="1"/>
          </p:cNvSpPr>
          <p:nvPr/>
        </p:nvSpPr>
        <p:spPr bwMode="auto">
          <a:xfrm>
            <a:off x="6108700" y="4038600"/>
            <a:ext cx="1370013" cy="22098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48" name="Line 12"/>
          <p:cNvSpPr>
            <a:spLocks noChangeShapeType="1"/>
          </p:cNvSpPr>
          <p:nvPr/>
        </p:nvSpPr>
        <p:spPr bwMode="auto">
          <a:xfrm>
            <a:off x="5118100" y="5334000"/>
            <a:ext cx="2360613" cy="9144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49" name="Line 13"/>
          <p:cNvSpPr>
            <a:spLocks noChangeShapeType="1"/>
          </p:cNvSpPr>
          <p:nvPr/>
        </p:nvSpPr>
        <p:spPr bwMode="auto">
          <a:xfrm flipH="1">
            <a:off x="6019800" y="4114800"/>
            <a:ext cx="1230313" cy="22098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50" name="Line 14"/>
          <p:cNvSpPr>
            <a:spLocks noChangeShapeType="1"/>
          </p:cNvSpPr>
          <p:nvPr/>
        </p:nvSpPr>
        <p:spPr bwMode="auto">
          <a:xfrm>
            <a:off x="7707313" y="4038600"/>
            <a:ext cx="609600" cy="9906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51" name="Line 15"/>
          <p:cNvSpPr>
            <a:spLocks noChangeShapeType="1"/>
          </p:cNvSpPr>
          <p:nvPr/>
        </p:nvSpPr>
        <p:spPr bwMode="auto">
          <a:xfrm flipH="1">
            <a:off x="6096000" y="5334000"/>
            <a:ext cx="1992313" cy="990600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52" name="Line 16"/>
          <p:cNvSpPr>
            <a:spLocks noChangeShapeType="1"/>
          </p:cNvSpPr>
          <p:nvPr/>
        </p:nvSpPr>
        <p:spPr bwMode="auto">
          <a:xfrm flipH="1">
            <a:off x="5878513" y="4319588"/>
            <a:ext cx="1587" cy="1928812"/>
          </a:xfrm>
          <a:prstGeom prst="lin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7153" name="Rectangle 17"/>
          <p:cNvSpPr>
            <a:spLocks noChangeArrowheads="1"/>
          </p:cNvSpPr>
          <p:nvPr/>
        </p:nvSpPr>
        <p:spPr bwMode="auto">
          <a:xfrm>
            <a:off x="1447800" y="2209800"/>
            <a:ext cx="746760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楷体_GB2312" charset="0"/>
                <a:ea typeface="楷体_GB2312" charset="0"/>
                <a:sym typeface="Symbol" charset="2"/>
              </a:rPr>
              <a:t>由顶点集和边集构成的图称作</a:t>
            </a:r>
            <a:r>
              <a:rPr kumimoji="1" lang="zh-CN" altLang="en-US" sz="3600" b="1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无向图</a:t>
            </a:r>
            <a:r>
              <a:rPr kumimoji="1" lang="zh-CN" altLang="en-US" sz="3200">
                <a:latin typeface="楷体_GB2312" charset="0"/>
                <a:ea typeface="楷体_GB2312" charset="0"/>
                <a:sym typeface="Symbol" charset="2"/>
              </a:rPr>
              <a:t>。</a:t>
            </a:r>
          </a:p>
        </p:txBody>
      </p:sp>
      <p:sp>
        <p:nvSpPr>
          <p:cNvPr id="347154" name="Text Box 18"/>
          <p:cNvSpPr txBox="1">
            <a:spLocks noChangeArrowheads="1"/>
          </p:cNvSpPr>
          <p:nvPr/>
        </p:nvSpPr>
        <p:spPr bwMode="auto">
          <a:xfrm>
            <a:off x="76200" y="3048000"/>
            <a:ext cx="4724400" cy="3373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例如</a:t>
            </a:r>
            <a:r>
              <a:rPr kumimoji="1" lang="en-US" altLang="zh-CN" sz="3600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: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 G</a:t>
            </a:r>
            <a:r>
              <a:rPr kumimoji="1" lang="en-US" altLang="zh-CN" sz="3600" baseline="-250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2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=(V</a:t>
            </a:r>
            <a:r>
              <a:rPr kumimoji="1" lang="en-US" altLang="zh-CN" sz="3600" baseline="-250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2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,VR</a:t>
            </a:r>
            <a:r>
              <a:rPr kumimoji="1" lang="en-US" altLang="zh-CN" sz="3600" baseline="-250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2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)</a:t>
            </a:r>
            <a:endParaRPr kumimoji="1" lang="en-US" altLang="zh-CN" sz="3600">
              <a:solidFill>
                <a:srgbClr val="800000"/>
              </a:solidFill>
              <a:latin typeface="楷体_GB2312" charset="0"/>
              <a:ea typeface="楷体_GB2312" charset="0"/>
              <a:sym typeface="Symbol" charset="2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V</a:t>
            </a:r>
            <a:r>
              <a:rPr kumimoji="1" lang="en-US" altLang="zh-CN" sz="3600" baseline="-250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2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={A, B, C, D, E, F}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VR</a:t>
            </a:r>
            <a:r>
              <a:rPr kumimoji="1" lang="en-US" altLang="zh-CN" sz="3600" baseline="-250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2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={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&lt;A,B&gt;, &lt;A,E&gt;,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  &lt;B,E&gt;, &lt;C,D&gt;, &lt;D,F&gt;,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  &lt;B,F&gt;, &lt;C,F&gt; }</a:t>
            </a:r>
          </a:p>
        </p:txBody>
      </p:sp>
    </p:spTree>
    <p:extLst>
      <p:ext uri="{BB962C8B-B14F-4D97-AF65-F5344CB8AC3E}">
        <p14:creationId xmlns:p14="http://schemas.microsoft.com/office/powerpoint/2010/main" val="1112672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7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7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7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 autoUpdateAnimBg="0"/>
      <p:bldP spid="347139" grpId="0" autoUpdateAnimBg="0"/>
      <p:bldP spid="347140" grpId="0" animBg="1"/>
      <p:bldP spid="347141" grpId="0" animBg="1"/>
      <p:bldP spid="347142" grpId="0" animBg="1"/>
      <p:bldP spid="347143" grpId="0" animBg="1"/>
      <p:bldP spid="347144" grpId="0" animBg="1"/>
      <p:bldP spid="347145" grpId="0" animBg="1"/>
      <p:bldP spid="347146" grpId="0" animBg="1"/>
      <p:bldP spid="347147" grpId="0" animBg="1"/>
      <p:bldP spid="347148" grpId="0" animBg="1"/>
      <p:bldP spid="347149" grpId="0" animBg="1"/>
      <p:bldP spid="347150" grpId="0" animBg="1"/>
      <p:bldP spid="347151" grpId="0" animBg="1"/>
      <p:bldP spid="347152" grpId="0" animBg="1"/>
      <p:bldP spid="347153" grpId="0" autoUpdateAnimBg="0"/>
      <p:bldP spid="34715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Text Box 2"/>
          <p:cNvSpPr txBox="1">
            <a:spLocks noChangeArrowheads="1"/>
          </p:cNvSpPr>
          <p:nvPr/>
        </p:nvSpPr>
        <p:spPr bwMode="auto">
          <a:xfrm>
            <a:off x="1447800" y="152400"/>
            <a:ext cx="2986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名词和术语</a:t>
            </a:r>
            <a:endParaRPr kumimoji="1" lang="zh-CN" altLang="en-US" sz="5400" b="1">
              <a:solidFill>
                <a:srgbClr val="9933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48163" name="Text Box 3"/>
          <p:cNvSpPr txBox="1">
            <a:spLocks noChangeArrowheads="1"/>
          </p:cNvSpPr>
          <p:nvPr/>
        </p:nvSpPr>
        <p:spPr bwMode="auto">
          <a:xfrm>
            <a:off x="533400" y="1416050"/>
            <a:ext cx="2393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网、子图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2400">
                <a:latin typeface="Times New Roman" charset="0"/>
              </a:rPr>
              <a:t>  </a:t>
            </a:r>
          </a:p>
        </p:txBody>
      </p:sp>
      <p:sp>
        <p:nvSpPr>
          <p:cNvPr id="348164" name="AutoShape 4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3200400" y="156845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669925" y="25558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400">
                <a:latin typeface="Times New Roman" charset="0"/>
              </a:rPr>
              <a:t>  </a:t>
            </a:r>
          </a:p>
        </p:txBody>
      </p:sp>
      <p:sp>
        <p:nvSpPr>
          <p:cNvPr id="348166" name="AutoShap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172200" y="2438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67" name="Text Box 7"/>
          <p:cNvSpPr txBox="1">
            <a:spLocks noChangeArrowheads="1"/>
          </p:cNvSpPr>
          <p:nvPr/>
        </p:nvSpPr>
        <p:spPr bwMode="auto">
          <a:xfrm>
            <a:off x="533400" y="2209800"/>
            <a:ext cx="5213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完全图</a:t>
            </a:r>
            <a:r>
              <a:rPr kumimoji="1" lang="zh-CN" altLang="en-US" sz="3600">
                <a:solidFill>
                  <a:srgbClr val="000066"/>
                </a:solidFill>
                <a:latin typeface="Times New Roman" charset="0"/>
              </a:rPr>
              <a:t>、</a:t>
            </a:r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稀疏图、稠密图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48168" name="Text Box 8"/>
          <p:cNvSpPr txBox="1">
            <a:spLocks noChangeArrowheads="1"/>
          </p:cNvSpPr>
          <p:nvPr/>
        </p:nvSpPr>
        <p:spPr bwMode="auto">
          <a:xfrm>
            <a:off x="533400" y="3016250"/>
            <a:ext cx="5213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邻接点、度、入度、出度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348169" name="Text Box 9"/>
          <p:cNvSpPr txBox="1">
            <a:spLocks noChangeArrowheads="1"/>
          </p:cNvSpPr>
          <p:nvPr/>
        </p:nvSpPr>
        <p:spPr bwMode="auto">
          <a:xfrm>
            <a:off x="533400" y="3810000"/>
            <a:ext cx="7956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路径、路径长度、简单路径</a:t>
            </a:r>
            <a:r>
              <a:rPr kumimoji="1" lang="zh-CN" altLang="en-US" sz="3600">
                <a:solidFill>
                  <a:srgbClr val="000066"/>
                </a:solidFill>
                <a:latin typeface="Times New Roman" charset="0"/>
              </a:rPr>
              <a:t>、</a:t>
            </a:r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简单回路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48170" name="Text Box 10"/>
          <p:cNvSpPr txBox="1">
            <a:spLocks noChangeArrowheads="1"/>
          </p:cNvSpPr>
          <p:nvPr/>
        </p:nvSpPr>
        <p:spPr bwMode="auto">
          <a:xfrm>
            <a:off x="457200" y="4648200"/>
            <a:ext cx="47561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连通图、连通分量、</a:t>
            </a:r>
          </a:p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强连通图、强连通分量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348171" name="Text Box 11"/>
          <p:cNvSpPr txBox="1">
            <a:spLocks noChangeArrowheads="1"/>
          </p:cNvSpPr>
          <p:nvPr/>
        </p:nvSpPr>
        <p:spPr bwMode="auto">
          <a:xfrm>
            <a:off x="457200" y="6019800"/>
            <a:ext cx="3841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生成树、生成森林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348172" name="AutoShape 12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172200" y="3200400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73" name="AutoShape 1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458200" y="40386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74" name="AutoShape 1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638800" y="5029200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75" name="AutoShape 1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4724400" y="6248400"/>
            <a:ext cx="381000" cy="228600"/>
          </a:xfrm>
          <a:prstGeom prst="rightArrow">
            <a:avLst>
              <a:gd name="adj1" fmla="val 50000"/>
              <a:gd name="adj2" fmla="val 41667"/>
            </a:avLst>
          </a:prstGeom>
          <a:solidFill>
            <a:schemeClr val="tx2"/>
          </a:solidFill>
          <a:ln w="12700" cap="sq">
            <a:solidFill>
              <a:schemeClr val="accent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176" name="AutoShape 16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248400"/>
            <a:ext cx="381000" cy="381000"/>
          </a:xfrm>
          <a:prstGeom prst="actionButtonForwardNext">
            <a:avLst/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825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3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3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3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8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8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8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0" dur="500"/>
                                        <p:tgtEl>
                                          <p:spTgt spid="348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8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8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8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8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34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8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8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 autoUpdateAnimBg="0"/>
      <p:bldP spid="348163" grpId="0" autoUpdateAnimBg="0"/>
      <p:bldP spid="348164" grpId="0" animBg="1"/>
      <p:bldP spid="348166" grpId="0" animBg="1"/>
      <p:bldP spid="348167" grpId="0" autoUpdateAnimBg="0"/>
      <p:bldP spid="348168" grpId="0" autoUpdateAnimBg="0"/>
      <p:bldP spid="348169" grpId="0" autoUpdateAnimBg="0"/>
      <p:bldP spid="348170" grpId="0" autoUpdateAnimBg="0"/>
      <p:bldP spid="348171" grpId="0" autoUpdateAnimBg="0"/>
      <p:bldP spid="348172" grpId="0" animBg="1"/>
      <p:bldP spid="348173" grpId="0" animBg="1"/>
      <p:bldP spid="348174" grpId="0" animBg="1"/>
      <p:bldP spid="348175" grpId="0" animBg="1"/>
      <p:bldP spid="3481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Line 2"/>
          <p:cNvSpPr>
            <a:spLocks noChangeShapeType="1"/>
          </p:cNvSpPr>
          <p:nvPr/>
        </p:nvSpPr>
        <p:spPr bwMode="auto">
          <a:xfrm flipH="1">
            <a:off x="990600" y="13716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87" name="Line 3"/>
          <p:cNvSpPr>
            <a:spLocks noChangeShapeType="1"/>
          </p:cNvSpPr>
          <p:nvPr/>
        </p:nvSpPr>
        <p:spPr bwMode="auto">
          <a:xfrm>
            <a:off x="1143000" y="25146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88" name="Line 4"/>
          <p:cNvSpPr>
            <a:spLocks noChangeShapeType="1"/>
          </p:cNvSpPr>
          <p:nvPr/>
        </p:nvSpPr>
        <p:spPr bwMode="auto">
          <a:xfrm>
            <a:off x="2057400" y="32004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89" name="Line 5"/>
          <p:cNvSpPr>
            <a:spLocks noChangeShapeType="1"/>
          </p:cNvSpPr>
          <p:nvPr/>
        </p:nvSpPr>
        <p:spPr bwMode="auto">
          <a:xfrm flipH="1" flipV="1">
            <a:off x="2667000" y="16002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90" name="Line 6"/>
          <p:cNvSpPr>
            <a:spLocks noChangeShapeType="1"/>
          </p:cNvSpPr>
          <p:nvPr/>
        </p:nvSpPr>
        <p:spPr bwMode="auto">
          <a:xfrm>
            <a:off x="2743200" y="13716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91" name="Line 7"/>
          <p:cNvSpPr>
            <a:spLocks noChangeShapeType="1"/>
          </p:cNvSpPr>
          <p:nvPr/>
        </p:nvSpPr>
        <p:spPr bwMode="auto">
          <a:xfrm flipH="1" flipV="1">
            <a:off x="1219200" y="22860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92" name="Line 8"/>
          <p:cNvSpPr>
            <a:spLocks noChangeShapeType="1"/>
          </p:cNvSpPr>
          <p:nvPr/>
        </p:nvSpPr>
        <p:spPr bwMode="auto">
          <a:xfrm flipH="1">
            <a:off x="1828800" y="22860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93" name="Oval 9"/>
          <p:cNvSpPr>
            <a:spLocks noChangeArrowheads="1"/>
          </p:cNvSpPr>
          <p:nvPr/>
        </p:nvSpPr>
        <p:spPr bwMode="auto">
          <a:xfrm>
            <a:off x="2286000" y="1143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194" name="Oval 10"/>
          <p:cNvSpPr>
            <a:spLocks noChangeArrowheads="1"/>
          </p:cNvSpPr>
          <p:nvPr/>
        </p:nvSpPr>
        <p:spPr bwMode="auto">
          <a:xfrm>
            <a:off x="762000" y="2057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195" name="Oval 11"/>
          <p:cNvSpPr>
            <a:spLocks noChangeArrowheads="1"/>
          </p:cNvSpPr>
          <p:nvPr/>
        </p:nvSpPr>
        <p:spPr bwMode="auto">
          <a:xfrm>
            <a:off x="3810000" y="2057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196" name="Oval 12"/>
          <p:cNvSpPr>
            <a:spLocks noChangeArrowheads="1"/>
          </p:cNvSpPr>
          <p:nvPr/>
        </p:nvSpPr>
        <p:spPr bwMode="auto">
          <a:xfrm>
            <a:off x="1600200" y="2971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197" name="Oval 13"/>
          <p:cNvSpPr>
            <a:spLocks noChangeArrowheads="1"/>
          </p:cNvSpPr>
          <p:nvPr/>
        </p:nvSpPr>
        <p:spPr bwMode="auto">
          <a:xfrm>
            <a:off x="2971800" y="2971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198" name="Line 14"/>
          <p:cNvSpPr>
            <a:spLocks noChangeShapeType="1"/>
          </p:cNvSpPr>
          <p:nvPr/>
        </p:nvSpPr>
        <p:spPr bwMode="auto">
          <a:xfrm>
            <a:off x="6324600" y="60198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199" name="Line 15"/>
          <p:cNvSpPr>
            <a:spLocks noChangeShapeType="1"/>
          </p:cNvSpPr>
          <p:nvPr/>
        </p:nvSpPr>
        <p:spPr bwMode="auto">
          <a:xfrm flipH="1" flipV="1">
            <a:off x="6934200" y="44196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200" name="Line 16"/>
          <p:cNvSpPr>
            <a:spLocks noChangeShapeType="1"/>
          </p:cNvSpPr>
          <p:nvPr/>
        </p:nvSpPr>
        <p:spPr bwMode="auto">
          <a:xfrm>
            <a:off x="7010400" y="41910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201" name="Oval 17"/>
          <p:cNvSpPr>
            <a:spLocks noChangeArrowheads="1"/>
          </p:cNvSpPr>
          <p:nvPr/>
        </p:nvSpPr>
        <p:spPr bwMode="auto">
          <a:xfrm>
            <a:off x="6553200" y="3962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2" name="Oval 18"/>
          <p:cNvSpPr>
            <a:spLocks noChangeArrowheads="1"/>
          </p:cNvSpPr>
          <p:nvPr/>
        </p:nvSpPr>
        <p:spPr bwMode="auto">
          <a:xfrm>
            <a:off x="8077200" y="4876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3" name="Oval 19"/>
          <p:cNvSpPr>
            <a:spLocks noChangeArrowheads="1"/>
          </p:cNvSpPr>
          <p:nvPr/>
        </p:nvSpPr>
        <p:spPr bwMode="auto">
          <a:xfrm>
            <a:off x="7239000" y="5791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4" name="Oval 20"/>
          <p:cNvSpPr>
            <a:spLocks noChangeArrowheads="1"/>
          </p:cNvSpPr>
          <p:nvPr/>
        </p:nvSpPr>
        <p:spPr bwMode="auto">
          <a:xfrm>
            <a:off x="5334000" y="3581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5" name="Line 21"/>
          <p:cNvSpPr>
            <a:spLocks noChangeShapeType="1"/>
          </p:cNvSpPr>
          <p:nvPr/>
        </p:nvSpPr>
        <p:spPr bwMode="auto">
          <a:xfrm>
            <a:off x="5410200" y="52578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206" name="Oval 22"/>
          <p:cNvSpPr>
            <a:spLocks noChangeArrowheads="1"/>
          </p:cNvSpPr>
          <p:nvPr/>
        </p:nvSpPr>
        <p:spPr bwMode="auto">
          <a:xfrm>
            <a:off x="5029200" y="4800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7" name="Oval 23"/>
          <p:cNvSpPr>
            <a:spLocks noChangeArrowheads="1"/>
          </p:cNvSpPr>
          <p:nvPr/>
        </p:nvSpPr>
        <p:spPr bwMode="auto">
          <a:xfrm>
            <a:off x="5867400" y="5715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08" name="Text Box 24"/>
          <p:cNvSpPr txBox="1">
            <a:spLocks noChangeArrowheads="1"/>
          </p:cNvSpPr>
          <p:nvPr/>
        </p:nvSpPr>
        <p:spPr bwMode="auto">
          <a:xfrm>
            <a:off x="609600" y="3886200"/>
            <a:ext cx="39624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设图</a:t>
            </a:r>
            <a:r>
              <a:rPr kumimoji="1" lang="en-US" altLang="zh-CN" sz="3200">
                <a:latin typeface="Times New Roman" charset="0"/>
              </a:rPr>
              <a:t>G=(V,{VR}) 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和图</a:t>
            </a:r>
            <a:r>
              <a:rPr kumimoji="1" lang="zh-CN" altLang="en-US" sz="3200">
                <a:latin typeface="Times New Roman" charset="0"/>
              </a:rPr>
              <a:t> </a:t>
            </a:r>
            <a:r>
              <a:rPr kumimoji="1" lang="en-US" altLang="zh-CN" sz="3200">
                <a:latin typeface="Times New Roman" charset="0"/>
              </a:rPr>
              <a:t>G</a:t>
            </a:r>
            <a:r>
              <a:rPr kumimoji="1" lang="en-US" altLang="zh-CN" sz="3200">
                <a:latin typeface="Times New Roman" charset="0"/>
                <a:sym typeface="Symbol" charset="2"/>
              </a:rPr>
              <a:t>=(V,{VR}),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  <a:sym typeface="Symbol" charset="2"/>
              </a:rPr>
              <a:t>且</a:t>
            </a:r>
            <a:r>
              <a:rPr kumimoji="1" lang="zh-CN" altLang="en-US" sz="3200">
                <a:latin typeface="Times New Roman" charset="0"/>
                <a:sym typeface="Symbol" charset="2"/>
              </a:rPr>
              <a:t> </a:t>
            </a:r>
            <a:r>
              <a:rPr kumimoji="1" lang="en-US" altLang="zh-CN" sz="3200">
                <a:latin typeface="Times New Roman" charset="0"/>
                <a:sym typeface="Symbol" charset="2"/>
              </a:rPr>
              <a:t>VV, VRVR,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  <a:sym typeface="Symbol" charset="2"/>
              </a:rPr>
              <a:t>则称</a:t>
            </a:r>
            <a:r>
              <a:rPr kumimoji="1" lang="zh-CN" altLang="en-US" sz="3200">
                <a:latin typeface="Times New Roman" charset="0"/>
                <a:sym typeface="Symbol" charset="2"/>
              </a:rPr>
              <a:t> </a:t>
            </a:r>
            <a:r>
              <a:rPr kumimoji="1" lang="en-US" altLang="zh-CN" sz="3200">
                <a:latin typeface="Times New Roman" charset="0"/>
                <a:sym typeface="Symbol" charset="2"/>
              </a:rPr>
              <a:t>G </a:t>
            </a:r>
            <a:r>
              <a:rPr kumimoji="1" lang="zh-CN" altLang="en-US" sz="3200">
                <a:latin typeface="Times New Roman" charset="0"/>
                <a:sym typeface="Symbol" charset="2"/>
              </a:rPr>
              <a:t>为 </a:t>
            </a:r>
            <a:r>
              <a:rPr kumimoji="1" lang="en-US" altLang="zh-CN" sz="3200">
                <a:latin typeface="Times New Roman" charset="0"/>
                <a:sym typeface="Symbol" charset="2"/>
              </a:rPr>
              <a:t>G </a:t>
            </a:r>
            <a:r>
              <a:rPr kumimoji="1" lang="zh-CN" altLang="en-US" sz="3200">
                <a:latin typeface="Times New Roman" charset="0"/>
                <a:ea typeface="楷体_GB2312" charset="0"/>
                <a:sym typeface="Symbol" charset="2"/>
              </a:rPr>
              <a:t>的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子图</a:t>
            </a:r>
            <a:r>
              <a:rPr kumimoji="1" lang="zh-CN" altLang="en-US" sz="3200">
                <a:latin typeface="Times New Roman" charset="0"/>
                <a:sym typeface="Symbol" charset="2"/>
              </a:rPr>
              <a:t>。</a:t>
            </a:r>
          </a:p>
        </p:txBody>
      </p:sp>
      <p:sp>
        <p:nvSpPr>
          <p:cNvPr id="349209" name="Text Box 25"/>
          <p:cNvSpPr txBox="1">
            <a:spLocks noChangeArrowheads="1"/>
          </p:cNvSpPr>
          <p:nvPr/>
        </p:nvSpPr>
        <p:spPr bwMode="auto">
          <a:xfrm>
            <a:off x="1355725" y="12192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15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0" name="Text Box 26"/>
          <p:cNvSpPr txBox="1">
            <a:spLocks noChangeArrowheads="1"/>
          </p:cNvSpPr>
          <p:nvPr/>
        </p:nvSpPr>
        <p:spPr bwMode="auto">
          <a:xfrm>
            <a:off x="3048000" y="11430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9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1" name="Text Box 27"/>
          <p:cNvSpPr txBox="1">
            <a:spLocks noChangeArrowheads="1"/>
          </p:cNvSpPr>
          <p:nvPr/>
        </p:nvSpPr>
        <p:spPr bwMode="auto">
          <a:xfrm>
            <a:off x="1676400" y="2133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7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2" name="Text Box 28"/>
          <p:cNvSpPr txBox="1">
            <a:spLocks noChangeArrowheads="1"/>
          </p:cNvSpPr>
          <p:nvPr/>
        </p:nvSpPr>
        <p:spPr bwMode="auto">
          <a:xfrm>
            <a:off x="2362200" y="22098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21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3" name="Text Box 29"/>
          <p:cNvSpPr txBox="1">
            <a:spLocks noChangeArrowheads="1"/>
          </p:cNvSpPr>
          <p:nvPr/>
        </p:nvSpPr>
        <p:spPr bwMode="auto">
          <a:xfrm>
            <a:off x="2819400" y="1752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11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4" name="Text Box 30"/>
          <p:cNvSpPr txBox="1">
            <a:spLocks noChangeArrowheads="1"/>
          </p:cNvSpPr>
          <p:nvPr/>
        </p:nvSpPr>
        <p:spPr bwMode="auto">
          <a:xfrm>
            <a:off x="1085850" y="25908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5" name="Text Box 31"/>
          <p:cNvSpPr txBox="1">
            <a:spLocks noChangeArrowheads="1"/>
          </p:cNvSpPr>
          <p:nvPr/>
        </p:nvSpPr>
        <p:spPr bwMode="auto">
          <a:xfrm>
            <a:off x="2305050" y="30622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rgbClr val="CC0000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49216" name="Text Box 32"/>
          <p:cNvSpPr txBox="1">
            <a:spLocks noChangeArrowheads="1"/>
          </p:cNvSpPr>
          <p:nvPr/>
        </p:nvSpPr>
        <p:spPr bwMode="auto">
          <a:xfrm>
            <a:off x="4800600" y="1208088"/>
            <a:ext cx="3657600" cy="199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弧或边带权的图分别称作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有向网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或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无向网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49217" name="AutoShape 3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2000" y="3810000"/>
            <a:ext cx="3810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1463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9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9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9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9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9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4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4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49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9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49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49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9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9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349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49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49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49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49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49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49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49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49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49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49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49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49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49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49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49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4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4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49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49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49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49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6" grpId="0" animBg="1"/>
      <p:bldP spid="349187" grpId="0" animBg="1"/>
      <p:bldP spid="349188" grpId="0" animBg="1"/>
      <p:bldP spid="349189" grpId="0" animBg="1"/>
      <p:bldP spid="349190" grpId="0" animBg="1"/>
      <p:bldP spid="349191" grpId="0" animBg="1"/>
      <p:bldP spid="349192" grpId="0" animBg="1"/>
      <p:bldP spid="349193" grpId="0" animBg="1" autoUpdateAnimBg="0"/>
      <p:bldP spid="349194" grpId="0" animBg="1" autoUpdateAnimBg="0"/>
      <p:bldP spid="349195" grpId="0" animBg="1" autoUpdateAnimBg="0"/>
      <p:bldP spid="349196" grpId="0" animBg="1" autoUpdateAnimBg="0"/>
      <p:bldP spid="349197" grpId="0" animBg="1" autoUpdateAnimBg="0"/>
      <p:bldP spid="349198" grpId="0" animBg="1"/>
      <p:bldP spid="349199" grpId="0" animBg="1"/>
      <p:bldP spid="349200" grpId="0" animBg="1"/>
      <p:bldP spid="349201" grpId="0" animBg="1" autoUpdateAnimBg="0"/>
      <p:bldP spid="349202" grpId="0" animBg="1" autoUpdateAnimBg="0"/>
      <p:bldP spid="349203" grpId="0" animBg="1" autoUpdateAnimBg="0"/>
      <p:bldP spid="349204" grpId="0" animBg="1" autoUpdateAnimBg="0"/>
      <p:bldP spid="349205" grpId="0" animBg="1"/>
      <p:bldP spid="349206" grpId="0" animBg="1" autoUpdateAnimBg="0"/>
      <p:bldP spid="349207" grpId="0" animBg="1" autoUpdateAnimBg="0"/>
      <p:bldP spid="349208" grpId="0" autoUpdateAnimBg="0"/>
      <p:bldP spid="349209" grpId="0" autoUpdateAnimBg="0"/>
      <p:bldP spid="349210" grpId="0" autoUpdateAnimBg="0"/>
      <p:bldP spid="349211" grpId="0" autoUpdateAnimBg="0"/>
      <p:bldP spid="349212" grpId="0" autoUpdateAnimBg="0"/>
      <p:bldP spid="349213" grpId="0" autoUpdateAnimBg="0"/>
      <p:bldP spid="349214" grpId="0" autoUpdateAnimBg="0"/>
      <p:bldP spid="349215" grpId="0" autoUpdateAnimBg="0"/>
      <p:bldP spid="349216" grpId="0" autoUpdateAnimBg="0"/>
      <p:bldP spid="3492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Text Box 2"/>
          <p:cNvSpPr txBox="1">
            <a:spLocks noChangeArrowheads="1"/>
          </p:cNvSpPr>
          <p:nvPr/>
        </p:nvSpPr>
        <p:spPr bwMode="auto">
          <a:xfrm>
            <a:off x="304800" y="1406525"/>
            <a:ext cx="845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假设图中有</a:t>
            </a:r>
            <a:r>
              <a:rPr kumimoji="1" lang="zh-CN" altLang="en-US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n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个顶点，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e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条边，则</a:t>
            </a:r>
            <a:endParaRPr kumimoji="1" lang="zh-CN" altLang="en-US" sz="320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350211" name="Rectangle 3"/>
          <p:cNvSpPr>
            <a:spLocks noChangeArrowheads="1"/>
          </p:cNvSpPr>
          <p:nvPr/>
        </p:nvSpPr>
        <p:spPr bwMode="auto">
          <a:xfrm>
            <a:off x="381000" y="2355850"/>
            <a:ext cx="8610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含有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e=n(n-1)/2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条边的无向图称作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完全图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；</a:t>
            </a:r>
          </a:p>
        </p:txBody>
      </p:sp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517525" y="3311525"/>
            <a:ext cx="8778875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含有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e=n(n-1)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条弧的有向图称作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有向完全图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；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350213" name="Rectangle 5"/>
          <p:cNvSpPr>
            <a:spLocks noChangeArrowheads="1"/>
          </p:cNvSpPr>
          <p:nvPr/>
        </p:nvSpPr>
        <p:spPr bwMode="auto">
          <a:xfrm>
            <a:off x="533400" y="4302125"/>
            <a:ext cx="83820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若边或弧的个数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e&lt;nlogn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，则称作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稀疏图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，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否则称作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稠密图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。</a:t>
            </a:r>
          </a:p>
        </p:txBody>
      </p:sp>
      <p:sp>
        <p:nvSpPr>
          <p:cNvPr id="350214" name="AutoShape 6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2000" y="6096000"/>
            <a:ext cx="3810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371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0" grpId="0" autoUpdateAnimBg="0"/>
      <p:bldP spid="350211" grpId="0" autoUpdateAnimBg="0"/>
      <p:bldP spid="350212" grpId="0" autoUpdateAnimBg="0"/>
      <p:bldP spid="350213" grpId="0" autoUpdateAnimBg="0"/>
      <p:bldP spid="3502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Text Box 2"/>
          <p:cNvSpPr txBox="1">
            <a:spLocks noChangeArrowheads="1"/>
          </p:cNvSpPr>
          <p:nvPr/>
        </p:nvSpPr>
        <p:spPr bwMode="auto">
          <a:xfrm>
            <a:off x="441325" y="1130300"/>
            <a:ext cx="86264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假若顶点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和顶点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之间存在一条边，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则称顶点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和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互为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邻接点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，</a:t>
            </a:r>
          </a:p>
        </p:txBody>
      </p:sp>
      <p:sp>
        <p:nvSpPr>
          <p:cNvPr id="351235" name="Oval 3"/>
          <p:cNvSpPr>
            <a:spLocks noChangeArrowheads="1"/>
          </p:cNvSpPr>
          <p:nvPr/>
        </p:nvSpPr>
        <p:spPr bwMode="auto">
          <a:xfrm>
            <a:off x="4803775" y="51054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36" name="Line 4"/>
          <p:cNvSpPr>
            <a:spLocks noChangeShapeType="1"/>
          </p:cNvSpPr>
          <p:nvPr/>
        </p:nvSpPr>
        <p:spPr bwMode="auto">
          <a:xfrm flipH="1">
            <a:off x="5030788" y="4191000"/>
            <a:ext cx="762000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37" name="Line 5"/>
          <p:cNvSpPr>
            <a:spLocks noChangeShapeType="1"/>
          </p:cNvSpPr>
          <p:nvPr/>
        </p:nvSpPr>
        <p:spPr bwMode="auto">
          <a:xfrm>
            <a:off x="6251575" y="4114800"/>
            <a:ext cx="13700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38" name="Line 6"/>
          <p:cNvSpPr>
            <a:spLocks noChangeShapeType="1"/>
          </p:cNvSpPr>
          <p:nvPr/>
        </p:nvSpPr>
        <p:spPr bwMode="auto">
          <a:xfrm>
            <a:off x="5260975" y="5410200"/>
            <a:ext cx="2360613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39" name="Line 7"/>
          <p:cNvSpPr>
            <a:spLocks noChangeShapeType="1"/>
          </p:cNvSpPr>
          <p:nvPr/>
        </p:nvSpPr>
        <p:spPr bwMode="auto">
          <a:xfrm flipH="1">
            <a:off x="6162675" y="4191000"/>
            <a:ext cx="12303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40" name="Line 8"/>
          <p:cNvSpPr>
            <a:spLocks noChangeShapeType="1"/>
          </p:cNvSpPr>
          <p:nvPr/>
        </p:nvSpPr>
        <p:spPr bwMode="auto">
          <a:xfrm>
            <a:off x="7850188" y="4114800"/>
            <a:ext cx="609600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41" name="Line 9"/>
          <p:cNvSpPr>
            <a:spLocks noChangeShapeType="1"/>
          </p:cNvSpPr>
          <p:nvPr/>
        </p:nvSpPr>
        <p:spPr bwMode="auto">
          <a:xfrm flipH="1">
            <a:off x="6238875" y="5410200"/>
            <a:ext cx="1992313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42" name="Line 10"/>
          <p:cNvSpPr>
            <a:spLocks noChangeShapeType="1"/>
          </p:cNvSpPr>
          <p:nvPr/>
        </p:nvSpPr>
        <p:spPr bwMode="auto">
          <a:xfrm flipH="1">
            <a:off x="6021388" y="4395788"/>
            <a:ext cx="1587" cy="1928812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1243" name="Oval 11"/>
          <p:cNvSpPr>
            <a:spLocks noChangeArrowheads="1"/>
          </p:cNvSpPr>
          <p:nvPr/>
        </p:nvSpPr>
        <p:spPr bwMode="auto">
          <a:xfrm>
            <a:off x="7391400" y="38100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4" name="Oval 12"/>
          <p:cNvSpPr>
            <a:spLocks noChangeArrowheads="1"/>
          </p:cNvSpPr>
          <p:nvPr/>
        </p:nvSpPr>
        <p:spPr bwMode="auto">
          <a:xfrm>
            <a:off x="8153400" y="50292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5" name="Oval 13"/>
          <p:cNvSpPr>
            <a:spLocks noChangeArrowheads="1"/>
          </p:cNvSpPr>
          <p:nvPr/>
        </p:nvSpPr>
        <p:spPr bwMode="auto">
          <a:xfrm>
            <a:off x="5791200" y="63246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6" name="Oval 14"/>
          <p:cNvSpPr>
            <a:spLocks noChangeArrowheads="1"/>
          </p:cNvSpPr>
          <p:nvPr/>
        </p:nvSpPr>
        <p:spPr bwMode="auto">
          <a:xfrm>
            <a:off x="7467600" y="62484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7" name="Text Box 15"/>
          <p:cNvSpPr txBox="1">
            <a:spLocks noChangeArrowheads="1"/>
          </p:cNvSpPr>
          <p:nvPr/>
        </p:nvSpPr>
        <p:spPr bwMode="auto">
          <a:xfrm>
            <a:off x="288925" y="3930650"/>
            <a:ext cx="1333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例如</a:t>
            </a:r>
            <a:r>
              <a:rPr kumimoji="1" lang="en-US" altLang="zh-CN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8" name="Text Box 16"/>
          <p:cNvSpPr txBox="1">
            <a:spLocks noChangeArrowheads="1"/>
          </p:cNvSpPr>
          <p:nvPr/>
        </p:nvSpPr>
        <p:spPr bwMode="auto">
          <a:xfrm>
            <a:off x="914400" y="476885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ID(B) = 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49" name="Text Box 17"/>
          <p:cNvSpPr txBox="1">
            <a:spLocks noChangeArrowheads="1"/>
          </p:cNvSpPr>
          <p:nvPr/>
        </p:nvSpPr>
        <p:spPr bwMode="auto">
          <a:xfrm>
            <a:off x="914400" y="553085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ID(A) = 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1250" name="Text Box 18"/>
          <p:cNvSpPr txBox="1">
            <a:spLocks noChangeArrowheads="1"/>
          </p:cNvSpPr>
          <p:nvPr/>
        </p:nvSpPr>
        <p:spPr bwMode="auto">
          <a:xfrm>
            <a:off x="349250" y="2574925"/>
            <a:ext cx="78120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rgbClr val="CC0000"/>
                </a:solidFill>
                <a:latin typeface="楷体_GB2312" charset="0"/>
                <a:ea typeface="楷体_GB2312" charset="0"/>
              </a:rPr>
              <a:t>边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(v,w)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和顶点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和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相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关联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。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和顶点</a:t>
            </a:r>
            <a:r>
              <a:rPr kumimoji="1" lang="en-US" altLang="zh-CN" sz="32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关联的</a:t>
            </a:r>
            <a:r>
              <a:rPr kumimoji="1" lang="zh-CN" altLang="en-US" sz="32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边的数目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定义为边的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度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。</a:t>
            </a:r>
          </a:p>
        </p:txBody>
      </p:sp>
      <p:sp>
        <p:nvSpPr>
          <p:cNvPr id="351251" name="Oval 19"/>
          <p:cNvSpPr>
            <a:spLocks noChangeArrowheads="1"/>
          </p:cNvSpPr>
          <p:nvPr/>
        </p:nvSpPr>
        <p:spPr bwMode="auto">
          <a:xfrm>
            <a:off x="5791200" y="3810000"/>
            <a:ext cx="455613" cy="5334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0716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autoUpdateAnimBg="0"/>
      <p:bldP spid="351235" grpId="0" animBg="1" autoUpdateAnimBg="0"/>
      <p:bldP spid="351236" grpId="0" animBg="1"/>
      <p:bldP spid="351237" grpId="0" animBg="1"/>
      <p:bldP spid="351238" grpId="0" animBg="1"/>
      <p:bldP spid="351239" grpId="0" animBg="1"/>
      <p:bldP spid="351240" grpId="0" animBg="1"/>
      <p:bldP spid="351241" grpId="0" animBg="1"/>
      <p:bldP spid="351242" grpId="0" animBg="1"/>
      <p:bldP spid="351243" grpId="0" animBg="1" autoUpdateAnimBg="0"/>
      <p:bldP spid="351244" grpId="0" animBg="1" autoUpdateAnimBg="0"/>
      <p:bldP spid="351245" grpId="0" animBg="1" autoUpdateAnimBg="0"/>
      <p:bldP spid="351246" grpId="0" animBg="1" autoUpdateAnimBg="0"/>
      <p:bldP spid="351247" grpId="0" autoUpdateAnimBg="0"/>
      <p:bldP spid="351248" grpId="0" autoUpdateAnimBg="0"/>
      <p:bldP spid="351249" grpId="0" autoUpdateAnimBg="0"/>
      <p:bldP spid="351250" grpId="0" autoUpdateAnimBg="0"/>
      <p:bldP spid="351251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Text Box 2"/>
          <p:cNvSpPr txBox="1">
            <a:spLocks noChangeArrowheads="1"/>
          </p:cNvSpPr>
          <p:nvPr/>
        </p:nvSpPr>
        <p:spPr bwMode="auto">
          <a:xfrm>
            <a:off x="4572000" y="1562100"/>
            <a:ext cx="45116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顶点的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出度</a:t>
            </a:r>
            <a:r>
              <a:rPr kumimoji="1" lang="en-US" altLang="zh-CN" sz="32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: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以顶点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为弧尾的弧的数目；</a:t>
            </a:r>
          </a:p>
        </p:txBody>
      </p:sp>
      <p:sp>
        <p:nvSpPr>
          <p:cNvPr id="352259" name="Line 3"/>
          <p:cNvSpPr>
            <a:spLocks noChangeShapeType="1"/>
          </p:cNvSpPr>
          <p:nvPr/>
        </p:nvSpPr>
        <p:spPr bwMode="auto">
          <a:xfrm flipH="1">
            <a:off x="762000" y="12192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0" name="Line 4"/>
          <p:cNvSpPr>
            <a:spLocks noChangeShapeType="1"/>
          </p:cNvSpPr>
          <p:nvPr/>
        </p:nvSpPr>
        <p:spPr bwMode="auto">
          <a:xfrm>
            <a:off x="914400" y="23622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1" name="Line 5"/>
          <p:cNvSpPr>
            <a:spLocks noChangeShapeType="1"/>
          </p:cNvSpPr>
          <p:nvPr/>
        </p:nvSpPr>
        <p:spPr bwMode="auto">
          <a:xfrm>
            <a:off x="1828800" y="30480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2" name="Line 6"/>
          <p:cNvSpPr>
            <a:spLocks noChangeShapeType="1"/>
          </p:cNvSpPr>
          <p:nvPr/>
        </p:nvSpPr>
        <p:spPr bwMode="auto">
          <a:xfrm flipH="1" flipV="1">
            <a:off x="2438400" y="14478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3" name="Line 7"/>
          <p:cNvSpPr>
            <a:spLocks noChangeShapeType="1"/>
          </p:cNvSpPr>
          <p:nvPr/>
        </p:nvSpPr>
        <p:spPr bwMode="auto">
          <a:xfrm>
            <a:off x="2514600" y="12192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4" name="Line 8"/>
          <p:cNvSpPr>
            <a:spLocks noChangeShapeType="1"/>
          </p:cNvSpPr>
          <p:nvPr/>
        </p:nvSpPr>
        <p:spPr bwMode="auto">
          <a:xfrm flipH="1" flipV="1">
            <a:off x="990600" y="21336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5" name="Line 9"/>
          <p:cNvSpPr>
            <a:spLocks noChangeShapeType="1"/>
          </p:cNvSpPr>
          <p:nvPr/>
        </p:nvSpPr>
        <p:spPr bwMode="auto">
          <a:xfrm flipH="1">
            <a:off x="1600200" y="21336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66" name="Oval 10"/>
          <p:cNvSpPr>
            <a:spLocks noChangeArrowheads="1"/>
          </p:cNvSpPr>
          <p:nvPr/>
        </p:nvSpPr>
        <p:spPr bwMode="auto">
          <a:xfrm>
            <a:off x="2057400" y="990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67" name="Oval 11"/>
          <p:cNvSpPr>
            <a:spLocks noChangeArrowheads="1"/>
          </p:cNvSpPr>
          <p:nvPr/>
        </p:nvSpPr>
        <p:spPr bwMode="auto">
          <a:xfrm>
            <a:off x="533400" y="1905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68" name="Oval 12"/>
          <p:cNvSpPr>
            <a:spLocks noChangeArrowheads="1"/>
          </p:cNvSpPr>
          <p:nvPr/>
        </p:nvSpPr>
        <p:spPr bwMode="auto">
          <a:xfrm>
            <a:off x="3581400" y="1905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69" name="Oval 13"/>
          <p:cNvSpPr>
            <a:spLocks noChangeArrowheads="1"/>
          </p:cNvSpPr>
          <p:nvPr/>
        </p:nvSpPr>
        <p:spPr bwMode="auto">
          <a:xfrm>
            <a:off x="1371600" y="2819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0" name="Oval 14"/>
          <p:cNvSpPr>
            <a:spLocks noChangeArrowheads="1"/>
          </p:cNvSpPr>
          <p:nvPr/>
        </p:nvSpPr>
        <p:spPr bwMode="auto">
          <a:xfrm>
            <a:off x="2743200" y="2819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1" name="Rectangle 15"/>
          <p:cNvSpPr>
            <a:spLocks noChangeArrowheads="1"/>
          </p:cNvSpPr>
          <p:nvPr/>
        </p:nvSpPr>
        <p:spPr bwMode="auto">
          <a:xfrm>
            <a:off x="1371600" y="0"/>
            <a:ext cx="374967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40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对有向图来说</a:t>
            </a:r>
            <a:r>
              <a:rPr kumimoji="1" lang="zh-CN" altLang="en-US" sz="4000">
                <a:solidFill>
                  <a:srgbClr val="000066"/>
                </a:solidFill>
                <a:latin typeface="楷体_GB2312" charset="0"/>
                <a:ea typeface="楷体_GB2312" charset="0"/>
              </a:rPr>
              <a:t>，</a:t>
            </a:r>
            <a:endParaRPr kumimoji="1" lang="zh-CN" altLang="en-US" sz="3600">
              <a:solidFill>
                <a:srgbClr val="000066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352272" name="Text Box 16"/>
          <p:cNvSpPr txBox="1">
            <a:spLocks noChangeArrowheads="1"/>
          </p:cNvSpPr>
          <p:nvPr/>
        </p:nvSpPr>
        <p:spPr bwMode="auto">
          <a:xfrm>
            <a:off x="4572000" y="3238500"/>
            <a:ext cx="46640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顶点的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入度</a:t>
            </a:r>
            <a:r>
              <a:rPr kumimoji="1" lang="en-US" altLang="zh-CN" sz="32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: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以顶点</a:t>
            </a: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v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为弧头的弧的数目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。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352273" name="Text Box 17"/>
          <p:cNvSpPr txBox="1">
            <a:spLocks noChangeArrowheads="1"/>
          </p:cNvSpPr>
          <p:nvPr/>
        </p:nvSpPr>
        <p:spPr bwMode="auto">
          <a:xfrm>
            <a:off x="4572000" y="4997450"/>
            <a:ext cx="39020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顶点的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度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TD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)=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出度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OD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)+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入度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ID</a:t>
            </a:r>
            <a:r>
              <a:rPr kumimoji="1" lang="en-US" altLang="zh-CN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)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352274" name="Text Box 18"/>
          <p:cNvSpPr txBox="1">
            <a:spLocks noChangeArrowheads="1"/>
          </p:cNvSpPr>
          <p:nvPr/>
        </p:nvSpPr>
        <p:spPr bwMode="auto">
          <a:xfrm>
            <a:off x="288925" y="3549650"/>
            <a:ext cx="1333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例如</a:t>
            </a:r>
            <a:r>
              <a:rPr kumimoji="1" lang="en-US" altLang="zh-CN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5" name="Text Box 19"/>
          <p:cNvSpPr txBox="1">
            <a:spLocks noChangeArrowheads="1"/>
          </p:cNvSpPr>
          <p:nvPr/>
        </p:nvSpPr>
        <p:spPr bwMode="auto">
          <a:xfrm>
            <a:off x="914400" y="502920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ID(B) = 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6" name="Text Box 20"/>
          <p:cNvSpPr txBox="1">
            <a:spLocks noChangeArrowheads="1"/>
          </p:cNvSpPr>
          <p:nvPr/>
        </p:nvSpPr>
        <p:spPr bwMode="auto">
          <a:xfrm>
            <a:off x="914400" y="423545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OD(B) = 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7" name="Text Box 21"/>
          <p:cNvSpPr txBox="1">
            <a:spLocks noChangeArrowheads="1"/>
          </p:cNvSpPr>
          <p:nvPr/>
        </p:nvSpPr>
        <p:spPr bwMode="auto">
          <a:xfrm>
            <a:off x="914400" y="5835650"/>
            <a:ext cx="2286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TD(B) = 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2278" name="AutoShape 2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3810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06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2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2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5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8" grpId="0" autoUpdateAnimBg="0"/>
      <p:bldP spid="352259" grpId="0" animBg="1"/>
      <p:bldP spid="352260" grpId="0" animBg="1"/>
      <p:bldP spid="352261" grpId="0" animBg="1"/>
      <p:bldP spid="352262" grpId="0" animBg="1"/>
      <p:bldP spid="352263" grpId="0" animBg="1"/>
      <p:bldP spid="352264" grpId="0" animBg="1"/>
      <p:bldP spid="352265" grpId="0" animBg="1"/>
      <p:bldP spid="352266" grpId="0" animBg="1" autoUpdateAnimBg="0"/>
      <p:bldP spid="352267" grpId="0" animBg="1" autoUpdateAnimBg="0"/>
      <p:bldP spid="352268" grpId="0" animBg="1" autoUpdateAnimBg="0"/>
      <p:bldP spid="352269" grpId="0" animBg="1" autoUpdateAnimBg="0"/>
      <p:bldP spid="352270" grpId="0" animBg="1" autoUpdateAnimBg="0"/>
      <p:bldP spid="352271" grpId="0" autoUpdateAnimBg="0"/>
      <p:bldP spid="352272" grpId="0" autoUpdateAnimBg="0"/>
      <p:bldP spid="352273" grpId="0" autoUpdateAnimBg="0"/>
      <p:bldP spid="352274" grpId="0" autoUpdateAnimBg="0"/>
      <p:bldP spid="352275" grpId="0" autoUpdateAnimBg="0"/>
      <p:bldP spid="352276" grpId="0" autoUpdateAnimBg="0"/>
      <p:bldP spid="352277" grpId="0" autoUpdateAnimBg="0"/>
      <p:bldP spid="35227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94488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             </a:t>
            </a:r>
            <a:r>
              <a:rPr kumimoji="1" lang="zh-CN" altLang="en-US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设图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G=(V,{VR})</a:t>
            </a:r>
            <a:r>
              <a:rPr kumimoji="1" lang="zh-CN" altLang="en-US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中的一个顶点序列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{ u=v</a:t>
            </a:r>
            <a:r>
              <a:rPr kumimoji="1" lang="en-US" altLang="zh-CN" sz="3200" baseline="-25000">
                <a:solidFill>
                  <a:srgbClr val="000066"/>
                </a:solidFill>
                <a:latin typeface="Times New Roman" charset="0"/>
              </a:rPr>
              <a:t>i,0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,v</a:t>
            </a:r>
            <a:r>
              <a:rPr kumimoji="1" lang="en-US" altLang="zh-CN" sz="3200" baseline="-25000">
                <a:solidFill>
                  <a:srgbClr val="000066"/>
                </a:solidFill>
                <a:latin typeface="Times New Roman" charset="0"/>
              </a:rPr>
              <a:t>i,1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, …, v</a:t>
            </a:r>
            <a:r>
              <a:rPr kumimoji="1" lang="en-US" altLang="zh-CN" sz="3200" baseline="-25000">
                <a:solidFill>
                  <a:srgbClr val="000066"/>
                </a:solidFill>
                <a:latin typeface="Times New Roman" charset="0"/>
              </a:rPr>
              <a:t>i,m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=w}</a:t>
            </a:r>
            <a:r>
              <a:rPr kumimoji="1" lang="zh-CN" altLang="en-US" sz="3200">
                <a:solidFill>
                  <a:srgbClr val="000066"/>
                </a:solidFill>
                <a:latin typeface="Times New Roman" charset="0"/>
                <a:ea typeface="楷体_GB2312" charset="0"/>
              </a:rPr>
              <a:t>中</a:t>
            </a:r>
            <a:r>
              <a:rPr kumimoji="1" lang="zh-CN" altLang="en-US" sz="3200">
                <a:solidFill>
                  <a:srgbClr val="000066"/>
                </a:solidFill>
                <a:latin typeface="Times New Roman" charset="0"/>
              </a:rPr>
              <a:t>，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(v</a:t>
            </a:r>
            <a:r>
              <a:rPr kumimoji="1" lang="en-US" altLang="zh-CN" sz="3200" baseline="-25000">
                <a:solidFill>
                  <a:srgbClr val="000066"/>
                </a:solidFill>
                <a:latin typeface="Times New Roman" charset="0"/>
              </a:rPr>
              <a:t>i,j-1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,v</a:t>
            </a:r>
            <a:r>
              <a:rPr kumimoji="1" lang="en-US" altLang="zh-CN" sz="3200" baseline="-25000">
                <a:solidFill>
                  <a:srgbClr val="000066"/>
                </a:solidFill>
                <a:latin typeface="Times New Roman" charset="0"/>
              </a:rPr>
              <a:t>i,j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</a:rPr>
              <a:t>)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sym typeface="Symbol" charset="2"/>
              </a:rPr>
              <a:t>VR 1≤j≤m,</a:t>
            </a:r>
            <a:endParaRPr kumimoji="1" lang="en-US" altLang="zh-CN" sz="3200">
              <a:solidFill>
                <a:srgbClr val="000066"/>
              </a:solidFill>
              <a:latin typeface="Times New Roman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  <a:sym typeface="Symbol" charset="2"/>
              </a:rPr>
              <a:t>则称从顶点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  <a:sym typeface="Symbol" charset="2"/>
              </a:rPr>
              <a:t>u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  <a:sym typeface="Symbol" charset="2"/>
              </a:rPr>
              <a:t>到顶点</a:t>
            </a:r>
            <a:r>
              <a:rPr kumimoji="1" lang="en-US" altLang="zh-CN" sz="3200">
                <a:solidFill>
                  <a:srgbClr val="000066"/>
                </a:solidFill>
                <a:latin typeface="Times New Roman" charset="0"/>
                <a:ea typeface="楷体_GB2312" charset="0"/>
                <a:sym typeface="Symbol" charset="2"/>
              </a:rPr>
              <a:t>w 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  <a:sym typeface="Symbol" charset="2"/>
              </a:rPr>
              <a:t>之间存在一条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路径</a:t>
            </a:r>
            <a:r>
              <a:rPr kumimoji="1" lang="zh-CN" altLang="en-US" sz="3200">
                <a:latin typeface="楷体_GB2312" charset="0"/>
                <a:ea typeface="楷体_GB2312" charset="0"/>
                <a:sym typeface="Symbol" charset="2"/>
              </a:rPr>
              <a:t>。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  <a:sym typeface="Symbol" charset="2"/>
              </a:rPr>
              <a:t>路径上边的数目称作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  <a:sym typeface="Symbol" charset="2"/>
              </a:rPr>
              <a:t>路径长度</a:t>
            </a:r>
            <a:r>
              <a:rPr kumimoji="1" lang="zh-CN" altLang="en-US" sz="3200">
                <a:latin typeface="楷体_GB2312" charset="0"/>
                <a:ea typeface="楷体_GB2312" charset="0"/>
                <a:sym typeface="Symbol" charset="2"/>
              </a:rPr>
              <a:t>。</a:t>
            </a:r>
          </a:p>
        </p:txBody>
      </p:sp>
      <p:sp>
        <p:nvSpPr>
          <p:cNvPr id="353283" name="Line 3"/>
          <p:cNvSpPr>
            <a:spLocks noChangeShapeType="1"/>
          </p:cNvSpPr>
          <p:nvPr/>
        </p:nvSpPr>
        <p:spPr bwMode="auto">
          <a:xfrm flipH="1">
            <a:off x="1143000" y="45720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4" name="Line 4"/>
          <p:cNvSpPr>
            <a:spLocks noChangeShapeType="1"/>
          </p:cNvSpPr>
          <p:nvPr/>
        </p:nvSpPr>
        <p:spPr bwMode="auto">
          <a:xfrm>
            <a:off x="1295400" y="57150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5" name="Line 5"/>
          <p:cNvSpPr>
            <a:spLocks noChangeShapeType="1"/>
          </p:cNvSpPr>
          <p:nvPr/>
        </p:nvSpPr>
        <p:spPr bwMode="auto">
          <a:xfrm>
            <a:off x="2209800" y="64008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6" name="Line 6"/>
          <p:cNvSpPr>
            <a:spLocks noChangeShapeType="1"/>
          </p:cNvSpPr>
          <p:nvPr/>
        </p:nvSpPr>
        <p:spPr bwMode="auto">
          <a:xfrm flipH="1" flipV="1">
            <a:off x="2819400" y="48006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7" name="Line 7"/>
          <p:cNvSpPr>
            <a:spLocks noChangeShapeType="1"/>
          </p:cNvSpPr>
          <p:nvPr/>
        </p:nvSpPr>
        <p:spPr bwMode="auto">
          <a:xfrm>
            <a:off x="2895600" y="45720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8" name="Line 8"/>
          <p:cNvSpPr>
            <a:spLocks noChangeShapeType="1"/>
          </p:cNvSpPr>
          <p:nvPr/>
        </p:nvSpPr>
        <p:spPr bwMode="auto">
          <a:xfrm flipH="1" flipV="1">
            <a:off x="1371600" y="54864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89" name="Line 9"/>
          <p:cNvSpPr>
            <a:spLocks noChangeShapeType="1"/>
          </p:cNvSpPr>
          <p:nvPr/>
        </p:nvSpPr>
        <p:spPr bwMode="auto">
          <a:xfrm flipH="1">
            <a:off x="1981200" y="54864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290" name="Oval 10"/>
          <p:cNvSpPr>
            <a:spLocks noChangeArrowheads="1"/>
          </p:cNvSpPr>
          <p:nvPr/>
        </p:nvSpPr>
        <p:spPr bwMode="auto">
          <a:xfrm>
            <a:off x="2438400" y="4343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1" name="Oval 11"/>
          <p:cNvSpPr>
            <a:spLocks noChangeArrowheads="1"/>
          </p:cNvSpPr>
          <p:nvPr/>
        </p:nvSpPr>
        <p:spPr bwMode="auto">
          <a:xfrm>
            <a:off x="914400" y="5257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2" name="Oval 12"/>
          <p:cNvSpPr>
            <a:spLocks noChangeArrowheads="1"/>
          </p:cNvSpPr>
          <p:nvPr/>
        </p:nvSpPr>
        <p:spPr bwMode="auto">
          <a:xfrm>
            <a:off x="3962400" y="5257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3" name="Oval 13"/>
          <p:cNvSpPr>
            <a:spLocks noChangeArrowheads="1"/>
          </p:cNvSpPr>
          <p:nvPr/>
        </p:nvSpPr>
        <p:spPr bwMode="auto">
          <a:xfrm>
            <a:off x="1752600" y="6172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4" name="Oval 14"/>
          <p:cNvSpPr>
            <a:spLocks noChangeArrowheads="1"/>
          </p:cNvSpPr>
          <p:nvPr/>
        </p:nvSpPr>
        <p:spPr bwMode="auto">
          <a:xfrm>
            <a:off x="3124200" y="6172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5" name="Text Box 15"/>
          <p:cNvSpPr txBox="1">
            <a:spLocks noChangeArrowheads="1"/>
          </p:cNvSpPr>
          <p:nvPr/>
        </p:nvSpPr>
        <p:spPr bwMode="auto">
          <a:xfrm>
            <a:off x="288925" y="2971800"/>
            <a:ext cx="428307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如</a:t>
            </a:r>
            <a:r>
              <a:rPr kumimoji="1" lang="en-US" altLang="zh-CN" sz="3600" b="1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  <a:r>
              <a:rPr kumimoji="1" lang="zh-CN" altLang="en-US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长度为</a:t>
            </a:r>
            <a:r>
              <a:rPr kumimoji="1" lang="en-US" altLang="zh-CN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3</a:t>
            </a:r>
            <a:r>
              <a:rPr kumimoji="1" lang="zh-CN" altLang="en-US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的路径</a:t>
            </a:r>
            <a:r>
              <a:rPr kumimoji="1" lang="en-US" altLang="zh-CN" sz="3600">
                <a:solidFill>
                  <a:srgbClr val="000066"/>
                </a:solidFill>
                <a:latin typeface="Times New Roman" charset="0"/>
                <a:ea typeface="楷体_GB2312" charset="0"/>
              </a:rPr>
              <a:t>{A,B,C,F}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3296" name="Text Box 16"/>
          <p:cNvSpPr txBox="1">
            <a:spLocks noChangeArrowheads="1"/>
          </p:cNvSpPr>
          <p:nvPr/>
        </p:nvSpPr>
        <p:spPr bwMode="auto">
          <a:xfrm>
            <a:off x="4572000" y="3276600"/>
            <a:ext cx="45720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简单路径</a:t>
            </a:r>
            <a:r>
              <a:rPr kumimoji="1" lang="en-US" altLang="zh-CN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  <a:r>
              <a:rPr kumimoji="1" lang="zh-CN" altLang="en-US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序列中顶点不重复出现的路径。</a:t>
            </a:r>
          </a:p>
        </p:txBody>
      </p:sp>
      <p:sp>
        <p:nvSpPr>
          <p:cNvPr id="353297" name="Text Box 17"/>
          <p:cNvSpPr txBox="1">
            <a:spLocks noChangeArrowheads="1"/>
          </p:cNvSpPr>
          <p:nvPr/>
        </p:nvSpPr>
        <p:spPr bwMode="auto">
          <a:xfrm>
            <a:off x="4800600" y="4829175"/>
            <a:ext cx="45720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简单回路</a:t>
            </a:r>
            <a:r>
              <a:rPr kumimoji="1" lang="en-US" altLang="zh-CN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:</a:t>
            </a:r>
            <a:r>
              <a:rPr kumimoji="1" lang="zh-CN" altLang="en-US" sz="3600">
                <a:solidFill>
                  <a:srgbClr val="000066"/>
                </a:solidFill>
                <a:latin typeface="楷体_GB2312" charset="0"/>
                <a:ea typeface="楷体_GB2312" charset="0"/>
              </a:rPr>
              <a:t>序列中第一个顶点和最后一个顶点相同的路径。</a:t>
            </a:r>
          </a:p>
        </p:txBody>
      </p:sp>
      <p:sp>
        <p:nvSpPr>
          <p:cNvPr id="353298" name="AutoShape 18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05800" y="381000"/>
            <a:ext cx="381000" cy="381000"/>
          </a:xfrm>
          <a:prstGeom prst="actionButtonReturn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89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3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"/>
                                        <p:tgtEl>
                                          <p:spTgt spid="3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3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  <p:bldP spid="353283" grpId="0" animBg="1"/>
      <p:bldP spid="353284" grpId="0" animBg="1"/>
      <p:bldP spid="353285" grpId="0" animBg="1"/>
      <p:bldP spid="353286" grpId="0" animBg="1"/>
      <p:bldP spid="353287" grpId="0" animBg="1"/>
      <p:bldP spid="353288" grpId="0" animBg="1"/>
      <p:bldP spid="353289" grpId="0" animBg="1"/>
      <p:bldP spid="353290" grpId="0" animBg="1" autoUpdateAnimBg="0"/>
      <p:bldP spid="353291" grpId="0" animBg="1" autoUpdateAnimBg="0"/>
      <p:bldP spid="353292" grpId="0" animBg="1" autoUpdateAnimBg="0"/>
      <p:bldP spid="353293" grpId="0" animBg="1" autoUpdateAnimBg="0"/>
      <p:bldP spid="353294" grpId="0" animBg="1" autoUpdateAnimBg="0"/>
      <p:bldP spid="353295" grpId="0" autoUpdateAnimBg="0"/>
      <p:bldP spid="353296" grpId="0" autoUpdateAnimBg="0"/>
      <p:bldP spid="353297" grpId="0" autoUpdateAnimBg="0"/>
      <p:bldP spid="3532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Text Box 2"/>
          <p:cNvSpPr txBox="1">
            <a:spLocks noChangeArrowheads="1"/>
          </p:cNvSpPr>
          <p:nvPr/>
        </p:nvSpPr>
        <p:spPr bwMode="auto">
          <a:xfrm>
            <a:off x="228600" y="1355725"/>
            <a:ext cx="43434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若图</a:t>
            </a:r>
            <a:r>
              <a:rPr kumimoji="1" lang="en-US" altLang="zh-CN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G</a:t>
            </a:r>
            <a:r>
              <a:rPr kumimoji="1" lang="zh-CN" altLang="en-US" sz="3200">
                <a:solidFill>
                  <a:srgbClr val="000066"/>
                </a:solidFill>
                <a:latin typeface="楷体_GB2312" charset="0"/>
                <a:ea typeface="楷体_GB2312" charset="0"/>
              </a:rPr>
              <a:t>中任意两个顶点之间都有路径相通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，</a:t>
            </a:r>
            <a:r>
              <a:rPr kumimoji="1" lang="zh-CN" altLang="en-US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则称此图为</a:t>
            </a:r>
            <a:r>
              <a:rPr kumimoji="1" lang="zh-CN" altLang="en-US" sz="32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连通图</a:t>
            </a:r>
            <a:r>
              <a:rPr kumimoji="1" lang="zh-CN" altLang="en-US" sz="3200">
                <a:latin typeface="楷体_GB2312" charset="0"/>
                <a:ea typeface="楷体_GB2312" charset="0"/>
              </a:rPr>
              <a:t>；</a:t>
            </a:r>
          </a:p>
        </p:txBody>
      </p:sp>
      <p:sp>
        <p:nvSpPr>
          <p:cNvPr id="354307" name="Text Box 3"/>
          <p:cNvSpPr txBox="1">
            <a:spLocks noChangeArrowheads="1"/>
          </p:cNvSpPr>
          <p:nvPr/>
        </p:nvSpPr>
        <p:spPr bwMode="auto">
          <a:xfrm>
            <a:off x="4572000" y="4048125"/>
            <a:ext cx="43434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若无向图为非连通图，则图中各个极大连通子图称作此图的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连通分量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354308" name="Oval 4"/>
          <p:cNvSpPr>
            <a:spLocks noChangeArrowheads="1"/>
          </p:cNvSpPr>
          <p:nvPr/>
        </p:nvSpPr>
        <p:spPr bwMode="auto">
          <a:xfrm>
            <a:off x="5794375" y="433388"/>
            <a:ext cx="455613" cy="557212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09" name="Oval 5"/>
          <p:cNvSpPr>
            <a:spLocks noChangeArrowheads="1"/>
          </p:cNvSpPr>
          <p:nvPr/>
        </p:nvSpPr>
        <p:spPr bwMode="auto">
          <a:xfrm>
            <a:off x="4803775" y="16764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10" name="Line 6"/>
          <p:cNvSpPr>
            <a:spLocks noChangeShapeType="1"/>
          </p:cNvSpPr>
          <p:nvPr/>
        </p:nvSpPr>
        <p:spPr bwMode="auto">
          <a:xfrm flipH="1">
            <a:off x="5030788" y="762000"/>
            <a:ext cx="762000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1" name="Line 7"/>
          <p:cNvSpPr>
            <a:spLocks noChangeShapeType="1"/>
          </p:cNvSpPr>
          <p:nvPr/>
        </p:nvSpPr>
        <p:spPr bwMode="auto">
          <a:xfrm>
            <a:off x="6251575" y="685800"/>
            <a:ext cx="13700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2" name="Line 8"/>
          <p:cNvSpPr>
            <a:spLocks noChangeShapeType="1"/>
          </p:cNvSpPr>
          <p:nvPr/>
        </p:nvSpPr>
        <p:spPr bwMode="auto">
          <a:xfrm>
            <a:off x="5260975" y="1981200"/>
            <a:ext cx="2360613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3" name="Line 9"/>
          <p:cNvSpPr>
            <a:spLocks noChangeShapeType="1"/>
          </p:cNvSpPr>
          <p:nvPr/>
        </p:nvSpPr>
        <p:spPr bwMode="auto">
          <a:xfrm flipH="1">
            <a:off x="6162675" y="762000"/>
            <a:ext cx="12303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4" name="Line 10"/>
          <p:cNvSpPr>
            <a:spLocks noChangeShapeType="1"/>
          </p:cNvSpPr>
          <p:nvPr/>
        </p:nvSpPr>
        <p:spPr bwMode="auto">
          <a:xfrm>
            <a:off x="7850188" y="685800"/>
            <a:ext cx="609600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5" name="Line 11"/>
          <p:cNvSpPr>
            <a:spLocks noChangeShapeType="1"/>
          </p:cNvSpPr>
          <p:nvPr/>
        </p:nvSpPr>
        <p:spPr bwMode="auto">
          <a:xfrm flipH="1">
            <a:off x="6238875" y="1981200"/>
            <a:ext cx="1992313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6" name="Line 12"/>
          <p:cNvSpPr>
            <a:spLocks noChangeShapeType="1"/>
          </p:cNvSpPr>
          <p:nvPr/>
        </p:nvSpPr>
        <p:spPr bwMode="auto">
          <a:xfrm flipH="1">
            <a:off x="6021388" y="966788"/>
            <a:ext cx="1587" cy="1928812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17" name="Oval 13"/>
          <p:cNvSpPr>
            <a:spLocks noChangeArrowheads="1"/>
          </p:cNvSpPr>
          <p:nvPr/>
        </p:nvSpPr>
        <p:spPr bwMode="auto">
          <a:xfrm>
            <a:off x="7391400" y="3810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18" name="Oval 14"/>
          <p:cNvSpPr>
            <a:spLocks noChangeArrowheads="1"/>
          </p:cNvSpPr>
          <p:nvPr/>
        </p:nvSpPr>
        <p:spPr bwMode="auto">
          <a:xfrm>
            <a:off x="8153400" y="16002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354319" name="Oval 15"/>
          <p:cNvSpPr>
            <a:spLocks noChangeArrowheads="1"/>
          </p:cNvSpPr>
          <p:nvPr/>
        </p:nvSpPr>
        <p:spPr bwMode="auto">
          <a:xfrm>
            <a:off x="5791200" y="28956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20" name="Oval 16"/>
          <p:cNvSpPr>
            <a:spLocks noChangeArrowheads="1"/>
          </p:cNvSpPr>
          <p:nvPr/>
        </p:nvSpPr>
        <p:spPr bwMode="auto">
          <a:xfrm>
            <a:off x="7467600" y="28194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21" name="Oval 17"/>
          <p:cNvSpPr>
            <a:spLocks noChangeArrowheads="1"/>
          </p:cNvSpPr>
          <p:nvPr/>
        </p:nvSpPr>
        <p:spPr bwMode="auto">
          <a:xfrm>
            <a:off x="1300163" y="3405188"/>
            <a:ext cx="455612" cy="557212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22" name="Oval 18"/>
          <p:cNvSpPr>
            <a:spLocks noChangeArrowheads="1"/>
          </p:cNvSpPr>
          <p:nvPr/>
        </p:nvSpPr>
        <p:spPr bwMode="auto">
          <a:xfrm>
            <a:off x="309563" y="46482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23" name="Line 19"/>
          <p:cNvSpPr>
            <a:spLocks noChangeShapeType="1"/>
          </p:cNvSpPr>
          <p:nvPr/>
        </p:nvSpPr>
        <p:spPr bwMode="auto">
          <a:xfrm flipH="1">
            <a:off x="536575" y="3733800"/>
            <a:ext cx="762000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4" name="Line 20"/>
          <p:cNvSpPr>
            <a:spLocks noChangeShapeType="1"/>
          </p:cNvSpPr>
          <p:nvPr/>
        </p:nvSpPr>
        <p:spPr bwMode="auto">
          <a:xfrm>
            <a:off x="1757363" y="3657600"/>
            <a:ext cx="1370012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5" name="Line 21"/>
          <p:cNvSpPr>
            <a:spLocks noChangeShapeType="1"/>
          </p:cNvSpPr>
          <p:nvPr/>
        </p:nvSpPr>
        <p:spPr bwMode="auto">
          <a:xfrm>
            <a:off x="766763" y="4953000"/>
            <a:ext cx="2360612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6" name="Line 22"/>
          <p:cNvSpPr>
            <a:spLocks noChangeShapeType="1"/>
          </p:cNvSpPr>
          <p:nvPr/>
        </p:nvSpPr>
        <p:spPr bwMode="auto">
          <a:xfrm flipH="1">
            <a:off x="1668463" y="3733800"/>
            <a:ext cx="1230312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7" name="Line 23"/>
          <p:cNvSpPr>
            <a:spLocks noChangeShapeType="1"/>
          </p:cNvSpPr>
          <p:nvPr/>
        </p:nvSpPr>
        <p:spPr bwMode="auto">
          <a:xfrm>
            <a:off x="3355975" y="3657600"/>
            <a:ext cx="609600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8" name="Line 24"/>
          <p:cNvSpPr>
            <a:spLocks noChangeShapeType="1"/>
          </p:cNvSpPr>
          <p:nvPr/>
        </p:nvSpPr>
        <p:spPr bwMode="auto">
          <a:xfrm flipH="1">
            <a:off x="1744663" y="4953000"/>
            <a:ext cx="1992312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4329" name="Oval 25"/>
          <p:cNvSpPr>
            <a:spLocks noChangeArrowheads="1"/>
          </p:cNvSpPr>
          <p:nvPr/>
        </p:nvSpPr>
        <p:spPr bwMode="auto">
          <a:xfrm>
            <a:off x="2897188" y="33528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30" name="Oval 26"/>
          <p:cNvSpPr>
            <a:spLocks noChangeArrowheads="1"/>
          </p:cNvSpPr>
          <p:nvPr/>
        </p:nvSpPr>
        <p:spPr bwMode="auto">
          <a:xfrm>
            <a:off x="3659188" y="45720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31" name="Oval 27"/>
          <p:cNvSpPr>
            <a:spLocks noChangeArrowheads="1"/>
          </p:cNvSpPr>
          <p:nvPr/>
        </p:nvSpPr>
        <p:spPr bwMode="auto">
          <a:xfrm>
            <a:off x="1296988" y="58674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4332" name="Oval 28"/>
          <p:cNvSpPr>
            <a:spLocks noChangeArrowheads="1"/>
          </p:cNvSpPr>
          <p:nvPr/>
        </p:nvSpPr>
        <p:spPr bwMode="auto">
          <a:xfrm>
            <a:off x="2973388" y="57912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8805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6" grpId="0" autoUpdateAnimBg="0"/>
      <p:bldP spid="354307" grpId="0" autoUpdateAnimBg="0"/>
      <p:bldP spid="354308" grpId="0" animBg="1" autoUpdateAnimBg="0"/>
      <p:bldP spid="354309" grpId="0" animBg="1" autoUpdateAnimBg="0"/>
      <p:bldP spid="354310" grpId="0" animBg="1"/>
      <p:bldP spid="354311" grpId="0" animBg="1"/>
      <p:bldP spid="354312" grpId="0" animBg="1"/>
      <p:bldP spid="354313" grpId="0" animBg="1"/>
      <p:bldP spid="354314" grpId="0" animBg="1"/>
      <p:bldP spid="354315" grpId="0" animBg="1"/>
      <p:bldP spid="354316" grpId="0" animBg="1"/>
      <p:bldP spid="354317" grpId="0" animBg="1" autoUpdateAnimBg="0"/>
      <p:bldP spid="354318" grpId="0" animBg="1" autoUpdateAnimBg="0"/>
      <p:bldP spid="354319" grpId="0" animBg="1" autoUpdateAnimBg="0"/>
      <p:bldP spid="354320" grpId="0" animBg="1" autoUpdateAnimBg="0"/>
      <p:bldP spid="354321" grpId="0" animBg="1" autoUpdateAnimBg="0"/>
      <p:bldP spid="354322" grpId="0" animBg="1" autoUpdateAnimBg="0"/>
      <p:bldP spid="354323" grpId="0" animBg="1"/>
      <p:bldP spid="354324" grpId="0" animBg="1"/>
      <p:bldP spid="354325" grpId="0" animBg="1"/>
      <p:bldP spid="354326" grpId="0" animBg="1"/>
      <p:bldP spid="354327" grpId="0" animBg="1"/>
      <p:bldP spid="354328" grpId="0" animBg="1"/>
      <p:bldP spid="354329" grpId="0" animBg="1" autoUpdateAnimBg="0"/>
      <p:bldP spid="354330" grpId="0" animBg="1" autoUpdateAnimBg="0"/>
      <p:bldP spid="354331" grpId="0" animBg="1" autoUpdateAnimBg="0"/>
      <p:bldP spid="35433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228600" y="1236663"/>
            <a:ext cx="8763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若任意两个顶点之间都存在一条有向路径，则称此有向图为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强连通图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。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355331" name="Line 3"/>
          <p:cNvSpPr>
            <a:spLocks noChangeShapeType="1"/>
          </p:cNvSpPr>
          <p:nvPr/>
        </p:nvSpPr>
        <p:spPr bwMode="auto">
          <a:xfrm flipH="1">
            <a:off x="838200" y="40386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2" name="Line 4"/>
          <p:cNvSpPr>
            <a:spLocks noChangeShapeType="1"/>
          </p:cNvSpPr>
          <p:nvPr/>
        </p:nvSpPr>
        <p:spPr bwMode="auto">
          <a:xfrm>
            <a:off x="990600" y="51816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3" name="Line 5"/>
          <p:cNvSpPr>
            <a:spLocks noChangeShapeType="1"/>
          </p:cNvSpPr>
          <p:nvPr/>
        </p:nvSpPr>
        <p:spPr bwMode="auto">
          <a:xfrm>
            <a:off x="1905000" y="58674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4" name="Line 6"/>
          <p:cNvSpPr>
            <a:spLocks noChangeShapeType="1"/>
          </p:cNvSpPr>
          <p:nvPr/>
        </p:nvSpPr>
        <p:spPr bwMode="auto">
          <a:xfrm flipH="1" flipV="1">
            <a:off x="2514600" y="42672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5" name="Line 7"/>
          <p:cNvSpPr>
            <a:spLocks noChangeShapeType="1"/>
          </p:cNvSpPr>
          <p:nvPr/>
        </p:nvSpPr>
        <p:spPr bwMode="auto">
          <a:xfrm>
            <a:off x="2590800" y="40386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6" name="Line 8"/>
          <p:cNvSpPr>
            <a:spLocks noChangeShapeType="1"/>
          </p:cNvSpPr>
          <p:nvPr/>
        </p:nvSpPr>
        <p:spPr bwMode="auto">
          <a:xfrm flipH="1" flipV="1">
            <a:off x="1066800" y="49530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7" name="Line 9"/>
          <p:cNvSpPr>
            <a:spLocks noChangeShapeType="1"/>
          </p:cNvSpPr>
          <p:nvPr/>
        </p:nvSpPr>
        <p:spPr bwMode="auto">
          <a:xfrm flipH="1">
            <a:off x="1676400" y="49530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38" name="Oval 10"/>
          <p:cNvSpPr>
            <a:spLocks noChangeArrowheads="1"/>
          </p:cNvSpPr>
          <p:nvPr/>
        </p:nvSpPr>
        <p:spPr bwMode="auto">
          <a:xfrm>
            <a:off x="2133600" y="3810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39" name="Oval 11"/>
          <p:cNvSpPr>
            <a:spLocks noChangeArrowheads="1"/>
          </p:cNvSpPr>
          <p:nvPr/>
        </p:nvSpPr>
        <p:spPr bwMode="auto">
          <a:xfrm>
            <a:off x="609600" y="4724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40" name="Oval 12"/>
          <p:cNvSpPr>
            <a:spLocks noChangeArrowheads="1"/>
          </p:cNvSpPr>
          <p:nvPr/>
        </p:nvSpPr>
        <p:spPr bwMode="auto">
          <a:xfrm>
            <a:off x="3657600" y="4724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41" name="Oval 13"/>
          <p:cNvSpPr>
            <a:spLocks noChangeArrowheads="1"/>
          </p:cNvSpPr>
          <p:nvPr/>
        </p:nvSpPr>
        <p:spPr bwMode="auto">
          <a:xfrm>
            <a:off x="1447800" y="5638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42" name="Oval 14"/>
          <p:cNvSpPr>
            <a:spLocks noChangeArrowheads="1"/>
          </p:cNvSpPr>
          <p:nvPr/>
        </p:nvSpPr>
        <p:spPr bwMode="auto">
          <a:xfrm>
            <a:off x="2819400" y="5638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43" name="Line 15"/>
          <p:cNvSpPr>
            <a:spLocks noChangeShapeType="1"/>
          </p:cNvSpPr>
          <p:nvPr/>
        </p:nvSpPr>
        <p:spPr bwMode="auto">
          <a:xfrm flipH="1">
            <a:off x="5334000" y="40386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4" name="Line 16"/>
          <p:cNvSpPr>
            <a:spLocks noChangeShapeType="1"/>
          </p:cNvSpPr>
          <p:nvPr/>
        </p:nvSpPr>
        <p:spPr bwMode="auto">
          <a:xfrm>
            <a:off x="5486400" y="51816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5" name="Line 17"/>
          <p:cNvSpPr>
            <a:spLocks noChangeShapeType="1"/>
          </p:cNvSpPr>
          <p:nvPr/>
        </p:nvSpPr>
        <p:spPr bwMode="auto">
          <a:xfrm>
            <a:off x="6400800" y="58674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6" name="Line 18"/>
          <p:cNvSpPr>
            <a:spLocks noChangeShapeType="1"/>
          </p:cNvSpPr>
          <p:nvPr/>
        </p:nvSpPr>
        <p:spPr bwMode="auto">
          <a:xfrm>
            <a:off x="7086600" y="40386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7" name="Line 19"/>
          <p:cNvSpPr>
            <a:spLocks noChangeShapeType="1"/>
          </p:cNvSpPr>
          <p:nvPr/>
        </p:nvSpPr>
        <p:spPr bwMode="auto">
          <a:xfrm flipH="1" flipV="1">
            <a:off x="5562600" y="49530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8" name="Line 20"/>
          <p:cNvSpPr>
            <a:spLocks noChangeShapeType="1"/>
          </p:cNvSpPr>
          <p:nvPr/>
        </p:nvSpPr>
        <p:spPr bwMode="auto">
          <a:xfrm flipH="1">
            <a:off x="6172200" y="49530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5349" name="Oval 21"/>
          <p:cNvSpPr>
            <a:spLocks noChangeArrowheads="1"/>
          </p:cNvSpPr>
          <p:nvPr/>
        </p:nvSpPr>
        <p:spPr bwMode="auto">
          <a:xfrm>
            <a:off x="6629400" y="3810000"/>
            <a:ext cx="457200" cy="533400"/>
          </a:xfrm>
          <a:prstGeom prst="ellipse">
            <a:avLst/>
          </a:prstGeom>
          <a:solidFill>
            <a:srgbClr val="FF99CC">
              <a:alpha val="50195"/>
            </a:srgbClr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50" name="Oval 22"/>
          <p:cNvSpPr>
            <a:spLocks noChangeArrowheads="1"/>
          </p:cNvSpPr>
          <p:nvPr/>
        </p:nvSpPr>
        <p:spPr bwMode="auto">
          <a:xfrm>
            <a:off x="5105400" y="47244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51" name="Oval 23"/>
          <p:cNvSpPr>
            <a:spLocks noChangeArrowheads="1"/>
          </p:cNvSpPr>
          <p:nvPr/>
        </p:nvSpPr>
        <p:spPr bwMode="auto">
          <a:xfrm>
            <a:off x="8153400" y="4724400"/>
            <a:ext cx="457200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54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52" name="Oval 24"/>
          <p:cNvSpPr>
            <a:spLocks noChangeArrowheads="1"/>
          </p:cNvSpPr>
          <p:nvPr/>
        </p:nvSpPr>
        <p:spPr bwMode="auto">
          <a:xfrm>
            <a:off x="5943600" y="5638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53" name="Oval 25"/>
          <p:cNvSpPr>
            <a:spLocks noChangeArrowheads="1"/>
          </p:cNvSpPr>
          <p:nvPr/>
        </p:nvSpPr>
        <p:spPr bwMode="auto">
          <a:xfrm>
            <a:off x="7315200" y="5638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5354" name="Rectangle 26"/>
          <p:cNvSpPr>
            <a:spLocks noChangeArrowheads="1"/>
          </p:cNvSpPr>
          <p:nvPr/>
        </p:nvSpPr>
        <p:spPr bwMode="auto">
          <a:xfrm>
            <a:off x="457200" y="1295400"/>
            <a:ext cx="2224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对有向图，</a:t>
            </a:r>
            <a:endParaRPr kumimoji="1" lang="zh-CN" altLang="en-US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5355" name="Rectangle 27"/>
          <p:cNvSpPr>
            <a:spLocks noChangeArrowheads="1"/>
          </p:cNvSpPr>
          <p:nvPr/>
        </p:nvSpPr>
        <p:spPr bwMode="auto">
          <a:xfrm>
            <a:off x="228600" y="2854325"/>
            <a:ext cx="74676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否则，其各个强连通子图称作它的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强连通分量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355356" name="AutoShape 28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0198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6102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5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55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autoUpdateAnimBg="0"/>
      <p:bldP spid="355331" grpId="0" animBg="1"/>
      <p:bldP spid="355332" grpId="0" animBg="1"/>
      <p:bldP spid="355333" grpId="0" animBg="1"/>
      <p:bldP spid="355334" grpId="0" animBg="1"/>
      <p:bldP spid="355335" grpId="0" animBg="1"/>
      <p:bldP spid="355336" grpId="0" animBg="1"/>
      <p:bldP spid="355337" grpId="0" animBg="1"/>
      <p:bldP spid="355338" grpId="0" animBg="1" autoUpdateAnimBg="0"/>
      <p:bldP spid="355339" grpId="0" animBg="1" autoUpdateAnimBg="0"/>
      <p:bldP spid="355340" grpId="0" animBg="1" autoUpdateAnimBg="0"/>
      <p:bldP spid="355341" grpId="0" animBg="1" autoUpdateAnimBg="0"/>
      <p:bldP spid="355342" grpId="0" animBg="1" autoUpdateAnimBg="0"/>
      <p:bldP spid="355343" grpId="0" animBg="1"/>
      <p:bldP spid="355344" grpId="0" animBg="1"/>
      <p:bldP spid="355345" grpId="0" animBg="1"/>
      <p:bldP spid="355346" grpId="0" animBg="1"/>
      <p:bldP spid="355347" grpId="0" animBg="1"/>
      <p:bldP spid="355348" grpId="0" animBg="1"/>
      <p:bldP spid="355349" grpId="0" animBg="1" autoUpdateAnimBg="0"/>
      <p:bldP spid="355350" grpId="0" animBg="1" autoUpdateAnimBg="0"/>
      <p:bldP spid="355351" grpId="0" animBg="1" autoUpdateAnimBg="0"/>
      <p:bldP spid="355352" grpId="0" animBg="1" autoUpdateAnimBg="0"/>
      <p:bldP spid="355353" grpId="0" animBg="1" autoUpdateAnimBg="0"/>
      <p:bldP spid="355354" grpId="0" autoUpdateAnimBg="0"/>
      <p:bldP spid="355355" grpId="0" autoUpdateAnimBg="0"/>
      <p:bldP spid="35535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Text Box 2"/>
          <p:cNvSpPr txBox="1">
            <a:spLocks noChangeArrowheads="1"/>
          </p:cNvSpPr>
          <p:nvPr/>
        </p:nvSpPr>
        <p:spPr bwMode="auto">
          <a:xfrm>
            <a:off x="609600" y="228600"/>
            <a:ext cx="85344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latin typeface="楷体_GB2312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假设一个连通图有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个顶点和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e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条边，其中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n-1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条边和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个顶点构成一个极小连通子图，称该极小连通子图为此连通图的</a:t>
            </a:r>
            <a:r>
              <a:rPr kumimoji="1" lang="zh-CN" altLang="en-US" sz="3600" b="1">
                <a:solidFill>
                  <a:srgbClr val="800000"/>
                </a:solidFill>
                <a:latin typeface="楷体_GB2312" charset="0"/>
                <a:ea typeface="楷体_GB2312" charset="0"/>
              </a:rPr>
              <a:t>生成树</a:t>
            </a:r>
            <a:r>
              <a:rPr kumimoji="1" lang="zh-CN" altLang="en-US" sz="3600">
                <a:latin typeface="楷体_GB2312" charset="0"/>
                <a:ea typeface="楷体_GB2312" charset="0"/>
              </a:rPr>
              <a:t>。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356355" name="Text Box 3"/>
          <p:cNvSpPr txBox="1">
            <a:spLocks noChangeArrowheads="1"/>
          </p:cNvSpPr>
          <p:nvPr/>
        </p:nvSpPr>
        <p:spPr bwMode="auto">
          <a:xfrm>
            <a:off x="5105400" y="3167063"/>
            <a:ext cx="3810000" cy="338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对非连通图，则称由各个连通分量的生成树的集合为此非连通图的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生成森林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56356" name="Oval 4"/>
          <p:cNvSpPr>
            <a:spLocks noChangeArrowheads="1"/>
          </p:cNvSpPr>
          <p:nvPr/>
        </p:nvSpPr>
        <p:spPr bwMode="auto">
          <a:xfrm>
            <a:off x="1600200" y="3328988"/>
            <a:ext cx="455613" cy="557212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57" name="Oval 5"/>
          <p:cNvSpPr>
            <a:spLocks noChangeArrowheads="1"/>
          </p:cNvSpPr>
          <p:nvPr/>
        </p:nvSpPr>
        <p:spPr bwMode="auto">
          <a:xfrm>
            <a:off x="609600" y="45720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58" name="Line 6"/>
          <p:cNvSpPr>
            <a:spLocks noChangeShapeType="1"/>
          </p:cNvSpPr>
          <p:nvPr/>
        </p:nvSpPr>
        <p:spPr bwMode="auto">
          <a:xfrm flipH="1">
            <a:off x="836613" y="3657600"/>
            <a:ext cx="762000" cy="9144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59" name="Line 7"/>
          <p:cNvSpPr>
            <a:spLocks noChangeShapeType="1"/>
          </p:cNvSpPr>
          <p:nvPr/>
        </p:nvSpPr>
        <p:spPr bwMode="auto">
          <a:xfrm>
            <a:off x="2057400" y="3581400"/>
            <a:ext cx="1370013" cy="22098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0" name="Line 8"/>
          <p:cNvSpPr>
            <a:spLocks noChangeShapeType="1"/>
          </p:cNvSpPr>
          <p:nvPr/>
        </p:nvSpPr>
        <p:spPr bwMode="auto">
          <a:xfrm>
            <a:off x="1066800" y="4876800"/>
            <a:ext cx="2360613" cy="914400"/>
          </a:xfrm>
          <a:prstGeom prst="line">
            <a:avLst/>
          </a:prstGeom>
          <a:noFill/>
          <a:ln w="1905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1" name="Line 9"/>
          <p:cNvSpPr>
            <a:spLocks noChangeShapeType="1"/>
          </p:cNvSpPr>
          <p:nvPr/>
        </p:nvSpPr>
        <p:spPr bwMode="auto">
          <a:xfrm flipH="1">
            <a:off x="1968500" y="3657600"/>
            <a:ext cx="1230313" cy="22098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2" name="Line 10"/>
          <p:cNvSpPr>
            <a:spLocks noChangeShapeType="1"/>
          </p:cNvSpPr>
          <p:nvPr/>
        </p:nvSpPr>
        <p:spPr bwMode="auto">
          <a:xfrm>
            <a:off x="3656013" y="3581400"/>
            <a:ext cx="609600" cy="990600"/>
          </a:xfrm>
          <a:prstGeom prst="line">
            <a:avLst/>
          </a:prstGeom>
          <a:noFill/>
          <a:ln w="19050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3" name="Line 11"/>
          <p:cNvSpPr>
            <a:spLocks noChangeShapeType="1"/>
          </p:cNvSpPr>
          <p:nvPr/>
        </p:nvSpPr>
        <p:spPr bwMode="auto">
          <a:xfrm flipH="1">
            <a:off x="2044700" y="4876800"/>
            <a:ext cx="1992313" cy="9906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4" name="Line 12"/>
          <p:cNvSpPr>
            <a:spLocks noChangeShapeType="1"/>
          </p:cNvSpPr>
          <p:nvPr/>
        </p:nvSpPr>
        <p:spPr bwMode="auto">
          <a:xfrm flipH="1">
            <a:off x="1827213" y="3862388"/>
            <a:ext cx="1587" cy="1928812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6365" name="Oval 13"/>
          <p:cNvSpPr>
            <a:spLocks noChangeArrowheads="1"/>
          </p:cNvSpPr>
          <p:nvPr/>
        </p:nvSpPr>
        <p:spPr bwMode="auto">
          <a:xfrm>
            <a:off x="3197225" y="32766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66" name="Oval 14"/>
          <p:cNvSpPr>
            <a:spLocks noChangeArrowheads="1"/>
          </p:cNvSpPr>
          <p:nvPr/>
        </p:nvSpPr>
        <p:spPr bwMode="auto">
          <a:xfrm>
            <a:off x="3959225" y="44958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67" name="Oval 15"/>
          <p:cNvSpPr>
            <a:spLocks noChangeArrowheads="1"/>
          </p:cNvSpPr>
          <p:nvPr/>
        </p:nvSpPr>
        <p:spPr bwMode="auto">
          <a:xfrm>
            <a:off x="1597025" y="57912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68" name="Oval 16"/>
          <p:cNvSpPr>
            <a:spLocks noChangeArrowheads="1"/>
          </p:cNvSpPr>
          <p:nvPr/>
        </p:nvSpPr>
        <p:spPr bwMode="auto">
          <a:xfrm>
            <a:off x="3273425" y="5715000"/>
            <a:ext cx="455613" cy="533400"/>
          </a:xfrm>
          <a:prstGeom prst="ellipse">
            <a:avLst/>
          </a:prstGeom>
          <a:noFill/>
          <a:ln w="28575" cap="sq">
            <a:solidFill>
              <a:srgbClr val="00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56369" name="AutoShape 1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0198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814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6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56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6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4" grpId="0" autoUpdateAnimBg="0"/>
      <p:bldP spid="356355" grpId="0" autoUpdateAnimBg="0"/>
      <p:bldP spid="356356" grpId="0" animBg="1" autoUpdateAnimBg="0"/>
      <p:bldP spid="356357" grpId="0" animBg="1" autoUpdateAnimBg="0"/>
      <p:bldP spid="356358" grpId="0" animBg="1"/>
      <p:bldP spid="356359" grpId="0" animBg="1"/>
      <p:bldP spid="356360" grpId="0" animBg="1"/>
      <p:bldP spid="356361" grpId="0" animBg="1"/>
      <p:bldP spid="356362" grpId="0" animBg="1"/>
      <p:bldP spid="356363" grpId="0" animBg="1"/>
      <p:bldP spid="356364" grpId="0" animBg="1"/>
      <p:bldP spid="356365" grpId="0" animBg="1" autoUpdateAnimBg="0"/>
      <p:bldP spid="356366" grpId="0" animBg="1" autoUpdateAnimBg="0"/>
      <p:bldP spid="356367" grpId="0" animBg="1" autoUpdateAnimBg="0"/>
      <p:bldP spid="356368" grpId="0" animBg="1" autoUpdateAnimBg="0"/>
      <p:bldP spid="35636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Text Box 2"/>
          <p:cNvSpPr txBox="1">
            <a:spLocks noChangeArrowheads="1"/>
          </p:cNvSpPr>
          <p:nvPr/>
        </p:nvSpPr>
        <p:spPr bwMode="auto">
          <a:xfrm>
            <a:off x="762000" y="1489075"/>
            <a:ext cx="386715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结构的建立和销毁</a:t>
            </a:r>
            <a:endParaRPr kumimoji="1" lang="zh-CN" altLang="en-US" sz="3200">
              <a:solidFill>
                <a:srgbClr val="00808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7379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85800" y="3048000"/>
            <a:ext cx="3406775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插入或删除顶点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7380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784225" y="4572000"/>
            <a:ext cx="3406775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对邻接点的操作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7381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572000" y="2286000"/>
            <a:ext cx="386715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对顶点的访问操作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57382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572000" y="5334000"/>
            <a:ext cx="110490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遍历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7383" name="Text Box 7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4572000" y="3810000"/>
            <a:ext cx="2946400" cy="75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插入和删除弧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57384" name="AutoShape 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4800600" y="1905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85" name="AutoShap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267200" y="4953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86" name="AutoShape 1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4267200" y="3429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87" name="AutoShape 11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7696200" y="4191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88" name="AutoShape 12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5867400" y="5715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89" name="Comment 13"/>
          <p:cNvSpPr>
            <a:spLocks noChangeArrowheads="1"/>
          </p:cNvSpPr>
          <p:nvPr/>
        </p:nvSpPr>
        <p:spPr bwMode="auto">
          <a:xfrm>
            <a:off x="3352800" y="292100"/>
            <a:ext cx="2498725" cy="77470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rgbClr val="800000"/>
                </a:solidFill>
                <a:ea typeface="隶书" charset="0"/>
              </a:rPr>
              <a:t>基本操作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57390" name="AutoShape 1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534400" y="2667000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9966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7391" name="AutoShape 15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2484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290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7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7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8" grpId="0" autoUpdateAnimBg="0"/>
      <p:bldP spid="357379" grpId="0" autoUpdateAnimBg="0"/>
      <p:bldP spid="357380" grpId="0" autoUpdateAnimBg="0"/>
      <p:bldP spid="357381" grpId="0" autoUpdateAnimBg="0"/>
      <p:bldP spid="357382" grpId="0" autoUpdateAnimBg="0"/>
      <p:bldP spid="357383" grpId="0" autoUpdateAnimBg="0"/>
      <p:bldP spid="357384" grpId="0" animBg="1"/>
      <p:bldP spid="357385" grpId="0" animBg="1"/>
      <p:bldP spid="357386" grpId="0" animBg="1"/>
      <p:bldP spid="357387" grpId="0" animBg="1"/>
      <p:bldP spid="357388" grpId="0" animBg="1"/>
      <p:bldP spid="357389" grpId="0" animBg="1" autoUpdateAnimBg="0"/>
      <p:bldP spid="357390" grpId="0" animBg="1"/>
      <p:bldP spid="3573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Text Box 2"/>
          <p:cNvSpPr txBox="1">
            <a:spLocks noChangeArrowheads="1"/>
          </p:cNvSpPr>
          <p:nvPr/>
        </p:nvSpPr>
        <p:spPr bwMode="auto">
          <a:xfrm>
            <a:off x="1741488" y="1524000"/>
            <a:ext cx="580231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CreatGraph(&amp;G, V, VR):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按定义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(V, VR)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构造图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358403" name="Text Box 3"/>
          <p:cNvSpPr txBox="1">
            <a:spLocks noChangeArrowheads="1"/>
          </p:cNvSpPr>
          <p:nvPr/>
        </p:nvSpPr>
        <p:spPr bwMode="auto">
          <a:xfrm>
            <a:off x="1714500" y="3581400"/>
            <a:ext cx="464661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DestroyGraph(&amp;G):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销毁图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358404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381000" cy="381000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405" name="Text Box 5"/>
          <p:cNvSpPr txBox="1">
            <a:spLocks noChangeArrowheads="1"/>
          </p:cNvSpPr>
          <p:nvPr/>
        </p:nvSpPr>
        <p:spPr bwMode="auto">
          <a:xfrm>
            <a:off x="2209800" y="0"/>
            <a:ext cx="469265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结构的建立和销毁</a:t>
            </a:r>
            <a:endParaRPr kumimoji="1" lang="zh-CN" altLang="en-US" sz="3200">
              <a:solidFill>
                <a:srgbClr val="008080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19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5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2" grpId="0" autoUpdateAnimBg="0"/>
      <p:bldP spid="358403" grpId="0" autoUpdateAnimBg="0"/>
      <p:bldP spid="358404" grpId="0" animBg="1"/>
      <p:bldP spid="35840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Text Box 2"/>
          <p:cNvSpPr txBox="1">
            <a:spLocks noChangeArrowheads="1"/>
          </p:cNvSpPr>
          <p:nvPr/>
        </p:nvSpPr>
        <p:spPr bwMode="auto">
          <a:xfrm>
            <a:off x="2241550" y="76200"/>
            <a:ext cx="4667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对顶点的访问操作</a:t>
            </a:r>
            <a:endParaRPr kumimoji="1" lang="zh-CN" altLang="en-US" sz="54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59427" name="Text Box 3"/>
          <p:cNvSpPr txBox="1">
            <a:spLocks noChangeArrowheads="1"/>
          </p:cNvSpPr>
          <p:nvPr/>
        </p:nvSpPr>
        <p:spPr bwMode="auto">
          <a:xfrm>
            <a:off x="409575" y="1219200"/>
            <a:ext cx="8734425" cy="2251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LocateVex(G, u);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en-US" altLang="zh-CN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中存在顶点</a:t>
            </a:r>
            <a:r>
              <a:rPr kumimoji="1" lang="en-US" altLang="zh-CN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，则返回该顶点在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图中“</a:t>
            </a:r>
            <a:r>
              <a:rPr kumimoji="1" lang="zh-CN" altLang="en-US" sz="38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位置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”</a:t>
            </a:r>
            <a:r>
              <a:rPr kumimoji="1" lang="zh-CN" altLang="en-US" sz="38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；否则返回其它信息。</a:t>
            </a:r>
          </a:p>
        </p:txBody>
      </p:sp>
      <p:sp>
        <p:nvSpPr>
          <p:cNvPr id="359428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02638" y="6192838"/>
            <a:ext cx="360362" cy="360362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9429" name="Rectangle 5"/>
          <p:cNvSpPr>
            <a:spLocks noChangeArrowheads="1"/>
          </p:cNvSpPr>
          <p:nvPr/>
        </p:nvSpPr>
        <p:spPr bwMode="auto">
          <a:xfrm>
            <a:off x="381000" y="3810000"/>
            <a:ext cx="7580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GetVex(G, v);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返回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的值。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359430" name="Rectangle 6"/>
          <p:cNvSpPr>
            <a:spLocks noChangeArrowheads="1"/>
          </p:cNvSpPr>
          <p:nvPr/>
        </p:nvSpPr>
        <p:spPr bwMode="auto">
          <a:xfrm>
            <a:off x="381000" y="4854575"/>
            <a:ext cx="5040313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PutVex(&amp;G, v, value);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赋值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value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0150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9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6" grpId="0" autoUpdateAnimBg="0"/>
      <p:bldP spid="359427" grpId="0" autoUpdateAnimBg="0"/>
      <p:bldP spid="359428" grpId="0" animBg="1"/>
      <p:bldP spid="359429" grpId="0" autoUpdateAnimBg="0"/>
      <p:bldP spid="359430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Text Box 2"/>
          <p:cNvSpPr txBox="1">
            <a:spLocks noChangeArrowheads="1"/>
          </p:cNvSpPr>
          <p:nvPr/>
        </p:nvSpPr>
        <p:spPr bwMode="auto">
          <a:xfrm>
            <a:off x="2500313" y="228600"/>
            <a:ext cx="41290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对邻接点的操作</a:t>
            </a:r>
            <a:endParaRPr kumimoji="1" lang="zh-CN" altLang="en-US" sz="54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60451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8763000" cy="214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FirstAdjVex(G, v);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返回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的“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第一个邻接点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” 。若该顶点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中没有邻接点，则返回“空”。</a:t>
            </a:r>
          </a:p>
        </p:txBody>
      </p:sp>
      <p:sp>
        <p:nvSpPr>
          <p:cNvPr id="360452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78838" y="6269038"/>
            <a:ext cx="360362" cy="360362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0453" name="Rectangle 5"/>
          <p:cNvSpPr>
            <a:spLocks noChangeArrowheads="1"/>
          </p:cNvSpPr>
          <p:nvPr/>
        </p:nvSpPr>
        <p:spPr bwMode="auto">
          <a:xfrm>
            <a:off x="228600" y="3505200"/>
            <a:ext cx="8763000" cy="287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NextAdjVex(G, v, w);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返回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的（相对于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的） “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下一个邻接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”。若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的最后一个邻接点，则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返回“空”。</a:t>
            </a:r>
          </a:p>
        </p:txBody>
      </p:sp>
    </p:spTree>
    <p:extLst>
      <p:ext uri="{BB962C8B-B14F-4D97-AF65-F5344CB8AC3E}">
        <p14:creationId xmlns:p14="http://schemas.microsoft.com/office/powerpoint/2010/main" val="3471738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6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60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450" grpId="0" autoUpdateAnimBg="0"/>
      <p:bldP spid="360451" grpId="0" autoUpdateAnimBg="0"/>
      <p:bldP spid="360452" grpId="0" animBg="1"/>
      <p:bldP spid="36045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/>
          <p:cNvSpPr txBox="1">
            <a:spLocks noChangeArrowheads="1"/>
          </p:cNvSpPr>
          <p:nvPr/>
        </p:nvSpPr>
        <p:spPr bwMode="auto">
          <a:xfrm>
            <a:off x="2514600" y="228600"/>
            <a:ext cx="41068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插入或删除顶点</a:t>
            </a:r>
            <a:endParaRPr kumimoji="1" lang="zh-CN" altLang="en-US" sz="5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61475" name="Text Box 3"/>
          <p:cNvSpPr txBox="1">
            <a:spLocks noChangeArrowheads="1"/>
          </p:cNvSpPr>
          <p:nvPr/>
        </p:nvSpPr>
        <p:spPr bwMode="auto">
          <a:xfrm>
            <a:off x="893763" y="1693863"/>
            <a:ext cx="565943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InsertVex(&amp;G, v);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在图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中增添新顶点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361476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250238" y="6096000"/>
            <a:ext cx="360362" cy="360363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1477" name="Rectangle 5"/>
          <p:cNvSpPr>
            <a:spLocks noChangeArrowheads="1"/>
          </p:cNvSpPr>
          <p:nvPr/>
        </p:nvSpPr>
        <p:spPr bwMode="auto">
          <a:xfrm>
            <a:off x="868363" y="3717925"/>
            <a:ext cx="7437437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DeleteVex(&amp;G, v);</a:t>
            </a:r>
            <a:endParaRPr kumimoji="1" lang="en-US" altLang="zh-CN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删除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中顶点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及其相关的弧。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798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4" grpId="0" autoUpdateAnimBg="0"/>
      <p:bldP spid="361475" grpId="0" autoUpdateAnimBg="0"/>
      <p:bldP spid="361476" grpId="0" animBg="1"/>
      <p:bldP spid="36147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Text Box 2"/>
          <p:cNvSpPr txBox="1">
            <a:spLocks noChangeArrowheads="1"/>
          </p:cNvSpPr>
          <p:nvPr/>
        </p:nvSpPr>
        <p:spPr bwMode="auto">
          <a:xfrm>
            <a:off x="2819400" y="152400"/>
            <a:ext cx="3546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插入和删除弧</a:t>
            </a:r>
            <a:endParaRPr kumimoji="1" lang="zh-CN" altLang="en-US" sz="5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62499" name="Text Box 3"/>
          <p:cNvSpPr txBox="1">
            <a:spLocks noChangeArrowheads="1"/>
          </p:cNvSpPr>
          <p:nvPr/>
        </p:nvSpPr>
        <p:spPr bwMode="auto">
          <a:xfrm>
            <a:off x="457200" y="1589088"/>
            <a:ext cx="8377238" cy="20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InsertArc(&amp;G, v, w);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中增添弧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&lt;v,w&gt;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，若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是无向的，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则还增添对称弧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&lt;w,v&gt;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362500" name="Rectangle 4"/>
          <p:cNvSpPr>
            <a:spLocks noChangeArrowheads="1"/>
          </p:cNvSpPr>
          <p:nvPr/>
        </p:nvSpPr>
        <p:spPr bwMode="auto">
          <a:xfrm>
            <a:off x="381000" y="3962400"/>
            <a:ext cx="8402638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DeleteArc(&amp;G, v, w);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中删除弧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&lt;v,w&gt;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，若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是无向的，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则还删除对称弧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&lt;w,v&gt;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362501" name="AutoShape 5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78838" y="6192838"/>
            <a:ext cx="360362" cy="360362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571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6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8" grpId="0" autoUpdateAnimBg="0"/>
      <p:bldP spid="362499" grpId="0" autoUpdateAnimBg="0"/>
      <p:bldP spid="362500" grpId="0" autoUpdateAnimBg="0"/>
      <p:bldP spid="36250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Text Box 2"/>
          <p:cNvSpPr txBox="1">
            <a:spLocks noChangeArrowheads="1"/>
          </p:cNvSpPr>
          <p:nvPr/>
        </p:nvSpPr>
        <p:spPr bwMode="auto">
          <a:xfrm>
            <a:off x="3657600" y="228600"/>
            <a:ext cx="17240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遍   历</a:t>
            </a:r>
            <a:endParaRPr kumimoji="1" lang="zh-CN" altLang="en-US" sz="6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63523" name="Text Box 3"/>
          <p:cNvSpPr txBox="1">
            <a:spLocks noChangeArrowheads="1"/>
          </p:cNvSpPr>
          <p:nvPr/>
        </p:nvSpPr>
        <p:spPr bwMode="auto">
          <a:xfrm>
            <a:off x="679450" y="1384300"/>
            <a:ext cx="7867650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DFSTraverse(G, v, Visit());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起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深度优先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遍历图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，并对每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个顶点调用函数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一次且仅一次。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363524" name="AutoShape 4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78838" y="6192838"/>
            <a:ext cx="360362" cy="360362"/>
          </a:xfrm>
          <a:prstGeom prst="actionButtonReturn">
            <a:avLst/>
          </a:prstGeom>
          <a:solidFill>
            <a:srgbClr val="E1E2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3525" name="Rectangle 5"/>
          <p:cNvSpPr>
            <a:spLocks noChangeArrowheads="1"/>
          </p:cNvSpPr>
          <p:nvPr/>
        </p:nvSpPr>
        <p:spPr bwMode="auto">
          <a:xfrm>
            <a:off x="679450" y="3810000"/>
            <a:ext cx="7867650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BFSTraverse(G, v, Visit());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起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广度优先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遍历图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，并对每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个顶点调用函数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一次且仅一次。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504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2" grpId="0" autoUpdateAnimBg="0"/>
      <p:bldP spid="363523" grpId="0" autoUpdateAnimBg="0"/>
      <p:bldP spid="363524" grpId="0" animBg="1"/>
      <p:bldP spid="36352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Text Box 2"/>
          <p:cNvSpPr txBox="1">
            <a:spLocks noChangeArrowheads="1"/>
          </p:cNvSpPr>
          <p:nvPr/>
        </p:nvSpPr>
        <p:spPr bwMode="auto">
          <a:xfrm>
            <a:off x="2133600" y="152400"/>
            <a:ext cx="49276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800" b="1">
                <a:solidFill>
                  <a:srgbClr val="800000"/>
                </a:solidFill>
                <a:latin typeface="Times New Roman" charset="0"/>
              </a:rPr>
              <a:t>7.2  </a:t>
            </a:r>
            <a:r>
              <a:rPr kumimoji="1" lang="zh-CN" altLang="en-US" sz="48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图的存储表示</a:t>
            </a:r>
          </a:p>
        </p:txBody>
      </p:sp>
      <p:sp>
        <p:nvSpPr>
          <p:cNvPr id="364547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593725" y="1828800"/>
            <a:ext cx="800735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一、</a:t>
            </a:r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图的数组</a:t>
            </a:r>
            <a:r>
              <a:rPr kumimoji="1" lang="en-US" altLang="zh-CN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邻接矩阵</a:t>
            </a:r>
            <a:r>
              <a:rPr kumimoji="1" lang="en-US" altLang="zh-CN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存储表示</a:t>
            </a:r>
          </a:p>
        </p:txBody>
      </p:sp>
      <p:sp>
        <p:nvSpPr>
          <p:cNvPr id="364548" name="Text Box 4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09600" y="2895600"/>
            <a:ext cx="605155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二、图的邻接表存储表示</a:t>
            </a:r>
          </a:p>
        </p:txBody>
      </p:sp>
      <p:sp>
        <p:nvSpPr>
          <p:cNvPr id="364549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596900" y="4038600"/>
            <a:ext cx="77851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三、有向图的十字链表存储表示 </a:t>
            </a:r>
          </a:p>
        </p:txBody>
      </p:sp>
      <p:sp>
        <p:nvSpPr>
          <p:cNvPr id="364550" name="Text Box 6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609600" y="5135563"/>
            <a:ext cx="818515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四、无向图的邻接多重表存储表示</a:t>
            </a:r>
          </a:p>
        </p:txBody>
      </p:sp>
      <p:sp>
        <p:nvSpPr>
          <p:cNvPr id="364551" name="AutoShape 7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1722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8894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6" grpId="0" autoUpdateAnimBg="0"/>
      <p:bldP spid="364547" grpId="0" autoUpdateAnimBg="0"/>
      <p:bldP spid="364548" grpId="0" autoUpdateAnimBg="0"/>
      <p:bldP spid="364549" grpId="0" autoUpdateAnimBg="0"/>
      <p:bldP spid="364550" grpId="0" autoUpdateAnimBg="0"/>
      <p:bldP spid="36455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Text Box 2"/>
          <p:cNvSpPr txBox="1">
            <a:spLocks noChangeArrowheads="1"/>
          </p:cNvSpPr>
          <p:nvPr/>
        </p:nvSpPr>
        <p:spPr bwMode="auto">
          <a:xfrm>
            <a:off x="4273550" y="1554163"/>
            <a:ext cx="1465263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A</a:t>
            </a:r>
            <a:r>
              <a:rPr kumimoji="1" lang="en-US" altLang="zh-CN" sz="4000" baseline="-25000">
                <a:solidFill>
                  <a:srgbClr val="000099"/>
                </a:solidFill>
                <a:latin typeface="Times New Roman" charset="0"/>
              </a:rPr>
              <a:t>ij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=</a:t>
            </a:r>
            <a:r>
              <a:rPr kumimoji="1" lang="en-US" altLang="zh-CN" sz="7200">
                <a:solidFill>
                  <a:srgbClr val="000099"/>
                </a:solidFill>
                <a:latin typeface="Times New Roman" charset="0"/>
              </a:rPr>
              <a:t>{</a:t>
            </a:r>
            <a:endParaRPr kumimoji="1" lang="en-US" altLang="zh-CN" sz="4000">
              <a:latin typeface="Times New Roman" charset="0"/>
              <a:sym typeface="Symbol" charset="2"/>
            </a:endParaRPr>
          </a:p>
        </p:txBody>
      </p:sp>
      <p:sp>
        <p:nvSpPr>
          <p:cNvPr id="365571" name="Rectangle 3"/>
          <p:cNvSpPr>
            <a:spLocks noChangeArrowheads="1"/>
          </p:cNvSpPr>
          <p:nvPr/>
        </p:nvSpPr>
        <p:spPr bwMode="auto">
          <a:xfrm>
            <a:off x="5721350" y="1447800"/>
            <a:ext cx="2508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0  (i,j)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VR</a:t>
            </a:r>
            <a:endParaRPr kumimoji="1" lang="en-US" altLang="zh-CN" sz="4000">
              <a:latin typeface="Times New Roman" charset="0"/>
              <a:sym typeface="Symbol" charset="2"/>
            </a:endParaRPr>
          </a:p>
        </p:txBody>
      </p:sp>
      <p:sp>
        <p:nvSpPr>
          <p:cNvPr id="365572" name="Rectangle 4"/>
          <p:cNvSpPr>
            <a:spLocks noChangeArrowheads="1"/>
          </p:cNvSpPr>
          <p:nvPr/>
        </p:nvSpPr>
        <p:spPr bwMode="auto">
          <a:xfrm>
            <a:off x="5721350" y="2346325"/>
            <a:ext cx="2508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000099"/>
                </a:solidFill>
                <a:latin typeface="Times New Roman" charset="0"/>
              </a:rPr>
              <a:t>1  (i,j)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sym typeface="Symbol" charset="2"/>
              </a:rPr>
              <a:t>VR</a:t>
            </a:r>
            <a:endParaRPr kumimoji="1" lang="en-US" altLang="zh-CN" sz="4000">
              <a:latin typeface="Times New Roman" charset="0"/>
              <a:sym typeface="Symbol" charset="2"/>
            </a:endParaRPr>
          </a:p>
        </p:txBody>
      </p:sp>
      <p:sp>
        <p:nvSpPr>
          <p:cNvPr id="365573" name="Text Box 5"/>
          <p:cNvSpPr txBox="1">
            <a:spLocks noChangeArrowheads="1"/>
          </p:cNvSpPr>
          <p:nvPr/>
        </p:nvSpPr>
        <p:spPr bwMode="auto">
          <a:xfrm>
            <a:off x="1330325" y="152400"/>
            <a:ext cx="7807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隶书" charset="0"/>
                <a:ea typeface="隶书" charset="0"/>
              </a:rPr>
              <a:t>一、</a:t>
            </a:r>
            <a:r>
              <a:rPr kumimoji="1" lang="zh-CN" altLang="en-US" sz="4000">
                <a:solidFill>
                  <a:srgbClr val="0000FF"/>
                </a:solidFill>
                <a:latin typeface="隶书" charset="0"/>
                <a:ea typeface="隶书" charset="0"/>
              </a:rPr>
              <a:t>图的数组</a:t>
            </a:r>
            <a:r>
              <a:rPr kumimoji="1" lang="en-US" altLang="zh-CN" sz="4000">
                <a:solidFill>
                  <a:srgbClr val="0000FF"/>
                </a:solidFill>
                <a:latin typeface="隶书" charset="0"/>
                <a:ea typeface="隶书" charset="0"/>
              </a:rPr>
              <a:t>(</a:t>
            </a:r>
            <a:r>
              <a:rPr kumimoji="1" lang="zh-CN" altLang="en-US" sz="4000">
                <a:solidFill>
                  <a:srgbClr val="0000FF"/>
                </a:solidFill>
                <a:latin typeface="隶书" charset="0"/>
                <a:ea typeface="隶书" charset="0"/>
              </a:rPr>
              <a:t>邻接矩阵</a:t>
            </a:r>
            <a:r>
              <a:rPr kumimoji="1" lang="en-US" altLang="zh-CN" sz="4000">
                <a:solidFill>
                  <a:srgbClr val="0000FF"/>
                </a:solidFill>
                <a:latin typeface="隶书" charset="0"/>
                <a:ea typeface="隶书" charset="0"/>
              </a:rPr>
              <a:t>)</a:t>
            </a:r>
            <a:r>
              <a:rPr kumimoji="1" lang="zh-CN" altLang="en-US" sz="4000">
                <a:solidFill>
                  <a:srgbClr val="0000FF"/>
                </a:solidFill>
                <a:latin typeface="隶书" charset="0"/>
                <a:ea typeface="隶书" charset="0"/>
              </a:rPr>
              <a:t>存储表示</a:t>
            </a:r>
            <a:endParaRPr kumimoji="1" lang="zh-CN" altLang="en-US" sz="32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65574" name="Oval 6"/>
          <p:cNvSpPr>
            <a:spLocks noChangeArrowheads="1"/>
          </p:cNvSpPr>
          <p:nvPr/>
        </p:nvSpPr>
        <p:spPr bwMode="auto">
          <a:xfrm>
            <a:off x="1219200" y="3200400"/>
            <a:ext cx="455613" cy="557213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5575" name="Oval 7"/>
          <p:cNvSpPr>
            <a:spLocks noChangeArrowheads="1"/>
          </p:cNvSpPr>
          <p:nvPr/>
        </p:nvSpPr>
        <p:spPr bwMode="auto">
          <a:xfrm>
            <a:off x="304800" y="44196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5576" name="Line 8"/>
          <p:cNvSpPr>
            <a:spLocks noChangeShapeType="1"/>
          </p:cNvSpPr>
          <p:nvPr/>
        </p:nvSpPr>
        <p:spPr bwMode="auto">
          <a:xfrm flipH="1">
            <a:off x="531813" y="3581400"/>
            <a:ext cx="762000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77" name="Line 9"/>
          <p:cNvSpPr>
            <a:spLocks noChangeShapeType="1"/>
          </p:cNvSpPr>
          <p:nvPr/>
        </p:nvSpPr>
        <p:spPr bwMode="auto">
          <a:xfrm>
            <a:off x="1676400" y="3429000"/>
            <a:ext cx="13700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78" name="Line 10"/>
          <p:cNvSpPr>
            <a:spLocks noChangeShapeType="1"/>
          </p:cNvSpPr>
          <p:nvPr/>
        </p:nvSpPr>
        <p:spPr bwMode="auto">
          <a:xfrm>
            <a:off x="762000" y="4800600"/>
            <a:ext cx="2360613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79" name="Line 11"/>
          <p:cNvSpPr>
            <a:spLocks noChangeShapeType="1"/>
          </p:cNvSpPr>
          <p:nvPr/>
        </p:nvSpPr>
        <p:spPr bwMode="auto">
          <a:xfrm flipH="1">
            <a:off x="1663700" y="3581400"/>
            <a:ext cx="1230313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0" name="Line 12"/>
          <p:cNvSpPr>
            <a:spLocks noChangeShapeType="1"/>
          </p:cNvSpPr>
          <p:nvPr/>
        </p:nvSpPr>
        <p:spPr bwMode="auto">
          <a:xfrm>
            <a:off x="3201988" y="3505200"/>
            <a:ext cx="609600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1" name="Line 13"/>
          <p:cNvSpPr>
            <a:spLocks noChangeShapeType="1"/>
          </p:cNvSpPr>
          <p:nvPr/>
        </p:nvSpPr>
        <p:spPr bwMode="auto">
          <a:xfrm flipH="1">
            <a:off x="1676400" y="4876800"/>
            <a:ext cx="1992313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2" name="Line 14"/>
          <p:cNvSpPr>
            <a:spLocks noChangeShapeType="1"/>
          </p:cNvSpPr>
          <p:nvPr/>
        </p:nvSpPr>
        <p:spPr bwMode="auto">
          <a:xfrm flipH="1">
            <a:off x="1447800" y="3786188"/>
            <a:ext cx="1588" cy="1928812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5583" name="Oval 15"/>
          <p:cNvSpPr>
            <a:spLocks noChangeArrowheads="1"/>
          </p:cNvSpPr>
          <p:nvPr/>
        </p:nvSpPr>
        <p:spPr bwMode="auto">
          <a:xfrm>
            <a:off x="2824163" y="32004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5584" name="Oval 16"/>
          <p:cNvSpPr>
            <a:spLocks noChangeArrowheads="1"/>
          </p:cNvSpPr>
          <p:nvPr/>
        </p:nvSpPr>
        <p:spPr bwMode="auto">
          <a:xfrm>
            <a:off x="3654425" y="44196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365585" name="Oval 17"/>
          <p:cNvSpPr>
            <a:spLocks noChangeArrowheads="1"/>
          </p:cNvSpPr>
          <p:nvPr/>
        </p:nvSpPr>
        <p:spPr bwMode="auto">
          <a:xfrm>
            <a:off x="1219200" y="56388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5586" name="Oval 18"/>
          <p:cNvSpPr>
            <a:spLocks noChangeArrowheads="1"/>
          </p:cNvSpPr>
          <p:nvPr/>
        </p:nvSpPr>
        <p:spPr bwMode="auto">
          <a:xfrm>
            <a:off x="2819400" y="56388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5587" name="Text Box 19"/>
          <p:cNvSpPr txBox="1">
            <a:spLocks noChangeArrowheads="1"/>
          </p:cNvSpPr>
          <p:nvPr/>
        </p:nvSpPr>
        <p:spPr bwMode="auto">
          <a:xfrm>
            <a:off x="1279525" y="1263650"/>
            <a:ext cx="4006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定义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: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矩阵的元素为</a:t>
            </a:r>
            <a:endParaRPr kumimoji="1" lang="zh-CN" altLang="en-US" sz="2400">
              <a:latin typeface="Times New Roman" charset="0"/>
            </a:endParaRPr>
          </a:p>
        </p:txBody>
      </p:sp>
      <p:graphicFrame>
        <p:nvGraphicFramePr>
          <p:cNvPr id="365588" name="Object 20"/>
          <p:cNvGraphicFramePr>
            <a:graphicFrameLocks noChangeAspect="1"/>
          </p:cNvGraphicFramePr>
          <p:nvPr/>
        </p:nvGraphicFramePr>
        <p:xfrm>
          <a:off x="4494213" y="3278188"/>
          <a:ext cx="4289425" cy="346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385" name="Document" r:id="rId4" imgW="4205660" imgH="3403848" progId="Word.Document.8">
                  <p:embed/>
                </p:oleObj>
              </mc:Choice>
              <mc:Fallback>
                <p:oleObj name="Document" r:id="rId4" imgW="4205660" imgH="34038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4213" y="3278188"/>
                        <a:ext cx="4289425" cy="346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66887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4" dur="500"/>
                                        <p:tgtEl>
                                          <p:spTgt spid="36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0" grpId="0" autoUpdateAnimBg="0"/>
      <p:bldP spid="365571" grpId="0" autoUpdateAnimBg="0"/>
      <p:bldP spid="365572" grpId="0" autoUpdateAnimBg="0"/>
      <p:bldP spid="365573" grpId="0" autoUpdateAnimBg="0"/>
      <p:bldP spid="365574" grpId="0" animBg="1" autoUpdateAnimBg="0"/>
      <p:bldP spid="365575" grpId="0" animBg="1" autoUpdateAnimBg="0"/>
      <p:bldP spid="365576" grpId="0" animBg="1"/>
      <p:bldP spid="365577" grpId="0" animBg="1"/>
      <p:bldP spid="365578" grpId="0" animBg="1"/>
      <p:bldP spid="365579" grpId="0" animBg="1"/>
      <p:bldP spid="365580" grpId="0" animBg="1"/>
      <p:bldP spid="365581" grpId="0" animBg="1"/>
      <p:bldP spid="365582" grpId="0" animBg="1"/>
      <p:bldP spid="365583" grpId="0" animBg="1" autoUpdateAnimBg="0"/>
      <p:bldP spid="365584" grpId="0" animBg="1" autoUpdateAnimBg="0"/>
      <p:bldP spid="365585" grpId="0" animBg="1" autoUpdateAnimBg="0"/>
      <p:bldP spid="365586" grpId="0" animBg="1" autoUpdateAnimBg="0"/>
      <p:bldP spid="36558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Text Box 2"/>
          <p:cNvSpPr txBox="1">
            <a:spLocks noChangeArrowheads="1"/>
          </p:cNvSpPr>
          <p:nvPr/>
        </p:nvSpPr>
        <p:spPr bwMode="auto">
          <a:xfrm>
            <a:off x="457200" y="1143000"/>
            <a:ext cx="4054475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有向图的邻接矩阵为非对称矩阵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366595" name="Line 3"/>
          <p:cNvSpPr>
            <a:spLocks noChangeShapeType="1"/>
          </p:cNvSpPr>
          <p:nvPr/>
        </p:nvSpPr>
        <p:spPr bwMode="auto">
          <a:xfrm flipH="1">
            <a:off x="838200" y="33528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596" name="Line 4"/>
          <p:cNvSpPr>
            <a:spLocks noChangeShapeType="1"/>
          </p:cNvSpPr>
          <p:nvPr/>
        </p:nvSpPr>
        <p:spPr bwMode="auto">
          <a:xfrm>
            <a:off x="990600" y="44958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597" name="Line 5"/>
          <p:cNvSpPr>
            <a:spLocks noChangeShapeType="1"/>
          </p:cNvSpPr>
          <p:nvPr/>
        </p:nvSpPr>
        <p:spPr bwMode="auto">
          <a:xfrm>
            <a:off x="1905000" y="51816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598" name="Line 6"/>
          <p:cNvSpPr>
            <a:spLocks noChangeShapeType="1"/>
          </p:cNvSpPr>
          <p:nvPr/>
        </p:nvSpPr>
        <p:spPr bwMode="auto">
          <a:xfrm flipH="1" flipV="1">
            <a:off x="2514600" y="35814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599" name="Line 7"/>
          <p:cNvSpPr>
            <a:spLocks noChangeShapeType="1"/>
          </p:cNvSpPr>
          <p:nvPr/>
        </p:nvSpPr>
        <p:spPr bwMode="auto">
          <a:xfrm>
            <a:off x="2590800" y="33528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600" name="Line 8"/>
          <p:cNvSpPr>
            <a:spLocks noChangeShapeType="1"/>
          </p:cNvSpPr>
          <p:nvPr/>
        </p:nvSpPr>
        <p:spPr bwMode="auto">
          <a:xfrm flipH="1" flipV="1">
            <a:off x="1066800" y="42672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601" name="Line 9"/>
          <p:cNvSpPr>
            <a:spLocks noChangeShapeType="1"/>
          </p:cNvSpPr>
          <p:nvPr/>
        </p:nvSpPr>
        <p:spPr bwMode="auto">
          <a:xfrm flipH="1">
            <a:off x="1676400" y="42672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6602" name="Oval 10"/>
          <p:cNvSpPr>
            <a:spLocks noChangeArrowheads="1"/>
          </p:cNvSpPr>
          <p:nvPr/>
        </p:nvSpPr>
        <p:spPr bwMode="auto">
          <a:xfrm>
            <a:off x="2133600" y="3124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6603" name="Oval 11"/>
          <p:cNvSpPr>
            <a:spLocks noChangeArrowheads="1"/>
          </p:cNvSpPr>
          <p:nvPr/>
        </p:nvSpPr>
        <p:spPr bwMode="auto">
          <a:xfrm>
            <a:off x="609600" y="4038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6604" name="Oval 12"/>
          <p:cNvSpPr>
            <a:spLocks noChangeArrowheads="1"/>
          </p:cNvSpPr>
          <p:nvPr/>
        </p:nvSpPr>
        <p:spPr bwMode="auto">
          <a:xfrm>
            <a:off x="3657600" y="4038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6605" name="Oval 13"/>
          <p:cNvSpPr>
            <a:spLocks noChangeArrowheads="1"/>
          </p:cNvSpPr>
          <p:nvPr/>
        </p:nvSpPr>
        <p:spPr bwMode="auto">
          <a:xfrm>
            <a:off x="1447800" y="4953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6606" name="Oval 14"/>
          <p:cNvSpPr>
            <a:spLocks noChangeArrowheads="1"/>
          </p:cNvSpPr>
          <p:nvPr/>
        </p:nvSpPr>
        <p:spPr bwMode="auto">
          <a:xfrm>
            <a:off x="2819400" y="49530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graphicFrame>
        <p:nvGraphicFramePr>
          <p:cNvPr id="366607" name="Object 15"/>
          <p:cNvGraphicFramePr>
            <a:graphicFrameLocks noChangeAspect="1"/>
          </p:cNvGraphicFramePr>
          <p:nvPr/>
        </p:nvGraphicFramePr>
        <p:xfrm>
          <a:off x="4986338" y="2014538"/>
          <a:ext cx="3014662" cy="286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09" name="文档" r:id="rId3" imgW="3012440" imgH="2865120" progId="Word.Document.8">
                  <p:embed/>
                </p:oleObj>
              </mc:Choice>
              <mc:Fallback>
                <p:oleObj name="文档" r:id="rId3" imgW="3012440" imgH="2865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2014538"/>
                        <a:ext cx="3014662" cy="286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016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 autoUpdateAnimBg="0"/>
      <p:bldP spid="366595" grpId="0" animBg="1"/>
      <p:bldP spid="366596" grpId="0" animBg="1"/>
      <p:bldP spid="366597" grpId="0" animBg="1"/>
      <p:bldP spid="366598" grpId="0" animBg="1"/>
      <p:bldP spid="366599" grpId="0" animBg="1"/>
      <p:bldP spid="366600" grpId="0" animBg="1"/>
      <p:bldP spid="366601" grpId="0" animBg="1"/>
      <p:bldP spid="366602" grpId="0" animBg="1" autoUpdateAnimBg="0"/>
      <p:bldP spid="366603" grpId="0" animBg="1" autoUpdateAnimBg="0"/>
      <p:bldP spid="366604" grpId="0" animBg="1" autoUpdateAnimBg="0"/>
      <p:bldP spid="366605" grpId="0" animBg="1" autoUpdateAnimBg="0"/>
      <p:bldP spid="366606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Text Box 2"/>
          <p:cNvSpPr txBox="1">
            <a:spLocks noChangeArrowheads="1"/>
          </p:cNvSpPr>
          <p:nvPr/>
        </p:nvSpPr>
        <p:spPr bwMode="auto">
          <a:xfrm>
            <a:off x="195263" y="228600"/>
            <a:ext cx="8948737" cy="623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typedef 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ArcCell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{ // </a:t>
            </a:r>
            <a:r>
              <a:rPr kumimoji="1" lang="zh-CN" altLang="en-US" sz="3600" b="1">
                <a:solidFill>
                  <a:srgbClr val="7800EE"/>
                </a:solidFill>
                <a:latin typeface="Times New Roman" charset="0"/>
                <a:ea typeface="楷体_GB2312" charset="0"/>
              </a:rPr>
              <a:t>弧的定义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VRType  adj;    // VRType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是顶点关系类型。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对无权图，用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或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表示相邻否；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对带权图，则为权值类型。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InfoType  *info;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该弧相关信息的指针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ArcCell,  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AdjMatrix[MAX_VERTEX_NUM]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            [MAX_VERTEX_NUM];</a:t>
            </a:r>
          </a:p>
        </p:txBody>
      </p:sp>
    </p:spTree>
    <p:extLst>
      <p:ext uri="{BB962C8B-B14F-4D97-AF65-F5344CB8AC3E}">
        <p14:creationId xmlns:p14="http://schemas.microsoft.com/office/powerpoint/2010/main" val="322063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ChangeArrowheads="1"/>
          </p:cNvSpPr>
          <p:nvPr/>
        </p:nvSpPr>
        <p:spPr bwMode="auto">
          <a:xfrm>
            <a:off x="228600" y="1143000"/>
            <a:ext cx="8686800" cy="547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 { //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图的定义</a:t>
            </a:r>
            <a:endParaRPr kumimoji="1" lang="zh-CN" altLang="en-US" sz="36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VertexType 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顶点信息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vexs[MAX_VERTEX_NUM]; 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AdjMatrix    arcs;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弧的信息                     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vexnum, arcnum;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顶点数，弧数      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GraphKind   kind;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图的种类标志             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MGraph;</a:t>
            </a:r>
          </a:p>
        </p:txBody>
      </p:sp>
      <p:sp>
        <p:nvSpPr>
          <p:cNvPr id="368643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7188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2" grpId="0" autoUpdateAnimBg="0"/>
      <p:bldP spid="3686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Text Box 2"/>
          <p:cNvSpPr txBox="1">
            <a:spLocks noChangeArrowheads="1"/>
          </p:cNvSpPr>
          <p:nvPr/>
        </p:nvSpPr>
        <p:spPr bwMode="auto">
          <a:xfrm>
            <a:off x="457200" y="2441575"/>
            <a:ext cx="4953000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99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0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A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1       4</a:t>
            </a:r>
            <a:endParaRPr kumimoji="1" lang="en-US" altLang="zh-CN" sz="44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1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B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0       4        5</a:t>
            </a:r>
            <a:endParaRPr kumimoji="1" lang="en-US" altLang="zh-CN" sz="44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2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C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3       5</a:t>
            </a:r>
            <a:endParaRPr kumimoji="1" lang="en-US" altLang="zh-CN" sz="44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3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D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2       5</a:t>
            </a:r>
            <a:endParaRPr kumimoji="1" lang="en-US" altLang="zh-CN" sz="44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4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E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0        1</a:t>
            </a:r>
            <a:endParaRPr kumimoji="1" lang="en-US" altLang="zh-CN" sz="4400" b="1">
              <a:solidFill>
                <a:srgbClr val="000099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4400">
                <a:solidFill>
                  <a:srgbClr val="0000FF"/>
                </a:solidFill>
                <a:latin typeface="Times New Roman" charset="0"/>
              </a:rPr>
              <a:t>5</a:t>
            </a:r>
            <a:r>
              <a:rPr kumimoji="1" lang="en-US" altLang="zh-CN" sz="4400" b="1">
                <a:solidFill>
                  <a:srgbClr val="000099"/>
                </a:solidFill>
                <a:latin typeface="Times New Roman" charset="0"/>
              </a:rPr>
              <a:t>  F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 1       2       3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667" name="Rectangle 3"/>
          <p:cNvSpPr>
            <a:spLocks noChangeArrowheads="1"/>
          </p:cNvSpPr>
          <p:nvPr/>
        </p:nvSpPr>
        <p:spPr bwMode="auto">
          <a:xfrm>
            <a:off x="914400" y="2493963"/>
            <a:ext cx="990600" cy="40386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68" name="Line 4"/>
          <p:cNvSpPr>
            <a:spLocks noChangeShapeType="1"/>
          </p:cNvSpPr>
          <p:nvPr/>
        </p:nvSpPr>
        <p:spPr bwMode="auto">
          <a:xfrm>
            <a:off x="914400" y="3103563"/>
            <a:ext cx="990600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69" name="Line 5"/>
          <p:cNvSpPr>
            <a:spLocks noChangeShapeType="1"/>
          </p:cNvSpPr>
          <p:nvPr/>
        </p:nvSpPr>
        <p:spPr bwMode="auto">
          <a:xfrm>
            <a:off x="914400" y="3789363"/>
            <a:ext cx="990600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0" name="Line 6"/>
          <p:cNvSpPr>
            <a:spLocks noChangeShapeType="1"/>
          </p:cNvSpPr>
          <p:nvPr/>
        </p:nvSpPr>
        <p:spPr bwMode="auto">
          <a:xfrm>
            <a:off x="914400" y="4475163"/>
            <a:ext cx="990600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1" name="Line 7"/>
          <p:cNvSpPr>
            <a:spLocks noChangeShapeType="1"/>
          </p:cNvSpPr>
          <p:nvPr/>
        </p:nvSpPr>
        <p:spPr bwMode="auto">
          <a:xfrm>
            <a:off x="914400" y="5160963"/>
            <a:ext cx="990600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2" name="Line 8"/>
          <p:cNvSpPr>
            <a:spLocks noChangeShapeType="1"/>
          </p:cNvSpPr>
          <p:nvPr/>
        </p:nvSpPr>
        <p:spPr bwMode="auto">
          <a:xfrm>
            <a:off x="914400" y="5846763"/>
            <a:ext cx="990600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3" name="Line 9"/>
          <p:cNvSpPr>
            <a:spLocks noChangeShapeType="1"/>
          </p:cNvSpPr>
          <p:nvPr/>
        </p:nvSpPr>
        <p:spPr bwMode="auto">
          <a:xfrm>
            <a:off x="1524000" y="2493963"/>
            <a:ext cx="0" cy="403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4" name="Rectangle 10"/>
          <p:cNvSpPr>
            <a:spLocks noChangeArrowheads="1"/>
          </p:cNvSpPr>
          <p:nvPr/>
        </p:nvSpPr>
        <p:spPr bwMode="auto">
          <a:xfrm>
            <a:off x="3429000" y="26463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75" name="Line 11"/>
          <p:cNvSpPr>
            <a:spLocks noChangeShapeType="1"/>
          </p:cNvSpPr>
          <p:nvPr/>
        </p:nvSpPr>
        <p:spPr bwMode="auto">
          <a:xfrm>
            <a:off x="3810000" y="26463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6" name="Line 12"/>
          <p:cNvSpPr>
            <a:spLocks noChangeShapeType="1"/>
          </p:cNvSpPr>
          <p:nvPr/>
        </p:nvSpPr>
        <p:spPr bwMode="auto">
          <a:xfrm>
            <a:off x="2819400" y="28749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7" name="Rectangle 13"/>
          <p:cNvSpPr>
            <a:spLocks noChangeArrowheads="1"/>
          </p:cNvSpPr>
          <p:nvPr/>
        </p:nvSpPr>
        <p:spPr bwMode="auto">
          <a:xfrm>
            <a:off x="2362200" y="32559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78" name="Line 14"/>
          <p:cNvSpPr>
            <a:spLocks noChangeShapeType="1"/>
          </p:cNvSpPr>
          <p:nvPr/>
        </p:nvSpPr>
        <p:spPr bwMode="auto">
          <a:xfrm>
            <a:off x="2743200" y="32559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79" name="Line 15"/>
          <p:cNvSpPr>
            <a:spLocks noChangeShapeType="1"/>
          </p:cNvSpPr>
          <p:nvPr/>
        </p:nvSpPr>
        <p:spPr bwMode="auto">
          <a:xfrm>
            <a:off x="1752600" y="34845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0" name="Rectangle 16"/>
          <p:cNvSpPr>
            <a:spLocks noChangeArrowheads="1"/>
          </p:cNvSpPr>
          <p:nvPr/>
        </p:nvSpPr>
        <p:spPr bwMode="auto">
          <a:xfrm>
            <a:off x="3429000" y="32559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81" name="Line 17"/>
          <p:cNvSpPr>
            <a:spLocks noChangeShapeType="1"/>
          </p:cNvSpPr>
          <p:nvPr/>
        </p:nvSpPr>
        <p:spPr bwMode="auto">
          <a:xfrm>
            <a:off x="3810000" y="32559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2" name="Line 18"/>
          <p:cNvSpPr>
            <a:spLocks noChangeShapeType="1"/>
          </p:cNvSpPr>
          <p:nvPr/>
        </p:nvSpPr>
        <p:spPr bwMode="auto">
          <a:xfrm>
            <a:off x="2819400" y="34845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3" name="Rectangle 19"/>
          <p:cNvSpPr>
            <a:spLocks noChangeArrowheads="1"/>
          </p:cNvSpPr>
          <p:nvPr/>
        </p:nvSpPr>
        <p:spPr bwMode="auto">
          <a:xfrm>
            <a:off x="4572000" y="32559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84" name="Line 20"/>
          <p:cNvSpPr>
            <a:spLocks noChangeShapeType="1"/>
          </p:cNvSpPr>
          <p:nvPr/>
        </p:nvSpPr>
        <p:spPr bwMode="auto">
          <a:xfrm>
            <a:off x="4953000" y="32559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5" name="Line 21"/>
          <p:cNvSpPr>
            <a:spLocks noChangeShapeType="1"/>
          </p:cNvSpPr>
          <p:nvPr/>
        </p:nvSpPr>
        <p:spPr bwMode="auto">
          <a:xfrm>
            <a:off x="3962400" y="34845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6" name="Rectangle 22"/>
          <p:cNvSpPr>
            <a:spLocks noChangeArrowheads="1"/>
          </p:cNvSpPr>
          <p:nvPr/>
        </p:nvSpPr>
        <p:spPr bwMode="auto">
          <a:xfrm>
            <a:off x="2362200" y="39417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87" name="Line 23"/>
          <p:cNvSpPr>
            <a:spLocks noChangeShapeType="1"/>
          </p:cNvSpPr>
          <p:nvPr/>
        </p:nvSpPr>
        <p:spPr bwMode="auto">
          <a:xfrm>
            <a:off x="2743200" y="39417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8" name="Line 24"/>
          <p:cNvSpPr>
            <a:spLocks noChangeShapeType="1"/>
          </p:cNvSpPr>
          <p:nvPr/>
        </p:nvSpPr>
        <p:spPr bwMode="auto">
          <a:xfrm>
            <a:off x="1752600" y="41703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89" name="Rectangle 25"/>
          <p:cNvSpPr>
            <a:spLocks noChangeArrowheads="1"/>
          </p:cNvSpPr>
          <p:nvPr/>
        </p:nvSpPr>
        <p:spPr bwMode="auto">
          <a:xfrm>
            <a:off x="3429000" y="39417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90" name="Line 26"/>
          <p:cNvSpPr>
            <a:spLocks noChangeShapeType="1"/>
          </p:cNvSpPr>
          <p:nvPr/>
        </p:nvSpPr>
        <p:spPr bwMode="auto">
          <a:xfrm>
            <a:off x="3810000" y="39417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1" name="Line 27"/>
          <p:cNvSpPr>
            <a:spLocks noChangeShapeType="1"/>
          </p:cNvSpPr>
          <p:nvPr/>
        </p:nvSpPr>
        <p:spPr bwMode="auto">
          <a:xfrm>
            <a:off x="2819400" y="41703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2" name="Rectangle 28"/>
          <p:cNvSpPr>
            <a:spLocks noChangeArrowheads="1"/>
          </p:cNvSpPr>
          <p:nvPr/>
        </p:nvSpPr>
        <p:spPr bwMode="auto">
          <a:xfrm>
            <a:off x="2362200" y="46275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93" name="Line 29"/>
          <p:cNvSpPr>
            <a:spLocks noChangeShapeType="1"/>
          </p:cNvSpPr>
          <p:nvPr/>
        </p:nvSpPr>
        <p:spPr bwMode="auto">
          <a:xfrm>
            <a:off x="2743200" y="46275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4" name="Line 30"/>
          <p:cNvSpPr>
            <a:spLocks noChangeShapeType="1"/>
          </p:cNvSpPr>
          <p:nvPr/>
        </p:nvSpPr>
        <p:spPr bwMode="auto">
          <a:xfrm>
            <a:off x="1752600" y="48561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5" name="Rectangle 31"/>
          <p:cNvSpPr>
            <a:spLocks noChangeArrowheads="1"/>
          </p:cNvSpPr>
          <p:nvPr/>
        </p:nvSpPr>
        <p:spPr bwMode="auto">
          <a:xfrm>
            <a:off x="3429000" y="46275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96" name="Line 32"/>
          <p:cNvSpPr>
            <a:spLocks noChangeShapeType="1"/>
          </p:cNvSpPr>
          <p:nvPr/>
        </p:nvSpPr>
        <p:spPr bwMode="auto">
          <a:xfrm>
            <a:off x="3810000" y="46275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7" name="Line 33"/>
          <p:cNvSpPr>
            <a:spLocks noChangeShapeType="1"/>
          </p:cNvSpPr>
          <p:nvPr/>
        </p:nvSpPr>
        <p:spPr bwMode="auto">
          <a:xfrm>
            <a:off x="2819400" y="48561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698" name="Rectangle 34"/>
          <p:cNvSpPr>
            <a:spLocks noChangeArrowheads="1"/>
          </p:cNvSpPr>
          <p:nvPr/>
        </p:nvSpPr>
        <p:spPr bwMode="auto">
          <a:xfrm>
            <a:off x="2362200" y="53133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699" name="Line 35"/>
          <p:cNvSpPr>
            <a:spLocks noChangeShapeType="1"/>
          </p:cNvSpPr>
          <p:nvPr/>
        </p:nvSpPr>
        <p:spPr bwMode="auto">
          <a:xfrm>
            <a:off x="2743200" y="53133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0" name="Line 36"/>
          <p:cNvSpPr>
            <a:spLocks noChangeShapeType="1"/>
          </p:cNvSpPr>
          <p:nvPr/>
        </p:nvSpPr>
        <p:spPr bwMode="auto">
          <a:xfrm>
            <a:off x="1752600" y="55419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1" name="Rectangle 37"/>
          <p:cNvSpPr>
            <a:spLocks noChangeArrowheads="1"/>
          </p:cNvSpPr>
          <p:nvPr/>
        </p:nvSpPr>
        <p:spPr bwMode="auto">
          <a:xfrm>
            <a:off x="3429000" y="53133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702" name="Line 38"/>
          <p:cNvSpPr>
            <a:spLocks noChangeShapeType="1"/>
          </p:cNvSpPr>
          <p:nvPr/>
        </p:nvSpPr>
        <p:spPr bwMode="auto">
          <a:xfrm>
            <a:off x="3810000" y="53133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3" name="Line 39"/>
          <p:cNvSpPr>
            <a:spLocks noChangeShapeType="1"/>
          </p:cNvSpPr>
          <p:nvPr/>
        </p:nvSpPr>
        <p:spPr bwMode="auto">
          <a:xfrm>
            <a:off x="2819400" y="55419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4" name="Rectangle 40"/>
          <p:cNvSpPr>
            <a:spLocks noChangeArrowheads="1"/>
          </p:cNvSpPr>
          <p:nvPr/>
        </p:nvSpPr>
        <p:spPr bwMode="auto">
          <a:xfrm>
            <a:off x="2362200" y="26463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705" name="Line 41"/>
          <p:cNvSpPr>
            <a:spLocks noChangeShapeType="1"/>
          </p:cNvSpPr>
          <p:nvPr/>
        </p:nvSpPr>
        <p:spPr bwMode="auto">
          <a:xfrm>
            <a:off x="2743200" y="26463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6" name="Line 42"/>
          <p:cNvSpPr>
            <a:spLocks noChangeShapeType="1"/>
          </p:cNvSpPr>
          <p:nvPr/>
        </p:nvSpPr>
        <p:spPr bwMode="auto">
          <a:xfrm>
            <a:off x="1752600" y="28749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7" name="Rectangle 43"/>
          <p:cNvSpPr>
            <a:spLocks noChangeArrowheads="1"/>
          </p:cNvSpPr>
          <p:nvPr/>
        </p:nvSpPr>
        <p:spPr bwMode="auto">
          <a:xfrm>
            <a:off x="2362200" y="59991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708" name="Line 44"/>
          <p:cNvSpPr>
            <a:spLocks noChangeShapeType="1"/>
          </p:cNvSpPr>
          <p:nvPr/>
        </p:nvSpPr>
        <p:spPr bwMode="auto">
          <a:xfrm>
            <a:off x="2743200" y="59991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09" name="Line 45"/>
          <p:cNvSpPr>
            <a:spLocks noChangeShapeType="1"/>
          </p:cNvSpPr>
          <p:nvPr/>
        </p:nvSpPr>
        <p:spPr bwMode="auto">
          <a:xfrm>
            <a:off x="1752600" y="62277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0" name="Rectangle 46"/>
          <p:cNvSpPr>
            <a:spLocks noChangeArrowheads="1"/>
          </p:cNvSpPr>
          <p:nvPr/>
        </p:nvSpPr>
        <p:spPr bwMode="auto">
          <a:xfrm>
            <a:off x="3429000" y="59991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711" name="Line 47"/>
          <p:cNvSpPr>
            <a:spLocks noChangeShapeType="1"/>
          </p:cNvSpPr>
          <p:nvPr/>
        </p:nvSpPr>
        <p:spPr bwMode="auto">
          <a:xfrm>
            <a:off x="3810000" y="59991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2" name="Line 48"/>
          <p:cNvSpPr>
            <a:spLocks noChangeShapeType="1"/>
          </p:cNvSpPr>
          <p:nvPr/>
        </p:nvSpPr>
        <p:spPr bwMode="auto">
          <a:xfrm>
            <a:off x="2819400" y="62277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3" name="Rectangle 49"/>
          <p:cNvSpPr>
            <a:spLocks noChangeArrowheads="1"/>
          </p:cNvSpPr>
          <p:nvPr/>
        </p:nvSpPr>
        <p:spPr bwMode="auto">
          <a:xfrm>
            <a:off x="4495800" y="5999163"/>
            <a:ext cx="609600" cy="457200"/>
          </a:xfrm>
          <a:prstGeom prst="rect">
            <a:avLst/>
          </a:prstGeom>
          <a:noFill/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9714" name="Line 50"/>
          <p:cNvSpPr>
            <a:spLocks noChangeShapeType="1"/>
          </p:cNvSpPr>
          <p:nvPr/>
        </p:nvSpPr>
        <p:spPr bwMode="auto">
          <a:xfrm>
            <a:off x="4876800" y="5999163"/>
            <a:ext cx="0" cy="4572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5" name="Line 51"/>
          <p:cNvSpPr>
            <a:spLocks noChangeShapeType="1"/>
          </p:cNvSpPr>
          <p:nvPr/>
        </p:nvSpPr>
        <p:spPr bwMode="auto">
          <a:xfrm>
            <a:off x="3886200" y="6227763"/>
            <a:ext cx="6096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6" name="Line 52"/>
          <p:cNvSpPr>
            <a:spLocks noChangeShapeType="1"/>
          </p:cNvSpPr>
          <p:nvPr/>
        </p:nvSpPr>
        <p:spPr bwMode="auto">
          <a:xfrm flipH="1">
            <a:off x="3810000" y="27987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7" name="Line 53"/>
          <p:cNvSpPr>
            <a:spLocks noChangeShapeType="1"/>
          </p:cNvSpPr>
          <p:nvPr/>
        </p:nvSpPr>
        <p:spPr bwMode="auto">
          <a:xfrm>
            <a:off x="3886200" y="27987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8" name="Line 54"/>
          <p:cNvSpPr>
            <a:spLocks noChangeShapeType="1"/>
          </p:cNvSpPr>
          <p:nvPr/>
        </p:nvSpPr>
        <p:spPr bwMode="auto">
          <a:xfrm flipH="1">
            <a:off x="3810000" y="40941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19" name="Line 55"/>
          <p:cNvSpPr>
            <a:spLocks noChangeShapeType="1"/>
          </p:cNvSpPr>
          <p:nvPr/>
        </p:nvSpPr>
        <p:spPr bwMode="auto">
          <a:xfrm>
            <a:off x="3886200" y="40941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0" name="Line 56"/>
          <p:cNvSpPr>
            <a:spLocks noChangeShapeType="1"/>
          </p:cNvSpPr>
          <p:nvPr/>
        </p:nvSpPr>
        <p:spPr bwMode="auto">
          <a:xfrm flipH="1">
            <a:off x="3810000" y="47037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1" name="Line 57"/>
          <p:cNvSpPr>
            <a:spLocks noChangeShapeType="1"/>
          </p:cNvSpPr>
          <p:nvPr/>
        </p:nvSpPr>
        <p:spPr bwMode="auto">
          <a:xfrm>
            <a:off x="3886200" y="47037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2" name="Line 58"/>
          <p:cNvSpPr>
            <a:spLocks noChangeShapeType="1"/>
          </p:cNvSpPr>
          <p:nvPr/>
        </p:nvSpPr>
        <p:spPr bwMode="auto">
          <a:xfrm flipH="1">
            <a:off x="4953000" y="34083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3" name="Line 59"/>
          <p:cNvSpPr>
            <a:spLocks noChangeShapeType="1"/>
          </p:cNvSpPr>
          <p:nvPr/>
        </p:nvSpPr>
        <p:spPr bwMode="auto">
          <a:xfrm>
            <a:off x="5029200" y="3429000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4" name="Line 60"/>
          <p:cNvSpPr>
            <a:spLocks noChangeShapeType="1"/>
          </p:cNvSpPr>
          <p:nvPr/>
        </p:nvSpPr>
        <p:spPr bwMode="auto">
          <a:xfrm flipH="1">
            <a:off x="3886200" y="53895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5" name="Line 61"/>
          <p:cNvSpPr>
            <a:spLocks noChangeShapeType="1"/>
          </p:cNvSpPr>
          <p:nvPr/>
        </p:nvSpPr>
        <p:spPr bwMode="auto">
          <a:xfrm>
            <a:off x="3962400" y="53895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6" name="Line 62"/>
          <p:cNvSpPr>
            <a:spLocks noChangeShapeType="1"/>
          </p:cNvSpPr>
          <p:nvPr/>
        </p:nvSpPr>
        <p:spPr bwMode="auto">
          <a:xfrm flipH="1">
            <a:off x="4953000" y="60753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7" name="Line 63"/>
          <p:cNvSpPr>
            <a:spLocks noChangeShapeType="1"/>
          </p:cNvSpPr>
          <p:nvPr/>
        </p:nvSpPr>
        <p:spPr bwMode="auto">
          <a:xfrm>
            <a:off x="5029200" y="6075363"/>
            <a:ext cx="76200" cy="228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28" name="Oval 64"/>
          <p:cNvSpPr>
            <a:spLocks noChangeArrowheads="1"/>
          </p:cNvSpPr>
          <p:nvPr/>
        </p:nvSpPr>
        <p:spPr bwMode="auto">
          <a:xfrm>
            <a:off x="6176963" y="1295400"/>
            <a:ext cx="455612" cy="557213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729" name="Oval 65"/>
          <p:cNvSpPr>
            <a:spLocks noChangeArrowheads="1"/>
          </p:cNvSpPr>
          <p:nvPr/>
        </p:nvSpPr>
        <p:spPr bwMode="auto">
          <a:xfrm>
            <a:off x="5262563" y="25146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730" name="Line 66"/>
          <p:cNvSpPr>
            <a:spLocks noChangeShapeType="1"/>
          </p:cNvSpPr>
          <p:nvPr/>
        </p:nvSpPr>
        <p:spPr bwMode="auto">
          <a:xfrm flipH="1">
            <a:off x="5489575" y="1676400"/>
            <a:ext cx="762000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1" name="Line 67"/>
          <p:cNvSpPr>
            <a:spLocks noChangeShapeType="1"/>
          </p:cNvSpPr>
          <p:nvPr/>
        </p:nvSpPr>
        <p:spPr bwMode="auto">
          <a:xfrm>
            <a:off x="6634163" y="1524000"/>
            <a:ext cx="1370012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2" name="Line 68"/>
          <p:cNvSpPr>
            <a:spLocks noChangeShapeType="1"/>
          </p:cNvSpPr>
          <p:nvPr/>
        </p:nvSpPr>
        <p:spPr bwMode="auto">
          <a:xfrm>
            <a:off x="5719763" y="2895600"/>
            <a:ext cx="2360612" cy="9144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3" name="Line 69"/>
          <p:cNvSpPr>
            <a:spLocks noChangeShapeType="1"/>
          </p:cNvSpPr>
          <p:nvPr/>
        </p:nvSpPr>
        <p:spPr bwMode="auto">
          <a:xfrm flipH="1">
            <a:off x="6621463" y="1676400"/>
            <a:ext cx="1230312" cy="2209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4" name="Line 70"/>
          <p:cNvSpPr>
            <a:spLocks noChangeShapeType="1"/>
          </p:cNvSpPr>
          <p:nvPr/>
        </p:nvSpPr>
        <p:spPr bwMode="auto">
          <a:xfrm>
            <a:off x="8159750" y="1600200"/>
            <a:ext cx="609600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5" name="Line 71"/>
          <p:cNvSpPr>
            <a:spLocks noChangeShapeType="1"/>
          </p:cNvSpPr>
          <p:nvPr/>
        </p:nvSpPr>
        <p:spPr bwMode="auto">
          <a:xfrm flipH="1">
            <a:off x="6634163" y="2971800"/>
            <a:ext cx="1992312" cy="990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6" name="Line 72"/>
          <p:cNvSpPr>
            <a:spLocks noChangeShapeType="1"/>
          </p:cNvSpPr>
          <p:nvPr/>
        </p:nvSpPr>
        <p:spPr bwMode="auto">
          <a:xfrm flipH="1">
            <a:off x="6405563" y="1881188"/>
            <a:ext cx="1587" cy="1928812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9737" name="Oval 73"/>
          <p:cNvSpPr>
            <a:spLocks noChangeArrowheads="1"/>
          </p:cNvSpPr>
          <p:nvPr/>
        </p:nvSpPr>
        <p:spPr bwMode="auto">
          <a:xfrm>
            <a:off x="7781925" y="1295400"/>
            <a:ext cx="455613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738" name="Oval 74"/>
          <p:cNvSpPr>
            <a:spLocks noChangeArrowheads="1"/>
          </p:cNvSpPr>
          <p:nvPr/>
        </p:nvSpPr>
        <p:spPr bwMode="auto">
          <a:xfrm>
            <a:off x="8612188" y="25146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369739" name="Oval 75"/>
          <p:cNvSpPr>
            <a:spLocks noChangeArrowheads="1"/>
          </p:cNvSpPr>
          <p:nvPr/>
        </p:nvSpPr>
        <p:spPr bwMode="auto">
          <a:xfrm>
            <a:off x="6176963" y="37338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740" name="Oval 76"/>
          <p:cNvSpPr>
            <a:spLocks noChangeArrowheads="1"/>
          </p:cNvSpPr>
          <p:nvPr/>
        </p:nvSpPr>
        <p:spPr bwMode="auto">
          <a:xfrm>
            <a:off x="7777163" y="3733800"/>
            <a:ext cx="455612" cy="533400"/>
          </a:xfrm>
          <a:prstGeom prst="ellipse">
            <a:avLst/>
          </a:prstGeom>
          <a:solidFill>
            <a:schemeClr val="accent2">
              <a:alpha val="50195"/>
            </a:scheme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69741" name="Text Box 77"/>
          <p:cNvSpPr txBox="1">
            <a:spLocks noChangeArrowheads="1"/>
          </p:cNvSpPr>
          <p:nvPr/>
        </p:nvSpPr>
        <p:spPr bwMode="auto">
          <a:xfrm>
            <a:off x="1371600" y="152400"/>
            <a:ext cx="71628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二、图的邻接表存储表示</a:t>
            </a:r>
            <a:endParaRPr kumimoji="1" lang="zh-CN" altLang="en-US" sz="44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2660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6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2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2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2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2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2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2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29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utoUpdateAnimBg="0"/>
      <p:bldP spid="369667" grpId="0" animBg="1"/>
      <p:bldP spid="369668" grpId="0" animBg="1"/>
      <p:bldP spid="369669" grpId="0" animBg="1"/>
      <p:bldP spid="369670" grpId="0" animBg="1"/>
      <p:bldP spid="369671" grpId="0" animBg="1"/>
      <p:bldP spid="369672" grpId="0" animBg="1"/>
      <p:bldP spid="369673" grpId="0" animBg="1"/>
      <p:bldP spid="369674" grpId="0" animBg="1"/>
      <p:bldP spid="369675" grpId="0" animBg="1"/>
      <p:bldP spid="369676" grpId="0" animBg="1"/>
      <p:bldP spid="369677" grpId="0" animBg="1"/>
      <p:bldP spid="369678" grpId="0" animBg="1"/>
      <p:bldP spid="369679" grpId="0" animBg="1"/>
      <p:bldP spid="369680" grpId="0" animBg="1"/>
      <p:bldP spid="369681" grpId="0" animBg="1"/>
      <p:bldP spid="369682" grpId="0" animBg="1"/>
      <p:bldP spid="369683" grpId="0" animBg="1"/>
      <p:bldP spid="369684" grpId="0" animBg="1"/>
      <p:bldP spid="369685" grpId="0" animBg="1"/>
      <p:bldP spid="369686" grpId="0" animBg="1"/>
      <p:bldP spid="369687" grpId="0" animBg="1"/>
      <p:bldP spid="369688" grpId="0" animBg="1"/>
      <p:bldP spid="369689" grpId="0" animBg="1"/>
      <p:bldP spid="369690" grpId="0" animBg="1"/>
      <p:bldP spid="369691" grpId="0" animBg="1"/>
      <p:bldP spid="369692" grpId="0" animBg="1"/>
      <p:bldP spid="369693" grpId="0" animBg="1"/>
      <p:bldP spid="369694" grpId="0" animBg="1"/>
      <p:bldP spid="369695" grpId="0" animBg="1"/>
      <p:bldP spid="369696" grpId="0" animBg="1"/>
      <p:bldP spid="369697" grpId="0" animBg="1"/>
      <p:bldP spid="369698" grpId="0" animBg="1"/>
      <p:bldP spid="369699" grpId="0" animBg="1"/>
      <p:bldP spid="369700" grpId="0" animBg="1"/>
      <p:bldP spid="369701" grpId="0" animBg="1"/>
      <p:bldP spid="369702" grpId="0" animBg="1"/>
      <p:bldP spid="369703" grpId="0" animBg="1"/>
      <p:bldP spid="369704" grpId="0" animBg="1"/>
      <p:bldP spid="369705" grpId="0" animBg="1"/>
      <p:bldP spid="369706" grpId="0" animBg="1"/>
      <p:bldP spid="369707" grpId="0" animBg="1"/>
      <p:bldP spid="369708" grpId="0" animBg="1"/>
      <p:bldP spid="369709" grpId="0" animBg="1"/>
      <p:bldP spid="369710" grpId="0" animBg="1"/>
      <p:bldP spid="369711" grpId="0" animBg="1"/>
      <p:bldP spid="369712" grpId="0" animBg="1"/>
      <p:bldP spid="369713" grpId="0" animBg="1"/>
      <p:bldP spid="369714" grpId="0" animBg="1"/>
      <p:bldP spid="369715" grpId="0" animBg="1"/>
      <p:bldP spid="369716" grpId="0" animBg="1"/>
      <p:bldP spid="369717" grpId="0" animBg="1"/>
      <p:bldP spid="369718" grpId="0" animBg="1"/>
      <p:bldP spid="369719" grpId="0" animBg="1"/>
      <p:bldP spid="369720" grpId="0" animBg="1"/>
      <p:bldP spid="369721" grpId="0" animBg="1"/>
      <p:bldP spid="369722" grpId="0" animBg="1"/>
      <p:bldP spid="369723" grpId="0" animBg="1"/>
      <p:bldP spid="369724" grpId="0" animBg="1"/>
      <p:bldP spid="369725" grpId="0" animBg="1"/>
      <p:bldP spid="369726" grpId="0" animBg="1"/>
      <p:bldP spid="369727" grpId="0" animBg="1"/>
      <p:bldP spid="369728" grpId="0" animBg="1" autoUpdateAnimBg="0"/>
      <p:bldP spid="369729" grpId="0" animBg="1" autoUpdateAnimBg="0"/>
      <p:bldP spid="369730" grpId="0" animBg="1"/>
      <p:bldP spid="369731" grpId="0" animBg="1"/>
      <p:bldP spid="369732" grpId="0" animBg="1"/>
      <p:bldP spid="369733" grpId="0" animBg="1"/>
      <p:bldP spid="369734" grpId="0" animBg="1"/>
      <p:bldP spid="369735" grpId="0" animBg="1"/>
      <p:bldP spid="369736" grpId="0" animBg="1"/>
      <p:bldP spid="369737" grpId="0" animBg="1" autoUpdateAnimBg="0"/>
      <p:bldP spid="369738" grpId="0" animBg="1" autoUpdateAnimBg="0"/>
      <p:bldP spid="369739" grpId="0" animBg="1" autoUpdateAnimBg="0"/>
      <p:bldP spid="369740" grpId="0" animBg="1" autoUpdateAnimBg="0"/>
      <p:bldP spid="36974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Text Box 2"/>
          <p:cNvSpPr txBox="1">
            <a:spLocks noChangeArrowheads="1"/>
          </p:cNvSpPr>
          <p:nvPr/>
        </p:nvSpPr>
        <p:spPr bwMode="auto">
          <a:xfrm>
            <a:off x="6626225" y="2590800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1        4</a:t>
            </a:r>
            <a:endParaRPr kumimoji="1" lang="en-US" altLang="zh-CN" sz="24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70691" name="Rectangle 3"/>
          <p:cNvSpPr>
            <a:spLocks noChangeArrowheads="1"/>
          </p:cNvSpPr>
          <p:nvPr/>
        </p:nvSpPr>
        <p:spPr bwMode="auto">
          <a:xfrm>
            <a:off x="6550025" y="2667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692" name="Line 4"/>
          <p:cNvSpPr>
            <a:spLocks noChangeShapeType="1"/>
          </p:cNvSpPr>
          <p:nvPr/>
        </p:nvSpPr>
        <p:spPr bwMode="auto">
          <a:xfrm>
            <a:off x="7083425" y="2667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693" name="Line 5"/>
          <p:cNvSpPr>
            <a:spLocks noChangeShapeType="1"/>
          </p:cNvSpPr>
          <p:nvPr/>
        </p:nvSpPr>
        <p:spPr bwMode="auto">
          <a:xfrm>
            <a:off x="6092825" y="2895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694" name="Rectangle 6"/>
          <p:cNvSpPr>
            <a:spLocks noChangeArrowheads="1"/>
          </p:cNvSpPr>
          <p:nvPr/>
        </p:nvSpPr>
        <p:spPr bwMode="auto">
          <a:xfrm>
            <a:off x="7693025" y="2667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695" name="Line 7"/>
          <p:cNvSpPr>
            <a:spLocks noChangeShapeType="1"/>
          </p:cNvSpPr>
          <p:nvPr/>
        </p:nvSpPr>
        <p:spPr bwMode="auto">
          <a:xfrm>
            <a:off x="8226425" y="2667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696" name="Line 8"/>
          <p:cNvSpPr>
            <a:spLocks noChangeShapeType="1"/>
          </p:cNvSpPr>
          <p:nvPr/>
        </p:nvSpPr>
        <p:spPr bwMode="auto">
          <a:xfrm>
            <a:off x="7235825" y="2895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697" name="Text Box 9"/>
          <p:cNvSpPr txBox="1">
            <a:spLocks noChangeArrowheads="1"/>
          </p:cNvSpPr>
          <p:nvPr/>
        </p:nvSpPr>
        <p:spPr bwMode="auto">
          <a:xfrm>
            <a:off x="6626225" y="33528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698" name="Text Box 10"/>
          <p:cNvSpPr txBox="1">
            <a:spLocks noChangeArrowheads="1"/>
          </p:cNvSpPr>
          <p:nvPr/>
        </p:nvSpPr>
        <p:spPr bwMode="auto">
          <a:xfrm>
            <a:off x="6626225" y="41148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699" name="Text Box 11"/>
          <p:cNvSpPr txBox="1">
            <a:spLocks noChangeArrowheads="1"/>
          </p:cNvSpPr>
          <p:nvPr/>
        </p:nvSpPr>
        <p:spPr bwMode="auto">
          <a:xfrm>
            <a:off x="6702425" y="4876800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0        1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00" name="Text Box 12"/>
          <p:cNvSpPr txBox="1">
            <a:spLocks noChangeArrowheads="1"/>
          </p:cNvSpPr>
          <p:nvPr/>
        </p:nvSpPr>
        <p:spPr bwMode="auto">
          <a:xfrm>
            <a:off x="6702425" y="56388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01" name="Rectangle 13"/>
          <p:cNvSpPr>
            <a:spLocks noChangeArrowheads="1"/>
          </p:cNvSpPr>
          <p:nvPr/>
        </p:nvSpPr>
        <p:spPr bwMode="auto">
          <a:xfrm>
            <a:off x="6550025" y="3429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702" name="Line 14"/>
          <p:cNvSpPr>
            <a:spLocks noChangeShapeType="1"/>
          </p:cNvSpPr>
          <p:nvPr/>
        </p:nvSpPr>
        <p:spPr bwMode="auto">
          <a:xfrm>
            <a:off x="7083425" y="3429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03" name="Line 15"/>
          <p:cNvSpPr>
            <a:spLocks noChangeShapeType="1"/>
          </p:cNvSpPr>
          <p:nvPr/>
        </p:nvSpPr>
        <p:spPr bwMode="auto">
          <a:xfrm>
            <a:off x="6092825" y="3657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04" name="Rectangle 16"/>
          <p:cNvSpPr>
            <a:spLocks noChangeArrowheads="1"/>
          </p:cNvSpPr>
          <p:nvPr/>
        </p:nvSpPr>
        <p:spPr bwMode="auto">
          <a:xfrm>
            <a:off x="6550025" y="4191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705" name="Line 17"/>
          <p:cNvSpPr>
            <a:spLocks noChangeShapeType="1"/>
          </p:cNvSpPr>
          <p:nvPr/>
        </p:nvSpPr>
        <p:spPr bwMode="auto">
          <a:xfrm>
            <a:off x="7083425" y="4191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06" name="Line 18"/>
          <p:cNvSpPr>
            <a:spLocks noChangeShapeType="1"/>
          </p:cNvSpPr>
          <p:nvPr/>
        </p:nvSpPr>
        <p:spPr bwMode="auto">
          <a:xfrm>
            <a:off x="6092825" y="4419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07" name="Rectangle 19"/>
          <p:cNvSpPr>
            <a:spLocks noChangeArrowheads="1"/>
          </p:cNvSpPr>
          <p:nvPr/>
        </p:nvSpPr>
        <p:spPr bwMode="auto">
          <a:xfrm>
            <a:off x="6550025" y="4953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708" name="Line 20"/>
          <p:cNvSpPr>
            <a:spLocks noChangeShapeType="1"/>
          </p:cNvSpPr>
          <p:nvPr/>
        </p:nvSpPr>
        <p:spPr bwMode="auto">
          <a:xfrm>
            <a:off x="7083425" y="4953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09" name="Line 21"/>
          <p:cNvSpPr>
            <a:spLocks noChangeShapeType="1"/>
          </p:cNvSpPr>
          <p:nvPr/>
        </p:nvSpPr>
        <p:spPr bwMode="auto">
          <a:xfrm>
            <a:off x="6092825" y="5181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0" name="Rectangle 22"/>
          <p:cNvSpPr>
            <a:spLocks noChangeArrowheads="1"/>
          </p:cNvSpPr>
          <p:nvPr/>
        </p:nvSpPr>
        <p:spPr bwMode="auto">
          <a:xfrm>
            <a:off x="6550025" y="5715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711" name="Line 23"/>
          <p:cNvSpPr>
            <a:spLocks noChangeShapeType="1"/>
          </p:cNvSpPr>
          <p:nvPr/>
        </p:nvSpPr>
        <p:spPr bwMode="auto">
          <a:xfrm>
            <a:off x="7083425" y="5715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2" name="Line 24"/>
          <p:cNvSpPr>
            <a:spLocks noChangeShapeType="1"/>
          </p:cNvSpPr>
          <p:nvPr/>
        </p:nvSpPr>
        <p:spPr bwMode="auto">
          <a:xfrm>
            <a:off x="6092825" y="5943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3" name="Rectangle 25"/>
          <p:cNvSpPr>
            <a:spLocks noChangeArrowheads="1"/>
          </p:cNvSpPr>
          <p:nvPr/>
        </p:nvSpPr>
        <p:spPr bwMode="auto">
          <a:xfrm>
            <a:off x="7693025" y="4953000"/>
            <a:ext cx="838200" cy="4572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0714" name="Line 26"/>
          <p:cNvSpPr>
            <a:spLocks noChangeShapeType="1"/>
          </p:cNvSpPr>
          <p:nvPr/>
        </p:nvSpPr>
        <p:spPr bwMode="auto">
          <a:xfrm>
            <a:off x="8226425" y="49530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5" name="Line 27"/>
          <p:cNvSpPr>
            <a:spLocks noChangeShapeType="1"/>
          </p:cNvSpPr>
          <p:nvPr/>
        </p:nvSpPr>
        <p:spPr bwMode="auto">
          <a:xfrm>
            <a:off x="7235825" y="5181600"/>
            <a:ext cx="4572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6" name="Text Box 28"/>
          <p:cNvSpPr txBox="1">
            <a:spLocks noChangeArrowheads="1"/>
          </p:cNvSpPr>
          <p:nvPr/>
        </p:nvSpPr>
        <p:spPr bwMode="auto">
          <a:xfrm>
            <a:off x="4448175" y="2590800"/>
            <a:ext cx="73342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</a:rPr>
              <a:t>0    1   2   3   4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17" name="Text Box 29"/>
          <p:cNvSpPr txBox="1">
            <a:spLocks noChangeArrowheads="1"/>
          </p:cNvSpPr>
          <p:nvPr/>
        </p:nvSpPr>
        <p:spPr bwMode="auto">
          <a:xfrm>
            <a:off x="5124450" y="2438400"/>
            <a:ext cx="1123950" cy="3937000"/>
          </a:xfrm>
          <a:prstGeom prst="rect">
            <a:avLst/>
          </a:prstGeom>
          <a:solidFill>
            <a:srgbClr val="A7E2FF">
              <a:alpha val="50195"/>
            </a:srgbClr>
          </a:solidFill>
          <a:ln w="34925" cap="sq">
            <a:solidFill>
              <a:srgbClr val="3333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A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B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C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D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</a:rPr>
              <a:t> E</a:t>
            </a:r>
            <a:endParaRPr kumimoji="1" lang="en-US" altLang="zh-CN" sz="4000" b="1">
              <a:latin typeface="Times New Roman" charset="0"/>
            </a:endParaRPr>
          </a:p>
        </p:txBody>
      </p:sp>
      <p:sp>
        <p:nvSpPr>
          <p:cNvPr id="370718" name="Line 30"/>
          <p:cNvSpPr>
            <a:spLocks noChangeShapeType="1"/>
          </p:cNvSpPr>
          <p:nvPr/>
        </p:nvSpPr>
        <p:spPr bwMode="auto">
          <a:xfrm>
            <a:off x="5864225" y="2438400"/>
            <a:ext cx="0" cy="3962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19" name="Line 31"/>
          <p:cNvSpPr>
            <a:spLocks noChangeShapeType="1"/>
          </p:cNvSpPr>
          <p:nvPr/>
        </p:nvSpPr>
        <p:spPr bwMode="auto">
          <a:xfrm>
            <a:off x="5102225" y="3276600"/>
            <a:ext cx="1146175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20" name="Line 32"/>
          <p:cNvSpPr>
            <a:spLocks noChangeShapeType="1"/>
          </p:cNvSpPr>
          <p:nvPr/>
        </p:nvSpPr>
        <p:spPr bwMode="auto">
          <a:xfrm>
            <a:off x="5102225" y="4038600"/>
            <a:ext cx="1146175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21" name="Line 33"/>
          <p:cNvSpPr>
            <a:spLocks noChangeShapeType="1"/>
          </p:cNvSpPr>
          <p:nvPr/>
        </p:nvSpPr>
        <p:spPr bwMode="auto">
          <a:xfrm flipV="1">
            <a:off x="5102225" y="4800600"/>
            <a:ext cx="1146175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22" name="Line 34"/>
          <p:cNvSpPr>
            <a:spLocks noChangeShapeType="1"/>
          </p:cNvSpPr>
          <p:nvPr/>
        </p:nvSpPr>
        <p:spPr bwMode="auto">
          <a:xfrm>
            <a:off x="5102225" y="5562600"/>
            <a:ext cx="1146175" cy="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23" name="Text Box 35"/>
          <p:cNvSpPr txBox="1">
            <a:spLocks noChangeArrowheads="1"/>
          </p:cNvSpPr>
          <p:nvPr/>
        </p:nvSpPr>
        <p:spPr bwMode="auto">
          <a:xfrm>
            <a:off x="1447800" y="152400"/>
            <a:ext cx="3968750" cy="896938"/>
          </a:xfrm>
          <a:prstGeom prst="rect">
            <a:avLst/>
          </a:prstGeom>
          <a:solidFill>
            <a:srgbClr val="959AFD">
              <a:alpha val="50195"/>
            </a:srgbClr>
          </a:solidFill>
          <a:ln w="12700" cap="sq">
            <a:solidFill>
              <a:srgbClr val="BEC1FE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有向图的邻接表</a:t>
            </a:r>
          </a:p>
        </p:txBody>
      </p:sp>
      <p:sp>
        <p:nvSpPr>
          <p:cNvPr id="370724" name="Text Box 36"/>
          <p:cNvSpPr txBox="1">
            <a:spLocks noChangeArrowheads="1"/>
          </p:cNvSpPr>
          <p:nvPr/>
        </p:nvSpPr>
        <p:spPr bwMode="auto">
          <a:xfrm>
            <a:off x="8147050" y="2514600"/>
            <a:ext cx="460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sym typeface="Symbol" charset="2"/>
              </a:rPr>
              <a:t>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25" name="Text Box 37"/>
          <p:cNvSpPr txBox="1">
            <a:spLocks noChangeArrowheads="1"/>
          </p:cNvSpPr>
          <p:nvPr/>
        </p:nvSpPr>
        <p:spPr bwMode="auto">
          <a:xfrm>
            <a:off x="7007225" y="3321050"/>
            <a:ext cx="460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sym typeface="Symbol" charset="2"/>
              </a:rPr>
              <a:t>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26" name="Text Box 38"/>
          <p:cNvSpPr txBox="1">
            <a:spLocks noChangeArrowheads="1"/>
          </p:cNvSpPr>
          <p:nvPr/>
        </p:nvSpPr>
        <p:spPr bwMode="auto">
          <a:xfrm>
            <a:off x="7007225" y="4038600"/>
            <a:ext cx="460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sym typeface="Symbol" charset="2"/>
              </a:rPr>
              <a:t>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27" name="Text Box 39"/>
          <p:cNvSpPr txBox="1">
            <a:spLocks noChangeArrowheads="1"/>
          </p:cNvSpPr>
          <p:nvPr/>
        </p:nvSpPr>
        <p:spPr bwMode="auto">
          <a:xfrm>
            <a:off x="8150225" y="4800600"/>
            <a:ext cx="460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sym typeface="Symbol" charset="2"/>
              </a:rPr>
              <a:t>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28" name="Text Box 40"/>
          <p:cNvSpPr txBox="1">
            <a:spLocks noChangeArrowheads="1"/>
          </p:cNvSpPr>
          <p:nvPr/>
        </p:nvSpPr>
        <p:spPr bwMode="auto">
          <a:xfrm>
            <a:off x="7007225" y="5562600"/>
            <a:ext cx="460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sym typeface="Symbol" charset="2"/>
              </a:rPr>
              <a:t>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29" name="Line 41"/>
          <p:cNvSpPr>
            <a:spLocks noChangeShapeType="1"/>
          </p:cNvSpPr>
          <p:nvPr/>
        </p:nvSpPr>
        <p:spPr bwMode="auto">
          <a:xfrm flipH="1">
            <a:off x="609600" y="16764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0" name="Line 42"/>
          <p:cNvSpPr>
            <a:spLocks noChangeShapeType="1"/>
          </p:cNvSpPr>
          <p:nvPr/>
        </p:nvSpPr>
        <p:spPr bwMode="auto">
          <a:xfrm>
            <a:off x="762000" y="2819400"/>
            <a:ext cx="457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1" name="Line 43"/>
          <p:cNvSpPr>
            <a:spLocks noChangeShapeType="1"/>
          </p:cNvSpPr>
          <p:nvPr/>
        </p:nvSpPr>
        <p:spPr bwMode="auto">
          <a:xfrm>
            <a:off x="1676400" y="3505200"/>
            <a:ext cx="914400" cy="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2" name="Line 44"/>
          <p:cNvSpPr>
            <a:spLocks noChangeShapeType="1"/>
          </p:cNvSpPr>
          <p:nvPr/>
        </p:nvSpPr>
        <p:spPr bwMode="auto">
          <a:xfrm flipH="1" flipV="1">
            <a:off x="2286000" y="1905000"/>
            <a:ext cx="533400" cy="13716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3" name="Line 45"/>
          <p:cNvSpPr>
            <a:spLocks noChangeShapeType="1"/>
          </p:cNvSpPr>
          <p:nvPr/>
        </p:nvSpPr>
        <p:spPr bwMode="auto">
          <a:xfrm>
            <a:off x="2362200" y="1676400"/>
            <a:ext cx="1219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4" name="Line 46"/>
          <p:cNvSpPr>
            <a:spLocks noChangeShapeType="1"/>
          </p:cNvSpPr>
          <p:nvPr/>
        </p:nvSpPr>
        <p:spPr bwMode="auto">
          <a:xfrm flipH="1" flipV="1">
            <a:off x="838200" y="2590800"/>
            <a:ext cx="17526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5" name="Line 47"/>
          <p:cNvSpPr>
            <a:spLocks noChangeShapeType="1"/>
          </p:cNvSpPr>
          <p:nvPr/>
        </p:nvSpPr>
        <p:spPr bwMode="auto">
          <a:xfrm flipH="1">
            <a:off x="1447800" y="25908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0736" name="Oval 48"/>
          <p:cNvSpPr>
            <a:spLocks noChangeArrowheads="1"/>
          </p:cNvSpPr>
          <p:nvPr/>
        </p:nvSpPr>
        <p:spPr bwMode="auto">
          <a:xfrm>
            <a:off x="1905000" y="14478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37" name="Oval 49"/>
          <p:cNvSpPr>
            <a:spLocks noChangeArrowheads="1"/>
          </p:cNvSpPr>
          <p:nvPr/>
        </p:nvSpPr>
        <p:spPr bwMode="auto">
          <a:xfrm>
            <a:off x="381000" y="2362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38" name="Oval 50"/>
          <p:cNvSpPr>
            <a:spLocks noChangeArrowheads="1"/>
          </p:cNvSpPr>
          <p:nvPr/>
        </p:nvSpPr>
        <p:spPr bwMode="auto">
          <a:xfrm>
            <a:off x="3429000" y="23622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39" name="Oval 51"/>
          <p:cNvSpPr>
            <a:spLocks noChangeArrowheads="1"/>
          </p:cNvSpPr>
          <p:nvPr/>
        </p:nvSpPr>
        <p:spPr bwMode="auto">
          <a:xfrm>
            <a:off x="1219200" y="3276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40" name="Oval 52"/>
          <p:cNvSpPr>
            <a:spLocks noChangeArrowheads="1"/>
          </p:cNvSpPr>
          <p:nvPr/>
        </p:nvSpPr>
        <p:spPr bwMode="auto">
          <a:xfrm>
            <a:off x="2590800" y="3276600"/>
            <a:ext cx="457200" cy="5334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0741" name="Rectangle 53"/>
          <p:cNvSpPr>
            <a:spLocks noChangeArrowheads="1"/>
          </p:cNvSpPr>
          <p:nvPr/>
        </p:nvSpPr>
        <p:spPr bwMode="auto">
          <a:xfrm>
            <a:off x="381000" y="4191000"/>
            <a:ext cx="4038600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可见，在有向图的邻接表中不易找到指向该顶点的弧。</a:t>
            </a:r>
          </a:p>
        </p:txBody>
      </p:sp>
    </p:spTree>
    <p:extLst>
      <p:ext uri="{BB962C8B-B14F-4D97-AF65-F5344CB8AC3E}">
        <p14:creationId xmlns:p14="http://schemas.microsoft.com/office/powerpoint/2010/main" val="19876155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70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70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0" grpId="0" autoUpdateAnimBg="0"/>
      <p:bldP spid="370691" grpId="0" animBg="1"/>
      <p:bldP spid="370692" grpId="0" animBg="1"/>
      <p:bldP spid="370693" grpId="0" animBg="1"/>
      <p:bldP spid="370694" grpId="0" animBg="1"/>
      <p:bldP spid="370695" grpId="0" animBg="1"/>
      <p:bldP spid="370696" grpId="0" animBg="1"/>
      <p:bldP spid="370697" grpId="0" autoUpdateAnimBg="0"/>
      <p:bldP spid="370698" grpId="0" autoUpdateAnimBg="0"/>
      <p:bldP spid="370699" grpId="0" autoUpdateAnimBg="0"/>
      <p:bldP spid="370700" grpId="0" autoUpdateAnimBg="0"/>
      <p:bldP spid="370701" grpId="0" animBg="1"/>
      <p:bldP spid="370702" grpId="0" animBg="1"/>
      <p:bldP spid="370703" grpId="0" animBg="1"/>
      <p:bldP spid="370704" grpId="0" animBg="1"/>
      <p:bldP spid="370705" grpId="0" animBg="1"/>
      <p:bldP spid="370706" grpId="0" animBg="1"/>
      <p:bldP spid="370707" grpId="0" animBg="1"/>
      <p:bldP spid="370708" grpId="0" animBg="1"/>
      <p:bldP spid="370709" grpId="0" animBg="1"/>
      <p:bldP spid="370710" grpId="0" animBg="1"/>
      <p:bldP spid="370711" grpId="0" animBg="1"/>
      <p:bldP spid="370712" grpId="0" animBg="1"/>
      <p:bldP spid="370713" grpId="0" animBg="1"/>
      <p:bldP spid="370714" grpId="0" animBg="1"/>
      <p:bldP spid="370715" grpId="0" animBg="1"/>
      <p:bldP spid="370716" grpId="0" autoUpdateAnimBg="0"/>
      <p:bldP spid="370717" grpId="0" animBg="1" autoUpdateAnimBg="0"/>
      <p:bldP spid="370718" grpId="0" animBg="1"/>
      <p:bldP spid="370719" grpId="0" animBg="1"/>
      <p:bldP spid="370720" grpId="0" animBg="1"/>
      <p:bldP spid="370721" grpId="0" animBg="1"/>
      <p:bldP spid="370722" grpId="0" animBg="1"/>
      <p:bldP spid="370723" grpId="0" animBg="1" autoUpdateAnimBg="0"/>
      <p:bldP spid="370724" grpId="0" autoUpdateAnimBg="0"/>
      <p:bldP spid="370725" grpId="0" autoUpdateAnimBg="0"/>
      <p:bldP spid="370726" grpId="0" autoUpdateAnimBg="0"/>
      <p:bldP spid="370727" grpId="0" autoUpdateAnimBg="0"/>
      <p:bldP spid="370728" grpId="0" autoUpdateAnimBg="0"/>
      <p:bldP spid="370729" grpId="0" animBg="1"/>
      <p:bldP spid="370730" grpId="0" animBg="1"/>
      <p:bldP spid="370731" grpId="0" animBg="1"/>
      <p:bldP spid="370732" grpId="0" animBg="1"/>
      <p:bldP spid="370733" grpId="0" animBg="1"/>
      <p:bldP spid="370734" grpId="0" animBg="1"/>
      <p:bldP spid="370735" grpId="0" animBg="1"/>
      <p:bldP spid="370736" grpId="0" animBg="1" autoUpdateAnimBg="0"/>
      <p:bldP spid="370737" grpId="0" animBg="1" autoUpdateAnimBg="0"/>
      <p:bldP spid="370738" grpId="0" animBg="1" autoUpdateAnimBg="0"/>
      <p:bldP spid="370739" grpId="0" animBg="1" autoUpdateAnimBg="0"/>
      <p:bldP spid="370740" grpId="0" animBg="1" autoUpdateAnimBg="0"/>
      <p:bldP spid="37074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Line 2"/>
          <p:cNvSpPr>
            <a:spLocks noChangeShapeType="1"/>
          </p:cNvSpPr>
          <p:nvPr/>
        </p:nvSpPr>
        <p:spPr bwMode="auto">
          <a:xfrm flipH="1">
            <a:off x="5562600" y="3810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5" name="Line 3"/>
          <p:cNvSpPr>
            <a:spLocks noChangeShapeType="1"/>
          </p:cNvSpPr>
          <p:nvPr/>
        </p:nvSpPr>
        <p:spPr bwMode="auto">
          <a:xfrm>
            <a:off x="5715000" y="1524000"/>
            <a:ext cx="457200" cy="587375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6" name="Line 4"/>
          <p:cNvSpPr>
            <a:spLocks noChangeShapeType="1"/>
          </p:cNvSpPr>
          <p:nvPr/>
        </p:nvSpPr>
        <p:spPr bwMode="auto">
          <a:xfrm>
            <a:off x="6629400" y="2209800"/>
            <a:ext cx="914400" cy="1588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7" name="Line 5"/>
          <p:cNvSpPr>
            <a:spLocks noChangeShapeType="1"/>
          </p:cNvSpPr>
          <p:nvPr/>
        </p:nvSpPr>
        <p:spPr bwMode="auto">
          <a:xfrm flipH="1" flipV="1">
            <a:off x="7086600" y="533400"/>
            <a:ext cx="685800" cy="1524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8" name="Line 6"/>
          <p:cNvSpPr>
            <a:spLocks noChangeShapeType="1"/>
          </p:cNvSpPr>
          <p:nvPr/>
        </p:nvSpPr>
        <p:spPr bwMode="auto">
          <a:xfrm>
            <a:off x="7315200" y="381000"/>
            <a:ext cx="12954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19" name="Line 7"/>
          <p:cNvSpPr>
            <a:spLocks noChangeShapeType="1"/>
          </p:cNvSpPr>
          <p:nvPr/>
        </p:nvSpPr>
        <p:spPr bwMode="auto">
          <a:xfrm flipH="1" flipV="1">
            <a:off x="5791200" y="1295400"/>
            <a:ext cx="1828800" cy="7620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0" name="Line 8"/>
          <p:cNvSpPr>
            <a:spLocks noChangeShapeType="1"/>
          </p:cNvSpPr>
          <p:nvPr/>
        </p:nvSpPr>
        <p:spPr bwMode="auto">
          <a:xfrm flipH="1">
            <a:off x="6400800" y="1295400"/>
            <a:ext cx="1981200" cy="685800"/>
          </a:xfrm>
          <a:prstGeom prst="line">
            <a:avLst/>
          </a:prstGeom>
          <a:noFill/>
          <a:ln w="25400" cap="sq">
            <a:solidFill>
              <a:srgbClr val="000066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1" name="Oval 9"/>
          <p:cNvSpPr>
            <a:spLocks noChangeArrowheads="1"/>
          </p:cNvSpPr>
          <p:nvPr/>
        </p:nvSpPr>
        <p:spPr bwMode="auto">
          <a:xfrm>
            <a:off x="6858000" y="1524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2" name="Oval 10"/>
          <p:cNvSpPr>
            <a:spLocks noChangeArrowheads="1"/>
          </p:cNvSpPr>
          <p:nvPr/>
        </p:nvSpPr>
        <p:spPr bwMode="auto">
          <a:xfrm>
            <a:off x="5334000" y="10668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3" name="Oval 11"/>
          <p:cNvSpPr>
            <a:spLocks noChangeArrowheads="1"/>
          </p:cNvSpPr>
          <p:nvPr/>
        </p:nvSpPr>
        <p:spPr bwMode="auto">
          <a:xfrm>
            <a:off x="8382000" y="10668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4" name="Oval 12"/>
          <p:cNvSpPr>
            <a:spLocks noChangeArrowheads="1"/>
          </p:cNvSpPr>
          <p:nvPr/>
        </p:nvSpPr>
        <p:spPr bwMode="auto">
          <a:xfrm>
            <a:off x="6172200" y="19812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5" name="Oval 13"/>
          <p:cNvSpPr>
            <a:spLocks noChangeArrowheads="1"/>
          </p:cNvSpPr>
          <p:nvPr/>
        </p:nvSpPr>
        <p:spPr bwMode="auto">
          <a:xfrm>
            <a:off x="7543800" y="1981200"/>
            <a:ext cx="457200" cy="457200"/>
          </a:xfrm>
          <a:prstGeom prst="ellipse">
            <a:avLst/>
          </a:prstGeom>
          <a:solidFill>
            <a:srgbClr val="A7E2FF">
              <a:alpha val="50195"/>
            </a:srgbClr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6" name="Text Box 14"/>
          <p:cNvSpPr txBox="1">
            <a:spLocks noChangeArrowheads="1"/>
          </p:cNvSpPr>
          <p:nvPr/>
        </p:nvSpPr>
        <p:spPr bwMode="auto">
          <a:xfrm>
            <a:off x="450850" y="273050"/>
            <a:ext cx="4578350" cy="884238"/>
          </a:xfrm>
          <a:prstGeom prst="rect">
            <a:avLst/>
          </a:prstGeom>
          <a:solidFill>
            <a:srgbClr val="BEC1F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有向图的逆邻接表</a:t>
            </a:r>
          </a:p>
        </p:txBody>
      </p:sp>
      <p:sp>
        <p:nvSpPr>
          <p:cNvPr id="371727" name="Text Box 15"/>
          <p:cNvSpPr txBox="1">
            <a:spLocks noChangeArrowheads="1"/>
          </p:cNvSpPr>
          <p:nvPr/>
        </p:nvSpPr>
        <p:spPr bwMode="auto">
          <a:xfrm>
            <a:off x="4876800" y="2806700"/>
            <a:ext cx="1123950" cy="3746500"/>
          </a:xfrm>
          <a:prstGeom prst="rect">
            <a:avLst/>
          </a:prstGeom>
          <a:solidFill>
            <a:srgbClr val="99CCFF">
              <a:alpha val="50195"/>
            </a:srgbClr>
          </a:solidFill>
          <a:ln w="3175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A   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B   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C   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D   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E    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28" name="Line 16"/>
          <p:cNvSpPr>
            <a:spLocks noChangeShapeType="1"/>
          </p:cNvSpPr>
          <p:nvPr/>
        </p:nvSpPr>
        <p:spPr bwMode="auto">
          <a:xfrm>
            <a:off x="4876800" y="34925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29" name="Line 17"/>
          <p:cNvSpPr>
            <a:spLocks noChangeShapeType="1"/>
          </p:cNvSpPr>
          <p:nvPr/>
        </p:nvSpPr>
        <p:spPr bwMode="auto">
          <a:xfrm>
            <a:off x="4876800" y="42545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0" name="Line 18"/>
          <p:cNvSpPr>
            <a:spLocks noChangeShapeType="1"/>
          </p:cNvSpPr>
          <p:nvPr/>
        </p:nvSpPr>
        <p:spPr bwMode="auto">
          <a:xfrm>
            <a:off x="4876800" y="50165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1" name="Line 19"/>
          <p:cNvSpPr>
            <a:spLocks noChangeShapeType="1"/>
          </p:cNvSpPr>
          <p:nvPr/>
        </p:nvSpPr>
        <p:spPr bwMode="auto">
          <a:xfrm>
            <a:off x="4876800" y="5778500"/>
            <a:ext cx="1143000" cy="0"/>
          </a:xfrm>
          <a:prstGeom prst="line">
            <a:avLst/>
          </a:prstGeom>
          <a:noFill/>
          <a:ln w="28575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2" name="Line 20"/>
          <p:cNvSpPr>
            <a:spLocks noChangeShapeType="1"/>
          </p:cNvSpPr>
          <p:nvPr/>
        </p:nvSpPr>
        <p:spPr bwMode="auto">
          <a:xfrm>
            <a:off x="5562600" y="2806700"/>
            <a:ext cx="0" cy="3733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3" name="Text Box 21"/>
          <p:cNvSpPr txBox="1">
            <a:spLocks noChangeArrowheads="1"/>
          </p:cNvSpPr>
          <p:nvPr/>
        </p:nvSpPr>
        <p:spPr bwMode="auto">
          <a:xfrm>
            <a:off x="6384925" y="35575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34" name="Line 22"/>
          <p:cNvSpPr>
            <a:spLocks noChangeShapeType="1"/>
          </p:cNvSpPr>
          <p:nvPr/>
        </p:nvSpPr>
        <p:spPr bwMode="auto">
          <a:xfrm flipH="1">
            <a:off x="6934200" y="35687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5" name="Line 23"/>
          <p:cNvSpPr>
            <a:spLocks noChangeShapeType="1"/>
          </p:cNvSpPr>
          <p:nvPr/>
        </p:nvSpPr>
        <p:spPr bwMode="auto">
          <a:xfrm>
            <a:off x="5791200" y="38735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6" name="Text Box 24"/>
          <p:cNvSpPr txBox="1">
            <a:spLocks noChangeArrowheads="1"/>
          </p:cNvSpPr>
          <p:nvPr/>
        </p:nvSpPr>
        <p:spPr bwMode="auto">
          <a:xfrm>
            <a:off x="7680325" y="35687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0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37" name="Line 25"/>
          <p:cNvSpPr>
            <a:spLocks noChangeShapeType="1"/>
          </p:cNvSpPr>
          <p:nvPr/>
        </p:nvSpPr>
        <p:spPr bwMode="auto">
          <a:xfrm flipH="1">
            <a:off x="8229600" y="35798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8" name="Line 26"/>
          <p:cNvSpPr>
            <a:spLocks noChangeShapeType="1"/>
          </p:cNvSpPr>
          <p:nvPr/>
        </p:nvSpPr>
        <p:spPr bwMode="auto">
          <a:xfrm>
            <a:off x="7086600" y="3884613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39" name="Text Box 27"/>
          <p:cNvSpPr txBox="1">
            <a:spLocks noChangeArrowheads="1"/>
          </p:cNvSpPr>
          <p:nvPr/>
        </p:nvSpPr>
        <p:spPr bwMode="auto">
          <a:xfrm>
            <a:off x="6384925" y="28067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40" name="Line 28"/>
          <p:cNvSpPr>
            <a:spLocks noChangeShapeType="1"/>
          </p:cNvSpPr>
          <p:nvPr/>
        </p:nvSpPr>
        <p:spPr bwMode="auto">
          <a:xfrm flipH="1">
            <a:off x="6934200" y="28178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1" name="Line 29"/>
          <p:cNvSpPr>
            <a:spLocks noChangeShapeType="1"/>
          </p:cNvSpPr>
          <p:nvPr/>
        </p:nvSpPr>
        <p:spPr bwMode="auto">
          <a:xfrm>
            <a:off x="5791200" y="3122613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2" name="Text Box 30"/>
          <p:cNvSpPr txBox="1">
            <a:spLocks noChangeArrowheads="1"/>
          </p:cNvSpPr>
          <p:nvPr/>
        </p:nvSpPr>
        <p:spPr bwMode="auto">
          <a:xfrm>
            <a:off x="6384925" y="43195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43" name="Line 31"/>
          <p:cNvSpPr>
            <a:spLocks noChangeShapeType="1"/>
          </p:cNvSpPr>
          <p:nvPr/>
        </p:nvSpPr>
        <p:spPr bwMode="auto">
          <a:xfrm flipH="1">
            <a:off x="6934200" y="43307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4" name="Line 32"/>
          <p:cNvSpPr>
            <a:spLocks noChangeShapeType="1"/>
          </p:cNvSpPr>
          <p:nvPr/>
        </p:nvSpPr>
        <p:spPr bwMode="auto">
          <a:xfrm>
            <a:off x="5791200" y="46355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5" name="Text Box 33"/>
          <p:cNvSpPr txBox="1">
            <a:spLocks noChangeArrowheads="1"/>
          </p:cNvSpPr>
          <p:nvPr/>
        </p:nvSpPr>
        <p:spPr bwMode="auto">
          <a:xfrm>
            <a:off x="6384925" y="5081588"/>
            <a:ext cx="854075" cy="544512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46" name="Line 34"/>
          <p:cNvSpPr>
            <a:spLocks noChangeShapeType="1"/>
          </p:cNvSpPr>
          <p:nvPr/>
        </p:nvSpPr>
        <p:spPr bwMode="auto">
          <a:xfrm flipH="1">
            <a:off x="6934200" y="5092700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7" name="Line 35"/>
          <p:cNvSpPr>
            <a:spLocks noChangeShapeType="1"/>
          </p:cNvSpPr>
          <p:nvPr/>
        </p:nvSpPr>
        <p:spPr bwMode="auto">
          <a:xfrm>
            <a:off x="5791200" y="5397500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48" name="Text Box 36"/>
          <p:cNvSpPr txBox="1">
            <a:spLocks noChangeArrowheads="1"/>
          </p:cNvSpPr>
          <p:nvPr/>
        </p:nvSpPr>
        <p:spPr bwMode="auto">
          <a:xfrm>
            <a:off x="6384925" y="5854700"/>
            <a:ext cx="854075" cy="544513"/>
          </a:xfrm>
          <a:prstGeom prst="rect">
            <a:avLst/>
          </a:prstGeom>
          <a:solidFill>
            <a:srgbClr val="BEC1FE">
              <a:alpha val="50195"/>
            </a:srgbClr>
          </a:solidFill>
          <a:ln w="254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</a:rPr>
              <a:t>0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71749" name="Line 37"/>
          <p:cNvSpPr>
            <a:spLocks noChangeShapeType="1"/>
          </p:cNvSpPr>
          <p:nvPr/>
        </p:nvSpPr>
        <p:spPr bwMode="auto">
          <a:xfrm flipH="1">
            <a:off x="6934200" y="5865813"/>
            <a:ext cx="0" cy="5334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50" name="Line 38"/>
          <p:cNvSpPr>
            <a:spLocks noChangeShapeType="1"/>
          </p:cNvSpPr>
          <p:nvPr/>
        </p:nvSpPr>
        <p:spPr bwMode="auto">
          <a:xfrm>
            <a:off x="5791200" y="6170613"/>
            <a:ext cx="609600" cy="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751" name="Rectangle 39"/>
          <p:cNvSpPr>
            <a:spLocks noChangeArrowheads="1"/>
          </p:cNvSpPr>
          <p:nvPr/>
        </p:nvSpPr>
        <p:spPr bwMode="auto">
          <a:xfrm>
            <a:off x="6858000" y="28067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  <a:sym typeface="Symbol" charset="2"/>
              </a:rPr>
              <a:t></a:t>
            </a:r>
          </a:p>
        </p:txBody>
      </p:sp>
      <p:sp>
        <p:nvSpPr>
          <p:cNvPr id="371752" name="Rectangle 40"/>
          <p:cNvSpPr>
            <a:spLocks noChangeArrowheads="1"/>
          </p:cNvSpPr>
          <p:nvPr/>
        </p:nvSpPr>
        <p:spPr bwMode="auto">
          <a:xfrm>
            <a:off x="8212138" y="3568700"/>
            <a:ext cx="398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  <a:sym typeface="Symbol" charset="2"/>
              </a:rPr>
              <a:t></a:t>
            </a:r>
          </a:p>
        </p:txBody>
      </p:sp>
      <p:sp>
        <p:nvSpPr>
          <p:cNvPr id="371753" name="Rectangle 41"/>
          <p:cNvSpPr>
            <a:spLocks noChangeArrowheads="1"/>
          </p:cNvSpPr>
          <p:nvPr/>
        </p:nvSpPr>
        <p:spPr bwMode="auto">
          <a:xfrm>
            <a:off x="6858000" y="43307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  <a:sym typeface="Symbol" charset="2"/>
              </a:rPr>
              <a:t></a:t>
            </a:r>
          </a:p>
        </p:txBody>
      </p:sp>
      <p:sp>
        <p:nvSpPr>
          <p:cNvPr id="371754" name="Rectangle 42"/>
          <p:cNvSpPr>
            <a:spLocks noChangeArrowheads="1"/>
          </p:cNvSpPr>
          <p:nvPr/>
        </p:nvSpPr>
        <p:spPr bwMode="auto">
          <a:xfrm>
            <a:off x="6858000" y="50927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  <a:sym typeface="Symbol" charset="2"/>
              </a:rPr>
              <a:t></a:t>
            </a:r>
          </a:p>
        </p:txBody>
      </p:sp>
      <p:sp>
        <p:nvSpPr>
          <p:cNvPr id="371755" name="Rectangle 43"/>
          <p:cNvSpPr>
            <a:spLocks noChangeArrowheads="1"/>
          </p:cNvSpPr>
          <p:nvPr/>
        </p:nvSpPr>
        <p:spPr bwMode="auto">
          <a:xfrm>
            <a:off x="6858000" y="5854700"/>
            <a:ext cx="398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99"/>
                </a:solidFill>
                <a:latin typeface="Times New Roman" charset="0"/>
                <a:sym typeface="Symbol" charset="2"/>
              </a:rPr>
              <a:t></a:t>
            </a:r>
          </a:p>
        </p:txBody>
      </p:sp>
      <p:sp>
        <p:nvSpPr>
          <p:cNvPr id="371756" name="Text Box 44"/>
          <p:cNvSpPr txBox="1">
            <a:spLocks noChangeArrowheads="1"/>
          </p:cNvSpPr>
          <p:nvPr/>
        </p:nvSpPr>
        <p:spPr bwMode="auto">
          <a:xfrm>
            <a:off x="4479925" y="2825750"/>
            <a:ext cx="387350" cy="3602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5000"/>
              </a:spcBef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0</a:t>
            </a:r>
          </a:p>
          <a:p>
            <a:pPr eaLnBrk="1" hangingPunct="1">
              <a:spcBef>
                <a:spcPct val="55000"/>
              </a:spcBef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1</a:t>
            </a:r>
          </a:p>
          <a:p>
            <a:pPr eaLnBrk="1" hangingPunct="1">
              <a:spcBef>
                <a:spcPct val="55000"/>
              </a:spcBef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2</a:t>
            </a:r>
          </a:p>
          <a:p>
            <a:pPr eaLnBrk="1" hangingPunct="1">
              <a:spcBef>
                <a:spcPct val="55000"/>
              </a:spcBef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3</a:t>
            </a:r>
          </a:p>
          <a:p>
            <a:pPr eaLnBrk="1" hangingPunct="1">
              <a:spcBef>
                <a:spcPct val="55000"/>
              </a:spcBef>
            </a:pP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4</a:t>
            </a:r>
          </a:p>
        </p:txBody>
      </p:sp>
      <p:sp>
        <p:nvSpPr>
          <p:cNvPr id="371757" name="Rectangle 45"/>
          <p:cNvSpPr>
            <a:spLocks noChangeArrowheads="1"/>
          </p:cNvSpPr>
          <p:nvPr/>
        </p:nvSpPr>
        <p:spPr bwMode="auto">
          <a:xfrm>
            <a:off x="304800" y="1676400"/>
            <a:ext cx="4038600" cy="294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在有向图的邻接表中，对每个顶点，链接的是指向该顶点的弧。</a:t>
            </a:r>
          </a:p>
        </p:txBody>
      </p:sp>
    </p:spTree>
    <p:extLst>
      <p:ext uri="{BB962C8B-B14F-4D97-AF65-F5344CB8AC3E}">
        <p14:creationId xmlns:p14="http://schemas.microsoft.com/office/powerpoint/2010/main" val="15719665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1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1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4" grpId="0" animBg="1"/>
      <p:bldP spid="371715" grpId="0" animBg="1"/>
      <p:bldP spid="371716" grpId="0" animBg="1"/>
      <p:bldP spid="371717" grpId="0" animBg="1"/>
      <p:bldP spid="371718" grpId="0" animBg="1"/>
      <p:bldP spid="371719" grpId="0" animBg="1"/>
      <p:bldP spid="371720" grpId="0" animBg="1"/>
      <p:bldP spid="371721" grpId="0" animBg="1" autoUpdateAnimBg="0"/>
      <p:bldP spid="371722" grpId="0" animBg="1" autoUpdateAnimBg="0"/>
      <p:bldP spid="371723" grpId="0" animBg="1" autoUpdateAnimBg="0"/>
      <p:bldP spid="371724" grpId="0" animBg="1" autoUpdateAnimBg="0"/>
      <p:bldP spid="371725" grpId="0" animBg="1" autoUpdateAnimBg="0"/>
      <p:bldP spid="371726" grpId="0" animBg="1" autoUpdateAnimBg="0"/>
      <p:bldP spid="371727" grpId="0" animBg="1" autoUpdateAnimBg="0"/>
      <p:bldP spid="371728" grpId="0" animBg="1"/>
      <p:bldP spid="371729" grpId="0" animBg="1"/>
      <p:bldP spid="371730" grpId="0" animBg="1"/>
      <p:bldP spid="371731" grpId="0" animBg="1"/>
      <p:bldP spid="371732" grpId="0" animBg="1"/>
      <p:bldP spid="371733" grpId="0" animBg="1" autoUpdateAnimBg="0"/>
      <p:bldP spid="371734" grpId="0" animBg="1"/>
      <p:bldP spid="371735" grpId="0" animBg="1"/>
      <p:bldP spid="371736" grpId="0" animBg="1" autoUpdateAnimBg="0"/>
      <p:bldP spid="371737" grpId="0" animBg="1"/>
      <p:bldP spid="371738" grpId="0" animBg="1"/>
      <p:bldP spid="371739" grpId="0" animBg="1" autoUpdateAnimBg="0"/>
      <p:bldP spid="371740" grpId="0" animBg="1"/>
      <p:bldP spid="371741" grpId="0" animBg="1"/>
      <p:bldP spid="371742" grpId="0" animBg="1" autoUpdateAnimBg="0"/>
      <p:bldP spid="371743" grpId="0" animBg="1"/>
      <p:bldP spid="371744" grpId="0" animBg="1"/>
      <p:bldP spid="371745" grpId="0" animBg="1" autoUpdateAnimBg="0"/>
      <p:bldP spid="371746" grpId="0" animBg="1"/>
      <p:bldP spid="371747" grpId="0" animBg="1"/>
      <p:bldP spid="371748" grpId="0" animBg="1" autoUpdateAnimBg="0"/>
      <p:bldP spid="371749" grpId="0" animBg="1"/>
      <p:bldP spid="371750" grpId="0" animBg="1"/>
      <p:bldP spid="371751" grpId="0" autoUpdateAnimBg="0"/>
      <p:bldP spid="371752" grpId="0" autoUpdateAnimBg="0"/>
      <p:bldP spid="371753" grpId="0" autoUpdateAnimBg="0"/>
      <p:bldP spid="371754" grpId="0" autoUpdateAnimBg="0"/>
      <p:bldP spid="371755" grpId="0" autoUpdateAnimBg="0"/>
      <p:bldP spid="371756" grpId="0" autoUpdateAnimBg="0"/>
      <p:bldP spid="37175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Text Box 2"/>
          <p:cNvSpPr txBox="1">
            <a:spLocks noChangeArrowheads="1"/>
          </p:cNvSpPr>
          <p:nvPr/>
        </p:nvSpPr>
        <p:spPr bwMode="auto">
          <a:xfrm>
            <a:off x="138113" y="2413000"/>
            <a:ext cx="9005887" cy="421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ArcNode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 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adjvex;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该弧所指向的顶点的位置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ArcNode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nextarc;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   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指向下一条弧的指针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InfoType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info;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该弧相关信息的指针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ArcNode;</a:t>
            </a:r>
          </a:p>
        </p:txBody>
      </p:sp>
      <p:sp>
        <p:nvSpPr>
          <p:cNvPr id="372739" name="Rectangle 3"/>
          <p:cNvSpPr>
            <a:spLocks noChangeArrowheads="1"/>
          </p:cNvSpPr>
          <p:nvPr/>
        </p:nvSpPr>
        <p:spPr bwMode="auto">
          <a:xfrm>
            <a:off x="4638675" y="1463675"/>
            <a:ext cx="4200525" cy="669925"/>
          </a:xfrm>
          <a:prstGeom prst="rect">
            <a:avLst/>
          </a:prstGeom>
          <a:solidFill>
            <a:srgbClr val="BEC1FE">
              <a:alpha val="50195"/>
            </a:srgbClr>
          </a:solidFill>
          <a:ln w="28575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adjvex   nextarc   info</a:t>
            </a:r>
          </a:p>
        </p:txBody>
      </p:sp>
      <p:sp>
        <p:nvSpPr>
          <p:cNvPr id="372740" name="Line 4"/>
          <p:cNvSpPr>
            <a:spLocks noChangeShapeType="1"/>
          </p:cNvSpPr>
          <p:nvPr/>
        </p:nvSpPr>
        <p:spPr bwMode="auto">
          <a:xfrm>
            <a:off x="6067425" y="1524000"/>
            <a:ext cx="0" cy="609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2741" name="Line 5"/>
          <p:cNvSpPr>
            <a:spLocks noChangeShapeType="1"/>
          </p:cNvSpPr>
          <p:nvPr/>
        </p:nvSpPr>
        <p:spPr bwMode="auto">
          <a:xfrm>
            <a:off x="7743825" y="1524000"/>
            <a:ext cx="0" cy="6096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2742" name="Comment 6"/>
          <p:cNvSpPr>
            <a:spLocks noChangeArrowheads="1"/>
          </p:cNvSpPr>
          <p:nvPr/>
        </p:nvSpPr>
        <p:spPr bwMode="auto">
          <a:xfrm>
            <a:off x="777875" y="1295400"/>
            <a:ext cx="3336925" cy="714375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弧的结点结构</a:t>
            </a:r>
            <a:endParaRPr kumimoji="1" lang="zh-CN" altLang="en-US" sz="40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54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3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8" grpId="0" autoUpdateAnimBg="0"/>
      <p:bldP spid="372739" grpId="0" animBg="1" autoUpdateAnimBg="0"/>
      <p:bldP spid="372740" grpId="0" animBg="1"/>
      <p:bldP spid="372741" grpId="0" animBg="1"/>
      <p:bldP spid="372742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ChangeArrowheads="1"/>
          </p:cNvSpPr>
          <p:nvPr/>
        </p:nvSpPr>
        <p:spPr bwMode="auto">
          <a:xfrm>
            <a:off x="304800" y="2813050"/>
            <a:ext cx="8478838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VNode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VertexType  data;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顶点信息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ArcNode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firstarc; </a:t>
            </a:r>
          </a:p>
          <a:p>
            <a:pPr eaLnBrk="1" hangingPunct="1">
              <a:lnSpc>
                <a:spcPct val="13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指向第一条依附该顶点的弧</a:t>
            </a:r>
          </a:p>
          <a:p>
            <a:pPr eaLnBrk="1" hangingPunct="1">
              <a:lnSpc>
                <a:spcPct val="13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VNode, AdjList[MAX_VERTEX_NUM];</a:t>
            </a:r>
          </a:p>
        </p:txBody>
      </p:sp>
      <p:sp>
        <p:nvSpPr>
          <p:cNvPr id="373763" name="Rectangle 3"/>
          <p:cNvSpPr>
            <a:spLocks noChangeArrowheads="1"/>
          </p:cNvSpPr>
          <p:nvPr/>
        </p:nvSpPr>
        <p:spPr bwMode="auto">
          <a:xfrm>
            <a:off x="5349875" y="1684338"/>
            <a:ext cx="2727325" cy="669925"/>
          </a:xfrm>
          <a:prstGeom prst="rect">
            <a:avLst/>
          </a:prstGeom>
          <a:solidFill>
            <a:srgbClr val="99CCFF">
              <a:alpha val="50195"/>
            </a:srgbClr>
          </a:solidFill>
          <a:ln w="28575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data   firstarc</a:t>
            </a:r>
          </a:p>
        </p:txBody>
      </p:sp>
      <p:sp>
        <p:nvSpPr>
          <p:cNvPr id="373764" name="Line 4"/>
          <p:cNvSpPr>
            <a:spLocks noChangeShapeType="1"/>
          </p:cNvSpPr>
          <p:nvPr/>
        </p:nvSpPr>
        <p:spPr bwMode="auto">
          <a:xfrm>
            <a:off x="6492875" y="1639888"/>
            <a:ext cx="0" cy="7620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3765" name="Comment 5"/>
          <p:cNvSpPr>
            <a:spLocks noChangeArrowheads="1"/>
          </p:cNvSpPr>
          <p:nvPr/>
        </p:nvSpPr>
        <p:spPr bwMode="auto">
          <a:xfrm>
            <a:off x="854075" y="1563688"/>
            <a:ext cx="3794125" cy="714375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顶点的结点结构</a:t>
            </a:r>
          </a:p>
        </p:txBody>
      </p:sp>
    </p:spTree>
    <p:extLst>
      <p:ext uri="{BB962C8B-B14F-4D97-AF65-F5344CB8AC3E}">
        <p14:creationId xmlns:p14="http://schemas.microsoft.com/office/powerpoint/2010/main" val="2050097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3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3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3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2" grpId="0" autoUpdateAnimBg="0"/>
      <p:bldP spid="373763" grpId="0" animBg="1" autoUpdateAnimBg="0"/>
      <p:bldP spid="373764" grpId="0" animBg="1"/>
      <p:bldP spid="37376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ChangeArrowheads="1"/>
          </p:cNvSpPr>
          <p:nvPr/>
        </p:nvSpPr>
        <p:spPr bwMode="auto">
          <a:xfrm>
            <a:off x="457200" y="1905000"/>
            <a:ext cx="8229600" cy="411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 {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  </a:t>
            </a:r>
            <a:endParaRPr kumimoji="1" lang="en-US" altLang="zh-CN" sz="40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AdjList  vertices;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vexnum, arcnum;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kind;        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图的种类标志</a:t>
            </a:r>
          </a:p>
          <a:p>
            <a:pPr eaLnBrk="1" hangingPunct="1">
              <a:spcBef>
                <a:spcPct val="40000"/>
              </a:spcBef>
            </a:pP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ALGraph;</a:t>
            </a:r>
          </a:p>
        </p:txBody>
      </p:sp>
      <p:sp>
        <p:nvSpPr>
          <p:cNvPr id="374787" name="Rectangle 3"/>
          <p:cNvSpPr>
            <a:spLocks noChangeArrowheads="1"/>
          </p:cNvSpPr>
          <p:nvPr/>
        </p:nvSpPr>
        <p:spPr bwMode="auto">
          <a:xfrm>
            <a:off x="1371600" y="152400"/>
            <a:ext cx="3873500" cy="836613"/>
          </a:xfrm>
          <a:prstGeom prst="rect">
            <a:avLst/>
          </a:prstGeom>
          <a:solidFill>
            <a:srgbClr val="FFCC99">
              <a:alpha val="50195"/>
            </a:srgbClr>
          </a:solidFill>
          <a:ln w="12700" cap="sq">
            <a:solidFill>
              <a:srgbClr val="FFCC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8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图的结构定义</a:t>
            </a:r>
          </a:p>
        </p:txBody>
      </p:sp>
      <p:sp>
        <p:nvSpPr>
          <p:cNvPr id="374788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0960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5648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4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74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4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6" grpId="0" autoUpdateAnimBg="0"/>
      <p:bldP spid="374787" grpId="0" animBg="1" autoUpdateAnimBg="0"/>
      <p:bldP spid="37478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Text Box 2"/>
          <p:cNvSpPr txBox="1">
            <a:spLocks noChangeArrowheads="1"/>
          </p:cNvSpPr>
          <p:nvPr/>
        </p:nvSpPr>
        <p:spPr bwMode="auto">
          <a:xfrm>
            <a:off x="1295400" y="152400"/>
            <a:ext cx="74453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三、有向图的十字链表存储表示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</a:p>
        </p:txBody>
      </p:sp>
      <p:sp>
        <p:nvSpPr>
          <p:cNvPr id="375811" name="Comment 3"/>
          <p:cNvSpPr>
            <a:spLocks noChangeArrowheads="1"/>
          </p:cNvSpPr>
          <p:nvPr/>
        </p:nvSpPr>
        <p:spPr bwMode="auto">
          <a:xfrm>
            <a:off x="76200" y="914400"/>
            <a:ext cx="3048000" cy="65405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弧的结点结构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5812" name="Rectangle 4"/>
          <p:cNvSpPr>
            <a:spLocks noChangeArrowheads="1"/>
          </p:cNvSpPr>
          <p:nvPr/>
        </p:nvSpPr>
        <p:spPr bwMode="auto">
          <a:xfrm>
            <a:off x="152400" y="1752600"/>
            <a:ext cx="8991600" cy="611188"/>
          </a:xfrm>
          <a:prstGeom prst="rect">
            <a:avLst/>
          </a:prstGeom>
          <a:solidFill>
            <a:srgbClr val="CCFFFF"/>
          </a:solidFill>
          <a:ln w="3175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弧尾顶点位置 弧头顶点位置             弧的相关信息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</p:txBody>
      </p:sp>
      <p:sp>
        <p:nvSpPr>
          <p:cNvPr id="375813" name="Line 5"/>
          <p:cNvSpPr>
            <a:spLocks noChangeShapeType="1"/>
          </p:cNvSpPr>
          <p:nvPr/>
        </p:nvSpPr>
        <p:spPr bwMode="auto">
          <a:xfrm>
            <a:off x="2743200" y="17716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4" name="Line 6"/>
          <p:cNvSpPr>
            <a:spLocks noChangeShapeType="1"/>
          </p:cNvSpPr>
          <p:nvPr/>
        </p:nvSpPr>
        <p:spPr bwMode="auto">
          <a:xfrm>
            <a:off x="5410200" y="17716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5" name="Line 7"/>
          <p:cNvSpPr>
            <a:spLocks noChangeShapeType="1"/>
          </p:cNvSpPr>
          <p:nvPr/>
        </p:nvSpPr>
        <p:spPr bwMode="auto">
          <a:xfrm>
            <a:off x="6477000" y="17716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6" name="Line 8"/>
          <p:cNvSpPr>
            <a:spLocks noChangeShapeType="1"/>
          </p:cNvSpPr>
          <p:nvPr/>
        </p:nvSpPr>
        <p:spPr bwMode="auto">
          <a:xfrm>
            <a:off x="5943600" y="17716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7" name="Line 9"/>
          <p:cNvSpPr>
            <a:spLocks noChangeShapeType="1"/>
          </p:cNvSpPr>
          <p:nvPr/>
        </p:nvSpPr>
        <p:spPr bwMode="auto">
          <a:xfrm>
            <a:off x="5638800" y="2076450"/>
            <a:ext cx="0" cy="685800"/>
          </a:xfrm>
          <a:prstGeom prst="line">
            <a:avLst/>
          </a:prstGeom>
          <a:noFill/>
          <a:ln w="31750" cap="sq">
            <a:solidFill>
              <a:schemeClr val="tx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8" name="Line 10"/>
          <p:cNvSpPr>
            <a:spLocks noChangeShapeType="1"/>
          </p:cNvSpPr>
          <p:nvPr/>
        </p:nvSpPr>
        <p:spPr bwMode="auto">
          <a:xfrm>
            <a:off x="6248400" y="2076450"/>
            <a:ext cx="0" cy="685800"/>
          </a:xfrm>
          <a:prstGeom prst="line">
            <a:avLst/>
          </a:prstGeom>
          <a:noFill/>
          <a:ln w="31750" cap="sq">
            <a:solidFill>
              <a:schemeClr val="tx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5819" name="Comment 11"/>
          <p:cNvSpPr>
            <a:spLocks noChangeArrowheads="1"/>
          </p:cNvSpPr>
          <p:nvPr/>
        </p:nvSpPr>
        <p:spPr bwMode="auto">
          <a:xfrm>
            <a:off x="3505200" y="2533650"/>
            <a:ext cx="1981200" cy="1385888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指向下一个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有相同弧尾</a:t>
            </a:r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的结点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5820" name="Comment 12"/>
          <p:cNvSpPr>
            <a:spLocks noChangeArrowheads="1"/>
          </p:cNvSpPr>
          <p:nvPr/>
        </p:nvSpPr>
        <p:spPr bwMode="auto">
          <a:xfrm>
            <a:off x="6400800" y="2533650"/>
            <a:ext cx="2133600" cy="1385888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指向下一个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有相同弧头</a:t>
            </a:r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的结点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5821" name="Rectangle 13"/>
          <p:cNvSpPr>
            <a:spLocks noChangeArrowheads="1"/>
          </p:cNvSpPr>
          <p:nvPr/>
        </p:nvSpPr>
        <p:spPr bwMode="auto">
          <a:xfrm>
            <a:off x="381000" y="4175125"/>
            <a:ext cx="85344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ArcBox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弧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的结构表示</a:t>
            </a:r>
            <a:endParaRPr kumimoji="1" lang="zh-CN" altLang="en-US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tailvex, headvex;   InfoType  *info;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struct ArcBox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hlink,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*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tlink; 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VexNode;</a:t>
            </a:r>
          </a:p>
        </p:txBody>
      </p:sp>
    </p:spTree>
    <p:extLst>
      <p:ext uri="{BB962C8B-B14F-4D97-AF65-F5344CB8AC3E}">
        <p14:creationId xmlns:p14="http://schemas.microsoft.com/office/powerpoint/2010/main" val="145045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7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7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7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5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5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 autoUpdateAnimBg="0"/>
      <p:bldP spid="375811" grpId="0" animBg="1" autoUpdateAnimBg="0"/>
      <p:bldP spid="375812" grpId="0" animBg="1" autoUpdateAnimBg="0"/>
      <p:bldP spid="375813" grpId="0" animBg="1"/>
      <p:bldP spid="375814" grpId="0" animBg="1"/>
      <p:bldP spid="375815" grpId="0" animBg="1"/>
      <p:bldP spid="375816" grpId="0" animBg="1"/>
      <p:bldP spid="375817" grpId="0" animBg="1"/>
      <p:bldP spid="375818" grpId="0" animBg="1"/>
      <p:bldP spid="375819" grpId="0" animBg="1" autoUpdateAnimBg="0"/>
      <p:bldP spid="375820" grpId="0" animBg="1" autoUpdateAnimBg="0"/>
      <p:bldP spid="37582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Comment 2"/>
          <p:cNvSpPr>
            <a:spLocks noChangeArrowheads="1"/>
          </p:cNvSpPr>
          <p:nvPr/>
        </p:nvSpPr>
        <p:spPr bwMode="auto">
          <a:xfrm>
            <a:off x="381000" y="469900"/>
            <a:ext cx="3429000" cy="65405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顶点的结点结构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6835" name="Rectangle 3"/>
          <p:cNvSpPr>
            <a:spLocks noChangeArrowheads="1"/>
          </p:cNvSpPr>
          <p:nvPr/>
        </p:nvSpPr>
        <p:spPr bwMode="auto">
          <a:xfrm>
            <a:off x="838200" y="1308100"/>
            <a:ext cx="6019800" cy="611188"/>
          </a:xfrm>
          <a:prstGeom prst="rect">
            <a:avLst/>
          </a:prstGeom>
          <a:solidFill>
            <a:srgbClr val="CCFFFF"/>
          </a:solidFill>
          <a:ln w="3175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顶点信息数据            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</p:txBody>
      </p:sp>
      <p:sp>
        <p:nvSpPr>
          <p:cNvPr id="376836" name="Line 4"/>
          <p:cNvSpPr>
            <a:spLocks noChangeShapeType="1"/>
          </p:cNvSpPr>
          <p:nvPr/>
        </p:nvSpPr>
        <p:spPr bwMode="auto">
          <a:xfrm>
            <a:off x="3498850" y="13271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6837" name="Line 5"/>
          <p:cNvSpPr>
            <a:spLocks noChangeShapeType="1"/>
          </p:cNvSpPr>
          <p:nvPr/>
        </p:nvSpPr>
        <p:spPr bwMode="auto">
          <a:xfrm>
            <a:off x="5181600" y="1327150"/>
            <a:ext cx="0" cy="609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6838" name="Line 6"/>
          <p:cNvSpPr>
            <a:spLocks noChangeShapeType="1"/>
          </p:cNvSpPr>
          <p:nvPr/>
        </p:nvSpPr>
        <p:spPr bwMode="auto">
          <a:xfrm>
            <a:off x="4343400" y="1612900"/>
            <a:ext cx="0" cy="685800"/>
          </a:xfrm>
          <a:prstGeom prst="line">
            <a:avLst/>
          </a:prstGeom>
          <a:noFill/>
          <a:ln w="31750" cap="sq">
            <a:solidFill>
              <a:schemeClr val="tx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6839" name="Line 7"/>
          <p:cNvSpPr>
            <a:spLocks noChangeShapeType="1"/>
          </p:cNvSpPr>
          <p:nvPr/>
        </p:nvSpPr>
        <p:spPr bwMode="auto">
          <a:xfrm>
            <a:off x="6019800" y="1631950"/>
            <a:ext cx="0" cy="685800"/>
          </a:xfrm>
          <a:prstGeom prst="line">
            <a:avLst/>
          </a:prstGeom>
          <a:noFill/>
          <a:ln w="31750" cap="sq">
            <a:solidFill>
              <a:schemeClr val="tx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6840" name="Comment 8"/>
          <p:cNvSpPr>
            <a:spLocks noChangeArrowheads="1"/>
          </p:cNvSpPr>
          <p:nvPr/>
        </p:nvSpPr>
        <p:spPr bwMode="auto">
          <a:xfrm>
            <a:off x="1828800" y="2089150"/>
            <a:ext cx="2362200" cy="95885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指向该顶点的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第一条入弧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6841" name="Comment 9"/>
          <p:cNvSpPr>
            <a:spLocks noChangeArrowheads="1"/>
          </p:cNvSpPr>
          <p:nvPr/>
        </p:nvSpPr>
        <p:spPr bwMode="auto">
          <a:xfrm>
            <a:off x="6172200" y="2089150"/>
            <a:ext cx="2362200" cy="95885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2800">
                <a:solidFill>
                  <a:schemeClr val="tx2"/>
                </a:solidFill>
                <a:latin typeface="Times New Roman" charset="0"/>
                <a:ea typeface="楷体_GB2312" charset="0"/>
              </a:rPr>
              <a:t>指向该顶点的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第一条出弧</a:t>
            </a:r>
            <a:endParaRPr kumimoji="1" lang="zh-CN" altLang="en-US" sz="1600">
              <a:solidFill>
                <a:srgbClr val="000000"/>
              </a:solidFill>
            </a:endParaRPr>
          </a:p>
        </p:txBody>
      </p:sp>
      <p:sp>
        <p:nvSpPr>
          <p:cNvPr id="376842" name="Rectangle 10"/>
          <p:cNvSpPr>
            <a:spLocks noChangeArrowheads="1"/>
          </p:cNvSpPr>
          <p:nvPr/>
        </p:nvSpPr>
        <p:spPr bwMode="auto">
          <a:xfrm>
            <a:off x="228600" y="3559175"/>
            <a:ext cx="8755063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VexNode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顶点的结构表示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VertexType  data;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ArcBox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firstin,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firstout; 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VexNode;</a:t>
            </a:r>
          </a:p>
        </p:txBody>
      </p:sp>
    </p:spTree>
    <p:extLst>
      <p:ext uri="{BB962C8B-B14F-4D97-AF65-F5344CB8AC3E}">
        <p14:creationId xmlns:p14="http://schemas.microsoft.com/office/powerpoint/2010/main" val="19267371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6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68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6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7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6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6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834" grpId="0" animBg="1" autoUpdateAnimBg="0"/>
      <p:bldP spid="376835" grpId="0" animBg="1" autoUpdateAnimBg="0"/>
      <p:bldP spid="376836" grpId="0" animBg="1"/>
      <p:bldP spid="376837" grpId="0" animBg="1"/>
      <p:bldP spid="376838" grpId="0" animBg="1"/>
      <p:bldP spid="376839" grpId="0" animBg="1"/>
      <p:bldP spid="376840" grpId="0" animBg="1" autoUpdateAnimBg="0"/>
      <p:bldP spid="376841" grpId="0" animBg="1" autoUpdateAnimBg="0"/>
      <p:bldP spid="376842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76200" y="1371600"/>
            <a:ext cx="9220200" cy="466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 { 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VexNode  xlist[MAX_VERTEX_NUM]; 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顶点结点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表头向量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 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int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vexnum, arcnum;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//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有向图的当前顶点数和弧数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OLGraph;</a:t>
            </a:r>
            <a:endParaRPr kumimoji="1" lang="en-US" altLang="zh-CN" sz="40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77859" name="Rectangle 3"/>
          <p:cNvSpPr>
            <a:spLocks noChangeArrowheads="1"/>
          </p:cNvSpPr>
          <p:nvPr/>
        </p:nvSpPr>
        <p:spPr bwMode="auto">
          <a:xfrm>
            <a:off x="1447800" y="228600"/>
            <a:ext cx="6651625" cy="714375"/>
          </a:xfrm>
          <a:prstGeom prst="rect">
            <a:avLst/>
          </a:prstGeom>
          <a:solidFill>
            <a:srgbClr val="FFCC99">
              <a:alpha val="50195"/>
            </a:srgbClr>
          </a:solidFill>
          <a:ln w="12700" cap="sq">
            <a:solidFill>
              <a:srgbClr val="FFCC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有向图的结构表示</a:t>
            </a:r>
            <a:r>
              <a:rPr kumimoji="1" lang="en-US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十字链表</a:t>
            </a:r>
            <a:r>
              <a:rPr kumimoji="1" lang="en-US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)</a:t>
            </a:r>
            <a:endParaRPr kumimoji="1" lang="en-US" altLang="zh-CN" sz="4000" b="1">
              <a:solidFill>
                <a:srgbClr val="6633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7786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0960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959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77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8" grpId="0" autoUpdateAnimBg="0"/>
      <p:bldP spid="377859" grpId="0" animBg="1" autoUpdateAnimBg="0"/>
      <p:bldP spid="37786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Text Box 2"/>
          <p:cNvSpPr txBox="1">
            <a:spLocks noChangeArrowheads="1"/>
          </p:cNvSpPr>
          <p:nvPr/>
        </p:nvSpPr>
        <p:spPr bwMode="auto">
          <a:xfrm>
            <a:off x="1339850" y="228600"/>
            <a:ext cx="780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四、无向图的邻接多重表存储表示</a:t>
            </a:r>
          </a:p>
        </p:txBody>
      </p:sp>
      <p:sp>
        <p:nvSpPr>
          <p:cNvPr id="378883" name="Rectangle 3"/>
          <p:cNvSpPr>
            <a:spLocks noChangeArrowheads="1"/>
          </p:cNvSpPr>
          <p:nvPr/>
        </p:nvSpPr>
        <p:spPr bwMode="auto">
          <a:xfrm>
            <a:off x="228600" y="1801813"/>
            <a:ext cx="8763000" cy="4903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Ebox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VisitIf       mark;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访问标记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ivex, jvex;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该边依附的两个顶点的位置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struct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EBox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ilink,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jlink;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InfoType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info;    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该边信息指针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EBox;</a:t>
            </a:r>
          </a:p>
        </p:txBody>
      </p:sp>
      <p:sp>
        <p:nvSpPr>
          <p:cNvPr id="378884" name="Rectangle 4"/>
          <p:cNvSpPr>
            <a:spLocks noChangeArrowheads="1"/>
          </p:cNvSpPr>
          <p:nvPr/>
        </p:nvSpPr>
        <p:spPr bwMode="auto">
          <a:xfrm>
            <a:off x="3124200" y="1143000"/>
            <a:ext cx="2971800" cy="666750"/>
          </a:xfrm>
          <a:prstGeom prst="rect">
            <a:avLst/>
          </a:prstGeom>
          <a:solidFill>
            <a:srgbClr val="FFCC99">
              <a:alpha val="50195"/>
            </a:srgbClr>
          </a:solidFill>
          <a:ln w="25400" cap="sq">
            <a:solidFill>
              <a:srgbClr val="FFCC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边的结构表示</a:t>
            </a:r>
            <a:endParaRPr kumimoji="1" lang="zh-CN" altLang="en-US" sz="36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444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3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2" grpId="0" autoUpdateAnimBg="0"/>
      <p:bldP spid="378883" grpId="0" autoUpdateAnimBg="0"/>
      <p:bldP spid="378884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Text Box 2"/>
          <p:cNvSpPr txBox="1">
            <a:spLocks noChangeArrowheads="1"/>
          </p:cNvSpPr>
          <p:nvPr/>
        </p:nvSpPr>
        <p:spPr bwMode="auto">
          <a:xfrm>
            <a:off x="609600" y="4191000"/>
            <a:ext cx="7951788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 {  //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邻接多重表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VexBox  adjmulist[MAX_VERTEX_NUM];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int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vexnum, edgenum;  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AMLGraph;</a:t>
            </a:r>
          </a:p>
        </p:txBody>
      </p:sp>
      <p:sp>
        <p:nvSpPr>
          <p:cNvPr id="379907" name="Rectangle 3"/>
          <p:cNvSpPr>
            <a:spLocks noChangeArrowheads="1"/>
          </p:cNvSpPr>
          <p:nvPr/>
        </p:nvSpPr>
        <p:spPr bwMode="auto">
          <a:xfrm>
            <a:off x="2892425" y="152400"/>
            <a:ext cx="3432175" cy="666750"/>
          </a:xfrm>
          <a:prstGeom prst="rect">
            <a:avLst/>
          </a:prstGeom>
          <a:solidFill>
            <a:srgbClr val="FFCC99">
              <a:alpha val="50195"/>
            </a:srgbClr>
          </a:solidFill>
          <a:ln w="25400" cap="sq">
            <a:solidFill>
              <a:srgbClr val="FFCC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顶点的结构表示</a:t>
            </a:r>
            <a:endParaRPr kumimoji="1" lang="zh-CN" altLang="en-US" sz="32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79908" name="Rectangle 4"/>
          <p:cNvSpPr>
            <a:spLocks noChangeArrowheads="1"/>
          </p:cNvSpPr>
          <p:nvPr/>
        </p:nvSpPr>
        <p:spPr bwMode="auto">
          <a:xfrm>
            <a:off x="254000" y="838200"/>
            <a:ext cx="86614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typedef struct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VexBox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VertexType  data;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EBox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firstedge; //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指向第一条依附该顶点的边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VexBox;</a:t>
            </a:r>
          </a:p>
        </p:txBody>
      </p:sp>
      <p:sp>
        <p:nvSpPr>
          <p:cNvPr id="379909" name="Rectangle 5"/>
          <p:cNvSpPr>
            <a:spLocks noChangeArrowheads="1"/>
          </p:cNvSpPr>
          <p:nvPr/>
        </p:nvSpPr>
        <p:spPr bwMode="auto">
          <a:xfrm>
            <a:off x="2660650" y="3429000"/>
            <a:ext cx="3892550" cy="776288"/>
          </a:xfrm>
          <a:prstGeom prst="rect">
            <a:avLst/>
          </a:prstGeom>
          <a:solidFill>
            <a:srgbClr val="FFCC99">
              <a:alpha val="50195"/>
            </a:srgbClr>
          </a:solidFill>
          <a:ln w="25400" cap="sq">
            <a:solidFill>
              <a:srgbClr val="FFCC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无向图的结构表示</a:t>
            </a:r>
            <a:endParaRPr kumimoji="1" lang="zh-CN" altLang="en-US" sz="36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79910" name="AutoShape 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2484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921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79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6" grpId="0" autoUpdateAnimBg="0"/>
      <p:bldP spid="379907" grpId="0" animBg="1" autoUpdateAnimBg="0"/>
      <p:bldP spid="379908" grpId="0" autoUpdateAnimBg="0"/>
      <p:bldP spid="379909" grpId="0" animBg="1" autoUpdateAnimBg="0"/>
      <p:bldP spid="3799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781800" cy="8382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800000"/>
                </a:solidFill>
                <a:ea typeface="楷体_GB2312" charset="0"/>
              </a:rPr>
              <a:t>图的创建基本过程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19200"/>
            <a:ext cx="7772400" cy="5486400"/>
          </a:xfrm>
        </p:spPr>
        <p:txBody>
          <a:bodyPr/>
          <a:lstStyle/>
          <a:p>
            <a:pPr lvl="1" eaLnBrk="1" hangingPunct="1"/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输入图的类型，根据类型选择相应的创建算法</a:t>
            </a:r>
          </a:p>
          <a:p>
            <a:pPr lvl="1" eaLnBrk="1" hangingPunct="1"/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输入图的顶点数，边</a:t>
            </a:r>
            <a:r>
              <a:rPr lang="en-US" altLang="zh-CN" b="1">
                <a:solidFill>
                  <a:srgbClr val="000099"/>
                </a:solidFill>
                <a:ea typeface="楷体_GB2312" charset="0"/>
              </a:rPr>
              <a:t>/</a:t>
            </a:r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弧数</a:t>
            </a:r>
          </a:p>
          <a:p>
            <a:pPr lvl="1" eaLnBrk="1" hangingPunct="1"/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输入并存储顶点信息</a:t>
            </a:r>
          </a:p>
          <a:p>
            <a:pPr lvl="1" eaLnBrk="1" hangingPunct="1"/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输入边</a:t>
            </a:r>
            <a:r>
              <a:rPr lang="en-US" altLang="zh-CN" b="1">
                <a:solidFill>
                  <a:srgbClr val="000099"/>
                </a:solidFill>
                <a:ea typeface="楷体_GB2312" charset="0"/>
              </a:rPr>
              <a:t>/</a:t>
            </a:r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弧所关联的顶点对，将边或弧的信息存储到邻接矩阵</a:t>
            </a:r>
            <a:r>
              <a:rPr lang="en-US" altLang="zh-CN" b="1">
                <a:solidFill>
                  <a:srgbClr val="000099"/>
                </a:solidFill>
                <a:ea typeface="楷体_GB2312" charset="0"/>
              </a:rPr>
              <a:t>/</a:t>
            </a:r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邻接表中</a:t>
            </a:r>
          </a:p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楷体_GB2312" charset="0"/>
              </a:rPr>
              <a:t>图的存储结构不同、图的类型不同，都会影响创建算法的实现细节；但是，图的总体创建流程是一致的。</a:t>
            </a:r>
          </a:p>
        </p:txBody>
      </p:sp>
    </p:spTree>
    <p:extLst>
      <p:ext uri="{BB962C8B-B14F-4D97-AF65-F5344CB8AC3E}">
        <p14:creationId xmlns:p14="http://schemas.microsoft.com/office/powerpoint/2010/main" val="488013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1095375"/>
            <a:ext cx="8839200" cy="5762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Status CreateDG(Graph &amp;G){//</a:t>
            </a:r>
            <a:r>
              <a:rPr kumimoji="1" lang="zh-CN" altLang="en-US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有向网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scanf (&amp;G.vexnum, &amp;G.arcnum, &amp;IncInfo)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 ( i=0; i&lt;G.vexnum ; i++)	scanf ( &amp;G.vexs[i] );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 ( i = 0; i &lt; G.vexnum ; i++)	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for ( j = 0; j &lt; G.vexnum ; j++)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G.arcs[i][j] = {INFINITY, NULL};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 ( k = 0; k &lt; G.arcnum ; k++){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scanf (&amp;v1, &amp;v2, &amp;w);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i = LocateVex(G, v1); j = LocateVex(G, v2);  G.arcs[i][j].adj = w;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if ( IncInfo) Input( *G.arcs[i][j].info);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}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95944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Text Box 2"/>
          <p:cNvSpPr txBox="1">
            <a:spLocks noChangeArrowheads="1"/>
          </p:cNvSpPr>
          <p:nvPr/>
        </p:nvSpPr>
        <p:spPr bwMode="auto">
          <a:xfrm>
            <a:off x="2057400" y="0"/>
            <a:ext cx="43878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6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7.3 </a:t>
            </a:r>
            <a:r>
              <a:rPr kumimoji="1" lang="zh-CN" altLang="en-US" sz="6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图的遍历</a:t>
            </a:r>
          </a:p>
        </p:txBody>
      </p:sp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552450" y="1287463"/>
            <a:ext cx="8058150" cy="214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从图中某个顶点出发游历图，访遍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图中其余顶点，并且使图中的每个顶点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仅被访问一次的过程。</a:t>
            </a:r>
          </a:p>
        </p:txBody>
      </p:sp>
      <p:sp>
        <p:nvSpPr>
          <p:cNvPr id="385028" name="Text Box 4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676400" y="3810000"/>
            <a:ext cx="35655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深度优先搜索</a:t>
            </a:r>
            <a:endParaRPr kumimoji="1" lang="zh-CN" altLang="en-US" sz="5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85029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835275" y="4800600"/>
            <a:ext cx="35655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广度优先搜索</a:t>
            </a:r>
            <a:endParaRPr kumimoji="1" lang="zh-CN" altLang="en-US" sz="5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85030" name="AutoShape 6"/>
          <p:cNvSpPr>
            <a:spLocks noChangeArrowheads="1"/>
          </p:cNvSpPr>
          <p:nvPr/>
        </p:nvSpPr>
        <p:spPr bwMode="auto">
          <a:xfrm>
            <a:off x="2286000" y="4784725"/>
            <a:ext cx="457200" cy="533400"/>
          </a:xfrm>
          <a:prstGeom prst="star4">
            <a:avLst>
              <a:gd name="adj" fmla="val 23514"/>
            </a:avLst>
          </a:prstGeom>
          <a:solidFill>
            <a:srgbClr val="E2351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5031" name="AutoShape 7"/>
          <p:cNvSpPr>
            <a:spLocks noChangeArrowheads="1"/>
          </p:cNvSpPr>
          <p:nvPr/>
        </p:nvSpPr>
        <p:spPr bwMode="auto">
          <a:xfrm>
            <a:off x="1143000" y="3794125"/>
            <a:ext cx="457200" cy="457200"/>
          </a:xfrm>
          <a:prstGeom prst="star4">
            <a:avLst>
              <a:gd name="adj" fmla="val 23514"/>
            </a:avLst>
          </a:prstGeom>
          <a:solidFill>
            <a:srgbClr val="E2351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5032" name="Text Box 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978275" y="5780088"/>
            <a:ext cx="35655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遍历应用举例</a:t>
            </a:r>
            <a:endParaRPr kumimoji="1" lang="zh-CN" altLang="en-US" sz="5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85033" name="AutoShape 9"/>
          <p:cNvSpPr>
            <a:spLocks noChangeArrowheads="1"/>
          </p:cNvSpPr>
          <p:nvPr/>
        </p:nvSpPr>
        <p:spPr bwMode="auto">
          <a:xfrm>
            <a:off x="3276600" y="5791200"/>
            <a:ext cx="457200" cy="533400"/>
          </a:xfrm>
          <a:prstGeom prst="star4">
            <a:avLst>
              <a:gd name="adj" fmla="val 23611"/>
            </a:avLst>
          </a:prstGeom>
          <a:solidFill>
            <a:srgbClr val="E2351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5034" name="AutoShape 10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1722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9745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850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5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850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850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5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26" grpId="0" autoUpdateAnimBg="0"/>
      <p:bldP spid="385027" grpId="0" autoUpdateAnimBg="0"/>
      <p:bldP spid="385028" grpId="0" autoUpdateAnimBg="0"/>
      <p:bldP spid="385029" grpId="0" autoUpdateAnimBg="0"/>
      <p:bldP spid="385030" grpId="0" animBg="1"/>
      <p:bldP spid="385031" grpId="0" animBg="1"/>
      <p:bldP spid="385032" grpId="0" autoUpdateAnimBg="0"/>
      <p:bldP spid="385033" grpId="0" animBg="1"/>
      <p:bldP spid="38503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Text Box 2"/>
          <p:cNvSpPr txBox="1">
            <a:spLocks noChangeArrowheads="1"/>
          </p:cNvSpPr>
          <p:nvPr/>
        </p:nvSpPr>
        <p:spPr bwMode="auto">
          <a:xfrm>
            <a:off x="304800" y="2540000"/>
            <a:ext cx="8458200" cy="325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从图中某个顶点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出发，访问此顶点，然后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依次从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="1" baseline="-25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的各个未被访问的邻接点出发深度优先搜索遍历图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，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直至图中所有和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有路径相通的顶点都被访问到。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386051" name="Rectangle 3"/>
          <p:cNvSpPr>
            <a:spLocks noChangeArrowheads="1"/>
          </p:cNvSpPr>
          <p:nvPr/>
        </p:nvSpPr>
        <p:spPr bwMode="auto">
          <a:xfrm>
            <a:off x="1600200" y="228600"/>
            <a:ext cx="63484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一、深度优先搜索遍历图</a:t>
            </a:r>
          </a:p>
        </p:txBody>
      </p:sp>
      <p:sp>
        <p:nvSpPr>
          <p:cNvPr id="386052" name="Rectangle 4"/>
          <p:cNvSpPr>
            <a:spLocks noChangeArrowheads="1"/>
          </p:cNvSpPr>
          <p:nvPr/>
        </p:nvSpPr>
        <p:spPr bwMode="auto">
          <a:xfrm>
            <a:off x="1035050" y="1660525"/>
            <a:ext cx="6337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连通图的深度优先搜索遍历</a:t>
            </a:r>
            <a:endParaRPr kumimoji="1" lang="zh-CN" altLang="en-US" sz="44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pic>
        <p:nvPicPr>
          <p:cNvPr id="386053" name="Picture 5" descr="Stained Glass B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8142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0" grpId="0" autoUpdateAnimBg="0"/>
      <p:bldP spid="386051" grpId="0" autoUpdateAnimBg="0"/>
      <p:bldP spid="38605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Oval 2"/>
          <p:cNvSpPr>
            <a:spLocks noChangeArrowheads="1"/>
          </p:cNvSpPr>
          <p:nvPr/>
        </p:nvSpPr>
        <p:spPr bwMode="auto">
          <a:xfrm>
            <a:off x="2133600" y="533400"/>
            <a:ext cx="6096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V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75" name="Oval 3"/>
          <p:cNvSpPr>
            <a:spLocks noChangeArrowheads="1"/>
          </p:cNvSpPr>
          <p:nvPr/>
        </p:nvSpPr>
        <p:spPr bwMode="auto">
          <a:xfrm>
            <a:off x="304800" y="1600200"/>
            <a:ext cx="2438400" cy="1828800"/>
          </a:xfrm>
          <a:prstGeom prst="ellipse">
            <a:avLst/>
          </a:prstGeom>
          <a:solidFill>
            <a:srgbClr val="FFCC99">
              <a:alpha val="50195"/>
            </a:srgbClr>
          </a:solidFill>
          <a:ln w="12700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7076" name="Oval 4"/>
          <p:cNvSpPr>
            <a:spLocks noChangeArrowheads="1"/>
          </p:cNvSpPr>
          <p:nvPr/>
        </p:nvSpPr>
        <p:spPr bwMode="auto">
          <a:xfrm>
            <a:off x="1524000" y="1676400"/>
            <a:ext cx="2133600" cy="1752600"/>
          </a:xfrm>
          <a:prstGeom prst="ellipse">
            <a:avLst/>
          </a:prstGeom>
          <a:solidFill>
            <a:srgbClr val="FFCC99">
              <a:alpha val="50195"/>
            </a:srgbClr>
          </a:solidFill>
          <a:ln w="12700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7077" name="Oval 5"/>
          <p:cNvSpPr>
            <a:spLocks noChangeArrowheads="1"/>
          </p:cNvSpPr>
          <p:nvPr/>
        </p:nvSpPr>
        <p:spPr bwMode="auto">
          <a:xfrm>
            <a:off x="3429000" y="1676400"/>
            <a:ext cx="914400" cy="1752600"/>
          </a:xfrm>
          <a:prstGeom prst="ellipse">
            <a:avLst/>
          </a:prstGeom>
          <a:solidFill>
            <a:srgbClr val="FFCC99">
              <a:alpha val="50195"/>
            </a:srgbClr>
          </a:solidFill>
          <a:ln w="12700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7078" name="Oval 6"/>
          <p:cNvSpPr>
            <a:spLocks noChangeArrowheads="1"/>
          </p:cNvSpPr>
          <p:nvPr/>
        </p:nvSpPr>
        <p:spPr bwMode="auto">
          <a:xfrm>
            <a:off x="838200" y="16764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79" name="Line 7"/>
          <p:cNvSpPr>
            <a:spLocks noChangeShapeType="1"/>
          </p:cNvSpPr>
          <p:nvPr/>
        </p:nvSpPr>
        <p:spPr bwMode="auto">
          <a:xfrm flipH="1">
            <a:off x="1066800" y="838200"/>
            <a:ext cx="1066800" cy="8382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7080" name="Line 8"/>
          <p:cNvSpPr>
            <a:spLocks noChangeShapeType="1"/>
          </p:cNvSpPr>
          <p:nvPr/>
        </p:nvSpPr>
        <p:spPr bwMode="auto">
          <a:xfrm flipH="1">
            <a:off x="2209800" y="1143000"/>
            <a:ext cx="228600" cy="6096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7081" name="Line 9"/>
          <p:cNvSpPr>
            <a:spLocks noChangeShapeType="1"/>
          </p:cNvSpPr>
          <p:nvPr/>
        </p:nvSpPr>
        <p:spPr bwMode="auto">
          <a:xfrm>
            <a:off x="2743200" y="838200"/>
            <a:ext cx="1143000" cy="9144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7082" name="Text Box 10"/>
          <p:cNvSpPr txBox="1">
            <a:spLocks noChangeArrowheads="1"/>
          </p:cNvSpPr>
          <p:nvPr/>
        </p:nvSpPr>
        <p:spPr bwMode="auto">
          <a:xfrm>
            <a:off x="784225" y="2819400"/>
            <a:ext cx="73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charset="0"/>
              </a:rPr>
              <a:t>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83" name="Text Box 11"/>
          <p:cNvSpPr txBox="1">
            <a:spLocks noChangeArrowheads="1"/>
          </p:cNvSpPr>
          <p:nvPr/>
        </p:nvSpPr>
        <p:spPr bwMode="auto">
          <a:xfrm>
            <a:off x="2590800" y="2819400"/>
            <a:ext cx="73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84" name="Text Box 12"/>
          <p:cNvSpPr txBox="1">
            <a:spLocks noChangeArrowheads="1"/>
          </p:cNvSpPr>
          <p:nvPr/>
        </p:nvSpPr>
        <p:spPr bwMode="auto">
          <a:xfrm>
            <a:off x="3603625" y="2743200"/>
            <a:ext cx="73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2400" b="1" baseline="-25000">
                <a:solidFill>
                  <a:srgbClr val="000099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85" name="Text Box 13"/>
          <p:cNvSpPr txBox="1">
            <a:spLocks noChangeArrowheads="1"/>
          </p:cNvSpPr>
          <p:nvPr/>
        </p:nvSpPr>
        <p:spPr bwMode="auto">
          <a:xfrm>
            <a:off x="4784725" y="914400"/>
            <a:ext cx="435927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1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</a:rPr>
              <a:t>、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2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3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均为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的邻接点，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1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</a:rPr>
              <a:t>、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2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和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SG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3 </a:t>
            </a:r>
            <a:r>
              <a:rPr kumimoji="1" lang="zh-CN" altLang="en-US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分别为含顶点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1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</a:rPr>
              <a:t>、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2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3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的子图。</a:t>
            </a:r>
            <a:endParaRPr kumimoji="1" lang="zh-CN" altLang="en-US" sz="32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87086" name="Text Box 14"/>
          <p:cNvSpPr txBox="1">
            <a:spLocks noChangeArrowheads="1"/>
          </p:cNvSpPr>
          <p:nvPr/>
        </p:nvSpPr>
        <p:spPr bwMode="auto">
          <a:xfrm>
            <a:off x="1050925" y="3819525"/>
            <a:ext cx="7483475" cy="2428875"/>
          </a:xfrm>
          <a:prstGeom prst="rect">
            <a:avLst/>
          </a:prstGeom>
          <a:solidFill>
            <a:srgbClr val="E1E2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访问顶点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：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 (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1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</a:rPr>
              <a:t>、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2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、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W</a:t>
            </a:r>
            <a:r>
              <a:rPr kumimoji="1" lang="en-US" altLang="zh-CN" sz="3200" baseline="-25000">
                <a:solidFill>
                  <a:srgbClr val="000099"/>
                </a:solidFill>
                <a:latin typeface="Times New Roman" charset="0"/>
              </a:rPr>
              <a:t>3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该邻接点</a:t>
            </a:r>
            <a:r>
              <a:rPr kumimoji="1" lang="en-US" altLang="zh-CN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zh-CN" altLang="en-US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未被访问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则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从它出发进行深度优先搜索遍历。</a:t>
            </a:r>
          </a:p>
        </p:txBody>
      </p:sp>
      <p:sp>
        <p:nvSpPr>
          <p:cNvPr id="387087" name="Oval 15"/>
          <p:cNvSpPr>
            <a:spLocks noChangeArrowheads="1"/>
          </p:cNvSpPr>
          <p:nvPr/>
        </p:nvSpPr>
        <p:spPr bwMode="auto">
          <a:xfrm>
            <a:off x="1905000" y="17526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88" name="Oval 16"/>
          <p:cNvSpPr>
            <a:spLocks noChangeArrowheads="1"/>
          </p:cNvSpPr>
          <p:nvPr/>
        </p:nvSpPr>
        <p:spPr bwMode="auto">
          <a:xfrm>
            <a:off x="3581400" y="16764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87089" name="Oval 17"/>
          <p:cNvSpPr>
            <a:spLocks noChangeArrowheads="1"/>
          </p:cNvSpPr>
          <p:nvPr/>
        </p:nvSpPr>
        <p:spPr bwMode="auto">
          <a:xfrm>
            <a:off x="1905000" y="17526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6007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7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7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87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7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9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7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7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87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300"/>
                                        <p:tgtEl>
                                          <p:spTgt spid="387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 animBg="1" autoUpdateAnimBg="0"/>
      <p:bldP spid="387075" grpId="0" animBg="1"/>
      <p:bldP spid="387076" grpId="0" animBg="1"/>
      <p:bldP spid="387077" grpId="0" animBg="1"/>
      <p:bldP spid="387078" grpId="0" animBg="1" autoUpdateAnimBg="0"/>
      <p:bldP spid="387079" grpId="0" animBg="1"/>
      <p:bldP spid="387080" grpId="0" animBg="1"/>
      <p:bldP spid="387081" grpId="0" animBg="1"/>
      <p:bldP spid="387082" grpId="0" autoUpdateAnimBg="0"/>
      <p:bldP spid="387083" grpId="0" autoUpdateAnimBg="0"/>
      <p:bldP spid="387084" grpId="0" autoUpdateAnimBg="0"/>
      <p:bldP spid="387085" grpId="0" build="p" autoUpdateAnimBg="0"/>
      <p:bldP spid="387086" grpId="0" animBg="1" autoUpdateAnimBg="0"/>
      <p:bldP spid="387087" grpId="0" animBg="1" autoUpdateAnimBg="0"/>
      <p:bldP spid="387088" grpId="0" animBg="1" autoUpdateAnimBg="0"/>
      <p:bldP spid="387089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50069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从上页的图解可见</a:t>
            </a: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:</a:t>
            </a:r>
          </a:p>
        </p:txBody>
      </p:sp>
      <p:sp>
        <p:nvSpPr>
          <p:cNvPr id="388099" name="Text Box 3"/>
          <p:cNvSpPr txBox="1">
            <a:spLocks noChangeArrowheads="1"/>
          </p:cNvSpPr>
          <p:nvPr/>
        </p:nvSpPr>
        <p:spPr bwMode="auto">
          <a:xfrm>
            <a:off x="555625" y="1600200"/>
            <a:ext cx="81311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1.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从深度优先搜索遍历连通图的过程类似于树的先根遍历；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88100" name="Text Box 4"/>
          <p:cNvSpPr txBox="1">
            <a:spLocks noChangeArrowheads="1"/>
          </p:cNvSpPr>
          <p:nvPr/>
        </p:nvSpPr>
        <p:spPr bwMode="auto">
          <a:xfrm>
            <a:off x="762000" y="4648200"/>
            <a:ext cx="81534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解决的办法是：为每个顶点设立一个 </a:t>
            </a:r>
            <a:r>
              <a:rPr kumimoji="1" lang="zh-CN" altLang="en-US" sz="4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“访问标志 </a:t>
            </a:r>
            <a:r>
              <a:rPr kumimoji="1" lang="en-US" altLang="zh-CN" sz="4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visited[w]”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388101" name="Text Box 5"/>
          <p:cNvSpPr txBox="1">
            <a:spLocks noChangeArrowheads="1"/>
          </p:cNvSpPr>
          <p:nvPr/>
        </p:nvSpPr>
        <p:spPr bwMode="auto">
          <a:xfrm>
            <a:off x="515938" y="3565525"/>
            <a:ext cx="81708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2.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如何判别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的邻接点是否被访问？</a:t>
            </a:r>
          </a:p>
        </p:txBody>
      </p:sp>
    </p:spTree>
    <p:extLst>
      <p:ext uri="{BB962C8B-B14F-4D97-AF65-F5344CB8AC3E}">
        <p14:creationId xmlns:p14="http://schemas.microsoft.com/office/powerpoint/2010/main" val="1675629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8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8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098" grpId="0" autoUpdateAnimBg="0"/>
      <p:bldP spid="388099" grpId="0" autoUpdateAnimBg="0"/>
      <p:bldP spid="388100" grpId="0" autoUpdateAnimBg="0"/>
      <p:bldP spid="388101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Text Box 2"/>
          <p:cNvSpPr txBox="1">
            <a:spLocks noChangeArrowheads="1"/>
          </p:cNvSpPr>
          <p:nvPr/>
        </p:nvSpPr>
        <p:spPr bwMode="auto">
          <a:xfrm>
            <a:off x="228600" y="1279525"/>
            <a:ext cx="8839200" cy="534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void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DFS(Graph G,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v)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//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从顶点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出发，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深度优先搜索遍历连通图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G</a:t>
            </a:r>
            <a:endParaRPr kumimoji="1" lang="en-US" altLang="zh-CN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visited[v] =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TRUE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;   VisitFunc(v);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(w=FirstAdjVex(G, v);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w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!=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0; w=NextAdjVex(G,v,w))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latin typeface="Times New Roman" charset="0"/>
                <a:ea typeface="楷体_GB2312" charset="0"/>
              </a:rPr>
              <a:t>       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!</a:t>
            </a:r>
            <a:r>
              <a:rPr kumimoji="1" lang="en-US" altLang="zh-CN" sz="3200">
                <a:solidFill>
                  <a:srgbClr val="CC0000"/>
                </a:solidFill>
                <a:latin typeface="Times New Roman" charset="0"/>
                <a:ea typeface="楷体_GB2312" charset="0"/>
              </a:rPr>
              <a:t>visited[w])  DFS(G, w);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  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     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的尚未访问的邻接顶点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w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//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递归调用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DFS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DFS</a:t>
            </a:r>
            <a:endParaRPr kumimoji="1" lang="en-US" altLang="zh-CN" sz="3200" b="1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8028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2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ChangeArrowheads="1"/>
          </p:cNvSpPr>
          <p:nvPr/>
        </p:nvSpPr>
        <p:spPr bwMode="auto">
          <a:xfrm>
            <a:off x="457200" y="1981200"/>
            <a:ext cx="8229600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首先将图中每个顶点的访问标志设为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FALSE,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之后搜索图中每个顶点，如果未被访问，则以该顶点为起始点，进行深度优先搜索遍历，否则继续检查下一顶点。</a:t>
            </a:r>
          </a:p>
        </p:txBody>
      </p:sp>
      <p:sp>
        <p:nvSpPr>
          <p:cNvPr id="390147" name="Rectangle 3"/>
          <p:cNvSpPr>
            <a:spLocks noChangeArrowheads="1"/>
          </p:cNvSpPr>
          <p:nvPr/>
        </p:nvSpPr>
        <p:spPr bwMode="auto">
          <a:xfrm>
            <a:off x="1447800" y="228600"/>
            <a:ext cx="68087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非连通图的深度优先搜索遍历</a:t>
            </a:r>
            <a:endParaRPr kumimoji="1" lang="zh-CN" altLang="en-US" sz="44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pic>
        <p:nvPicPr>
          <p:cNvPr id="390148" name="Picture 4" descr="Stained Glass Bal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988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9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6" grpId="0" autoUpdateAnimBg="0"/>
      <p:bldP spid="39014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Text Box 2"/>
          <p:cNvSpPr txBox="1">
            <a:spLocks noChangeArrowheads="1"/>
          </p:cNvSpPr>
          <p:nvPr/>
        </p:nvSpPr>
        <p:spPr bwMode="auto">
          <a:xfrm>
            <a:off x="214313" y="76200"/>
            <a:ext cx="8853487" cy="6731000"/>
          </a:xfrm>
          <a:prstGeom prst="rect">
            <a:avLst/>
          </a:prstGeom>
          <a:solidFill>
            <a:srgbClr val="E1E2FF"/>
          </a:solidFill>
          <a:ln w="50800" cap="sq">
            <a:solidFill>
              <a:srgbClr val="959AFD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void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DFSTraverse(Graph G,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  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Status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Visit)(int v))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对图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G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作深度优先遍历。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VisitFunc = Visit; 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(v=0; v&lt;G.vexnum;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v)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visited[v] =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FALSE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;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访问标志数组初始化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(v=0; v&lt;G.vexnum; ++v)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(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!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visited[v])  DFS(G, v);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//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对尚未访问的顶点调用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DFS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9987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Oval 2"/>
          <p:cNvSpPr>
            <a:spLocks noChangeArrowheads="1"/>
          </p:cNvSpPr>
          <p:nvPr/>
        </p:nvSpPr>
        <p:spPr bwMode="auto">
          <a:xfrm>
            <a:off x="3810000" y="1066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195" name="Oval 3"/>
          <p:cNvSpPr>
            <a:spLocks noChangeArrowheads="1"/>
          </p:cNvSpPr>
          <p:nvPr/>
        </p:nvSpPr>
        <p:spPr bwMode="auto">
          <a:xfrm>
            <a:off x="5181600" y="1066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196" name="Oval 4"/>
          <p:cNvSpPr>
            <a:spLocks noChangeArrowheads="1"/>
          </p:cNvSpPr>
          <p:nvPr/>
        </p:nvSpPr>
        <p:spPr bwMode="auto">
          <a:xfrm>
            <a:off x="19812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197" name="Oval 5"/>
          <p:cNvSpPr>
            <a:spLocks noChangeArrowheads="1"/>
          </p:cNvSpPr>
          <p:nvPr/>
        </p:nvSpPr>
        <p:spPr bwMode="auto">
          <a:xfrm>
            <a:off x="2743200" y="32766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198" name="Oval 6"/>
          <p:cNvSpPr>
            <a:spLocks noChangeArrowheads="1"/>
          </p:cNvSpPr>
          <p:nvPr/>
        </p:nvSpPr>
        <p:spPr bwMode="auto">
          <a:xfrm>
            <a:off x="32004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199" name="Oval 7"/>
          <p:cNvSpPr>
            <a:spLocks noChangeArrowheads="1"/>
          </p:cNvSpPr>
          <p:nvPr/>
        </p:nvSpPr>
        <p:spPr bwMode="auto">
          <a:xfrm>
            <a:off x="43434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00" name="Oval 8"/>
          <p:cNvSpPr>
            <a:spLocks noChangeArrowheads="1"/>
          </p:cNvSpPr>
          <p:nvPr/>
        </p:nvSpPr>
        <p:spPr bwMode="auto">
          <a:xfrm>
            <a:off x="4724400" y="32766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01" name="Oval 9"/>
          <p:cNvSpPr>
            <a:spLocks noChangeArrowheads="1"/>
          </p:cNvSpPr>
          <p:nvPr/>
        </p:nvSpPr>
        <p:spPr bwMode="auto">
          <a:xfrm>
            <a:off x="55626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02" name="Oval 10"/>
          <p:cNvSpPr>
            <a:spLocks noChangeArrowheads="1"/>
          </p:cNvSpPr>
          <p:nvPr/>
        </p:nvSpPr>
        <p:spPr bwMode="auto">
          <a:xfrm>
            <a:off x="6477000" y="13716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03" name="Line 11"/>
          <p:cNvSpPr>
            <a:spLocks noChangeShapeType="1"/>
          </p:cNvSpPr>
          <p:nvPr/>
        </p:nvSpPr>
        <p:spPr bwMode="auto">
          <a:xfrm flipH="1">
            <a:off x="2209800" y="1295400"/>
            <a:ext cx="1600200" cy="9144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4" name="Line 12"/>
          <p:cNvSpPr>
            <a:spLocks noChangeShapeType="1"/>
          </p:cNvSpPr>
          <p:nvPr/>
        </p:nvSpPr>
        <p:spPr bwMode="auto">
          <a:xfrm>
            <a:off x="2209800" y="2667000"/>
            <a:ext cx="609600" cy="6858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5" name="Line 13"/>
          <p:cNvSpPr>
            <a:spLocks noChangeShapeType="1"/>
          </p:cNvSpPr>
          <p:nvPr/>
        </p:nvSpPr>
        <p:spPr bwMode="auto">
          <a:xfrm>
            <a:off x="3276600" y="3505200"/>
            <a:ext cx="1447800" cy="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6" name="Line 14"/>
          <p:cNvSpPr>
            <a:spLocks noChangeShapeType="1"/>
          </p:cNvSpPr>
          <p:nvPr/>
        </p:nvSpPr>
        <p:spPr bwMode="auto">
          <a:xfrm flipH="1">
            <a:off x="3505200" y="1447800"/>
            <a:ext cx="3810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7" name="Line 15"/>
          <p:cNvSpPr>
            <a:spLocks noChangeShapeType="1"/>
          </p:cNvSpPr>
          <p:nvPr/>
        </p:nvSpPr>
        <p:spPr bwMode="auto">
          <a:xfrm flipH="1">
            <a:off x="2971800" y="2590800"/>
            <a:ext cx="381000" cy="6858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8" name="Line 16"/>
          <p:cNvSpPr>
            <a:spLocks noChangeShapeType="1"/>
          </p:cNvSpPr>
          <p:nvPr/>
        </p:nvSpPr>
        <p:spPr bwMode="auto">
          <a:xfrm>
            <a:off x="4800600" y="2667000"/>
            <a:ext cx="152400" cy="6096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09" name="Line 17"/>
          <p:cNvSpPr>
            <a:spLocks noChangeShapeType="1"/>
          </p:cNvSpPr>
          <p:nvPr/>
        </p:nvSpPr>
        <p:spPr bwMode="auto">
          <a:xfrm>
            <a:off x="4267200" y="1447800"/>
            <a:ext cx="3048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0" name="Line 18"/>
          <p:cNvSpPr>
            <a:spLocks noChangeShapeType="1"/>
          </p:cNvSpPr>
          <p:nvPr/>
        </p:nvSpPr>
        <p:spPr bwMode="auto">
          <a:xfrm>
            <a:off x="4343400" y="1295400"/>
            <a:ext cx="1447800" cy="914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1" name="Line 19"/>
          <p:cNvSpPr>
            <a:spLocks noChangeShapeType="1"/>
          </p:cNvSpPr>
          <p:nvPr/>
        </p:nvSpPr>
        <p:spPr bwMode="auto">
          <a:xfrm flipH="1">
            <a:off x="5257800" y="2667000"/>
            <a:ext cx="609600" cy="7620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2" name="Line 20"/>
          <p:cNvSpPr>
            <a:spLocks noChangeShapeType="1"/>
          </p:cNvSpPr>
          <p:nvPr/>
        </p:nvSpPr>
        <p:spPr bwMode="auto">
          <a:xfrm>
            <a:off x="5715000" y="1295400"/>
            <a:ext cx="762000" cy="228600"/>
          </a:xfrm>
          <a:prstGeom prst="line">
            <a:avLst/>
          </a:prstGeom>
          <a:noFill/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3" name="Text Box 21"/>
          <p:cNvSpPr txBox="1">
            <a:spLocks noChangeArrowheads="1"/>
          </p:cNvSpPr>
          <p:nvPr/>
        </p:nvSpPr>
        <p:spPr bwMode="auto">
          <a:xfrm>
            <a:off x="2667000" y="4564063"/>
            <a:ext cx="5540375" cy="654050"/>
          </a:xfrm>
          <a:prstGeom prst="rect">
            <a:avLst/>
          </a:prstGeom>
          <a:solidFill>
            <a:srgbClr val="EBEBFF"/>
          </a:solidFill>
          <a:ln w="12700" cap="sq">
            <a:solidFill>
              <a:srgbClr val="000099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F   F   F   F   F   F   F   F   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14" name="Line 22"/>
          <p:cNvSpPr>
            <a:spLocks noChangeShapeType="1"/>
          </p:cNvSpPr>
          <p:nvPr/>
        </p:nvSpPr>
        <p:spPr bwMode="auto">
          <a:xfrm>
            <a:off x="32543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5" name="Line 23"/>
          <p:cNvSpPr>
            <a:spLocks noChangeShapeType="1"/>
          </p:cNvSpPr>
          <p:nvPr/>
        </p:nvSpPr>
        <p:spPr bwMode="auto">
          <a:xfrm>
            <a:off x="38639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6" name="Line 24"/>
          <p:cNvSpPr>
            <a:spLocks noChangeShapeType="1"/>
          </p:cNvSpPr>
          <p:nvPr/>
        </p:nvSpPr>
        <p:spPr bwMode="auto">
          <a:xfrm>
            <a:off x="44735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7" name="Line 25"/>
          <p:cNvSpPr>
            <a:spLocks noChangeShapeType="1"/>
          </p:cNvSpPr>
          <p:nvPr/>
        </p:nvSpPr>
        <p:spPr bwMode="auto">
          <a:xfrm>
            <a:off x="50831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8" name="Line 26"/>
          <p:cNvSpPr>
            <a:spLocks noChangeShapeType="1"/>
          </p:cNvSpPr>
          <p:nvPr/>
        </p:nvSpPr>
        <p:spPr bwMode="auto">
          <a:xfrm>
            <a:off x="56927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19" name="Line 27"/>
          <p:cNvSpPr>
            <a:spLocks noChangeShapeType="1"/>
          </p:cNvSpPr>
          <p:nvPr/>
        </p:nvSpPr>
        <p:spPr bwMode="auto">
          <a:xfrm>
            <a:off x="63023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20" name="Line 28"/>
          <p:cNvSpPr>
            <a:spLocks noChangeShapeType="1"/>
          </p:cNvSpPr>
          <p:nvPr/>
        </p:nvSpPr>
        <p:spPr bwMode="auto">
          <a:xfrm>
            <a:off x="69119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21" name="Line 29"/>
          <p:cNvSpPr>
            <a:spLocks noChangeShapeType="1"/>
          </p:cNvSpPr>
          <p:nvPr/>
        </p:nvSpPr>
        <p:spPr bwMode="auto">
          <a:xfrm>
            <a:off x="7521575" y="4572000"/>
            <a:ext cx="0" cy="685800"/>
          </a:xfrm>
          <a:prstGeom prst="lin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22" name="Rectangle 30"/>
          <p:cNvSpPr>
            <a:spLocks noChangeArrowheads="1"/>
          </p:cNvSpPr>
          <p:nvPr/>
        </p:nvSpPr>
        <p:spPr bwMode="auto">
          <a:xfrm>
            <a:off x="27114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3" name="Rectangle 31"/>
          <p:cNvSpPr>
            <a:spLocks noChangeArrowheads="1"/>
          </p:cNvSpPr>
          <p:nvPr/>
        </p:nvSpPr>
        <p:spPr bwMode="auto">
          <a:xfrm>
            <a:off x="33210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4" name="Rectangle 32"/>
          <p:cNvSpPr>
            <a:spLocks noChangeArrowheads="1"/>
          </p:cNvSpPr>
          <p:nvPr/>
        </p:nvSpPr>
        <p:spPr bwMode="auto">
          <a:xfrm>
            <a:off x="39306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5" name="Rectangle 33"/>
          <p:cNvSpPr>
            <a:spLocks noChangeArrowheads="1"/>
          </p:cNvSpPr>
          <p:nvPr/>
        </p:nvSpPr>
        <p:spPr bwMode="auto">
          <a:xfrm>
            <a:off x="45402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6" name="Rectangle 34"/>
          <p:cNvSpPr>
            <a:spLocks noChangeArrowheads="1"/>
          </p:cNvSpPr>
          <p:nvPr/>
        </p:nvSpPr>
        <p:spPr bwMode="auto">
          <a:xfrm>
            <a:off x="518160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7" name="Rectangle 35"/>
          <p:cNvSpPr>
            <a:spLocks noChangeArrowheads="1"/>
          </p:cNvSpPr>
          <p:nvPr/>
        </p:nvSpPr>
        <p:spPr bwMode="auto">
          <a:xfrm>
            <a:off x="57594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8" name="Rectangle 36"/>
          <p:cNvSpPr>
            <a:spLocks noChangeArrowheads="1"/>
          </p:cNvSpPr>
          <p:nvPr/>
        </p:nvSpPr>
        <p:spPr bwMode="auto">
          <a:xfrm>
            <a:off x="63690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29" name="Rectangle 37"/>
          <p:cNvSpPr>
            <a:spLocks noChangeArrowheads="1"/>
          </p:cNvSpPr>
          <p:nvPr/>
        </p:nvSpPr>
        <p:spPr bwMode="auto">
          <a:xfrm>
            <a:off x="69786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0" name="Rectangle 38"/>
          <p:cNvSpPr>
            <a:spLocks noChangeArrowheads="1"/>
          </p:cNvSpPr>
          <p:nvPr/>
        </p:nvSpPr>
        <p:spPr bwMode="auto">
          <a:xfrm>
            <a:off x="7664450" y="4572000"/>
            <a:ext cx="488950" cy="64135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T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1" name="Rectangle 39"/>
          <p:cNvSpPr>
            <a:spLocks noChangeArrowheads="1"/>
          </p:cNvSpPr>
          <p:nvPr/>
        </p:nvSpPr>
        <p:spPr bwMode="auto">
          <a:xfrm>
            <a:off x="26670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2" name="Rectangle 40"/>
          <p:cNvSpPr>
            <a:spLocks noChangeArrowheads="1"/>
          </p:cNvSpPr>
          <p:nvPr/>
        </p:nvSpPr>
        <p:spPr bwMode="auto">
          <a:xfrm>
            <a:off x="32766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3" name="Rectangle 41"/>
          <p:cNvSpPr>
            <a:spLocks noChangeArrowheads="1"/>
          </p:cNvSpPr>
          <p:nvPr/>
        </p:nvSpPr>
        <p:spPr bwMode="auto">
          <a:xfrm>
            <a:off x="38862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4" name="Rectangle 42"/>
          <p:cNvSpPr>
            <a:spLocks noChangeArrowheads="1"/>
          </p:cNvSpPr>
          <p:nvPr/>
        </p:nvSpPr>
        <p:spPr bwMode="auto">
          <a:xfrm>
            <a:off x="44958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5" name="Rectangle 43"/>
          <p:cNvSpPr>
            <a:spLocks noChangeArrowheads="1"/>
          </p:cNvSpPr>
          <p:nvPr/>
        </p:nvSpPr>
        <p:spPr bwMode="auto">
          <a:xfrm>
            <a:off x="5105400" y="5607050"/>
            <a:ext cx="55245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6" name="Rectangle 44"/>
          <p:cNvSpPr>
            <a:spLocks noChangeArrowheads="1"/>
          </p:cNvSpPr>
          <p:nvPr/>
        </p:nvSpPr>
        <p:spPr bwMode="auto">
          <a:xfrm>
            <a:off x="57150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7" name="Rectangle 45"/>
          <p:cNvSpPr>
            <a:spLocks noChangeArrowheads="1"/>
          </p:cNvSpPr>
          <p:nvPr/>
        </p:nvSpPr>
        <p:spPr bwMode="auto">
          <a:xfrm>
            <a:off x="6324600" y="5607050"/>
            <a:ext cx="6096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 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8" name="Rectangle 46"/>
          <p:cNvSpPr>
            <a:spLocks noChangeArrowheads="1"/>
          </p:cNvSpPr>
          <p:nvPr/>
        </p:nvSpPr>
        <p:spPr bwMode="auto">
          <a:xfrm>
            <a:off x="6991350" y="5607050"/>
            <a:ext cx="55245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39" name="Rectangle 47"/>
          <p:cNvSpPr>
            <a:spLocks noChangeArrowheads="1"/>
          </p:cNvSpPr>
          <p:nvPr/>
        </p:nvSpPr>
        <p:spPr bwMode="auto">
          <a:xfrm>
            <a:off x="7543800" y="5607050"/>
            <a:ext cx="685800" cy="641350"/>
          </a:xfrm>
          <a:prstGeom prst="rect">
            <a:avLst/>
          </a:prstGeom>
          <a:solidFill>
            <a:srgbClr val="959AFD">
              <a:alpha val="50195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3600" b="1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392240" name="Oval 48"/>
          <p:cNvSpPr>
            <a:spLocks noChangeArrowheads="1"/>
          </p:cNvSpPr>
          <p:nvPr/>
        </p:nvSpPr>
        <p:spPr bwMode="auto">
          <a:xfrm>
            <a:off x="3810000" y="1066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41" name="Line 49"/>
          <p:cNvSpPr>
            <a:spLocks noChangeShapeType="1"/>
          </p:cNvSpPr>
          <p:nvPr/>
        </p:nvSpPr>
        <p:spPr bwMode="auto">
          <a:xfrm flipH="1">
            <a:off x="2209800" y="1295400"/>
            <a:ext cx="1600200" cy="9144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42" name="Oval 50"/>
          <p:cNvSpPr>
            <a:spLocks noChangeArrowheads="1"/>
          </p:cNvSpPr>
          <p:nvPr/>
        </p:nvSpPr>
        <p:spPr bwMode="auto">
          <a:xfrm>
            <a:off x="1981200" y="2209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43" name="Line 51"/>
          <p:cNvSpPr>
            <a:spLocks noChangeShapeType="1"/>
          </p:cNvSpPr>
          <p:nvPr/>
        </p:nvSpPr>
        <p:spPr bwMode="auto">
          <a:xfrm>
            <a:off x="2209800" y="2667000"/>
            <a:ext cx="609600" cy="6858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44" name="Oval 52"/>
          <p:cNvSpPr>
            <a:spLocks noChangeArrowheads="1"/>
          </p:cNvSpPr>
          <p:nvPr/>
        </p:nvSpPr>
        <p:spPr bwMode="auto">
          <a:xfrm>
            <a:off x="2743200" y="32766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45" name="Line 53"/>
          <p:cNvSpPr>
            <a:spLocks noChangeShapeType="1"/>
          </p:cNvSpPr>
          <p:nvPr/>
        </p:nvSpPr>
        <p:spPr bwMode="auto">
          <a:xfrm flipH="1">
            <a:off x="2971800" y="2590800"/>
            <a:ext cx="381000" cy="6858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46" name="Line 54"/>
          <p:cNvSpPr>
            <a:spLocks noChangeShapeType="1"/>
          </p:cNvSpPr>
          <p:nvPr/>
        </p:nvSpPr>
        <p:spPr bwMode="auto">
          <a:xfrm>
            <a:off x="3276600" y="3505200"/>
            <a:ext cx="1447800" cy="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47" name="Oval 55"/>
          <p:cNvSpPr>
            <a:spLocks noChangeArrowheads="1"/>
          </p:cNvSpPr>
          <p:nvPr/>
        </p:nvSpPr>
        <p:spPr bwMode="auto">
          <a:xfrm>
            <a:off x="4724400" y="32766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48" name="Line 56"/>
          <p:cNvSpPr>
            <a:spLocks noChangeShapeType="1"/>
          </p:cNvSpPr>
          <p:nvPr/>
        </p:nvSpPr>
        <p:spPr bwMode="auto">
          <a:xfrm flipH="1">
            <a:off x="5257800" y="2667000"/>
            <a:ext cx="609600" cy="7620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49" name="Oval 57"/>
          <p:cNvSpPr>
            <a:spLocks noChangeArrowheads="1"/>
          </p:cNvSpPr>
          <p:nvPr/>
        </p:nvSpPr>
        <p:spPr bwMode="auto">
          <a:xfrm>
            <a:off x="5562600" y="2209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0" name="Line 58"/>
          <p:cNvSpPr>
            <a:spLocks noChangeShapeType="1"/>
          </p:cNvSpPr>
          <p:nvPr/>
        </p:nvSpPr>
        <p:spPr bwMode="auto">
          <a:xfrm>
            <a:off x="4800600" y="2667000"/>
            <a:ext cx="152400" cy="609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51" name="Oval 59"/>
          <p:cNvSpPr>
            <a:spLocks noChangeArrowheads="1"/>
          </p:cNvSpPr>
          <p:nvPr/>
        </p:nvSpPr>
        <p:spPr bwMode="auto">
          <a:xfrm>
            <a:off x="4343400" y="2209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2" name="Oval 60"/>
          <p:cNvSpPr>
            <a:spLocks noChangeArrowheads="1"/>
          </p:cNvSpPr>
          <p:nvPr/>
        </p:nvSpPr>
        <p:spPr bwMode="auto">
          <a:xfrm>
            <a:off x="3200400" y="2209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3" name="Oval 61"/>
          <p:cNvSpPr>
            <a:spLocks noChangeArrowheads="1"/>
          </p:cNvSpPr>
          <p:nvPr/>
        </p:nvSpPr>
        <p:spPr bwMode="auto">
          <a:xfrm>
            <a:off x="5181600" y="10668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4" name="Line 62"/>
          <p:cNvSpPr>
            <a:spLocks noChangeShapeType="1"/>
          </p:cNvSpPr>
          <p:nvPr/>
        </p:nvSpPr>
        <p:spPr bwMode="auto">
          <a:xfrm>
            <a:off x="5715000" y="1295400"/>
            <a:ext cx="762000" cy="228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55" name="Oval 63"/>
          <p:cNvSpPr>
            <a:spLocks noChangeArrowheads="1"/>
          </p:cNvSpPr>
          <p:nvPr/>
        </p:nvSpPr>
        <p:spPr bwMode="auto">
          <a:xfrm>
            <a:off x="6477000" y="1371600"/>
            <a:ext cx="533400" cy="4572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6" name="Text Box 64"/>
          <p:cNvSpPr txBox="1">
            <a:spLocks noChangeArrowheads="1"/>
          </p:cNvSpPr>
          <p:nvPr/>
        </p:nvSpPr>
        <p:spPr bwMode="auto">
          <a:xfrm>
            <a:off x="288925" y="4495800"/>
            <a:ext cx="2257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99"/>
                </a:solidFill>
                <a:latin typeface="隶书" charset="0"/>
                <a:ea typeface="隶书" charset="0"/>
              </a:rPr>
              <a:t>访问标志</a:t>
            </a:r>
            <a:r>
              <a:rPr kumimoji="1" lang="en-US" altLang="zh-CN" sz="3600" b="1">
                <a:solidFill>
                  <a:srgbClr val="000099"/>
                </a:solidFill>
                <a:latin typeface="隶书" charset="0"/>
                <a:ea typeface="隶书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7" name="Text Box 65"/>
          <p:cNvSpPr txBox="1">
            <a:spLocks noChangeArrowheads="1"/>
          </p:cNvSpPr>
          <p:nvPr/>
        </p:nvSpPr>
        <p:spPr bwMode="auto">
          <a:xfrm>
            <a:off x="304800" y="5530850"/>
            <a:ext cx="22574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隶书" charset="0"/>
                <a:ea typeface="隶书" charset="0"/>
              </a:rPr>
              <a:t>访问次序</a:t>
            </a:r>
            <a:r>
              <a:rPr kumimoji="1" lang="en-US" altLang="zh-CN" sz="3600" b="1">
                <a:solidFill>
                  <a:srgbClr val="800000"/>
                </a:solidFill>
                <a:latin typeface="隶书" charset="0"/>
                <a:ea typeface="隶书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8" name="Text Box 66"/>
          <p:cNvSpPr txBox="1">
            <a:spLocks noChangeArrowheads="1"/>
          </p:cNvSpPr>
          <p:nvPr/>
        </p:nvSpPr>
        <p:spPr bwMode="auto">
          <a:xfrm>
            <a:off x="1371600" y="228600"/>
            <a:ext cx="1254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</a:rPr>
              <a:t>例如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59" name="Text Box 67"/>
          <p:cNvSpPr txBox="1">
            <a:spLocks noChangeArrowheads="1"/>
          </p:cNvSpPr>
          <p:nvPr/>
        </p:nvSpPr>
        <p:spPr bwMode="auto">
          <a:xfrm>
            <a:off x="2765425" y="4114800"/>
            <a:ext cx="538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>
                <a:solidFill>
                  <a:srgbClr val="3333FF"/>
                </a:solidFill>
                <a:latin typeface="Times New Roman" charset="0"/>
              </a:rPr>
              <a:t>0      1      2      3      4      5      6      7      8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2260" name="Line 68"/>
          <p:cNvSpPr>
            <a:spLocks noChangeShapeType="1"/>
          </p:cNvSpPr>
          <p:nvPr/>
        </p:nvSpPr>
        <p:spPr bwMode="auto">
          <a:xfrm flipV="1">
            <a:off x="3200400" y="2590800"/>
            <a:ext cx="2438400" cy="762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2261" name="AutoShape 6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730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2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2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92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92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92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92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2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92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92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92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2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2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2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2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92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2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2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2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92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92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92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92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92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2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92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92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92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92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92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9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9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39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92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92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92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92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9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39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9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92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9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9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39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392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392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392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392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39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39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39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392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39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39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 nodeType="clickPar">
                      <p:stCondLst>
                        <p:cond delay="indefinite"/>
                      </p:stCondLst>
                      <p:childTnLst>
                        <p:par>
                          <p:cTn id="2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39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392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392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392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392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 nodeType="clickPar">
                      <p:stCondLst>
                        <p:cond delay="indefinite"/>
                      </p:stCondLst>
                      <p:childTnLst>
                        <p:par>
                          <p:cTn id="2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39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 nodeType="clickPar">
                      <p:stCondLst>
                        <p:cond delay="indefinite"/>
                      </p:stCondLst>
                      <p:childTnLst>
                        <p:par>
                          <p:cTn id="2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39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39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500" fill="hold"/>
                                        <p:tgtEl>
                                          <p:spTgt spid="392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392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500" fill="hold"/>
                                        <p:tgtEl>
                                          <p:spTgt spid="392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392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 nodeType="clickPar">
                      <p:stCondLst>
                        <p:cond delay="indefinite"/>
                      </p:stCondLst>
                      <p:childTnLst>
                        <p:par>
                          <p:cTn id="2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39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 nodeType="clickPar">
                      <p:stCondLst>
                        <p:cond delay="indefinite"/>
                      </p:stCondLst>
                      <p:childTnLst>
                        <p:par>
                          <p:cTn id="3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39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39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 nodeType="clickPar">
                      <p:stCondLst>
                        <p:cond delay="indefinite"/>
                      </p:stCondLst>
                      <p:childTnLst>
                        <p:par>
                          <p:cTn id="3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39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 nodeType="clickPar">
                      <p:stCondLst>
                        <p:cond delay="indefinite"/>
                      </p:stCondLst>
                      <p:childTnLst>
                        <p:par>
                          <p:cTn id="3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39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 nodeType="clickPar">
                      <p:stCondLst>
                        <p:cond delay="indefinite"/>
                      </p:stCondLst>
                      <p:childTnLst>
                        <p:par>
                          <p:cTn id="3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39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 nodeType="clickPar">
                      <p:stCondLst>
                        <p:cond delay="indefinite"/>
                      </p:stCondLst>
                      <p:childTnLst>
                        <p:par>
                          <p:cTn id="3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8" dur="500" fill="hold"/>
                                        <p:tgtEl>
                                          <p:spTgt spid="392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500" fill="hold"/>
                                        <p:tgtEl>
                                          <p:spTgt spid="392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392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392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 nodeType="clickPar">
                      <p:stCondLst>
                        <p:cond delay="indefinite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39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 nodeType="clickPar">
                      <p:stCondLst>
                        <p:cond delay="indefinite"/>
                      </p:stCondLst>
                      <p:childTnLst>
                        <p:par>
                          <p:cTn id="3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39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39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nimBg="1" autoUpdateAnimBg="0"/>
      <p:bldP spid="392195" grpId="0" animBg="1" autoUpdateAnimBg="0"/>
      <p:bldP spid="392196" grpId="0" animBg="1" autoUpdateAnimBg="0"/>
      <p:bldP spid="392197" grpId="0" animBg="1" autoUpdateAnimBg="0"/>
      <p:bldP spid="392198" grpId="0" animBg="1" autoUpdateAnimBg="0"/>
      <p:bldP spid="392199" grpId="0" animBg="1" autoUpdateAnimBg="0"/>
      <p:bldP spid="392200" grpId="0" animBg="1" autoUpdateAnimBg="0"/>
      <p:bldP spid="392201" grpId="0" animBg="1" autoUpdateAnimBg="0"/>
      <p:bldP spid="392202" grpId="0" animBg="1" autoUpdateAnimBg="0"/>
      <p:bldP spid="392203" grpId="0" animBg="1"/>
      <p:bldP spid="392204" grpId="0" animBg="1"/>
      <p:bldP spid="392205" grpId="0" animBg="1"/>
      <p:bldP spid="392206" grpId="0" animBg="1"/>
      <p:bldP spid="392207" grpId="0" animBg="1"/>
      <p:bldP spid="392208" grpId="0" animBg="1"/>
      <p:bldP spid="392209" grpId="0" animBg="1"/>
      <p:bldP spid="392210" grpId="0" animBg="1"/>
      <p:bldP spid="392211" grpId="0" animBg="1"/>
      <p:bldP spid="392212" grpId="0" animBg="1"/>
      <p:bldP spid="392213" grpId="0" animBg="1" autoUpdateAnimBg="0"/>
      <p:bldP spid="392214" grpId="0" animBg="1"/>
      <p:bldP spid="392215" grpId="0" animBg="1"/>
      <p:bldP spid="392216" grpId="0" animBg="1"/>
      <p:bldP spid="392217" grpId="0" animBg="1"/>
      <p:bldP spid="392218" grpId="0" animBg="1"/>
      <p:bldP spid="392219" grpId="0" animBg="1"/>
      <p:bldP spid="392220" grpId="0" animBg="1"/>
      <p:bldP spid="392221" grpId="0" animBg="1"/>
      <p:bldP spid="392222" grpId="0" animBg="1" autoUpdateAnimBg="0"/>
      <p:bldP spid="392223" grpId="0" animBg="1" autoUpdateAnimBg="0"/>
      <p:bldP spid="392224" grpId="0" animBg="1" autoUpdateAnimBg="0"/>
      <p:bldP spid="392225" grpId="0" animBg="1" autoUpdateAnimBg="0"/>
      <p:bldP spid="392226" grpId="0" animBg="1" autoUpdateAnimBg="0"/>
      <p:bldP spid="392227" grpId="0" animBg="1" autoUpdateAnimBg="0"/>
      <p:bldP spid="392228" grpId="0" animBg="1" autoUpdateAnimBg="0"/>
      <p:bldP spid="392229" grpId="0" animBg="1" autoUpdateAnimBg="0"/>
      <p:bldP spid="392230" grpId="0" animBg="1" autoUpdateAnimBg="0"/>
      <p:bldP spid="392231" grpId="0" animBg="1" autoUpdateAnimBg="0"/>
      <p:bldP spid="392232" grpId="0" animBg="1" autoUpdateAnimBg="0"/>
      <p:bldP spid="392233" grpId="0" animBg="1" autoUpdateAnimBg="0"/>
      <p:bldP spid="392234" grpId="0" animBg="1" autoUpdateAnimBg="0"/>
      <p:bldP spid="392235" grpId="0" animBg="1" autoUpdateAnimBg="0"/>
      <p:bldP spid="392236" grpId="0" animBg="1" autoUpdateAnimBg="0"/>
      <p:bldP spid="392237" grpId="0" animBg="1" autoUpdateAnimBg="0"/>
      <p:bldP spid="392238" grpId="0" animBg="1" autoUpdateAnimBg="0"/>
      <p:bldP spid="392239" grpId="0" animBg="1" autoUpdateAnimBg="0"/>
      <p:bldP spid="392240" grpId="0" animBg="1" autoUpdateAnimBg="0"/>
      <p:bldP spid="392241" grpId="0" animBg="1"/>
      <p:bldP spid="392242" grpId="0" animBg="1" autoUpdateAnimBg="0"/>
      <p:bldP spid="392243" grpId="0" animBg="1"/>
      <p:bldP spid="392244" grpId="0" animBg="1" autoUpdateAnimBg="0"/>
      <p:bldP spid="392245" grpId="0" animBg="1"/>
      <p:bldP spid="392246" grpId="0" animBg="1"/>
      <p:bldP spid="392247" grpId="0" animBg="1" autoUpdateAnimBg="0"/>
      <p:bldP spid="392248" grpId="0" animBg="1"/>
      <p:bldP spid="392249" grpId="0" animBg="1" autoUpdateAnimBg="0"/>
      <p:bldP spid="392250" grpId="0" animBg="1"/>
      <p:bldP spid="392251" grpId="0" animBg="1" autoUpdateAnimBg="0"/>
      <p:bldP spid="392252" grpId="0" animBg="1" autoUpdateAnimBg="0"/>
      <p:bldP spid="392253" grpId="0" animBg="1" autoUpdateAnimBg="0"/>
      <p:bldP spid="392254" grpId="0" animBg="1"/>
      <p:bldP spid="392255" grpId="0" animBg="1" autoUpdateAnimBg="0"/>
      <p:bldP spid="392256" grpId="0" autoUpdateAnimBg="0"/>
      <p:bldP spid="392257" grpId="0" autoUpdateAnimBg="0"/>
      <p:bldP spid="392258" grpId="0" autoUpdateAnimBg="0"/>
      <p:bldP spid="392259" grpId="0" autoUpdateAnimBg="0"/>
      <p:bldP spid="392260" grpId="0" animBg="1"/>
      <p:bldP spid="3922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7620000" cy="1143000"/>
          </a:xfrm>
        </p:spPr>
        <p:txBody>
          <a:bodyPr/>
          <a:lstStyle/>
          <a:p>
            <a:pPr eaLnBrk="1" hangingPunct="1"/>
            <a:r>
              <a:rPr lang="zh-CN" altLang="en-US" sz="2800" b="0">
                <a:solidFill>
                  <a:srgbClr val="0000FF"/>
                </a:solidFill>
                <a:ea typeface="楷体_GB2312" charset="0"/>
              </a:rPr>
              <a:t>邻接表为存储结构的图进行深度优先遍历</a:t>
            </a:r>
            <a:r>
              <a:rPr lang="zh-CN" altLang="en-US" sz="2800"/>
              <a:t>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9144000" cy="566102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 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void DFSAL(ALGraph *G, int i)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{/*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以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为出发点对邻接表存储的图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G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进行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DFS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搜索*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EdgeNode *p;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printf(G-&gt;AdjList [i]. VertexType );/*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访问顶点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Vi*/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visited[i]=TRUE;                     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标记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已访问*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p=G-&gt; AdjList [i]. firstarc;       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取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边表的头指针*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while(p)          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依次搜索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的邻接点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Vj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，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j=p-&gt; adjvex */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	   {if (!visited[p-&gt;adjvex])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    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若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Vj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尚未访问，则以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Vj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为出发点向纵深搜索*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	       DFSAL(G,p-&gt;adjvex);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	       p=p-&gt;nextarc;                  /*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找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Vi</a:t>
            </a:r>
            <a:r>
              <a:rPr lang="zh-CN" altLang="en-US" sz="2400" b="1">
                <a:solidFill>
                  <a:srgbClr val="800000"/>
                </a:solidFill>
                <a:latin typeface="Times New Roman" charset="0"/>
              </a:rPr>
              <a:t>的下一个邻接点*</a:t>
            </a: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/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    }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Times New Roman" charset="0"/>
              </a:rPr>
              <a:t>       }/*DFSAL*/</a:t>
            </a:r>
          </a:p>
        </p:txBody>
      </p:sp>
    </p:spTree>
    <p:extLst>
      <p:ext uri="{BB962C8B-B14F-4D97-AF65-F5344CB8AC3E}">
        <p14:creationId xmlns:p14="http://schemas.microsoft.com/office/powerpoint/2010/main" val="18244018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ChangeArrowheads="1"/>
          </p:cNvSpPr>
          <p:nvPr/>
        </p:nvSpPr>
        <p:spPr bwMode="auto">
          <a:xfrm>
            <a:off x="1524000" y="228600"/>
            <a:ext cx="63309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二、广度优先搜索遍历图</a:t>
            </a:r>
          </a:p>
        </p:txBody>
      </p:sp>
      <p:sp>
        <p:nvSpPr>
          <p:cNvPr id="394243" name="Oval 3"/>
          <p:cNvSpPr>
            <a:spLocks noChangeArrowheads="1"/>
          </p:cNvSpPr>
          <p:nvPr/>
        </p:nvSpPr>
        <p:spPr bwMode="auto">
          <a:xfrm>
            <a:off x="1447800" y="3276600"/>
            <a:ext cx="711200" cy="696913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V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4" name="Oval 4"/>
          <p:cNvSpPr>
            <a:spLocks noChangeArrowheads="1"/>
          </p:cNvSpPr>
          <p:nvPr/>
        </p:nvSpPr>
        <p:spPr bwMode="auto">
          <a:xfrm>
            <a:off x="381000" y="27432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5" name="Oval 5"/>
          <p:cNvSpPr>
            <a:spLocks noChangeArrowheads="1"/>
          </p:cNvSpPr>
          <p:nvPr/>
        </p:nvSpPr>
        <p:spPr bwMode="auto">
          <a:xfrm>
            <a:off x="1981200" y="43434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8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6" name="Oval 6"/>
          <p:cNvSpPr>
            <a:spLocks noChangeArrowheads="1"/>
          </p:cNvSpPr>
          <p:nvPr/>
        </p:nvSpPr>
        <p:spPr bwMode="auto">
          <a:xfrm>
            <a:off x="2819400" y="34290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rgbClr val="00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7" name="Oval 7"/>
          <p:cNvSpPr>
            <a:spLocks noChangeArrowheads="1"/>
          </p:cNvSpPr>
          <p:nvPr/>
        </p:nvSpPr>
        <p:spPr bwMode="auto">
          <a:xfrm>
            <a:off x="381000" y="40386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rgbClr val="00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8" name="Oval 8"/>
          <p:cNvSpPr>
            <a:spLocks noChangeArrowheads="1"/>
          </p:cNvSpPr>
          <p:nvPr/>
        </p:nvSpPr>
        <p:spPr bwMode="auto">
          <a:xfrm>
            <a:off x="1066800" y="5105400"/>
            <a:ext cx="533400" cy="609600"/>
          </a:xfrm>
          <a:prstGeom prst="ellipse">
            <a:avLst/>
          </a:prstGeom>
          <a:solidFill>
            <a:srgbClr val="99CCFF">
              <a:alpha val="50195"/>
            </a:srgbClr>
          </a:solidFill>
          <a:ln w="28575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000082"/>
                </a:solidFill>
                <a:latin typeface="Times New Roman" charset="0"/>
              </a:rPr>
              <a:t>6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49" name="Oval 9"/>
          <p:cNvSpPr>
            <a:spLocks noChangeArrowheads="1"/>
          </p:cNvSpPr>
          <p:nvPr/>
        </p:nvSpPr>
        <p:spPr bwMode="auto">
          <a:xfrm>
            <a:off x="2057400" y="2209800"/>
            <a:ext cx="533400" cy="6096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50" name="Oval 10"/>
          <p:cNvSpPr>
            <a:spLocks noChangeArrowheads="1"/>
          </p:cNvSpPr>
          <p:nvPr/>
        </p:nvSpPr>
        <p:spPr bwMode="auto">
          <a:xfrm>
            <a:off x="2514600" y="5562600"/>
            <a:ext cx="533400" cy="609600"/>
          </a:xfrm>
          <a:prstGeom prst="ellipse">
            <a:avLst/>
          </a:prstGeom>
          <a:solidFill>
            <a:srgbClr val="CCFFCC">
              <a:alpha val="50195"/>
            </a:srgbClr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51" name="Line 11"/>
          <p:cNvSpPr>
            <a:spLocks noChangeShapeType="1"/>
          </p:cNvSpPr>
          <p:nvPr/>
        </p:nvSpPr>
        <p:spPr bwMode="auto">
          <a:xfrm>
            <a:off x="914400" y="3048000"/>
            <a:ext cx="609600" cy="381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2" name="Line 12"/>
          <p:cNvSpPr>
            <a:spLocks noChangeShapeType="1"/>
          </p:cNvSpPr>
          <p:nvPr/>
        </p:nvSpPr>
        <p:spPr bwMode="auto">
          <a:xfrm>
            <a:off x="1905000" y="3962400"/>
            <a:ext cx="228600" cy="4572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3" name="Line 13"/>
          <p:cNvSpPr>
            <a:spLocks noChangeShapeType="1"/>
          </p:cNvSpPr>
          <p:nvPr/>
        </p:nvSpPr>
        <p:spPr bwMode="auto">
          <a:xfrm flipH="1">
            <a:off x="1905000" y="2743200"/>
            <a:ext cx="2286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4" name="Line 14"/>
          <p:cNvSpPr>
            <a:spLocks noChangeShapeType="1"/>
          </p:cNvSpPr>
          <p:nvPr/>
        </p:nvSpPr>
        <p:spPr bwMode="auto">
          <a:xfrm>
            <a:off x="609600" y="3352800"/>
            <a:ext cx="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5" name="Line 15"/>
          <p:cNvSpPr>
            <a:spLocks noChangeShapeType="1"/>
          </p:cNvSpPr>
          <p:nvPr/>
        </p:nvSpPr>
        <p:spPr bwMode="auto">
          <a:xfrm>
            <a:off x="762000" y="4648200"/>
            <a:ext cx="3810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6" name="Line 16"/>
          <p:cNvSpPr>
            <a:spLocks noChangeShapeType="1"/>
          </p:cNvSpPr>
          <p:nvPr/>
        </p:nvSpPr>
        <p:spPr bwMode="auto">
          <a:xfrm>
            <a:off x="1600200" y="5410200"/>
            <a:ext cx="914400" cy="3810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7" name="Line 17"/>
          <p:cNvSpPr>
            <a:spLocks noChangeShapeType="1"/>
          </p:cNvSpPr>
          <p:nvPr/>
        </p:nvSpPr>
        <p:spPr bwMode="auto">
          <a:xfrm>
            <a:off x="2286000" y="4953000"/>
            <a:ext cx="381000" cy="6096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8" name="Line 18"/>
          <p:cNvSpPr>
            <a:spLocks noChangeShapeType="1"/>
          </p:cNvSpPr>
          <p:nvPr/>
        </p:nvSpPr>
        <p:spPr bwMode="auto">
          <a:xfrm flipH="1">
            <a:off x="2438400" y="3962400"/>
            <a:ext cx="457200" cy="533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59" name="Line 19"/>
          <p:cNvSpPr>
            <a:spLocks noChangeShapeType="1"/>
          </p:cNvSpPr>
          <p:nvPr/>
        </p:nvSpPr>
        <p:spPr bwMode="auto">
          <a:xfrm>
            <a:off x="2590800" y="2514600"/>
            <a:ext cx="457200" cy="9144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60" name="Line 20"/>
          <p:cNvSpPr>
            <a:spLocks noChangeShapeType="1"/>
          </p:cNvSpPr>
          <p:nvPr/>
        </p:nvSpPr>
        <p:spPr bwMode="auto">
          <a:xfrm flipV="1">
            <a:off x="685800" y="2514600"/>
            <a:ext cx="1371600" cy="2286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61" name="Oval 21"/>
          <p:cNvSpPr>
            <a:spLocks noChangeArrowheads="1"/>
          </p:cNvSpPr>
          <p:nvPr/>
        </p:nvSpPr>
        <p:spPr bwMode="auto">
          <a:xfrm>
            <a:off x="3429000" y="4648200"/>
            <a:ext cx="533400" cy="609600"/>
          </a:xfrm>
          <a:prstGeom prst="ellipse">
            <a:avLst/>
          </a:prstGeom>
          <a:solidFill>
            <a:srgbClr val="99CCFF">
              <a:alpha val="50195"/>
            </a:srgbClr>
          </a:solidFill>
          <a:ln w="28575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000082"/>
                </a:solidFill>
                <a:latin typeface="Times New Roman" charset="0"/>
              </a:rPr>
              <a:t>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62" name="Line 22"/>
          <p:cNvSpPr>
            <a:spLocks noChangeShapeType="1"/>
          </p:cNvSpPr>
          <p:nvPr/>
        </p:nvSpPr>
        <p:spPr bwMode="auto">
          <a:xfrm>
            <a:off x="3276600" y="3962400"/>
            <a:ext cx="38100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63" name="Line 23"/>
          <p:cNvSpPr>
            <a:spLocks noChangeShapeType="1"/>
          </p:cNvSpPr>
          <p:nvPr/>
        </p:nvSpPr>
        <p:spPr bwMode="auto">
          <a:xfrm flipH="1">
            <a:off x="3048000" y="5181600"/>
            <a:ext cx="533400" cy="685800"/>
          </a:xfrm>
          <a:prstGeom prst="line">
            <a:avLst/>
          </a:prstGeom>
          <a:noFill/>
          <a:ln w="190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64" name="Text Box 24"/>
          <p:cNvSpPr txBox="1">
            <a:spLocks noChangeArrowheads="1"/>
          </p:cNvSpPr>
          <p:nvPr/>
        </p:nvSpPr>
        <p:spPr bwMode="auto">
          <a:xfrm>
            <a:off x="3124200" y="1447800"/>
            <a:ext cx="60960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对连通图，从起始点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到其余各顶点必定存在路径。  </a:t>
            </a:r>
            <a:endParaRPr kumimoji="1" lang="zh-CN" altLang="en-US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394265" name="Rectangle 25"/>
          <p:cNvSpPr>
            <a:spLocks noChangeArrowheads="1"/>
          </p:cNvSpPr>
          <p:nvPr/>
        </p:nvSpPr>
        <p:spPr bwMode="auto">
          <a:xfrm>
            <a:off x="3657600" y="2819400"/>
            <a:ext cx="5316538" cy="1335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其中，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V-&gt;w</a:t>
            </a:r>
            <a:r>
              <a:rPr kumimoji="1" lang="en-US" altLang="zh-CN" sz="3200" baseline="-25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, V-&gt;w</a:t>
            </a:r>
            <a:r>
              <a:rPr kumimoji="1" lang="en-US" altLang="zh-CN" sz="3200" baseline="-25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, V-&gt;w</a:t>
            </a:r>
            <a:r>
              <a:rPr kumimoji="1" lang="en-US" altLang="zh-CN" sz="3200" baseline="-25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8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           </a:t>
            </a:r>
            <a:r>
              <a:rPr kumimoji="1" lang="zh-CN" altLang="en-US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的路径长度为</a:t>
            </a:r>
            <a:r>
              <a:rPr kumimoji="1" lang="en-US" altLang="zh-CN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200">
                <a:solidFill>
                  <a:srgbClr val="800000"/>
                </a:solidFill>
                <a:latin typeface="Times New Roman" charset="0"/>
                <a:ea typeface="楷体_GB2312" charset="0"/>
              </a:rPr>
              <a:t>；</a:t>
            </a:r>
            <a:endParaRPr kumimoji="1" lang="zh-CN" altLang="en-US" sz="3200">
              <a:solidFill>
                <a:srgbClr val="800000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394266" name="Rectangle 26"/>
          <p:cNvSpPr>
            <a:spLocks noChangeArrowheads="1"/>
          </p:cNvSpPr>
          <p:nvPr/>
        </p:nvSpPr>
        <p:spPr bwMode="auto">
          <a:xfrm>
            <a:off x="5029200" y="4038600"/>
            <a:ext cx="3843338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V-&gt;w</a:t>
            </a:r>
            <a:r>
              <a:rPr kumimoji="1" lang="en-US" altLang="zh-CN" sz="32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7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, V-&gt;w</a:t>
            </a:r>
            <a:r>
              <a:rPr kumimoji="1" lang="en-US" altLang="zh-CN" sz="32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3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, V-&gt;w</a:t>
            </a:r>
            <a:r>
              <a:rPr kumimoji="1" lang="en-US" altLang="zh-CN" sz="32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5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200">
                <a:solidFill>
                  <a:schemeClr val="tx2"/>
                </a:solidFill>
                <a:latin typeface="楷体_GB2312" charset="0"/>
                <a:ea typeface="楷体_GB2312" charset="0"/>
              </a:rPr>
              <a:t>路径长度为</a:t>
            </a:r>
            <a:r>
              <a:rPr kumimoji="1" lang="en-US" altLang="zh-CN" sz="3200">
                <a:solidFill>
                  <a:schemeClr val="tx2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3200">
                <a:solidFill>
                  <a:schemeClr val="tx2"/>
                </a:solidFill>
                <a:latin typeface="楷体_GB2312" charset="0"/>
                <a:ea typeface="楷体_GB2312" charset="0"/>
              </a:rPr>
              <a:t>；</a:t>
            </a:r>
            <a:endParaRPr kumimoji="1" lang="zh-CN" altLang="en-US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394267" name="Rectangle 27"/>
          <p:cNvSpPr>
            <a:spLocks noChangeArrowheads="1"/>
          </p:cNvSpPr>
          <p:nvPr/>
        </p:nvSpPr>
        <p:spPr bwMode="auto">
          <a:xfrm>
            <a:off x="5029200" y="5257800"/>
            <a:ext cx="363855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V-&gt;w</a:t>
            </a:r>
            <a:r>
              <a:rPr kumimoji="1" lang="en-US" altLang="zh-CN" sz="3200" baseline="-25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6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, V-&gt;w</a:t>
            </a:r>
            <a:r>
              <a:rPr kumimoji="1" lang="en-US" altLang="zh-CN" sz="3200" baseline="-25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4</a:t>
            </a:r>
            <a:r>
              <a:rPr kumimoji="1" lang="en-US" altLang="zh-CN" sz="3200">
                <a:solidFill>
                  <a:srgbClr val="000082"/>
                </a:solidFill>
                <a:latin typeface="楷体_GB2312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200">
                <a:solidFill>
                  <a:srgbClr val="000082"/>
                </a:solidFill>
                <a:latin typeface="楷体_GB2312" charset="0"/>
                <a:ea typeface="楷体_GB2312" charset="0"/>
              </a:rPr>
              <a:t>的路径长度为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3</a:t>
            </a:r>
            <a:r>
              <a:rPr kumimoji="1" lang="zh-CN" altLang="en-US" sz="3200">
                <a:solidFill>
                  <a:srgbClr val="000082"/>
                </a:solidFill>
                <a:latin typeface="楷体_GB2312" charset="0"/>
                <a:ea typeface="楷体_GB2312" charset="0"/>
              </a:rPr>
              <a:t>。</a:t>
            </a:r>
            <a:endParaRPr kumimoji="1" lang="zh-CN" altLang="en-US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</p:txBody>
      </p:sp>
      <p:sp>
        <p:nvSpPr>
          <p:cNvPr id="394268" name="Line 28"/>
          <p:cNvSpPr>
            <a:spLocks noChangeShapeType="1"/>
          </p:cNvSpPr>
          <p:nvPr/>
        </p:nvSpPr>
        <p:spPr bwMode="auto">
          <a:xfrm>
            <a:off x="914400" y="3048000"/>
            <a:ext cx="609600" cy="3810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69" name="Oval 29"/>
          <p:cNvSpPr>
            <a:spLocks noChangeArrowheads="1"/>
          </p:cNvSpPr>
          <p:nvPr/>
        </p:nvSpPr>
        <p:spPr bwMode="auto">
          <a:xfrm>
            <a:off x="381000" y="27432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70" name="Line 30"/>
          <p:cNvSpPr>
            <a:spLocks noChangeShapeType="1"/>
          </p:cNvSpPr>
          <p:nvPr/>
        </p:nvSpPr>
        <p:spPr bwMode="auto">
          <a:xfrm flipH="1">
            <a:off x="1905000" y="2743200"/>
            <a:ext cx="228600" cy="533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1" name="Line 31"/>
          <p:cNvSpPr>
            <a:spLocks noChangeShapeType="1"/>
          </p:cNvSpPr>
          <p:nvPr/>
        </p:nvSpPr>
        <p:spPr bwMode="auto">
          <a:xfrm>
            <a:off x="1905000" y="3962400"/>
            <a:ext cx="228600" cy="4572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2" name="Line 32"/>
          <p:cNvSpPr>
            <a:spLocks noChangeShapeType="1"/>
          </p:cNvSpPr>
          <p:nvPr/>
        </p:nvSpPr>
        <p:spPr bwMode="auto">
          <a:xfrm>
            <a:off x="609600" y="3352800"/>
            <a:ext cx="0" cy="6858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3" name="Line 33"/>
          <p:cNvSpPr>
            <a:spLocks noChangeShapeType="1"/>
          </p:cNvSpPr>
          <p:nvPr/>
        </p:nvSpPr>
        <p:spPr bwMode="auto">
          <a:xfrm>
            <a:off x="2590800" y="2514600"/>
            <a:ext cx="457200" cy="914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4" name="Line 34"/>
          <p:cNvSpPr>
            <a:spLocks noChangeShapeType="1"/>
          </p:cNvSpPr>
          <p:nvPr/>
        </p:nvSpPr>
        <p:spPr bwMode="auto">
          <a:xfrm>
            <a:off x="2286000" y="4953000"/>
            <a:ext cx="381000" cy="6096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5" name="Line 35"/>
          <p:cNvSpPr>
            <a:spLocks noChangeShapeType="1"/>
          </p:cNvSpPr>
          <p:nvPr/>
        </p:nvSpPr>
        <p:spPr bwMode="auto">
          <a:xfrm>
            <a:off x="762000" y="4648200"/>
            <a:ext cx="381000" cy="5334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6" name="Line 36"/>
          <p:cNvSpPr>
            <a:spLocks noChangeShapeType="1"/>
          </p:cNvSpPr>
          <p:nvPr/>
        </p:nvSpPr>
        <p:spPr bwMode="auto">
          <a:xfrm>
            <a:off x="3276600" y="3962400"/>
            <a:ext cx="381000" cy="6858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277" name="Oval 37"/>
          <p:cNvSpPr>
            <a:spLocks noChangeArrowheads="1"/>
          </p:cNvSpPr>
          <p:nvPr/>
        </p:nvSpPr>
        <p:spPr bwMode="auto">
          <a:xfrm>
            <a:off x="1447800" y="3276600"/>
            <a:ext cx="711200" cy="696913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V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78" name="Oval 38"/>
          <p:cNvSpPr>
            <a:spLocks noChangeArrowheads="1"/>
          </p:cNvSpPr>
          <p:nvPr/>
        </p:nvSpPr>
        <p:spPr bwMode="auto">
          <a:xfrm>
            <a:off x="2057400" y="22098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79" name="Oval 39"/>
          <p:cNvSpPr>
            <a:spLocks noChangeArrowheads="1"/>
          </p:cNvSpPr>
          <p:nvPr/>
        </p:nvSpPr>
        <p:spPr bwMode="auto">
          <a:xfrm>
            <a:off x="381000" y="40386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80" name="Oval 40"/>
          <p:cNvSpPr>
            <a:spLocks noChangeArrowheads="1"/>
          </p:cNvSpPr>
          <p:nvPr/>
        </p:nvSpPr>
        <p:spPr bwMode="auto">
          <a:xfrm>
            <a:off x="1066800" y="51054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000082"/>
                </a:solidFill>
                <a:latin typeface="Times New Roman" charset="0"/>
              </a:rPr>
              <a:t>6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81" name="Oval 41"/>
          <p:cNvSpPr>
            <a:spLocks noChangeArrowheads="1"/>
          </p:cNvSpPr>
          <p:nvPr/>
        </p:nvSpPr>
        <p:spPr bwMode="auto">
          <a:xfrm>
            <a:off x="2819400" y="34290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82" name="Oval 42"/>
          <p:cNvSpPr>
            <a:spLocks noChangeArrowheads="1"/>
          </p:cNvSpPr>
          <p:nvPr/>
        </p:nvSpPr>
        <p:spPr bwMode="auto">
          <a:xfrm>
            <a:off x="1981200" y="43434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800000"/>
                </a:solidFill>
                <a:latin typeface="Times New Roman" charset="0"/>
              </a:rPr>
              <a:t>8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83" name="Oval 43"/>
          <p:cNvSpPr>
            <a:spLocks noChangeArrowheads="1"/>
          </p:cNvSpPr>
          <p:nvPr/>
        </p:nvSpPr>
        <p:spPr bwMode="auto">
          <a:xfrm>
            <a:off x="2514600" y="55626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394284" name="Oval 44"/>
          <p:cNvSpPr>
            <a:spLocks noChangeArrowheads="1"/>
          </p:cNvSpPr>
          <p:nvPr/>
        </p:nvSpPr>
        <p:spPr bwMode="auto">
          <a:xfrm>
            <a:off x="3429000" y="4648200"/>
            <a:ext cx="533400" cy="609600"/>
          </a:xfrm>
          <a:prstGeom prst="ellipse">
            <a:avLst/>
          </a:prstGeom>
          <a:solidFill>
            <a:srgbClr val="FFCC99">
              <a:alpha val="50195"/>
            </a:srgbClr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</a:rPr>
              <a:t>w</a:t>
            </a:r>
            <a:r>
              <a:rPr kumimoji="1" lang="en-US" altLang="zh-CN" sz="3200" b="1" baseline="-25000">
                <a:solidFill>
                  <a:srgbClr val="000082"/>
                </a:solidFill>
                <a:latin typeface="Times New Roman" charset="0"/>
              </a:rPr>
              <a:t>4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234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94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4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9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9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9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9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94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9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9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9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9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9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9" dur="500"/>
                                        <p:tgtEl>
                                          <p:spTgt spid="39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1" dur="500"/>
                                        <p:tgtEl>
                                          <p:spTgt spid="39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94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3" dur="500"/>
                                        <p:tgtEl>
                                          <p:spTgt spid="39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94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5" dur="500"/>
                                        <p:tgtEl>
                                          <p:spTgt spid="39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394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7" dur="500"/>
                                        <p:tgtEl>
                                          <p:spTgt spid="39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94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9" dur="500"/>
                                        <p:tgtEl>
                                          <p:spTgt spid="39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94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1" dur="500"/>
                                        <p:tgtEl>
                                          <p:spTgt spid="39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39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3" dur="500"/>
                                        <p:tgtEl>
                                          <p:spTgt spid="39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9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9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39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39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5" dur="500"/>
                                        <p:tgtEl>
                                          <p:spTgt spid="3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2" grpId="0" autoUpdateAnimBg="0"/>
      <p:bldP spid="394243" grpId="0" animBg="1" autoUpdateAnimBg="0"/>
      <p:bldP spid="394244" grpId="0" animBg="1" autoUpdateAnimBg="0"/>
      <p:bldP spid="394245" grpId="0" animBg="1" autoUpdateAnimBg="0"/>
      <p:bldP spid="394246" grpId="0" animBg="1" autoUpdateAnimBg="0"/>
      <p:bldP spid="394247" grpId="0" animBg="1" autoUpdateAnimBg="0"/>
      <p:bldP spid="394248" grpId="0" animBg="1" autoUpdateAnimBg="0"/>
      <p:bldP spid="394249" grpId="0" animBg="1" autoUpdateAnimBg="0"/>
      <p:bldP spid="394250" grpId="0" animBg="1" autoUpdateAnimBg="0"/>
      <p:bldP spid="394251" grpId="0" animBg="1"/>
      <p:bldP spid="394252" grpId="0" animBg="1"/>
      <p:bldP spid="394253" grpId="0" animBg="1"/>
      <p:bldP spid="394254" grpId="0" animBg="1"/>
      <p:bldP spid="394255" grpId="0" animBg="1"/>
      <p:bldP spid="394256" grpId="0" animBg="1"/>
      <p:bldP spid="394257" grpId="0" animBg="1"/>
      <p:bldP spid="394258" grpId="0" animBg="1"/>
      <p:bldP spid="394259" grpId="0" animBg="1"/>
      <p:bldP spid="394260" grpId="0" animBg="1"/>
      <p:bldP spid="394261" grpId="0" animBg="1" autoUpdateAnimBg="0"/>
      <p:bldP spid="394262" grpId="0" animBg="1"/>
      <p:bldP spid="394263" grpId="0" animBg="1"/>
      <p:bldP spid="394264" grpId="0" autoUpdateAnimBg="0"/>
      <p:bldP spid="394265" grpId="0" autoUpdateAnimBg="0"/>
      <p:bldP spid="394266" grpId="0" autoUpdateAnimBg="0"/>
      <p:bldP spid="394267" grpId="0" autoUpdateAnimBg="0"/>
      <p:bldP spid="394268" grpId="0" animBg="1"/>
      <p:bldP spid="394269" grpId="0" animBg="1" autoUpdateAnimBg="0"/>
      <p:bldP spid="394270" grpId="0" animBg="1"/>
      <p:bldP spid="394271" grpId="0" animBg="1"/>
      <p:bldP spid="394272" grpId="0" animBg="1"/>
      <p:bldP spid="394273" grpId="0" animBg="1"/>
      <p:bldP spid="394274" grpId="0" animBg="1"/>
      <p:bldP spid="394275" grpId="0" animBg="1"/>
      <p:bldP spid="394276" grpId="0" animBg="1"/>
      <p:bldP spid="394277" grpId="0" animBg="1" autoUpdateAnimBg="0"/>
      <p:bldP spid="394278" grpId="0" animBg="1" autoUpdateAnimBg="0"/>
      <p:bldP spid="394279" grpId="0" animBg="1" autoUpdateAnimBg="0"/>
      <p:bldP spid="394280" grpId="0" animBg="1" autoUpdateAnimBg="0"/>
      <p:bldP spid="394281" grpId="0" animBg="1" autoUpdateAnimBg="0"/>
      <p:bldP spid="394282" grpId="0" animBg="1" autoUpdateAnimBg="0"/>
      <p:bldP spid="394283" grpId="0" animBg="1" autoUpdateAnimBg="0"/>
      <p:bldP spid="394284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Text Box 2"/>
          <p:cNvSpPr txBox="1">
            <a:spLocks noChangeArrowheads="1"/>
          </p:cNvSpPr>
          <p:nvPr/>
        </p:nvSpPr>
        <p:spPr bwMode="auto">
          <a:xfrm>
            <a:off x="381000" y="276225"/>
            <a:ext cx="8534400" cy="3529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从图中的某个顶点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出发，并在访问此顶点之后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依次访问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的所有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未被访问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过的邻接点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，之后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按这些顶点被访问的先后次序依次访问它们的邻接点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，直至图中所有和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有路径相通的顶点都被访问到。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457200" y="3886200"/>
            <a:ext cx="85344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若此时图中尚有顶点未被访问，则另选图中一个未曾被访问的顶点作起始点，重复上述过程，直至图中所有顶点都被访问到为止。</a:t>
            </a:r>
          </a:p>
        </p:txBody>
      </p:sp>
    </p:spTree>
    <p:extLst>
      <p:ext uri="{BB962C8B-B14F-4D97-AF65-F5344CB8AC3E}">
        <p14:creationId xmlns:p14="http://schemas.microsoft.com/office/powerpoint/2010/main" val="12399704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9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9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 autoUpdateAnimBg="0"/>
      <p:bldP spid="395267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76200" y="1171575"/>
            <a:ext cx="9067800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333399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3200" b="1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void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BFSTraverse(Graph G,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           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Status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*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Visit)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(int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v))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(v=0; v&lt;G.vexnum;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visited[v] =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FALSE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;  //</a:t>
            </a:r>
            <a:r>
              <a:rPr kumimoji="1" lang="zh-CN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初始化访问标志</a:t>
            </a:r>
            <a:endParaRPr kumimoji="1" lang="zh-CN" altLang="en-US" sz="32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InitQueue(Q);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//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置空的辅助队列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Q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 v=0;  v&lt;G.vexnum;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 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!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visited[v]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{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// v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尚未访问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}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// BFSTraverse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</p:txBody>
      </p:sp>
      <p:sp>
        <p:nvSpPr>
          <p:cNvPr id="396291" name="Text Box 3"/>
          <p:cNvSpPr txBox="1">
            <a:spLocks noChangeArrowheads="1"/>
          </p:cNvSpPr>
          <p:nvPr/>
        </p:nvSpPr>
        <p:spPr bwMode="auto">
          <a:xfrm>
            <a:off x="1219200" y="4876800"/>
            <a:ext cx="2743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</a:rPr>
              <a:t>… … </a:t>
            </a:r>
            <a:endParaRPr kumimoji="1" lang="en-US" altLang="zh-CN" sz="2400" b="1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396292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0492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6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6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0" grpId="0" autoUpdateAnimBg="0"/>
      <p:bldP spid="396291" grpId="0" autoUpdateAnimBg="0"/>
      <p:bldP spid="39629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381000" y="1154113"/>
            <a:ext cx="8520113" cy="5627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visited[v] = </a:t>
            </a:r>
            <a:r>
              <a:rPr kumimoji="1" lang="en-US" altLang="zh-CN" sz="30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TRUE</a:t>
            </a: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;  Visit(v);    // </a:t>
            </a:r>
            <a:r>
              <a:rPr kumimoji="1" lang="zh-CN" altLang="en-US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访问</a:t>
            </a: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v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EnQueue(Q, v);</a:t>
            </a:r>
            <a:r>
              <a:rPr kumimoji="1" lang="en-US" altLang="zh-CN" sz="3000">
                <a:latin typeface="Times New Roman" charset="0"/>
                <a:ea typeface="楷体_GB2312" charset="0"/>
              </a:rPr>
              <a:t>            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v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入队列</a:t>
            </a:r>
            <a:endParaRPr kumimoji="1" lang="zh-CN" altLang="en-US" sz="3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</a:t>
            </a: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!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QueueEmpty(Q))  </a:t>
            </a: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DeQueue(Q, u);        // </a:t>
            </a:r>
            <a:r>
              <a:rPr kumimoji="1" lang="zh-CN" altLang="en-US" sz="3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队头元素出队并置为</a:t>
            </a:r>
            <a:r>
              <a:rPr kumimoji="1" lang="en-US" altLang="zh-CN" sz="3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u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for(w=FirstAdjVex(G, u); w!=0; 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                  w=NextAdjVex(G,u,w))</a:t>
            </a:r>
            <a:endParaRPr kumimoji="1" lang="en-US" altLang="zh-CN" sz="3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 </a:t>
            </a: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!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visited[w])</a:t>
            </a:r>
            <a:r>
              <a:rPr kumimoji="1" lang="en-US" altLang="zh-CN" sz="30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latin typeface="Times New Roman" charset="0"/>
                <a:ea typeface="楷体_GB2312" charset="0"/>
              </a:rPr>
              <a:t>         </a:t>
            </a: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visited[w]=</a:t>
            </a:r>
            <a:r>
              <a:rPr kumimoji="1" lang="en-US" altLang="zh-CN" sz="30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TRUE</a:t>
            </a: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;  Visit(w);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         EnQueue(Q, w);</a:t>
            </a:r>
            <a:r>
              <a:rPr kumimoji="1" lang="en-US" altLang="zh-CN" sz="3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访问的顶点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入队列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} // if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 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while</a:t>
            </a:r>
            <a:endParaRPr kumimoji="1" lang="en-US" altLang="zh-CN" sz="3000">
              <a:latin typeface="Times New Roman" charset="0"/>
            </a:endParaRPr>
          </a:p>
        </p:txBody>
      </p:sp>
      <p:sp>
        <p:nvSpPr>
          <p:cNvPr id="397315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534400" y="6400800"/>
            <a:ext cx="304800" cy="304800"/>
          </a:xfrm>
          <a:prstGeom prst="actionButtonReturn">
            <a:avLst/>
          </a:prstGeom>
          <a:solidFill>
            <a:srgbClr val="BEC1FE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418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4" grpId="0" autoUpdateAnimBg="0"/>
      <p:bldP spid="3973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0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sz="3600" b="0">
                <a:solidFill>
                  <a:srgbClr val="0000FF"/>
                </a:solidFill>
                <a:ea typeface="楷体_GB2312" charset="0"/>
              </a:rPr>
              <a:t>邻接矩阵为存储结构的图广度优先遍历</a:t>
            </a:r>
            <a:r>
              <a:rPr lang="zh-CN" altLang="en-US" sz="3600"/>
              <a:t> 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9144000" cy="5280025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</a:rPr>
              <a:t> </a:t>
            </a: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for (j=0;j&lt;G-&gt;</a:t>
            </a:r>
            <a:r>
              <a:rPr lang="en-US" altLang="zh-CN" b="1">
                <a:solidFill>
                  <a:srgbClr val="800000"/>
                </a:solidFill>
                <a:latin typeface="Times New Roman" charset="0"/>
              </a:rPr>
              <a:t>vexnum</a:t>
            </a: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;j++)   </a:t>
            </a:r>
            <a:endParaRPr lang="en-US" altLang="zh-CN" b="1">
              <a:solidFill>
                <a:srgbClr val="800000"/>
              </a:solidFill>
              <a:latin typeface="Times New Roman" charset="0"/>
            </a:endParaRPr>
          </a:p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   /*依次搜索Vi的邻接点Vj*/</a:t>
            </a:r>
          </a:p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	      if (G-&gt;edges[u][j]==1 &amp;&amp; !visited[j])</a:t>
            </a:r>
            <a:endParaRPr lang="en-US" altLang="zh-CN" b="1">
              <a:solidFill>
                <a:srgbClr val="800000"/>
              </a:solidFill>
              <a:latin typeface="Times New Roman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b="1">
                <a:solidFill>
                  <a:srgbClr val="800000"/>
                </a:solidFill>
                <a:latin typeface="Times New Roman" charset="0"/>
              </a:rPr>
              <a:t>         </a:t>
            </a: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 /*若Vj未访问*/</a:t>
            </a:r>
          </a:p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	       {visited[j]=TRUE;</a:t>
            </a:r>
            <a:endParaRPr lang="en-US" altLang="zh-CN" b="1">
              <a:solidFill>
                <a:srgbClr val="800000"/>
              </a:solidFill>
              <a:latin typeface="Times New Roman" charset="0"/>
            </a:endParaRPr>
          </a:p>
          <a:p>
            <a:pPr algn="just" eaLnBrk="1" hangingPunct="1">
              <a:buFontTx/>
              <a:buNone/>
            </a:pPr>
            <a:r>
              <a:rPr lang="en-US" altLang="zh-CN" b="1">
                <a:solidFill>
                  <a:srgbClr val="800000"/>
                </a:solidFill>
                <a:latin typeface="Times New Roman" charset="0"/>
              </a:rPr>
              <a:t>            </a:t>
            </a: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printf(G-&gt;vexs[j]);  /*访问Vj */</a:t>
            </a:r>
          </a:p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            EnQueue(Q,j);  /*访问过的Vj入队列*/</a:t>
            </a:r>
          </a:p>
          <a:p>
            <a:pPr algn="just" eaLnBrk="1" hangingPunct="1">
              <a:buFontTx/>
              <a:buNone/>
            </a:pPr>
            <a:r>
              <a:rPr lang="zh-CN" altLang="zh-CN" b="1">
                <a:solidFill>
                  <a:srgbClr val="800000"/>
                </a:solidFill>
                <a:latin typeface="Times New Roman" charset="0"/>
              </a:rPr>
              <a:t>           }</a:t>
            </a:r>
          </a:p>
        </p:txBody>
      </p:sp>
    </p:spTree>
    <p:extLst>
      <p:ext uri="{BB962C8B-B14F-4D97-AF65-F5344CB8AC3E}">
        <p14:creationId xmlns:p14="http://schemas.microsoft.com/office/powerpoint/2010/main" val="16319051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Text Box 2"/>
          <p:cNvSpPr txBox="1">
            <a:spLocks noChangeArrowheads="1"/>
          </p:cNvSpPr>
          <p:nvPr/>
        </p:nvSpPr>
        <p:spPr bwMode="auto">
          <a:xfrm>
            <a:off x="1981200" y="152400"/>
            <a:ext cx="528955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5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三、遍历应用举例</a:t>
            </a:r>
          </a:p>
        </p:txBody>
      </p:sp>
      <p:sp>
        <p:nvSpPr>
          <p:cNvPr id="399363" name="Text Box 3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1111250" y="2025650"/>
            <a:ext cx="68897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1. 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求一条</a:t>
            </a: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从顶点 </a:t>
            </a: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 </a:t>
            </a: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到顶点 </a:t>
            </a: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s 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简单路径</a:t>
            </a:r>
            <a:endParaRPr kumimoji="1" lang="zh-CN" altLang="en-US" sz="4000" b="1">
              <a:latin typeface="Times New Roman" charset="0"/>
              <a:ea typeface="楷体_GB2312" charset="0"/>
            </a:endParaRPr>
          </a:p>
        </p:txBody>
      </p:sp>
      <p:sp>
        <p:nvSpPr>
          <p:cNvPr id="399364" name="Text Box 4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127125" y="3930650"/>
            <a:ext cx="69500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2.</a:t>
            </a:r>
            <a:r>
              <a:rPr kumimoji="1" lang="en-US" altLang="zh-CN" sz="40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求两个顶点之间的一条</a:t>
            </a: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路径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长度最短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的路径</a:t>
            </a:r>
            <a:endParaRPr kumimoji="1" lang="zh-CN" altLang="en-US" sz="4000" b="1">
              <a:latin typeface="Times New Roman" charset="0"/>
              <a:ea typeface="楷体_GB2312" charset="0"/>
            </a:endParaRPr>
          </a:p>
        </p:txBody>
      </p:sp>
      <p:sp>
        <p:nvSpPr>
          <p:cNvPr id="399365" name="AutoShape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3670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autoUpdateAnimBg="0"/>
      <p:bldP spid="399363" grpId="0" autoUpdateAnimBg="0"/>
      <p:bldP spid="399364" grpId="0" autoUpdateAnimBg="0"/>
      <p:bldP spid="39936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Text Box 2"/>
          <p:cNvSpPr txBox="1">
            <a:spLocks noChangeArrowheads="1"/>
          </p:cNvSpPr>
          <p:nvPr/>
        </p:nvSpPr>
        <p:spPr bwMode="auto">
          <a:xfrm>
            <a:off x="1181100" y="152400"/>
            <a:ext cx="7940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66"/>
                </a:solidFill>
                <a:latin typeface="Times New Roman" charset="0"/>
                <a:ea typeface="楷体_GB2312" charset="0"/>
              </a:rPr>
              <a:t>1.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求一条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从顶点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 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到顶点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s  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的简单路径</a:t>
            </a:r>
            <a:endParaRPr kumimoji="1" lang="zh-CN" altLang="en-US" sz="4000" b="1">
              <a:latin typeface="Times New Roman" charset="0"/>
              <a:ea typeface="楷体_GB2312" charset="0"/>
            </a:endParaRPr>
          </a:p>
        </p:txBody>
      </p:sp>
      <p:sp>
        <p:nvSpPr>
          <p:cNvPr id="400387" name="Oval 3"/>
          <p:cNvSpPr>
            <a:spLocks noChangeArrowheads="1"/>
          </p:cNvSpPr>
          <p:nvPr/>
        </p:nvSpPr>
        <p:spPr bwMode="auto">
          <a:xfrm>
            <a:off x="6705600" y="2057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88" name="Oval 4"/>
          <p:cNvSpPr>
            <a:spLocks noChangeArrowheads="1"/>
          </p:cNvSpPr>
          <p:nvPr/>
        </p:nvSpPr>
        <p:spPr bwMode="auto">
          <a:xfrm>
            <a:off x="5562600" y="1295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89" name="Oval 5"/>
          <p:cNvSpPr>
            <a:spLocks noChangeArrowheads="1"/>
          </p:cNvSpPr>
          <p:nvPr/>
        </p:nvSpPr>
        <p:spPr bwMode="auto">
          <a:xfrm>
            <a:off x="4800600" y="3200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0" name="Oval 6"/>
          <p:cNvSpPr>
            <a:spLocks noChangeArrowheads="1"/>
          </p:cNvSpPr>
          <p:nvPr/>
        </p:nvSpPr>
        <p:spPr bwMode="auto">
          <a:xfrm>
            <a:off x="5638800" y="42672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1" name="Oval 7"/>
          <p:cNvSpPr>
            <a:spLocks noChangeArrowheads="1"/>
          </p:cNvSpPr>
          <p:nvPr/>
        </p:nvSpPr>
        <p:spPr bwMode="auto">
          <a:xfrm>
            <a:off x="6096000" y="3200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2" name="Oval 8"/>
          <p:cNvSpPr>
            <a:spLocks noChangeArrowheads="1"/>
          </p:cNvSpPr>
          <p:nvPr/>
        </p:nvSpPr>
        <p:spPr bwMode="auto">
          <a:xfrm>
            <a:off x="7239000" y="3200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3" name="Oval 9"/>
          <p:cNvSpPr>
            <a:spLocks noChangeArrowheads="1"/>
          </p:cNvSpPr>
          <p:nvPr/>
        </p:nvSpPr>
        <p:spPr bwMode="auto">
          <a:xfrm>
            <a:off x="7620000" y="42672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4" name="Oval 10"/>
          <p:cNvSpPr>
            <a:spLocks noChangeArrowheads="1"/>
          </p:cNvSpPr>
          <p:nvPr/>
        </p:nvSpPr>
        <p:spPr bwMode="auto">
          <a:xfrm>
            <a:off x="8458200" y="3200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395" name="Line 11"/>
          <p:cNvSpPr>
            <a:spLocks noChangeShapeType="1"/>
          </p:cNvSpPr>
          <p:nvPr/>
        </p:nvSpPr>
        <p:spPr bwMode="auto">
          <a:xfrm flipH="1">
            <a:off x="5105400" y="2286000"/>
            <a:ext cx="1600200" cy="9144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6" name="Line 12"/>
          <p:cNvSpPr>
            <a:spLocks noChangeShapeType="1"/>
          </p:cNvSpPr>
          <p:nvPr/>
        </p:nvSpPr>
        <p:spPr bwMode="auto">
          <a:xfrm>
            <a:off x="5105400" y="3657600"/>
            <a:ext cx="609600" cy="685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7" name="Line 13"/>
          <p:cNvSpPr>
            <a:spLocks noChangeShapeType="1"/>
          </p:cNvSpPr>
          <p:nvPr/>
        </p:nvSpPr>
        <p:spPr bwMode="auto">
          <a:xfrm>
            <a:off x="8153400" y="1219200"/>
            <a:ext cx="685800" cy="19812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8" name="Line 14"/>
          <p:cNvSpPr>
            <a:spLocks noChangeShapeType="1"/>
          </p:cNvSpPr>
          <p:nvPr/>
        </p:nvSpPr>
        <p:spPr bwMode="auto">
          <a:xfrm flipH="1">
            <a:off x="6400800" y="2438400"/>
            <a:ext cx="381000" cy="762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399" name="Line 15"/>
          <p:cNvSpPr>
            <a:spLocks noChangeShapeType="1"/>
          </p:cNvSpPr>
          <p:nvPr/>
        </p:nvSpPr>
        <p:spPr bwMode="auto">
          <a:xfrm flipH="1">
            <a:off x="5867400" y="3657600"/>
            <a:ext cx="304800" cy="6096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0" name="Line 16"/>
          <p:cNvSpPr>
            <a:spLocks noChangeShapeType="1"/>
          </p:cNvSpPr>
          <p:nvPr/>
        </p:nvSpPr>
        <p:spPr bwMode="auto">
          <a:xfrm>
            <a:off x="7620000" y="3581400"/>
            <a:ext cx="228600" cy="685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1" name="Line 17"/>
          <p:cNvSpPr>
            <a:spLocks noChangeShapeType="1"/>
          </p:cNvSpPr>
          <p:nvPr/>
        </p:nvSpPr>
        <p:spPr bwMode="auto">
          <a:xfrm>
            <a:off x="7162800" y="2438400"/>
            <a:ext cx="304800" cy="762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2" name="Line 18"/>
          <p:cNvSpPr>
            <a:spLocks noChangeShapeType="1"/>
          </p:cNvSpPr>
          <p:nvPr/>
        </p:nvSpPr>
        <p:spPr bwMode="auto">
          <a:xfrm>
            <a:off x="7239000" y="2286000"/>
            <a:ext cx="1447800" cy="9144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3" name="Line 19"/>
          <p:cNvSpPr>
            <a:spLocks noChangeShapeType="1"/>
          </p:cNvSpPr>
          <p:nvPr/>
        </p:nvSpPr>
        <p:spPr bwMode="auto">
          <a:xfrm flipH="1">
            <a:off x="8153400" y="3657600"/>
            <a:ext cx="609600" cy="762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4" name="Oval 20"/>
          <p:cNvSpPr>
            <a:spLocks noChangeArrowheads="1"/>
          </p:cNvSpPr>
          <p:nvPr/>
        </p:nvSpPr>
        <p:spPr bwMode="auto">
          <a:xfrm>
            <a:off x="7620000" y="9906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0405" name="Line 21"/>
          <p:cNvSpPr>
            <a:spLocks noChangeShapeType="1"/>
          </p:cNvSpPr>
          <p:nvPr/>
        </p:nvSpPr>
        <p:spPr bwMode="auto">
          <a:xfrm flipV="1">
            <a:off x="6096000" y="1219200"/>
            <a:ext cx="1524000" cy="2286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6" name="Line 22"/>
          <p:cNvSpPr>
            <a:spLocks noChangeShapeType="1"/>
          </p:cNvSpPr>
          <p:nvPr/>
        </p:nvSpPr>
        <p:spPr bwMode="auto">
          <a:xfrm>
            <a:off x="6019800" y="1676400"/>
            <a:ext cx="762000" cy="4572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7" name="Line 23"/>
          <p:cNvSpPr>
            <a:spLocks noChangeShapeType="1"/>
          </p:cNvSpPr>
          <p:nvPr/>
        </p:nvSpPr>
        <p:spPr bwMode="auto">
          <a:xfrm flipH="1">
            <a:off x="7162800" y="1447800"/>
            <a:ext cx="609600" cy="685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8" name="Line 24"/>
          <p:cNvSpPr>
            <a:spLocks noChangeShapeType="1"/>
          </p:cNvSpPr>
          <p:nvPr/>
        </p:nvSpPr>
        <p:spPr bwMode="auto">
          <a:xfrm flipH="1">
            <a:off x="5029200" y="1524000"/>
            <a:ext cx="533400" cy="16764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09" name="Text Box 25"/>
          <p:cNvSpPr txBox="1">
            <a:spLocks noChangeArrowheads="1"/>
          </p:cNvSpPr>
          <p:nvPr/>
        </p:nvSpPr>
        <p:spPr bwMode="auto">
          <a:xfrm>
            <a:off x="228600" y="990600"/>
            <a:ext cx="457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      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求从顶点 </a:t>
            </a:r>
            <a:r>
              <a:rPr kumimoji="1" lang="en-US" altLang="zh-CN" sz="3200" b="1">
                <a:solidFill>
                  <a:srgbClr val="000082"/>
                </a:solidFill>
                <a:latin typeface="隶书" charset="0"/>
                <a:ea typeface="隶书" charset="0"/>
              </a:rPr>
              <a:t>b 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到顶点 </a:t>
            </a:r>
            <a:r>
              <a:rPr kumimoji="1" lang="en-US" altLang="zh-CN" sz="3200" b="1">
                <a:solidFill>
                  <a:srgbClr val="000082"/>
                </a:solidFill>
                <a:latin typeface="隶书" charset="0"/>
                <a:ea typeface="隶书" charset="0"/>
              </a:rPr>
              <a:t>k 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的一条简单路径。</a:t>
            </a:r>
          </a:p>
        </p:txBody>
      </p:sp>
      <p:sp>
        <p:nvSpPr>
          <p:cNvPr id="400410" name="Rectangle 26"/>
          <p:cNvSpPr>
            <a:spLocks noChangeArrowheads="1"/>
          </p:cNvSpPr>
          <p:nvPr/>
        </p:nvSpPr>
        <p:spPr bwMode="auto">
          <a:xfrm>
            <a:off x="152400" y="2057400"/>
            <a:ext cx="441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隶书" charset="0"/>
                <a:ea typeface="隶书" charset="0"/>
              </a:rPr>
              <a:t>   </a:t>
            </a:r>
            <a:r>
              <a:rPr kumimoji="1" lang="zh-CN" altLang="en-US" sz="3200">
                <a:solidFill>
                  <a:srgbClr val="800000"/>
                </a:solidFill>
                <a:latin typeface="隶书" charset="0"/>
                <a:ea typeface="隶书" charset="0"/>
              </a:rPr>
              <a:t>从顶点 </a:t>
            </a:r>
            <a:r>
              <a:rPr kumimoji="1" lang="en-US" altLang="zh-CN" sz="3200" b="1">
                <a:solidFill>
                  <a:srgbClr val="800000"/>
                </a:solidFill>
                <a:latin typeface="隶书" charset="0"/>
                <a:ea typeface="隶书" charset="0"/>
              </a:rPr>
              <a:t>b</a:t>
            </a:r>
            <a:r>
              <a:rPr kumimoji="1" lang="en-US" altLang="zh-CN" sz="3200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3200">
                <a:solidFill>
                  <a:srgbClr val="800000"/>
                </a:solidFill>
                <a:latin typeface="隶书" charset="0"/>
                <a:ea typeface="隶书" charset="0"/>
              </a:rPr>
              <a:t>出发进行深度优先搜索遍历。</a:t>
            </a:r>
            <a:endParaRPr kumimoji="1" lang="zh-CN" altLang="en-US" sz="3200">
              <a:solidFill>
                <a:srgbClr val="800000"/>
              </a:solidFill>
              <a:latin typeface="Times New Roman" charset="0"/>
              <a:ea typeface="隶书" charset="0"/>
            </a:endParaRPr>
          </a:p>
        </p:txBody>
      </p:sp>
      <p:sp>
        <p:nvSpPr>
          <p:cNvPr id="400411" name="Rectangle 27"/>
          <p:cNvSpPr>
            <a:spLocks noChangeArrowheads="1"/>
          </p:cNvSpPr>
          <p:nvPr/>
        </p:nvSpPr>
        <p:spPr bwMode="auto">
          <a:xfrm>
            <a:off x="304800" y="1020763"/>
            <a:ext cx="12049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82"/>
                </a:solidFill>
                <a:latin typeface="隶书" charset="0"/>
                <a:ea typeface="隶书" charset="0"/>
              </a:rPr>
              <a:t>例如</a:t>
            </a:r>
            <a:r>
              <a:rPr kumimoji="1" lang="en-US" altLang="zh-CN" sz="3200" b="1">
                <a:solidFill>
                  <a:srgbClr val="000082"/>
                </a:solidFill>
                <a:latin typeface="隶书" charset="0"/>
                <a:ea typeface="隶书" charset="0"/>
              </a:rPr>
              <a:t>:</a:t>
            </a:r>
          </a:p>
        </p:txBody>
      </p:sp>
      <p:sp>
        <p:nvSpPr>
          <p:cNvPr id="400412" name="Rectangle 28"/>
          <p:cNvSpPr>
            <a:spLocks noChangeArrowheads="1"/>
          </p:cNvSpPr>
          <p:nvPr/>
        </p:nvSpPr>
        <p:spPr bwMode="auto">
          <a:xfrm>
            <a:off x="120650" y="5257800"/>
            <a:ext cx="902335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    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假设找到的第一个邻接点是</a:t>
            </a:r>
            <a:r>
              <a:rPr kumimoji="1" lang="en-US" altLang="zh-CN" sz="3200" b="1">
                <a:solidFill>
                  <a:srgbClr val="000082"/>
                </a:solidFill>
                <a:latin typeface="隶书" charset="0"/>
                <a:ea typeface="隶书" charset="0"/>
              </a:rPr>
              <a:t>a</a:t>
            </a:r>
            <a:r>
              <a:rPr kumimoji="1" lang="zh-CN" altLang="en-US" sz="3200" b="1">
                <a:solidFill>
                  <a:srgbClr val="000082"/>
                </a:solidFill>
                <a:latin typeface="隶书" charset="0"/>
                <a:ea typeface="隶书" charset="0"/>
              </a:rPr>
              <a:t>，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则得到的结点访问序列为</a:t>
            </a:r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: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隶书" charset="0"/>
              </a:rPr>
              <a:t>b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</a:t>
            </a:r>
            <a:r>
              <a:rPr kumimoji="1" lang="en-US" altLang="zh-CN" sz="3200">
                <a:solidFill>
                  <a:srgbClr val="7800EE"/>
                </a:solidFill>
                <a:latin typeface="Times New Roman" charset="0"/>
                <a:ea typeface="隶书" charset="0"/>
              </a:rPr>
              <a:t>a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d  h  c  </a:t>
            </a:r>
            <a:r>
              <a:rPr kumimoji="1" lang="en-US" altLang="zh-CN" sz="3200">
                <a:solidFill>
                  <a:srgbClr val="7800EE"/>
                </a:solidFill>
                <a:latin typeface="Times New Roman" charset="0"/>
                <a:ea typeface="隶书" charset="0"/>
              </a:rPr>
              <a:t>e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隶书" charset="0"/>
              </a:rPr>
              <a:t>k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f  g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。</a:t>
            </a:r>
          </a:p>
        </p:txBody>
      </p:sp>
      <p:sp>
        <p:nvSpPr>
          <p:cNvPr id="400413" name="Rectangle 29"/>
          <p:cNvSpPr>
            <a:spLocks noChangeArrowheads="1"/>
          </p:cNvSpPr>
          <p:nvPr/>
        </p:nvSpPr>
        <p:spPr bwMode="auto">
          <a:xfrm>
            <a:off x="0" y="3048000"/>
            <a:ext cx="4572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  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假设找到的第一个邻接点是</a:t>
            </a:r>
            <a:r>
              <a:rPr kumimoji="1" lang="en-US" altLang="zh-CN" sz="3200" b="1">
                <a:solidFill>
                  <a:srgbClr val="000082"/>
                </a:solidFill>
                <a:latin typeface="隶书" charset="0"/>
                <a:ea typeface="隶书" charset="0"/>
              </a:rPr>
              <a:t>c</a:t>
            </a:r>
            <a:r>
              <a:rPr kumimoji="1" lang="zh-CN" altLang="en-US" sz="3200" b="1">
                <a:solidFill>
                  <a:srgbClr val="000082"/>
                </a:solidFill>
                <a:latin typeface="隶书" charset="0"/>
                <a:ea typeface="隶书" charset="0"/>
              </a:rPr>
              <a:t>，</a:t>
            </a:r>
            <a:r>
              <a:rPr kumimoji="1" lang="zh-CN" altLang="en-US" sz="3200">
                <a:solidFill>
                  <a:srgbClr val="000082"/>
                </a:solidFill>
                <a:latin typeface="隶书" charset="0"/>
                <a:ea typeface="隶书" charset="0"/>
              </a:rPr>
              <a:t>则得到的结点访问序列为</a:t>
            </a:r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:</a:t>
            </a:r>
          </a:p>
          <a:p>
            <a:pPr eaLnBrk="1" hangingPunct="1"/>
            <a:r>
              <a:rPr kumimoji="1" lang="en-US" altLang="zh-CN" sz="3200">
                <a:solidFill>
                  <a:srgbClr val="000082"/>
                </a:solidFill>
                <a:latin typeface="隶书" charset="0"/>
                <a:ea typeface="隶书" charset="0"/>
              </a:rPr>
              <a:t> 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隶书" charset="0"/>
              </a:rPr>
              <a:t>b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</a:t>
            </a:r>
            <a:r>
              <a:rPr kumimoji="1" lang="en-US" altLang="zh-CN" sz="3200">
                <a:solidFill>
                  <a:srgbClr val="3333FF"/>
                </a:solidFill>
                <a:latin typeface="Times New Roman" charset="0"/>
                <a:ea typeface="隶书" charset="0"/>
              </a:rPr>
              <a:t>c  h  d  a  e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隶书" charset="0"/>
              </a:rPr>
              <a:t>k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  f  g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隶书" charset="0"/>
              </a:rPr>
              <a:t>，</a:t>
            </a:r>
          </a:p>
        </p:txBody>
      </p:sp>
      <p:sp>
        <p:nvSpPr>
          <p:cNvPr id="400414" name="Line 30"/>
          <p:cNvSpPr>
            <a:spLocks noChangeShapeType="1"/>
          </p:cNvSpPr>
          <p:nvPr/>
        </p:nvSpPr>
        <p:spPr bwMode="auto">
          <a:xfrm flipH="1">
            <a:off x="5029200" y="1524000"/>
            <a:ext cx="533400" cy="16764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5" name="Line 31"/>
          <p:cNvSpPr>
            <a:spLocks noChangeShapeType="1"/>
          </p:cNvSpPr>
          <p:nvPr/>
        </p:nvSpPr>
        <p:spPr bwMode="auto">
          <a:xfrm>
            <a:off x="5105400" y="3657600"/>
            <a:ext cx="609600" cy="685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6" name="Line 32"/>
          <p:cNvSpPr>
            <a:spLocks noChangeShapeType="1"/>
          </p:cNvSpPr>
          <p:nvPr/>
        </p:nvSpPr>
        <p:spPr bwMode="auto">
          <a:xfrm flipH="1">
            <a:off x="5867400" y="3657600"/>
            <a:ext cx="304800" cy="609600"/>
          </a:xfrm>
          <a:prstGeom prst="line">
            <a:avLst/>
          </a:prstGeom>
          <a:noFill/>
          <a:ln w="5715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7" name="Line 33"/>
          <p:cNvSpPr>
            <a:spLocks noChangeShapeType="1"/>
          </p:cNvSpPr>
          <p:nvPr/>
        </p:nvSpPr>
        <p:spPr bwMode="auto">
          <a:xfrm flipH="1">
            <a:off x="6400800" y="2438400"/>
            <a:ext cx="381000" cy="762000"/>
          </a:xfrm>
          <a:prstGeom prst="line">
            <a:avLst/>
          </a:prstGeom>
          <a:noFill/>
          <a:ln w="5715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8" name="Line 34"/>
          <p:cNvSpPr>
            <a:spLocks noChangeShapeType="1"/>
          </p:cNvSpPr>
          <p:nvPr/>
        </p:nvSpPr>
        <p:spPr bwMode="auto">
          <a:xfrm>
            <a:off x="7162800" y="2438400"/>
            <a:ext cx="304800" cy="7620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19" name="Line 35"/>
          <p:cNvSpPr>
            <a:spLocks noChangeShapeType="1"/>
          </p:cNvSpPr>
          <p:nvPr/>
        </p:nvSpPr>
        <p:spPr bwMode="auto">
          <a:xfrm>
            <a:off x="7620000" y="3581400"/>
            <a:ext cx="228600" cy="685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0" name="Line 36"/>
          <p:cNvSpPr>
            <a:spLocks noChangeShapeType="1"/>
          </p:cNvSpPr>
          <p:nvPr/>
        </p:nvSpPr>
        <p:spPr bwMode="auto">
          <a:xfrm>
            <a:off x="533400" y="5029200"/>
            <a:ext cx="2590800" cy="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1" name="Line 37"/>
          <p:cNvSpPr>
            <a:spLocks noChangeShapeType="1"/>
          </p:cNvSpPr>
          <p:nvPr/>
        </p:nvSpPr>
        <p:spPr bwMode="auto">
          <a:xfrm>
            <a:off x="6019800" y="1676400"/>
            <a:ext cx="762000" cy="4572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2" name="Line 38"/>
          <p:cNvSpPr>
            <a:spLocks noChangeShapeType="1"/>
          </p:cNvSpPr>
          <p:nvPr/>
        </p:nvSpPr>
        <p:spPr bwMode="auto">
          <a:xfrm>
            <a:off x="7239000" y="2362200"/>
            <a:ext cx="304800" cy="8382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3" name="Line 39"/>
          <p:cNvSpPr>
            <a:spLocks noChangeShapeType="1"/>
          </p:cNvSpPr>
          <p:nvPr/>
        </p:nvSpPr>
        <p:spPr bwMode="auto">
          <a:xfrm>
            <a:off x="7696200" y="3581400"/>
            <a:ext cx="228600" cy="6858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4" name="Line 40"/>
          <p:cNvSpPr>
            <a:spLocks noChangeShapeType="1"/>
          </p:cNvSpPr>
          <p:nvPr/>
        </p:nvSpPr>
        <p:spPr bwMode="auto">
          <a:xfrm>
            <a:off x="2590800" y="6477000"/>
            <a:ext cx="609600" cy="0"/>
          </a:xfrm>
          <a:prstGeom prst="line">
            <a:avLst/>
          </a:prstGeom>
          <a:noFill/>
          <a:ln w="3810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5" name="Line 41"/>
          <p:cNvSpPr>
            <a:spLocks noChangeShapeType="1"/>
          </p:cNvSpPr>
          <p:nvPr/>
        </p:nvSpPr>
        <p:spPr bwMode="auto">
          <a:xfrm>
            <a:off x="4572000" y="6477000"/>
            <a:ext cx="685800" cy="0"/>
          </a:xfrm>
          <a:prstGeom prst="line">
            <a:avLst/>
          </a:prstGeom>
          <a:noFill/>
          <a:ln w="3810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0426" name="AutoShape 4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81000"/>
          </a:xfrm>
          <a:prstGeom prst="actionButtonForwardNext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482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0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0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0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0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00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0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00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0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0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0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0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00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00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0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00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00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0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0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0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0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0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0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0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0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00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00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6" grpId="0" autoUpdateAnimBg="0"/>
      <p:bldP spid="400387" grpId="0" animBg="1" autoUpdateAnimBg="0"/>
      <p:bldP spid="400388" grpId="0" animBg="1" autoUpdateAnimBg="0"/>
      <p:bldP spid="400389" grpId="0" animBg="1" autoUpdateAnimBg="0"/>
      <p:bldP spid="400390" grpId="0" animBg="1" autoUpdateAnimBg="0"/>
      <p:bldP spid="400391" grpId="0" animBg="1" autoUpdateAnimBg="0"/>
      <p:bldP spid="400392" grpId="0" animBg="1" autoUpdateAnimBg="0"/>
      <p:bldP spid="400393" grpId="0" animBg="1" autoUpdateAnimBg="0"/>
      <p:bldP spid="400394" grpId="0" animBg="1" autoUpdateAnimBg="0"/>
      <p:bldP spid="400395" grpId="0" animBg="1"/>
      <p:bldP spid="400396" grpId="0" animBg="1"/>
      <p:bldP spid="400397" grpId="0" animBg="1"/>
      <p:bldP spid="400398" grpId="0" animBg="1"/>
      <p:bldP spid="400399" grpId="0" animBg="1"/>
      <p:bldP spid="400400" grpId="0" animBg="1"/>
      <p:bldP spid="400401" grpId="0" animBg="1"/>
      <p:bldP spid="400402" grpId="0" animBg="1"/>
      <p:bldP spid="400403" grpId="0" animBg="1"/>
      <p:bldP spid="400404" grpId="0" animBg="1" autoUpdateAnimBg="0"/>
      <p:bldP spid="400405" grpId="0" animBg="1"/>
      <p:bldP spid="400406" grpId="0" animBg="1"/>
      <p:bldP spid="400407" grpId="0" animBg="1"/>
      <p:bldP spid="400408" grpId="0" animBg="1"/>
      <p:bldP spid="400409" grpId="0" autoUpdateAnimBg="0"/>
      <p:bldP spid="400410" grpId="0" autoUpdateAnimBg="0"/>
      <p:bldP spid="400411" grpId="0" autoUpdateAnimBg="0"/>
      <p:bldP spid="400412" grpId="0" autoUpdateAnimBg="0"/>
      <p:bldP spid="400413" grpId="0" autoUpdateAnimBg="0"/>
      <p:bldP spid="400414" grpId="0" animBg="1"/>
      <p:bldP spid="400415" grpId="0" animBg="1"/>
      <p:bldP spid="400416" grpId="0" animBg="1"/>
      <p:bldP spid="400417" grpId="0" animBg="1"/>
      <p:bldP spid="400418" grpId="0" animBg="1"/>
      <p:bldP spid="400419" grpId="0" animBg="1"/>
      <p:bldP spid="400420" grpId="0" animBg="1"/>
      <p:bldP spid="400421" grpId="0" animBg="1"/>
      <p:bldP spid="400422" grpId="0" animBg="1"/>
      <p:bldP spid="400423" grpId="0" animBg="1"/>
      <p:bldP spid="400424" grpId="0" animBg="1"/>
      <p:bldP spid="400425" grpId="0" animBg="1"/>
      <p:bldP spid="40042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Text Box 2"/>
          <p:cNvSpPr txBox="1">
            <a:spLocks noChangeArrowheads="1"/>
          </p:cNvSpPr>
          <p:nvPr/>
        </p:nvSpPr>
        <p:spPr bwMode="auto">
          <a:xfrm>
            <a:off x="304800" y="1295400"/>
            <a:ext cx="84582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隶书" charset="0"/>
              </a:rPr>
              <a:t>1.</a:t>
            </a:r>
            <a:r>
              <a:rPr kumimoji="1" lang="en-US" altLang="zh-CN" sz="3600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从顶点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隶书" charset="0"/>
              </a:rPr>
              <a:t>i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到顶点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隶书" charset="0"/>
              </a:rPr>
              <a:t>s </a:t>
            </a:r>
            <a:r>
              <a:rPr kumimoji="1" lang="en-US" altLang="zh-CN" sz="3600">
                <a:solidFill>
                  <a:srgbClr val="800000"/>
                </a:solidFill>
                <a:latin typeface="隶书" charset="0"/>
                <a:ea typeface="隶书" charset="0"/>
              </a:rPr>
              <a:t>,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若存在路径，则从顶点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隶书" charset="0"/>
              </a:rPr>
              <a:t>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隶书" charset="0"/>
              </a:rPr>
              <a:t>i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出发进行深度优先搜索，必能搜索到顶点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隶书" charset="0"/>
              </a:rPr>
              <a:t>s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。</a:t>
            </a:r>
            <a:endParaRPr kumimoji="1" lang="zh-CN" altLang="en-US" sz="2400">
              <a:solidFill>
                <a:srgbClr val="800000"/>
              </a:solidFill>
              <a:latin typeface="隶书" charset="0"/>
              <a:ea typeface="隶书" charset="0"/>
            </a:endParaRPr>
          </a:p>
        </p:txBody>
      </p:sp>
      <p:sp>
        <p:nvSpPr>
          <p:cNvPr id="401411" name="Text Box 3"/>
          <p:cNvSpPr txBox="1">
            <a:spLocks noChangeArrowheads="1"/>
          </p:cNvSpPr>
          <p:nvPr/>
        </p:nvSpPr>
        <p:spPr bwMode="auto">
          <a:xfrm>
            <a:off x="381000" y="3429000"/>
            <a:ext cx="84582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隶书" charset="0"/>
              </a:rPr>
              <a:t>2.</a:t>
            </a:r>
            <a:r>
              <a:rPr kumimoji="1" lang="en-US" altLang="zh-CN" sz="3600" b="1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遍历过程中搜索到的顶点不一定是路径上的顶点。</a:t>
            </a:r>
            <a:endParaRPr kumimoji="1" lang="zh-CN" altLang="en-US" sz="3600">
              <a:solidFill>
                <a:srgbClr val="000082"/>
              </a:solidFill>
              <a:latin typeface="隶书" charset="0"/>
              <a:ea typeface="隶书" charset="0"/>
            </a:endParaRPr>
          </a:p>
        </p:txBody>
      </p:sp>
      <p:sp>
        <p:nvSpPr>
          <p:cNvPr id="401412" name="Comment 4"/>
          <p:cNvSpPr>
            <a:spLocks noChangeArrowheads="1"/>
          </p:cNvSpPr>
          <p:nvPr/>
        </p:nvSpPr>
        <p:spPr bwMode="auto">
          <a:xfrm>
            <a:off x="1447800" y="228600"/>
            <a:ext cx="1828800" cy="654050"/>
          </a:xfrm>
          <a:prstGeom prst="rect">
            <a:avLst/>
          </a:prstGeom>
          <a:solidFill>
            <a:srgbClr val="FCFDC6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7800EE"/>
                </a:solidFill>
              </a:rPr>
              <a:t>结论</a:t>
            </a:r>
            <a:r>
              <a:rPr lang="en-US" altLang="zh-CN" sz="3600" b="1">
                <a:solidFill>
                  <a:srgbClr val="7800EE"/>
                </a:solidFill>
              </a:rPr>
              <a:t>:</a:t>
            </a:r>
            <a:endParaRPr kumimoji="1" lang="en-US" altLang="zh-CN" sz="1600">
              <a:solidFill>
                <a:srgbClr val="000000"/>
              </a:solidFill>
            </a:endParaRPr>
          </a:p>
        </p:txBody>
      </p:sp>
      <p:sp>
        <p:nvSpPr>
          <p:cNvPr id="401413" name="Text Box 5"/>
          <p:cNvSpPr txBox="1">
            <a:spLocks noChangeArrowheads="1"/>
          </p:cNvSpPr>
          <p:nvPr/>
        </p:nvSpPr>
        <p:spPr bwMode="auto">
          <a:xfrm>
            <a:off x="381000" y="4876800"/>
            <a:ext cx="83058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隶书" charset="0"/>
              </a:rPr>
              <a:t>3.</a:t>
            </a:r>
            <a:r>
              <a:rPr kumimoji="1" lang="en-US" altLang="zh-CN" sz="3600" b="1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3600">
                <a:solidFill>
                  <a:srgbClr val="800000"/>
                </a:solidFill>
                <a:latin typeface="隶书" charset="0"/>
                <a:ea typeface="隶书" charset="0"/>
              </a:rPr>
              <a:t>由它出发进行的深度优先遍历已经完成的顶点不是路径上的顶点。</a:t>
            </a:r>
            <a:endParaRPr kumimoji="1" lang="zh-CN" altLang="en-US" sz="3600">
              <a:solidFill>
                <a:srgbClr val="000082"/>
              </a:solidFill>
              <a:latin typeface="隶书" charset="0"/>
              <a:ea typeface="隶书" charset="0"/>
            </a:endParaRPr>
          </a:p>
        </p:txBody>
      </p:sp>
      <p:sp>
        <p:nvSpPr>
          <p:cNvPr id="401414" name="AutoShape 6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610600" y="6400800"/>
            <a:ext cx="228600" cy="228600"/>
          </a:xfrm>
          <a:prstGeom prst="actionButtonReturn">
            <a:avLst/>
          </a:prstGeom>
          <a:solidFill>
            <a:srgbClr val="BEC1FE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921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1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 autoUpdateAnimBg="0"/>
      <p:bldP spid="401411" grpId="0" autoUpdateAnimBg="0"/>
      <p:bldP spid="401412" grpId="0" animBg="1" autoUpdateAnimBg="0"/>
      <p:bldP spid="401413" grpId="0" autoUpdateAnimBg="0"/>
      <p:bldP spid="4014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/>
          <p:cNvSpPr txBox="1">
            <a:spLocks noChangeArrowheads="1"/>
          </p:cNvSpPr>
          <p:nvPr/>
        </p:nvSpPr>
        <p:spPr bwMode="auto">
          <a:xfrm>
            <a:off x="76200" y="152400"/>
            <a:ext cx="9067800" cy="65182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A043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void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DFSearch(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v,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int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s,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char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*PATH) 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2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从第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个顶点出发递归地深度优先遍历图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求得一条从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到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的简单路径，并记录在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PATH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 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visited[v] =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TRUE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;   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访问第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个顶点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>
                <a:solidFill>
                  <a:srgbClr val="7800EE"/>
                </a:solidFill>
                <a:latin typeface="Times New Roman" charset="0"/>
                <a:ea typeface="楷体_GB2312" charset="0"/>
              </a:rPr>
              <a:t>Append(PATH, getVertex(v));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2800">
                <a:solidFill>
                  <a:srgbClr val="7800EE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2800">
                <a:solidFill>
                  <a:srgbClr val="7800EE"/>
                </a:solidFill>
                <a:latin typeface="Times New Roman" charset="0"/>
                <a:ea typeface="楷体_GB2312" charset="0"/>
              </a:rPr>
              <a:t>第</a:t>
            </a:r>
            <a:r>
              <a:rPr kumimoji="1" lang="en-US" altLang="zh-CN" sz="2800">
                <a:solidFill>
                  <a:srgbClr val="7800EE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2800">
                <a:solidFill>
                  <a:srgbClr val="7800EE"/>
                </a:solidFill>
                <a:latin typeface="Times New Roman" charset="0"/>
                <a:ea typeface="楷体_GB2312" charset="0"/>
              </a:rPr>
              <a:t>个顶点加入路径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           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(w=FirstAdjVex(v);  w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!=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&amp;&amp;!found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                            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w=NextAdjVex(v) 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(w=s)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found = TRUE;  Append(PATH, w);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200">
              <a:solidFill>
                <a:srgbClr val="FF0000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else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!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visited[w])  DFSearch(w, s, PATH);</a:t>
            </a:r>
            <a:endParaRPr kumimoji="1" lang="en-US" altLang="zh-CN" sz="32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  if </a:t>
            </a:r>
            <a:r>
              <a:rPr kumimoji="1" lang="en-US" altLang="zh-CN" sz="3200">
                <a:solidFill>
                  <a:srgbClr val="FF0000"/>
                </a:solidFill>
                <a:latin typeface="Times New Roman" charset="0"/>
                <a:ea typeface="楷体_GB2312" charset="0"/>
              </a:rPr>
              <a:t>(!found)  Delete (PATH);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>
                <a:solidFill>
                  <a:srgbClr val="7800EE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7800EE"/>
                </a:solidFill>
                <a:latin typeface="Times New Roman" charset="0"/>
                <a:ea typeface="楷体_GB2312" charset="0"/>
              </a:rPr>
              <a:t>从路径上删除顶点 </a:t>
            </a:r>
            <a:r>
              <a:rPr kumimoji="1" lang="en-US" altLang="zh-CN" sz="3200">
                <a:solidFill>
                  <a:srgbClr val="7800EE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200"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</a:p>
        </p:txBody>
      </p:sp>
      <p:sp>
        <p:nvSpPr>
          <p:cNvPr id="402435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376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2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 animBg="1" autoUpdateAnimBg="0"/>
      <p:bldP spid="4024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441325" y="838200"/>
            <a:ext cx="8702675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2.</a:t>
            </a:r>
            <a:r>
              <a:rPr kumimoji="1" lang="en-US" altLang="zh-CN" sz="48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求两个顶点之间的一条</a:t>
            </a:r>
            <a:r>
              <a:rPr kumimoji="1" lang="zh-CN" altLang="en-US" sz="4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路径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长度最短</a:t>
            </a:r>
            <a:r>
              <a:rPr kumimoji="1" lang="zh-CN" altLang="en-US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的路径</a:t>
            </a:r>
            <a:endParaRPr kumimoji="1" lang="zh-CN" altLang="en-US" sz="3400" b="1">
              <a:latin typeface="Times New Roman" charset="0"/>
              <a:ea typeface="楷体_GB2312" charset="0"/>
            </a:endParaRPr>
          </a:p>
        </p:txBody>
      </p:sp>
      <p:sp>
        <p:nvSpPr>
          <p:cNvPr id="403459" name="Text Box 3"/>
          <p:cNvSpPr txBox="1">
            <a:spLocks noChangeArrowheads="1"/>
          </p:cNvSpPr>
          <p:nvPr/>
        </p:nvSpPr>
        <p:spPr bwMode="auto">
          <a:xfrm>
            <a:off x="685800" y="3048000"/>
            <a:ext cx="8001000" cy="228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若两个顶点之间存在多条路径，则其中必有一条路径长度最短的路径。如何求得这条路径</a:t>
            </a:r>
            <a:r>
              <a:rPr kumimoji="1" lang="en-US" altLang="zh-CN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?</a:t>
            </a:r>
            <a:endParaRPr kumimoji="1" lang="en-US" altLang="zh-CN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557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 autoUpdateAnimBg="0"/>
      <p:bldP spid="403459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Oval 2"/>
          <p:cNvSpPr>
            <a:spLocks noChangeArrowheads="1"/>
          </p:cNvSpPr>
          <p:nvPr/>
        </p:nvSpPr>
        <p:spPr bwMode="auto">
          <a:xfrm>
            <a:off x="1828800" y="16002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3" name="Oval 3"/>
          <p:cNvSpPr>
            <a:spLocks noChangeArrowheads="1"/>
          </p:cNvSpPr>
          <p:nvPr/>
        </p:nvSpPr>
        <p:spPr bwMode="auto">
          <a:xfrm>
            <a:off x="533400" y="1066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4" name="Oval 4"/>
          <p:cNvSpPr>
            <a:spLocks noChangeArrowheads="1"/>
          </p:cNvSpPr>
          <p:nvPr/>
        </p:nvSpPr>
        <p:spPr bwMode="auto">
          <a:xfrm>
            <a:off x="152400" y="21336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5" name="Oval 5"/>
          <p:cNvSpPr>
            <a:spLocks noChangeArrowheads="1"/>
          </p:cNvSpPr>
          <p:nvPr/>
        </p:nvSpPr>
        <p:spPr bwMode="auto">
          <a:xfrm>
            <a:off x="990600" y="32004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6" name="Oval 6"/>
          <p:cNvSpPr>
            <a:spLocks noChangeArrowheads="1"/>
          </p:cNvSpPr>
          <p:nvPr/>
        </p:nvSpPr>
        <p:spPr bwMode="auto">
          <a:xfrm>
            <a:off x="1676400" y="2590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7" name="Oval 7"/>
          <p:cNvSpPr>
            <a:spLocks noChangeArrowheads="1"/>
          </p:cNvSpPr>
          <p:nvPr/>
        </p:nvSpPr>
        <p:spPr bwMode="auto">
          <a:xfrm>
            <a:off x="2819400" y="2209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8" name="Oval 8"/>
          <p:cNvSpPr>
            <a:spLocks noChangeArrowheads="1"/>
          </p:cNvSpPr>
          <p:nvPr/>
        </p:nvSpPr>
        <p:spPr bwMode="auto">
          <a:xfrm>
            <a:off x="3962400" y="25908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89" name="Oval 9"/>
          <p:cNvSpPr>
            <a:spLocks noChangeArrowheads="1"/>
          </p:cNvSpPr>
          <p:nvPr/>
        </p:nvSpPr>
        <p:spPr bwMode="auto">
          <a:xfrm>
            <a:off x="3276600" y="7620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490" name="Line 10"/>
          <p:cNvSpPr>
            <a:spLocks noChangeShapeType="1"/>
          </p:cNvSpPr>
          <p:nvPr/>
        </p:nvSpPr>
        <p:spPr bwMode="auto">
          <a:xfrm flipH="1">
            <a:off x="685800" y="1905000"/>
            <a:ext cx="1143000" cy="381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1" name="Line 11"/>
          <p:cNvSpPr>
            <a:spLocks noChangeShapeType="1"/>
          </p:cNvSpPr>
          <p:nvPr/>
        </p:nvSpPr>
        <p:spPr bwMode="auto">
          <a:xfrm>
            <a:off x="457200" y="2590800"/>
            <a:ext cx="609600" cy="685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2" name="Line 12"/>
          <p:cNvSpPr>
            <a:spLocks noChangeShapeType="1"/>
          </p:cNvSpPr>
          <p:nvPr/>
        </p:nvSpPr>
        <p:spPr bwMode="auto">
          <a:xfrm>
            <a:off x="2438400" y="685800"/>
            <a:ext cx="838200" cy="2286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3" name="Line 13"/>
          <p:cNvSpPr>
            <a:spLocks noChangeShapeType="1"/>
          </p:cNvSpPr>
          <p:nvPr/>
        </p:nvSpPr>
        <p:spPr bwMode="auto">
          <a:xfrm flipH="1">
            <a:off x="1905000" y="2057400"/>
            <a:ext cx="228600" cy="5334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4" name="Line 14"/>
          <p:cNvSpPr>
            <a:spLocks noChangeShapeType="1"/>
          </p:cNvSpPr>
          <p:nvPr/>
        </p:nvSpPr>
        <p:spPr bwMode="auto">
          <a:xfrm flipH="1">
            <a:off x="1524000" y="2971800"/>
            <a:ext cx="228600" cy="381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5" name="Line 15"/>
          <p:cNvSpPr>
            <a:spLocks noChangeShapeType="1"/>
          </p:cNvSpPr>
          <p:nvPr/>
        </p:nvSpPr>
        <p:spPr bwMode="auto">
          <a:xfrm>
            <a:off x="3352800" y="2514600"/>
            <a:ext cx="609600" cy="304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6" name="Line 16"/>
          <p:cNvSpPr>
            <a:spLocks noChangeShapeType="1"/>
          </p:cNvSpPr>
          <p:nvPr/>
        </p:nvSpPr>
        <p:spPr bwMode="auto">
          <a:xfrm>
            <a:off x="2362200" y="1905000"/>
            <a:ext cx="609600" cy="381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7" name="Line 17"/>
          <p:cNvSpPr>
            <a:spLocks noChangeShapeType="1"/>
          </p:cNvSpPr>
          <p:nvPr/>
        </p:nvSpPr>
        <p:spPr bwMode="auto">
          <a:xfrm>
            <a:off x="3810000" y="1066800"/>
            <a:ext cx="457200" cy="15240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8" name="Line 18"/>
          <p:cNvSpPr>
            <a:spLocks noChangeShapeType="1"/>
          </p:cNvSpPr>
          <p:nvPr/>
        </p:nvSpPr>
        <p:spPr bwMode="auto">
          <a:xfrm flipH="1">
            <a:off x="3276600" y="1219200"/>
            <a:ext cx="304800" cy="1066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499" name="Oval 19"/>
          <p:cNvSpPr>
            <a:spLocks noChangeArrowheads="1"/>
          </p:cNvSpPr>
          <p:nvPr/>
        </p:nvSpPr>
        <p:spPr bwMode="auto">
          <a:xfrm>
            <a:off x="1905000" y="457200"/>
            <a:ext cx="533400" cy="457200"/>
          </a:xfrm>
          <a:prstGeom prst="ellipse">
            <a:avLst/>
          </a:prstGeom>
          <a:solidFill>
            <a:srgbClr val="FFFF99">
              <a:alpha val="50195"/>
            </a:srgbClr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04500" name="Line 20"/>
          <p:cNvSpPr>
            <a:spLocks noChangeShapeType="1"/>
          </p:cNvSpPr>
          <p:nvPr/>
        </p:nvSpPr>
        <p:spPr bwMode="auto">
          <a:xfrm flipV="1">
            <a:off x="990600" y="685800"/>
            <a:ext cx="914400" cy="4572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1" name="Line 21"/>
          <p:cNvSpPr>
            <a:spLocks noChangeShapeType="1"/>
          </p:cNvSpPr>
          <p:nvPr/>
        </p:nvSpPr>
        <p:spPr bwMode="auto">
          <a:xfrm>
            <a:off x="990600" y="1371600"/>
            <a:ext cx="914400" cy="3048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2" name="Line 22"/>
          <p:cNvSpPr>
            <a:spLocks noChangeShapeType="1"/>
          </p:cNvSpPr>
          <p:nvPr/>
        </p:nvSpPr>
        <p:spPr bwMode="auto">
          <a:xfrm flipH="1">
            <a:off x="2286000" y="1143000"/>
            <a:ext cx="990600" cy="5334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3" name="Line 23"/>
          <p:cNvSpPr>
            <a:spLocks noChangeShapeType="1"/>
          </p:cNvSpPr>
          <p:nvPr/>
        </p:nvSpPr>
        <p:spPr bwMode="auto">
          <a:xfrm flipH="1">
            <a:off x="457200" y="1524000"/>
            <a:ext cx="152400" cy="609600"/>
          </a:xfrm>
          <a:prstGeom prst="line">
            <a:avLst/>
          </a:prstGeom>
          <a:noFill/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4" name="Line 24"/>
          <p:cNvSpPr>
            <a:spLocks noChangeShapeType="1"/>
          </p:cNvSpPr>
          <p:nvPr/>
        </p:nvSpPr>
        <p:spPr bwMode="auto">
          <a:xfrm flipH="1">
            <a:off x="457200" y="1447800"/>
            <a:ext cx="228600" cy="685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5" name="Line 25"/>
          <p:cNvSpPr>
            <a:spLocks noChangeShapeType="1"/>
          </p:cNvSpPr>
          <p:nvPr/>
        </p:nvSpPr>
        <p:spPr bwMode="auto">
          <a:xfrm>
            <a:off x="457200" y="2590800"/>
            <a:ext cx="609600" cy="685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6" name="Line 26"/>
          <p:cNvSpPr>
            <a:spLocks noChangeShapeType="1"/>
          </p:cNvSpPr>
          <p:nvPr/>
        </p:nvSpPr>
        <p:spPr bwMode="auto">
          <a:xfrm flipH="1">
            <a:off x="1524000" y="2971800"/>
            <a:ext cx="228600" cy="304800"/>
          </a:xfrm>
          <a:prstGeom prst="line">
            <a:avLst/>
          </a:prstGeom>
          <a:noFill/>
          <a:ln w="5715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7" name="Line 27"/>
          <p:cNvSpPr>
            <a:spLocks noChangeShapeType="1"/>
          </p:cNvSpPr>
          <p:nvPr/>
        </p:nvSpPr>
        <p:spPr bwMode="auto">
          <a:xfrm flipH="1">
            <a:off x="1905000" y="2057400"/>
            <a:ext cx="228600" cy="533400"/>
          </a:xfrm>
          <a:prstGeom prst="line">
            <a:avLst/>
          </a:prstGeom>
          <a:noFill/>
          <a:ln w="5715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8" name="Line 28"/>
          <p:cNvSpPr>
            <a:spLocks noChangeShapeType="1"/>
          </p:cNvSpPr>
          <p:nvPr/>
        </p:nvSpPr>
        <p:spPr bwMode="auto">
          <a:xfrm>
            <a:off x="2362200" y="1905000"/>
            <a:ext cx="533400" cy="304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09" name="Line 29"/>
          <p:cNvSpPr>
            <a:spLocks noChangeShapeType="1"/>
          </p:cNvSpPr>
          <p:nvPr/>
        </p:nvSpPr>
        <p:spPr bwMode="auto">
          <a:xfrm>
            <a:off x="3352800" y="2514600"/>
            <a:ext cx="609600" cy="3048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0" name="Line 30"/>
          <p:cNvSpPr>
            <a:spLocks noChangeShapeType="1"/>
          </p:cNvSpPr>
          <p:nvPr/>
        </p:nvSpPr>
        <p:spPr bwMode="auto">
          <a:xfrm>
            <a:off x="1066800" y="1371600"/>
            <a:ext cx="762000" cy="3048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1" name="Line 31"/>
          <p:cNvSpPr>
            <a:spLocks noChangeShapeType="1"/>
          </p:cNvSpPr>
          <p:nvPr/>
        </p:nvSpPr>
        <p:spPr bwMode="auto">
          <a:xfrm>
            <a:off x="2362200" y="1828800"/>
            <a:ext cx="685800" cy="3810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2" name="Line 32"/>
          <p:cNvSpPr>
            <a:spLocks noChangeShapeType="1"/>
          </p:cNvSpPr>
          <p:nvPr/>
        </p:nvSpPr>
        <p:spPr bwMode="auto">
          <a:xfrm>
            <a:off x="3352800" y="2438400"/>
            <a:ext cx="609600" cy="304800"/>
          </a:xfrm>
          <a:prstGeom prst="line">
            <a:avLst/>
          </a:prstGeom>
          <a:noFill/>
          <a:ln w="57150" cap="sq">
            <a:solidFill>
              <a:srgbClr val="A04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4513" name="Text Box 33"/>
          <p:cNvSpPr txBox="1">
            <a:spLocks noChangeArrowheads="1"/>
          </p:cNvSpPr>
          <p:nvPr/>
        </p:nvSpPr>
        <p:spPr bwMode="auto">
          <a:xfrm>
            <a:off x="228600" y="4408488"/>
            <a:ext cx="8763000" cy="20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因此，</a:t>
            </a:r>
            <a:r>
              <a:rPr kumimoji="1" lang="zh-CN" altLang="en-US" sz="3600" b="1">
                <a:solidFill>
                  <a:srgbClr val="3333FF"/>
                </a:solidFill>
                <a:latin typeface="Times New Roman" charset="0"/>
                <a:ea typeface="楷体_GB2312" charset="0"/>
              </a:rPr>
              <a:t>求路径长度最短的路径可以基于广度优先搜索遍历进行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，但需要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修改链队列的结点结构及其入队列和出队列的算法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04514" name="Text Box 34"/>
          <p:cNvSpPr txBox="1">
            <a:spLocks noChangeArrowheads="1"/>
          </p:cNvSpPr>
          <p:nvPr/>
        </p:nvSpPr>
        <p:spPr bwMode="auto">
          <a:xfrm>
            <a:off x="4708525" y="228600"/>
            <a:ext cx="4511675" cy="404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深度优先搜索访问顶点的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次序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取决于图的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存储结构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而广度优先搜索访问顶点的次序是按“路径长度”渐增的次序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3236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04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04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04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04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04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300"/>
                                        <p:tgtEl>
                                          <p:spTgt spid="40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00"/>
                                        <p:tgtEl>
                                          <p:spTgt spid="40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nimBg="1" autoUpdateAnimBg="0"/>
      <p:bldP spid="404483" grpId="0" animBg="1" autoUpdateAnimBg="0"/>
      <p:bldP spid="404484" grpId="0" animBg="1" autoUpdateAnimBg="0"/>
      <p:bldP spid="404485" grpId="0" animBg="1" autoUpdateAnimBg="0"/>
      <p:bldP spid="404486" grpId="0" animBg="1" autoUpdateAnimBg="0"/>
      <p:bldP spid="404487" grpId="0" animBg="1" autoUpdateAnimBg="0"/>
      <p:bldP spid="404488" grpId="0" animBg="1" autoUpdateAnimBg="0"/>
      <p:bldP spid="404489" grpId="0" animBg="1" autoUpdateAnimBg="0"/>
      <p:bldP spid="404490" grpId="0" animBg="1"/>
      <p:bldP spid="404491" grpId="0" animBg="1"/>
      <p:bldP spid="404492" grpId="0" animBg="1"/>
      <p:bldP spid="404493" grpId="0" animBg="1"/>
      <p:bldP spid="404494" grpId="0" animBg="1"/>
      <p:bldP spid="404495" grpId="0" animBg="1"/>
      <p:bldP spid="404496" grpId="0" animBg="1"/>
      <p:bldP spid="404497" grpId="0" animBg="1"/>
      <p:bldP spid="404498" grpId="0" animBg="1"/>
      <p:bldP spid="404499" grpId="0" animBg="1" autoUpdateAnimBg="0"/>
      <p:bldP spid="404500" grpId="0" animBg="1"/>
      <p:bldP spid="404501" grpId="0" animBg="1"/>
      <p:bldP spid="404502" grpId="0" animBg="1"/>
      <p:bldP spid="404503" grpId="0" animBg="1"/>
      <p:bldP spid="404504" grpId="0" animBg="1"/>
      <p:bldP spid="404505" grpId="0" animBg="1"/>
      <p:bldP spid="404506" grpId="0" animBg="1"/>
      <p:bldP spid="404507" grpId="0" animBg="1"/>
      <p:bldP spid="404508" grpId="0" animBg="1"/>
      <p:bldP spid="404509" grpId="0" animBg="1"/>
      <p:bldP spid="404510" grpId="0" animBg="1"/>
      <p:bldP spid="404511" grpId="0" animBg="1"/>
      <p:bldP spid="404512" grpId="0" animBg="1"/>
      <p:bldP spid="404513" grpId="0" autoUpdateAnimBg="0"/>
      <p:bldP spid="40451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374650" y="304800"/>
            <a:ext cx="450215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  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例如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: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求下图中顶点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3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至顶点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5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的一条最短路径。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64515" name="Line 3"/>
          <p:cNvSpPr>
            <a:spLocks noChangeShapeType="1"/>
          </p:cNvSpPr>
          <p:nvPr/>
        </p:nvSpPr>
        <p:spPr bwMode="auto">
          <a:xfrm>
            <a:off x="5867400" y="457200"/>
            <a:ext cx="1524000" cy="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6" name="Line 4"/>
          <p:cNvSpPr>
            <a:spLocks noChangeShapeType="1"/>
          </p:cNvSpPr>
          <p:nvPr/>
        </p:nvSpPr>
        <p:spPr bwMode="auto">
          <a:xfrm flipH="1">
            <a:off x="6858000" y="609600"/>
            <a:ext cx="5334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7" name="Line 5"/>
          <p:cNvSpPr>
            <a:spLocks noChangeShapeType="1"/>
          </p:cNvSpPr>
          <p:nvPr/>
        </p:nvSpPr>
        <p:spPr bwMode="auto">
          <a:xfrm>
            <a:off x="5791200" y="609600"/>
            <a:ext cx="762000" cy="4572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8" name="Line 6"/>
          <p:cNvSpPr>
            <a:spLocks noChangeShapeType="1"/>
          </p:cNvSpPr>
          <p:nvPr/>
        </p:nvSpPr>
        <p:spPr bwMode="auto">
          <a:xfrm flipH="1">
            <a:off x="5562600" y="1219200"/>
            <a:ext cx="990600" cy="5334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19" name="Line 7"/>
          <p:cNvSpPr>
            <a:spLocks noChangeShapeType="1"/>
          </p:cNvSpPr>
          <p:nvPr/>
        </p:nvSpPr>
        <p:spPr bwMode="auto">
          <a:xfrm>
            <a:off x="6858000" y="1295400"/>
            <a:ext cx="8382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0" name="Line 8"/>
          <p:cNvSpPr>
            <a:spLocks noChangeShapeType="1"/>
          </p:cNvSpPr>
          <p:nvPr/>
        </p:nvSpPr>
        <p:spPr bwMode="auto">
          <a:xfrm flipH="1">
            <a:off x="7315200" y="1905000"/>
            <a:ext cx="3810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1" name="Line 9"/>
          <p:cNvSpPr>
            <a:spLocks noChangeShapeType="1"/>
          </p:cNvSpPr>
          <p:nvPr/>
        </p:nvSpPr>
        <p:spPr bwMode="auto">
          <a:xfrm>
            <a:off x="8077200" y="1828800"/>
            <a:ext cx="3810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2" name="Line 10"/>
          <p:cNvSpPr>
            <a:spLocks noChangeShapeType="1"/>
          </p:cNvSpPr>
          <p:nvPr/>
        </p:nvSpPr>
        <p:spPr bwMode="auto">
          <a:xfrm flipH="1">
            <a:off x="4800600" y="1981200"/>
            <a:ext cx="457200" cy="381000"/>
          </a:xfrm>
          <a:prstGeom prst="line">
            <a:avLst/>
          </a:prstGeom>
          <a:noFill/>
          <a:ln w="5715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4876800" y="2514600"/>
            <a:ext cx="990600" cy="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>
            <a:off x="6172200" y="2514600"/>
            <a:ext cx="838200" cy="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5" name="Line 13"/>
          <p:cNvSpPr>
            <a:spLocks noChangeShapeType="1"/>
          </p:cNvSpPr>
          <p:nvPr/>
        </p:nvSpPr>
        <p:spPr bwMode="auto">
          <a:xfrm>
            <a:off x="7391400" y="2514600"/>
            <a:ext cx="914400" cy="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18" name="Text Box 14"/>
          <p:cNvSpPr txBox="1">
            <a:spLocks noChangeArrowheads="1"/>
          </p:cNvSpPr>
          <p:nvPr/>
        </p:nvSpPr>
        <p:spPr bwMode="auto">
          <a:xfrm>
            <a:off x="457200" y="2057400"/>
            <a:ext cx="33528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链队列的状态如下所示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</p:txBody>
      </p:sp>
      <p:sp>
        <p:nvSpPr>
          <p:cNvPr id="405519" name="Text Box 15"/>
          <p:cNvSpPr txBox="1">
            <a:spLocks noChangeArrowheads="1"/>
          </p:cNvSpPr>
          <p:nvPr/>
        </p:nvSpPr>
        <p:spPr bwMode="auto">
          <a:xfrm>
            <a:off x="1676400" y="4311650"/>
            <a:ext cx="685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3        1         2         4         7         5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</a:t>
            </a:r>
          </a:p>
        </p:txBody>
      </p:sp>
      <p:sp>
        <p:nvSpPr>
          <p:cNvPr id="405520" name="Line 16"/>
          <p:cNvSpPr>
            <a:spLocks noChangeShapeType="1"/>
          </p:cNvSpPr>
          <p:nvPr/>
        </p:nvSpPr>
        <p:spPr bwMode="auto">
          <a:xfrm>
            <a:off x="2209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1" name="Line 17"/>
          <p:cNvSpPr>
            <a:spLocks noChangeShapeType="1"/>
          </p:cNvSpPr>
          <p:nvPr/>
        </p:nvSpPr>
        <p:spPr bwMode="auto">
          <a:xfrm>
            <a:off x="2514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2" name="Line 18"/>
          <p:cNvSpPr>
            <a:spLocks noChangeShapeType="1"/>
          </p:cNvSpPr>
          <p:nvPr/>
        </p:nvSpPr>
        <p:spPr bwMode="auto">
          <a:xfrm>
            <a:off x="1752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3" name="Line 19"/>
          <p:cNvSpPr>
            <a:spLocks noChangeShapeType="1"/>
          </p:cNvSpPr>
          <p:nvPr/>
        </p:nvSpPr>
        <p:spPr bwMode="auto">
          <a:xfrm>
            <a:off x="17526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4" name="Line 20"/>
          <p:cNvSpPr>
            <a:spLocks noChangeShapeType="1"/>
          </p:cNvSpPr>
          <p:nvPr/>
        </p:nvSpPr>
        <p:spPr bwMode="auto">
          <a:xfrm>
            <a:off x="17526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5" name="Line 21"/>
          <p:cNvSpPr>
            <a:spLocks noChangeShapeType="1"/>
          </p:cNvSpPr>
          <p:nvPr/>
        </p:nvSpPr>
        <p:spPr bwMode="auto">
          <a:xfrm>
            <a:off x="3352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6" name="Line 22"/>
          <p:cNvSpPr>
            <a:spLocks noChangeShapeType="1"/>
          </p:cNvSpPr>
          <p:nvPr/>
        </p:nvSpPr>
        <p:spPr bwMode="auto">
          <a:xfrm>
            <a:off x="3657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7" name="Line 23"/>
          <p:cNvSpPr>
            <a:spLocks noChangeShapeType="1"/>
          </p:cNvSpPr>
          <p:nvPr/>
        </p:nvSpPr>
        <p:spPr bwMode="auto">
          <a:xfrm>
            <a:off x="2895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8" name="Line 24"/>
          <p:cNvSpPr>
            <a:spLocks noChangeShapeType="1"/>
          </p:cNvSpPr>
          <p:nvPr/>
        </p:nvSpPr>
        <p:spPr bwMode="auto">
          <a:xfrm>
            <a:off x="28956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29" name="Line 25"/>
          <p:cNvSpPr>
            <a:spLocks noChangeShapeType="1"/>
          </p:cNvSpPr>
          <p:nvPr/>
        </p:nvSpPr>
        <p:spPr bwMode="auto">
          <a:xfrm>
            <a:off x="28956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0" name="Line 26"/>
          <p:cNvSpPr>
            <a:spLocks noChangeShapeType="1"/>
          </p:cNvSpPr>
          <p:nvPr/>
        </p:nvSpPr>
        <p:spPr bwMode="auto">
          <a:xfrm>
            <a:off x="45720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1" name="Line 27"/>
          <p:cNvSpPr>
            <a:spLocks noChangeShapeType="1"/>
          </p:cNvSpPr>
          <p:nvPr/>
        </p:nvSpPr>
        <p:spPr bwMode="auto">
          <a:xfrm>
            <a:off x="4876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2" name="Line 28"/>
          <p:cNvSpPr>
            <a:spLocks noChangeShapeType="1"/>
          </p:cNvSpPr>
          <p:nvPr/>
        </p:nvSpPr>
        <p:spPr bwMode="auto">
          <a:xfrm>
            <a:off x="4114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3" name="Line 29"/>
          <p:cNvSpPr>
            <a:spLocks noChangeShapeType="1"/>
          </p:cNvSpPr>
          <p:nvPr/>
        </p:nvSpPr>
        <p:spPr bwMode="auto">
          <a:xfrm>
            <a:off x="41148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4" name="Line 30"/>
          <p:cNvSpPr>
            <a:spLocks noChangeShapeType="1"/>
          </p:cNvSpPr>
          <p:nvPr/>
        </p:nvSpPr>
        <p:spPr bwMode="auto">
          <a:xfrm>
            <a:off x="41148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5" name="Line 31"/>
          <p:cNvSpPr>
            <a:spLocks noChangeShapeType="1"/>
          </p:cNvSpPr>
          <p:nvPr/>
        </p:nvSpPr>
        <p:spPr bwMode="auto">
          <a:xfrm>
            <a:off x="58674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6" name="Line 32"/>
          <p:cNvSpPr>
            <a:spLocks noChangeShapeType="1"/>
          </p:cNvSpPr>
          <p:nvPr/>
        </p:nvSpPr>
        <p:spPr bwMode="auto">
          <a:xfrm>
            <a:off x="61722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7" name="Line 33"/>
          <p:cNvSpPr>
            <a:spLocks noChangeShapeType="1"/>
          </p:cNvSpPr>
          <p:nvPr/>
        </p:nvSpPr>
        <p:spPr bwMode="auto">
          <a:xfrm>
            <a:off x="54102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8" name="Line 34"/>
          <p:cNvSpPr>
            <a:spLocks noChangeShapeType="1"/>
          </p:cNvSpPr>
          <p:nvPr/>
        </p:nvSpPr>
        <p:spPr bwMode="auto">
          <a:xfrm>
            <a:off x="54102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39" name="Line 35"/>
          <p:cNvSpPr>
            <a:spLocks noChangeShapeType="1"/>
          </p:cNvSpPr>
          <p:nvPr/>
        </p:nvSpPr>
        <p:spPr bwMode="auto">
          <a:xfrm>
            <a:off x="54102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0" name="Line 36"/>
          <p:cNvSpPr>
            <a:spLocks noChangeShapeType="1"/>
          </p:cNvSpPr>
          <p:nvPr/>
        </p:nvSpPr>
        <p:spPr bwMode="auto">
          <a:xfrm>
            <a:off x="7162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1" name="Line 37"/>
          <p:cNvSpPr>
            <a:spLocks noChangeShapeType="1"/>
          </p:cNvSpPr>
          <p:nvPr/>
        </p:nvSpPr>
        <p:spPr bwMode="auto">
          <a:xfrm>
            <a:off x="7467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2" name="Line 38"/>
          <p:cNvSpPr>
            <a:spLocks noChangeShapeType="1"/>
          </p:cNvSpPr>
          <p:nvPr/>
        </p:nvSpPr>
        <p:spPr bwMode="auto">
          <a:xfrm>
            <a:off x="6705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3" name="Line 39"/>
          <p:cNvSpPr>
            <a:spLocks noChangeShapeType="1"/>
          </p:cNvSpPr>
          <p:nvPr/>
        </p:nvSpPr>
        <p:spPr bwMode="auto">
          <a:xfrm>
            <a:off x="67056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4" name="Line 40"/>
          <p:cNvSpPr>
            <a:spLocks noChangeShapeType="1"/>
          </p:cNvSpPr>
          <p:nvPr/>
        </p:nvSpPr>
        <p:spPr bwMode="auto">
          <a:xfrm>
            <a:off x="67056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5" name="Line 41"/>
          <p:cNvSpPr>
            <a:spLocks noChangeShapeType="1"/>
          </p:cNvSpPr>
          <p:nvPr/>
        </p:nvSpPr>
        <p:spPr bwMode="auto">
          <a:xfrm>
            <a:off x="83820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6" name="Line 42"/>
          <p:cNvSpPr>
            <a:spLocks noChangeShapeType="1"/>
          </p:cNvSpPr>
          <p:nvPr/>
        </p:nvSpPr>
        <p:spPr bwMode="auto">
          <a:xfrm>
            <a:off x="8686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7" name="Line 43"/>
          <p:cNvSpPr>
            <a:spLocks noChangeShapeType="1"/>
          </p:cNvSpPr>
          <p:nvPr/>
        </p:nvSpPr>
        <p:spPr bwMode="auto">
          <a:xfrm>
            <a:off x="79248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8" name="Line 44"/>
          <p:cNvSpPr>
            <a:spLocks noChangeShapeType="1"/>
          </p:cNvSpPr>
          <p:nvPr/>
        </p:nvSpPr>
        <p:spPr bwMode="auto">
          <a:xfrm>
            <a:off x="79248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49" name="Line 45"/>
          <p:cNvSpPr>
            <a:spLocks noChangeShapeType="1"/>
          </p:cNvSpPr>
          <p:nvPr/>
        </p:nvSpPr>
        <p:spPr bwMode="auto">
          <a:xfrm>
            <a:off x="79248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0" name="Line 46"/>
          <p:cNvSpPr>
            <a:spLocks noChangeShapeType="1"/>
          </p:cNvSpPr>
          <p:nvPr/>
        </p:nvSpPr>
        <p:spPr bwMode="auto">
          <a:xfrm>
            <a:off x="12954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1" name="Line 47"/>
          <p:cNvSpPr>
            <a:spLocks noChangeShapeType="1"/>
          </p:cNvSpPr>
          <p:nvPr/>
        </p:nvSpPr>
        <p:spPr bwMode="auto">
          <a:xfrm>
            <a:off x="5334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2" name="Line 48"/>
          <p:cNvSpPr>
            <a:spLocks noChangeShapeType="1"/>
          </p:cNvSpPr>
          <p:nvPr/>
        </p:nvSpPr>
        <p:spPr bwMode="auto">
          <a:xfrm>
            <a:off x="533400" y="44196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3" name="Line 49"/>
          <p:cNvSpPr>
            <a:spLocks noChangeShapeType="1"/>
          </p:cNvSpPr>
          <p:nvPr/>
        </p:nvSpPr>
        <p:spPr bwMode="auto">
          <a:xfrm>
            <a:off x="533400" y="4876800"/>
            <a:ext cx="762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4" name="Line 50"/>
          <p:cNvSpPr>
            <a:spLocks noChangeShapeType="1"/>
          </p:cNvSpPr>
          <p:nvPr/>
        </p:nvSpPr>
        <p:spPr bwMode="auto">
          <a:xfrm>
            <a:off x="6705600" y="4876800"/>
            <a:ext cx="0" cy="1676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5" name="Line 51"/>
          <p:cNvSpPr>
            <a:spLocks noChangeShapeType="1"/>
          </p:cNvSpPr>
          <p:nvPr/>
        </p:nvSpPr>
        <p:spPr bwMode="auto">
          <a:xfrm flipH="1">
            <a:off x="3124200" y="6553200"/>
            <a:ext cx="3581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6" name="Line 52"/>
          <p:cNvSpPr>
            <a:spLocks noChangeShapeType="1"/>
          </p:cNvSpPr>
          <p:nvPr/>
        </p:nvSpPr>
        <p:spPr bwMode="auto">
          <a:xfrm flipV="1">
            <a:off x="3124200" y="4876800"/>
            <a:ext cx="0" cy="16764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7" name="Line 53"/>
          <p:cNvSpPr>
            <a:spLocks noChangeShapeType="1"/>
          </p:cNvSpPr>
          <p:nvPr/>
        </p:nvSpPr>
        <p:spPr bwMode="auto">
          <a:xfrm>
            <a:off x="5410200" y="4876800"/>
            <a:ext cx="0" cy="12954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8" name="Line 54"/>
          <p:cNvSpPr>
            <a:spLocks noChangeShapeType="1"/>
          </p:cNvSpPr>
          <p:nvPr/>
        </p:nvSpPr>
        <p:spPr bwMode="auto">
          <a:xfrm flipH="1">
            <a:off x="3124200" y="6172200"/>
            <a:ext cx="2286000" cy="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59" name="Line 55"/>
          <p:cNvSpPr>
            <a:spLocks noChangeShapeType="1"/>
          </p:cNvSpPr>
          <p:nvPr/>
        </p:nvSpPr>
        <p:spPr bwMode="auto">
          <a:xfrm>
            <a:off x="4114800" y="4876800"/>
            <a:ext cx="0" cy="914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0" name="Line 56"/>
          <p:cNvSpPr>
            <a:spLocks noChangeShapeType="1"/>
          </p:cNvSpPr>
          <p:nvPr/>
        </p:nvSpPr>
        <p:spPr bwMode="auto">
          <a:xfrm flipH="1">
            <a:off x="1981200" y="5791200"/>
            <a:ext cx="2133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1" name="Line 57"/>
          <p:cNvSpPr>
            <a:spLocks noChangeShapeType="1"/>
          </p:cNvSpPr>
          <p:nvPr/>
        </p:nvSpPr>
        <p:spPr bwMode="auto">
          <a:xfrm flipV="1">
            <a:off x="1981200" y="4876800"/>
            <a:ext cx="0" cy="9144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2" name="Line 58"/>
          <p:cNvSpPr>
            <a:spLocks noChangeShapeType="1"/>
          </p:cNvSpPr>
          <p:nvPr/>
        </p:nvSpPr>
        <p:spPr bwMode="auto">
          <a:xfrm>
            <a:off x="0" y="4191000"/>
            <a:ext cx="5638800" cy="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3" name="Line 59"/>
          <p:cNvSpPr>
            <a:spLocks noChangeShapeType="1"/>
          </p:cNvSpPr>
          <p:nvPr/>
        </p:nvSpPr>
        <p:spPr bwMode="auto">
          <a:xfrm>
            <a:off x="5638800" y="4267200"/>
            <a:ext cx="0" cy="152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4" name="Line 60"/>
          <p:cNvSpPr>
            <a:spLocks noChangeShapeType="1"/>
          </p:cNvSpPr>
          <p:nvPr/>
        </p:nvSpPr>
        <p:spPr bwMode="auto">
          <a:xfrm>
            <a:off x="5638800" y="4191000"/>
            <a:ext cx="0" cy="76200"/>
          </a:xfrm>
          <a:prstGeom prst="line">
            <a:avLst/>
          </a:prstGeom>
          <a:noFill/>
          <a:ln w="38100" cap="sq">
            <a:solidFill>
              <a:srgbClr val="3333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5" name="Line 61"/>
          <p:cNvSpPr>
            <a:spLocks noChangeShapeType="1"/>
          </p:cNvSpPr>
          <p:nvPr/>
        </p:nvSpPr>
        <p:spPr bwMode="auto">
          <a:xfrm>
            <a:off x="8077200" y="4191000"/>
            <a:ext cx="1066800" cy="0"/>
          </a:xfrm>
          <a:prstGeom prst="line">
            <a:avLst/>
          </a:prstGeom>
          <a:noFill/>
          <a:ln w="38100" cap="sq">
            <a:solidFill>
              <a:srgbClr val="7800E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6" name="Line 62"/>
          <p:cNvSpPr>
            <a:spLocks noChangeShapeType="1"/>
          </p:cNvSpPr>
          <p:nvPr/>
        </p:nvSpPr>
        <p:spPr bwMode="auto">
          <a:xfrm>
            <a:off x="8077200" y="4191000"/>
            <a:ext cx="0" cy="228600"/>
          </a:xfrm>
          <a:prstGeom prst="line">
            <a:avLst/>
          </a:prstGeom>
          <a:noFill/>
          <a:ln w="38100" cap="sq">
            <a:solidFill>
              <a:srgbClr val="7800EE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67" name="Text Box 63"/>
          <p:cNvSpPr txBox="1">
            <a:spLocks noChangeArrowheads="1"/>
          </p:cNvSpPr>
          <p:nvPr/>
        </p:nvSpPr>
        <p:spPr bwMode="auto">
          <a:xfrm>
            <a:off x="-92075" y="3581400"/>
            <a:ext cx="9188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latin typeface="Times New Roman" charset="0"/>
              </a:rPr>
              <a:t>     </a:t>
            </a:r>
            <a:r>
              <a:rPr kumimoji="1" lang="en-US" altLang="zh-CN" sz="3600">
                <a:solidFill>
                  <a:srgbClr val="3333FF"/>
                </a:solidFill>
                <a:latin typeface="Times New Roman" charset="0"/>
              </a:rPr>
              <a:t>Q.front</a:t>
            </a:r>
            <a:r>
              <a:rPr kumimoji="1" lang="en-US" altLang="zh-CN" sz="3600">
                <a:latin typeface="Times New Roman" charset="0"/>
              </a:rPr>
              <a:t>                                                    </a:t>
            </a:r>
            <a:r>
              <a:rPr kumimoji="1" lang="en-US" altLang="zh-CN" sz="3600">
                <a:solidFill>
                  <a:srgbClr val="7800EE"/>
                </a:solidFill>
                <a:latin typeface="Times New Roman" charset="0"/>
              </a:rPr>
              <a:t>Q.rear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05568" name="Rectangle 64"/>
          <p:cNvSpPr>
            <a:spLocks noChangeArrowheads="1"/>
          </p:cNvSpPr>
          <p:nvPr/>
        </p:nvSpPr>
        <p:spPr bwMode="auto">
          <a:xfrm>
            <a:off x="533400" y="4419600"/>
            <a:ext cx="762000" cy="457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5569" name="Line 65"/>
          <p:cNvSpPr>
            <a:spLocks noChangeShapeType="1"/>
          </p:cNvSpPr>
          <p:nvPr/>
        </p:nvSpPr>
        <p:spPr bwMode="auto">
          <a:xfrm>
            <a:off x="990600" y="4419600"/>
            <a:ext cx="0" cy="457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0" name="Line 66"/>
          <p:cNvSpPr>
            <a:spLocks noChangeShapeType="1"/>
          </p:cNvSpPr>
          <p:nvPr/>
        </p:nvSpPr>
        <p:spPr bwMode="auto">
          <a:xfrm>
            <a:off x="1752600" y="4876800"/>
            <a:ext cx="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1" name="Line 67"/>
          <p:cNvSpPr>
            <a:spLocks noChangeShapeType="1"/>
          </p:cNvSpPr>
          <p:nvPr/>
        </p:nvSpPr>
        <p:spPr bwMode="auto">
          <a:xfrm flipH="1">
            <a:off x="762000" y="6172200"/>
            <a:ext cx="990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2" name="Line 68"/>
          <p:cNvSpPr>
            <a:spLocks noChangeShapeType="1"/>
          </p:cNvSpPr>
          <p:nvPr/>
        </p:nvSpPr>
        <p:spPr bwMode="auto">
          <a:xfrm flipV="1">
            <a:off x="762000" y="4876800"/>
            <a:ext cx="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3" name="Line 69"/>
          <p:cNvSpPr>
            <a:spLocks noChangeShapeType="1"/>
          </p:cNvSpPr>
          <p:nvPr/>
        </p:nvSpPr>
        <p:spPr bwMode="auto">
          <a:xfrm>
            <a:off x="2895600" y="4876800"/>
            <a:ext cx="0" cy="4572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4" name="Line 70"/>
          <p:cNvSpPr>
            <a:spLocks noChangeShapeType="1"/>
          </p:cNvSpPr>
          <p:nvPr/>
        </p:nvSpPr>
        <p:spPr bwMode="auto">
          <a:xfrm flipH="1">
            <a:off x="1981200" y="5334000"/>
            <a:ext cx="914400" cy="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5" name="Line 71"/>
          <p:cNvSpPr>
            <a:spLocks noChangeShapeType="1"/>
          </p:cNvSpPr>
          <p:nvPr/>
        </p:nvSpPr>
        <p:spPr bwMode="auto">
          <a:xfrm>
            <a:off x="7924800" y="4876800"/>
            <a:ext cx="0" cy="4572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6" name="Line 72"/>
          <p:cNvSpPr>
            <a:spLocks noChangeShapeType="1"/>
          </p:cNvSpPr>
          <p:nvPr/>
        </p:nvSpPr>
        <p:spPr bwMode="auto">
          <a:xfrm flipH="1">
            <a:off x="5638800" y="5334000"/>
            <a:ext cx="2286000" cy="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7" name="Line 73"/>
          <p:cNvSpPr>
            <a:spLocks noChangeShapeType="1"/>
          </p:cNvSpPr>
          <p:nvPr/>
        </p:nvSpPr>
        <p:spPr bwMode="auto">
          <a:xfrm flipV="1">
            <a:off x="5638800" y="4876800"/>
            <a:ext cx="0" cy="457200"/>
          </a:xfrm>
          <a:prstGeom prst="line">
            <a:avLst/>
          </a:prstGeom>
          <a:noFill/>
          <a:ln w="381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8" name="Line 74"/>
          <p:cNvSpPr>
            <a:spLocks noChangeShapeType="1"/>
          </p:cNvSpPr>
          <p:nvPr/>
        </p:nvSpPr>
        <p:spPr bwMode="auto">
          <a:xfrm>
            <a:off x="5562600" y="1828800"/>
            <a:ext cx="3810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79" name="Line 75"/>
          <p:cNvSpPr>
            <a:spLocks noChangeShapeType="1"/>
          </p:cNvSpPr>
          <p:nvPr/>
        </p:nvSpPr>
        <p:spPr bwMode="auto">
          <a:xfrm>
            <a:off x="1143000" y="46482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80" name="Line 76"/>
          <p:cNvSpPr>
            <a:spLocks noChangeShapeType="1"/>
          </p:cNvSpPr>
          <p:nvPr/>
        </p:nvSpPr>
        <p:spPr bwMode="auto">
          <a:xfrm>
            <a:off x="2362200" y="4648200"/>
            <a:ext cx="53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81" name="Line 77"/>
          <p:cNvSpPr>
            <a:spLocks noChangeShapeType="1"/>
          </p:cNvSpPr>
          <p:nvPr/>
        </p:nvSpPr>
        <p:spPr bwMode="auto">
          <a:xfrm>
            <a:off x="3505200" y="46482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82" name="Line 78"/>
          <p:cNvSpPr>
            <a:spLocks noChangeShapeType="1"/>
          </p:cNvSpPr>
          <p:nvPr/>
        </p:nvSpPr>
        <p:spPr bwMode="auto">
          <a:xfrm>
            <a:off x="4724400" y="46482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83" name="Line 79"/>
          <p:cNvSpPr>
            <a:spLocks noChangeShapeType="1"/>
          </p:cNvSpPr>
          <p:nvPr/>
        </p:nvSpPr>
        <p:spPr bwMode="auto">
          <a:xfrm>
            <a:off x="6019800" y="46482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5584" name="Line 80"/>
          <p:cNvSpPr>
            <a:spLocks noChangeShapeType="1"/>
          </p:cNvSpPr>
          <p:nvPr/>
        </p:nvSpPr>
        <p:spPr bwMode="auto">
          <a:xfrm>
            <a:off x="7315200" y="46482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93" name="Oval 81"/>
          <p:cNvSpPr>
            <a:spLocks noChangeArrowheads="1"/>
          </p:cNvSpPr>
          <p:nvPr/>
        </p:nvSpPr>
        <p:spPr bwMode="auto">
          <a:xfrm>
            <a:off x="5486400" y="3048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4" name="Oval 82"/>
          <p:cNvSpPr>
            <a:spLocks noChangeArrowheads="1"/>
          </p:cNvSpPr>
          <p:nvPr/>
        </p:nvSpPr>
        <p:spPr bwMode="auto">
          <a:xfrm>
            <a:off x="7391400" y="3048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2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5" name="Oval 83"/>
          <p:cNvSpPr>
            <a:spLocks noChangeArrowheads="1"/>
          </p:cNvSpPr>
          <p:nvPr/>
        </p:nvSpPr>
        <p:spPr bwMode="auto">
          <a:xfrm>
            <a:off x="6477000" y="9906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1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6" name="Oval 84"/>
          <p:cNvSpPr>
            <a:spLocks noChangeArrowheads="1"/>
          </p:cNvSpPr>
          <p:nvPr/>
        </p:nvSpPr>
        <p:spPr bwMode="auto">
          <a:xfrm>
            <a:off x="5181600" y="16002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7" name="Oval 85"/>
          <p:cNvSpPr>
            <a:spLocks noChangeArrowheads="1"/>
          </p:cNvSpPr>
          <p:nvPr/>
        </p:nvSpPr>
        <p:spPr bwMode="auto">
          <a:xfrm>
            <a:off x="7696200" y="16002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8" name="Oval 86"/>
          <p:cNvSpPr>
            <a:spLocks noChangeArrowheads="1"/>
          </p:cNvSpPr>
          <p:nvPr/>
        </p:nvSpPr>
        <p:spPr bwMode="auto">
          <a:xfrm>
            <a:off x="4495800" y="22860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599" name="Oval 87"/>
          <p:cNvSpPr>
            <a:spLocks noChangeArrowheads="1"/>
          </p:cNvSpPr>
          <p:nvPr/>
        </p:nvSpPr>
        <p:spPr bwMode="auto">
          <a:xfrm>
            <a:off x="5791200" y="22860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6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600" name="Oval 88"/>
          <p:cNvSpPr>
            <a:spLocks noChangeArrowheads="1"/>
          </p:cNvSpPr>
          <p:nvPr/>
        </p:nvSpPr>
        <p:spPr bwMode="auto">
          <a:xfrm>
            <a:off x="7010400" y="22860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8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64601" name="Oval 89"/>
          <p:cNvSpPr>
            <a:spLocks noChangeArrowheads="1"/>
          </p:cNvSpPr>
          <p:nvPr/>
        </p:nvSpPr>
        <p:spPr bwMode="auto">
          <a:xfrm>
            <a:off x="8305800" y="2286000"/>
            <a:ext cx="381000" cy="3810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9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288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1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1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4000"/>
                            </p:stCondLst>
                            <p:childTnLst>
                              <p:par>
                                <p:cTn id="1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25000"/>
                            </p:stCondLst>
                            <p:childTnLst>
                              <p:par>
                                <p:cTn id="1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1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1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1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28500"/>
                            </p:stCondLst>
                            <p:childTnLst>
                              <p:par>
                                <p:cTn id="1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2950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1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31000"/>
                            </p:stCondLst>
                            <p:childTnLst>
                              <p:par>
                                <p:cTn id="1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31500"/>
                            </p:stCondLst>
                            <p:childTnLst>
                              <p:par>
                                <p:cTn id="1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 nodeType="afterGroup">
                            <p:stCondLst>
                              <p:cond delay="32500"/>
                            </p:stCondLst>
                            <p:childTnLst>
                              <p:par>
                                <p:cTn id="2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33000"/>
                            </p:stCondLst>
                            <p:childTnLst>
                              <p:par>
                                <p:cTn id="2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18" grpId="0" autoUpdateAnimBg="0"/>
      <p:bldP spid="405519" grpId="0" autoUpdateAnimBg="0"/>
      <p:bldP spid="405520" grpId="0" animBg="1"/>
      <p:bldP spid="405521" grpId="0" animBg="1"/>
      <p:bldP spid="405522" grpId="0" animBg="1"/>
      <p:bldP spid="405523" grpId="0" animBg="1"/>
      <p:bldP spid="405524" grpId="0" animBg="1"/>
      <p:bldP spid="405525" grpId="0" animBg="1"/>
      <p:bldP spid="405526" grpId="0" animBg="1"/>
      <p:bldP spid="405527" grpId="0" animBg="1"/>
      <p:bldP spid="405528" grpId="0" animBg="1"/>
      <p:bldP spid="405529" grpId="0" animBg="1"/>
      <p:bldP spid="405530" grpId="0" animBg="1"/>
      <p:bldP spid="405531" grpId="0" animBg="1"/>
      <p:bldP spid="405532" grpId="0" animBg="1"/>
      <p:bldP spid="405533" grpId="0" animBg="1"/>
      <p:bldP spid="405534" grpId="0" animBg="1"/>
      <p:bldP spid="405535" grpId="0" animBg="1"/>
      <p:bldP spid="405536" grpId="0" animBg="1"/>
      <p:bldP spid="405537" grpId="0" animBg="1"/>
      <p:bldP spid="405538" grpId="0" animBg="1"/>
      <p:bldP spid="405539" grpId="0" animBg="1"/>
      <p:bldP spid="405540" grpId="0" animBg="1"/>
      <p:bldP spid="405541" grpId="0" animBg="1"/>
      <p:bldP spid="405542" grpId="0" animBg="1"/>
      <p:bldP spid="405543" grpId="0" animBg="1"/>
      <p:bldP spid="405544" grpId="0" animBg="1"/>
      <p:bldP spid="405545" grpId="0" animBg="1"/>
      <p:bldP spid="405546" grpId="0" animBg="1"/>
      <p:bldP spid="405547" grpId="0" animBg="1"/>
      <p:bldP spid="405548" grpId="0" animBg="1"/>
      <p:bldP spid="405549" grpId="0" animBg="1"/>
      <p:bldP spid="405550" grpId="0" animBg="1"/>
      <p:bldP spid="405551" grpId="0" animBg="1"/>
      <p:bldP spid="405552" grpId="0" animBg="1"/>
      <p:bldP spid="405553" grpId="0" animBg="1"/>
      <p:bldP spid="405554" grpId="0" animBg="1"/>
      <p:bldP spid="405555" grpId="0" animBg="1"/>
      <p:bldP spid="405556" grpId="0" animBg="1"/>
      <p:bldP spid="405557" grpId="0" animBg="1"/>
      <p:bldP spid="405558" grpId="0" animBg="1"/>
      <p:bldP spid="405559" grpId="0" animBg="1"/>
      <p:bldP spid="405560" grpId="0" animBg="1"/>
      <p:bldP spid="405561" grpId="0" animBg="1"/>
      <p:bldP spid="405562" grpId="0" animBg="1"/>
      <p:bldP spid="405563" grpId="0" animBg="1"/>
      <p:bldP spid="405564" grpId="0" animBg="1"/>
      <p:bldP spid="405565" grpId="0" animBg="1"/>
      <p:bldP spid="405566" grpId="0" animBg="1"/>
      <p:bldP spid="405567" grpId="0" autoUpdateAnimBg="0"/>
      <p:bldP spid="405568" grpId="0" animBg="1"/>
      <p:bldP spid="405569" grpId="0" animBg="1"/>
      <p:bldP spid="405570" grpId="0" animBg="1"/>
      <p:bldP spid="405571" grpId="0" animBg="1"/>
      <p:bldP spid="405572" grpId="0" animBg="1"/>
      <p:bldP spid="405573" grpId="0" animBg="1"/>
      <p:bldP spid="405574" grpId="0" animBg="1"/>
      <p:bldP spid="405575" grpId="0" animBg="1"/>
      <p:bldP spid="405576" grpId="0" animBg="1"/>
      <p:bldP spid="405577" grpId="0" animBg="1"/>
      <p:bldP spid="405578" grpId="0" animBg="1"/>
      <p:bldP spid="405579" grpId="0" animBg="1"/>
      <p:bldP spid="405580" grpId="0" animBg="1"/>
      <p:bldP spid="405581" grpId="0" animBg="1"/>
      <p:bldP spid="405582" grpId="0" animBg="1"/>
      <p:bldP spid="405583" grpId="0" animBg="1"/>
      <p:bldP spid="40558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-533400" y="1236663"/>
            <a:ext cx="95250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1) </a:t>
            </a:r>
            <a:r>
              <a:rPr kumimoji="1" lang="zh-CN" altLang="en-US" sz="36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将链队列的结点改为“双链”结点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。即</a:t>
            </a:r>
          </a:p>
          <a:p>
            <a:pPr lvl="2"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结点中包含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next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priou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两个指针；</a:t>
            </a: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-533400" y="2627313"/>
            <a:ext cx="9525000" cy="215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2) </a:t>
            </a:r>
            <a:r>
              <a:rPr kumimoji="1" lang="zh-CN" altLang="en-US" sz="36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修改入队列的操作。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插入新的队尾结点时，令其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priou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域的指针指向刚刚出队列的结点，即当前的队头指针所指结点；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381000" y="4705350"/>
            <a:ext cx="91440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3) </a:t>
            </a:r>
            <a:r>
              <a:rPr kumimoji="1" lang="zh-CN" altLang="en-US" sz="36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修改出队列的操作。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出队列时，仅移动队头指针，而不将队头结点从链表中删除。</a:t>
            </a:r>
          </a:p>
        </p:txBody>
      </p:sp>
    </p:spTree>
    <p:extLst>
      <p:ext uri="{BB962C8B-B14F-4D97-AF65-F5344CB8AC3E}">
        <p14:creationId xmlns:p14="http://schemas.microsoft.com/office/powerpoint/2010/main" val="1129634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Text Box 2"/>
          <p:cNvSpPr txBox="1">
            <a:spLocks noChangeArrowheads="1"/>
          </p:cNvSpPr>
          <p:nvPr/>
        </p:nvSpPr>
        <p:spPr bwMode="auto">
          <a:xfrm>
            <a:off x="0" y="228600"/>
            <a:ext cx="8883650" cy="6443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typedef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DuLinkList QueuePtr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;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void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InitQueue(LinkQueue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Q) {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Q.front=Q.rear=(QueuePtr)malloc(sizeof(QNode));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0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Q.front-&gt;next = Q.rear-&gt;next = NULL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void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EnQueue( LinkQueue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Q, QelemType e ) {</a:t>
            </a:r>
            <a:endParaRPr kumimoji="1" lang="en-US" altLang="zh-CN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p = (QueuePtr)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malloc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sizeof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(QNode));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p-&gt;data = e;  p-&gt;next =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NULL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p-&gt;priou = Q.front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Q.rear-&gt;next = p;  Q.rear = p;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void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DeQueue( LinkQueue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Q, QelemType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&amp;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e ) {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Q.front = Q.front-&gt;next;  e = Q.front-&gt;data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</p:txBody>
      </p:sp>
      <p:sp>
        <p:nvSpPr>
          <p:cNvPr id="407555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27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0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7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4" grpId="0" animBg="1" autoUpdateAnimBg="0"/>
      <p:bldP spid="40755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1371600" y="0"/>
            <a:ext cx="47593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3 </a:t>
            </a:r>
            <a:r>
              <a:rPr kumimoji="1" lang="en-US" altLang="zh-CN" sz="48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图的生成树</a:t>
            </a:r>
            <a:endParaRPr kumimoji="1" lang="zh-CN" altLang="en-US" sz="3400" b="1">
              <a:latin typeface="Times New Roman" charset="0"/>
              <a:ea typeface="楷体_GB2312" charset="0"/>
            </a:endParaRPr>
          </a:p>
        </p:txBody>
      </p:sp>
      <p:sp>
        <p:nvSpPr>
          <p:cNvPr id="408579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8001000" cy="470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设图G=(V, E)是个连通图, 当从图任一顶点出发遍历图G时, 将边集E(G)分成两个集合A(G)和B(G)。其中A(G)是遍历图时所经过的边的集合, B(G)是遍历图时未经过的边的集合。显然, G1=(V, A)是图G的子图。我们称子图G1是连通图G的生成树</a:t>
            </a:r>
            <a:endParaRPr kumimoji="1" lang="zh-CN" altLang="en-US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05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79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2"/>
          <p:cNvSpPr txBox="1">
            <a:spLocks noChangeArrowheads="1"/>
          </p:cNvSpPr>
          <p:nvPr/>
        </p:nvSpPr>
        <p:spPr bwMode="auto">
          <a:xfrm>
            <a:off x="1371600" y="0"/>
            <a:ext cx="40735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zh-CN" sz="48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算法思路</a:t>
            </a:r>
            <a:endParaRPr kumimoji="1" lang="zh-CN" altLang="en-US" sz="4800" b="1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09603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8353425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也是图的遍历算法的应用</a:t>
            </a:r>
            <a:r>
              <a:rPr lang="en-US" altLang="zh-CN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.</a:t>
            </a:r>
          </a:p>
          <a:p>
            <a:pPr eaLnBrk="1" hangingPunct="1"/>
            <a:r>
              <a:rPr lang="zh-CN" altLang="en-US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将访问顶点变成创建生成树或增加一个结点到生成树中的操作</a:t>
            </a:r>
            <a:r>
              <a:rPr lang="en-US" altLang="zh-CN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.</a:t>
            </a:r>
          </a:p>
          <a:p>
            <a:pPr eaLnBrk="1" hangingPunct="1"/>
            <a:r>
              <a:rPr lang="zh-CN" altLang="en-US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生成树</a:t>
            </a:r>
            <a:r>
              <a:rPr lang="en-US" altLang="zh-CN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/</a:t>
            </a:r>
            <a:r>
              <a:rPr lang="zh-CN" altLang="en-US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森林的存储表示采用孩子</a:t>
            </a:r>
            <a:r>
              <a:rPr lang="en-US" altLang="zh-CN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-</a:t>
            </a:r>
            <a:r>
              <a:rPr lang="zh-CN" altLang="en-US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兄弟表示法</a:t>
            </a:r>
            <a:r>
              <a:rPr lang="en-US" altLang="zh-CN" sz="4400">
                <a:solidFill>
                  <a:schemeClr val="tx2"/>
                </a:solidFill>
                <a:latin typeface="楷体_GB2312" charset="0"/>
                <a:ea typeface="楷体_GB2312" charset="0"/>
              </a:rPr>
              <a:t>.</a:t>
            </a:r>
          </a:p>
          <a:p>
            <a:pPr eaLnBrk="1" hangingPunct="1"/>
            <a:endParaRPr lang="en-US" altLang="zh-CN" sz="4400">
              <a:solidFill>
                <a:schemeClr val="tx2"/>
              </a:solidFill>
              <a:latin typeface="楷体_GB2312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96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utoUpdateAnimBg="0"/>
      <p:bldP spid="409603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69635" name="Line 3"/>
          <p:cNvSpPr>
            <a:spLocks noChangeShapeType="1"/>
          </p:cNvSpPr>
          <p:nvPr/>
        </p:nvSpPr>
        <p:spPr bwMode="auto">
          <a:xfrm>
            <a:off x="1600200" y="3581400"/>
            <a:ext cx="4572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324600"/>
            <a:ext cx="381000" cy="381000"/>
          </a:xfrm>
          <a:prstGeom prst="actionButtonHome">
            <a:avLst/>
          </a:prstGeom>
          <a:solidFill>
            <a:srgbClr val="CCFFFF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9637" name="Oval 5"/>
          <p:cNvSpPr>
            <a:spLocks noChangeArrowheads="1"/>
          </p:cNvSpPr>
          <p:nvPr/>
        </p:nvSpPr>
        <p:spPr bwMode="auto">
          <a:xfrm>
            <a:off x="2209800" y="22860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1</a:t>
            </a:r>
          </a:p>
        </p:txBody>
      </p:sp>
      <p:sp>
        <p:nvSpPr>
          <p:cNvPr id="69638" name="Oval 6"/>
          <p:cNvSpPr>
            <a:spLocks noChangeArrowheads="1"/>
          </p:cNvSpPr>
          <p:nvPr/>
        </p:nvSpPr>
        <p:spPr bwMode="auto">
          <a:xfrm>
            <a:off x="1295400" y="31242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2</a:t>
            </a:r>
          </a:p>
        </p:txBody>
      </p:sp>
      <p:sp>
        <p:nvSpPr>
          <p:cNvPr id="69639" name="Oval 7"/>
          <p:cNvSpPr>
            <a:spLocks noChangeArrowheads="1"/>
          </p:cNvSpPr>
          <p:nvPr/>
        </p:nvSpPr>
        <p:spPr bwMode="auto">
          <a:xfrm>
            <a:off x="3200400" y="31242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3</a:t>
            </a:r>
          </a:p>
        </p:txBody>
      </p:sp>
      <p:sp>
        <p:nvSpPr>
          <p:cNvPr id="69640" name="Oval 8"/>
          <p:cNvSpPr>
            <a:spLocks noChangeArrowheads="1"/>
          </p:cNvSpPr>
          <p:nvPr/>
        </p:nvSpPr>
        <p:spPr bwMode="auto">
          <a:xfrm>
            <a:off x="762000" y="41148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4</a:t>
            </a:r>
          </a:p>
        </p:txBody>
      </p:sp>
      <p:sp>
        <p:nvSpPr>
          <p:cNvPr id="69641" name="Oval 9"/>
          <p:cNvSpPr>
            <a:spLocks noChangeArrowheads="1"/>
          </p:cNvSpPr>
          <p:nvPr/>
        </p:nvSpPr>
        <p:spPr bwMode="auto">
          <a:xfrm>
            <a:off x="1828800" y="41148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5</a:t>
            </a:r>
          </a:p>
        </p:txBody>
      </p:sp>
      <p:sp>
        <p:nvSpPr>
          <p:cNvPr id="69642" name="Oval 10"/>
          <p:cNvSpPr>
            <a:spLocks noChangeArrowheads="1"/>
          </p:cNvSpPr>
          <p:nvPr/>
        </p:nvSpPr>
        <p:spPr bwMode="auto">
          <a:xfrm>
            <a:off x="2667000" y="41148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6</a:t>
            </a:r>
          </a:p>
        </p:txBody>
      </p:sp>
      <p:sp>
        <p:nvSpPr>
          <p:cNvPr id="69643" name="Oval 11"/>
          <p:cNvSpPr>
            <a:spLocks noChangeArrowheads="1"/>
          </p:cNvSpPr>
          <p:nvPr/>
        </p:nvSpPr>
        <p:spPr bwMode="auto">
          <a:xfrm>
            <a:off x="3733800" y="41148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7</a:t>
            </a:r>
          </a:p>
        </p:txBody>
      </p:sp>
      <p:sp>
        <p:nvSpPr>
          <p:cNvPr id="69644" name="Oval 12"/>
          <p:cNvSpPr>
            <a:spLocks noChangeArrowheads="1"/>
          </p:cNvSpPr>
          <p:nvPr/>
        </p:nvSpPr>
        <p:spPr bwMode="auto">
          <a:xfrm>
            <a:off x="2286000" y="5181600"/>
            <a:ext cx="457200" cy="457200"/>
          </a:xfrm>
          <a:prstGeom prst="ellipse">
            <a:avLst/>
          </a:prstGeom>
          <a:gradFill rotWithShape="0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1"/>
          </a:gradFill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8</a:t>
            </a:r>
          </a:p>
        </p:txBody>
      </p:sp>
      <p:sp>
        <p:nvSpPr>
          <p:cNvPr id="69645" name="Line 13"/>
          <p:cNvSpPr>
            <a:spLocks noChangeShapeType="1"/>
          </p:cNvSpPr>
          <p:nvPr/>
        </p:nvSpPr>
        <p:spPr bwMode="auto">
          <a:xfrm flipH="1">
            <a:off x="990600" y="3581400"/>
            <a:ext cx="4572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6" name="Line 14"/>
          <p:cNvSpPr>
            <a:spLocks noChangeShapeType="1"/>
          </p:cNvSpPr>
          <p:nvPr/>
        </p:nvSpPr>
        <p:spPr bwMode="auto">
          <a:xfrm flipH="1">
            <a:off x="2895600" y="3581400"/>
            <a:ext cx="4572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7" name="Line 15"/>
          <p:cNvSpPr>
            <a:spLocks noChangeShapeType="1"/>
          </p:cNvSpPr>
          <p:nvPr/>
        </p:nvSpPr>
        <p:spPr bwMode="auto">
          <a:xfrm>
            <a:off x="3505200" y="3581400"/>
            <a:ext cx="4572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8" name="Line 16"/>
          <p:cNvSpPr>
            <a:spLocks noChangeShapeType="1"/>
          </p:cNvSpPr>
          <p:nvPr/>
        </p:nvSpPr>
        <p:spPr bwMode="auto">
          <a:xfrm>
            <a:off x="3124200" y="4343400"/>
            <a:ext cx="60960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9" name="Line 17"/>
          <p:cNvSpPr>
            <a:spLocks noChangeShapeType="1"/>
          </p:cNvSpPr>
          <p:nvPr/>
        </p:nvSpPr>
        <p:spPr bwMode="auto">
          <a:xfrm>
            <a:off x="1143000" y="4495800"/>
            <a:ext cx="1143000" cy="838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642" name="Oval 18"/>
          <p:cNvSpPr>
            <a:spLocks noChangeArrowheads="1"/>
          </p:cNvSpPr>
          <p:nvPr/>
        </p:nvSpPr>
        <p:spPr bwMode="auto">
          <a:xfrm>
            <a:off x="2209800" y="2286000"/>
            <a:ext cx="457200" cy="457200"/>
          </a:xfrm>
          <a:prstGeom prst="ellipse">
            <a:avLst/>
          </a:prstGeom>
          <a:solidFill>
            <a:srgbClr val="FFCC99"/>
          </a:solidFill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1</a:t>
            </a:r>
          </a:p>
        </p:txBody>
      </p:sp>
      <p:sp>
        <p:nvSpPr>
          <p:cNvPr id="410643" name="Oval 19"/>
          <p:cNvSpPr>
            <a:spLocks noChangeArrowheads="1"/>
          </p:cNvSpPr>
          <p:nvPr/>
        </p:nvSpPr>
        <p:spPr bwMode="auto">
          <a:xfrm>
            <a:off x="1295400" y="3124200"/>
            <a:ext cx="457200" cy="457200"/>
          </a:xfrm>
          <a:prstGeom prst="ellipse">
            <a:avLst/>
          </a:prstGeom>
          <a:solidFill>
            <a:srgbClr val="FFCC99"/>
          </a:solidFill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2</a:t>
            </a:r>
          </a:p>
        </p:txBody>
      </p:sp>
      <p:sp>
        <p:nvSpPr>
          <p:cNvPr id="410644" name="Oval 20"/>
          <p:cNvSpPr>
            <a:spLocks noChangeArrowheads="1"/>
          </p:cNvSpPr>
          <p:nvPr/>
        </p:nvSpPr>
        <p:spPr bwMode="auto">
          <a:xfrm>
            <a:off x="3200400" y="3124200"/>
            <a:ext cx="457200" cy="457200"/>
          </a:xfrm>
          <a:prstGeom prst="ellipse">
            <a:avLst/>
          </a:prstGeom>
          <a:solidFill>
            <a:srgbClr val="FFCC99"/>
          </a:solidFill>
          <a:ln w="28575">
            <a:solidFill>
              <a:schemeClr val="hlink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latin typeface="Times New Roman" charset="0"/>
              </a:rPr>
              <a:t>V</a:t>
            </a:r>
            <a:r>
              <a:rPr kumimoji="1" lang="en-US" altLang="zh-CN" sz="2400" b="1" baseline="-25000">
                <a:latin typeface="Times New Roman" charset="0"/>
              </a:rPr>
              <a:t>3</a:t>
            </a:r>
          </a:p>
        </p:txBody>
      </p:sp>
      <p:grpSp>
        <p:nvGrpSpPr>
          <p:cNvPr id="410645" name="Group 21"/>
          <p:cNvGrpSpPr>
            <a:grpSpLocks/>
          </p:cNvGrpSpPr>
          <p:nvPr/>
        </p:nvGrpSpPr>
        <p:grpSpPr bwMode="auto">
          <a:xfrm>
            <a:off x="1600200" y="3581400"/>
            <a:ext cx="685800" cy="990600"/>
            <a:chOff x="1008" y="2256"/>
            <a:chExt cx="432" cy="624"/>
          </a:xfrm>
        </p:grpSpPr>
        <p:sp>
          <p:nvSpPr>
            <p:cNvPr id="69781" name="Line 22"/>
            <p:cNvSpPr>
              <a:spLocks noChangeShapeType="1"/>
            </p:cNvSpPr>
            <p:nvPr/>
          </p:nvSpPr>
          <p:spPr bwMode="auto">
            <a:xfrm>
              <a:off x="1008" y="2256"/>
              <a:ext cx="288" cy="33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82" name="Oval 23"/>
            <p:cNvSpPr>
              <a:spLocks noChangeArrowheads="1"/>
            </p:cNvSpPr>
            <p:nvPr/>
          </p:nvSpPr>
          <p:spPr bwMode="auto">
            <a:xfrm>
              <a:off x="1152" y="2592"/>
              <a:ext cx="288" cy="288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Times New Roman" charset="0"/>
                </a:rPr>
                <a:t>V</a:t>
              </a:r>
              <a:r>
                <a:rPr kumimoji="1" lang="en-US" altLang="zh-CN" sz="2400" b="1" baseline="-25000">
                  <a:latin typeface="Times New Roman" charset="0"/>
                </a:rPr>
                <a:t>5</a:t>
              </a:r>
            </a:p>
          </p:txBody>
        </p:sp>
      </p:grpSp>
      <p:grpSp>
        <p:nvGrpSpPr>
          <p:cNvPr id="410648" name="Group 24"/>
          <p:cNvGrpSpPr>
            <a:grpSpLocks/>
          </p:cNvGrpSpPr>
          <p:nvPr/>
        </p:nvGrpSpPr>
        <p:grpSpPr bwMode="auto">
          <a:xfrm>
            <a:off x="762000" y="3581400"/>
            <a:ext cx="685800" cy="990600"/>
            <a:chOff x="480" y="2256"/>
            <a:chExt cx="432" cy="624"/>
          </a:xfrm>
        </p:grpSpPr>
        <p:sp>
          <p:nvSpPr>
            <p:cNvPr id="69779" name="Oval 25"/>
            <p:cNvSpPr>
              <a:spLocks noChangeArrowheads="1"/>
            </p:cNvSpPr>
            <p:nvPr/>
          </p:nvSpPr>
          <p:spPr bwMode="auto">
            <a:xfrm>
              <a:off x="480" y="2592"/>
              <a:ext cx="288" cy="288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Times New Roman" charset="0"/>
                </a:rPr>
                <a:t>V</a:t>
              </a:r>
              <a:r>
                <a:rPr kumimoji="1" lang="en-US" altLang="zh-CN" sz="2400" b="1" baseline="-25000">
                  <a:latin typeface="Times New Roman" charset="0"/>
                </a:rPr>
                <a:t>4</a:t>
              </a:r>
            </a:p>
          </p:txBody>
        </p:sp>
        <p:sp>
          <p:nvSpPr>
            <p:cNvPr id="69780" name="Line 26"/>
            <p:cNvSpPr>
              <a:spLocks noChangeShapeType="1"/>
            </p:cNvSpPr>
            <p:nvPr/>
          </p:nvSpPr>
          <p:spPr bwMode="auto">
            <a:xfrm flipH="1">
              <a:off x="624" y="2256"/>
              <a:ext cx="288" cy="33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651" name="Group 27"/>
          <p:cNvGrpSpPr>
            <a:grpSpLocks/>
          </p:cNvGrpSpPr>
          <p:nvPr/>
        </p:nvGrpSpPr>
        <p:grpSpPr bwMode="auto">
          <a:xfrm>
            <a:off x="2667000" y="3581400"/>
            <a:ext cx="685800" cy="990600"/>
            <a:chOff x="1680" y="2256"/>
            <a:chExt cx="432" cy="624"/>
          </a:xfrm>
        </p:grpSpPr>
        <p:sp>
          <p:nvSpPr>
            <p:cNvPr id="69777" name="Oval 28"/>
            <p:cNvSpPr>
              <a:spLocks noChangeArrowheads="1"/>
            </p:cNvSpPr>
            <p:nvPr/>
          </p:nvSpPr>
          <p:spPr bwMode="auto">
            <a:xfrm>
              <a:off x="1680" y="2592"/>
              <a:ext cx="288" cy="288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Times New Roman" charset="0"/>
                </a:rPr>
                <a:t>V</a:t>
              </a:r>
              <a:r>
                <a:rPr kumimoji="1" lang="en-US" altLang="zh-CN" sz="2400" b="1" baseline="-25000">
                  <a:latin typeface="Times New Roman" charset="0"/>
                </a:rPr>
                <a:t>6</a:t>
              </a:r>
            </a:p>
          </p:txBody>
        </p:sp>
        <p:sp>
          <p:nvSpPr>
            <p:cNvPr id="69778" name="Line 29"/>
            <p:cNvSpPr>
              <a:spLocks noChangeShapeType="1"/>
            </p:cNvSpPr>
            <p:nvPr/>
          </p:nvSpPr>
          <p:spPr bwMode="auto">
            <a:xfrm flipH="1">
              <a:off x="1824" y="2256"/>
              <a:ext cx="288" cy="33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56" name="Line 30"/>
          <p:cNvSpPr>
            <a:spLocks noChangeShapeType="1"/>
          </p:cNvSpPr>
          <p:nvPr/>
        </p:nvSpPr>
        <p:spPr bwMode="auto">
          <a:xfrm>
            <a:off x="3505200" y="3581400"/>
            <a:ext cx="457200" cy="533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655" name="Group 31"/>
          <p:cNvGrpSpPr>
            <a:grpSpLocks/>
          </p:cNvGrpSpPr>
          <p:nvPr/>
        </p:nvGrpSpPr>
        <p:grpSpPr bwMode="auto">
          <a:xfrm>
            <a:off x="3124200" y="4114800"/>
            <a:ext cx="1066800" cy="457200"/>
            <a:chOff x="1968" y="2592"/>
            <a:chExt cx="672" cy="288"/>
          </a:xfrm>
        </p:grpSpPr>
        <p:sp>
          <p:nvSpPr>
            <p:cNvPr id="69775" name="Oval 32"/>
            <p:cNvSpPr>
              <a:spLocks noChangeArrowheads="1"/>
            </p:cNvSpPr>
            <p:nvPr/>
          </p:nvSpPr>
          <p:spPr bwMode="auto">
            <a:xfrm>
              <a:off x="2352" y="2592"/>
              <a:ext cx="288" cy="288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Times New Roman" charset="0"/>
                </a:rPr>
                <a:t>V</a:t>
              </a:r>
              <a:r>
                <a:rPr kumimoji="1" lang="en-US" altLang="zh-CN" sz="2400" b="1" baseline="-25000">
                  <a:latin typeface="Times New Roman" charset="0"/>
                </a:rPr>
                <a:t>7</a:t>
              </a:r>
            </a:p>
          </p:txBody>
        </p:sp>
        <p:sp>
          <p:nvSpPr>
            <p:cNvPr id="69776" name="Line 33"/>
            <p:cNvSpPr>
              <a:spLocks noChangeShapeType="1"/>
            </p:cNvSpPr>
            <p:nvPr/>
          </p:nvSpPr>
          <p:spPr bwMode="auto">
            <a:xfrm>
              <a:off x="1968" y="2736"/>
              <a:ext cx="384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658" name="Group 34"/>
          <p:cNvGrpSpPr>
            <a:grpSpLocks/>
          </p:cNvGrpSpPr>
          <p:nvPr/>
        </p:nvGrpSpPr>
        <p:grpSpPr bwMode="auto">
          <a:xfrm>
            <a:off x="1143000" y="4495800"/>
            <a:ext cx="1600200" cy="1143000"/>
            <a:chOff x="720" y="2832"/>
            <a:chExt cx="1008" cy="720"/>
          </a:xfrm>
        </p:grpSpPr>
        <p:sp>
          <p:nvSpPr>
            <p:cNvPr id="69773" name="Oval 35"/>
            <p:cNvSpPr>
              <a:spLocks noChangeArrowheads="1"/>
            </p:cNvSpPr>
            <p:nvPr/>
          </p:nvSpPr>
          <p:spPr bwMode="auto">
            <a:xfrm>
              <a:off x="1440" y="3264"/>
              <a:ext cx="288" cy="288"/>
            </a:xfrm>
            <a:prstGeom prst="ellipse">
              <a:avLst/>
            </a:prstGeom>
            <a:solidFill>
              <a:srgbClr val="009900"/>
            </a:solidFill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>
                  <a:latin typeface="Times New Roman" charset="0"/>
                </a:rPr>
                <a:t>V</a:t>
              </a:r>
              <a:r>
                <a:rPr kumimoji="1" lang="en-US" altLang="zh-CN" sz="2400" b="1" baseline="-25000">
                  <a:latin typeface="Times New Roman" charset="0"/>
                </a:rPr>
                <a:t>8</a:t>
              </a:r>
            </a:p>
          </p:txBody>
        </p:sp>
        <p:sp>
          <p:nvSpPr>
            <p:cNvPr id="69774" name="Line 36"/>
            <p:cNvSpPr>
              <a:spLocks noChangeShapeType="1"/>
            </p:cNvSpPr>
            <p:nvPr/>
          </p:nvSpPr>
          <p:spPr bwMode="auto">
            <a:xfrm>
              <a:off x="720" y="2832"/>
              <a:ext cx="720" cy="528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661" name="Group 37"/>
          <p:cNvGrpSpPr>
            <a:grpSpLocks/>
          </p:cNvGrpSpPr>
          <p:nvPr/>
        </p:nvGrpSpPr>
        <p:grpSpPr bwMode="auto">
          <a:xfrm>
            <a:off x="4343400" y="1905000"/>
            <a:ext cx="762000" cy="457200"/>
            <a:chOff x="3312" y="1056"/>
            <a:chExt cx="480" cy="288"/>
          </a:xfrm>
        </p:grpSpPr>
        <p:sp>
          <p:nvSpPr>
            <p:cNvPr id="69771" name="Line 38"/>
            <p:cNvSpPr>
              <a:spLocks noChangeShapeType="1"/>
            </p:cNvSpPr>
            <p:nvPr/>
          </p:nvSpPr>
          <p:spPr bwMode="auto">
            <a:xfrm>
              <a:off x="3504" y="1200"/>
              <a:ext cx="288" cy="144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72" name="Text Box 39"/>
            <p:cNvSpPr txBox="1">
              <a:spLocks noChangeArrowheads="1"/>
            </p:cNvSpPr>
            <p:nvPr/>
          </p:nvSpPr>
          <p:spPr bwMode="auto">
            <a:xfrm>
              <a:off x="3312" y="10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660066"/>
                  </a:solidFill>
                  <a:latin typeface="Times New Roman" charset="0"/>
                  <a:ea typeface="楷体_GB2312" charset="0"/>
                </a:rPr>
                <a:t>T</a:t>
              </a:r>
            </a:p>
          </p:txBody>
        </p:sp>
      </p:grpSp>
      <p:grpSp>
        <p:nvGrpSpPr>
          <p:cNvPr id="410664" name="Group 40"/>
          <p:cNvGrpSpPr>
            <a:grpSpLocks/>
          </p:cNvGrpSpPr>
          <p:nvPr/>
        </p:nvGrpSpPr>
        <p:grpSpPr bwMode="auto">
          <a:xfrm>
            <a:off x="5715000" y="1676400"/>
            <a:ext cx="735013" cy="685800"/>
            <a:chOff x="3600" y="1056"/>
            <a:chExt cx="463" cy="432"/>
          </a:xfrm>
        </p:grpSpPr>
        <p:sp>
          <p:nvSpPr>
            <p:cNvPr id="69769" name="Line 41"/>
            <p:cNvSpPr>
              <a:spLocks noChangeShapeType="1"/>
            </p:cNvSpPr>
            <p:nvPr/>
          </p:nvSpPr>
          <p:spPr bwMode="auto">
            <a:xfrm flipH="1">
              <a:off x="3600" y="1248"/>
              <a:ext cx="288" cy="24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70" name="Text Box 42"/>
            <p:cNvSpPr txBox="1">
              <a:spLocks noChangeArrowheads="1"/>
            </p:cNvSpPr>
            <p:nvPr/>
          </p:nvSpPr>
          <p:spPr bwMode="auto">
            <a:xfrm>
              <a:off x="3840" y="105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660066"/>
                  </a:solidFill>
                  <a:latin typeface="Times New Roman" charset="0"/>
                  <a:ea typeface="楷体_GB2312" charset="0"/>
                </a:rPr>
                <a:t>q</a:t>
              </a:r>
            </a:p>
          </p:txBody>
        </p:sp>
      </p:grpSp>
      <p:grpSp>
        <p:nvGrpSpPr>
          <p:cNvPr id="410667" name="Group 43"/>
          <p:cNvGrpSpPr>
            <a:grpSpLocks/>
          </p:cNvGrpSpPr>
          <p:nvPr/>
        </p:nvGrpSpPr>
        <p:grpSpPr bwMode="auto">
          <a:xfrm>
            <a:off x="5715000" y="1676400"/>
            <a:ext cx="1725613" cy="1295400"/>
            <a:chOff x="3600" y="1056"/>
            <a:chExt cx="1087" cy="816"/>
          </a:xfrm>
        </p:grpSpPr>
        <p:grpSp>
          <p:nvGrpSpPr>
            <p:cNvPr id="69763" name="Group 44"/>
            <p:cNvGrpSpPr>
              <a:grpSpLocks/>
            </p:cNvGrpSpPr>
            <p:nvPr/>
          </p:nvGrpSpPr>
          <p:grpSpPr bwMode="auto">
            <a:xfrm>
              <a:off x="4224" y="1440"/>
              <a:ext cx="463" cy="432"/>
              <a:chOff x="3600" y="1056"/>
              <a:chExt cx="463" cy="432"/>
            </a:xfrm>
          </p:grpSpPr>
          <p:sp>
            <p:nvSpPr>
              <p:cNvPr id="69767" name="Line 45"/>
              <p:cNvSpPr>
                <a:spLocks noChangeShapeType="1"/>
              </p:cNvSpPr>
              <p:nvPr/>
            </p:nvSpPr>
            <p:spPr bwMode="auto">
              <a:xfrm flipH="1">
                <a:off x="3600" y="1248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68" name="Text Box 46"/>
              <p:cNvSpPr txBox="1">
                <a:spLocks noChangeArrowheads="1"/>
              </p:cNvSpPr>
              <p:nvPr/>
            </p:nvSpPr>
            <p:spPr bwMode="auto">
              <a:xfrm>
                <a:off x="3840" y="105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rgbClr val="660066"/>
                    </a:solidFill>
                    <a:latin typeface="Times New Roman" charset="0"/>
                    <a:ea typeface="楷体_GB2312" charset="0"/>
                  </a:rPr>
                  <a:t>q</a:t>
                </a:r>
              </a:p>
            </p:txBody>
          </p:sp>
        </p:grpSp>
        <p:grpSp>
          <p:nvGrpSpPr>
            <p:cNvPr id="69764" name="Group 47"/>
            <p:cNvGrpSpPr>
              <a:grpSpLocks/>
            </p:cNvGrpSpPr>
            <p:nvPr/>
          </p:nvGrpSpPr>
          <p:grpSpPr bwMode="auto">
            <a:xfrm>
              <a:off x="3600" y="1056"/>
              <a:ext cx="481" cy="432"/>
              <a:chOff x="3600" y="1056"/>
              <a:chExt cx="481" cy="432"/>
            </a:xfrm>
          </p:grpSpPr>
          <p:sp>
            <p:nvSpPr>
              <p:cNvPr id="69765" name="Line 48"/>
              <p:cNvSpPr>
                <a:spLocks noChangeShapeType="1"/>
              </p:cNvSpPr>
              <p:nvPr/>
            </p:nvSpPr>
            <p:spPr bwMode="auto">
              <a:xfrm flipH="1">
                <a:off x="3600" y="1248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66" name="Text Box 49"/>
              <p:cNvSpPr txBox="1">
                <a:spLocks noChangeArrowheads="1"/>
              </p:cNvSpPr>
              <p:nvPr/>
            </p:nvSpPr>
            <p:spPr bwMode="auto">
              <a:xfrm>
                <a:off x="3840" y="1056"/>
                <a:ext cx="241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q</a:t>
                </a:r>
              </a:p>
            </p:txBody>
          </p:sp>
        </p:grpSp>
      </p:grpSp>
      <p:grpSp>
        <p:nvGrpSpPr>
          <p:cNvPr id="410674" name="Group 50"/>
          <p:cNvGrpSpPr>
            <a:grpSpLocks/>
          </p:cNvGrpSpPr>
          <p:nvPr/>
        </p:nvGrpSpPr>
        <p:grpSpPr bwMode="auto">
          <a:xfrm>
            <a:off x="4800600" y="2743200"/>
            <a:ext cx="1090613" cy="457200"/>
            <a:chOff x="3024" y="1728"/>
            <a:chExt cx="687" cy="288"/>
          </a:xfrm>
        </p:grpSpPr>
        <p:sp>
          <p:nvSpPr>
            <p:cNvPr id="69761" name="Line 51"/>
            <p:cNvSpPr>
              <a:spLocks noChangeShapeType="1"/>
            </p:cNvSpPr>
            <p:nvPr/>
          </p:nvSpPr>
          <p:spPr bwMode="auto">
            <a:xfrm>
              <a:off x="3456" y="1872"/>
              <a:ext cx="240" cy="9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62" name="Text Box 52"/>
            <p:cNvSpPr txBox="1">
              <a:spLocks noChangeArrowheads="1"/>
            </p:cNvSpPr>
            <p:nvPr/>
          </p:nvSpPr>
          <p:spPr bwMode="auto">
            <a:xfrm>
              <a:off x="3024" y="1728"/>
              <a:ext cx="6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(1)T</a:t>
              </a:r>
            </a:p>
          </p:txBody>
        </p:sp>
      </p:grpSp>
      <p:grpSp>
        <p:nvGrpSpPr>
          <p:cNvPr id="410677" name="Group 53"/>
          <p:cNvGrpSpPr>
            <a:grpSpLocks/>
          </p:cNvGrpSpPr>
          <p:nvPr/>
        </p:nvGrpSpPr>
        <p:grpSpPr bwMode="auto">
          <a:xfrm>
            <a:off x="4419600" y="2133600"/>
            <a:ext cx="685800" cy="457200"/>
            <a:chOff x="3264" y="1728"/>
            <a:chExt cx="432" cy="288"/>
          </a:xfrm>
        </p:grpSpPr>
        <p:sp>
          <p:nvSpPr>
            <p:cNvPr id="69759" name="Line 54"/>
            <p:cNvSpPr>
              <a:spLocks noChangeShapeType="1"/>
            </p:cNvSpPr>
            <p:nvPr/>
          </p:nvSpPr>
          <p:spPr bwMode="auto">
            <a:xfrm>
              <a:off x="3456" y="1872"/>
              <a:ext cx="240" cy="9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60" name="Text Box 55"/>
            <p:cNvSpPr txBox="1">
              <a:spLocks noChangeArrowheads="1"/>
            </p:cNvSpPr>
            <p:nvPr/>
          </p:nvSpPr>
          <p:spPr bwMode="auto">
            <a:xfrm>
              <a:off x="3264" y="172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T</a:t>
              </a:r>
            </a:p>
          </p:txBody>
        </p:sp>
      </p:grpSp>
      <p:grpSp>
        <p:nvGrpSpPr>
          <p:cNvPr id="410680" name="Group 56"/>
          <p:cNvGrpSpPr>
            <a:grpSpLocks/>
          </p:cNvGrpSpPr>
          <p:nvPr/>
        </p:nvGrpSpPr>
        <p:grpSpPr bwMode="auto">
          <a:xfrm>
            <a:off x="3962400" y="3352800"/>
            <a:ext cx="1090613" cy="457200"/>
            <a:chOff x="3024" y="1728"/>
            <a:chExt cx="687" cy="288"/>
          </a:xfrm>
        </p:grpSpPr>
        <p:sp>
          <p:nvSpPr>
            <p:cNvPr id="69757" name="Line 57"/>
            <p:cNvSpPr>
              <a:spLocks noChangeShapeType="1"/>
            </p:cNvSpPr>
            <p:nvPr/>
          </p:nvSpPr>
          <p:spPr bwMode="auto">
            <a:xfrm>
              <a:off x="3456" y="1872"/>
              <a:ext cx="240" cy="9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58" name="Text Box 58"/>
            <p:cNvSpPr txBox="1">
              <a:spLocks noChangeArrowheads="1"/>
            </p:cNvSpPr>
            <p:nvPr/>
          </p:nvSpPr>
          <p:spPr bwMode="auto">
            <a:xfrm>
              <a:off x="3024" y="1728"/>
              <a:ext cx="6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(1)q</a:t>
              </a:r>
            </a:p>
          </p:txBody>
        </p:sp>
      </p:grpSp>
      <p:grpSp>
        <p:nvGrpSpPr>
          <p:cNvPr id="410683" name="Group 59"/>
          <p:cNvGrpSpPr>
            <a:grpSpLocks/>
          </p:cNvGrpSpPr>
          <p:nvPr/>
        </p:nvGrpSpPr>
        <p:grpSpPr bwMode="auto">
          <a:xfrm>
            <a:off x="5105400" y="2362200"/>
            <a:ext cx="838200" cy="304800"/>
            <a:chOff x="3792" y="1344"/>
            <a:chExt cx="528" cy="192"/>
          </a:xfrm>
        </p:grpSpPr>
        <p:sp>
          <p:nvSpPr>
            <p:cNvPr id="69754" name="Rectangle 60"/>
            <p:cNvSpPr>
              <a:spLocks noChangeArrowheads="1"/>
            </p:cNvSpPr>
            <p:nvPr/>
          </p:nvSpPr>
          <p:spPr bwMode="auto">
            <a:xfrm>
              <a:off x="3792" y="134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1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55" name="Line 61"/>
            <p:cNvSpPr>
              <a:spLocks noChangeShapeType="1"/>
            </p:cNvSpPr>
            <p:nvPr/>
          </p:nvSpPr>
          <p:spPr bwMode="auto">
            <a:xfrm>
              <a:off x="3936" y="1344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56" name="Line 62"/>
            <p:cNvSpPr>
              <a:spLocks noChangeShapeType="1"/>
            </p:cNvSpPr>
            <p:nvPr/>
          </p:nvSpPr>
          <p:spPr bwMode="auto">
            <a:xfrm>
              <a:off x="4176" y="1344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687" name="Group 63"/>
          <p:cNvGrpSpPr>
            <a:grpSpLocks/>
          </p:cNvGrpSpPr>
          <p:nvPr/>
        </p:nvGrpSpPr>
        <p:grpSpPr bwMode="auto">
          <a:xfrm>
            <a:off x="5867400" y="3352800"/>
            <a:ext cx="838200" cy="533400"/>
            <a:chOff x="3696" y="2112"/>
            <a:chExt cx="528" cy="336"/>
          </a:xfrm>
        </p:grpSpPr>
        <p:sp>
          <p:nvSpPr>
            <p:cNvPr id="69752" name="Line 64"/>
            <p:cNvSpPr>
              <a:spLocks noChangeShapeType="1"/>
            </p:cNvSpPr>
            <p:nvPr/>
          </p:nvSpPr>
          <p:spPr bwMode="auto">
            <a:xfrm flipH="1">
              <a:off x="3696" y="2352"/>
              <a:ext cx="336" cy="9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53" name="Text Box 65"/>
            <p:cNvSpPr txBox="1">
              <a:spLocks noChangeArrowheads="1"/>
            </p:cNvSpPr>
            <p:nvPr/>
          </p:nvSpPr>
          <p:spPr bwMode="auto">
            <a:xfrm>
              <a:off x="3744" y="211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(2)T</a:t>
              </a:r>
            </a:p>
          </p:txBody>
        </p:sp>
      </p:grpSp>
      <p:grpSp>
        <p:nvGrpSpPr>
          <p:cNvPr id="410690" name="Group 66"/>
          <p:cNvGrpSpPr>
            <a:grpSpLocks/>
          </p:cNvGrpSpPr>
          <p:nvPr/>
        </p:nvGrpSpPr>
        <p:grpSpPr bwMode="auto">
          <a:xfrm>
            <a:off x="5486400" y="3962400"/>
            <a:ext cx="762000" cy="533400"/>
            <a:chOff x="3456" y="2496"/>
            <a:chExt cx="480" cy="336"/>
          </a:xfrm>
        </p:grpSpPr>
        <p:sp>
          <p:nvSpPr>
            <p:cNvPr id="69750" name="Line 67"/>
            <p:cNvSpPr>
              <a:spLocks noChangeShapeType="1"/>
            </p:cNvSpPr>
            <p:nvPr/>
          </p:nvSpPr>
          <p:spPr bwMode="auto">
            <a:xfrm flipH="1">
              <a:off x="3456" y="2736"/>
              <a:ext cx="288" cy="96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51" name="Text Box 68"/>
            <p:cNvSpPr txBox="1">
              <a:spLocks noChangeArrowheads="1"/>
            </p:cNvSpPr>
            <p:nvPr/>
          </p:nvSpPr>
          <p:spPr bwMode="auto">
            <a:xfrm>
              <a:off x="3456" y="2496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(2)q</a:t>
              </a:r>
            </a:p>
          </p:txBody>
        </p:sp>
      </p:grpSp>
      <p:sp>
        <p:nvSpPr>
          <p:cNvPr id="410693" name="Line 69"/>
          <p:cNvSpPr>
            <a:spLocks noChangeShapeType="1"/>
          </p:cNvSpPr>
          <p:nvPr/>
        </p:nvSpPr>
        <p:spPr bwMode="auto">
          <a:xfrm>
            <a:off x="5791200" y="2438400"/>
            <a:ext cx="457200" cy="5334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694" name="Group 70"/>
          <p:cNvGrpSpPr>
            <a:grpSpLocks/>
          </p:cNvGrpSpPr>
          <p:nvPr/>
        </p:nvGrpSpPr>
        <p:grpSpPr bwMode="auto">
          <a:xfrm>
            <a:off x="5334000" y="4648200"/>
            <a:ext cx="914400" cy="609600"/>
            <a:chOff x="3360" y="2928"/>
            <a:chExt cx="576" cy="384"/>
          </a:xfrm>
        </p:grpSpPr>
        <p:sp>
          <p:nvSpPr>
            <p:cNvPr id="69748" name="Line 71"/>
            <p:cNvSpPr>
              <a:spLocks noChangeShapeType="1"/>
            </p:cNvSpPr>
            <p:nvPr/>
          </p:nvSpPr>
          <p:spPr bwMode="auto">
            <a:xfrm flipH="1" flipV="1">
              <a:off x="3360" y="2928"/>
              <a:ext cx="144" cy="24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9" name="Text Box 72"/>
            <p:cNvSpPr txBox="1">
              <a:spLocks noChangeArrowheads="1"/>
            </p:cNvSpPr>
            <p:nvPr/>
          </p:nvSpPr>
          <p:spPr bwMode="auto">
            <a:xfrm>
              <a:off x="3456" y="30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(3)T</a:t>
              </a:r>
            </a:p>
          </p:txBody>
        </p:sp>
      </p:grpSp>
      <p:grpSp>
        <p:nvGrpSpPr>
          <p:cNvPr id="410697" name="Group 73"/>
          <p:cNvGrpSpPr>
            <a:grpSpLocks/>
          </p:cNvGrpSpPr>
          <p:nvPr/>
        </p:nvGrpSpPr>
        <p:grpSpPr bwMode="auto">
          <a:xfrm>
            <a:off x="5486400" y="3352800"/>
            <a:ext cx="1219200" cy="1143000"/>
            <a:chOff x="3456" y="2112"/>
            <a:chExt cx="768" cy="720"/>
          </a:xfrm>
        </p:grpSpPr>
        <p:grpSp>
          <p:nvGrpSpPr>
            <p:cNvPr id="69742" name="Group 74"/>
            <p:cNvGrpSpPr>
              <a:grpSpLocks/>
            </p:cNvGrpSpPr>
            <p:nvPr/>
          </p:nvGrpSpPr>
          <p:grpSpPr bwMode="auto">
            <a:xfrm>
              <a:off x="3456" y="2496"/>
              <a:ext cx="480" cy="336"/>
              <a:chOff x="3456" y="2496"/>
              <a:chExt cx="480" cy="336"/>
            </a:xfrm>
          </p:grpSpPr>
          <p:sp>
            <p:nvSpPr>
              <p:cNvPr id="69746" name="Line 75"/>
              <p:cNvSpPr>
                <a:spLocks noChangeShapeType="1"/>
              </p:cNvSpPr>
              <p:nvPr/>
            </p:nvSpPr>
            <p:spPr bwMode="auto">
              <a:xfrm flipH="1">
                <a:off x="3456" y="2736"/>
                <a:ext cx="288" cy="9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47" name="Text Box 76"/>
              <p:cNvSpPr txBox="1">
                <a:spLocks noChangeArrowheads="1"/>
              </p:cNvSpPr>
              <p:nvPr/>
            </p:nvSpPr>
            <p:spPr bwMode="auto">
              <a:xfrm>
                <a:off x="3456" y="2496"/>
                <a:ext cx="480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(2)q</a:t>
                </a:r>
              </a:p>
            </p:txBody>
          </p:sp>
        </p:grpSp>
        <p:grpSp>
          <p:nvGrpSpPr>
            <p:cNvPr id="69743" name="Group 77"/>
            <p:cNvGrpSpPr>
              <a:grpSpLocks/>
            </p:cNvGrpSpPr>
            <p:nvPr/>
          </p:nvGrpSpPr>
          <p:grpSpPr bwMode="auto">
            <a:xfrm>
              <a:off x="3696" y="2112"/>
              <a:ext cx="528" cy="536"/>
              <a:chOff x="3696" y="2112"/>
              <a:chExt cx="528" cy="536"/>
            </a:xfrm>
          </p:grpSpPr>
          <p:sp>
            <p:nvSpPr>
              <p:cNvPr id="69744" name="Line 78"/>
              <p:cNvSpPr>
                <a:spLocks noChangeShapeType="1"/>
              </p:cNvSpPr>
              <p:nvPr/>
            </p:nvSpPr>
            <p:spPr bwMode="auto">
              <a:xfrm flipH="1">
                <a:off x="3696" y="2352"/>
                <a:ext cx="336" cy="9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45" name="Text Box 79"/>
              <p:cNvSpPr txBox="1">
                <a:spLocks noChangeArrowheads="1"/>
              </p:cNvSpPr>
              <p:nvPr/>
            </p:nvSpPr>
            <p:spPr bwMode="auto">
              <a:xfrm>
                <a:off x="3744" y="2112"/>
                <a:ext cx="480" cy="5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(2)T</a:t>
                </a:r>
              </a:p>
            </p:txBody>
          </p:sp>
        </p:grpSp>
      </p:grpSp>
      <p:grpSp>
        <p:nvGrpSpPr>
          <p:cNvPr id="410704" name="Group 80"/>
          <p:cNvGrpSpPr>
            <a:grpSpLocks/>
          </p:cNvGrpSpPr>
          <p:nvPr/>
        </p:nvGrpSpPr>
        <p:grpSpPr bwMode="auto">
          <a:xfrm>
            <a:off x="5943600" y="4343400"/>
            <a:ext cx="838200" cy="304800"/>
            <a:chOff x="3168" y="2304"/>
            <a:chExt cx="528" cy="192"/>
          </a:xfrm>
        </p:grpSpPr>
        <p:sp>
          <p:nvSpPr>
            <p:cNvPr id="69739" name="Rectangle 81"/>
            <p:cNvSpPr>
              <a:spLocks noChangeArrowheads="1"/>
            </p:cNvSpPr>
            <p:nvPr/>
          </p:nvSpPr>
          <p:spPr bwMode="auto">
            <a:xfrm>
              <a:off x="3168" y="230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D6009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5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40" name="Line 82"/>
            <p:cNvSpPr>
              <a:spLocks noChangeShapeType="1"/>
            </p:cNvSpPr>
            <p:nvPr/>
          </p:nvSpPr>
          <p:spPr bwMode="auto">
            <a:xfrm>
              <a:off x="331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41" name="Line 83"/>
            <p:cNvSpPr>
              <a:spLocks noChangeShapeType="1"/>
            </p:cNvSpPr>
            <p:nvPr/>
          </p:nvSpPr>
          <p:spPr bwMode="auto">
            <a:xfrm>
              <a:off x="355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708" name="Group 84"/>
          <p:cNvGrpSpPr>
            <a:grpSpLocks/>
          </p:cNvGrpSpPr>
          <p:nvPr/>
        </p:nvGrpSpPr>
        <p:grpSpPr bwMode="auto">
          <a:xfrm>
            <a:off x="4648200" y="4343400"/>
            <a:ext cx="838200" cy="304800"/>
            <a:chOff x="3168" y="2304"/>
            <a:chExt cx="528" cy="192"/>
          </a:xfrm>
        </p:grpSpPr>
        <p:sp>
          <p:nvSpPr>
            <p:cNvPr id="69736" name="Rectangle 85"/>
            <p:cNvSpPr>
              <a:spLocks noChangeArrowheads="1"/>
            </p:cNvSpPr>
            <p:nvPr/>
          </p:nvSpPr>
          <p:spPr bwMode="auto">
            <a:xfrm>
              <a:off x="3168" y="230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D6009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8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37" name="Line 86"/>
            <p:cNvSpPr>
              <a:spLocks noChangeShapeType="1"/>
            </p:cNvSpPr>
            <p:nvPr/>
          </p:nvSpPr>
          <p:spPr bwMode="auto">
            <a:xfrm>
              <a:off x="331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8" name="Line 87"/>
            <p:cNvSpPr>
              <a:spLocks noChangeShapeType="1"/>
            </p:cNvSpPr>
            <p:nvPr/>
          </p:nvSpPr>
          <p:spPr bwMode="auto">
            <a:xfrm>
              <a:off x="355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712" name="Group 88"/>
          <p:cNvGrpSpPr>
            <a:grpSpLocks/>
          </p:cNvGrpSpPr>
          <p:nvPr/>
        </p:nvGrpSpPr>
        <p:grpSpPr bwMode="auto">
          <a:xfrm>
            <a:off x="4800600" y="2743200"/>
            <a:ext cx="1090613" cy="485775"/>
            <a:chOff x="3024" y="1728"/>
            <a:chExt cx="687" cy="306"/>
          </a:xfrm>
        </p:grpSpPr>
        <p:sp>
          <p:nvSpPr>
            <p:cNvPr id="69734" name="Line 89"/>
            <p:cNvSpPr>
              <a:spLocks noChangeShapeType="1"/>
            </p:cNvSpPr>
            <p:nvPr/>
          </p:nvSpPr>
          <p:spPr bwMode="auto">
            <a:xfrm>
              <a:off x="3456" y="1872"/>
              <a:ext cx="240" cy="9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5" name="Text Box 90"/>
            <p:cNvSpPr txBox="1">
              <a:spLocks noChangeArrowheads="1"/>
            </p:cNvSpPr>
            <p:nvPr/>
          </p:nvSpPr>
          <p:spPr bwMode="auto">
            <a:xfrm>
              <a:off x="3024" y="1728"/>
              <a:ext cx="687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charset="0"/>
                  <a:ea typeface="楷体_GB2312" charset="0"/>
                </a:rPr>
                <a:t>(1)T</a:t>
              </a:r>
            </a:p>
          </p:txBody>
        </p:sp>
      </p:grpSp>
      <p:grpSp>
        <p:nvGrpSpPr>
          <p:cNvPr id="410715" name="Group 91"/>
          <p:cNvGrpSpPr>
            <a:grpSpLocks/>
          </p:cNvGrpSpPr>
          <p:nvPr/>
        </p:nvGrpSpPr>
        <p:grpSpPr bwMode="auto">
          <a:xfrm>
            <a:off x="5867400" y="2971800"/>
            <a:ext cx="838200" cy="304800"/>
            <a:chOff x="3696" y="1872"/>
            <a:chExt cx="528" cy="192"/>
          </a:xfrm>
        </p:grpSpPr>
        <p:sp>
          <p:nvSpPr>
            <p:cNvPr id="69731" name="Rectangle 92"/>
            <p:cNvSpPr>
              <a:spLocks noChangeArrowheads="1"/>
            </p:cNvSpPr>
            <p:nvPr/>
          </p:nvSpPr>
          <p:spPr bwMode="auto">
            <a:xfrm>
              <a:off x="3696" y="1872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2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32" name="Line 93"/>
            <p:cNvSpPr>
              <a:spLocks noChangeShapeType="1"/>
            </p:cNvSpPr>
            <p:nvPr/>
          </p:nvSpPr>
          <p:spPr bwMode="auto">
            <a:xfrm>
              <a:off x="3840" y="1872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33" name="Line 94"/>
            <p:cNvSpPr>
              <a:spLocks noChangeShapeType="1"/>
            </p:cNvSpPr>
            <p:nvPr/>
          </p:nvSpPr>
          <p:spPr bwMode="auto">
            <a:xfrm>
              <a:off x="4080" y="1872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719" name="Line 95"/>
          <p:cNvSpPr>
            <a:spLocks noChangeShapeType="1"/>
          </p:cNvSpPr>
          <p:nvPr/>
        </p:nvSpPr>
        <p:spPr bwMode="auto">
          <a:xfrm flipH="1">
            <a:off x="5486400" y="3048000"/>
            <a:ext cx="533400" cy="6096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720" name="Group 96"/>
          <p:cNvGrpSpPr>
            <a:grpSpLocks/>
          </p:cNvGrpSpPr>
          <p:nvPr/>
        </p:nvGrpSpPr>
        <p:grpSpPr bwMode="auto">
          <a:xfrm>
            <a:off x="6705600" y="2286000"/>
            <a:ext cx="1725613" cy="1295400"/>
            <a:chOff x="3600" y="1056"/>
            <a:chExt cx="1087" cy="816"/>
          </a:xfrm>
        </p:grpSpPr>
        <p:grpSp>
          <p:nvGrpSpPr>
            <p:cNvPr id="69725" name="Group 97"/>
            <p:cNvGrpSpPr>
              <a:grpSpLocks/>
            </p:cNvGrpSpPr>
            <p:nvPr/>
          </p:nvGrpSpPr>
          <p:grpSpPr bwMode="auto">
            <a:xfrm>
              <a:off x="4224" y="1440"/>
              <a:ext cx="463" cy="432"/>
              <a:chOff x="3600" y="1056"/>
              <a:chExt cx="463" cy="432"/>
            </a:xfrm>
          </p:grpSpPr>
          <p:sp>
            <p:nvSpPr>
              <p:cNvPr id="69729" name="Line 98"/>
              <p:cNvSpPr>
                <a:spLocks noChangeShapeType="1"/>
              </p:cNvSpPr>
              <p:nvPr/>
            </p:nvSpPr>
            <p:spPr bwMode="auto">
              <a:xfrm flipH="1">
                <a:off x="3600" y="1248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30" name="Text Box 99"/>
              <p:cNvSpPr txBox="1">
                <a:spLocks noChangeArrowheads="1"/>
              </p:cNvSpPr>
              <p:nvPr/>
            </p:nvSpPr>
            <p:spPr bwMode="auto">
              <a:xfrm>
                <a:off x="3840" y="1056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rgbClr val="660066"/>
                    </a:solidFill>
                    <a:latin typeface="Times New Roman" charset="0"/>
                    <a:ea typeface="楷体_GB2312" charset="0"/>
                  </a:rPr>
                  <a:t>q</a:t>
                </a:r>
              </a:p>
            </p:txBody>
          </p:sp>
        </p:grpSp>
        <p:grpSp>
          <p:nvGrpSpPr>
            <p:cNvPr id="69726" name="Group 100"/>
            <p:cNvGrpSpPr>
              <a:grpSpLocks/>
            </p:cNvGrpSpPr>
            <p:nvPr/>
          </p:nvGrpSpPr>
          <p:grpSpPr bwMode="auto">
            <a:xfrm>
              <a:off x="3600" y="1056"/>
              <a:ext cx="481" cy="432"/>
              <a:chOff x="3600" y="1056"/>
              <a:chExt cx="481" cy="432"/>
            </a:xfrm>
          </p:grpSpPr>
          <p:sp>
            <p:nvSpPr>
              <p:cNvPr id="69727" name="Line 101"/>
              <p:cNvSpPr>
                <a:spLocks noChangeShapeType="1"/>
              </p:cNvSpPr>
              <p:nvPr/>
            </p:nvSpPr>
            <p:spPr bwMode="auto">
              <a:xfrm flipH="1">
                <a:off x="3600" y="1248"/>
                <a:ext cx="288" cy="24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28" name="Text Box 102"/>
              <p:cNvSpPr txBox="1">
                <a:spLocks noChangeArrowheads="1"/>
              </p:cNvSpPr>
              <p:nvPr/>
            </p:nvSpPr>
            <p:spPr bwMode="auto">
              <a:xfrm>
                <a:off x="3840" y="1056"/>
                <a:ext cx="241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q</a:t>
                </a:r>
              </a:p>
            </p:txBody>
          </p:sp>
        </p:grpSp>
      </p:grpSp>
      <p:sp>
        <p:nvSpPr>
          <p:cNvPr id="410727" name="Line 103"/>
          <p:cNvSpPr>
            <a:spLocks noChangeShapeType="1"/>
          </p:cNvSpPr>
          <p:nvPr/>
        </p:nvSpPr>
        <p:spPr bwMode="auto">
          <a:xfrm>
            <a:off x="6629400" y="3048000"/>
            <a:ext cx="533400" cy="5334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728" name="Group 104"/>
          <p:cNvGrpSpPr>
            <a:grpSpLocks/>
          </p:cNvGrpSpPr>
          <p:nvPr/>
        </p:nvGrpSpPr>
        <p:grpSpPr bwMode="auto">
          <a:xfrm>
            <a:off x="7696200" y="3657600"/>
            <a:ext cx="914400" cy="609600"/>
            <a:chOff x="3360" y="2928"/>
            <a:chExt cx="576" cy="384"/>
          </a:xfrm>
        </p:grpSpPr>
        <p:sp>
          <p:nvSpPr>
            <p:cNvPr id="69723" name="Line 105"/>
            <p:cNvSpPr>
              <a:spLocks noChangeShapeType="1"/>
            </p:cNvSpPr>
            <p:nvPr/>
          </p:nvSpPr>
          <p:spPr bwMode="auto">
            <a:xfrm flipH="1" flipV="1">
              <a:off x="3360" y="2928"/>
              <a:ext cx="144" cy="24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4" name="Text Box 106"/>
            <p:cNvSpPr txBox="1">
              <a:spLocks noChangeArrowheads="1"/>
            </p:cNvSpPr>
            <p:nvPr/>
          </p:nvSpPr>
          <p:spPr bwMode="auto">
            <a:xfrm>
              <a:off x="3456" y="30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(1)T</a:t>
              </a:r>
            </a:p>
          </p:txBody>
        </p:sp>
      </p:grpSp>
      <p:grpSp>
        <p:nvGrpSpPr>
          <p:cNvPr id="410731" name="Group 107"/>
          <p:cNvGrpSpPr>
            <a:grpSpLocks/>
          </p:cNvGrpSpPr>
          <p:nvPr/>
        </p:nvGrpSpPr>
        <p:grpSpPr bwMode="auto">
          <a:xfrm>
            <a:off x="7010400" y="4343400"/>
            <a:ext cx="838200" cy="304800"/>
            <a:chOff x="3168" y="2304"/>
            <a:chExt cx="528" cy="192"/>
          </a:xfrm>
        </p:grpSpPr>
        <p:sp>
          <p:nvSpPr>
            <p:cNvPr id="69720" name="Rectangle 108"/>
            <p:cNvSpPr>
              <a:spLocks noChangeArrowheads="1"/>
            </p:cNvSpPr>
            <p:nvPr/>
          </p:nvSpPr>
          <p:spPr bwMode="auto">
            <a:xfrm>
              <a:off x="3168" y="230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D6009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6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21" name="Line 109"/>
            <p:cNvSpPr>
              <a:spLocks noChangeShapeType="1"/>
            </p:cNvSpPr>
            <p:nvPr/>
          </p:nvSpPr>
          <p:spPr bwMode="auto">
            <a:xfrm>
              <a:off x="331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22" name="Line 110"/>
            <p:cNvSpPr>
              <a:spLocks noChangeShapeType="1"/>
            </p:cNvSpPr>
            <p:nvPr/>
          </p:nvSpPr>
          <p:spPr bwMode="auto">
            <a:xfrm>
              <a:off x="355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735" name="Group 111"/>
          <p:cNvGrpSpPr>
            <a:grpSpLocks/>
          </p:cNvGrpSpPr>
          <p:nvPr/>
        </p:nvGrpSpPr>
        <p:grpSpPr bwMode="auto">
          <a:xfrm>
            <a:off x="7391400" y="5257800"/>
            <a:ext cx="914400" cy="609600"/>
            <a:chOff x="3360" y="2928"/>
            <a:chExt cx="576" cy="384"/>
          </a:xfrm>
        </p:grpSpPr>
        <p:sp>
          <p:nvSpPr>
            <p:cNvPr id="69718" name="Line 112"/>
            <p:cNvSpPr>
              <a:spLocks noChangeShapeType="1"/>
            </p:cNvSpPr>
            <p:nvPr/>
          </p:nvSpPr>
          <p:spPr bwMode="auto">
            <a:xfrm flipH="1" flipV="1">
              <a:off x="3360" y="2928"/>
              <a:ext cx="144" cy="24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9" name="Text Box 113"/>
            <p:cNvSpPr txBox="1">
              <a:spLocks noChangeArrowheads="1"/>
            </p:cNvSpPr>
            <p:nvPr/>
          </p:nvSpPr>
          <p:spPr bwMode="auto">
            <a:xfrm>
              <a:off x="3456" y="30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(2)q</a:t>
              </a:r>
            </a:p>
          </p:txBody>
        </p:sp>
      </p:grpSp>
      <p:grpSp>
        <p:nvGrpSpPr>
          <p:cNvPr id="410738" name="Group 114"/>
          <p:cNvGrpSpPr>
            <a:grpSpLocks/>
          </p:cNvGrpSpPr>
          <p:nvPr/>
        </p:nvGrpSpPr>
        <p:grpSpPr bwMode="auto">
          <a:xfrm>
            <a:off x="7848600" y="4267200"/>
            <a:ext cx="1066800" cy="457200"/>
            <a:chOff x="4944" y="2688"/>
            <a:chExt cx="672" cy="288"/>
          </a:xfrm>
        </p:grpSpPr>
        <p:sp>
          <p:nvSpPr>
            <p:cNvPr id="69716" name="Line 115"/>
            <p:cNvSpPr>
              <a:spLocks noChangeShapeType="1"/>
            </p:cNvSpPr>
            <p:nvPr/>
          </p:nvSpPr>
          <p:spPr bwMode="auto">
            <a:xfrm flipH="1" flipV="1">
              <a:off x="4944" y="2832"/>
              <a:ext cx="240" cy="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7" name="Text Box 116"/>
            <p:cNvSpPr txBox="1">
              <a:spLocks noChangeArrowheads="1"/>
            </p:cNvSpPr>
            <p:nvPr/>
          </p:nvSpPr>
          <p:spPr bwMode="auto">
            <a:xfrm>
              <a:off x="5136" y="2688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(2)T</a:t>
              </a:r>
            </a:p>
          </p:txBody>
        </p:sp>
      </p:grpSp>
      <p:grpSp>
        <p:nvGrpSpPr>
          <p:cNvPr id="410741" name="Group 117"/>
          <p:cNvGrpSpPr>
            <a:grpSpLocks/>
          </p:cNvGrpSpPr>
          <p:nvPr/>
        </p:nvGrpSpPr>
        <p:grpSpPr bwMode="auto">
          <a:xfrm>
            <a:off x="6553200" y="5029200"/>
            <a:ext cx="838200" cy="304800"/>
            <a:chOff x="3168" y="2304"/>
            <a:chExt cx="528" cy="192"/>
          </a:xfrm>
        </p:grpSpPr>
        <p:sp>
          <p:nvSpPr>
            <p:cNvPr id="69713" name="Rectangle 118"/>
            <p:cNvSpPr>
              <a:spLocks noChangeArrowheads="1"/>
            </p:cNvSpPr>
            <p:nvPr/>
          </p:nvSpPr>
          <p:spPr bwMode="auto">
            <a:xfrm>
              <a:off x="3168" y="230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D6009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7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14" name="Line 119"/>
            <p:cNvSpPr>
              <a:spLocks noChangeShapeType="1"/>
            </p:cNvSpPr>
            <p:nvPr/>
          </p:nvSpPr>
          <p:spPr bwMode="auto">
            <a:xfrm>
              <a:off x="331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5" name="Line 120"/>
            <p:cNvSpPr>
              <a:spLocks noChangeShapeType="1"/>
            </p:cNvSpPr>
            <p:nvPr/>
          </p:nvSpPr>
          <p:spPr bwMode="auto">
            <a:xfrm>
              <a:off x="355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745" name="Line 121"/>
          <p:cNvSpPr>
            <a:spLocks noChangeShapeType="1"/>
          </p:cNvSpPr>
          <p:nvPr/>
        </p:nvSpPr>
        <p:spPr bwMode="auto">
          <a:xfrm flipH="1">
            <a:off x="6934200" y="4419600"/>
            <a:ext cx="228600" cy="6096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746" name="Group 122"/>
          <p:cNvGrpSpPr>
            <a:grpSpLocks/>
          </p:cNvGrpSpPr>
          <p:nvPr/>
        </p:nvGrpSpPr>
        <p:grpSpPr bwMode="auto">
          <a:xfrm>
            <a:off x="3962400" y="3352800"/>
            <a:ext cx="2971800" cy="990600"/>
            <a:chOff x="2496" y="2112"/>
            <a:chExt cx="1872" cy="624"/>
          </a:xfrm>
        </p:grpSpPr>
        <p:grpSp>
          <p:nvGrpSpPr>
            <p:cNvPr id="69708" name="Group 123"/>
            <p:cNvGrpSpPr>
              <a:grpSpLocks/>
            </p:cNvGrpSpPr>
            <p:nvPr/>
          </p:nvGrpSpPr>
          <p:grpSpPr bwMode="auto">
            <a:xfrm>
              <a:off x="2496" y="2112"/>
              <a:ext cx="687" cy="306"/>
              <a:chOff x="3024" y="1728"/>
              <a:chExt cx="687" cy="306"/>
            </a:xfrm>
          </p:grpSpPr>
          <p:sp>
            <p:nvSpPr>
              <p:cNvPr id="69711" name="Line 124"/>
              <p:cNvSpPr>
                <a:spLocks noChangeShapeType="1"/>
              </p:cNvSpPr>
              <p:nvPr/>
            </p:nvSpPr>
            <p:spPr bwMode="auto">
              <a:xfrm>
                <a:off x="3456" y="1872"/>
                <a:ext cx="240" cy="9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2" name="Text Box 125"/>
              <p:cNvSpPr txBox="1">
                <a:spLocks noChangeArrowheads="1"/>
              </p:cNvSpPr>
              <p:nvPr/>
            </p:nvSpPr>
            <p:spPr bwMode="auto">
              <a:xfrm>
                <a:off x="3024" y="1728"/>
                <a:ext cx="687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(1)q</a:t>
                </a:r>
              </a:p>
            </p:txBody>
          </p:sp>
        </p:grpSp>
        <p:sp>
          <p:nvSpPr>
            <p:cNvPr id="69709" name="Line 126"/>
            <p:cNvSpPr>
              <a:spLocks noChangeShapeType="1"/>
            </p:cNvSpPr>
            <p:nvPr/>
          </p:nvSpPr>
          <p:spPr bwMode="auto">
            <a:xfrm flipH="1">
              <a:off x="4272" y="2544"/>
              <a:ext cx="74" cy="192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0" name="Text Box 127"/>
            <p:cNvSpPr txBox="1">
              <a:spLocks noChangeArrowheads="1"/>
            </p:cNvSpPr>
            <p:nvPr/>
          </p:nvSpPr>
          <p:spPr bwMode="auto">
            <a:xfrm>
              <a:off x="3888" y="235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(1)q</a:t>
              </a:r>
            </a:p>
          </p:txBody>
        </p:sp>
      </p:grpSp>
      <p:grpSp>
        <p:nvGrpSpPr>
          <p:cNvPr id="410752" name="Group 128"/>
          <p:cNvGrpSpPr>
            <a:grpSpLocks/>
          </p:cNvGrpSpPr>
          <p:nvPr/>
        </p:nvGrpSpPr>
        <p:grpSpPr bwMode="auto">
          <a:xfrm>
            <a:off x="3962400" y="3352800"/>
            <a:ext cx="2971800" cy="990600"/>
            <a:chOff x="2496" y="2112"/>
            <a:chExt cx="1872" cy="624"/>
          </a:xfrm>
        </p:grpSpPr>
        <p:grpSp>
          <p:nvGrpSpPr>
            <p:cNvPr id="69703" name="Group 129"/>
            <p:cNvGrpSpPr>
              <a:grpSpLocks/>
            </p:cNvGrpSpPr>
            <p:nvPr/>
          </p:nvGrpSpPr>
          <p:grpSpPr bwMode="auto">
            <a:xfrm>
              <a:off x="2496" y="2112"/>
              <a:ext cx="687" cy="306"/>
              <a:chOff x="3024" y="1728"/>
              <a:chExt cx="687" cy="306"/>
            </a:xfrm>
          </p:grpSpPr>
          <p:sp>
            <p:nvSpPr>
              <p:cNvPr id="69706" name="Line 130"/>
              <p:cNvSpPr>
                <a:spLocks noChangeShapeType="1"/>
              </p:cNvSpPr>
              <p:nvPr/>
            </p:nvSpPr>
            <p:spPr bwMode="auto">
              <a:xfrm>
                <a:off x="3456" y="1872"/>
                <a:ext cx="240" cy="96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07" name="Text Box 131"/>
              <p:cNvSpPr txBox="1">
                <a:spLocks noChangeArrowheads="1"/>
              </p:cNvSpPr>
              <p:nvPr/>
            </p:nvSpPr>
            <p:spPr bwMode="auto">
              <a:xfrm>
                <a:off x="3024" y="1728"/>
                <a:ext cx="687" cy="30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kumimoji="1" lang="en-US" altLang="zh-CN" sz="2400" b="1">
                    <a:solidFill>
                      <a:schemeClr val="bg1"/>
                    </a:solidFill>
                    <a:latin typeface="Times New Roman" charset="0"/>
                    <a:ea typeface="楷体_GB2312" charset="0"/>
                  </a:rPr>
                  <a:t>(1)q</a:t>
                </a:r>
              </a:p>
            </p:txBody>
          </p:sp>
        </p:grpSp>
        <p:sp>
          <p:nvSpPr>
            <p:cNvPr id="69704" name="Line 132"/>
            <p:cNvSpPr>
              <a:spLocks noChangeShapeType="1"/>
            </p:cNvSpPr>
            <p:nvPr/>
          </p:nvSpPr>
          <p:spPr bwMode="auto">
            <a:xfrm flipH="1">
              <a:off x="4272" y="2544"/>
              <a:ext cx="74" cy="19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5" name="Text Box 133"/>
            <p:cNvSpPr txBox="1">
              <a:spLocks noChangeArrowheads="1"/>
            </p:cNvSpPr>
            <p:nvPr/>
          </p:nvSpPr>
          <p:spPr bwMode="auto">
            <a:xfrm>
              <a:off x="3888" y="2352"/>
              <a:ext cx="480" cy="30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charset="0"/>
                  <a:ea typeface="楷体_GB2312" charset="0"/>
                </a:rPr>
                <a:t>(1)q</a:t>
              </a:r>
            </a:p>
          </p:txBody>
        </p:sp>
      </p:grpSp>
      <p:grpSp>
        <p:nvGrpSpPr>
          <p:cNvPr id="410758" name="Group 134"/>
          <p:cNvGrpSpPr>
            <a:grpSpLocks/>
          </p:cNvGrpSpPr>
          <p:nvPr/>
        </p:nvGrpSpPr>
        <p:grpSpPr bwMode="auto">
          <a:xfrm>
            <a:off x="5029200" y="3657600"/>
            <a:ext cx="838200" cy="304800"/>
            <a:chOff x="3168" y="2304"/>
            <a:chExt cx="528" cy="192"/>
          </a:xfrm>
        </p:grpSpPr>
        <p:sp>
          <p:nvSpPr>
            <p:cNvPr id="69700" name="Rectangle 135"/>
            <p:cNvSpPr>
              <a:spLocks noChangeArrowheads="1"/>
            </p:cNvSpPr>
            <p:nvPr/>
          </p:nvSpPr>
          <p:spPr bwMode="auto">
            <a:xfrm>
              <a:off x="3168" y="2304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D6009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4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701" name="Line 136"/>
            <p:cNvSpPr>
              <a:spLocks noChangeShapeType="1"/>
            </p:cNvSpPr>
            <p:nvPr/>
          </p:nvSpPr>
          <p:spPr bwMode="auto">
            <a:xfrm>
              <a:off x="331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2" name="Line 137"/>
            <p:cNvSpPr>
              <a:spLocks noChangeShapeType="1"/>
            </p:cNvSpPr>
            <p:nvPr/>
          </p:nvSpPr>
          <p:spPr bwMode="auto">
            <a:xfrm>
              <a:off x="3552" y="2304"/>
              <a:ext cx="0" cy="192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762" name="Line 138"/>
          <p:cNvSpPr>
            <a:spLocks noChangeShapeType="1"/>
          </p:cNvSpPr>
          <p:nvPr/>
        </p:nvSpPr>
        <p:spPr bwMode="auto">
          <a:xfrm>
            <a:off x="5791200" y="3810000"/>
            <a:ext cx="533400" cy="5334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763" name="Line 139"/>
          <p:cNvSpPr>
            <a:spLocks noChangeShapeType="1"/>
          </p:cNvSpPr>
          <p:nvPr/>
        </p:nvSpPr>
        <p:spPr bwMode="auto">
          <a:xfrm flipH="1">
            <a:off x="5029200" y="3733800"/>
            <a:ext cx="76200" cy="6096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0764" name="Group 140"/>
          <p:cNvGrpSpPr>
            <a:grpSpLocks/>
          </p:cNvGrpSpPr>
          <p:nvPr/>
        </p:nvGrpSpPr>
        <p:grpSpPr bwMode="auto">
          <a:xfrm>
            <a:off x="6858000" y="3581400"/>
            <a:ext cx="838200" cy="304800"/>
            <a:chOff x="3696" y="1872"/>
            <a:chExt cx="528" cy="192"/>
          </a:xfrm>
        </p:grpSpPr>
        <p:sp>
          <p:nvSpPr>
            <p:cNvPr id="69697" name="Rectangle 141"/>
            <p:cNvSpPr>
              <a:spLocks noChangeArrowheads="1"/>
            </p:cNvSpPr>
            <p:nvPr/>
          </p:nvSpPr>
          <p:spPr bwMode="auto">
            <a:xfrm>
              <a:off x="3696" y="1872"/>
              <a:ext cx="528" cy="19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^  V</a:t>
              </a:r>
              <a:r>
                <a:rPr kumimoji="1" lang="en-US" altLang="zh-CN" sz="2000" b="1" baseline="-25000">
                  <a:solidFill>
                    <a:srgbClr val="660066"/>
                  </a:solidFill>
                  <a:latin typeface="Times New Roman" charset="0"/>
                </a:rPr>
                <a:t>3</a:t>
              </a:r>
              <a:r>
                <a:rPr kumimoji="1" lang="en-US" altLang="zh-CN" sz="2000" b="1">
                  <a:solidFill>
                    <a:srgbClr val="660066"/>
                  </a:solidFill>
                  <a:latin typeface="Times New Roman" charset="0"/>
                </a:rPr>
                <a:t> ^</a:t>
              </a:r>
            </a:p>
          </p:txBody>
        </p:sp>
        <p:sp>
          <p:nvSpPr>
            <p:cNvPr id="69698" name="Line 142"/>
            <p:cNvSpPr>
              <a:spLocks noChangeShapeType="1"/>
            </p:cNvSpPr>
            <p:nvPr/>
          </p:nvSpPr>
          <p:spPr bwMode="auto">
            <a:xfrm>
              <a:off x="3840" y="1872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9" name="Line 143"/>
            <p:cNvSpPr>
              <a:spLocks noChangeShapeType="1"/>
            </p:cNvSpPr>
            <p:nvPr/>
          </p:nvSpPr>
          <p:spPr bwMode="auto">
            <a:xfrm>
              <a:off x="4080" y="1872"/>
              <a:ext cx="0" cy="192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0768" name="Group 144"/>
          <p:cNvGrpSpPr>
            <a:grpSpLocks/>
          </p:cNvGrpSpPr>
          <p:nvPr/>
        </p:nvGrpSpPr>
        <p:grpSpPr bwMode="auto">
          <a:xfrm>
            <a:off x="7848600" y="4267200"/>
            <a:ext cx="1066800" cy="850900"/>
            <a:chOff x="4944" y="2688"/>
            <a:chExt cx="672" cy="536"/>
          </a:xfrm>
        </p:grpSpPr>
        <p:sp>
          <p:nvSpPr>
            <p:cNvPr id="69695" name="Line 145"/>
            <p:cNvSpPr>
              <a:spLocks noChangeShapeType="1"/>
            </p:cNvSpPr>
            <p:nvPr/>
          </p:nvSpPr>
          <p:spPr bwMode="auto">
            <a:xfrm flipH="1" flipV="1">
              <a:off x="4944" y="2832"/>
              <a:ext cx="24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6" name="Text Box 146"/>
            <p:cNvSpPr txBox="1">
              <a:spLocks noChangeArrowheads="1"/>
            </p:cNvSpPr>
            <p:nvPr/>
          </p:nvSpPr>
          <p:spPr bwMode="auto">
            <a:xfrm>
              <a:off x="5136" y="2688"/>
              <a:ext cx="480" cy="5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charset="0"/>
                  <a:ea typeface="楷体_GB2312" charset="0"/>
                </a:rPr>
                <a:t>(2)T</a:t>
              </a:r>
            </a:p>
          </p:txBody>
        </p:sp>
      </p:grpSp>
      <p:grpSp>
        <p:nvGrpSpPr>
          <p:cNvPr id="410771" name="Group 147"/>
          <p:cNvGrpSpPr>
            <a:grpSpLocks/>
          </p:cNvGrpSpPr>
          <p:nvPr/>
        </p:nvGrpSpPr>
        <p:grpSpPr bwMode="auto">
          <a:xfrm>
            <a:off x="7848600" y="4648200"/>
            <a:ext cx="914400" cy="609600"/>
            <a:chOff x="3360" y="2928"/>
            <a:chExt cx="576" cy="384"/>
          </a:xfrm>
        </p:grpSpPr>
        <p:sp>
          <p:nvSpPr>
            <p:cNvPr id="69693" name="Line 148"/>
            <p:cNvSpPr>
              <a:spLocks noChangeShapeType="1"/>
            </p:cNvSpPr>
            <p:nvPr/>
          </p:nvSpPr>
          <p:spPr bwMode="auto">
            <a:xfrm flipH="1" flipV="1">
              <a:off x="3360" y="2928"/>
              <a:ext cx="144" cy="240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4" name="Text Box 149"/>
            <p:cNvSpPr txBox="1">
              <a:spLocks noChangeArrowheads="1"/>
            </p:cNvSpPr>
            <p:nvPr/>
          </p:nvSpPr>
          <p:spPr bwMode="auto">
            <a:xfrm>
              <a:off x="3456" y="30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9900"/>
                  </a:solidFill>
                  <a:latin typeface="Times New Roman" charset="0"/>
                  <a:ea typeface="楷体_GB2312" charset="0"/>
                </a:rPr>
                <a:t>(1)q</a:t>
              </a:r>
            </a:p>
          </p:txBody>
        </p:sp>
      </p:grpSp>
      <p:sp>
        <p:nvSpPr>
          <p:cNvPr id="410774" name="Line 150"/>
          <p:cNvSpPr>
            <a:spLocks noChangeShapeType="1"/>
          </p:cNvSpPr>
          <p:nvPr/>
        </p:nvSpPr>
        <p:spPr bwMode="auto">
          <a:xfrm>
            <a:off x="6934200" y="3657600"/>
            <a:ext cx="228600" cy="685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278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4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4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106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1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41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1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1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41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1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10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1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1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7" dur="500"/>
                                        <p:tgtEl>
                                          <p:spTgt spid="41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2" dur="500"/>
                                        <p:tgtEl>
                                          <p:spTgt spid="41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1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4" dur="500"/>
                                        <p:tgtEl>
                                          <p:spTgt spid="41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41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4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41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41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3" dur="500"/>
                                        <p:tgtEl>
                                          <p:spTgt spid="41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1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41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4107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42" grpId="0" animBg="1" autoUpdateAnimBg="0"/>
      <p:bldP spid="410643" grpId="0" animBg="1" autoUpdateAnimBg="0"/>
      <p:bldP spid="410644" grpId="0" animBg="1" autoUpdateAnimBg="0"/>
      <p:bldP spid="410693" grpId="0" animBg="1"/>
      <p:bldP spid="410719" grpId="0" animBg="1"/>
      <p:bldP spid="410727" grpId="0" animBg="1"/>
      <p:bldP spid="410745" grpId="0" animBg="1"/>
      <p:bldP spid="410762" grpId="0" animBg="1"/>
      <p:bldP spid="410763" grpId="0" animBg="1"/>
      <p:bldP spid="41077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152400" y="393700"/>
            <a:ext cx="8867775" cy="641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en-US" altLang="zh-CN" sz="3600" b="1">
                <a:latin typeface="Times New Roman" charset="0"/>
                <a:ea typeface="楷体_GB2312" charset="0"/>
              </a:rPr>
              <a:t>            </a:t>
            </a:r>
            <a:r>
              <a:rPr kumimoji="1" lang="zh-CN" altLang="en-US" sz="3600" b="1">
                <a:latin typeface="Times New Roman" charset="0"/>
                <a:ea typeface="楷体_GB2312" charset="0"/>
              </a:rPr>
              <a:t>深度优先搜索生成树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/</a:t>
            </a:r>
            <a:r>
              <a:rPr kumimoji="1" lang="zh-CN" altLang="en-US" sz="3600" b="1">
                <a:latin typeface="Times New Roman" charset="0"/>
                <a:ea typeface="楷体_GB2312" charset="0"/>
              </a:rPr>
              <a:t>森林算法思路</a:t>
            </a:r>
          </a:p>
          <a:p>
            <a:pPr eaLnBrk="1" hangingPunct="1">
              <a:lnSpc>
                <a:spcPct val="85000"/>
              </a:lnSpc>
            </a:pPr>
            <a:endParaRPr kumimoji="1" lang="zh-CN" altLang="en-US" sz="3600" b="1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void DFSForest(Graph G, CSTree &amp;T){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T = NULL;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for ( v=0; v&lt;G.vexnum; ++v ) visited[v] = FALSE;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for ( v=0; v&lt;G.vexnum; ++v )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if ( !visited[v] ){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p = ( CSTree ) malloc(sizeof(CSNode));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*p = {GetVex(G, v), NULL, NULL};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if ( T == NULL ) T = p; /* </a:t>
            </a:r>
            <a:r>
              <a:rPr kumimoji="1" lang="zh-CN" altLang="en-US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第一棵生成树的根*</a:t>
            </a: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else 	q-&gt;nextsbling = p;  /* </a:t>
            </a:r>
            <a:r>
              <a:rPr kumimoji="1" lang="zh-CN" altLang="en-US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其它生成树的根*</a:t>
            </a: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q = p;	 /* q</a:t>
            </a:r>
            <a:r>
              <a:rPr kumimoji="1" lang="zh-CN" altLang="en-US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指示当前生成树的根 *</a:t>
            </a: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/* </a:t>
            </a:r>
            <a:r>
              <a:rPr kumimoji="1" lang="zh-CN" altLang="en-US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建立以</a:t>
            </a: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p</a:t>
            </a:r>
            <a:r>
              <a:rPr kumimoji="1" lang="zh-CN" altLang="en-US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指向的结点为根结点的生成树 *</a:t>
            </a: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DFSTree(G, v, p);}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zh-CN" sz="32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11651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848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Text Box 2"/>
          <p:cNvSpPr txBox="1">
            <a:spLocks noChangeArrowheads="1"/>
          </p:cNvSpPr>
          <p:nvPr/>
        </p:nvSpPr>
        <p:spPr bwMode="auto">
          <a:xfrm>
            <a:off x="76200" y="193675"/>
            <a:ext cx="8991600" cy="66357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void DFSTree(Graph G, int v, CSTree &amp; T )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visited[v] = TRUE;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</a:rPr>
              <a:t>first = TRUE;</a:t>
            </a: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/* 标识下一个访问的邻接点是否为第一个未访问的邻接点 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for ( w = FirstAdjVex( G, v); w&gt;=0; w = NextAdjVex(G, v, w) )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if ( !visited[w] ){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p = ( CSTree ) malloc(sizeof(CSNode));/* </a:t>
            </a:r>
            <a:r>
              <a:rPr kumimoji="1" lang="en-US" altLang="en-US" sz="24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分配孩子结点	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p = {GetVex(G, w), NULL, NULL};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if ( first ){  /* w是v的第一个未访问的邻接点 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T-&gt;firstchild = p; first = FALSE;/*是根的第一个孩子 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} else {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q-&gt;nextsbling = p;</a:t>
            </a:r>
            <a:r>
              <a:rPr kumimoji="1" lang="en-US" altLang="zh-CN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/* 是上一邻接点的右兄弟结点 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q = p;</a:t>
            </a:r>
            <a:r>
              <a:rPr kumimoji="1" lang="en-US" altLang="zh-CN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/* 修改上一孩子结点的指针	*/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DFSTree(G, w, q);</a:t>
            </a: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2800" b="1">
              <a:solidFill>
                <a:srgbClr val="590096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85000"/>
              </a:lnSpc>
            </a:pPr>
            <a:r>
              <a:rPr kumimoji="1" lang="en-US" altLang="en-US" sz="28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} </a:t>
            </a:r>
            <a:endParaRPr kumimoji="1" lang="en-US" altLang="zh-CN" sz="28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12675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44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49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nimBg="1" autoUpdateAnimBg="0"/>
      <p:bldP spid="41267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Text Box 2"/>
          <p:cNvSpPr txBox="1">
            <a:spLocks noChangeArrowheads="1"/>
          </p:cNvSpPr>
          <p:nvPr/>
        </p:nvSpPr>
        <p:spPr bwMode="auto">
          <a:xfrm>
            <a:off x="1219200" y="0"/>
            <a:ext cx="80137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7.4  (</a:t>
            </a:r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连通网的</a:t>
            </a:r>
            <a:r>
              <a:rPr kumimoji="1" lang="en-US" altLang="zh-CN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最小生成树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13699" name="Text Box 3"/>
          <p:cNvSpPr txBox="1">
            <a:spLocks noChangeArrowheads="1"/>
          </p:cNvSpPr>
          <p:nvPr/>
        </p:nvSpPr>
        <p:spPr bwMode="auto">
          <a:xfrm>
            <a:off x="381000" y="2606675"/>
            <a:ext cx="8397875" cy="326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假设要在 </a:t>
            </a:r>
            <a:r>
              <a:rPr kumimoji="1" lang="en-US" altLang="zh-CN" sz="4000" i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个城市之间建立通讯联络网，则连通 </a:t>
            </a:r>
            <a:r>
              <a:rPr kumimoji="1" lang="en-US" altLang="zh-CN" sz="4000" i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个城市只需要修建 </a:t>
            </a:r>
            <a:r>
              <a:rPr kumimoji="1" lang="en-US" altLang="zh-CN" sz="4000" i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n-1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条线路，</a:t>
            </a:r>
            <a:r>
              <a:rPr kumimoji="1" lang="zh-CN" altLang="en-US" sz="40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如何在最节省经费的前提下建立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这个</a:t>
            </a:r>
            <a:r>
              <a:rPr kumimoji="1" lang="zh-CN" altLang="en-US" sz="40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通讯网</a:t>
            </a: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？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413700" name="Rectangle 4"/>
          <p:cNvSpPr>
            <a:spLocks noChangeArrowheads="1"/>
          </p:cNvSpPr>
          <p:nvPr/>
        </p:nvSpPr>
        <p:spPr bwMode="auto">
          <a:xfrm>
            <a:off x="533400" y="1676400"/>
            <a:ext cx="18748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问题：</a:t>
            </a:r>
            <a:endParaRPr kumimoji="1" lang="zh-CN" altLang="en-US" sz="3600" b="1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13701" name="AutoShape 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0960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523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1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8" grpId="0" autoUpdateAnimBg="0"/>
      <p:bldP spid="413699" grpId="0" autoUpdateAnimBg="0"/>
      <p:bldP spid="413700" grpId="0" autoUpdateAnimBg="0"/>
      <p:bldP spid="41370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Text Box 2"/>
          <p:cNvSpPr txBox="1">
            <a:spLocks noChangeArrowheads="1"/>
          </p:cNvSpPr>
          <p:nvPr/>
        </p:nvSpPr>
        <p:spPr bwMode="auto">
          <a:xfrm>
            <a:off x="365125" y="1066800"/>
            <a:ext cx="8321675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构造网的一棵最小生成树，即：     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在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e 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条带权的边中选取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n-1 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条边（不构成回路），使“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权值之和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”为最小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14723" name="Text Box 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09600" y="5133975"/>
            <a:ext cx="68500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算法二：（克鲁斯卡尔算法）</a:t>
            </a:r>
            <a:endParaRPr kumimoji="1" lang="zh-CN" altLang="en-US" sz="4800" b="1">
              <a:latin typeface="Times New Roman" charset="0"/>
              <a:ea typeface="楷体_GB2312" charset="0"/>
            </a:endParaRPr>
          </a:p>
        </p:txBody>
      </p:sp>
      <p:sp>
        <p:nvSpPr>
          <p:cNvPr id="414724" name="Rectangle 4"/>
          <p:cNvSpPr>
            <a:spLocks noChangeArrowheads="1"/>
          </p:cNvSpPr>
          <p:nvPr/>
        </p:nvSpPr>
        <p:spPr bwMode="auto">
          <a:xfrm>
            <a:off x="1524000" y="381000"/>
            <a:ext cx="3384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该问题等价于：</a:t>
            </a:r>
          </a:p>
        </p:txBody>
      </p:sp>
      <p:sp>
        <p:nvSpPr>
          <p:cNvPr id="414725" name="Text Box 5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58245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算法一：（普里姆算法）</a:t>
            </a:r>
            <a:endParaRPr kumimoji="1" lang="zh-CN" altLang="en-US" sz="4800" b="1">
              <a:latin typeface="Times New Roman" charset="0"/>
              <a:ea typeface="楷体_GB2312" charset="0"/>
            </a:endParaRPr>
          </a:p>
        </p:txBody>
      </p:sp>
      <p:sp>
        <p:nvSpPr>
          <p:cNvPr id="414726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81000"/>
          </a:xfrm>
          <a:prstGeom prst="actionButtonForwardNext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1203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2" grpId="0" autoUpdateAnimBg="0"/>
      <p:bldP spid="414723" grpId="0" autoUpdateAnimBg="0"/>
      <p:bldP spid="414724" grpId="0" autoUpdateAnimBg="0"/>
      <p:bldP spid="414725" grpId="0" autoUpdateAnimBg="0"/>
      <p:bldP spid="41472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Text Box 2"/>
          <p:cNvSpPr txBox="1">
            <a:spLocks noChangeArrowheads="1"/>
          </p:cNvSpPr>
          <p:nvPr/>
        </p:nvSpPr>
        <p:spPr bwMode="auto">
          <a:xfrm>
            <a:off x="228600" y="990600"/>
            <a:ext cx="8702675" cy="534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9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取图中任意一个顶点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作为生成树的根，之后往生成树上添加新的顶点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在添加的顶点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和已经在生成树上的顶点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之间必定存在一条边，并且该边的权值在所有连通顶点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v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和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w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之间的边中取值最小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。之后继续往生成树上添加顶点，直至生成树上含有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n-1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个顶点为止。</a:t>
            </a:r>
            <a:endParaRPr kumimoji="1" lang="zh-CN" altLang="en-US" sz="2400">
              <a:solidFill>
                <a:srgbClr val="000082"/>
              </a:solidFill>
              <a:latin typeface="Times New Roman" charset="0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1371600" y="152400"/>
            <a:ext cx="59578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普里姆算法的基本思想</a:t>
            </a:r>
            <a:r>
              <a:rPr kumimoji="1" lang="en-US" altLang="zh-CN" sz="4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3900" b="1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8989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Oval 2"/>
          <p:cNvSpPr>
            <a:spLocks noChangeArrowheads="1"/>
          </p:cNvSpPr>
          <p:nvPr/>
        </p:nvSpPr>
        <p:spPr bwMode="auto">
          <a:xfrm>
            <a:off x="1828800" y="13716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1" name="Oval 3"/>
          <p:cNvSpPr>
            <a:spLocks noChangeArrowheads="1"/>
          </p:cNvSpPr>
          <p:nvPr/>
        </p:nvSpPr>
        <p:spPr bwMode="auto">
          <a:xfrm>
            <a:off x="4648200" y="13716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2" name="Oval 4"/>
          <p:cNvSpPr>
            <a:spLocks noChangeArrowheads="1"/>
          </p:cNvSpPr>
          <p:nvPr/>
        </p:nvSpPr>
        <p:spPr bwMode="auto">
          <a:xfrm>
            <a:off x="6400800" y="22098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3" name="Oval 5"/>
          <p:cNvSpPr>
            <a:spLocks noChangeArrowheads="1"/>
          </p:cNvSpPr>
          <p:nvPr/>
        </p:nvSpPr>
        <p:spPr bwMode="auto">
          <a:xfrm>
            <a:off x="4876800" y="38862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4" name="Oval 6"/>
          <p:cNvSpPr>
            <a:spLocks noChangeArrowheads="1"/>
          </p:cNvSpPr>
          <p:nvPr/>
        </p:nvSpPr>
        <p:spPr bwMode="auto">
          <a:xfrm>
            <a:off x="3200400" y="29718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5" name="Oval 7"/>
          <p:cNvSpPr>
            <a:spLocks noChangeArrowheads="1"/>
          </p:cNvSpPr>
          <p:nvPr/>
        </p:nvSpPr>
        <p:spPr bwMode="auto">
          <a:xfrm>
            <a:off x="1219200" y="38862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6" name="Oval 8"/>
          <p:cNvSpPr>
            <a:spLocks noChangeArrowheads="1"/>
          </p:cNvSpPr>
          <p:nvPr/>
        </p:nvSpPr>
        <p:spPr bwMode="auto">
          <a:xfrm>
            <a:off x="3505200" y="5029200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77" name="Line 9"/>
          <p:cNvSpPr>
            <a:spLocks noChangeShapeType="1"/>
          </p:cNvSpPr>
          <p:nvPr/>
        </p:nvSpPr>
        <p:spPr bwMode="auto">
          <a:xfrm>
            <a:off x="2362200" y="1676400"/>
            <a:ext cx="2286000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78" name="Line 10"/>
          <p:cNvSpPr>
            <a:spLocks noChangeShapeType="1"/>
          </p:cNvSpPr>
          <p:nvPr/>
        </p:nvSpPr>
        <p:spPr bwMode="auto">
          <a:xfrm>
            <a:off x="2286000" y="1828800"/>
            <a:ext cx="990600" cy="1219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79" name="Line 11"/>
          <p:cNvSpPr>
            <a:spLocks noChangeShapeType="1"/>
          </p:cNvSpPr>
          <p:nvPr/>
        </p:nvSpPr>
        <p:spPr bwMode="auto">
          <a:xfrm flipH="1">
            <a:off x="3657600" y="1828800"/>
            <a:ext cx="1066800" cy="1219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0" name="Line 12"/>
          <p:cNvSpPr>
            <a:spLocks noChangeShapeType="1"/>
          </p:cNvSpPr>
          <p:nvPr/>
        </p:nvSpPr>
        <p:spPr bwMode="auto">
          <a:xfrm flipH="1">
            <a:off x="1524000" y="1828800"/>
            <a:ext cx="457200" cy="20574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1" name="Line 13"/>
          <p:cNvSpPr>
            <a:spLocks noChangeShapeType="1"/>
          </p:cNvSpPr>
          <p:nvPr/>
        </p:nvSpPr>
        <p:spPr bwMode="auto">
          <a:xfrm flipV="1">
            <a:off x="1752600" y="3352800"/>
            <a:ext cx="1524000" cy="7620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2" name="Line 14"/>
          <p:cNvSpPr>
            <a:spLocks noChangeShapeType="1"/>
          </p:cNvSpPr>
          <p:nvPr/>
        </p:nvSpPr>
        <p:spPr bwMode="auto">
          <a:xfrm>
            <a:off x="3733800" y="3352800"/>
            <a:ext cx="12192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3" name="Line 15"/>
          <p:cNvSpPr>
            <a:spLocks noChangeShapeType="1"/>
          </p:cNvSpPr>
          <p:nvPr/>
        </p:nvSpPr>
        <p:spPr bwMode="auto">
          <a:xfrm>
            <a:off x="5181600" y="1676400"/>
            <a:ext cx="12954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4" name="Line 16"/>
          <p:cNvSpPr>
            <a:spLocks noChangeShapeType="1"/>
          </p:cNvSpPr>
          <p:nvPr/>
        </p:nvSpPr>
        <p:spPr bwMode="auto">
          <a:xfrm flipH="1">
            <a:off x="5334000" y="2667000"/>
            <a:ext cx="1143000" cy="13716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5" name="Line 17"/>
          <p:cNvSpPr>
            <a:spLocks noChangeShapeType="1"/>
          </p:cNvSpPr>
          <p:nvPr/>
        </p:nvSpPr>
        <p:spPr bwMode="auto">
          <a:xfrm>
            <a:off x="4953000" y="1905000"/>
            <a:ext cx="152400" cy="1981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6" name="Line 18"/>
          <p:cNvSpPr>
            <a:spLocks noChangeShapeType="1"/>
          </p:cNvSpPr>
          <p:nvPr/>
        </p:nvSpPr>
        <p:spPr bwMode="auto">
          <a:xfrm>
            <a:off x="1676400" y="4343400"/>
            <a:ext cx="1828800" cy="838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7" name="Line 19"/>
          <p:cNvSpPr>
            <a:spLocks noChangeShapeType="1"/>
          </p:cNvSpPr>
          <p:nvPr/>
        </p:nvSpPr>
        <p:spPr bwMode="auto">
          <a:xfrm flipH="1">
            <a:off x="4038600" y="4343400"/>
            <a:ext cx="914400" cy="838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788" name="Text Box 20"/>
          <p:cNvSpPr txBox="1">
            <a:spLocks noChangeArrowheads="1"/>
          </p:cNvSpPr>
          <p:nvPr/>
        </p:nvSpPr>
        <p:spPr bwMode="auto">
          <a:xfrm>
            <a:off x="365125" y="304800"/>
            <a:ext cx="1463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82"/>
                </a:solidFill>
                <a:latin typeface="楷体_GB2312" charset="0"/>
                <a:ea typeface="楷体_GB2312" charset="0"/>
              </a:rPr>
              <a:t>例如</a:t>
            </a:r>
            <a:r>
              <a:rPr kumimoji="1" lang="en-US" altLang="zh-CN" sz="4000" b="1">
                <a:solidFill>
                  <a:srgbClr val="000082"/>
                </a:solidFill>
                <a:latin typeface="楷体_GB2312" charset="0"/>
                <a:ea typeface="楷体_GB2312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89" name="Text Box 21"/>
          <p:cNvSpPr txBox="1">
            <a:spLocks noChangeArrowheads="1"/>
          </p:cNvSpPr>
          <p:nvPr/>
        </p:nvSpPr>
        <p:spPr bwMode="auto">
          <a:xfrm>
            <a:off x="3032125" y="11731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19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90" name="Text Box 22"/>
          <p:cNvSpPr txBox="1">
            <a:spLocks noChangeArrowheads="1"/>
          </p:cNvSpPr>
          <p:nvPr/>
        </p:nvSpPr>
        <p:spPr bwMode="auto">
          <a:xfrm>
            <a:off x="5562600" y="1477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16791" name="Text Box 23"/>
          <p:cNvSpPr txBox="1">
            <a:spLocks noChangeArrowheads="1"/>
          </p:cNvSpPr>
          <p:nvPr/>
        </p:nvSpPr>
        <p:spPr bwMode="auto">
          <a:xfrm>
            <a:off x="2667000" y="20574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92" name="Text Box 24"/>
          <p:cNvSpPr txBox="1">
            <a:spLocks noChangeArrowheads="1"/>
          </p:cNvSpPr>
          <p:nvPr/>
        </p:nvSpPr>
        <p:spPr bwMode="auto">
          <a:xfrm>
            <a:off x="1219200" y="253365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793" name="Text Box 25"/>
          <p:cNvSpPr txBox="1">
            <a:spLocks noChangeArrowheads="1"/>
          </p:cNvSpPr>
          <p:nvPr/>
        </p:nvSpPr>
        <p:spPr bwMode="auto">
          <a:xfrm>
            <a:off x="2270125" y="466725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latin typeface="Times New Roman" charset="0"/>
              </a:rPr>
              <a:t>27</a:t>
            </a:r>
          </a:p>
        </p:txBody>
      </p:sp>
      <p:sp>
        <p:nvSpPr>
          <p:cNvPr id="416794" name="Text Box 26"/>
          <p:cNvSpPr txBox="1">
            <a:spLocks noChangeArrowheads="1"/>
          </p:cNvSpPr>
          <p:nvPr/>
        </p:nvSpPr>
        <p:spPr bwMode="auto">
          <a:xfrm>
            <a:off x="2193925" y="321945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795" name="Text Box 27"/>
          <p:cNvSpPr txBox="1">
            <a:spLocks noChangeArrowheads="1"/>
          </p:cNvSpPr>
          <p:nvPr/>
        </p:nvSpPr>
        <p:spPr bwMode="auto">
          <a:xfrm>
            <a:off x="4022725" y="30670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796" name="Text Box 28"/>
          <p:cNvSpPr txBox="1">
            <a:spLocks noChangeArrowheads="1"/>
          </p:cNvSpPr>
          <p:nvPr/>
        </p:nvSpPr>
        <p:spPr bwMode="auto">
          <a:xfrm>
            <a:off x="4267200" y="46482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21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797" name="Text Box 29"/>
          <p:cNvSpPr txBox="1">
            <a:spLocks noChangeArrowheads="1"/>
          </p:cNvSpPr>
          <p:nvPr/>
        </p:nvSpPr>
        <p:spPr bwMode="auto">
          <a:xfrm>
            <a:off x="5699125" y="32956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798" name="Oval 30"/>
          <p:cNvSpPr>
            <a:spLocks noChangeArrowheads="1"/>
          </p:cNvSpPr>
          <p:nvPr/>
        </p:nvSpPr>
        <p:spPr bwMode="auto">
          <a:xfrm>
            <a:off x="1828800" y="13716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799" name="Line 31"/>
          <p:cNvSpPr>
            <a:spLocks noChangeShapeType="1"/>
          </p:cNvSpPr>
          <p:nvPr/>
        </p:nvSpPr>
        <p:spPr bwMode="auto">
          <a:xfrm>
            <a:off x="2286000" y="1828800"/>
            <a:ext cx="990600" cy="12192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0" name="Oval 32"/>
          <p:cNvSpPr>
            <a:spLocks noChangeArrowheads="1"/>
          </p:cNvSpPr>
          <p:nvPr/>
        </p:nvSpPr>
        <p:spPr bwMode="auto">
          <a:xfrm>
            <a:off x="3200400" y="29718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01" name="Line 33"/>
          <p:cNvSpPr>
            <a:spLocks noChangeShapeType="1"/>
          </p:cNvSpPr>
          <p:nvPr/>
        </p:nvSpPr>
        <p:spPr bwMode="auto">
          <a:xfrm>
            <a:off x="3733800" y="3352800"/>
            <a:ext cx="1219200" cy="685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2" name="Text Box 34"/>
          <p:cNvSpPr txBox="1">
            <a:spLocks noChangeArrowheads="1"/>
          </p:cNvSpPr>
          <p:nvPr/>
        </p:nvSpPr>
        <p:spPr bwMode="auto">
          <a:xfrm>
            <a:off x="3810000" y="1858963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803" name="Oval 35"/>
          <p:cNvSpPr>
            <a:spLocks noChangeArrowheads="1"/>
          </p:cNvSpPr>
          <p:nvPr/>
        </p:nvSpPr>
        <p:spPr bwMode="auto">
          <a:xfrm>
            <a:off x="4876800" y="38862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04" name="Line 36"/>
          <p:cNvSpPr>
            <a:spLocks noChangeShapeType="1"/>
          </p:cNvSpPr>
          <p:nvPr/>
        </p:nvSpPr>
        <p:spPr bwMode="auto">
          <a:xfrm flipH="1">
            <a:off x="5334000" y="2667000"/>
            <a:ext cx="1143000" cy="13716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5" name="Oval 37"/>
          <p:cNvSpPr>
            <a:spLocks noChangeArrowheads="1"/>
          </p:cNvSpPr>
          <p:nvPr/>
        </p:nvSpPr>
        <p:spPr bwMode="auto">
          <a:xfrm>
            <a:off x="6400800" y="22098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06" name="Line 38"/>
          <p:cNvSpPr>
            <a:spLocks noChangeShapeType="1"/>
          </p:cNvSpPr>
          <p:nvPr/>
        </p:nvSpPr>
        <p:spPr bwMode="auto">
          <a:xfrm>
            <a:off x="5181600" y="1676400"/>
            <a:ext cx="1295400" cy="685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7" name="Oval 39"/>
          <p:cNvSpPr>
            <a:spLocks noChangeArrowheads="1"/>
          </p:cNvSpPr>
          <p:nvPr/>
        </p:nvSpPr>
        <p:spPr bwMode="auto">
          <a:xfrm>
            <a:off x="4648200" y="13716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08" name="Line 40"/>
          <p:cNvSpPr>
            <a:spLocks noChangeShapeType="1"/>
          </p:cNvSpPr>
          <p:nvPr/>
        </p:nvSpPr>
        <p:spPr bwMode="auto">
          <a:xfrm flipV="1">
            <a:off x="1752600" y="3352800"/>
            <a:ext cx="1524000" cy="7620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09" name="Oval 41"/>
          <p:cNvSpPr>
            <a:spLocks noChangeArrowheads="1"/>
          </p:cNvSpPr>
          <p:nvPr/>
        </p:nvSpPr>
        <p:spPr bwMode="auto">
          <a:xfrm>
            <a:off x="1219200" y="38862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10" name="Line 42"/>
          <p:cNvSpPr>
            <a:spLocks noChangeShapeType="1"/>
          </p:cNvSpPr>
          <p:nvPr/>
        </p:nvSpPr>
        <p:spPr bwMode="auto">
          <a:xfrm flipH="1">
            <a:off x="4038600" y="4343400"/>
            <a:ext cx="914400" cy="8382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6811" name="Oval 43"/>
          <p:cNvSpPr>
            <a:spLocks noChangeArrowheads="1"/>
          </p:cNvSpPr>
          <p:nvPr/>
        </p:nvSpPr>
        <p:spPr bwMode="auto">
          <a:xfrm>
            <a:off x="3505200" y="5029200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6812" name="Text Box 44"/>
          <p:cNvSpPr txBox="1">
            <a:spLocks noChangeArrowheads="1"/>
          </p:cNvSpPr>
          <p:nvPr/>
        </p:nvSpPr>
        <p:spPr bwMode="auto">
          <a:xfrm>
            <a:off x="5013325" y="23812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813" name="Text Box 45"/>
          <p:cNvSpPr txBox="1">
            <a:spLocks noChangeArrowheads="1"/>
          </p:cNvSpPr>
          <p:nvPr/>
        </p:nvSpPr>
        <p:spPr bwMode="auto">
          <a:xfrm>
            <a:off x="2667000" y="20574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14</a:t>
            </a:r>
            <a:endParaRPr kumimoji="1" lang="en-US" altLang="zh-CN" sz="2400" b="1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416814" name="Text Box 46"/>
          <p:cNvSpPr txBox="1">
            <a:spLocks noChangeArrowheads="1"/>
          </p:cNvSpPr>
          <p:nvPr/>
        </p:nvSpPr>
        <p:spPr bwMode="auto">
          <a:xfrm>
            <a:off x="4038600" y="3078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815" name="Text Box 47"/>
          <p:cNvSpPr txBox="1">
            <a:spLocks noChangeArrowheads="1"/>
          </p:cNvSpPr>
          <p:nvPr/>
        </p:nvSpPr>
        <p:spPr bwMode="auto">
          <a:xfrm>
            <a:off x="5562600" y="1477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5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16816" name="Text Box 48"/>
          <p:cNvSpPr txBox="1">
            <a:spLocks noChangeArrowheads="1"/>
          </p:cNvSpPr>
          <p:nvPr/>
        </p:nvSpPr>
        <p:spPr bwMode="auto">
          <a:xfrm>
            <a:off x="5708650" y="33067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817" name="Text Box 49"/>
          <p:cNvSpPr txBox="1">
            <a:spLocks noChangeArrowheads="1"/>
          </p:cNvSpPr>
          <p:nvPr/>
        </p:nvSpPr>
        <p:spPr bwMode="auto">
          <a:xfrm>
            <a:off x="2209800" y="32004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16</a:t>
            </a:r>
          </a:p>
        </p:txBody>
      </p:sp>
      <p:sp>
        <p:nvSpPr>
          <p:cNvPr id="416818" name="Text Box 50"/>
          <p:cNvSpPr txBox="1">
            <a:spLocks noChangeArrowheads="1"/>
          </p:cNvSpPr>
          <p:nvPr/>
        </p:nvSpPr>
        <p:spPr bwMode="auto">
          <a:xfrm>
            <a:off x="4267200" y="46482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21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6819" name="Text Box 51"/>
          <p:cNvSpPr txBox="1">
            <a:spLocks noChangeArrowheads="1"/>
          </p:cNvSpPr>
          <p:nvPr/>
        </p:nvSpPr>
        <p:spPr bwMode="auto">
          <a:xfrm>
            <a:off x="4997450" y="5149850"/>
            <a:ext cx="3841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所得生成树权值和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16820" name="Text Box 52"/>
          <p:cNvSpPr txBox="1">
            <a:spLocks noChangeArrowheads="1"/>
          </p:cNvSpPr>
          <p:nvPr/>
        </p:nvSpPr>
        <p:spPr bwMode="auto">
          <a:xfrm>
            <a:off x="4149725" y="5943600"/>
            <a:ext cx="4841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= 14+8+3+5+16+21 = 67</a:t>
            </a:r>
            <a:endParaRPr kumimoji="1" lang="en-US" altLang="zh-CN" sz="36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223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16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16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1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6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1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16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16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41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16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41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168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41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16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0" dur="500"/>
                                        <p:tgtEl>
                                          <p:spTgt spid="41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4" dur="500"/>
                                        <p:tgtEl>
                                          <p:spTgt spid="416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8" dur="500"/>
                                        <p:tgtEl>
                                          <p:spTgt spid="4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2" dur="500"/>
                                        <p:tgtEl>
                                          <p:spTgt spid="416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6" dur="500"/>
                                        <p:tgtEl>
                                          <p:spTgt spid="416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0" dur="500"/>
                                        <p:tgtEl>
                                          <p:spTgt spid="4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416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416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nimBg="1" autoUpdateAnimBg="0"/>
      <p:bldP spid="416771" grpId="0" animBg="1" autoUpdateAnimBg="0"/>
      <p:bldP spid="416772" grpId="0" animBg="1" autoUpdateAnimBg="0"/>
      <p:bldP spid="416773" grpId="0" animBg="1" autoUpdateAnimBg="0"/>
      <p:bldP spid="416774" grpId="0" animBg="1" autoUpdateAnimBg="0"/>
      <p:bldP spid="416775" grpId="0" animBg="1" autoUpdateAnimBg="0"/>
      <p:bldP spid="416776" grpId="0" animBg="1" autoUpdateAnimBg="0"/>
      <p:bldP spid="416777" grpId="0" animBg="1"/>
      <p:bldP spid="416778" grpId="0" animBg="1"/>
      <p:bldP spid="416779" grpId="0" animBg="1"/>
      <p:bldP spid="416780" grpId="0" animBg="1"/>
      <p:bldP spid="416781" grpId="0" animBg="1"/>
      <p:bldP spid="416782" grpId="0" animBg="1"/>
      <p:bldP spid="416783" grpId="0" animBg="1"/>
      <p:bldP spid="416784" grpId="0" animBg="1"/>
      <p:bldP spid="416785" grpId="0" animBg="1"/>
      <p:bldP spid="416786" grpId="0" animBg="1"/>
      <p:bldP spid="416787" grpId="0" animBg="1"/>
      <p:bldP spid="416788" grpId="0" autoUpdateAnimBg="0"/>
      <p:bldP spid="416789" grpId="0" autoUpdateAnimBg="0"/>
      <p:bldP spid="416790" grpId="0" autoUpdateAnimBg="0"/>
      <p:bldP spid="416791" grpId="0" autoUpdateAnimBg="0"/>
      <p:bldP spid="416792" grpId="0" autoUpdateAnimBg="0"/>
      <p:bldP spid="416793" grpId="0" autoUpdateAnimBg="0"/>
      <p:bldP spid="416794" grpId="0" autoUpdateAnimBg="0"/>
      <p:bldP spid="416795" grpId="0" autoUpdateAnimBg="0"/>
      <p:bldP spid="416796" grpId="0" autoUpdateAnimBg="0"/>
      <p:bldP spid="416797" grpId="0" autoUpdateAnimBg="0"/>
      <p:bldP spid="416798" grpId="0" animBg="1" autoUpdateAnimBg="0"/>
      <p:bldP spid="416799" grpId="0" animBg="1"/>
      <p:bldP spid="416800" grpId="0" animBg="1" autoUpdateAnimBg="0"/>
      <p:bldP spid="416801" grpId="0" animBg="1"/>
      <p:bldP spid="416802" grpId="0" autoUpdateAnimBg="0"/>
      <p:bldP spid="416803" grpId="0" animBg="1" autoUpdateAnimBg="0"/>
      <p:bldP spid="416804" grpId="0" animBg="1"/>
      <p:bldP spid="416805" grpId="0" animBg="1" autoUpdateAnimBg="0"/>
      <p:bldP spid="416806" grpId="0" animBg="1"/>
      <p:bldP spid="416807" grpId="0" animBg="1" autoUpdateAnimBg="0"/>
      <p:bldP spid="416808" grpId="0" animBg="1"/>
      <p:bldP spid="416809" grpId="0" animBg="1" autoUpdateAnimBg="0"/>
      <p:bldP spid="416810" grpId="0" animBg="1"/>
      <p:bldP spid="416811" grpId="0" animBg="1" autoUpdateAnimBg="0"/>
      <p:bldP spid="416812" grpId="0" autoUpdateAnimBg="0"/>
      <p:bldP spid="416813" grpId="0" autoUpdateAnimBg="0"/>
      <p:bldP spid="416814" grpId="0" autoUpdateAnimBg="0"/>
      <p:bldP spid="416815" grpId="0" autoUpdateAnimBg="0"/>
      <p:bldP spid="416816" grpId="0" autoUpdateAnimBg="0"/>
      <p:bldP spid="416817" grpId="0" autoUpdateAnimBg="0"/>
      <p:bldP spid="416818" grpId="0" autoUpdateAnimBg="0"/>
      <p:bldP spid="416819" grpId="0" autoUpdateAnimBg="0"/>
      <p:bldP spid="416820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Text Box 2"/>
          <p:cNvSpPr txBox="1">
            <a:spLocks noChangeArrowheads="1"/>
          </p:cNvSpPr>
          <p:nvPr/>
        </p:nvSpPr>
        <p:spPr bwMode="auto">
          <a:xfrm>
            <a:off x="228600" y="1069975"/>
            <a:ext cx="8915400" cy="380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   </a:t>
            </a:r>
            <a:r>
              <a:rPr kumimoji="1" lang="zh-CN" altLang="en-US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在生成树的构造过程中，图中 </a:t>
            </a:r>
            <a:r>
              <a:rPr kumimoji="1" lang="en-US" altLang="zh-CN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个顶点分属两个集合：</a:t>
            </a:r>
            <a:r>
              <a:rPr kumimoji="1" lang="zh-CN" altLang="en-US" sz="3900">
                <a:solidFill>
                  <a:srgbClr val="800000"/>
                </a:solidFill>
                <a:latin typeface="Times New Roman" charset="0"/>
                <a:ea typeface="楷体_GB2312" charset="0"/>
              </a:rPr>
              <a:t>已落在生成树上的顶点集 </a:t>
            </a:r>
            <a:r>
              <a:rPr kumimoji="1" lang="en-US" altLang="zh-CN" sz="39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en-US" altLang="zh-CN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900">
                <a:solidFill>
                  <a:schemeClr val="tx2"/>
                </a:solidFill>
                <a:latin typeface="Times New Roman" charset="0"/>
                <a:ea typeface="楷体_GB2312" charset="0"/>
              </a:rPr>
              <a:t>和尚未落在生成树上的顶点集</a:t>
            </a:r>
            <a:r>
              <a:rPr kumimoji="1" lang="en-US" altLang="zh-CN" sz="39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V-U</a:t>
            </a:r>
            <a:r>
              <a:rPr kumimoji="1" lang="en-US" altLang="zh-CN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，则应</a:t>
            </a:r>
            <a:r>
              <a:rPr kumimoji="1" lang="zh-CN" altLang="en-US" sz="39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在所有连通</a:t>
            </a:r>
            <a:r>
              <a:rPr kumimoji="1" lang="en-US" altLang="zh-CN" sz="39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9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中顶点和</a:t>
            </a:r>
            <a:r>
              <a:rPr kumimoji="1" lang="en-US" altLang="zh-CN" sz="39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V-U</a:t>
            </a:r>
            <a:r>
              <a:rPr kumimoji="1" lang="zh-CN" altLang="en-US" sz="39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中顶点的边中选取权值最小的边</a:t>
            </a:r>
            <a:r>
              <a:rPr kumimoji="1" lang="zh-CN" altLang="en-US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solidFill>
                <a:srgbClr val="000082"/>
              </a:solidFill>
              <a:latin typeface="Times New Roman" charset="0"/>
            </a:endParaRPr>
          </a:p>
        </p:txBody>
      </p:sp>
      <p:sp>
        <p:nvSpPr>
          <p:cNvPr id="417795" name="Rectangle 3"/>
          <p:cNvSpPr>
            <a:spLocks noChangeArrowheads="1"/>
          </p:cNvSpPr>
          <p:nvPr/>
        </p:nvSpPr>
        <p:spPr bwMode="auto">
          <a:xfrm>
            <a:off x="228600" y="336550"/>
            <a:ext cx="8718550" cy="157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9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900">
                <a:solidFill>
                  <a:srgbClr val="800000"/>
                </a:solidFill>
                <a:latin typeface="Times New Roman" charset="0"/>
                <a:ea typeface="楷体_GB2312" charset="0"/>
              </a:rPr>
              <a:t>一般情况下所添加的顶点应满足下列条件</a:t>
            </a:r>
            <a:r>
              <a:rPr kumimoji="1" lang="en-US" altLang="zh-CN" sz="39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3900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17796" name="AutoShape 4"/>
          <p:cNvSpPr>
            <a:spLocks noChangeArrowheads="1"/>
          </p:cNvSpPr>
          <p:nvPr/>
        </p:nvSpPr>
        <p:spPr bwMode="auto">
          <a:xfrm>
            <a:off x="2514600" y="4953000"/>
            <a:ext cx="1371600" cy="1600200"/>
          </a:xfrm>
          <a:prstGeom prst="roundRect">
            <a:avLst>
              <a:gd name="adj" fmla="val 16667"/>
            </a:avLst>
          </a:prstGeom>
          <a:noFill/>
          <a:ln w="12700" cap="sq">
            <a:solidFill>
              <a:srgbClr val="3333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797" name="Oval 5"/>
          <p:cNvSpPr>
            <a:spLocks noChangeArrowheads="1"/>
          </p:cNvSpPr>
          <p:nvPr/>
        </p:nvSpPr>
        <p:spPr bwMode="auto">
          <a:xfrm>
            <a:off x="5257800" y="4800600"/>
            <a:ext cx="1524000" cy="1981200"/>
          </a:xfrm>
          <a:prstGeom prst="ellipse">
            <a:avLst/>
          </a:prstGeom>
          <a:noFill/>
          <a:ln w="12700" cap="sq">
            <a:solidFill>
              <a:srgbClr val="00008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798" name="Oval 6"/>
          <p:cNvSpPr>
            <a:spLocks noChangeArrowheads="1"/>
          </p:cNvSpPr>
          <p:nvPr/>
        </p:nvSpPr>
        <p:spPr bwMode="auto">
          <a:xfrm>
            <a:off x="3200400" y="5105400"/>
            <a:ext cx="304800" cy="304800"/>
          </a:xfrm>
          <a:prstGeom prst="ellipse">
            <a:avLst/>
          </a:prstGeom>
          <a:solidFill>
            <a:srgbClr val="FFFF99"/>
          </a:solidFill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799" name="Oval 7"/>
          <p:cNvSpPr>
            <a:spLocks noChangeArrowheads="1"/>
          </p:cNvSpPr>
          <p:nvPr/>
        </p:nvSpPr>
        <p:spPr bwMode="auto">
          <a:xfrm>
            <a:off x="2667000" y="5562600"/>
            <a:ext cx="304800" cy="304800"/>
          </a:xfrm>
          <a:prstGeom prst="ellipse">
            <a:avLst/>
          </a:prstGeom>
          <a:solidFill>
            <a:srgbClr val="FFFF99"/>
          </a:solidFill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0" name="Oval 8"/>
          <p:cNvSpPr>
            <a:spLocks noChangeArrowheads="1"/>
          </p:cNvSpPr>
          <p:nvPr/>
        </p:nvSpPr>
        <p:spPr bwMode="auto">
          <a:xfrm>
            <a:off x="3352800" y="6096000"/>
            <a:ext cx="304800" cy="304800"/>
          </a:xfrm>
          <a:prstGeom prst="ellipse">
            <a:avLst/>
          </a:prstGeom>
          <a:solidFill>
            <a:srgbClr val="FFFF99"/>
          </a:solidFill>
          <a:ln w="127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1" name="Oval 9"/>
          <p:cNvSpPr>
            <a:spLocks noChangeArrowheads="1"/>
          </p:cNvSpPr>
          <p:nvPr/>
        </p:nvSpPr>
        <p:spPr bwMode="auto">
          <a:xfrm>
            <a:off x="5791200" y="4953000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2" name="Oval 10"/>
          <p:cNvSpPr>
            <a:spLocks noChangeArrowheads="1"/>
          </p:cNvSpPr>
          <p:nvPr/>
        </p:nvSpPr>
        <p:spPr bwMode="auto">
          <a:xfrm>
            <a:off x="6248400" y="5334000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3" name="Oval 11"/>
          <p:cNvSpPr>
            <a:spLocks noChangeArrowheads="1"/>
          </p:cNvSpPr>
          <p:nvPr/>
        </p:nvSpPr>
        <p:spPr bwMode="auto">
          <a:xfrm>
            <a:off x="5867400" y="6324600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4" name="Oval 12"/>
          <p:cNvSpPr>
            <a:spLocks noChangeArrowheads="1"/>
          </p:cNvSpPr>
          <p:nvPr/>
        </p:nvSpPr>
        <p:spPr bwMode="auto">
          <a:xfrm>
            <a:off x="5562600" y="5562600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5" name="Oval 13"/>
          <p:cNvSpPr>
            <a:spLocks noChangeArrowheads="1"/>
          </p:cNvSpPr>
          <p:nvPr/>
        </p:nvSpPr>
        <p:spPr bwMode="auto">
          <a:xfrm>
            <a:off x="6248400" y="5867400"/>
            <a:ext cx="304800" cy="304800"/>
          </a:xfrm>
          <a:prstGeom prst="ellipse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7806" name="Line 14"/>
          <p:cNvSpPr>
            <a:spLocks noChangeShapeType="1"/>
          </p:cNvSpPr>
          <p:nvPr/>
        </p:nvSpPr>
        <p:spPr bwMode="auto">
          <a:xfrm flipV="1">
            <a:off x="3581400" y="5105400"/>
            <a:ext cx="2209800" cy="1524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07" name="Line 15"/>
          <p:cNvSpPr>
            <a:spLocks noChangeShapeType="1"/>
          </p:cNvSpPr>
          <p:nvPr/>
        </p:nvSpPr>
        <p:spPr bwMode="auto">
          <a:xfrm>
            <a:off x="2971800" y="5715000"/>
            <a:ext cx="3276600" cy="3048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08" name="Line 16"/>
          <p:cNvSpPr>
            <a:spLocks noChangeShapeType="1"/>
          </p:cNvSpPr>
          <p:nvPr/>
        </p:nvSpPr>
        <p:spPr bwMode="auto">
          <a:xfrm>
            <a:off x="3657600" y="6248400"/>
            <a:ext cx="2209800" cy="228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09" name="Line 17"/>
          <p:cNvSpPr>
            <a:spLocks noChangeShapeType="1"/>
          </p:cNvSpPr>
          <p:nvPr/>
        </p:nvSpPr>
        <p:spPr bwMode="auto">
          <a:xfrm flipV="1">
            <a:off x="3657600" y="5715000"/>
            <a:ext cx="1905000" cy="5334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10" name="Line 18"/>
          <p:cNvSpPr>
            <a:spLocks noChangeShapeType="1"/>
          </p:cNvSpPr>
          <p:nvPr/>
        </p:nvSpPr>
        <p:spPr bwMode="auto">
          <a:xfrm>
            <a:off x="3505200" y="5257800"/>
            <a:ext cx="2743200" cy="2286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11" name="Line 19"/>
          <p:cNvSpPr>
            <a:spLocks noChangeShapeType="1"/>
          </p:cNvSpPr>
          <p:nvPr/>
        </p:nvSpPr>
        <p:spPr bwMode="auto">
          <a:xfrm flipV="1">
            <a:off x="2971800" y="5181600"/>
            <a:ext cx="2819400" cy="5334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12" name="Line 20"/>
          <p:cNvSpPr>
            <a:spLocks noChangeShapeType="1"/>
          </p:cNvSpPr>
          <p:nvPr/>
        </p:nvSpPr>
        <p:spPr bwMode="auto">
          <a:xfrm>
            <a:off x="3505200" y="5334000"/>
            <a:ext cx="2057400" cy="38100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813" name="Line 21"/>
          <p:cNvSpPr>
            <a:spLocks noChangeShapeType="1"/>
          </p:cNvSpPr>
          <p:nvPr/>
        </p:nvSpPr>
        <p:spPr bwMode="auto">
          <a:xfrm>
            <a:off x="3505200" y="5334000"/>
            <a:ext cx="2057400" cy="381000"/>
          </a:xfrm>
          <a:prstGeom prst="line">
            <a:avLst/>
          </a:prstGeom>
          <a:noFill/>
          <a:ln w="38100" cap="sq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4235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17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  <p:bldP spid="417795" grpId="0" autoUpdateAnimBg="0"/>
      <p:bldP spid="417796" grpId="0" animBg="1"/>
      <p:bldP spid="417797" grpId="0" animBg="1"/>
      <p:bldP spid="417798" grpId="0" animBg="1"/>
      <p:bldP spid="417799" grpId="0" animBg="1"/>
      <p:bldP spid="417800" grpId="0" animBg="1"/>
      <p:bldP spid="417801" grpId="0" animBg="1"/>
      <p:bldP spid="417802" grpId="0" animBg="1"/>
      <p:bldP spid="417803" grpId="0" animBg="1"/>
      <p:bldP spid="417804" grpId="0" animBg="1"/>
      <p:bldP spid="417805" grpId="0" animBg="1"/>
      <p:bldP spid="417806" grpId="0" animBg="1"/>
      <p:bldP spid="417807" grpId="0" animBg="1"/>
      <p:bldP spid="417808" grpId="0" animBg="1"/>
      <p:bldP spid="417809" grpId="0" animBg="1"/>
      <p:bldP spid="417810" grpId="0" animBg="1"/>
      <p:bldP spid="417811" grpId="0" animBg="1"/>
      <p:bldP spid="417812" grpId="0" animBg="1"/>
      <p:bldP spid="41781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/>
          <p:cNvSpPr txBox="1">
            <a:spLocks noChangeArrowheads="1"/>
          </p:cNvSpPr>
          <p:nvPr/>
        </p:nvSpPr>
        <p:spPr bwMode="auto">
          <a:xfrm>
            <a:off x="0" y="1219200"/>
            <a:ext cx="8847138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设置一个辅助数组，对当前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－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集中的每个顶点，记录和顶点集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中顶点相连接的代价最小的边：</a:t>
            </a:r>
          </a:p>
        </p:txBody>
      </p:sp>
      <p:sp>
        <p:nvSpPr>
          <p:cNvPr id="418819" name="Text Box 3"/>
          <p:cNvSpPr txBox="1">
            <a:spLocks noChangeArrowheads="1"/>
          </p:cNvSpPr>
          <p:nvPr/>
        </p:nvSpPr>
        <p:spPr bwMode="auto">
          <a:xfrm>
            <a:off x="228600" y="3000375"/>
            <a:ext cx="8755063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struct {</a:t>
            </a:r>
            <a:endParaRPr kumimoji="1" lang="en-US" altLang="zh-CN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VertexType  adjvex; 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集中的顶点序号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VRType     lowcost; 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边的权值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40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40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closedge[MAX_VERTEX_NUM];</a:t>
            </a:r>
            <a:endParaRPr kumimoji="1" lang="en-US" altLang="zh-CN" sz="2800" b="1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83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autoUpdateAnimBg="0"/>
      <p:bldP spid="418819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Oval 2"/>
          <p:cNvSpPr>
            <a:spLocks noChangeArrowheads="1"/>
          </p:cNvSpPr>
          <p:nvPr/>
        </p:nvSpPr>
        <p:spPr bwMode="auto">
          <a:xfrm>
            <a:off x="1600200" y="808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3" name="Oval 3"/>
          <p:cNvSpPr>
            <a:spLocks noChangeArrowheads="1"/>
          </p:cNvSpPr>
          <p:nvPr/>
        </p:nvSpPr>
        <p:spPr bwMode="auto">
          <a:xfrm>
            <a:off x="3886200" y="808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4" name="Oval 4"/>
          <p:cNvSpPr>
            <a:spLocks noChangeArrowheads="1"/>
          </p:cNvSpPr>
          <p:nvPr/>
        </p:nvSpPr>
        <p:spPr bwMode="auto">
          <a:xfrm>
            <a:off x="5181600" y="12652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5" name="Oval 5"/>
          <p:cNvSpPr>
            <a:spLocks noChangeArrowheads="1"/>
          </p:cNvSpPr>
          <p:nvPr/>
        </p:nvSpPr>
        <p:spPr bwMode="auto">
          <a:xfrm>
            <a:off x="4572000" y="21034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6" name="Oval 6"/>
          <p:cNvSpPr>
            <a:spLocks noChangeArrowheads="1"/>
          </p:cNvSpPr>
          <p:nvPr/>
        </p:nvSpPr>
        <p:spPr bwMode="auto">
          <a:xfrm>
            <a:off x="3200400" y="17986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7" name="Oval 7"/>
          <p:cNvSpPr>
            <a:spLocks noChangeArrowheads="1"/>
          </p:cNvSpPr>
          <p:nvPr/>
        </p:nvSpPr>
        <p:spPr bwMode="auto">
          <a:xfrm>
            <a:off x="1447800" y="23320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8" name="Oval 8"/>
          <p:cNvSpPr>
            <a:spLocks noChangeArrowheads="1"/>
          </p:cNvSpPr>
          <p:nvPr/>
        </p:nvSpPr>
        <p:spPr bwMode="auto">
          <a:xfrm>
            <a:off x="3124200" y="2941638"/>
            <a:ext cx="457200" cy="411162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49" name="Line 9"/>
          <p:cNvSpPr>
            <a:spLocks noChangeShapeType="1"/>
          </p:cNvSpPr>
          <p:nvPr/>
        </p:nvSpPr>
        <p:spPr bwMode="auto">
          <a:xfrm flipV="1">
            <a:off x="2057400" y="1036638"/>
            <a:ext cx="1828800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0" name="Line 10"/>
          <p:cNvSpPr>
            <a:spLocks noChangeShapeType="1"/>
          </p:cNvSpPr>
          <p:nvPr/>
        </p:nvSpPr>
        <p:spPr bwMode="auto">
          <a:xfrm>
            <a:off x="1981200" y="1189038"/>
            <a:ext cx="12954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1" name="Line 11"/>
          <p:cNvSpPr>
            <a:spLocks noChangeShapeType="1"/>
          </p:cNvSpPr>
          <p:nvPr/>
        </p:nvSpPr>
        <p:spPr bwMode="auto">
          <a:xfrm flipH="1">
            <a:off x="3505200" y="1189038"/>
            <a:ext cx="457200" cy="6096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2" name="Line 12"/>
          <p:cNvSpPr>
            <a:spLocks noChangeShapeType="1"/>
          </p:cNvSpPr>
          <p:nvPr/>
        </p:nvSpPr>
        <p:spPr bwMode="auto">
          <a:xfrm flipH="1">
            <a:off x="1676400" y="1265238"/>
            <a:ext cx="152400" cy="1066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3" name="Line 13"/>
          <p:cNvSpPr>
            <a:spLocks noChangeShapeType="1"/>
          </p:cNvSpPr>
          <p:nvPr/>
        </p:nvSpPr>
        <p:spPr bwMode="auto">
          <a:xfrm flipV="1">
            <a:off x="1905000" y="2103438"/>
            <a:ext cx="1295400" cy="3810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4" name="Line 14"/>
          <p:cNvSpPr>
            <a:spLocks noChangeShapeType="1"/>
          </p:cNvSpPr>
          <p:nvPr/>
        </p:nvSpPr>
        <p:spPr bwMode="auto">
          <a:xfrm>
            <a:off x="3657600" y="2027238"/>
            <a:ext cx="914400" cy="2286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5" name="Line 15"/>
          <p:cNvSpPr>
            <a:spLocks noChangeShapeType="1"/>
          </p:cNvSpPr>
          <p:nvPr/>
        </p:nvSpPr>
        <p:spPr bwMode="auto">
          <a:xfrm>
            <a:off x="4343400" y="1036638"/>
            <a:ext cx="838200" cy="304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6" name="Line 16"/>
          <p:cNvSpPr>
            <a:spLocks noChangeShapeType="1"/>
          </p:cNvSpPr>
          <p:nvPr/>
        </p:nvSpPr>
        <p:spPr bwMode="auto">
          <a:xfrm flipH="1">
            <a:off x="4953000" y="1646238"/>
            <a:ext cx="304800" cy="457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7" name="Line 17"/>
          <p:cNvSpPr>
            <a:spLocks noChangeShapeType="1"/>
          </p:cNvSpPr>
          <p:nvPr/>
        </p:nvSpPr>
        <p:spPr bwMode="auto">
          <a:xfrm>
            <a:off x="4267200" y="1189038"/>
            <a:ext cx="533400" cy="9906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8" name="Line 18"/>
          <p:cNvSpPr>
            <a:spLocks noChangeShapeType="1"/>
          </p:cNvSpPr>
          <p:nvPr/>
        </p:nvSpPr>
        <p:spPr bwMode="auto">
          <a:xfrm>
            <a:off x="1905000" y="2636838"/>
            <a:ext cx="1219200" cy="457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59" name="Line 19"/>
          <p:cNvSpPr>
            <a:spLocks noChangeShapeType="1"/>
          </p:cNvSpPr>
          <p:nvPr/>
        </p:nvSpPr>
        <p:spPr bwMode="auto">
          <a:xfrm flipH="1">
            <a:off x="3581400" y="2408238"/>
            <a:ext cx="9906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60" name="Text Box 20"/>
          <p:cNvSpPr txBox="1">
            <a:spLocks noChangeArrowheads="1"/>
          </p:cNvSpPr>
          <p:nvPr/>
        </p:nvSpPr>
        <p:spPr bwMode="auto">
          <a:xfrm>
            <a:off x="2590800" y="59372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19</a:t>
            </a:r>
            <a:endParaRPr kumimoji="1" lang="en-US" altLang="zh-CN" sz="2800">
              <a:latin typeface="Times New Roman" charset="0"/>
            </a:endParaRPr>
          </a:p>
        </p:txBody>
      </p:sp>
      <p:sp>
        <p:nvSpPr>
          <p:cNvPr id="419861" name="Text Box 21"/>
          <p:cNvSpPr txBox="1">
            <a:spLocks noChangeArrowheads="1"/>
          </p:cNvSpPr>
          <p:nvPr/>
        </p:nvSpPr>
        <p:spPr bwMode="auto">
          <a:xfrm>
            <a:off x="4724400" y="7318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19862" name="Text Box 22"/>
          <p:cNvSpPr txBox="1">
            <a:spLocks noChangeArrowheads="1"/>
          </p:cNvSpPr>
          <p:nvPr/>
        </p:nvSpPr>
        <p:spPr bwMode="auto">
          <a:xfrm>
            <a:off x="2209800" y="10366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14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63" name="Text Box 23"/>
          <p:cNvSpPr txBox="1">
            <a:spLocks noChangeArrowheads="1"/>
          </p:cNvSpPr>
          <p:nvPr/>
        </p:nvSpPr>
        <p:spPr bwMode="auto">
          <a:xfrm>
            <a:off x="1289050" y="14938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18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64" name="Text Box 24"/>
          <p:cNvSpPr txBox="1">
            <a:spLocks noChangeArrowheads="1"/>
          </p:cNvSpPr>
          <p:nvPr/>
        </p:nvSpPr>
        <p:spPr bwMode="auto">
          <a:xfrm>
            <a:off x="2362200" y="24844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latin typeface="Times New Roman" charset="0"/>
              </a:rPr>
              <a:t>27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65" name="Text Box 25"/>
          <p:cNvSpPr txBox="1">
            <a:spLocks noChangeArrowheads="1"/>
          </p:cNvSpPr>
          <p:nvPr/>
        </p:nvSpPr>
        <p:spPr bwMode="auto">
          <a:xfrm>
            <a:off x="2057400" y="19192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16</a:t>
            </a:r>
            <a:endParaRPr kumimoji="1" lang="en-US" altLang="zh-CN" sz="2800">
              <a:latin typeface="Times New Roman" charset="0"/>
            </a:endParaRPr>
          </a:p>
        </p:txBody>
      </p:sp>
      <p:sp>
        <p:nvSpPr>
          <p:cNvPr id="419866" name="Text Box 26"/>
          <p:cNvSpPr txBox="1">
            <a:spLocks noChangeArrowheads="1"/>
          </p:cNvSpPr>
          <p:nvPr/>
        </p:nvSpPr>
        <p:spPr bwMode="auto">
          <a:xfrm>
            <a:off x="3886200" y="173672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67" name="Text Box 27"/>
          <p:cNvSpPr txBox="1">
            <a:spLocks noChangeArrowheads="1"/>
          </p:cNvSpPr>
          <p:nvPr/>
        </p:nvSpPr>
        <p:spPr bwMode="auto">
          <a:xfrm>
            <a:off x="3657600" y="234632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21</a:t>
            </a:r>
            <a:endParaRPr kumimoji="1" lang="en-US" altLang="zh-CN" sz="2800">
              <a:latin typeface="Times New Roman" charset="0"/>
            </a:endParaRPr>
          </a:p>
        </p:txBody>
      </p:sp>
      <p:sp>
        <p:nvSpPr>
          <p:cNvPr id="419868" name="Text Box 28"/>
          <p:cNvSpPr txBox="1">
            <a:spLocks noChangeArrowheads="1"/>
          </p:cNvSpPr>
          <p:nvPr/>
        </p:nvSpPr>
        <p:spPr bwMode="auto">
          <a:xfrm>
            <a:off x="5105400" y="17224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69" name="Oval 29"/>
          <p:cNvSpPr>
            <a:spLocks noChangeArrowheads="1"/>
          </p:cNvSpPr>
          <p:nvPr/>
        </p:nvSpPr>
        <p:spPr bwMode="auto">
          <a:xfrm>
            <a:off x="1600200" y="8080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70" name="Line 30"/>
          <p:cNvSpPr>
            <a:spLocks noChangeShapeType="1"/>
          </p:cNvSpPr>
          <p:nvPr/>
        </p:nvSpPr>
        <p:spPr bwMode="auto">
          <a:xfrm>
            <a:off x="3657600" y="2027238"/>
            <a:ext cx="914400" cy="2286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1" name="Oval 31"/>
          <p:cNvSpPr>
            <a:spLocks noChangeArrowheads="1"/>
          </p:cNvSpPr>
          <p:nvPr/>
        </p:nvSpPr>
        <p:spPr bwMode="auto">
          <a:xfrm>
            <a:off x="3200400" y="17986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72" name="Line 32"/>
          <p:cNvSpPr>
            <a:spLocks noChangeShapeType="1"/>
          </p:cNvSpPr>
          <p:nvPr/>
        </p:nvSpPr>
        <p:spPr bwMode="auto">
          <a:xfrm>
            <a:off x="1981200" y="1189038"/>
            <a:ext cx="1295400" cy="685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3" name="Text Box 33"/>
          <p:cNvSpPr txBox="1">
            <a:spLocks noChangeArrowheads="1"/>
          </p:cNvSpPr>
          <p:nvPr/>
        </p:nvSpPr>
        <p:spPr bwMode="auto">
          <a:xfrm>
            <a:off x="3352800" y="10366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12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74" name="Oval 34"/>
          <p:cNvSpPr>
            <a:spLocks noChangeArrowheads="1"/>
          </p:cNvSpPr>
          <p:nvPr/>
        </p:nvSpPr>
        <p:spPr bwMode="auto">
          <a:xfrm>
            <a:off x="4572000" y="21034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75" name="Line 35"/>
          <p:cNvSpPr>
            <a:spLocks noChangeShapeType="1"/>
          </p:cNvSpPr>
          <p:nvPr/>
        </p:nvSpPr>
        <p:spPr bwMode="auto">
          <a:xfrm flipH="1">
            <a:off x="4953000" y="1646238"/>
            <a:ext cx="304800" cy="4572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6" name="Oval 36"/>
          <p:cNvSpPr>
            <a:spLocks noChangeArrowheads="1"/>
          </p:cNvSpPr>
          <p:nvPr/>
        </p:nvSpPr>
        <p:spPr bwMode="auto">
          <a:xfrm>
            <a:off x="5181600" y="12652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77" name="Line 37"/>
          <p:cNvSpPr>
            <a:spLocks noChangeShapeType="1"/>
          </p:cNvSpPr>
          <p:nvPr/>
        </p:nvSpPr>
        <p:spPr bwMode="auto">
          <a:xfrm>
            <a:off x="4343400" y="1036638"/>
            <a:ext cx="838200" cy="304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878" name="Oval 38"/>
          <p:cNvSpPr>
            <a:spLocks noChangeArrowheads="1"/>
          </p:cNvSpPr>
          <p:nvPr/>
        </p:nvSpPr>
        <p:spPr bwMode="auto">
          <a:xfrm>
            <a:off x="3886200" y="808038"/>
            <a:ext cx="457200" cy="411162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19879" name="Text Box 39"/>
          <p:cNvSpPr txBox="1">
            <a:spLocks noChangeArrowheads="1"/>
          </p:cNvSpPr>
          <p:nvPr/>
        </p:nvSpPr>
        <p:spPr bwMode="auto">
          <a:xfrm>
            <a:off x="4419600" y="13414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800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graphicFrame>
        <p:nvGraphicFramePr>
          <p:cNvPr id="419880" name="Object 40"/>
          <p:cNvGraphicFramePr>
            <a:graphicFrameLocks noChangeAspect="1"/>
          </p:cNvGraphicFramePr>
          <p:nvPr/>
        </p:nvGraphicFramePr>
        <p:xfrm>
          <a:off x="457200" y="3852863"/>
          <a:ext cx="8196263" cy="247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2657" name="文档" r:id="rId3" imgW="8199120" imgH="2484120" progId="Word.Document.8">
                  <p:embed/>
                </p:oleObj>
              </mc:Choice>
              <mc:Fallback>
                <p:oleObj name="文档" r:id="rId3" imgW="8199120" imgH="2484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852863"/>
                        <a:ext cx="8196263" cy="2471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1" name="Text Box 41"/>
          <p:cNvSpPr txBox="1">
            <a:spLocks noChangeArrowheads="1"/>
          </p:cNvSpPr>
          <p:nvPr/>
        </p:nvSpPr>
        <p:spPr bwMode="auto">
          <a:xfrm>
            <a:off x="3200400" y="472440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a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2" name="Text Box 42"/>
          <p:cNvSpPr txBox="1">
            <a:spLocks noChangeArrowheads="1"/>
          </p:cNvSpPr>
          <p:nvPr/>
        </p:nvSpPr>
        <p:spPr bwMode="auto">
          <a:xfrm>
            <a:off x="5943600" y="472440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a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3" name="Text Box 43"/>
          <p:cNvSpPr txBox="1">
            <a:spLocks noChangeArrowheads="1"/>
          </p:cNvSpPr>
          <p:nvPr/>
        </p:nvSpPr>
        <p:spPr bwMode="auto">
          <a:xfrm>
            <a:off x="7772400" y="469265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a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4" name="Text Box 44"/>
          <p:cNvSpPr txBox="1">
            <a:spLocks noChangeArrowheads="1"/>
          </p:cNvSpPr>
          <p:nvPr/>
        </p:nvSpPr>
        <p:spPr bwMode="auto">
          <a:xfrm>
            <a:off x="3200400" y="537845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19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5" name="Text Box 45"/>
          <p:cNvSpPr txBox="1">
            <a:spLocks noChangeArrowheads="1"/>
          </p:cNvSpPr>
          <p:nvPr/>
        </p:nvSpPr>
        <p:spPr bwMode="auto">
          <a:xfrm>
            <a:off x="5927725" y="541020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14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6" name="Text Box 46"/>
          <p:cNvSpPr txBox="1">
            <a:spLocks noChangeArrowheads="1"/>
          </p:cNvSpPr>
          <p:nvPr/>
        </p:nvSpPr>
        <p:spPr bwMode="auto">
          <a:xfrm>
            <a:off x="7756525" y="5378450"/>
            <a:ext cx="8540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18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7" name="Text Box 47"/>
          <p:cNvSpPr txBox="1">
            <a:spLocks noChangeArrowheads="1"/>
          </p:cNvSpPr>
          <p:nvPr/>
        </p:nvSpPr>
        <p:spPr bwMode="auto">
          <a:xfrm>
            <a:off x="5943600" y="5454650"/>
            <a:ext cx="854075" cy="641350"/>
          </a:xfrm>
          <a:prstGeom prst="rect">
            <a:avLst/>
          </a:prstGeom>
          <a:solidFill>
            <a:srgbClr val="FADC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</a:rPr>
              <a:t>14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88" name="Text Box 48"/>
          <p:cNvSpPr txBox="1">
            <a:spLocks noChangeArrowheads="1"/>
          </p:cNvSpPr>
          <p:nvPr/>
        </p:nvSpPr>
        <p:spPr bwMode="auto">
          <a:xfrm>
            <a:off x="1295400" y="0"/>
            <a:ext cx="1250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</a:rPr>
              <a:t>例如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</a:rPr>
              <a:t>: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19889" name="Text Box 49"/>
          <p:cNvSpPr txBox="1">
            <a:spLocks noChangeArrowheads="1"/>
          </p:cNvSpPr>
          <p:nvPr/>
        </p:nvSpPr>
        <p:spPr bwMode="auto">
          <a:xfrm>
            <a:off x="3200400" y="4724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e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0" name="Text Box 50"/>
          <p:cNvSpPr txBox="1">
            <a:spLocks noChangeArrowheads="1"/>
          </p:cNvSpPr>
          <p:nvPr/>
        </p:nvSpPr>
        <p:spPr bwMode="auto">
          <a:xfrm>
            <a:off x="3200400" y="5441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12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1" name="Text Box 51"/>
          <p:cNvSpPr txBox="1">
            <a:spLocks noChangeArrowheads="1"/>
          </p:cNvSpPr>
          <p:nvPr/>
        </p:nvSpPr>
        <p:spPr bwMode="auto">
          <a:xfrm>
            <a:off x="5013325" y="4724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e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2" name="Text Box 52"/>
          <p:cNvSpPr txBox="1">
            <a:spLocks noChangeArrowheads="1"/>
          </p:cNvSpPr>
          <p:nvPr/>
        </p:nvSpPr>
        <p:spPr bwMode="auto">
          <a:xfrm>
            <a:off x="7756525" y="472440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e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3" name="Text Box 53"/>
          <p:cNvSpPr txBox="1">
            <a:spLocks noChangeArrowheads="1"/>
          </p:cNvSpPr>
          <p:nvPr/>
        </p:nvSpPr>
        <p:spPr bwMode="auto">
          <a:xfrm>
            <a:off x="5013325" y="5441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latin typeface="Times New Roman" charset="0"/>
              </a:rPr>
              <a:t>8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4" name="Text Box 54"/>
          <p:cNvSpPr txBox="1">
            <a:spLocks noChangeArrowheads="1"/>
          </p:cNvSpPr>
          <p:nvPr/>
        </p:nvSpPr>
        <p:spPr bwMode="auto">
          <a:xfrm>
            <a:off x="7772400" y="5441950"/>
            <a:ext cx="854075" cy="654050"/>
          </a:xfrm>
          <a:prstGeom prst="rect">
            <a:avLst/>
          </a:prstGeom>
          <a:solidFill>
            <a:srgbClr val="FFFFFF"/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000082"/>
                </a:solidFill>
                <a:latin typeface="Times New Roman" charset="0"/>
              </a:rPr>
              <a:t>16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5" name="Text Box 55"/>
          <p:cNvSpPr txBox="1">
            <a:spLocks noChangeArrowheads="1"/>
          </p:cNvSpPr>
          <p:nvPr/>
        </p:nvSpPr>
        <p:spPr bwMode="auto">
          <a:xfrm>
            <a:off x="5029200" y="5441950"/>
            <a:ext cx="854075" cy="641350"/>
          </a:xfrm>
          <a:prstGeom prst="rect">
            <a:avLst/>
          </a:prstGeom>
          <a:solidFill>
            <a:srgbClr val="FADC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</a:rPr>
              <a:t>8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6" name="Text Box 56"/>
          <p:cNvSpPr txBox="1">
            <a:spLocks noChangeArrowheads="1"/>
          </p:cNvSpPr>
          <p:nvPr/>
        </p:nvSpPr>
        <p:spPr bwMode="auto">
          <a:xfrm>
            <a:off x="4114800" y="4724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7" name="Text Box 57"/>
          <p:cNvSpPr txBox="1">
            <a:spLocks noChangeArrowheads="1"/>
          </p:cNvSpPr>
          <p:nvPr/>
        </p:nvSpPr>
        <p:spPr bwMode="auto">
          <a:xfrm>
            <a:off x="4114800" y="5441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8" name="Text Box 58"/>
          <p:cNvSpPr txBox="1">
            <a:spLocks noChangeArrowheads="1"/>
          </p:cNvSpPr>
          <p:nvPr/>
        </p:nvSpPr>
        <p:spPr bwMode="auto">
          <a:xfrm>
            <a:off x="3200400" y="4724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899" name="Text Box 59"/>
          <p:cNvSpPr txBox="1">
            <a:spLocks noChangeArrowheads="1"/>
          </p:cNvSpPr>
          <p:nvPr/>
        </p:nvSpPr>
        <p:spPr bwMode="auto">
          <a:xfrm>
            <a:off x="6858000" y="472440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900" name="Text Box 60"/>
          <p:cNvSpPr txBox="1">
            <a:spLocks noChangeArrowheads="1"/>
          </p:cNvSpPr>
          <p:nvPr/>
        </p:nvSpPr>
        <p:spPr bwMode="auto">
          <a:xfrm>
            <a:off x="3200400" y="5441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latin typeface="Times New Roman" charset="0"/>
              </a:rPr>
              <a:t>7</a:t>
            </a:r>
          </a:p>
        </p:txBody>
      </p:sp>
      <p:sp>
        <p:nvSpPr>
          <p:cNvPr id="419901" name="Text Box 61"/>
          <p:cNvSpPr txBox="1">
            <a:spLocks noChangeArrowheads="1"/>
          </p:cNvSpPr>
          <p:nvPr/>
        </p:nvSpPr>
        <p:spPr bwMode="auto">
          <a:xfrm>
            <a:off x="6858000" y="5441950"/>
            <a:ext cx="854075" cy="654050"/>
          </a:xfrm>
          <a:prstGeom prst="rect">
            <a:avLst/>
          </a:prstGeom>
          <a:solidFill>
            <a:srgbClr val="CCFFCC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21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902" name="Text Box 62"/>
          <p:cNvSpPr txBox="1">
            <a:spLocks noChangeArrowheads="1"/>
          </p:cNvSpPr>
          <p:nvPr/>
        </p:nvSpPr>
        <p:spPr bwMode="auto">
          <a:xfrm>
            <a:off x="4114800" y="5441950"/>
            <a:ext cx="854075" cy="641350"/>
          </a:xfrm>
          <a:prstGeom prst="rect">
            <a:avLst/>
          </a:prstGeom>
          <a:solidFill>
            <a:srgbClr val="FADC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</a:rPr>
              <a:t>3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903" name="Text Box 63"/>
          <p:cNvSpPr txBox="1">
            <a:spLocks noChangeArrowheads="1"/>
          </p:cNvSpPr>
          <p:nvPr/>
        </p:nvSpPr>
        <p:spPr bwMode="auto">
          <a:xfrm>
            <a:off x="3200400" y="4724400"/>
            <a:ext cx="854075" cy="654050"/>
          </a:xfrm>
          <a:prstGeom prst="rect">
            <a:avLst/>
          </a:prstGeom>
          <a:solidFill>
            <a:srgbClr val="FFFF99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904" name="Text Box 64"/>
          <p:cNvSpPr txBox="1">
            <a:spLocks noChangeArrowheads="1"/>
          </p:cNvSpPr>
          <p:nvPr/>
        </p:nvSpPr>
        <p:spPr bwMode="auto">
          <a:xfrm>
            <a:off x="3200400" y="5441950"/>
            <a:ext cx="854075" cy="654050"/>
          </a:xfrm>
          <a:prstGeom prst="rect">
            <a:avLst/>
          </a:prstGeom>
          <a:solidFill>
            <a:srgbClr val="FFFF99"/>
          </a:solidFill>
          <a:ln w="12700" cap="sq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5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19905" name="Text Box 65"/>
          <p:cNvSpPr txBox="1">
            <a:spLocks noChangeArrowheads="1"/>
          </p:cNvSpPr>
          <p:nvPr/>
        </p:nvSpPr>
        <p:spPr bwMode="auto">
          <a:xfrm>
            <a:off x="3200400" y="5441950"/>
            <a:ext cx="854075" cy="641350"/>
          </a:xfrm>
          <a:prstGeom prst="rect">
            <a:avLst/>
          </a:prstGeom>
          <a:solidFill>
            <a:srgbClr val="FADCD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</a:rPr>
              <a:t>5</a:t>
            </a:r>
            <a:endParaRPr kumimoji="1" lang="en-US" altLang="zh-CN" sz="3600" b="1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123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1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41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41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41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9" dur="500"/>
                                        <p:tgtEl>
                                          <p:spTgt spid="419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3" dur="500"/>
                                        <p:tgtEl>
                                          <p:spTgt spid="41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8" dur="500"/>
                                        <p:tgtEl>
                                          <p:spTgt spid="41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41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19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9" dur="500"/>
                                        <p:tgtEl>
                                          <p:spTgt spid="41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4" dur="500"/>
                                        <p:tgtEl>
                                          <p:spTgt spid="41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8" dur="500"/>
                                        <p:tgtEl>
                                          <p:spTgt spid="41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3" dur="500"/>
                                        <p:tgtEl>
                                          <p:spTgt spid="41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7" dur="500"/>
                                        <p:tgtEl>
                                          <p:spTgt spid="41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2" dur="500"/>
                                        <p:tgtEl>
                                          <p:spTgt spid="41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419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1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19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3" dur="500"/>
                                        <p:tgtEl>
                                          <p:spTgt spid="41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8" dur="500"/>
                                        <p:tgtEl>
                                          <p:spTgt spid="41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2" dur="500"/>
                                        <p:tgtEl>
                                          <p:spTgt spid="419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7" dur="500"/>
                                        <p:tgtEl>
                                          <p:spTgt spid="41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1" dur="500"/>
                                        <p:tgtEl>
                                          <p:spTgt spid="41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6" dur="500"/>
                                        <p:tgtEl>
                                          <p:spTgt spid="419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0" dur="500"/>
                                        <p:tgtEl>
                                          <p:spTgt spid="41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1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19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7" dur="500"/>
                                        <p:tgtEl>
                                          <p:spTgt spid="41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2" dur="500"/>
                                        <p:tgtEl>
                                          <p:spTgt spid="41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6" dur="500"/>
                                        <p:tgtEl>
                                          <p:spTgt spid="419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419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419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 nodeType="clickPar">
                      <p:stCondLst>
                        <p:cond delay="indefinite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3" dur="500"/>
                                        <p:tgtEl>
                                          <p:spTgt spid="41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nimBg="1" autoUpdateAnimBg="0"/>
      <p:bldP spid="419843" grpId="0" animBg="1" autoUpdateAnimBg="0"/>
      <p:bldP spid="419844" grpId="0" animBg="1" autoUpdateAnimBg="0"/>
      <p:bldP spid="419845" grpId="0" animBg="1" autoUpdateAnimBg="0"/>
      <p:bldP spid="419846" grpId="0" animBg="1" autoUpdateAnimBg="0"/>
      <p:bldP spid="419847" grpId="0" animBg="1" autoUpdateAnimBg="0"/>
      <p:bldP spid="419848" grpId="0" animBg="1" autoUpdateAnimBg="0"/>
      <p:bldP spid="419849" grpId="0" animBg="1"/>
      <p:bldP spid="419850" grpId="0" animBg="1"/>
      <p:bldP spid="419851" grpId="0" animBg="1"/>
      <p:bldP spid="419852" grpId="0" animBg="1"/>
      <p:bldP spid="419853" grpId="0" animBg="1"/>
      <p:bldP spid="419854" grpId="0" animBg="1"/>
      <p:bldP spid="419855" grpId="0" animBg="1"/>
      <p:bldP spid="419856" grpId="0" animBg="1"/>
      <p:bldP spid="419857" grpId="0" animBg="1"/>
      <p:bldP spid="419858" grpId="0" animBg="1"/>
      <p:bldP spid="419859" grpId="0" animBg="1"/>
      <p:bldP spid="419860" grpId="0" autoUpdateAnimBg="0"/>
      <p:bldP spid="419861" grpId="0" autoUpdateAnimBg="0"/>
      <p:bldP spid="419862" grpId="0" autoUpdateAnimBg="0"/>
      <p:bldP spid="419863" grpId="0" autoUpdateAnimBg="0"/>
      <p:bldP spid="419864" grpId="0" autoUpdateAnimBg="0"/>
      <p:bldP spid="419865" grpId="0" autoUpdateAnimBg="0"/>
      <p:bldP spid="419866" grpId="0" autoUpdateAnimBg="0"/>
      <p:bldP spid="419867" grpId="0" autoUpdateAnimBg="0"/>
      <p:bldP spid="419868" grpId="0" autoUpdateAnimBg="0"/>
      <p:bldP spid="419869" grpId="0" animBg="1" autoUpdateAnimBg="0"/>
      <p:bldP spid="419870" grpId="0" animBg="1"/>
      <p:bldP spid="419871" grpId="0" animBg="1" autoUpdateAnimBg="0"/>
      <p:bldP spid="419872" grpId="0" animBg="1"/>
      <p:bldP spid="419873" grpId="0" autoUpdateAnimBg="0"/>
      <p:bldP spid="419874" grpId="0" animBg="1" autoUpdateAnimBg="0"/>
      <p:bldP spid="419875" grpId="0" animBg="1"/>
      <p:bldP spid="419876" grpId="0" animBg="1" autoUpdateAnimBg="0"/>
      <p:bldP spid="419877" grpId="0" animBg="1"/>
      <p:bldP spid="419878" grpId="0" animBg="1" autoUpdateAnimBg="0"/>
      <p:bldP spid="419879" grpId="0" autoUpdateAnimBg="0"/>
      <p:bldP spid="419881" grpId="0" autoUpdateAnimBg="0"/>
      <p:bldP spid="419882" grpId="0" autoUpdateAnimBg="0"/>
      <p:bldP spid="419883" grpId="0" autoUpdateAnimBg="0"/>
      <p:bldP spid="419884" grpId="0" autoUpdateAnimBg="0"/>
      <p:bldP spid="419885" grpId="0" autoUpdateAnimBg="0"/>
      <p:bldP spid="419886" grpId="0" autoUpdateAnimBg="0"/>
      <p:bldP spid="419887" grpId="0" animBg="1" autoUpdateAnimBg="0"/>
      <p:bldP spid="419888" grpId="0" autoUpdateAnimBg="0"/>
      <p:bldP spid="419889" grpId="0" animBg="1" autoUpdateAnimBg="0"/>
      <p:bldP spid="419890" grpId="0" animBg="1" autoUpdateAnimBg="0"/>
      <p:bldP spid="419891" grpId="0" animBg="1" autoUpdateAnimBg="0"/>
      <p:bldP spid="419892" grpId="0" animBg="1" autoUpdateAnimBg="0"/>
      <p:bldP spid="419893" grpId="0" animBg="1" autoUpdateAnimBg="0"/>
      <p:bldP spid="419894" grpId="0" animBg="1" autoUpdateAnimBg="0"/>
      <p:bldP spid="419895" grpId="0" animBg="1" autoUpdateAnimBg="0"/>
      <p:bldP spid="419896" grpId="0" animBg="1" autoUpdateAnimBg="0"/>
      <p:bldP spid="419897" grpId="0" animBg="1" autoUpdateAnimBg="0"/>
      <p:bldP spid="419898" grpId="0" animBg="1" autoUpdateAnimBg="0"/>
      <p:bldP spid="419899" grpId="0" animBg="1" autoUpdateAnimBg="0"/>
      <p:bldP spid="419900" grpId="0" animBg="1" autoUpdateAnimBg="0"/>
      <p:bldP spid="419901" grpId="0" animBg="1" autoUpdateAnimBg="0"/>
      <p:bldP spid="419902" grpId="0" animBg="1" autoUpdateAnimBg="0"/>
      <p:bldP spid="419903" grpId="0" animBg="1" autoUpdateAnimBg="0"/>
      <p:bldP spid="419904" grpId="0" animBg="1" autoUpdateAnimBg="0"/>
      <p:bldP spid="419905" grpId="0" animBg="1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ChangeArrowheads="1"/>
          </p:cNvSpPr>
          <p:nvPr/>
        </p:nvSpPr>
        <p:spPr bwMode="auto">
          <a:xfrm>
            <a:off x="0" y="0"/>
            <a:ext cx="9136063" cy="6810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void MiniSpanTree_P(MGraph G, VertexType u) {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//</a:t>
            </a:r>
            <a:r>
              <a:rPr kumimoji="1" lang="zh-CN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用普里姆算法从顶点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出发构造网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zh-CN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的最小生成树</a:t>
            </a:r>
            <a:endParaRPr kumimoji="1" lang="zh-CN" altLang="en-US" sz="32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k = LocateVex ( G, u );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for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 j=0; j&lt;G.vexnum;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j )  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辅助数组初始化</a:t>
            </a:r>
            <a:endParaRPr kumimoji="1" lang="zh-CN" altLang="en-US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(j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!=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k)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 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closedge[j] = { u, G.arcs[k][j].adj };</a:t>
            </a:r>
            <a:r>
              <a:rPr kumimoji="1" lang="en-US" altLang="zh-CN" sz="3600" b="1">
                <a:latin typeface="Times New Roman" charset="0"/>
                <a:ea typeface="楷体_GB2312" charset="0"/>
              </a:rPr>
              <a:t>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closedge[k].lowcost = 0;      //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初始，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{u}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(i=0; i&lt;G.vexnum; ++i)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{</a:t>
            </a:r>
          </a:p>
          <a:p>
            <a:pPr eaLnBrk="1" hangingPunct="1">
              <a:lnSpc>
                <a:spcPct val="125000"/>
              </a:lnSpc>
            </a:pPr>
            <a:endParaRPr kumimoji="1" lang="en-US" altLang="zh-CN" sz="3600" b="1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  <a:endParaRPr kumimoji="1" lang="en-US" altLang="zh-CN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0867" name="Rectangle 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71525" y="5545138"/>
            <a:ext cx="5400675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继续向生成树上添加顶点;</a:t>
            </a:r>
            <a:endParaRPr kumimoji="1" lang="en-US" altLang="zh-CN" sz="36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0868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611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6" grpId="0" animBg="1" autoUpdateAnimBg="0"/>
      <p:bldP spid="420867" grpId="0" autoUpdateAnimBg="0"/>
      <p:bldP spid="42086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/>
          <p:cNvSpPr txBox="1">
            <a:spLocks noChangeArrowheads="1"/>
          </p:cNvSpPr>
          <p:nvPr/>
        </p:nvSpPr>
        <p:spPr bwMode="auto">
          <a:xfrm>
            <a:off x="-152400" y="304800"/>
            <a:ext cx="9372600" cy="578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        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k = minimum(closedge)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;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         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求出加入生成树的下一个顶点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(k)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(closedge[k].adjvex, G.vexs[k]);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             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输出生成树上一条边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closedge[k].lowcost = 0;    // 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第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顶点并入</a:t>
            </a:r>
            <a:r>
              <a:rPr kumimoji="1" lang="en-US" altLang="zh-CN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集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(j=0; j&lt;G.vexnum;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j)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      //</a:t>
            </a:r>
            <a:r>
              <a:rPr kumimoji="1" lang="zh-CN" altLang="en-US" sz="32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修改其它顶点的最小边</a:t>
            </a:r>
            <a:endParaRPr kumimoji="1" lang="zh-CN" altLang="en-US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if (G.arcs[k][j].adj &lt; closedge[j].lowcost)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closedge[j] = { G.vexs[k], G.arcs[k][j].adj };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 </a:t>
            </a:r>
          </a:p>
        </p:txBody>
      </p:sp>
      <p:sp>
        <p:nvSpPr>
          <p:cNvPr id="421891" name="AutoShape 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610600" y="6324600"/>
            <a:ext cx="381000" cy="381000"/>
          </a:xfrm>
          <a:prstGeom prst="actionButtonReturn">
            <a:avLst/>
          </a:prstGeom>
          <a:solidFill>
            <a:srgbClr val="BEC1FE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3769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1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utoUpdateAnimBg="0"/>
      <p:bldP spid="42189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Text Box 2"/>
          <p:cNvSpPr txBox="1">
            <a:spLocks noChangeArrowheads="1"/>
          </p:cNvSpPr>
          <p:nvPr/>
        </p:nvSpPr>
        <p:spPr bwMode="auto">
          <a:xfrm>
            <a:off x="304800" y="3635375"/>
            <a:ext cx="88392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具体做法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: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先构造一个只含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n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个顶点的子图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SG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，然后从权值最小的边开始，若它的添加不使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SG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中产生回路，则在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SG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上加上这条边，如此重复，直至加上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n-1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条边为止。</a:t>
            </a:r>
          </a:p>
        </p:txBody>
      </p:sp>
      <p:sp>
        <p:nvSpPr>
          <p:cNvPr id="422915" name="Rectangle 3"/>
          <p:cNvSpPr>
            <a:spLocks noChangeArrowheads="1"/>
          </p:cNvSpPr>
          <p:nvPr/>
        </p:nvSpPr>
        <p:spPr bwMode="auto">
          <a:xfrm>
            <a:off x="381000" y="1066800"/>
            <a:ext cx="8458200" cy="215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考虑问题的出发点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: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为使生成树上</a:t>
            </a:r>
            <a:r>
              <a:rPr kumimoji="1" lang="zh-CN" altLang="en-US" sz="3600">
                <a:solidFill>
                  <a:srgbClr val="3333FF"/>
                </a:solidFill>
                <a:latin typeface="Times New Roman" charset="0"/>
                <a:ea typeface="楷体_GB2312" charset="0"/>
              </a:rPr>
              <a:t>边的权值之和达到最小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，则应使生成树中每一条边的权值尽可能地小。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2916" name="Rectangle 4"/>
          <p:cNvSpPr>
            <a:spLocks noChangeArrowheads="1"/>
          </p:cNvSpPr>
          <p:nvPr/>
        </p:nvSpPr>
        <p:spPr bwMode="auto">
          <a:xfrm>
            <a:off x="1543050" y="185738"/>
            <a:ext cx="6915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克鲁斯卡尔算法的基本思想：</a:t>
            </a:r>
          </a:p>
        </p:txBody>
      </p:sp>
      <p:graphicFrame>
        <p:nvGraphicFramePr>
          <p:cNvPr id="422917" name="Object 5"/>
          <p:cNvGraphicFramePr>
            <a:graphicFrameLocks noChangeAspect="1"/>
          </p:cNvGraphicFramePr>
          <p:nvPr/>
        </p:nvGraphicFramePr>
        <p:xfrm>
          <a:off x="228600" y="1371600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29" name="剪辑" r:id="rId3" imgW="4810133" imgH="4810158" progId="MS_ClipArt_Gallery.2">
                  <p:embed/>
                </p:oleObj>
              </mc:Choice>
              <mc:Fallback>
                <p:oleObj name="剪辑" r:id="rId3" imgW="4810133" imgH="481015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71600"/>
                        <a:ext cx="228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2918" name="Object 6"/>
          <p:cNvGraphicFramePr>
            <a:graphicFrameLocks noChangeAspect="1"/>
          </p:cNvGraphicFramePr>
          <p:nvPr/>
        </p:nvGraphicFramePr>
        <p:xfrm>
          <a:off x="152400" y="3886200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5730" name="剪辑" r:id="rId5" imgW="4810133" imgH="4810158" progId="MS_ClipArt_Gallery.2">
                  <p:embed/>
                </p:oleObj>
              </mc:Choice>
              <mc:Fallback>
                <p:oleObj name="剪辑" r:id="rId5" imgW="4810133" imgH="481015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886200"/>
                        <a:ext cx="228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1828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2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2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2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4" grpId="0" autoUpdateAnimBg="0"/>
      <p:bldP spid="422915" grpId="0" autoUpdateAnimBg="0"/>
      <p:bldP spid="422916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Oval 2"/>
          <p:cNvSpPr>
            <a:spLocks noChangeArrowheads="1"/>
          </p:cNvSpPr>
          <p:nvPr/>
        </p:nvSpPr>
        <p:spPr bwMode="auto">
          <a:xfrm>
            <a:off x="2514600" y="15700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39" name="Oval 3"/>
          <p:cNvSpPr>
            <a:spLocks noChangeArrowheads="1"/>
          </p:cNvSpPr>
          <p:nvPr/>
        </p:nvSpPr>
        <p:spPr bwMode="auto">
          <a:xfrm>
            <a:off x="5334000" y="15700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0" name="Oval 4"/>
          <p:cNvSpPr>
            <a:spLocks noChangeArrowheads="1"/>
          </p:cNvSpPr>
          <p:nvPr/>
        </p:nvSpPr>
        <p:spPr bwMode="auto">
          <a:xfrm>
            <a:off x="7086600" y="24082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1" name="Oval 5"/>
          <p:cNvSpPr>
            <a:spLocks noChangeArrowheads="1"/>
          </p:cNvSpPr>
          <p:nvPr/>
        </p:nvSpPr>
        <p:spPr bwMode="auto">
          <a:xfrm>
            <a:off x="5562600" y="40846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2" name="Oval 6"/>
          <p:cNvSpPr>
            <a:spLocks noChangeArrowheads="1"/>
          </p:cNvSpPr>
          <p:nvPr/>
        </p:nvSpPr>
        <p:spPr bwMode="auto">
          <a:xfrm>
            <a:off x="3886200" y="31702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3" name="Oval 7"/>
          <p:cNvSpPr>
            <a:spLocks noChangeArrowheads="1"/>
          </p:cNvSpPr>
          <p:nvPr/>
        </p:nvSpPr>
        <p:spPr bwMode="auto">
          <a:xfrm>
            <a:off x="1905000" y="40846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4" name="Oval 8"/>
          <p:cNvSpPr>
            <a:spLocks noChangeArrowheads="1"/>
          </p:cNvSpPr>
          <p:nvPr/>
        </p:nvSpPr>
        <p:spPr bwMode="auto">
          <a:xfrm>
            <a:off x="4191000" y="5227638"/>
            <a:ext cx="533400" cy="533400"/>
          </a:xfrm>
          <a:prstGeom prst="ellipse">
            <a:avLst/>
          </a:prstGeom>
          <a:solidFill>
            <a:srgbClr val="CCFFCC"/>
          </a:solidFill>
          <a:ln w="28575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45" name="Line 9"/>
          <p:cNvSpPr>
            <a:spLocks noChangeShapeType="1"/>
          </p:cNvSpPr>
          <p:nvPr/>
        </p:nvSpPr>
        <p:spPr bwMode="auto">
          <a:xfrm>
            <a:off x="3048000" y="1874838"/>
            <a:ext cx="2286000" cy="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46" name="Line 10"/>
          <p:cNvSpPr>
            <a:spLocks noChangeShapeType="1"/>
          </p:cNvSpPr>
          <p:nvPr/>
        </p:nvSpPr>
        <p:spPr bwMode="auto">
          <a:xfrm>
            <a:off x="2971800" y="2027238"/>
            <a:ext cx="990600" cy="1219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47" name="Line 11"/>
          <p:cNvSpPr>
            <a:spLocks noChangeShapeType="1"/>
          </p:cNvSpPr>
          <p:nvPr/>
        </p:nvSpPr>
        <p:spPr bwMode="auto">
          <a:xfrm flipH="1">
            <a:off x="4343400" y="2027238"/>
            <a:ext cx="1066800" cy="1219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48" name="Line 12"/>
          <p:cNvSpPr>
            <a:spLocks noChangeShapeType="1"/>
          </p:cNvSpPr>
          <p:nvPr/>
        </p:nvSpPr>
        <p:spPr bwMode="auto">
          <a:xfrm flipH="1">
            <a:off x="2209800" y="2027238"/>
            <a:ext cx="457200" cy="20574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49" name="Line 13"/>
          <p:cNvSpPr>
            <a:spLocks noChangeShapeType="1"/>
          </p:cNvSpPr>
          <p:nvPr/>
        </p:nvSpPr>
        <p:spPr bwMode="auto">
          <a:xfrm flipV="1">
            <a:off x="2438400" y="3551238"/>
            <a:ext cx="1524000" cy="7620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0" name="Line 14"/>
          <p:cNvSpPr>
            <a:spLocks noChangeShapeType="1"/>
          </p:cNvSpPr>
          <p:nvPr/>
        </p:nvSpPr>
        <p:spPr bwMode="auto">
          <a:xfrm>
            <a:off x="4419600" y="3551238"/>
            <a:ext cx="12192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1" name="Line 15"/>
          <p:cNvSpPr>
            <a:spLocks noChangeShapeType="1"/>
          </p:cNvSpPr>
          <p:nvPr/>
        </p:nvSpPr>
        <p:spPr bwMode="auto">
          <a:xfrm>
            <a:off x="5867400" y="1874838"/>
            <a:ext cx="1295400" cy="6858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2" name="Line 16"/>
          <p:cNvSpPr>
            <a:spLocks noChangeShapeType="1"/>
          </p:cNvSpPr>
          <p:nvPr/>
        </p:nvSpPr>
        <p:spPr bwMode="auto">
          <a:xfrm flipH="1">
            <a:off x="6019800" y="2865438"/>
            <a:ext cx="1143000" cy="13716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3" name="Line 17"/>
          <p:cNvSpPr>
            <a:spLocks noChangeShapeType="1"/>
          </p:cNvSpPr>
          <p:nvPr/>
        </p:nvSpPr>
        <p:spPr bwMode="auto">
          <a:xfrm>
            <a:off x="5638800" y="2103438"/>
            <a:ext cx="152400" cy="1981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4" name="Line 18"/>
          <p:cNvSpPr>
            <a:spLocks noChangeShapeType="1"/>
          </p:cNvSpPr>
          <p:nvPr/>
        </p:nvSpPr>
        <p:spPr bwMode="auto">
          <a:xfrm>
            <a:off x="2362200" y="4541838"/>
            <a:ext cx="1828800" cy="838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5" name="Line 19"/>
          <p:cNvSpPr>
            <a:spLocks noChangeShapeType="1"/>
          </p:cNvSpPr>
          <p:nvPr/>
        </p:nvSpPr>
        <p:spPr bwMode="auto">
          <a:xfrm flipH="1">
            <a:off x="4724400" y="4541838"/>
            <a:ext cx="914400" cy="838200"/>
          </a:xfrm>
          <a:prstGeom prst="line">
            <a:avLst/>
          </a:prstGeom>
          <a:noFill/>
          <a:ln w="28575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56" name="Text Box 20"/>
          <p:cNvSpPr txBox="1">
            <a:spLocks noChangeArrowheads="1"/>
          </p:cNvSpPr>
          <p:nvPr/>
        </p:nvSpPr>
        <p:spPr bwMode="auto">
          <a:xfrm>
            <a:off x="3717925" y="13716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19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57" name="Text Box 21"/>
          <p:cNvSpPr txBox="1">
            <a:spLocks noChangeArrowheads="1"/>
          </p:cNvSpPr>
          <p:nvPr/>
        </p:nvSpPr>
        <p:spPr bwMode="auto">
          <a:xfrm>
            <a:off x="6248400" y="16764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5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23958" name="Text Box 22"/>
          <p:cNvSpPr txBox="1">
            <a:spLocks noChangeArrowheads="1"/>
          </p:cNvSpPr>
          <p:nvPr/>
        </p:nvSpPr>
        <p:spPr bwMode="auto">
          <a:xfrm>
            <a:off x="3352800" y="22558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14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59" name="Text Box 23"/>
          <p:cNvSpPr txBox="1">
            <a:spLocks noChangeArrowheads="1"/>
          </p:cNvSpPr>
          <p:nvPr/>
        </p:nvSpPr>
        <p:spPr bwMode="auto">
          <a:xfrm>
            <a:off x="1905000" y="273208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60" name="Text Box 24"/>
          <p:cNvSpPr txBox="1">
            <a:spLocks noChangeArrowheads="1"/>
          </p:cNvSpPr>
          <p:nvPr/>
        </p:nvSpPr>
        <p:spPr bwMode="auto">
          <a:xfrm>
            <a:off x="2955925" y="486568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latin typeface="Times New Roman" charset="0"/>
              </a:rPr>
              <a:t>27</a:t>
            </a:r>
          </a:p>
        </p:txBody>
      </p:sp>
      <p:sp>
        <p:nvSpPr>
          <p:cNvPr id="423961" name="Text Box 25"/>
          <p:cNvSpPr txBox="1">
            <a:spLocks noChangeArrowheads="1"/>
          </p:cNvSpPr>
          <p:nvPr/>
        </p:nvSpPr>
        <p:spPr bwMode="auto">
          <a:xfrm>
            <a:off x="2879725" y="341788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62" name="Text Box 26"/>
          <p:cNvSpPr txBox="1">
            <a:spLocks noChangeArrowheads="1"/>
          </p:cNvSpPr>
          <p:nvPr/>
        </p:nvSpPr>
        <p:spPr bwMode="auto">
          <a:xfrm>
            <a:off x="4870450" y="3429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63" name="Text Box 27"/>
          <p:cNvSpPr txBox="1">
            <a:spLocks noChangeArrowheads="1"/>
          </p:cNvSpPr>
          <p:nvPr/>
        </p:nvSpPr>
        <p:spPr bwMode="auto">
          <a:xfrm>
            <a:off x="4953000" y="48466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21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64" name="Text Box 28"/>
          <p:cNvSpPr txBox="1">
            <a:spLocks noChangeArrowheads="1"/>
          </p:cNvSpPr>
          <p:nvPr/>
        </p:nvSpPr>
        <p:spPr bwMode="auto">
          <a:xfrm>
            <a:off x="6384925" y="349408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65" name="Oval 29"/>
          <p:cNvSpPr>
            <a:spLocks noChangeArrowheads="1"/>
          </p:cNvSpPr>
          <p:nvPr/>
        </p:nvSpPr>
        <p:spPr bwMode="auto">
          <a:xfrm>
            <a:off x="2514600" y="15700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66" name="Line 30"/>
          <p:cNvSpPr>
            <a:spLocks noChangeShapeType="1"/>
          </p:cNvSpPr>
          <p:nvPr/>
        </p:nvSpPr>
        <p:spPr bwMode="auto">
          <a:xfrm>
            <a:off x="2971800" y="2027238"/>
            <a:ext cx="990600" cy="12192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67" name="Oval 31"/>
          <p:cNvSpPr>
            <a:spLocks noChangeArrowheads="1"/>
          </p:cNvSpPr>
          <p:nvPr/>
        </p:nvSpPr>
        <p:spPr bwMode="auto">
          <a:xfrm>
            <a:off x="3886200" y="31702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68" name="Line 32"/>
          <p:cNvSpPr>
            <a:spLocks noChangeShapeType="1"/>
          </p:cNvSpPr>
          <p:nvPr/>
        </p:nvSpPr>
        <p:spPr bwMode="auto">
          <a:xfrm>
            <a:off x="4419600" y="3551238"/>
            <a:ext cx="1219200" cy="685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69" name="Text Box 33"/>
          <p:cNvSpPr txBox="1">
            <a:spLocks noChangeArrowheads="1"/>
          </p:cNvSpPr>
          <p:nvPr/>
        </p:nvSpPr>
        <p:spPr bwMode="auto">
          <a:xfrm>
            <a:off x="4495800" y="20574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12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70" name="Oval 34"/>
          <p:cNvSpPr>
            <a:spLocks noChangeArrowheads="1"/>
          </p:cNvSpPr>
          <p:nvPr/>
        </p:nvSpPr>
        <p:spPr bwMode="auto">
          <a:xfrm>
            <a:off x="5562600" y="40846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71" name="Line 35"/>
          <p:cNvSpPr>
            <a:spLocks noChangeShapeType="1"/>
          </p:cNvSpPr>
          <p:nvPr/>
        </p:nvSpPr>
        <p:spPr bwMode="auto">
          <a:xfrm flipH="1">
            <a:off x="6019800" y="2865438"/>
            <a:ext cx="1143000" cy="13716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72" name="Oval 36"/>
          <p:cNvSpPr>
            <a:spLocks noChangeArrowheads="1"/>
          </p:cNvSpPr>
          <p:nvPr/>
        </p:nvSpPr>
        <p:spPr bwMode="auto">
          <a:xfrm>
            <a:off x="7086600" y="24082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73" name="Line 37"/>
          <p:cNvSpPr>
            <a:spLocks noChangeShapeType="1"/>
          </p:cNvSpPr>
          <p:nvPr/>
        </p:nvSpPr>
        <p:spPr bwMode="auto">
          <a:xfrm>
            <a:off x="5867400" y="1874838"/>
            <a:ext cx="1295400" cy="6858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74" name="Oval 38"/>
          <p:cNvSpPr>
            <a:spLocks noChangeArrowheads="1"/>
          </p:cNvSpPr>
          <p:nvPr/>
        </p:nvSpPr>
        <p:spPr bwMode="auto">
          <a:xfrm>
            <a:off x="5334000" y="15700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75" name="Line 39"/>
          <p:cNvSpPr>
            <a:spLocks noChangeShapeType="1"/>
          </p:cNvSpPr>
          <p:nvPr/>
        </p:nvSpPr>
        <p:spPr bwMode="auto">
          <a:xfrm flipV="1">
            <a:off x="2438400" y="3551238"/>
            <a:ext cx="1524000" cy="7620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76" name="Oval 40"/>
          <p:cNvSpPr>
            <a:spLocks noChangeArrowheads="1"/>
          </p:cNvSpPr>
          <p:nvPr/>
        </p:nvSpPr>
        <p:spPr bwMode="auto">
          <a:xfrm>
            <a:off x="1905000" y="40846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9933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77" name="Line 41"/>
          <p:cNvSpPr>
            <a:spLocks noChangeShapeType="1"/>
          </p:cNvSpPr>
          <p:nvPr/>
        </p:nvSpPr>
        <p:spPr bwMode="auto">
          <a:xfrm flipH="1">
            <a:off x="4724400" y="4541838"/>
            <a:ext cx="914400" cy="838200"/>
          </a:xfrm>
          <a:prstGeom prst="line">
            <a:avLst/>
          </a:prstGeom>
          <a:noFill/>
          <a:ln w="28575" cap="sq">
            <a:solidFill>
              <a:srgbClr val="FF66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78" name="Oval 42"/>
          <p:cNvSpPr>
            <a:spLocks noChangeArrowheads="1"/>
          </p:cNvSpPr>
          <p:nvPr/>
        </p:nvSpPr>
        <p:spPr bwMode="auto">
          <a:xfrm>
            <a:off x="4191000" y="5227638"/>
            <a:ext cx="533400" cy="533400"/>
          </a:xfrm>
          <a:prstGeom prst="ellipse">
            <a:avLst/>
          </a:prstGeom>
          <a:solidFill>
            <a:srgbClr val="FFFF99"/>
          </a:solidFill>
          <a:ln w="2857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79" name="Text Box 43"/>
          <p:cNvSpPr txBox="1">
            <a:spLocks noChangeArrowheads="1"/>
          </p:cNvSpPr>
          <p:nvPr/>
        </p:nvSpPr>
        <p:spPr bwMode="auto">
          <a:xfrm>
            <a:off x="5699125" y="2579688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chemeClr val="tx2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80" name="Text Box 44"/>
          <p:cNvSpPr txBox="1">
            <a:spLocks noChangeArrowheads="1"/>
          </p:cNvSpPr>
          <p:nvPr/>
        </p:nvSpPr>
        <p:spPr bwMode="auto">
          <a:xfrm>
            <a:off x="3352800" y="22558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14</a:t>
            </a:r>
            <a:endParaRPr kumimoji="1" lang="en-US" altLang="zh-CN" sz="2400" b="1">
              <a:solidFill>
                <a:srgbClr val="FF0000"/>
              </a:solidFill>
              <a:latin typeface="Times New Roman" charset="0"/>
            </a:endParaRPr>
          </a:p>
        </p:txBody>
      </p:sp>
      <p:sp>
        <p:nvSpPr>
          <p:cNvPr id="423981" name="Text Box 45"/>
          <p:cNvSpPr txBox="1">
            <a:spLocks noChangeArrowheads="1"/>
          </p:cNvSpPr>
          <p:nvPr/>
        </p:nvSpPr>
        <p:spPr bwMode="auto">
          <a:xfrm>
            <a:off x="4870450" y="3429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82" name="Text Box 46"/>
          <p:cNvSpPr txBox="1">
            <a:spLocks noChangeArrowheads="1"/>
          </p:cNvSpPr>
          <p:nvPr/>
        </p:nvSpPr>
        <p:spPr bwMode="auto">
          <a:xfrm>
            <a:off x="6248400" y="16764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5</a:t>
            </a:r>
            <a:endParaRPr kumimoji="1" lang="en-US" altLang="zh-CN" sz="2400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423983" name="Text Box 47"/>
          <p:cNvSpPr txBox="1">
            <a:spLocks noChangeArrowheads="1"/>
          </p:cNvSpPr>
          <p:nvPr/>
        </p:nvSpPr>
        <p:spPr bwMode="auto">
          <a:xfrm>
            <a:off x="6394450" y="35052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84" name="Text Box 48"/>
          <p:cNvSpPr txBox="1">
            <a:spLocks noChangeArrowheads="1"/>
          </p:cNvSpPr>
          <p:nvPr/>
        </p:nvSpPr>
        <p:spPr bwMode="auto">
          <a:xfrm>
            <a:off x="2895600" y="33988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16</a:t>
            </a:r>
          </a:p>
        </p:txBody>
      </p:sp>
      <p:sp>
        <p:nvSpPr>
          <p:cNvPr id="423985" name="Text Box 49"/>
          <p:cNvSpPr txBox="1">
            <a:spLocks noChangeArrowheads="1"/>
          </p:cNvSpPr>
          <p:nvPr/>
        </p:nvSpPr>
        <p:spPr bwMode="auto">
          <a:xfrm>
            <a:off x="4953000" y="4846638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</a:rPr>
              <a:t>21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86" name="Text Box 50"/>
          <p:cNvSpPr txBox="1">
            <a:spLocks noChangeArrowheads="1"/>
          </p:cNvSpPr>
          <p:nvPr/>
        </p:nvSpPr>
        <p:spPr bwMode="auto">
          <a:xfrm>
            <a:off x="1295400" y="228600"/>
            <a:ext cx="145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82"/>
                </a:solidFill>
                <a:latin typeface="楷体_GB2312" charset="0"/>
                <a:ea typeface="楷体_GB2312" charset="0"/>
              </a:rPr>
              <a:t>例如</a:t>
            </a:r>
            <a:r>
              <a:rPr kumimoji="1" lang="en-US" altLang="zh-CN" sz="4000" b="1">
                <a:solidFill>
                  <a:srgbClr val="000082"/>
                </a:solidFill>
                <a:latin typeface="楷体_GB2312" charset="0"/>
                <a:ea typeface="楷体_GB2312" charset="0"/>
              </a:rPr>
              <a:t>: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3987" name="Line 51"/>
          <p:cNvSpPr>
            <a:spLocks noChangeShapeType="1"/>
          </p:cNvSpPr>
          <p:nvPr/>
        </p:nvSpPr>
        <p:spPr bwMode="auto">
          <a:xfrm>
            <a:off x="5638800" y="2103438"/>
            <a:ext cx="152400" cy="1981200"/>
          </a:xfrm>
          <a:prstGeom prst="line">
            <a:avLst/>
          </a:prstGeom>
          <a:noFill/>
          <a:ln w="28575" cap="sq">
            <a:solidFill>
              <a:srgbClr val="DFA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88" name="Line 52"/>
          <p:cNvSpPr>
            <a:spLocks noChangeShapeType="1"/>
          </p:cNvSpPr>
          <p:nvPr/>
        </p:nvSpPr>
        <p:spPr bwMode="auto">
          <a:xfrm flipH="1">
            <a:off x="4343400" y="2027238"/>
            <a:ext cx="1066800" cy="1219200"/>
          </a:xfrm>
          <a:prstGeom prst="line">
            <a:avLst/>
          </a:prstGeom>
          <a:noFill/>
          <a:ln w="28575" cap="sq">
            <a:solidFill>
              <a:srgbClr val="DFA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89" name="Line 53"/>
          <p:cNvSpPr>
            <a:spLocks noChangeShapeType="1"/>
          </p:cNvSpPr>
          <p:nvPr/>
        </p:nvSpPr>
        <p:spPr bwMode="auto">
          <a:xfrm flipH="1">
            <a:off x="2209800" y="2027238"/>
            <a:ext cx="457200" cy="2057400"/>
          </a:xfrm>
          <a:prstGeom prst="line">
            <a:avLst/>
          </a:prstGeom>
          <a:noFill/>
          <a:ln w="28575" cap="sq">
            <a:solidFill>
              <a:srgbClr val="DFA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90" name="Line 54"/>
          <p:cNvSpPr>
            <a:spLocks noChangeShapeType="1"/>
          </p:cNvSpPr>
          <p:nvPr/>
        </p:nvSpPr>
        <p:spPr bwMode="auto">
          <a:xfrm>
            <a:off x="3048000" y="1874838"/>
            <a:ext cx="2286000" cy="0"/>
          </a:xfrm>
          <a:prstGeom prst="line">
            <a:avLst/>
          </a:prstGeom>
          <a:noFill/>
          <a:ln w="28575" cap="sq">
            <a:solidFill>
              <a:srgbClr val="DFAF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3991" name="Text Box 55"/>
          <p:cNvSpPr txBox="1">
            <a:spLocks noChangeArrowheads="1"/>
          </p:cNvSpPr>
          <p:nvPr/>
        </p:nvSpPr>
        <p:spPr bwMode="auto">
          <a:xfrm>
            <a:off x="5715000" y="25908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DFAF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92" name="Text Box 56"/>
          <p:cNvSpPr txBox="1">
            <a:spLocks noChangeArrowheads="1"/>
          </p:cNvSpPr>
          <p:nvPr/>
        </p:nvSpPr>
        <p:spPr bwMode="auto">
          <a:xfrm>
            <a:off x="4495800" y="20574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DFAFFF"/>
                </a:solidFill>
                <a:latin typeface="Times New Roman" charset="0"/>
              </a:rPr>
              <a:t>12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93" name="Text Box 57"/>
          <p:cNvSpPr txBox="1">
            <a:spLocks noChangeArrowheads="1"/>
          </p:cNvSpPr>
          <p:nvPr/>
        </p:nvSpPr>
        <p:spPr bwMode="auto">
          <a:xfrm>
            <a:off x="1905000" y="27432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DFAFFF"/>
                </a:solidFill>
                <a:latin typeface="Times New Roman" charset="0"/>
              </a:rPr>
              <a:t>18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3994" name="Text Box 58"/>
          <p:cNvSpPr txBox="1">
            <a:spLocks noChangeArrowheads="1"/>
          </p:cNvSpPr>
          <p:nvPr/>
        </p:nvSpPr>
        <p:spPr bwMode="auto">
          <a:xfrm>
            <a:off x="3733800" y="13716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DFAFFF"/>
                </a:solidFill>
                <a:latin typeface="Times New Roman" charset="0"/>
              </a:rPr>
              <a:t>19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017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2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2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2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423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42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2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36" dur="500"/>
                                        <p:tgtEl>
                                          <p:spTgt spid="42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2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8" dur="500"/>
                                        <p:tgtEl>
                                          <p:spTgt spid="42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0" dur="500"/>
                                        <p:tgtEl>
                                          <p:spTgt spid="42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3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2" dur="500"/>
                                        <p:tgtEl>
                                          <p:spTgt spid="42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23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4" dur="500"/>
                                        <p:tgtEl>
                                          <p:spTgt spid="42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23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6" dur="500"/>
                                        <p:tgtEl>
                                          <p:spTgt spid="42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42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8" dur="500"/>
                                        <p:tgtEl>
                                          <p:spTgt spid="42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23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23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23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23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0" dur="500"/>
                                        <p:tgtEl>
                                          <p:spTgt spid="42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423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423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23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23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2" dur="500"/>
                                        <p:tgtEl>
                                          <p:spTgt spid="423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423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4" dur="500"/>
                                        <p:tgtEl>
                                          <p:spTgt spid="42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38" grpId="0" animBg="1" autoUpdateAnimBg="0"/>
      <p:bldP spid="423939" grpId="0" animBg="1" autoUpdateAnimBg="0"/>
      <p:bldP spid="423940" grpId="0" animBg="1" autoUpdateAnimBg="0"/>
      <p:bldP spid="423941" grpId="0" animBg="1" autoUpdateAnimBg="0"/>
      <p:bldP spid="423942" grpId="0" animBg="1" autoUpdateAnimBg="0"/>
      <p:bldP spid="423943" grpId="0" animBg="1" autoUpdateAnimBg="0"/>
      <p:bldP spid="423944" grpId="0" animBg="1" autoUpdateAnimBg="0"/>
      <p:bldP spid="423945" grpId="0" animBg="1"/>
      <p:bldP spid="423946" grpId="0" animBg="1"/>
      <p:bldP spid="423947" grpId="0" animBg="1"/>
      <p:bldP spid="423948" grpId="0" animBg="1"/>
      <p:bldP spid="423949" grpId="0" animBg="1"/>
      <p:bldP spid="423950" grpId="0" animBg="1"/>
      <p:bldP spid="423951" grpId="0" animBg="1"/>
      <p:bldP spid="423952" grpId="0" animBg="1"/>
      <p:bldP spid="423953" grpId="0" animBg="1"/>
      <p:bldP spid="423954" grpId="0" animBg="1"/>
      <p:bldP spid="423955" grpId="0" animBg="1"/>
      <p:bldP spid="423956" grpId="0" autoUpdateAnimBg="0"/>
      <p:bldP spid="423957" grpId="0" autoUpdateAnimBg="0"/>
      <p:bldP spid="423958" grpId="0" autoUpdateAnimBg="0"/>
      <p:bldP spid="423959" grpId="0" autoUpdateAnimBg="0"/>
      <p:bldP spid="423960" grpId="0" autoUpdateAnimBg="0"/>
      <p:bldP spid="423961" grpId="0" autoUpdateAnimBg="0"/>
      <p:bldP spid="423962" grpId="0" autoUpdateAnimBg="0"/>
      <p:bldP spid="423963" grpId="0" autoUpdateAnimBg="0"/>
      <p:bldP spid="423964" grpId="0" autoUpdateAnimBg="0"/>
      <p:bldP spid="423965" grpId="0" animBg="1" autoUpdateAnimBg="0"/>
      <p:bldP spid="423966" grpId="0" animBg="1"/>
      <p:bldP spid="423967" grpId="0" animBg="1" autoUpdateAnimBg="0"/>
      <p:bldP spid="423968" grpId="0" animBg="1"/>
      <p:bldP spid="423969" grpId="0" autoUpdateAnimBg="0"/>
      <p:bldP spid="423970" grpId="0" animBg="1" autoUpdateAnimBg="0"/>
      <p:bldP spid="423971" grpId="0" animBg="1"/>
      <p:bldP spid="423972" grpId="0" animBg="1" autoUpdateAnimBg="0"/>
      <p:bldP spid="423973" grpId="0" animBg="1"/>
      <p:bldP spid="423974" grpId="0" animBg="1" autoUpdateAnimBg="0"/>
      <p:bldP spid="423975" grpId="0" animBg="1"/>
      <p:bldP spid="423976" grpId="0" animBg="1" autoUpdateAnimBg="0"/>
      <p:bldP spid="423977" grpId="0" animBg="1"/>
      <p:bldP spid="423978" grpId="0" animBg="1" autoUpdateAnimBg="0"/>
      <p:bldP spid="423979" grpId="0" autoUpdateAnimBg="0"/>
      <p:bldP spid="423980" grpId="0" autoUpdateAnimBg="0"/>
      <p:bldP spid="423981" grpId="0" autoUpdateAnimBg="0"/>
      <p:bldP spid="423982" grpId="0" autoUpdateAnimBg="0"/>
      <p:bldP spid="423983" grpId="0" autoUpdateAnimBg="0"/>
      <p:bldP spid="423984" grpId="0" autoUpdateAnimBg="0"/>
      <p:bldP spid="423985" grpId="0" autoUpdateAnimBg="0"/>
      <p:bldP spid="423986" grpId="0" autoUpdateAnimBg="0"/>
      <p:bldP spid="423987" grpId="0" animBg="1"/>
      <p:bldP spid="423988" grpId="0" animBg="1"/>
      <p:bldP spid="423989" grpId="0" animBg="1"/>
      <p:bldP spid="423990" grpId="0" animBg="1"/>
      <p:bldP spid="423991" grpId="0" autoUpdateAnimBg="0"/>
      <p:bldP spid="423992" grpId="0" autoUpdateAnimBg="0"/>
      <p:bldP spid="423993" grpId="0" autoUpdateAnimBg="0"/>
      <p:bldP spid="423994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Text Box 2"/>
          <p:cNvSpPr txBox="1">
            <a:spLocks noChangeArrowheads="1"/>
          </p:cNvSpPr>
          <p:nvPr/>
        </p:nvSpPr>
        <p:spPr bwMode="auto">
          <a:xfrm>
            <a:off x="1295400" y="152400"/>
            <a:ext cx="2605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算法描述</a:t>
            </a:r>
            <a:r>
              <a:rPr kumimoji="1" lang="en-US" altLang="zh-CN" sz="44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5400" b="1">
              <a:solidFill>
                <a:srgbClr val="6600CC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4963" name="Text Box 3"/>
          <p:cNvSpPr txBox="1">
            <a:spLocks noChangeArrowheads="1"/>
          </p:cNvSpPr>
          <p:nvPr/>
        </p:nvSpPr>
        <p:spPr bwMode="auto">
          <a:xfrm>
            <a:off x="381000" y="993775"/>
            <a:ext cx="8223250" cy="559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构造非连通图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ST=( V,{ } );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k = i = 0;    // k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计选中的边数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(k&lt;n-1)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 ++i;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检查边集 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E </a:t>
            </a:r>
            <a:r>
              <a:rPr kumimoji="1" lang="zh-CN" altLang="en-US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中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第 </a:t>
            </a: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i 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条权值最小的边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(u,v);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(u,v)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加入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ST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后不使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ST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中产生回路</a:t>
            </a: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则  输出边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(u,v);</a:t>
            </a:r>
            <a:r>
              <a:rPr kumimoji="1" lang="en-US" altLang="zh-CN" sz="3600">
                <a:solidFill>
                  <a:srgbClr val="000082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且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k++;</a:t>
            </a:r>
            <a:endParaRPr kumimoji="1" lang="en-US" altLang="zh-CN" sz="36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82"/>
                </a:solidFill>
                <a:latin typeface="Times New Roman" charset="0"/>
                <a:ea typeface="楷体_GB2312" charset="0"/>
              </a:rPr>
              <a:t>}</a:t>
            </a:r>
          </a:p>
        </p:txBody>
      </p:sp>
      <p:sp>
        <p:nvSpPr>
          <p:cNvPr id="424964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3246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912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2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2" grpId="0" autoUpdateAnimBg="0"/>
      <p:bldP spid="424963" grpId="0" autoUpdateAnimBg="0"/>
      <p:bldP spid="42496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ChangeArrowheads="1"/>
          </p:cNvSpPr>
          <p:nvPr/>
        </p:nvSpPr>
        <p:spPr bwMode="auto">
          <a:xfrm>
            <a:off x="2940050" y="1600200"/>
            <a:ext cx="2486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普里姆算法</a:t>
            </a:r>
            <a:endParaRPr kumimoji="1" lang="zh-CN" altLang="en-US" sz="40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5987" name="Rectangle 3"/>
          <p:cNvSpPr>
            <a:spLocks noChangeArrowheads="1"/>
          </p:cNvSpPr>
          <p:nvPr/>
        </p:nvSpPr>
        <p:spPr bwMode="auto">
          <a:xfrm>
            <a:off x="5486400" y="1260475"/>
            <a:ext cx="3505200" cy="10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克鲁斯卡尔算法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5988" name="Rectangle 4"/>
          <p:cNvSpPr>
            <a:spLocks noChangeArrowheads="1"/>
          </p:cNvSpPr>
          <p:nvPr/>
        </p:nvSpPr>
        <p:spPr bwMode="auto">
          <a:xfrm>
            <a:off x="304800" y="3032125"/>
            <a:ext cx="27479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时间复杂度</a:t>
            </a:r>
          </a:p>
        </p:txBody>
      </p:sp>
      <p:sp>
        <p:nvSpPr>
          <p:cNvPr id="425989" name="Rectangle 5"/>
          <p:cNvSpPr>
            <a:spLocks noChangeArrowheads="1"/>
          </p:cNvSpPr>
          <p:nvPr/>
        </p:nvSpPr>
        <p:spPr bwMode="auto">
          <a:xfrm>
            <a:off x="3503613" y="3048000"/>
            <a:ext cx="13731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O(n</a:t>
            </a:r>
            <a:r>
              <a:rPr kumimoji="1" lang="en-US" altLang="zh-CN" sz="4000" b="1" baseline="30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en-US" altLang="zh-CN" sz="40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)</a:t>
            </a:r>
            <a:endParaRPr kumimoji="1" lang="en-US" altLang="zh-CN" sz="4000">
              <a:latin typeface="Times New Roman" charset="0"/>
              <a:ea typeface="楷体_GB2312" charset="0"/>
            </a:endParaRPr>
          </a:p>
        </p:txBody>
      </p:sp>
      <p:sp>
        <p:nvSpPr>
          <p:cNvPr id="425990" name="Rectangle 6"/>
          <p:cNvSpPr>
            <a:spLocks noChangeArrowheads="1"/>
          </p:cNvSpPr>
          <p:nvPr/>
        </p:nvSpPr>
        <p:spPr bwMode="auto">
          <a:xfrm>
            <a:off x="6248400" y="3048000"/>
            <a:ext cx="2019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O(eloge)</a:t>
            </a:r>
            <a:endParaRPr kumimoji="1" lang="en-US" altLang="zh-CN" sz="4000">
              <a:latin typeface="Times New Roman" charset="0"/>
              <a:ea typeface="楷体_GB2312" charset="0"/>
            </a:endParaRPr>
          </a:p>
        </p:txBody>
      </p:sp>
      <p:sp>
        <p:nvSpPr>
          <p:cNvPr id="425991" name="Rectangle 7"/>
          <p:cNvSpPr>
            <a:spLocks noChangeArrowheads="1"/>
          </p:cNvSpPr>
          <p:nvPr/>
        </p:nvSpPr>
        <p:spPr bwMode="auto">
          <a:xfrm>
            <a:off x="3352800" y="4572000"/>
            <a:ext cx="1722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稠密图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5992" name="Rectangle 8"/>
          <p:cNvSpPr>
            <a:spLocks noChangeArrowheads="1"/>
          </p:cNvSpPr>
          <p:nvPr/>
        </p:nvSpPr>
        <p:spPr bwMode="auto">
          <a:xfrm>
            <a:off x="6400800" y="4572000"/>
            <a:ext cx="1722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稀疏图</a:t>
            </a:r>
            <a:endParaRPr kumimoji="1" lang="zh-CN" altLang="en-US" sz="4000">
              <a:solidFill>
                <a:srgbClr val="00008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5993" name="Rectangle 9"/>
          <p:cNvSpPr>
            <a:spLocks noChangeArrowheads="1"/>
          </p:cNvSpPr>
          <p:nvPr/>
        </p:nvSpPr>
        <p:spPr bwMode="auto">
          <a:xfrm>
            <a:off x="792163" y="1584325"/>
            <a:ext cx="1722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算法名</a:t>
            </a:r>
            <a:endParaRPr kumimoji="1" lang="zh-CN" altLang="en-US" sz="40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5994" name="Text Box 10"/>
          <p:cNvSpPr txBox="1">
            <a:spLocks noChangeArrowheads="1"/>
          </p:cNvSpPr>
          <p:nvPr/>
        </p:nvSpPr>
        <p:spPr bwMode="auto">
          <a:xfrm>
            <a:off x="533400" y="4556125"/>
            <a:ext cx="22352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适应范围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425995" name="AutoShape 1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248400"/>
            <a:ext cx="381000" cy="381000"/>
          </a:xfrm>
          <a:prstGeom prst="actionButtonBackPrevious">
            <a:avLst/>
          </a:prstGeom>
          <a:solidFill>
            <a:srgbClr val="BEC1FE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5996" name="Text Box 12"/>
          <p:cNvSpPr txBox="1">
            <a:spLocks noChangeArrowheads="1"/>
          </p:cNvSpPr>
          <p:nvPr/>
        </p:nvSpPr>
        <p:spPr bwMode="auto">
          <a:xfrm>
            <a:off x="3244850" y="457200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800000"/>
                </a:solidFill>
                <a:latin typeface="Times New Roman" charset="0"/>
                <a:ea typeface="隶书" charset="0"/>
              </a:rPr>
              <a:t>比较两种算法</a:t>
            </a:r>
            <a:endParaRPr kumimoji="1" lang="zh-CN" altLang="en-US" sz="3200">
              <a:latin typeface="Times New Roman" charset="0"/>
              <a:ea typeface="隶书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9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5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2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2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5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6" grpId="0" autoUpdateAnimBg="0"/>
      <p:bldP spid="425987" grpId="0" autoUpdateAnimBg="0"/>
      <p:bldP spid="425988" grpId="0" autoUpdateAnimBg="0"/>
      <p:bldP spid="425989" grpId="0" autoUpdateAnimBg="0"/>
      <p:bldP spid="425990" grpId="0" autoUpdateAnimBg="0"/>
      <p:bldP spid="425991" grpId="0" autoUpdateAnimBg="0"/>
      <p:bldP spid="425992" grpId="0" autoUpdateAnimBg="0"/>
      <p:bldP spid="425993" grpId="0" autoUpdateAnimBg="0"/>
      <p:bldP spid="425994" grpId="0" autoUpdateAnimBg="0"/>
      <p:bldP spid="425995" grpId="0" animBg="1"/>
      <p:bldP spid="425996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1600200" y="76200"/>
            <a:ext cx="6999288" cy="190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7.5   </a:t>
            </a:r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重（双）连通图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和关节点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27011" name="Text Box 3"/>
          <p:cNvSpPr txBox="1">
            <a:spLocks noChangeArrowheads="1"/>
          </p:cNvSpPr>
          <p:nvPr/>
        </p:nvSpPr>
        <p:spPr bwMode="auto">
          <a:xfrm>
            <a:off x="533400" y="3200400"/>
            <a:ext cx="81534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若从一个连通图中删去任何一个顶点及其相关联的边，它仍为一个连通图的话，则该连通图被称为重（双）连通图。</a:t>
            </a:r>
          </a:p>
        </p:txBody>
      </p:sp>
      <p:sp>
        <p:nvSpPr>
          <p:cNvPr id="427012" name="Rectangle 4"/>
          <p:cNvSpPr>
            <a:spLocks noChangeArrowheads="1"/>
          </p:cNvSpPr>
          <p:nvPr/>
        </p:nvSpPr>
        <p:spPr bwMode="auto">
          <a:xfrm>
            <a:off x="609600" y="2311400"/>
            <a:ext cx="18748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问题：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67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1" grpId="0" autoUpdateAnimBg="0"/>
      <p:bldP spid="427012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Text Box 2"/>
          <p:cNvSpPr txBox="1">
            <a:spLocks noChangeArrowheads="1"/>
          </p:cNvSpPr>
          <p:nvPr/>
        </p:nvSpPr>
        <p:spPr bwMode="auto">
          <a:xfrm>
            <a:off x="381000" y="1957388"/>
            <a:ext cx="831215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若连通图中的某个顶点和其相关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联的边被删去之后，该连通图被分割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成两个或两个以上的连通分量，则称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此顶点为</a:t>
            </a:r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关节点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685800" y="5562600"/>
            <a:ext cx="78755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没有关节点的连通图为双连通图</a:t>
            </a:r>
            <a:r>
              <a:rPr kumimoji="1" lang="zh-CN" altLang="en-US" sz="4000" b="1">
                <a:latin typeface="Times New Roman" charset="0"/>
                <a:ea typeface="楷体_GB2312" charset="0"/>
              </a:rPr>
              <a:t>。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517525" y="344488"/>
            <a:ext cx="862647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en-US" altLang="zh-CN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如何判别给定的连通图是否是双连通图？</a:t>
            </a:r>
          </a:p>
        </p:txBody>
      </p:sp>
    </p:spTree>
    <p:extLst>
      <p:ext uri="{BB962C8B-B14F-4D97-AF65-F5344CB8AC3E}">
        <p14:creationId xmlns:p14="http://schemas.microsoft.com/office/powerpoint/2010/main" val="1895823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 autoUpdateAnimBg="0"/>
      <p:bldP spid="428035" grpId="0" autoUpdateAnimBg="0"/>
      <p:bldP spid="428036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Oval 2"/>
          <p:cNvSpPr>
            <a:spLocks noChangeArrowheads="1"/>
          </p:cNvSpPr>
          <p:nvPr/>
        </p:nvSpPr>
        <p:spPr bwMode="auto">
          <a:xfrm>
            <a:off x="2057400" y="24384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59" name="Oval 3"/>
          <p:cNvSpPr>
            <a:spLocks noChangeArrowheads="1"/>
          </p:cNvSpPr>
          <p:nvPr/>
        </p:nvSpPr>
        <p:spPr bwMode="auto">
          <a:xfrm>
            <a:off x="1066800" y="15240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0" name="Oval 4"/>
          <p:cNvSpPr>
            <a:spLocks noChangeArrowheads="1"/>
          </p:cNvSpPr>
          <p:nvPr/>
        </p:nvSpPr>
        <p:spPr bwMode="auto">
          <a:xfrm>
            <a:off x="3048000" y="15240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1" name="Oval 5"/>
          <p:cNvSpPr>
            <a:spLocks noChangeArrowheads="1"/>
          </p:cNvSpPr>
          <p:nvPr/>
        </p:nvSpPr>
        <p:spPr bwMode="auto">
          <a:xfrm>
            <a:off x="2057400" y="39624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2" name="Oval 6"/>
          <p:cNvSpPr>
            <a:spLocks noChangeArrowheads="1"/>
          </p:cNvSpPr>
          <p:nvPr/>
        </p:nvSpPr>
        <p:spPr bwMode="auto">
          <a:xfrm>
            <a:off x="1066800" y="32004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3" name="Oval 7"/>
          <p:cNvSpPr>
            <a:spLocks noChangeArrowheads="1"/>
          </p:cNvSpPr>
          <p:nvPr/>
        </p:nvSpPr>
        <p:spPr bwMode="auto">
          <a:xfrm>
            <a:off x="3048000" y="32004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4" name="Oval 8"/>
          <p:cNvSpPr>
            <a:spLocks noChangeArrowheads="1"/>
          </p:cNvSpPr>
          <p:nvPr/>
        </p:nvSpPr>
        <p:spPr bwMode="auto">
          <a:xfrm>
            <a:off x="1066800" y="48768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5" name="Oval 9"/>
          <p:cNvSpPr>
            <a:spLocks noChangeArrowheads="1"/>
          </p:cNvSpPr>
          <p:nvPr/>
        </p:nvSpPr>
        <p:spPr bwMode="auto">
          <a:xfrm>
            <a:off x="3048000" y="48768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66" name="Line 10"/>
          <p:cNvSpPr>
            <a:spLocks noChangeShapeType="1"/>
          </p:cNvSpPr>
          <p:nvPr/>
        </p:nvSpPr>
        <p:spPr bwMode="auto">
          <a:xfrm>
            <a:off x="1524000" y="1752600"/>
            <a:ext cx="15240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67" name="Line 11"/>
          <p:cNvSpPr>
            <a:spLocks noChangeShapeType="1"/>
          </p:cNvSpPr>
          <p:nvPr/>
        </p:nvSpPr>
        <p:spPr bwMode="auto">
          <a:xfrm>
            <a:off x="1524000" y="5105400"/>
            <a:ext cx="1524000" cy="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68" name="Line 12"/>
          <p:cNvSpPr>
            <a:spLocks noChangeShapeType="1"/>
          </p:cNvSpPr>
          <p:nvPr/>
        </p:nvSpPr>
        <p:spPr bwMode="auto">
          <a:xfrm>
            <a:off x="1447800" y="1981200"/>
            <a:ext cx="609600" cy="609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69" name="Line 13"/>
          <p:cNvSpPr>
            <a:spLocks noChangeShapeType="1"/>
          </p:cNvSpPr>
          <p:nvPr/>
        </p:nvSpPr>
        <p:spPr bwMode="auto">
          <a:xfrm flipH="1">
            <a:off x="2438400" y="1905000"/>
            <a:ext cx="685800" cy="6858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0" name="Line 14"/>
          <p:cNvSpPr>
            <a:spLocks noChangeShapeType="1"/>
          </p:cNvSpPr>
          <p:nvPr/>
        </p:nvSpPr>
        <p:spPr bwMode="auto">
          <a:xfrm flipH="1">
            <a:off x="1447800" y="2819400"/>
            <a:ext cx="6096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1" name="Line 15"/>
          <p:cNvSpPr>
            <a:spLocks noChangeShapeType="1"/>
          </p:cNvSpPr>
          <p:nvPr/>
        </p:nvSpPr>
        <p:spPr bwMode="auto">
          <a:xfrm>
            <a:off x="1447800" y="3581400"/>
            <a:ext cx="6858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2" name="Line 16"/>
          <p:cNvSpPr>
            <a:spLocks noChangeShapeType="1"/>
          </p:cNvSpPr>
          <p:nvPr/>
        </p:nvSpPr>
        <p:spPr bwMode="auto">
          <a:xfrm>
            <a:off x="2438400" y="2743200"/>
            <a:ext cx="6858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3" name="Line 17"/>
          <p:cNvSpPr>
            <a:spLocks noChangeShapeType="1"/>
          </p:cNvSpPr>
          <p:nvPr/>
        </p:nvSpPr>
        <p:spPr bwMode="auto">
          <a:xfrm flipH="1">
            <a:off x="2514600" y="3581400"/>
            <a:ext cx="609600" cy="5334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4" name="Line 18"/>
          <p:cNvSpPr>
            <a:spLocks noChangeShapeType="1"/>
          </p:cNvSpPr>
          <p:nvPr/>
        </p:nvSpPr>
        <p:spPr bwMode="auto">
          <a:xfrm flipH="1">
            <a:off x="1447800" y="4343400"/>
            <a:ext cx="685800" cy="6096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5" name="Line 19"/>
          <p:cNvSpPr>
            <a:spLocks noChangeShapeType="1"/>
          </p:cNvSpPr>
          <p:nvPr/>
        </p:nvSpPr>
        <p:spPr bwMode="auto">
          <a:xfrm>
            <a:off x="2438400" y="4267200"/>
            <a:ext cx="685800" cy="6858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76" name="Oval 20"/>
          <p:cNvSpPr>
            <a:spLocks noChangeArrowheads="1"/>
          </p:cNvSpPr>
          <p:nvPr/>
        </p:nvSpPr>
        <p:spPr bwMode="auto">
          <a:xfrm>
            <a:off x="6797675" y="14986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a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77" name="Oval 21"/>
          <p:cNvSpPr>
            <a:spLocks noChangeArrowheads="1"/>
          </p:cNvSpPr>
          <p:nvPr/>
        </p:nvSpPr>
        <p:spPr bwMode="auto">
          <a:xfrm>
            <a:off x="5654675" y="23368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78" name="Oval 22"/>
          <p:cNvSpPr>
            <a:spLocks noChangeArrowheads="1"/>
          </p:cNvSpPr>
          <p:nvPr/>
        </p:nvSpPr>
        <p:spPr bwMode="auto">
          <a:xfrm>
            <a:off x="5654675" y="34036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79" name="Oval 23"/>
          <p:cNvSpPr>
            <a:spLocks noChangeArrowheads="1"/>
          </p:cNvSpPr>
          <p:nvPr/>
        </p:nvSpPr>
        <p:spPr bwMode="auto">
          <a:xfrm>
            <a:off x="4892675" y="43180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80" name="Oval 24"/>
          <p:cNvSpPr>
            <a:spLocks noChangeArrowheads="1"/>
          </p:cNvSpPr>
          <p:nvPr/>
        </p:nvSpPr>
        <p:spPr bwMode="auto">
          <a:xfrm>
            <a:off x="4892675" y="53848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e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81" name="Oval 25"/>
          <p:cNvSpPr>
            <a:spLocks noChangeArrowheads="1"/>
          </p:cNvSpPr>
          <p:nvPr/>
        </p:nvSpPr>
        <p:spPr bwMode="auto">
          <a:xfrm>
            <a:off x="6416675" y="43180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f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82" name="Oval 26"/>
          <p:cNvSpPr>
            <a:spLocks noChangeArrowheads="1"/>
          </p:cNvSpPr>
          <p:nvPr/>
        </p:nvSpPr>
        <p:spPr bwMode="auto">
          <a:xfrm>
            <a:off x="7940675" y="23368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g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83" name="Oval 27"/>
          <p:cNvSpPr>
            <a:spLocks noChangeArrowheads="1"/>
          </p:cNvSpPr>
          <p:nvPr/>
        </p:nvSpPr>
        <p:spPr bwMode="auto">
          <a:xfrm>
            <a:off x="7940675" y="3403600"/>
            <a:ext cx="457200" cy="4572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h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29084" name="Line 28"/>
          <p:cNvSpPr>
            <a:spLocks noChangeShapeType="1"/>
          </p:cNvSpPr>
          <p:nvPr/>
        </p:nvSpPr>
        <p:spPr bwMode="auto">
          <a:xfrm flipH="1">
            <a:off x="5883275" y="1727200"/>
            <a:ext cx="914400" cy="609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85" name="Line 29"/>
          <p:cNvSpPr>
            <a:spLocks noChangeShapeType="1"/>
          </p:cNvSpPr>
          <p:nvPr/>
        </p:nvSpPr>
        <p:spPr bwMode="auto">
          <a:xfrm>
            <a:off x="5883275" y="2794000"/>
            <a:ext cx="0" cy="609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86" name="Line 30"/>
          <p:cNvSpPr>
            <a:spLocks noChangeShapeType="1"/>
          </p:cNvSpPr>
          <p:nvPr/>
        </p:nvSpPr>
        <p:spPr bwMode="auto">
          <a:xfrm flipH="1">
            <a:off x="5121275" y="3632200"/>
            <a:ext cx="533400" cy="685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87" name="Line 31"/>
          <p:cNvSpPr>
            <a:spLocks noChangeShapeType="1"/>
          </p:cNvSpPr>
          <p:nvPr/>
        </p:nvSpPr>
        <p:spPr bwMode="auto">
          <a:xfrm>
            <a:off x="6111875" y="3632200"/>
            <a:ext cx="533400" cy="685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88" name="Line 32"/>
          <p:cNvSpPr>
            <a:spLocks noChangeShapeType="1"/>
          </p:cNvSpPr>
          <p:nvPr/>
        </p:nvSpPr>
        <p:spPr bwMode="auto">
          <a:xfrm>
            <a:off x="5121275" y="4775200"/>
            <a:ext cx="0" cy="609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89" name="Line 33"/>
          <p:cNvSpPr>
            <a:spLocks noChangeShapeType="1"/>
          </p:cNvSpPr>
          <p:nvPr/>
        </p:nvSpPr>
        <p:spPr bwMode="auto">
          <a:xfrm>
            <a:off x="7254875" y="1727200"/>
            <a:ext cx="914400" cy="609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0" name="Line 34"/>
          <p:cNvSpPr>
            <a:spLocks noChangeShapeType="1"/>
          </p:cNvSpPr>
          <p:nvPr/>
        </p:nvSpPr>
        <p:spPr bwMode="auto">
          <a:xfrm flipH="1">
            <a:off x="8169275" y="2794000"/>
            <a:ext cx="0" cy="609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1" name="Freeform 35"/>
          <p:cNvSpPr>
            <a:spLocks/>
          </p:cNvSpPr>
          <p:nvPr/>
        </p:nvSpPr>
        <p:spPr bwMode="auto">
          <a:xfrm>
            <a:off x="6645275" y="1955800"/>
            <a:ext cx="495300" cy="3479800"/>
          </a:xfrm>
          <a:custGeom>
            <a:avLst/>
            <a:gdLst>
              <a:gd name="T0" fmla="*/ 0 w 312"/>
              <a:gd name="T1" fmla="*/ 2819400 h 2192"/>
              <a:gd name="T2" fmla="*/ 152400 w 312"/>
              <a:gd name="T3" fmla="*/ 3048000 h 2192"/>
              <a:gd name="T4" fmla="*/ 457200 w 312"/>
              <a:gd name="T5" fmla="*/ 2971800 h 2192"/>
              <a:gd name="T6" fmla="*/ 381000 w 312"/>
              <a:gd name="T7" fmla="*/ 0 h 219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2" h="2192">
                <a:moveTo>
                  <a:pt x="0" y="1776"/>
                </a:moveTo>
                <a:cubicBezTo>
                  <a:pt x="24" y="1840"/>
                  <a:pt x="48" y="1904"/>
                  <a:pt x="96" y="1920"/>
                </a:cubicBezTo>
                <a:cubicBezTo>
                  <a:pt x="144" y="1936"/>
                  <a:pt x="264" y="2192"/>
                  <a:pt x="288" y="1872"/>
                </a:cubicBezTo>
                <a:cubicBezTo>
                  <a:pt x="312" y="1552"/>
                  <a:pt x="276" y="776"/>
                  <a:pt x="240" y="0"/>
                </a:cubicBezTo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2" name="Freeform 36"/>
          <p:cNvSpPr>
            <a:spLocks/>
          </p:cNvSpPr>
          <p:nvPr/>
        </p:nvSpPr>
        <p:spPr bwMode="auto">
          <a:xfrm>
            <a:off x="7102475" y="1955800"/>
            <a:ext cx="1066800" cy="2667000"/>
          </a:xfrm>
          <a:custGeom>
            <a:avLst/>
            <a:gdLst>
              <a:gd name="T0" fmla="*/ 0 w 672"/>
              <a:gd name="T1" fmla="*/ 0 h 1680"/>
              <a:gd name="T2" fmla="*/ 609600 w 672"/>
              <a:gd name="T3" fmla="*/ 2286000 h 1680"/>
              <a:gd name="T4" fmla="*/ 914400 w 672"/>
              <a:gd name="T5" fmla="*/ 2286000 h 1680"/>
              <a:gd name="T6" fmla="*/ 1066800 w 672"/>
              <a:gd name="T7" fmla="*/ 1905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1680">
                <a:moveTo>
                  <a:pt x="0" y="0"/>
                </a:moveTo>
                <a:cubicBezTo>
                  <a:pt x="144" y="600"/>
                  <a:pt x="288" y="1200"/>
                  <a:pt x="384" y="1440"/>
                </a:cubicBezTo>
                <a:cubicBezTo>
                  <a:pt x="480" y="1680"/>
                  <a:pt x="528" y="1480"/>
                  <a:pt x="576" y="1440"/>
                </a:cubicBezTo>
                <a:cubicBezTo>
                  <a:pt x="624" y="1400"/>
                  <a:pt x="648" y="1300"/>
                  <a:pt x="672" y="1200"/>
                </a:cubicBezTo>
              </a:path>
            </a:pathLst>
          </a:custGeom>
          <a:noFill/>
          <a:ln w="31750">
            <a:solidFill>
              <a:srgbClr val="FF0000"/>
            </a:solidFill>
            <a:round/>
            <a:headEnd type="stealth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093" name="Text Box 37"/>
          <p:cNvSpPr txBox="1">
            <a:spLocks noChangeArrowheads="1"/>
          </p:cNvSpPr>
          <p:nvPr/>
        </p:nvSpPr>
        <p:spPr bwMode="auto">
          <a:xfrm>
            <a:off x="6629400" y="10604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4" name="Text Box 38"/>
          <p:cNvSpPr txBox="1">
            <a:spLocks noChangeArrowheads="1"/>
          </p:cNvSpPr>
          <p:nvPr/>
        </p:nvSpPr>
        <p:spPr bwMode="auto">
          <a:xfrm>
            <a:off x="5495925" y="19097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5" name="Text Box 39"/>
          <p:cNvSpPr txBox="1">
            <a:spLocks noChangeArrowheads="1"/>
          </p:cNvSpPr>
          <p:nvPr/>
        </p:nvSpPr>
        <p:spPr bwMode="auto">
          <a:xfrm>
            <a:off x="5410200" y="30416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6" name="Text Box 40"/>
          <p:cNvSpPr txBox="1">
            <a:spLocks noChangeArrowheads="1"/>
          </p:cNvSpPr>
          <p:nvPr/>
        </p:nvSpPr>
        <p:spPr bwMode="auto">
          <a:xfrm>
            <a:off x="4724400" y="3890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7" name="Text Box 41"/>
          <p:cNvSpPr txBox="1">
            <a:spLocks noChangeArrowheads="1"/>
          </p:cNvSpPr>
          <p:nvPr/>
        </p:nvSpPr>
        <p:spPr bwMode="auto">
          <a:xfrm>
            <a:off x="4724400" y="49466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5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8" name="Text Box 42"/>
          <p:cNvSpPr txBox="1">
            <a:spLocks noChangeArrowheads="1"/>
          </p:cNvSpPr>
          <p:nvPr/>
        </p:nvSpPr>
        <p:spPr bwMode="auto">
          <a:xfrm>
            <a:off x="6553200" y="38608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099" name="Text Box 43"/>
          <p:cNvSpPr txBox="1">
            <a:spLocks noChangeArrowheads="1"/>
          </p:cNvSpPr>
          <p:nvPr/>
        </p:nvSpPr>
        <p:spPr bwMode="auto">
          <a:xfrm>
            <a:off x="8001000" y="18224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0" name="Text Box 44"/>
          <p:cNvSpPr txBox="1">
            <a:spLocks noChangeArrowheads="1"/>
          </p:cNvSpPr>
          <p:nvPr/>
        </p:nvSpPr>
        <p:spPr bwMode="auto">
          <a:xfrm>
            <a:off x="8153400" y="29765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FF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1" name="Freeform 45"/>
          <p:cNvSpPr>
            <a:spLocks/>
          </p:cNvSpPr>
          <p:nvPr/>
        </p:nvSpPr>
        <p:spPr bwMode="auto">
          <a:xfrm>
            <a:off x="5121275" y="3860800"/>
            <a:ext cx="889000" cy="2692400"/>
          </a:xfrm>
          <a:custGeom>
            <a:avLst/>
            <a:gdLst>
              <a:gd name="T0" fmla="*/ 0 w 560"/>
              <a:gd name="T1" fmla="*/ 1981200 h 1696"/>
              <a:gd name="T2" fmla="*/ 457200 w 560"/>
              <a:gd name="T3" fmla="*/ 2438400 h 1696"/>
              <a:gd name="T4" fmla="*/ 838200 w 560"/>
              <a:gd name="T5" fmla="*/ 2286000 h 1696"/>
              <a:gd name="T6" fmla="*/ 762000 w 560"/>
              <a:gd name="T7" fmla="*/ 0 h 16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0" h="1696">
                <a:moveTo>
                  <a:pt x="0" y="1248"/>
                </a:moveTo>
                <a:cubicBezTo>
                  <a:pt x="100" y="1376"/>
                  <a:pt x="200" y="1504"/>
                  <a:pt x="288" y="1536"/>
                </a:cubicBezTo>
                <a:cubicBezTo>
                  <a:pt x="376" y="1568"/>
                  <a:pt x="496" y="1696"/>
                  <a:pt x="528" y="1440"/>
                </a:cubicBezTo>
                <a:cubicBezTo>
                  <a:pt x="560" y="1184"/>
                  <a:pt x="488" y="240"/>
                  <a:pt x="480" y="0"/>
                </a:cubicBezTo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9102" name="Text Box 46"/>
          <p:cNvSpPr txBox="1">
            <a:spLocks noChangeArrowheads="1"/>
          </p:cNvSpPr>
          <p:nvPr/>
        </p:nvSpPr>
        <p:spPr bwMode="auto">
          <a:xfrm>
            <a:off x="5273675" y="5491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3" name="Text Box 47"/>
          <p:cNvSpPr txBox="1">
            <a:spLocks noChangeArrowheads="1"/>
          </p:cNvSpPr>
          <p:nvPr/>
        </p:nvSpPr>
        <p:spPr bwMode="auto">
          <a:xfrm>
            <a:off x="5273675" y="44243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4" name="Text Box 48"/>
          <p:cNvSpPr txBox="1">
            <a:spLocks noChangeArrowheads="1"/>
          </p:cNvSpPr>
          <p:nvPr/>
        </p:nvSpPr>
        <p:spPr bwMode="auto">
          <a:xfrm>
            <a:off x="6791325" y="44704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5" name="Text Box 49"/>
          <p:cNvSpPr txBox="1">
            <a:spLocks noChangeArrowheads="1"/>
          </p:cNvSpPr>
          <p:nvPr/>
        </p:nvSpPr>
        <p:spPr bwMode="auto">
          <a:xfrm>
            <a:off x="5959475" y="3586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6" name="Text Box 50"/>
          <p:cNvSpPr txBox="1">
            <a:spLocks noChangeArrowheads="1"/>
          </p:cNvSpPr>
          <p:nvPr/>
        </p:nvSpPr>
        <p:spPr bwMode="auto">
          <a:xfrm>
            <a:off x="6035675" y="2413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7" name="Text Box 51"/>
          <p:cNvSpPr txBox="1">
            <a:spLocks noChangeArrowheads="1"/>
          </p:cNvSpPr>
          <p:nvPr/>
        </p:nvSpPr>
        <p:spPr bwMode="auto">
          <a:xfrm>
            <a:off x="8315325" y="3556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8" name="Text Box 52"/>
          <p:cNvSpPr txBox="1">
            <a:spLocks noChangeArrowheads="1"/>
          </p:cNvSpPr>
          <p:nvPr/>
        </p:nvSpPr>
        <p:spPr bwMode="auto">
          <a:xfrm>
            <a:off x="8245475" y="24892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09" name="Text Box 53"/>
          <p:cNvSpPr txBox="1">
            <a:spLocks noChangeArrowheads="1"/>
          </p:cNvSpPr>
          <p:nvPr/>
        </p:nvSpPr>
        <p:spPr bwMode="auto">
          <a:xfrm>
            <a:off x="7102475" y="1681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99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29110" name="Text Box 54"/>
          <p:cNvSpPr txBox="1">
            <a:spLocks noChangeArrowheads="1"/>
          </p:cNvSpPr>
          <p:nvPr/>
        </p:nvSpPr>
        <p:spPr bwMode="auto">
          <a:xfrm>
            <a:off x="288925" y="349250"/>
            <a:ext cx="45243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例如</a:t>
            </a:r>
            <a:r>
              <a:rPr kumimoji="1" lang="en-US" altLang="zh-CN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: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下列连通图中，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29111" name="Text Box 55"/>
          <p:cNvSpPr txBox="1">
            <a:spLocks noChangeArrowheads="1"/>
          </p:cNvSpPr>
          <p:nvPr/>
        </p:nvSpPr>
        <p:spPr bwMode="auto">
          <a:xfrm>
            <a:off x="152400" y="5638800"/>
            <a:ext cx="4660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a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和顶点 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c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 </a:t>
            </a:r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是关节点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29112" name="AutoShape 56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381000" y="6324600"/>
            <a:ext cx="381000" cy="533400"/>
          </a:xfrm>
          <a:prstGeom prst="downArrow">
            <a:avLst>
              <a:gd name="adj1" fmla="val 50000"/>
              <a:gd name="adj2" fmla="val 35000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9113" name="Text Box 57"/>
          <p:cNvSpPr txBox="1">
            <a:spLocks noChangeArrowheads="1"/>
          </p:cNvSpPr>
          <p:nvPr/>
        </p:nvSpPr>
        <p:spPr bwMode="auto">
          <a:xfrm>
            <a:off x="5470525" y="304800"/>
            <a:ext cx="3028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9900FF"/>
                </a:solidFill>
                <a:latin typeface="Times New Roman" charset="0"/>
              </a:rPr>
              <a:t>深度优先生成树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29114" name="AutoShape 5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534400" y="46482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2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9115" name="AutoShape 5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81000"/>
          </a:xfrm>
          <a:prstGeom prst="actionButtonForwardNext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62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29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9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9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9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9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9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290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29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290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29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29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29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290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29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4290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5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429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29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9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8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429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8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429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29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29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2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2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429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29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42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2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6" dur="500"/>
                                        <p:tgtEl>
                                          <p:spTgt spid="42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1" dur="500"/>
                                        <p:tgtEl>
                                          <p:spTgt spid="42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6" dur="500"/>
                                        <p:tgtEl>
                                          <p:spTgt spid="42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1" dur="500"/>
                                        <p:tgtEl>
                                          <p:spTgt spid="42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 nodeType="clickPar">
                      <p:stCondLst>
                        <p:cond delay="indefinite"/>
                      </p:stCondLst>
                      <p:childTnLst>
                        <p:par>
                          <p:cTn id="2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6" dur="500"/>
                                        <p:tgtEl>
                                          <p:spTgt spid="42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1" dur="500"/>
                                        <p:tgtEl>
                                          <p:spTgt spid="42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6" dur="500"/>
                                        <p:tgtEl>
                                          <p:spTgt spid="429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1" dur="500"/>
                                        <p:tgtEl>
                                          <p:spTgt spid="429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 nodeType="clickPar">
                      <p:stCondLst>
                        <p:cond delay="indefinite"/>
                      </p:stCondLst>
                      <p:childTnLst>
                        <p:par>
                          <p:cTn id="2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66" dur="500"/>
                                        <p:tgtEl>
                                          <p:spTgt spid="42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1" dur="500"/>
                                        <p:tgtEl>
                                          <p:spTgt spid="42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6" dur="500"/>
                                        <p:tgtEl>
                                          <p:spTgt spid="429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1" dur="500"/>
                                        <p:tgtEl>
                                          <p:spTgt spid="429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6" dur="500"/>
                                        <p:tgtEl>
                                          <p:spTgt spid="429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1" dur="500"/>
                                        <p:tgtEl>
                                          <p:spTgt spid="429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6" dur="500"/>
                                        <p:tgtEl>
                                          <p:spTgt spid="429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01" dur="500"/>
                                        <p:tgtEl>
                                          <p:spTgt spid="429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nimBg="1" autoUpdateAnimBg="0"/>
      <p:bldP spid="429059" grpId="0" animBg="1" autoUpdateAnimBg="0"/>
      <p:bldP spid="429060" grpId="0" animBg="1" autoUpdateAnimBg="0"/>
      <p:bldP spid="429061" grpId="0" animBg="1" autoUpdateAnimBg="0"/>
      <p:bldP spid="429062" grpId="0" animBg="1" autoUpdateAnimBg="0"/>
      <p:bldP spid="429063" grpId="0" animBg="1" autoUpdateAnimBg="0"/>
      <p:bldP spid="429064" grpId="0" animBg="1" autoUpdateAnimBg="0"/>
      <p:bldP spid="429065" grpId="0" animBg="1" autoUpdateAnimBg="0"/>
      <p:bldP spid="429066" grpId="0" animBg="1"/>
      <p:bldP spid="429067" grpId="0" animBg="1"/>
      <p:bldP spid="429068" grpId="0" animBg="1"/>
      <p:bldP spid="429069" grpId="0" animBg="1"/>
      <p:bldP spid="429070" grpId="0" animBg="1"/>
      <p:bldP spid="429071" grpId="0" animBg="1"/>
      <p:bldP spid="429072" grpId="0" animBg="1"/>
      <p:bldP spid="429073" grpId="0" animBg="1"/>
      <p:bldP spid="429074" grpId="0" animBg="1"/>
      <p:bldP spid="429075" grpId="0" animBg="1"/>
      <p:bldP spid="429076" grpId="0" animBg="1" autoUpdateAnimBg="0"/>
      <p:bldP spid="429077" grpId="0" animBg="1" autoUpdateAnimBg="0"/>
      <p:bldP spid="429078" grpId="0" animBg="1" autoUpdateAnimBg="0"/>
      <p:bldP spid="429079" grpId="0" animBg="1" autoUpdateAnimBg="0"/>
      <p:bldP spid="429080" grpId="0" animBg="1" autoUpdateAnimBg="0"/>
      <p:bldP spid="429081" grpId="0" animBg="1" autoUpdateAnimBg="0"/>
      <p:bldP spid="429082" grpId="0" animBg="1" autoUpdateAnimBg="0"/>
      <p:bldP spid="429083" grpId="0" animBg="1" autoUpdateAnimBg="0"/>
      <p:bldP spid="429084" grpId="0" animBg="1"/>
      <p:bldP spid="429085" grpId="0" animBg="1"/>
      <p:bldP spid="429086" grpId="0" animBg="1"/>
      <p:bldP spid="429087" grpId="0" animBg="1"/>
      <p:bldP spid="429088" grpId="0" animBg="1"/>
      <p:bldP spid="429089" grpId="0" animBg="1"/>
      <p:bldP spid="429090" grpId="0" animBg="1"/>
      <p:bldP spid="429091" grpId="0" animBg="1"/>
      <p:bldP spid="429092" grpId="0" animBg="1"/>
      <p:bldP spid="429093" grpId="0" autoUpdateAnimBg="0"/>
      <p:bldP spid="429094" grpId="0" autoUpdateAnimBg="0"/>
      <p:bldP spid="429095" grpId="0" autoUpdateAnimBg="0"/>
      <p:bldP spid="429096" grpId="0" autoUpdateAnimBg="0"/>
      <p:bldP spid="429097" grpId="0" autoUpdateAnimBg="0"/>
      <p:bldP spid="429098" grpId="0" autoUpdateAnimBg="0"/>
      <p:bldP spid="429099" grpId="0" autoUpdateAnimBg="0"/>
      <p:bldP spid="429100" grpId="0" autoUpdateAnimBg="0"/>
      <p:bldP spid="429101" grpId="0" animBg="1"/>
      <p:bldP spid="429102" grpId="0" autoUpdateAnimBg="0"/>
      <p:bldP spid="429103" grpId="0" autoUpdateAnimBg="0"/>
      <p:bldP spid="429104" grpId="0" autoUpdateAnimBg="0"/>
      <p:bldP spid="429105" grpId="0" autoUpdateAnimBg="0"/>
      <p:bldP spid="429106" grpId="0" autoUpdateAnimBg="0"/>
      <p:bldP spid="429107" grpId="0" autoUpdateAnimBg="0"/>
      <p:bldP spid="429108" grpId="0" autoUpdateAnimBg="0"/>
      <p:bldP spid="429109" grpId="0" autoUpdateAnimBg="0"/>
      <p:bldP spid="429110" grpId="0" autoUpdateAnimBg="0"/>
      <p:bldP spid="429111" grpId="0" autoUpdateAnimBg="0"/>
      <p:bldP spid="429112" grpId="0" animBg="1"/>
      <p:bldP spid="429113" grpId="0" autoUpdateAnimBg="0"/>
      <p:bldP spid="429114" grpId="0" animBg="1"/>
      <p:bldP spid="42911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Text Box 2"/>
          <p:cNvSpPr txBox="1">
            <a:spLocks noChangeArrowheads="1"/>
          </p:cNvSpPr>
          <p:nvPr/>
        </p:nvSpPr>
        <p:spPr bwMode="auto">
          <a:xfrm>
            <a:off x="1371600" y="304800"/>
            <a:ext cx="424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关节点有何特征？</a:t>
            </a:r>
            <a:endParaRPr kumimoji="1" lang="zh-CN" altLang="en-US" sz="4000" b="1">
              <a:latin typeface="Times New Roman" charset="0"/>
              <a:ea typeface="楷体_GB2312" charset="0"/>
            </a:endParaRPr>
          </a:p>
        </p:txBody>
      </p:sp>
      <p:sp>
        <p:nvSpPr>
          <p:cNvPr id="430083" name="Text Box 3"/>
          <p:cNvSpPr txBox="1">
            <a:spLocks noChangeArrowheads="1"/>
          </p:cNvSpPr>
          <p:nvPr/>
        </p:nvSpPr>
        <p:spPr bwMode="auto">
          <a:xfrm>
            <a:off x="669925" y="2498725"/>
            <a:ext cx="8169275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假设从某个顶点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40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出发对连通图进行深度优先搜索遍历，则可得到一棵</a:t>
            </a:r>
            <a:r>
              <a:rPr kumimoji="1" lang="zh-CN" altLang="en-US" sz="4000" b="1">
                <a:solidFill>
                  <a:srgbClr val="CC0000"/>
                </a:solidFill>
                <a:latin typeface="Times New Roman" charset="0"/>
                <a:ea typeface="楷体_GB2312" charset="0"/>
              </a:rPr>
              <a:t>深度优先生成树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，树上包含图的所有顶点。</a:t>
            </a:r>
          </a:p>
        </p:txBody>
      </p:sp>
      <p:sp>
        <p:nvSpPr>
          <p:cNvPr id="430084" name="Text Box 4"/>
          <p:cNvSpPr txBox="1">
            <a:spLocks noChangeArrowheads="1"/>
          </p:cNvSpPr>
          <p:nvPr/>
        </p:nvSpPr>
        <p:spPr bwMode="auto">
          <a:xfrm>
            <a:off x="1187450" y="1568450"/>
            <a:ext cx="7499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需借助图的深度优先生成树来分析。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30085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382000" y="6248400"/>
            <a:ext cx="381000" cy="381000"/>
          </a:xfrm>
          <a:prstGeom prst="actionButtonBackPrevious">
            <a:avLst/>
          </a:prstGeom>
          <a:solidFill>
            <a:srgbClr val="FFCC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7747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2" grpId="0" autoUpdateAnimBg="0"/>
      <p:bldP spid="430083" grpId="0" autoUpdateAnimBg="0"/>
      <p:bldP spid="430084" grpId="0" autoUpdateAnimBg="0"/>
      <p:bldP spid="43008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ChangeArrowheads="1"/>
          </p:cNvSpPr>
          <p:nvPr/>
        </p:nvSpPr>
        <p:spPr bwMode="auto">
          <a:xfrm>
            <a:off x="609600" y="304800"/>
            <a:ext cx="8001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135000"/>
              </a:lnSpc>
              <a:buFontTx/>
              <a:buChar char="•"/>
            </a:pPr>
            <a:r>
              <a:rPr lang="en-US" altLang="zh-CN" sz="4000">
                <a:ea typeface="楷体_GB2312" charset="0"/>
              </a:rPr>
              <a:t> 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若生成树的</a:t>
            </a:r>
            <a:r>
              <a:rPr lang="zh-CN" altLang="en-US" sz="4000">
                <a:solidFill>
                  <a:srgbClr val="FF0000"/>
                </a:solidFill>
                <a:ea typeface="楷体_GB2312" charset="0"/>
              </a:rPr>
              <a:t>根结点，有两个或两个以上的分支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，则此顶点</a:t>
            </a:r>
            <a:r>
              <a:rPr lang="en-US" altLang="zh-CN" sz="4000">
                <a:solidFill>
                  <a:srgbClr val="000099"/>
                </a:solidFill>
                <a:ea typeface="楷体_GB2312" charset="0"/>
              </a:rPr>
              <a:t>(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生成树的根</a:t>
            </a:r>
            <a:r>
              <a:rPr lang="en-US" altLang="zh-CN" sz="4000">
                <a:solidFill>
                  <a:srgbClr val="000099"/>
                </a:solidFill>
                <a:ea typeface="楷体_GB2312" charset="0"/>
              </a:rPr>
              <a:t>)</a:t>
            </a:r>
            <a:r>
              <a:rPr lang="zh-CN" altLang="en-US" sz="4000">
                <a:solidFill>
                  <a:srgbClr val="FF0000"/>
                </a:solidFill>
                <a:ea typeface="楷体_GB2312" charset="0"/>
              </a:rPr>
              <a:t>必为关节点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；</a:t>
            </a:r>
            <a:endParaRPr lang="zh-CN" altLang="en-US" sz="4000">
              <a:ea typeface="楷体_GB2312" charset="0"/>
            </a:endParaRPr>
          </a:p>
        </p:txBody>
      </p:sp>
      <p:sp>
        <p:nvSpPr>
          <p:cNvPr id="431107" name="Rectangle 3"/>
          <p:cNvSpPr>
            <a:spLocks noChangeArrowheads="1"/>
          </p:cNvSpPr>
          <p:nvPr/>
        </p:nvSpPr>
        <p:spPr bwMode="auto">
          <a:xfrm>
            <a:off x="609600" y="2895600"/>
            <a:ext cx="80010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  <a:buFontTx/>
              <a:buChar char="•"/>
            </a:pPr>
            <a:r>
              <a:rPr lang="en-US" altLang="zh-CN" sz="4000">
                <a:ea typeface="楷体_GB2312" charset="0"/>
              </a:rPr>
              <a:t> 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对生成树上的任意一个“顶点”，若其某棵子树的根或子树中的</a:t>
            </a:r>
            <a:r>
              <a:rPr lang="zh-CN" altLang="en-US" sz="4000">
                <a:solidFill>
                  <a:srgbClr val="FF0000"/>
                </a:solidFill>
                <a:ea typeface="楷体_GB2312" charset="0"/>
              </a:rPr>
              <a:t>其它“顶点”没有和其祖先相通的回边</a:t>
            </a:r>
            <a:r>
              <a:rPr lang="zh-CN" altLang="en-US" sz="4000">
                <a:solidFill>
                  <a:srgbClr val="000099"/>
                </a:solidFill>
                <a:ea typeface="楷体_GB2312" charset="0"/>
              </a:rPr>
              <a:t>，则该“顶点”</a:t>
            </a:r>
            <a:r>
              <a:rPr lang="zh-CN" altLang="en-US" sz="4000">
                <a:solidFill>
                  <a:srgbClr val="FF0000"/>
                </a:solidFill>
                <a:ea typeface="楷体_GB2312" charset="0"/>
              </a:rPr>
              <a:t>必为关节点</a:t>
            </a:r>
            <a:r>
              <a:rPr lang="zh-CN" altLang="en-US" sz="4000">
                <a:ea typeface="楷体_GB2312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479463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6" grpId="0" autoUpdateAnimBg="0"/>
      <p:bldP spid="431107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990600" y="1752600"/>
            <a:ext cx="7239000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6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对上述两个判定准则在算法中如何实现？</a:t>
            </a:r>
            <a:endParaRPr kumimoji="1" lang="zh-CN" altLang="en-US" sz="60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79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0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Text Box 2"/>
          <p:cNvSpPr txBox="1">
            <a:spLocks noChangeArrowheads="1"/>
          </p:cNvSpPr>
          <p:nvPr/>
        </p:nvSpPr>
        <p:spPr bwMode="auto">
          <a:xfrm>
            <a:off x="228600" y="304800"/>
            <a:ext cx="8915400" cy="6188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1)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设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40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为深度优先遍历的出发点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800">
                <a:solidFill>
                  <a:srgbClr val="000099"/>
                </a:solidFill>
                <a:latin typeface="Times New Roman" charset="0"/>
                <a:ea typeface="楷体_GB2312" charset="0"/>
              </a:rPr>
              <a:t>p = G.vertices[0].firstarc;   v = p-&gt;adjvex;</a:t>
            </a:r>
            <a:endParaRPr kumimoji="1" lang="en-US" altLang="zh-CN" sz="4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40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DFSArticul(G, v);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  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从第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顶点出发深度优先搜索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(count &lt; G.vexnum)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生成树的根有至少两棵子树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4000"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000" b="1">
                <a:solidFill>
                  <a:srgbClr val="993300"/>
                </a:solidFill>
                <a:latin typeface="Times New Roman" charset="0"/>
                <a:ea typeface="楷体_GB2312" charset="0"/>
              </a:rPr>
              <a:t>printf </a:t>
            </a:r>
            <a:r>
              <a:rPr kumimoji="1" lang="en-US" altLang="zh-CN" sz="4000">
                <a:solidFill>
                  <a:srgbClr val="993300"/>
                </a:solidFill>
                <a:latin typeface="Times New Roman" charset="0"/>
                <a:ea typeface="楷体_GB2312" charset="0"/>
              </a:rPr>
              <a:t>(0, G.vertices[0].data);</a:t>
            </a:r>
            <a:r>
              <a:rPr kumimoji="1" lang="en-US" altLang="zh-CN" sz="4000">
                <a:latin typeface="Times New Roman" charset="0"/>
                <a:ea typeface="楷体_GB2312" charset="0"/>
              </a:rPr>
              <a:t>     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根是关节点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45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4" grpId="0" animBg="1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Text Box 2"/>
          <p:cNvSpPr txBox="1">
            <a:spLocks noChangeArrowheads="1"/>
          </p:cNvSpPr>
          <p:nvPr/>
        </p:nvSpPr>
        <p:spPr bwMode="auto">
          <a:xfrm>
            <a:off x="-57150" y="152400"/>
            <a:ext cx="9201150" cy="63531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solidFill>
                  <a:srgbClr val="580094"/>
                </a:solidFill>
                <a:latin typeface="Times New Roman" charset="0"/>
                <a:ea typeface="楷体_GB2312" charset="0"/>
              </a:rPr>
              <a:t>2) </a:t>
            </a:r>
            <a:r>
              <a:rPr kumimoji="1" lang="zh-CN" altLang="en-US" sz="4000">
                <a:solidFill>
                  <a:srgbClr val="580094"/>
                </a:solidFill>
                <a:latin typeface="Times New Roman" charset="0"/>
                <a:ea typeface="楷体_GB2312" charset="0"/>
              </a:rPr>
              <a:t>定义函数</a:t>
            </a:r>
            <a:r>
              <a:rPr kumimoji="1" lang="en-US" altLang="zh-CN" sz="4000">
                <a:solidFill>
                  <a:srgbClr val="580094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4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low(v) = Min{visited[v], low[w], visited[k] }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其中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: 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顶点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是生成树上顶点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孩子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         顶点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是生成树上和顶点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由</a:t>
            </a:r>
            <a:r>
              <a:rPr kumimoji="1" lang="zh-CN" altLang="en-US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回边</a:t>
            </a:r>
            <a:endParaRPr kumimoji="1" lang="zh-CN" altLang="en-US" sz="36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         相联接的</a:t>
            </a:r>
            <a:r>
              <a:rPr kumimoji="1" lang="zh-CN" altLang="en-US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祖先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        </a:t>
            </a:r>
            <a:r>
              <a:rPr kumimoji="1" lang="en-US" altLang="zh-CN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visited</a:t>
            </a: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记录深度优先遍历时的访问次序</a:t>
            </a:r>
            <a:endParaRPr kumimoji="1" lang="zh-CN" altLang="en-US" sz="40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580094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若对顶点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，在生成树上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存在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一个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子树根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w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</a:t>
            </a:r>
            <a:endParaRPr kumimoji="1" lang="zh-CN" altLang="en-US" sz="36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且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>
                <a:solidFill>
                  <a:srgbClr val="993300"/>
                </a:solidFill>
                <a:latin typeface="Times New Roman" charset="0"/>
                <a:ea typeface="楷体_GB2312" charset="0"/>
              </a:rPr>
              <a:t>low[w]  </a:t>
            </a:r>
            <a:r>
              <a:rPr kumimoji="1" lang="en-US" altLang="zh-CN" sz="3600">
                <a:solidFill>
                  <a:srgbClr val="993300"/>
                </a:solidFill>
                <a:latin typeface="楷体_GB2312" charset="0"/>
                <a:ea typeface="楷体_GB2312" charset="0"/>
              </a:rPr>
              <a:t>≥ </a:t>
            </a:r>
            <a:r>
              <a:rPr kumimoji="1" lang="en-US" altLang="zh-CN" sz="3600">
                <a:solidFill>
                  <a:srgbClr val="993300"/>
                </a:solidFill>
                <a:latin typeface="Times New Roman" charset="0"/>
                <a:ea typeface="楷体_GB2312" charset="0"/>
              </a:rPr>
              <a:t>visited[v]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则顶点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为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关节点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36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4179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058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2685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8" grpId="0" animBg="1" autoUpdateAnimBg="0"/>
      <p:bldP spid="43417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Text Box 2"/>
          <p:cNvSpPr txBox="1">
            <a:spLocks noChangeArrowheads="1"/>
          </p:cNvSpPr>
          <p:nvPr/>
        </p:nvSpPr>
        <p:spPr bwMode="auto">
          <a:xfrm>
            <a:off x="1447800" y="152400"/>
            <a:ext cx="780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对深度优先遍历算法作如下修改：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35203" name="Text Box 3"/>
          <p:cNvSpPr txBox="1">
            <a:spLocks noChangeArrowheads="1"/>
          </p:cNvSpPr>
          <p:nvPr/>
        </p:nvSpPr>
        <p:spPr bwMode="auto">
          <a:xfrm>
            <a:off x="228600" y="1279525"/>
            <a:ext cx="85502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590096"/>
                </a:solidFill>
                <a:latin typeface="Times New Roman" charset="0"/>
              </a:rPr>
              <a:t>1</a:t>
            </a:r>
            <a:r>
              <a:rPr kumimoji="1" lang="zh-CN" altLang="en-US" sz="4000">
                <a:solidFill>
                  <a:srgbClr val="590096"/>
                </a:solidFill>
                <a:latin typeface="Times New Roman" charset="0"/>
              </a:rPr>
              <a:t>．</a:t>
            </a:r>
            <a:r>
              <a:rPr kumimoji="1" lang="en-US" altLang="zh-CN" sz="4000">
                <a:solidFill>
                  <a:srgbClr val="590096"/>
                </a:solidFill>
                <a:latin typeface="Times New Roman" charset="0"/>
              </a:rPr>
              <a:t>visited[v]</a:t>
            </a:r>
            <a:r>
              <a:rPr kumimoji="1" lang="zh-CN" altLang="en-US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的值改为遍历过程中顶点的访问次序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count</a:t>
            </a:r>
            <a:r>
              <a:rPr kumimoji="1" lang="zh-CN" altLang="zh-CN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值；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35204" name="Text Box 4"/>
          <p:cNvSpPr txBox="1">
            <a:spLocks noChangeArrowheads="1"/>
          </p:cNvSpPr>
          <p:nvPr/>
        </p:nvSpPr>
        <p:spPr bwMode="auto">
          <a:xfrm>
            <a:off x="152400" y="2819400"/>
            <a:ext cx="89916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．</a:t>
            </a:r>
            <a:r>
              <a:rPr kumimoji="1" lang="zh-CN" altLang="en-US" sz="4000">
                <a:solidFill>
                  <a:srgbClr val="590096"/>
                </a:solidFill>
                <a:latin typeface="楷体_GB2312" charset="0"/>
                <a:ea typeface="楷体_GB2312" charset="0"/>
              </a:rPr>
              <a:t>遍历过程中求得</a:t>
            </a:r>
            <a:endParaRPr kumimoji="1" lang="zh-CN" altLang="en-US" sz="2400">
              <a:latin typeface="Times New Roman" charset="0"/>
            </a:endParaRPr>
          </a:p>
          <a:p>
            <a:pPr eaLnBrk="1" hangingPunct="1"/>
            <a:r>
              <a:rPr kumimoji="1" lang="zh-CN" altLang="en-US" sz="2400">
                <a:latin typeface="Times New Roman" charset="0"/>
              </a:rPr>
              <a:t>  </a:t>
            </a:r>
            <a:r>
              <a:rPr kumimoji="1" lang="en-US" altLang="zh-CN" sz="4000">
                <a:solidFill>
                  <a:srgbClr val="590096"/>
                </a:solidFill>
                <a:latin typeface="Times New Roman" charset="0"/>
              </a:rPr>
              <a:t>low[v]=</a:t>
            </a:r>
            <a:r>
              <a:rPr kumimoji="1" lang="en-US" altLang="zh-CN" sz="4000" b="1">
                <a:solidFill>
                  <a:srgbClr val="590096"/>
                </a:solidFill>
                <a:latin typeface="Times New Roman" charset="0"/>
              </a:rPr>
              <a:t>Min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{visited[v]</a:t>
            </a:r>
            <a:r>
              <a:rPr kumimoji="1" lang="en-US" altLang="zh-CN" sz="4000">
                <a:latin typeface="Times New Roman" charset="0"/>
              </a:rPr>
              <a:t>,</a:t>
            </a:r>
            <a:r>
              <a:rPr kumimoji="1" lang="en-US" altLang="zh-CN" sz="4000">
                <a:solidFill>
                  <a:srgbClr val="CC3300"/>
                </a:solidFill>
                <a:latin typeface="Times New Roman" charset="0"/>
              </a:rPr>
              <a:t>low[w]</a:t>
            </a:r>
            <a:r>
              <a:rPr kumimoji="1" lang="en-US" altLang="zh-CN" sz="4000">
                <a:latin typeface="Times New Roman" charset="0"/>
              </a:rPr>
              <a:t>,</a:t>
            </a:r>
            <a:r>
              <a:rPr kumimoji="1" lang="en-US" altLang="zh-CN" sz="4000">
                <a:solidFill>
                  <a:schemeClr val="bg2"/>
                </a:solidFill>
                <a:latin typeface="Times New Roman" charset="0"/>
              </a:rPr>
              <a:t>visited[k]</a:t>
            </a:r>
            <a:r>
              <a:rPr kumimoji="1" lang="en-US" altLang="zh-CN" sz="4000">
                <a:solidFill>
                  <a:srgbClr val="590096"/>
                </a:solidFill>
                <a:latin typeface="Times New Roman" charset="0"/>
              </a:rPr>
              <a:t>}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35205" name="Text Box 5"/>
          <p:cNvSpPr txBox="1">
            <a:spLocks noChangeArrowheads="1"/>
          </p:cNvSpPr>
          <p:nvPr/>
        </p:nvSpPr>
        <p:spPr bwMode="auto">
          <a:xfrm>
            <a:off x="304800" y="4648200"/>
            <a:ext cx="551815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590096"/>
                </a:solidFill>
                <a:latin typeface="Times New Roman" charset="0"/>
              </a:rPr>
              <a:t>3</a:t>
            </a:r>
            <a:r>
              <a:rPr kumimoji="1" lang="zh-CN" altLang="en-US" sz="4000">
                <a:solidFill>
                  <a:srgbClr val="590096"/>
                </a:solidFill>
                <a:latin typeface="Times New Roman" charset="0"/>
              </a:rPr>
              <a:t>．</a:t>
            </a:r>
            <a:r>
              <a:rPr kumimoji="1" lang="zh-CN" altLang="en-US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从子树遍历返回时，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pPr eaLnBrk="1" hangingPunct="1"/>
            <a:r>
              <a:rPr kumimoji="1" lang="zh-CN" altLang="en-US" sz="4000">
                <a:solidFill>
                  <a:srgbClr val="590096"/>
                </a:solidFill>
                <a:latin typeface="Times New Roman" charset="0"/>
                <a:ea typeface="楷体_GB2312" charset="0"/>
              </a:rPr>
              <a:t>判别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low[w]≥visited[v]?</a:t>
            </a:r>
            <a:endParaRPr kumimoji="1" lang="en-US" altLang="zh-CN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9414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3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43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43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2" grpId="0" autoUpdateAnimBg="0"/>
      <p:bldP spid="435203" grpId="0" autoUpdateAnimBg="0"/>
      <p:bldP spid="435204" grpId="0" autoUpdateAnimBg="0"/>
      <p:bldP spid="435205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Text Box 2"/>
          <p:cNvSpPr txBox="1">
            <a:spLocks noChangeArrowheads="1"/>
          </p:cNvSpPr>
          <p:nvPr/>
        </p:nvSpPr>
        <p:spPr bwMode="auto">
          <a:xfrm>
            <a:off x="552450" y="2968625"/>
            <a:ext cx="8591550" cy="228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(p=G.vertices[v0].firstarc;   p;</a:t>
            </a:r>
          </a:p>
          <a:p>
            <a:pPr eaLnBrk="1" hangingPunct="1"/>
            <a:r>
              <a:rPr kumimoji="1" lang="en-US" altLang="zh-CN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                                         p=p-&gt;nextarc) 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6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</a:rPr>
              <a:t>  </a:t>
            </a:r>
            <a:r>
              <a:rPr kumimoji="1" lang="en-US" altLang="zh-CN" sz="3600">
                <a:solidFill>
                  <a:srgbClr val="590096"/>
                </a:solidFill>
                <a:latin typeface="Times New Roman" charset="0"/>
              </a:rPr>
              <a:t>  </a:t>
            </a:r>
          </a:p>
          <a:p>
            <a:pPr eaLnBrk="1" hangingPunct="1"/>
            <a:endParaRPr kumimoji="1" lang="en-US" altLang="zh-CN" sz="3600" b="1">
              <a:solidFill>
                <a:srgbClr val="590096"/>
              </a:solidFill>
              <a:latin typeface="Times New Roman" charset="0"/>
            </a:endParaRPr>
          </a:p>
          <a:p>
            <a:pPr eaLnBrk="1" hangingPunct="1"/>
            <a:r>
              <a:rPr kumimoji="1" lang="en-US" altLang="zh-CN" sz="3600" b="1">
                <a:solidFill>
                  <a:srgbClr val="590096"/>
                </a:solidFill>
                <a:latin typeface="Times New Roman" charset="0"/>
              </a:rPr>
              <a:t>}</a:t>
            </a:r>
            <a:endParaRPr kumimoji="1" lang="en-US" altLang="zh-CN" sz="3600">
              <a:solidFill>
                <a:srgbClr val="590096"/>
              </a:solidFill>
              <a:latin typeface="Times New Roman" charset="0"/>
            </a:endParaRPr>
          </a:p>
        </p:txBody>
      </p:sp>
      <p:sp>
        <p:nvSpPr>
          <p:cNvPr id="436227" name="Text Box 3"/>
          <p:cNvSpPr txBox="1">
            <a:spLocks noChangeArrowheads="1"/>
          </p:cNvSpPr>
          <p:nvPr/>
        </p:nvSpPr>
        <p:spPr bwMode="auto">
          <a:xfrm>
            <a:off x="228600" y="381000"/>
            <a:ext cx="8686800" cy="655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        void  DFSArticul(ALGraph G, int v0) {</a:t>
            </a:r>
          </a:p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latin typeface="Times New Roman" charset="0"/>
              </a:rPr>
              <a:t>  // </a:t>
            </a:r>
            <a:r>
              <a:rPr kumimoji="1" lang="zh-CN" altLang="zh-CN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从第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v0</a:t>
            </a:r>
            <a:r>
              <a:rPr kumimoji="1" lang="zh-CN" altLang="zh-CN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个顶点出发深度优先遍历图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G</a:t>
            </a:r>
            <a:r>
              <a:rPr kumimoji="1" lang="en-US" altLang="zh-CN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,</a:t>
            </a:r>
          </a:p>
          <a:p>
            <a:pPr eaLnBrk="1" hangingPunct="1"/>
            <a:r>
              <a:rPr kumimoji="1" lang="en-US" altLang="zh-CN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 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// </a:t>
            </a:r>
            <a:r>
              <a:rPr kumimoji="1" lang="zh-CN" altLang="zh-CN" sz="3200">
                <a:solidFill>
                  <a:srgbClr val="000099"/>
                </a:solidFill>
                <a:latin typeface="楷体_GB2312" charset="0"/>
                <a:ea typeface="楷体_GB2312" charset="0"/>
              </a:rPr>
              <a:t>查找并输出关节点</a:t>
            </a: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endParaRPr kumimoji="1" lang="zh-CN" altLang="zh-CN" sz="3200">
              <a:solidFill>
                <a:srgbClr val="000099"/>
              </a:solidFill>
              <a:latin typeface="楷体_GB2312" charset="0"/>
              <a:ea typeface="楷体_GB2312" charset="0"/>
            </a:endParaRPr>
          </a:p>
          <a:p>
            <a:pPr eaLnBrk="1" hangingPunct="1"/>
            <a:r>
              <a:rPr kumimoji="1" lang="zh-CN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} //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DFSArticul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36228" name="Text Box 4"/>
          <p:cNvSpPr txBox="1">
            <a:spLocks noChangeArrowheads="1"/>
          </p:cNvSpPr>
          <p:nvPr/>
        </p:nvSpPr>
        <p:spPr bwMode="auto">
          <a:xfrm>
            <a:off x="457200" y="1903413"/>
            <a:ext cx="8763000" cy="121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min =visited[v0] = 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count;  </a:t>
            </a:r>
          </a:p>
          <a:p>
            <a:pPr eaLnBrk="1" hangingPunct="1">
              <a:lnSpc>
                <a:spcPct val="115000"/>
              </a:lnSpc>
            </a:pP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//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v0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是第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count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个访问的顶点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,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并设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low[v0]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的初值为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min</a:t>
            </a:r>
            <a:endParaRPr kumimoji="1" lang="en-US" altLang="zh-CN" sz="3200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6229" name="Rectangle 5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62000" y="4083050"/>
            <a:ext cx="4781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590096"/>
                </a:solidFill>
                <a:latin typeface="Times New Roman" charset="0"/>
              </a:rPr>
              <a:t>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// 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检查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v0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的每个邻接点</a:t>
            </a:r>
            <a:endParaRPr kumimoji="1" lang="zh-CN" altLang="en-US" sz="3600">
              <a:solidFill>
                <a:srgbClr val="590096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6230" name="Text Box 6"/>
          <p:cNvSpPr txBox="1">
            <a:spLocks noChangeArrowheads="1"/>
          </p:cNvSpPr>
          <p:nvPr/>
        </p:nvSpPr>
        <p:spPr bwMode="auto">
          <a:xfrm>
            <a:off x="554038" y="5313363"/>
            <a:ext cx="29559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low[v0] = min;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36231" name="AutoShape 7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153400" y="62484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7506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6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6" grpId="0" autoUpdateAnimBg="0"/>
      <p:bldP spid="436227" grpId="0" autoUpdateAnimBg="0"/>
      <p:bldP spid="436228" grpId="0" autoUpdateAnimBg="0"/>
      <p:bldP spid="436229" grpId="0" autoUpdateAnimBg="0"/>
      <p:bldP spid="436230" grpId="0" autoUpdateAnimBg="0"/>
      <p:bldP spid="4362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ChangeArrowheads="1"/>
          </p:cNvSpPr>
          <p:nvPr/>
        </p:nvSpPr>
        <p:spPr bwMode="auto">
          <a:xfrm>
            <a:off x="990600" y="261938"/>
            <a:ext cx="8305800" cy="545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590096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w = p-&gt;adjvex;       // w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为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v0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的邻接顶点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(visited[w]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==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0)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{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 // w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未曾被访问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DFSArticul(G, w);  // 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返回前求得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low[w]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</a:t>
            </a:r>
          </a:p>
          <a:p>
            <a:pPr eaLnBrk="1" hangingPunct="1">
              <a:lnSpc>
                <a:spcPct val="125000"/>
              </a:lnSpc>
            </a:pPr>
            <a:endParaRPr kumimoji="1" lang="en-US" altLang="zh-CN" sz="3600">
              <a:solidFill>
                <a:srgbClr val="800000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endParaRPr kumimoji="1" lang="en-US" altLang="zh-CN" sz="3600">
              <a:solidFill>
                <a:srgbClr val="800000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                 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  else    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// w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是回边上的顶点</a:t>
            </a:r>
          </a:p>
        </p:txBody>
      </p:sp>
      <p:sp>
        <p:nvSpPr>
          <p:cNvPr id="437251" name="Text Box 3"/>
          <p:cNvSpPr txBox="1">
            <a:spLocks noChangeArrowheads="1"/>
          </p:cNvSpPr>
          <p:nvPr/>
        </p:nvSpPr>
        <p:spPr bwMode="auto">
          <a:xfrm>
            <a:off x="733425" y="2330450"/>
            <a:ext cx="6502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(low[w] &lt; min)   min = low[w];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</a:t>
            </a:r>
            <a:endParaRPr kumimoji="1" lang="en-US" altLang="zh-CN" sz="3600" b="1">
              <a:solidFill>
                <a:srgbClr val="FF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7252" name="Text Box 4"/>
          <p:cNvSpPr txBox="1">
            <a:spLocks noChangeArrowheads="1"/>
          </p:cNvSpPr>
          <p:nvPr/>
        </p:nvSpPr>
        <p:spPr bwMode="auto">
          <a:xfrm>
            <a:off x="609600" y="2909888"/>
            <a:ext cx="86931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if </a:t>
            </a: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(low[w]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&gt;=</a:t>
            </a: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visited[v0])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en-US" altLang="zh-CN" sz="36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(v0, G.vertices[v0].data);</a:t>
            </a:r>
            <a:r>
              <a:rPr kumimoji="1" lang="en-US" altLang="zh-CN" sz="3600">
                <a:latin typeface="Times New Roman" charset="0"/>
                <a:ea typeface="楷体_GB2312" charset="0"/>
              </a:rPr>
              <a:t> </a:t>
            </a:r>
            <a:r>
              <a:rPr kumimoji="1" lang="en-US" altLang="zh-CN" sz="3600">
                <a:solidFill>
                  <a:srgbClr val="FF0000"/>
                </a:solidFill>
                <a:latin typeface="Times New Roman" charset="0"/>
                <a:ea typeface="楷体_GB2312" charset="0"/>
              </a:rPr>
              <a:t>//</a:t>
            </a:r>
            <a:r>
              <a:rPr kumimoji="1" lang="zh-CN" altLang="en-US" sz="32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输出关节点</a:t>
            </a:r>
          </a:p>
        </p:txBody>
      </p:sp>
      <p:sp>
        <p:nvSpPr>
          <p:cNvPr id="437253" name="Text Box 5"/>
          <p:cNvSpPr txBox="1">
            <a:spLocks noChangeArrowheads="1"/>
          </p:cNvSpPr>
          <p:nvPr/>
        </p:nvSpPr>
        <p:spPr bwMode="auto">
          <a:xfrm>
            <a:off x="838200" y="5770563"/>
            <a:ext cx="7454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if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</a:rPr>
              <a:t> (visited[w] &lt; min)   min = visited[w];</a:t>
            </a:r>
            <a:endParaRPr kumimoji="1" lang="en-US" altLang="zh-CN" sz="32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3725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8458200" y="6248400"/>
            <a:ext cx="381000" cy="381000"/>
          </a:xfrm>
          <a:prstGeom prst="actionButtonBackPrevious">
            <a:avLst/>
          </a:prstGeom>
          <a:solidFill>
            <a:srgbClr val="FFCC00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784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37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0" grpId="0" autoUpdateAnimBg="0"/>
      <p:bldP spid="437251" grpId="0" autoUpdateAnimBg="0"/>
      <p:bldP spid="437252" grpId="0" autoUpdateAnimBg="0"/>
      <p:bldP spid="437253" grpId="0" autoUpdateAnimBg="0"/>
      <p:bldP spid="43725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Text Box 2"/>
          <p:cNvSpPr txBox="1">
            <a:spLocks noChangeArrowheads="1"/>
          </p:cNvSpPr>
          <p:nvPr/>
        </p:nvSpPr>
        <p:spPr bwMode="auto">
          <a:xfrm>
            <a:off x="2305050" y="152400"/>
            <a:ext cx="4375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6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7.6 </a:t>
            </a:r>
            <a:r>
              <a:rPr kumimoji="1" lang="zh-CN" altLang="en-US" sz="6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拓扑排序</a:t>
            </a:r>
            <a:endParaRPr kumimoji="1" lang="zh-CN" altLang="en-US" sz="48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8275" name="Text Box 3"/>
          <p:cNvSpPr txBox="1">
            <a:spLocks noChangeArrowheads="1"/>
          </p:cNvSpPr>
          <p:nvPr/>
        </p:nvSpPr>
        <p:spPr bwMode="auto">
          <a:xfrm>
            <a:off x="517525" y="1066800"/>
            <a:ext cx="1833563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5000" b="1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50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问题</a:t>
            </a:r>
            <a:r>
              <a:rPr kumimoji="1" lang="en-US" altLang="zh-CN" sz="50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:</a:t>
            </a:r>
          </a:p>
        </p:txBody>
      </p:sp>
      <p:sp>
        <p:nvSpPr>
          <p:cNvPr id="438276" name="Text Box 4"/>
          <p:cNvSpPr txBox="1">
            <a:spLocks noChangeArrowheads="1"/>
          </p:cNvSpPr>
          <p:nvPr/>
        </p:nvSpPr>
        <p:spPr bwMode="auto">
          <a:xfrm>
            <a:off x="762000" y="1889125"/>
            <a:ext cx="7924800" cy="214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假设以有向图表示一个工程的施工图或程序的数据流图，则图中不允许出现回路。</a:t>
            </a:r>
          </a:p>
        </p:txBody>
      </p:sp>
      <p:sp>
        <p:nvSpPr>
          <p:cNvPr id="438277" name="Text Box 5"/>
          <p:cNvSpPr txBox="1">
            <a:spLocks noChangeArrowheads="1"/>
          </p:cNvSpPr>
          <p:nvPr/>
        </p:nvSpPr>
        <p:spPr bwMode="auto">
          <a:xfrm>
            <a:off x="381000" y="4419600"/>
            <a:ext cx="8458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检查有向图中是否存在回路的方法之一，是对有向图进行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拓扑排序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206028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4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38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4" grpId="0" autoUpdateAnimBg="0"/>
      <p:bldP spid="438275" grpId="0" autoUpdateAnimBg="0"/>
      <p:bldP spid="438276" grpId="0" autoUpdateAnimBg="0"/>
      <p:bldP spid="438277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ext Box 2"/>
          <p:cNvSpPr txBox="1">
            <a:spLocks noChangeArrowheads="1"/>
          </p:cNvSpPr>
          <p:nvPr/>
        </p:nvSpPr>
        <p:spPr bwMode="auto">
          <a:xfrm>
            <a:off x="1447800" y="228600"/>
            <a:ext cx="506095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8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何谓“拓扑排序”？</a:t>
            </a:r>
            <a:endParaRPr kumimoji="1" lang="zh-CN" altLang="en-US" sz="6000" b="1">
              <a:solidFill>
                <a:srgbClr val="6600CC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39299" name="Text Box 3"/>
          <p:cNvSpPr txBox="1">
            <a:spLocks noChangeArrowheads="1"/>
          </p:cNvSpPr>
          <p:nvPr/>
        </p:nvSpPr>
        <p:spPr bwMode="auto">
          <a:xfrm>
            <a:off x="990600" y="1566863"/>
            <a:ext cx="577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对有向图进行如下操作：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457200" y="2438400"/>
            <a:ext cx="8321675" cy="375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400"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4800">
                <a:solidFill>
                  <a:srgbClr val="800000"/>
                </a:solidFill>
                <a:latin typeface="Times New Roman" charset="0"/>
                <a:ea typeface="隶书" charset="0"/>
              </a:rPr>
              <a:t>按照有向图给出的次序关系，将图中顶点排成一个线性序列，对于有向图中没有限定次序关系的顶点，则可以人为加上任意的次序关系。</a:t>
            </a:r>
            <a:endParaRPr kumimoji="1" lang="zh-CN" altLang="en-US" sz="44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74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3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8" grpId="0" autoUpdateAnimBg="0"/>
      <p:bldP spid="439299" grpId="0" autoUpdateAnimBg="0"/>
      <p:bldP spid="439300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Text Box 2"/>
          <p:cNvSpPr txBox="1">
            <a:spLocks noChangeArrowheads="1"/>
          </p:cNvSpPr>
          <p:nvPr/>
        </p:nvSpPr>
        <p:spPr bwMode="auto">
          <a:xfrm>
            <a:off x="533400" y="1812925"/>
            <a:ext cx="526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例如：对于下列有向图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40323" name="Oval 3"/>
          <p:cNvSpPr>
            <a:spLocks noChangeArrowheads="1"/>
          </p:cNvSpPr>
          <p:nvPr/>
        </p:nvSpPr>
        <p:spPr bwMode="auto">
          <a:xfrm>
            <a:off x="2667000" y="2908300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B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0324" name="Oval 4"/>
          <p:cNvSpPr>
            <a:spLocks noChangeArrowheads="1"/>
          </p:cNvSpPr>
          <p:nvPr/>
        </p:nvSpPr>
        <p:spPr bwMode="auto">
          <a:xfrm>
            <a:off x="3962400" y="3505200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D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0325" name="Oval 5"/>
          <p:cNvSpPr>
            <a:spLocks noChangeArrowheads="1"/>
          </p:cNvSpPr>
          <p:nvPr/>
        </p:nvSpPr>
        <p:spPr bwMode="auto">
          <a:xfrm>
            <a:off x="1371600" y="3505200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A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0326" name="Oval 6"/>
          <p:cNvSpPr>
            <a:spLocks noChangeArrowheads="1"/>
          </p:cNvSpPr>
          <p:nvPr/>
        </p:nvSpPr>
        <p:spPr bwMode="auto">
          <a:xfrm>
            <a:off x="2667000" y="4038600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rgbClr val="000099"/>
                </a:solidFill>
                <a:latin typeface="Times New Roman" charset="0"/>
              </a:rPr>
              <a:t>C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0327" name="Line 7"/>
          <p:cNvSpPr>
            <a:spLocks noChangeShapeType="1"/>
          </p:cNvSpPr>
          <p:nvPr/>
        </p:nvSpPr>
        <p:spPr bwMode="auto">
          <a:xfrm flipV="1">
            <a:off x="1828800" y="3124200"/>
            <a:ext cx="838200" cy="4572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28" name="Line 8"/>
          <p:cNvSpPr>
            <a:spLocks noChangeShapeType="1"/>
          </p:cNvSpPr>
          <p:nvPr/>
        </p:nvSpPr>
        <p:spPr bwMode="auto">
          <a:xfrm>
            <a:off x="1752600" y="3886200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29" name="Line 9"/>
          <p:cNvSpPr>
            <a:spLocks noChangeShapeType="1"/>
          </p:cNvSpPr>
          <p:nvPr/>
        </p:nvSpPr>
        <p:spPr bwMode="auto">
          <a:xfrm>
            <a:off x="3124200" y="3200400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30" name="Line 10"/>
          <p:cNvSpPr>
            <a:spLocks noChangeShapeType="1"/>
          </p:cNvSpPr>
          <p:nvPr/>
        </p:nvSpPr>
        <p:spPr bwMode="auto">
          <a:xfrm flipV="1">
            <a:off x="3124200" y="3886200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31" name="Text Box 11"/>
          <p:cNvSpPr txBox="1">
            <a:spLocks noChangeArrowheads="1"/>
          </p:cNvSpPr>
          <p:nvPr/>
        </p:nvSpPr>
        <p:spPr bwMode="auto">
          <a:xfrm>
            <a:off x="381000" y="4648200"/>
            <a:ext cx="8229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可求得</a:t>
            </a:r>
            <a:r>
              <a:rPr kumimoji="1" lang="zh-CN" altLang="en-US" sz="40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拓扑有序序列</a:t>
            </a:r>
            <a:r>
              <a:rPr kumimoji="1" lang="zh-CN" altLang="en-US" sz="4000">
                <a:latin typeface="Times New Roman" charset="0"/>
              </a:rPr>
              <a:t>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4000">
                <a:latin typeface="Times New Roman" charset="0"/>
              </a:rPr>
              <a:t>        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A B C D</a:t>
            </a:r>
            <a:r>
              <a:rPr kumimoji="1" lang="en-US" altLang="zh-CN" sz="4000">
                <a:latin typeface="Times New Roman" charset="0"/>
              </a:rPr>
              <a:t>   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</a:rPr>
              <a:t>或</a:t>
            </a:r>
            <a:r>
              <a:rPr kumimoji="1" lang="zh-CN" altLang="en-US" sz="4000">
                <a:latin typeface="Times New Roman" charset="0"/>
              </a:rPr>
              <a:t>    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</a:rPr>
              <a:t>A C B D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0332" name="Text Box 12"/>
          <p:cNvSpPr txBox="1">
            <a:spLocks noChangeArrowheads="1"/>
          </p:cNvSpPr>
          <p:nvPr/>
        </p:nvSpPr>
        <p:spPr bwMode="auto">
          <a:xfrm>
            <a:off x="228600" y="228600"/>
            <a:ext cx="89154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800">
                <a:solidFill>
                  <a:srgbClr val="000099"/>
                </a:solidFill>
                <a:latin typeface="Times New Roman" charset="0"/>
                <a:ea typeface="隶书" charset="0"/>
              </a:rPr>
              <a:t>由此所得顶点的线性序列称之为</a:t>
            </a:r>
            <a:r>
              <a:rPr kumimoji="1" lang="zh-CN" altLang="en-US" sz="4800">
                <a:solidFill>
                  <a:srgbClr val="800000"/>
                </a:solidFill>
                <a:latin typeface="Times New Roman" charset="0"/>
                <a:ea typeface="隶书" charset="0"/>
              </a:rPr>
              <a:t>拓扑有序序列</a:t>
            </a:r>
            <a:endParaRPr kumimoji="1" lang="zh-CN" altLang="en-US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19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2" grpId="0" autoUpdateAnimBg="0"/>
      <p:bldP spid="440323" grpId="0" animBg="1" autoUpdateAnimBg="0"/>
      <p:bldP spid="440324" grpId="0" animBg="1" autoUpdateAnimBg="0"/>
      <p:bldP spid="440325" grpId="0" animBg="1" autoUpdateAnimBg="0"/>
      <p:bldP spid="440326" grpId="0" animBg="1" autoUpdateAnimBg="0"/>
      <p:bldP spid="440327" grpId="0" animBg="1"/>
      <p:bldP spid="440328" grpId="0" animBg="1"/>
      <p:bldP spid="440329" grpId="0" animBg="1"/>
      <p:bldP spid="440330" grpId="0" animBg="1"/>
      <p:bldP spid="440331" grpId="0" autoUpdateAnimBg="0"/>
      <p:bldP spid="440332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Oval 2"/>
          <p:cNvSpPr>
            <a:spLocks noChangeArrowheads="1"/>
          </p:cNvSpPr>
          <p:nvPr/>
        </p:nvSpPr>
        <p:spPr bwMode="auto">
          <a:xfrm>
            <a:off x="2819400" y="23463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B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41347" name="Oval 3"/>
          <p:cNvSpPr>
            <a:spLocks noChangeArrowheads="1"/>
          </p:cNvSpPr>
          <p:nvPr/>
        </p:nvSpPr>
        <p:spPr bwMode="auto">
          <a:xfrm>
            <a:off x="4114800" y="28797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D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41348" name="Oval 4"/>
          <p:cNvSpPr>
            <a:spLocks noChangeArrowheads="1"/>
          </p:cNvSpPr>
          <p:nvPr/>
        </p:nvSpPr>
        <p:spPr bwMode="auto">
          <a:xfrm>
            <a:off x="1524000" y="28797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A</a:t>
            </a:r>
          </a:p>
        </p:txBody>
      </p:sp>
      <p:sp>
        <p:nvSpPr>
          <p:cNvPr id="441349" name="Oval 5"/>
          <p:cNvSpPr>
            <a:spLocks noChangeArrowheads="1"/>
          </p:cNvSpPr>
          <p:nvPr/>
        </p:nvSpPr>
        <p:spPr bwMode="auto">
          <a:xfrm>
            <a:off x="2819400" y="34131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2400" b="1">
                <a:solidFill>
                  <a:srgbClr val="000099"/>
                </a:solidFill>
                <a:latin typeface="Times New Roman" charset="0"/>
              </a:rPr>
              <a:t>C</a:t>
            </a:r>
            <a:endParaRPr kumimoji="1" lang="en-US" altLang="zh-CN" sz="2400">
              <a:latin typeface="Times New Roman" charset="0"/>
            </a:endParaRPr>
          </a:p>
        </p:txBody>
      </p:sp>
      <p:sp>
        <p:nvSpPr>
          <p:cNvPr id="441350" name="Line 6"/>
          <p:cNvSpPr>
            <a:spLocks noChangeShapeType="1"/>
          </p:cNvSpPr>
          <p:nvPr/>
        </p:nvSpPr>
        <p:spPr bwMode="auto">
          <a:xfrm flipV="1">
            <a:off x="1981200" y="2651125"/>
            <a:ext cx="838200" cy="304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1" name="Line 7"/>
          <p:cNvSpPr>
            <a:spLocks noChangeShapeType="1"/>
          </p:cNvSpPr>
          <p:nvPr/>
        </p:nvSpPr>
        <p:spPr bwMode="auto">
          <a:xfrm>
            <a:off x="1905000" y="3260725"/>
            <a:ext cx="914400" cy="3810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2" name="Line 8"/>
          <p:cNvSpPr>
            <a:spLocks noChangeShapeType="1"/>
          </p:cNvSpPr>
          <p:nvPr/>
        </p:nvSpPr>
        <p:spPr bwMode="auto">
          <a:xfrm flipV="1">
            <a:off x="3276600" y="3260725"/>
            <a:ext cx="914400" cy="3810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3" name="Line 9"/>
          <p:cNvSpPr>
            <a:spLocks noChangeShapeType="1"/>
          </p:cNvSpPr>
          <p:nvPr/>
        </p:nvSpPr>
        <p:spPr bwMode="auto">
          <a:xfrm flipH="1" flipV="1">
            <a:off x="3276600" y="2574925"/>
            <a:ext cx="9144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4" name="Line 10"/>
          <p:cNvSpPr>
            <a:spLocks noChangeShapeType="1"/>
          </p:cNvSpPr>
          <p:nvPr/>
        </p:nvSpPr>
        <p:spPr bwMode="auto">
          <a:xfrm>
            <a:off x="3048000" y="2803525"/>
            <a:ext cx="0" cy="609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355" name="Text Box 11"/>
          <p:cNvSpPr txBox="1">
            <a:spLocks noChangeArrowheads="1"/>
          </p:cNvSpPr>
          <p:nvPr/>
        </p:nvSpPr>
        <p:spPr bwMode="auto">
          <a:xfrm>
            <a:off x="685800" y="1279525"/>
            <a:ext cx="526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反之，对于下列有向图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41356" name="Text Box 12"/>
          <p:cNvSpPr txBox="1">
            <a:spLocks noChangeArrowheads="1"/>
          </p:cNvSpPr>
          <p:nvPr/>
        </p:nvSpPr>
        <p:spPr bwMode="auto">
          <a:xfrm>
            <a:off x="762000" y="4251325"/>
            <a:ext cx="678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不能求得它的拓扑有序序列。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41357" name="Text Box 13"/>
          <p:cNvSpPr txBox="1">
            <a:spLocks noChangeArrowheads="1"/>
          </p:cNvSpPr>
          <p:nvPr/>
        </p:nvSpPr>
        <p:spPr bwMode="auto">
          <a:xfrm>
            <a:off x="609600" y="5318125"/>
            <a:ext cx="743108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CC0000"/>
                </a:solidFill>
                <a:latin typeface="Times New Roman" charset="0"/>
                <a:ea typeface="隶书" charset="0"/>
              </a:rPr>
              <a:t>因为图中存在一个回路</a:t>
            </a:r>
            <a:r>
              <a:rPr kumimoji="1" lang="zh-CN" altLang="en-US" sz="4000">
                <a:solidFill>
                  <a:srgbClr val="CC0000"/>
                </a:solidFill>
                <a:latin typeface="Times New Roman" charset="0"/>
              </a:rPr>
              <a:t> </a:t>
            </a:r>
            <a:r>
              <a:rPr kumimoji="1" lang="en-US" altLang="zh-CN" sz="4000">
                <a:solidFill>
                  <a:srgbClr val="CC0000"/>
                </a:solidFill>
                <a:latin typeface="Times New Roman" charset="0"/>
              </a:rPr>
              <a:t>{B, C, D}</a:t>
            </a:r>
            <a:endParaRPr kumimoji="1" lang="en-US" altLang="zh-CN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04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1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41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41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4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6" grpId="0" animBg="1" autoUpdateAnimBg="0"/>
      <p:bldP spid="441347" grpId="0" animBg="1" autoUpdateAnimBg="0"/>
      <p:bldP spid="441348" grpId="0" animBg="1" autoUpdateAnimBg="0"/>
      <p:bldP spid="441349" grpId="0" animBg="1" autoUpdateAnimBg="0"/>
      <p:bldP spid="441350" grpId="0" animBg="1"/>
      <p:bldP spid="441351" grpId="0" animBg="1"/>
      <p:bldP spid="441352" grpId="0" animBg="1"/>
      <p:bldP spid="441353" grpId="0" animBg="1"/>
      <p:bldP spid="441354" grpId="0" animBg="1"/>
      <p:bldP spid="441355" grpId="0" autoUpdateAnimBg="0"/>
      <p:bldP spid="441356" grpId="0" autoUpdateAnimBg="0"/>
      <p:bldP spid="441357" grpId="0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Text Box 2"/>
          <p:cNvSpPr txBox="1">
            <a:spLocks noChangeArrowheads="1"/>
          </p:cNvSpPr>
          <p:nvPr/>
        </p:nvSpPr>
        <p:spPr bwMode="auto">
          <a:xfrm>
            <a:off x="1906588" y="228600"/>
            <a:ext cx="52562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如何进行拓扑排序？</a:t>
            </a:r>
          </a:p>
        </p:txBody>
      </p:sp>
      <p:sp>
        <p:nvSpPr>
          <p:cNvPr id="442371" name="Text Box 3"/>
          <p:cNvSpPr txBox="1">
            <a:spLocks noChangeArrowheads="1"/>
          </p:cNvSpPr>
          <p:nvPr/>
        </p:nvSpPr>
        <p:spPr bwMode="auto">
          <a:xfrm>
            <a:off x="457200" y="1263650"/>
            <a:ext cx="8093075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一、从有向图中选取一个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没有前驱</a:t>
            </a:r>
            <a:endParaRPr kumimoji="1" lang="zh-CN" altLang="en-US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的顶点，并输出之；</a:t>
            </a:r>
          </a:p>
        </p:txBody>
      </p:sp>
      <p:sp>
        <p:nvSpPr>
          <p:cNvPr id="442372" name="Text Box 4"/>
          <p:cNvSpPr txBox="1">
            <a:spLocks noChangeArrowheads="1"/>
          </p:cNvSpPr>
          <p:nvPr/>
        </p:nvSpPr>
        <p:spPr bwMode="auto">
          <a:xfrm>
            <a:off x="304800" y="4692650"/>
            <a:ext cx="853440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重复上述两步，直至图空，或者图不空但找不到无前驱的顶点为止</a:t>
            </a:r>
            <a:r>
              <a:rPr kumimoji="1" lang="zh-CN" altLang="en-US" sz="4000"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42373" name="Text Box 5"/>
          <p:cNvSpPr txBox="1">
            <a:spLocks noChangeArrowheads="1"/>
          </p:cNvSpPr>
          <p:nvPr/>
        </p:nvSpPr>
        <p:spPr bwMode="auto">
          <a:xfrm>
            <a:off x="609600" y="3016250"/>
            <a:ext cx="78422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二、从有向图中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删去此顶点以及所</a:t>
            </a:r>
            <a:endParaRPr kumimoji="1" lang="zh-CN" altLang="en-US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有以它为尾的弧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  <a:endParaRPr kumimoji="1" lang="zh-CN" altLang="en-US" sz="40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2410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4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0" grpId="0" autoUpdateAnimBg="0"/>
      <p:bldP spid="442371" grpId="0" autoUpdateAnimBg="0"/>
      <p:bldP spid="442372" grpId="0" autoUpdateAnimBg="0"/>
      <p:bldP spid="442373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Oval 2"/>
          <p:cNvSpPr>
            <a:spLocks noChangeArrowheads="1"/>
          </p:cNvSpPr>
          <p:nvPr/>
        </p:nvSpPr>
        <p:spPr bwMode="auto">
          <a:xfrm>
            <a:off x="1447800" y="7620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a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395" name="Oval 3"/>
          <p:cNvSpPr>
            <a:spLocks noChangeArrowheads="1"/>
          </p:cNvSpPr>
          <p:nvPr/>
        </p:nvSpPr>
        <p:spPr bwMode="auto">
          <a:xfrm>
            <a:off x="1447800" y="21336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b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396" name="Oval 4"/>
          <p:cNvSpPr>
            <a:spLocks noChangeArrowheads="1"/>
          </p:cNvSpPr>
          <p:nvPr/>
        </p:nvSpPr>
        <p:spPr bwMode="auto">
          <a:xfrm>
            <a:off x="3048000" y="2286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c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397" name="Oval 5"/>
          <p:cNvSpPr>
            <a:spLocks noChangeArrowheads="1"/>
          </p:cNvSpPr>
          <p:nvPr/>
        </p:nvSpPr>
        <p:spPr bwMode="auto">
          <a:xfrm>
            <a:off x="3048000" y="14478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g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398" name="Oval 6"/>
          <p:cNvSpPr>
            <a:spLocks noChangeArrowheads="1"/>
          </p:cNvSpPr>
          <p:nvPr/>
        </p:nvSpPr>
        <p:spPr bwMode="auto">
          <a:xfrm>
            <a:off x="3048000" y="26670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h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399" name="Oval 7"/>
          <p:cNvSpPr>
            <a:spLocks noChangeArrowheads="1"/>
          </p:cNvSpPr>
          <p:nvPr/>
        </p:nvSpPr>
        <p:spPr bwMode="auto">
          <a:xfrm>
            <a:off x="4572000" y="7620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d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400" name="Oval 8"/>
          <p:cNvSpPr>
            <a:spLocks noChangeArrowheads="1"/>
          </p:cNvSpPr>
          <p:nvPr/>
        </p:nvSpPr>
        <p:spPr bwMode="auto">
          <a:xfrm>
            <a:off x="4572000" y="21336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f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401" name="Oval 9"/>
          <p:cNvSpPr>
            <a:spLocks noChangeArrowheads="1"/>
          </p:cNvSpPr>
          <p:nvPr/>
        </p:nvSpPr>
        <p:spPr bwMode="auto">
          <a:xfrm>
            <a:off x="6096000" y="1447800"/>
            <a:ext cx="609600" cy="533400"/>
          </a:xfrm>
          <a:prstGeom prst="ellipse">
            <a:avLst/>
          </a:prstGeom>
          <a:solidFill>
            <a:srgbClr val="CC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 b="1">
                <a:solidFill>
                  <a:schemeClr val="tx2"/>
                </a:solidFill>
                <a:latin typeface="Times New Roman" charset="0"/>
              </a:rPr>
              <a:t>e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43402" name="Line 10"/>
          <p:cNvSpPr>
            <a:spLocks noChangeShapeType="1"/>
          </p:cNvSpPr>
          <p:nvPr/>
        </p:nvSpPr>
        <p:spPr bwMode="auto">
          <a:xfrm flipV="1">
            <a:off x="2057400" y="533400"/>
            <a:ext cx="990600" cy="3810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3" name="Line 11"/>
          <p:cNvSpPr>
            <a:spLocks noChangeShapeType="1"/>
          </p:cNvSpPr>
          <p:nvPr/>
        </p:nvSpPr>
        <p:spPr bwMode="auto">
          <a:xfrm>
            <a:off x="2057400" y="1143000"/>
            <a:ext cx="990600" cy="3810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4" name="Line 12"/>
          <p:cNvSpPr>
            <a:spLocks noChangeShapeType="1"/>
          </p:cNvSpPr>
          <p:nvPr/>
        </p:nvSpPr>
        <p:spPr bwMode="auto">
          <a:xfrm flipV="1">
            <a:off x="2057400" y="1828800"/>
            <a:ext cx="1066800" cy="4572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5" name="Line 13"/>
          <p:cNvSpPr>
            <a:spLocks noChangeShapeType="1"/>
          </p:cNvSpPr>
          <p:nvPr/>
        </p:nvSpPr>
        <p:spPr bwMode="auto">
          <a:xfrm>
            <a:off x="2057400" y="2514600"/>
            <a:ext cx="990600" cy="3810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6" name="Line 14"/>
          <p:cNvSpPr>
            <a:spLocks noChangeShapeType="1"/>
          </p:cNvSpPr>
          <p:nvPr/>
        </p:nvSpPr>
        <p:spPr bwMode="auto">
          <a:xfrm>
            <a:off x="3657600" y="457200"/>
            <a:ext cx="990600" cy="3810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7" name="Line 15"/>
          <p:cNvSpPr>
            <a:spLocks noChangeShapeType="1"/>
          </p:cNvSpPr>
          <p:nvPr/>
        </p:nvSpPr>
        <p:spPr bwMode="auto">
          <a:xfrm flipH="1">
            <a:off x="3657600" y="1143000"/>
            <a:ext cx="914400" cy="4572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8" name="Line 16"/>
          <p:cNvSpPr>
            <a:spLocks noChangeShapeType="1"/>
          </p:cNvSpPr>
          <p:nvPr/>
        </p:nvSpPr>
        <p:spPr bwMode="auto">
          <a:xfrm>
            <a:off x="3657600" y="1828800"/>
            <a:ext cx="990600" cy="4572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09" name="Line 17"/>
          <p:cNvSpPr>
            <a:spLocks noChangeShapeType="1"/>
          </p:cNvSpPr>
          <p:nvPr/>
        </p:nvSpPr>
        <p:spPr bwMode="auto">
          <a:xfrm flipV="1">
            <a:off x="3657600" y="2590800"/>
            <a:ext cx="990600" cy="3048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10" name="Line 18"/>
          <p:cNvSpPr>
            <a:spLocks noChangeShapeType="1"/>
          </p:cNvSpPr>
          <p:nvPr/>
        </p:nvSpPr>
        <p:spPr bwMode="auto">
          <a:xfrm>
            <a:off x="5181600" y="990600"/>
            <a:ext cx="914400" cy="5334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11" name="Line 19"/>
          <p:cNvSpPr>
            <a:spLocks noChangeShapeType="1"/>
          </p:cNvSpPr>
          <p:nvPr/>
        </p:nvSpPr>
        <p:spPr bwMode="auto">
          <a:xfrm flipV="1">
            <a:off x="5181600" y="1828800"/>
            <a:ext cx="914400" cy="533400"/>
          </a:xfrm>
          <a:prstGeom prst="line">
            <a:avLst/>
          </a:prstGeom>
          <a:noFill/>
          <a:ln w="19050" cap="sq">
            <a:solidFill>
              <a:srgbClr val="008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3412" name="Text Box 20"/>
          <p:cNvSpPr txBox="1">
            <a:spLocks noChangeArrowheads="1"/>
          </p:cNvSpPr>
          <p:nvPr/>
        </p:nvSpPr>
        <p:spPr bwMode="auto">
          <a:xfrm>
            <a:off x="974725" y="3413125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a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3" name="Text Box 21"/>
          <p:cNvSpPr txBox="1">
            <a:spLocks noChangeArrowheads="1"/>
          </p:cNvSpPr>
          <p:nvPr/>
        </p:nvSpPr>
        <p:spPr bwMode="auto">
          <a:xfrm>
            <a:off x="1752600" y="3413125"/>
            <a:ext cx="466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b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4" name="Text Box 22"/>
          <p:cNvSpPr txBox="1">
            <a:spLocks noChangeArrowheads="1"/>
          </p:cNvSpPr>
          <p:nvPr/>
        </p:nvSpPr>
        <p:spPr bwMode="auto">
          <a:xfrm>
            <a:off x="2533650" y="3413125"/>
            <a:ext cx="466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h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5" name="Text Box 23"/>
          <p:cNvSpPr txBox="1">
            <a:spLocks noChangeArrowheads="1"/>
          </p:cNvSpPr>
          <p:nvPr/>
        </p:nvSpPr>
        <p:spPr bwMode="auto">
          <a:xfrm>
            <a:off x="3276600" y="3413125"/>
            <a:ext cx="409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c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6" name="Text Box 24"/>
          <p:cNvSpPr txBox="1">
            <a:spLocks noChangeArrowheads="1"/>
          </p:cNvSpPr>
          <p:nvPr/>
        </p:nvSpPr>
        <p:spPr bwMode="auto">
          <a:xfrm>
            <a:off x="3962400" y="3413125"/>
            <a:ext cx="466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d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7" name="Text Box 25"/>
          <p:cNvSpPr txBox="1">
            <a:spLocks noChangeArrowheads="1"/>
          </p:cNvSpPr>
          <p:nvPr/>
        </p:nvSpPr>
        <p:spPr bwMode="auto">
          <a:xfrm>
            <a:off x="4743450" y="3413125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g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8" name="Text Box 26"/>
          <p:cNvSpPr txBox="1">
            <a:spLocks noChangeArrowheads="1"/>
          </p:cNvSpPr>
          <p:nvPr/>
        </p:nvSpPr>
        <p:spPr bwMode="auto">
          <a:xfrm>
            <a:off x="5486400" y="3413125"/>
            <a:ext cx="3540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f</a:t>
            </a:r>
            <a:endParaRPr kumimoji="1" lang="en-US" altLang="zh-CN" sz="4000">
              <a:latin typeface="Times New Roman" charset="0"/>
            </a:endParaRPr>
          </a:p>
        </p:txBody>
      </p:sp>
      <p:sp>
        <p:nvSpPr>
          <p:cNvPr id="443419" name="Text Box 27"/>
          <p:cNvSpPr txBox="1">
            <a:spLocks noChangeArrowheads="1"/>
          </p:cNvSpPr>
          <p:nvPr/>
        </p:nvSpPr>
        <p:spPr bwMode="auto">
          <a:xfrm>
            <a:off x="6172200" y="3413125"/>
            <a:ext cx="4095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CC0000"/>
                </a:solidFill>
                <a:latin typeface="Times New Roman" charset="0"/>
              </a:rPr>
              <a:t>e</a:t>
            </a:r>
            <a:endParaRPr kumimoji="1" lang="en-US" altLang="zh-CN" sz="4000">
              <a:latin typeface="Times New Roman" charset="0"/>
            </a:endParaRPr>
          </a:p>
        </p:txBody>
      </p:sp>
      <p:sp useBgFill="1">
        <p:nvSpPr>
          <p:cNvPr id="443420" name="Rectangle 28"/>
          <p:cNvSpPr>
            <a:spLocks noChangeArrowheads="1"/>
          </p:cNvSpPr>
          <p:nvPr/>
        </p:nvSpPr>
        <p:spPr bwMode="auto">
          <a:xfrm>
            <a:off x="1371600" y="685800"/>
            <a:ext cx="7620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1" name="Rectangle 29"/>
          <p:cNvSpPr>
            <a:spLocks noChangeArrowheads="1"/>
          </p:cNvSpPr>
          <p:nvPr/>
        </p:nvSpPr>
        <p:spPr bwMode="auto">
          <a:xfrm>
            <a:off x="2133600" y="457200"/>
            <a:ext cx="9144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2" name="Rectangle 30"/>
          <p:cNvSpPr>
            <a:spLocks noChangeArrowheads="1"/>
          </p:cNvSpPr>
          <p:nvPr/>
        </p:nvSpPr>
        <p:spPr bwMode="auto">
          <a:xfrm>
            <a:off x="2133600" y="1143000"/>
            <a:ext cx="9144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3" name="Rectangle 31"/>
          <p:cNvSpPr>
            <a:spLocks noChangeArrowheads="1"/>
          </p:cNvSpPr>
          <p:nvPr/>
        </p:nvSpPr>
        <p:spPr bwMode="auto">
          <a:xfrm>
            <a:off x="1371600" y="2057400"/>
            <a:ext cx="7620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4" name="Rectangle 32"/>
          <p:cNvSpPr>
            <a:spLocks noChangeArrowheads="1"/>
          </p:cNvSpPr>
          <p:nvPr/>
        </p:nvSpPr>
        <p:spPr bwMode="auto">
          <a:xfrm>
            <a:off x="2133600" y="1828800"/>
            <a:ext cx="990600" cy="533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5" name="Rectangle 33"/>
          <p:cNvSpPr>
            <a:spLocks noChangeArrowheads="1"/>
          </p:cNvSpPr>
          <p:nvPr/>
        </p:nvSpPr>
        <p:spPr bwMode="auto">
          <a:xfrm>
            <a:off x="2133600" y="2514600"/>
            <a:ext cx="914400" cy="4572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6" name="Rectangle 34"/>
          <p:cNvSpPr>
            <a:spLocks noChangeArrowheads="1"/>
          </p:cNvSpPr>
          <p:nvPr/>
        </p:nvSpPr>
        <p:spPr bwMode="auto">
          <a:xfrm>
            <a:off x="2971800" y="2590800"/>
            <a:ext cx="7620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7" name="Rectangle 35"/>
          <p:cNvSpPr>
            <a:spLocks noChangeArrowheads="1"/>
          </p:cNvSpPr>
          <p:nvPr/>
        </p:nvSpPr>
        <p:spPr bwMode="auto">
          <a:xfrm>
            <a:off x="3657600" y="2514600"/>
            <a:ext cx="990600" cy="381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8" name="Rectangle 36"/>
          <p:cNvSpPr>
            <a:spLocks noChangeArrowheads="1"/>
          </p:cNvSpPr>
          <p:nvPr/>
        </p:nvSpPr>
        <p:spPr bwMode="auto">
          <a:xfrm>
            <a:off x="2971800" y="228600"/>
            <a:ext cx="762000" cy="609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29" name="Rectangle 37"/>
          <p:cNvSpPr>
            <a:spLocks noChangeArrowheads="1"/>
          </p:cNvSpPr>
          <p:nvPr/>
        </p:nvSpPr>
        <p:spPr bwMode="auto">
          <a:xfrm>
            <a:off x="3733800" y="381000"/>
            <a:ext cx="914400" cy="533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0" name="Rectangle 38"/>
          <p:cNvSpPr>
            <a:spLocks noChangeArrowheads="1"/>
          </p:cNvSpPr>
          <p:nvPr/>
        </p:nvSpPr>
        <p:spPr bwMode="auto">
          <a:xfrm>
            <a:off x="4495800" y="609600"/>
            <a:ext cx="762000" cy="762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1" name="Rectangle 39"/>
          <p:cNvSpPr>
            <a:spLocks noChangeArrowheads="1"/>
          </p:cNvSpPr>
          <p:nvPr/>
        </p:nvSpPr>
        <p:spPr bwMode="auto">
          <a:xfrm>
            <a:off x="3657600" y="990600"/>
            <a:ext cx="914400" cy="6096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2" name="Rectangle 40"/>
          <p:cNvSpPr>
            <a:spLocks noChangeArrowheads="1"/>
          </p:cNvSpPr>
          <p:nvPr/>
        </p:nvSpPr>
        <p:spPr bwMode="auto">
          <a:xfrm>
            <a:off x="5181600" y="914400"/>
            <a:ext cx="9144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3" name="Rectangle 41"/>
          <p:cNvSpPr>
            <a:spLocks noChangeArrowheads="1"/>
          </p:cNvSpPr>
          <p:nvPr/>
        </p:nvSpPr>
        <p:spPr bwMode="auto">
          <a:xfrm>
            <a:off x="2971800" y="1371600"/>
            <a:ext cx="7620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4" name="Rectangle 42"/>
          <p:cNvSpPr>
            <a:spLocks noChangeArrowheads="1"/>
          </p:cNvSpPr>
          <p:nvPr/>
        </p:nvSpPr>
        <p:spPr bwMode="auto">
          <a:xfrm>
            <a:off x="3733800" y="1752600"/>
            <a:ext cx="838200" cy="5334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5" name="Rectangle 43"/>
          <p:cNvSpPr>
            <a:spLocks noChangeArrowheads="1"/>
          </p:cNvSpPr>
          <p:nvPr/>
        </p:nvSpPr>
        <p:spPr bwMode="auto">
          <a:xfrm>
            <a:off x="4495800" y="2057400"/>
            <a:ext cx="6858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6" name="Rectangle 44"/>
          <p:cNvSpPr>
            <a:spLocks noChangeArrowheads="1"/>
          </p:cNvSpPr>
          <p:nvPr/>
        </p:nvSpPr>
        <p:spPr bwMode="auto">
          <a:xfrm>
            <a:off x="5105400" y="1828800"/>
            <a:ext cx="990600" cy="6858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443437" name="Rectangle 45"/>
          <p:cNvSpPr>
            <a:spLocks noChangeArrowheads="1"/>
          </p:cNvSpPr>
          <p:nvPr/>
        </p:nvSpPr>
        <p:spPr bwMode="auto">
          <a:xfrm>
            <a:off x="5943600" y="1295400"/>
            <a:ext cx="914400" cy="76200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43438" name="Text Box 46"/>
          <p:cNvSpPr txBox="1">
            <a:spLocks noChangeArrowheads="1"/>
          </p:cNvSpPr>
          <p:nvPr/>
        </p:nvSpPr>
        <p:spPr bwMode="auto">
          <a:xfrm>
            <a:off x="152400" y="4267200"/>
            <a:ext cx="8931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在算法中需要用定量的描述替代定性的概念</a:t>
            </a:r>
            <a:endParaRPr kumimoji="1" lang="zh-CN" altLang="en-US" sz="3600">
              <a:latin typeface="Times New Roman" charset="0"/>
            </a:endParaRPr>
          </a:p>
        </p:txBody>
      </p:sp>
      <p:sp>
        <p:nvSpPr>
          <p:cNvPr id="443439" name="Text Box 47"/>
          <p:cNvSpPr txBox="1">
            <a:spLocks noChangeArrowheads="1"/>
          </p:cNvSpPr>
          <p:nvPr/>
        </p:nvSpPr>
        <p:spPr bwMode="auto">
          <a:xfrm>
            <a:off x="0" y="5181600"/>
            <a:ext cx="6873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没有前驱的顶点 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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入度为零的顶点</a:t>
            </a:r>
            <a:endParaRPr kumimoji="1" lang="zh-CN" altLang="en-US" sz="3200" b="1">
              <a:latin typeface="Times New Roman" charset="0"/>
              <a:ea typeface="楷体_GB2312" charset="0"/>
            </a:endParaRPr>
          </a:p>
        </p:txBody>
      </p:sp>
      <p:sp>
        <p:nvSpPr>
          <p:cNvPr id="443440" name="Text Box 48"/>
          <p:cNvSpPr txBox="1">
            <a:spLocks noChangeArrowheads="1"/>
          </p:cNvSpPr>
          <p:nvPr/>
        </p:nvSpPr>
        <p:spPr bwMode="auto">
          <a:xfrm>
            <a:off x="288925" y="5954713"/>
            <a:ext cx="8820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删除顶点及以它为尾的弧 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  <a:sym typeface="Symbol" charset="2"/>
              </a:rPr>
              <a:t></a:t>
            </a:r>
            <a:r>
              <a:rPr kumimoji="1" lang="zh-CN" altLang="en-US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 弧头顶点的入度减</a:t>
            </a:r>
            <a:r>
              <a:rPr kumimoji="1" lang="en-US" altLang="zh-CN" sz="32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62731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4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4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4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4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4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43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4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4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4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4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43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4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43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443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300"/>
                                        <p:tgtEl>
                                          <p:spTgt spid="44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300"/>
                                        <p:tgtEl>
                                          <p:spTgt spid="44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4" grpId="0" animBg="1" autoUpdateAnimBg="0"/>
      <p:bldP spid="443395" grpId="0" animBg="1" autoUpdateAnimBg="0"/>
      <p:bldP spid="443396" grpId="0" animBg="1" autoUpdateAnimBg="0"/>
      <p:bldP spid="443397" grpId="0" animBg="1" autoUpdateAnimBg="0"/>
      <p:bldP spid="443398" grpId="0" animBg="1" autoUpdateAnimBg="0"/>
      <p:bldP spid="443399" grpId="0" animBg="1" autoUpdateAnimBg="0"/>
      <p:bldP spid="443400" grpId="0" animBg="1" autoUpdateAnimBg="0"/>
      <p:bldP spid="443401" grpId="0" animBg="1" autoUpdateAnimBg="0"/>
      <p:bldP spid="443402" grpId="0" animBg="1"/>
      <p:bldP spid="443403" grpId="0" animBg="1"/>
      <p:bldP spid="443404" grpId="0" animBg="1"/>
      <p:bldP spid="443405" grpId="0" animBg="1"/>
      <p:bldP spid="443406" grpId="0" animBg="1"/>
      <p:bldP spid="443407" grpId="0" animBg="1"/>
      <p:bldP spid="443408" grpId="0" animBg="1"/>
      <p:bldP spid="443409" grpId="0" animBg="1"/>
      <p:bldP spid="443410" grpId="0" animBg="1"/>
      <p:bldP spid="443411" grpId="0" animBg="1"/>
      <p:bldP spid="443412" grpId="0" autoUpdateAnimBg="0"/>
      <p:bldP spid="443413" grpId="0" autoUpdateAnimBg="0"/>
      <p:bldP spid="443414" grpId="0" autoUpdateAnimBg="0"/>
      <p:bldP spid="443415" grpId="0" autoUpdateAnimBg="0"/>
      <p:bldP spid="443416" grpId="0" autoUpdateAnimBg="0"/>
      <p:bldP spid="443417" grpId="0" autoUpdateAnimBg="0"/>
      <p:bldP spid="443418" grpId="0" autoUpdateAnimBg="0"/>
      <p:bldP spid="443419" grpId="0" autoUpdateAnimBg="0"/>
      <p:bldP spid="443420" grpId="0" animBg="1"/>
      <p:bldP spid="443421" grpId="0" animBg="1"/>
      <p:bldP spid="443422" grpId="0" animBg="1"/>
      <p:bldP spid="443423" grpId="0" animBg="1"/>
      <p:bldP spid="443424" grpId="0" animBg="1"/>
      <p:bldP spid="443425" grpId="0" animBg="1"/>
      <p:bldP spid="443426" grpId="0" animBg="1"/>
      <p:bldP spid="443427" grpId="0" animBg="1"/>
      <p:bldP spid="443428" grpId="0" animBg="1"/>
      <p:bldP spid="443429" grpId="0" animBg="1"/>
      <p:bldP spid="443430" grpId="0" animBg="1"/>
      <p:bldP spid="443431" grpId="0" animBg="1"/>
      <p:bldP spid="443432" grpId="0" animBg="1"/>
      <p:bldP spid="443433" grpId="0" animBg="1"/>
      <p:bldP spid="443434" grpId="0" animBg="1"/>
      <p:bldP spid="443435" grpId="0" animBg="1"/>
      <p:bldP spid="443436" grpId="0" animBg="1"/>
      <p:bldP spid="443437" grpId="0" animBg="1"/>
      <p:bldP spid="443438" grpId="0" autoUpdateAnimBg="0"/>
      <p:bldP spid="443439" grpId="0" autoUpdateAnimBg="0"/>
      <p:bldP spid="443440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Text Box 2"/>
          <p:cNvSpPr txBox="1">
            <a:spLocks noChangeArrowheads="1"/>
          </p:cNvSpPr>
          <p:nvPr/>
        </p:nvSpPr>
        <p:spPr bwMode="auto">
          <a:xfrm>
            <a:off x="1743075" y="76200"/>
            <a:ext cx="6140450" cy="674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取入度为零的顶点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while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(v&lt;&gt;0)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{</a:t>
            </a:r>
            <a:endParaRPr kumimoji="1" lang="en-US" altLang="zh-CN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(v);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++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m;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w:=FirstAdj(v);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while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(w&lt;&gt;0)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{</a:t>
            </a:r>
            <a:endParaRPr kumimoji="1" lang="en-US" altLang="zh-CN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inDegree[w]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--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w:=nextAdj(v,w);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取下一个入度为零的顶点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m&lt;n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(“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图中有回路”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);</a:t>
            </a:r>
          </a:p>
        </p:txBody>
      </p:sp>
      <p:sp>
        <p:nvSpPr>
          <p:cNvPr id="444419" name="Text Box 3"/>
          <p:cNvSpPr txBox="1">
            <a:spLocks noChangeArrowheads="1"/>
          </p:cNvSpPr>
          <p:nvPr/>
        </p:nvSpPr>
        <p:spPr bwMode="auto">
          <a:xfrm>
            <a:off x="279400" y="228600"/>
            <a:ext cx="79375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算法描述</a:t>
            </a:r>
            <a:endParaRPr kumimoji="1" lang="zh-CN" altLang="en-US" sz="6400">
              <a:solidFill>
                <a:srgbClr val="6600CC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7367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4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8" grpId="0" autoUpdateAnimBg="0"/>
      <p:bldP spid="444419" grpId="0" autoUpdateAnimBg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2"/>
          <p:cNvSpPr txBox="1">
            <a:spLocks noChangeArrowheads="1"/>
          </p:cNvSpPr>
          <p:nvPr/>
        </p:nvSpPr>
        <p:spPr bwMode="auto">
          <a:xfrm>
            <a:off x="323850" y="228600"/>
            <a:ext cx="8820150" cy="206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为避免每次都要搜索入度为零的顶点，在算法中设置一个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“栈”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，以保存“入度为零”的顶点。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</a:endParaRPr>
          </a:p>
        </p:txBody>
      </p:sp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609600" y="2351088"/>
            <a:ext cx="5543550" cy="421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CountInDegree(G,indegree);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//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对各顶点求入度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InitStack(S);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for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</a:rPr>
              <a:t> ( i=0; i&lt;G.vexnum; ++i)</a:t>
            </a: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</a:rPr>
              <a:t> 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if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(!indegree[i])  Push(S, i);</a:t>
            </a:r>
            <a:endParaRPr kumimoji="1" lang="en-US" altLang="zh-CN" sz="3600">
              <a:solidFill>
                <a:srgbClr val="0000FF"/>
              </a:solidFill>
              <a:latin typeface="Times New Roman" charset="0"/>
            </a:endParaRPr>
          </a:p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</a:rPr>
              <a:t>       //</a:t>
            </a:r>
            <a:r>
              <a:rPr kumimoji="1" lang="zh-CN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入度为零的顶点入栈</a:t>
            </a:r>
            <a:endParaRPr kumimoji="1" lang="zh-CN" altLang="en-US" sz="3600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822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Text Box 2"/>
          <p:cNvSpPr txBox="1">
            <a:spLocks noChangeArrowheads="1"/>
          </p:cNvSpPr>
          <p:nvPr/>
        </p:nvSpPr>
        <p:spPr bwMode="auto">
          <a:xfrm>
            <a:off x="136525" y="76200"/>
            <a:ext cx="9007475" cy="668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</a:rPr>
              <a:t>count=0;           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对输出顶点计数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while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(!EmptyStack(S)) 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Pop(S, v);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++count;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(v);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 u="sng">
                <a:solidFill>
                  <a:srgbClr val="000099"/>
                </a:solidFill>
                <a:latin typeface="Times New Roman" charset="0"/>
                <a:ea typeface="楷体_GB2312" charset="0"/>
              </a:rPr>
              <a:t>for</a:t>
            </a:r>
            <a:r>
              <a:rPr kumimoji="1" lang="en-US" altLang="zh-CN" sz="3600" u="sng">
                <a:solidFill>
                  <a:srgbClr val="000099"/>
                </a:solidFill>
                <a:latin typeface="Times New Roman" charset="0"/>
                <a:ea typeface="楷体_GB2312" charset="0"/>
              </a:rPr>
              <a:t> (w=FirstAdj(v); w;  w=NextAdj(G,v,w)){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--indegree(w);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// </a:t>
            </a:r>
            <a:r>
              <a:rPr kumimoji="1" lang="zh-CN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弧头顶点的入度减一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</a:rPr>
              <a:t>if</a:t>
            </a:r>
            <a:r>
              <a:rPr kumimoji="1" lang="en-US" altLang="zh-CN" sz="3600">
                <a:solidFill>
                  <a:srgbClr val="800000"/>
                </a:solidFill>
                <a:latin typeface="Times New Roman" charset="0"/>
              </a:rPr>
              <a:t> (!indegree[w])  Push(S, w);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//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新产生的入度为零的顶点入栈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if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(count&lt;G.vexnum)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printf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(“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图中有回路”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</a:p>
        </p:txBody>
      </p:sp>
      <p:sp>
        <p:nvSpPr>
          <p:cNvPr id="446467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077200" y="51816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77388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4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6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6" grpId="0" autoUpdateAnimBg="0"/>
      <p:bldP spid="446467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5588" y="2605088"/>
            <a:ext cx="7008812" cy="41767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4000">
                <a:solidFill>
                  <a:srgbClr val="800000"/>
                </a:solidFill>
                <a:ea typeface="楷体_GB2312" charset="0"/>
              </a:rPr>
              <a:t> </a:t>
            </a: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ptr=G-&gt;adjlist[V].firstedge;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while (ptr!=null)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{ w=ptr-&gt;adjvex;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    --indegree(w); 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   if (!indegree[w])  Push(S, w); 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  ptr=ptr-&gt;next;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800000"/>
                </a:solidFill>
                <a:latin typeface="Times New Roman" charset="0"/>
                <a:ea typeface="楷体_GB2312" charset="0"/>
              </a:rPr>
              <a:t>    }</a:t>
            </a: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1219200" y="414338"/>
            <a:ext cx="7772400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3200">
                <a:solidFill>
                  <a:srgbClr val="000099"/>
                </a:solidFill>
                <a:ea typeface="楷体_GB2312" charset="0"/>
              </a:rPr>
              <a:t>栈在这里的作用只是起到一个保存当前入度为零点的顶点，并使之处理有序。这种有序可以是后进先出，也可以是先进先出，故此也可用队列来辅助实现。</a:t>
            </a:r>
          </a:p>
        </p:txBody>
      </p:sp>
    </p:spTree>
    <p:extLst>
      <p:ext uri="{BB962C8B-B14F-4D97-AF65-F5344CB8AC3E}">
        <p14:creationId xmlns:p14="http://schemas.microsoft.com/office/powerpoint/2010/main" val="669136386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Text Box 2"/>
          <p:cNvSpPr txBox="1">
            <a:spLocks noChangeArrowheads="1"/>
          </p:cNvSpPr>
          <p:nvPr/>
        </p:nvSpPr>
        <p:spPr bwMode="auto">
          <a:xfrm>
            <a:off x="2484438" y="0"/>
            <a:ext cx="5113337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AOE</a:t>
            </a:r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网</a:t>
            </a:r>
            <a:endParaRPr kumimoji="1" lang="zh-CN" altLang="en-US" sz="50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48515" name="Text Box 3"/>
          <p:cNvSpPr txBox="1">
            <a:spLocks noChangeArrowheads="1"/>
          </p:cNvSpPr>
          <p:nvPr/>
        </p:nvSpPr>
        <p:spPr bwMode="auto">
          <a:xfrm>
            <a:off x="250825" y="1125538"/>
            <a:ext cx="8893175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若在带权的有向图中，以顶点表示事件，以有向边表示活动，边上的权值表示活动的开销（如该活动持续的时间），则此带权的有向图称为</a:t>
            </a: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AOE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网。</a:t>
            </a:r>
          </a:p>
        </p:txBody>
      </p:sp>
      <p:sp>
        <p:nvSpPr>
          <p:cNvPr id="448516" name="Text Box 4"/>
          <p:cNvSpPr txBox="1">
            <a:spLocks noChangeArrowheads="1"/>
          </p:cNvSpPr>
          <p:nvPr/>
        </p:nvSpPr>
        <p:spPr bwMode="auto">
          <a:xfrm>
            <a:off x="323850" y="3068638"/>
            <a:ext cx="8458200" cy="379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	AOE</a:t>
            </a: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网具有以下两个性质：</a:t>
            </a:r>
          </a:p>
          <a:p>
            <a:pPr eaLnBrk="1" hangingPunct="1">
              <a:lnSpc>
                <a:spcPct val="135000"/>
              </a:lnSpc>
            </a:pP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①只有在某顶点所代表的事件发生后，从该顶点出发的各有向边所代表的活动才能开始。</a:t>
            </a:r>
          </a:p>
          <a:p>
            <a:pPr eaLnBrk="1" hangingPunct="1">
              <a:lnSpc>
                <a:spcPct val="135000"/>
              </a:lnSpc>
            </a:pPr>
            <a:r>
              <a:rPr kumimoji="1" lang="zh-CN" altLang="en-US" sz="3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②只有在进入一某顶点的各有向边所代表的活动都已经结束，该顶点所代表的事件才能发生。。</a:t>
            </a:r>
          </a:p>
        </p:txBody>
      </p:sp>
    </p:spTree>
    <p:extLst>
      <p:ext uri="{BB962C8B-B14F-4D97-AF65-F5344CB8AC3E}">
        <p14:creationId xmlns:p14="http://schemas.microsoft.com/office/powerpoint/2010/main" val="13337569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4" grpId="0" autoUpdateAnimBg="0"/>
      <p:bldP spid="448515" grpId="0" autoUpdateAnimBg="0"/>
      <p:bldP spid="448516" grpId="0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Text Box 2"/>
          <p:cNvSpPr txBox="1">
            <a:spLocks noChangeArrowheads="1"/>
          </p:cNvSpPr>
          <p:nvPr/>
        </p:nvSpPr>
        <p:spPr bwMode="auto">
          <a:xfrm>
            <a:off x="1447800" y="0"/>
            <a:ext cx="51133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54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关键路径</a:t>
            </a:r>
            <a:endParaRPr kumimoji="1" lang="zh-CN" altLang="en-US" sz="5000" b="1">
              <a:solidFill>
                <a:srgbClr val="800000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49539" name="Text Box 3"/>
          <p:cNvSpPr txBox="1">
            <a:spLocks noChangeArrowheads="1"/>
          </p:cNvSpPr>
          <p:nvPr/>
        </p:nvSpPr>
        <p:spPr bwMode="auto">
          <a:xfrm>
            <a:off x="381000" y="1447800"/>
            <a:ext cx="14970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问题</a:t>
            </a:r>
            <a:r>
              <a:rPr kumimoji="1" lang="en-US" altLang="zh-CN" sz="44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:</a:t>
            </a:r>
          </a:p>
        </p:txBody>
      </p:sp>
      <p:sp>
        <p:nvSpPr>
          <p:cNvPr id="449540" name="Text Box 4"/>
          <p:cNvSpPr txBox="1">
            <a:spLocks noChangeArrowheads="1"/>
          </p:cNvSpPr>
          <p:nvPr/>
        </p:nvSpPr>
        <p:spPr bwMode="auto">
          <a:xfrm>
            <a:off x="381000" y="2220913"/>
            <a:ext cx="8458200" cy="379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600">
                <a:latin typeface="Times New Roman" charset="0"/>
                <a:ea typeface="楷体_GB2312" charset="0"/>
              </a:rPr>
              <a:t>   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假设以有向网表示一个施工流图，弧上的权值表示完成该项子工程所需时间。</a:t>
            </a:r>
          </a:p>
          <a:p>
            <a:pPr eaLnBrk="1" hangingPunct="1">
              <a:lnSpc>
                <a:spcPct val="13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问：哪些子工程项是“关键工程”？</a:t>
            </a:r>
          </a:p>
          <a:p>
            <a:pPr eaLnBrk="1" hangingPunct="1">
              <a:lnSpc>
                <a:spcPct val="13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即：哪些子工程项将影响整个工程的完成期限的。</a:t>
            </a:r>
          </a:p>
        </p:txBody>
      </p:sp>
    </p:spTree>
    <p:extLst>
      <p:ext uri="{BB962C8B-B14F-4D97-AF65-F5344CB8AC3E}">
        <p14:creationId xmlns:p14="http://schemas.microsoft.com/office/powerpoint/2010/main" val="8798658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9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4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 autoUpdateAnimBg="0"/>
      <p:bldP spid="449539" grpId="0" autoUpdateAnimBg="0"/>
      <p:bldP spid="449540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Oval 2"/>
          <p:cNvSpPr>
            <a:spLocks noChangeArrowheads="1"/>
          </p:cNvSpPr>
          <p:nvPr/>
        </p:nvSpPr>
        <p:spPr bwMode="auto">
          <a:xfrm>
            <a:off x="1752600" y="25908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3" name="Oval 3"/>
          <p:cNvSpPr>
            <a:spLocks noChangeArrowheads="1"/>
          </p:cNvSpPr>
          <p:nvPr/>
        </p:nvSpPr>
        <p:spPr bwMode="auto">
          <a:xfrm>
            <a:off x="3276600" y="17526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4" name="Oval 4"/>
          <p:cNvSpPr>
            <a:spLocks noChangeArrowheads="1"/>
          </p:cNvSpPr>
          <p:nvPr/>
        </p:nvSpPr>
        <p:spPr bwMode="auto">
          <a:xfrm>
            <a:off x="3276600" y="3581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5" name="Oval 5"/>
          <p:cNvSpPr>
            <a:spLocks noChangeArrowheads="1"/>
          </p:cNvSpPr>
          <p:nvPr/>
        </p:nvSpPr>
        <p:spPr bwMode="auto">
          <a:xfrm>
            <a:off x="2362200" y="44958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6" name="Oval 6"/>
          <p:cNvSpPr>
            <a:spLocks noChangeArrowheads="1"/>
          </p:cNvSpPr>
          <p:nvPr/>
        </p:nvSpPr>
        <p:spPr bwMode="auto">
          <a:xfrm>
            <a:off x="4800600" y="26670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7" name="Oval 7"/>
          <p:cNvSpPr>
            <a:spLocks noChangeArrowheads="1"/>
          </p:cNvSpPr>
          <p:nvPr/>
        </p:nvSpPr>
        <p:spPr bwMode="auto">
          <a:xfrm>
            <a:off x="5257800" y="44958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8" name="Oval 8"/>
          <p:cNvSpPr>
            <a:spLocks noChangeArrowheads="1"/>
          </p:cNvSpPr>
          <p:nvPr/>
        </p:nvSpPr>
        <p:spPr bwMode="auto">
          <a:xfrm>
            <a:off x="6324600" y="17526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69" name="Oval 9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70" name="Oval 10"/>
          <p:cNvSpPr>
            <a:spLocks noChangeArrowheads="1"/>
          </p:cNvSpPr>
          <p:nvPr/>
        </p:nvSpPr>
        <p:spPr bwMode="auto">
          <a:xfrm>
            <a:off x="7848600" y="26670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71" name="Line 11"/>
          <p:cNvSpPr>
            <a:spLocks noChangeShapeType="1"/>
          </p:cNvSpPr>
          <p:nvPr/>
        </p:nvSpPr>
        <p:spPr bwMode="auto">
          <a:xfrm flipV="1">
            <a:off x="2133600" y="19812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2" name="Line 12"/>
          <p:cNvSpPr>
            <a:spLocks noChangeShapeType="1"/>
          </p:cNvSpPr>
          <p:nvPr/>
        </p:nvSpPr>
        <p:spPr bwMode="auto">
          <a:xfrm>
            <a:off x="2209800" y="2819400"/>
            <a:ext cx="1066800" cy="8382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3" name="Line 13"/>
          <p:cNvSpPr>
            <a:spLocks noChangeShapeType="1"/>
          </p:cNvSpPr>
          <p:nvPr/>
        </p:nvSpPr>
        <p:spPr bwMode="auto">
          <a:xfrm flipV="1">
            <a:off x="3733800" y="29718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4" name="Line 14"/>
          <p:cNvSpPr>
            <a:spLocks noChangeShapeType="1"/>
          </p:cNvSpPr>
          <p:nvPr/>
        </p:nvSpPr>
        <p:spPr bwMode="auto">
          <a:xfrm>
            <a:off x="3733800" y="1981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5" name="Line 15"/>
          <p:cNvSpPr>
            <a:spLocks noChangeShapeType="1"/>
          </p:cNvSpPr>
          <p:nvPr/>
        </p:nvSpPr>
        <p:spPr bwMode="auto">
          <a:xfrm flipV="1">
            <a:off x="5181600" y="1981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6" name="Line 16"/>
          <p:cNvSpPr>
            <a:spLocks noChangeShapeType="1"/>
          </p:cNvSpPr>
          <p:nvPr/>
        </p:nvSpPr>
        <p:spPr bwMode="auto">
          <a:xfrm>
            <a:off x="6781800" y="1981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7" name="Line 17"/>
          <p:cNvSpPr>
            <a:spLocks noChangeShapeType="1"/>
          </p:cNvSpPr>
          <p:nvPr/>
        </p:nvSpPr>
        <p:spPr bwMode="auto">
          <a:xfrm flipV="1">
            <a:off x="6781800" y="30480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8" name="Line 18"/>
          <p:cNvSpPr>
            <a:spLocks noChangeShapeType="1"/>
          </p:cNvSpPr>
          <p:nvPr/>
        </p:nvSpPr>
        <p:spPr bwMode="auto">
          <a:xfrm>
            <a:off x="5257800" y="2971800"/>
            <a:ext cx="1066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79" name="Line 19"/>
          <p:cNvSpPr>
            <a:spLocks noChangeShapeType="1"/>
          </p:cNvSpPr>
          <p:nvPr/>
        </p:nvSpPr>
        <p:spPr bwMode="auto">
          <a:xfrm>
            <a:off x="1981200" y="3048000"/>
            <a:ext cx="609600" cy="1447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80" name="Line 20"/>
          <p:cNvSpPr>
            <a:spLocks noChangeShapeType="1"/>
          </p:cNvSpPr>
          <p:nvPr/>
        </p:nvSpPr>
        <p:spPr bwMode="auto">
          <a:xfrm>
            <a:off x="2819400" y="4724400"/>
            <a:ext cx="2438400" cy="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81" name="Line 21"/>
          <p:cNvSpPr>
            <a:spLocks noChangeShapeType="1"/>
          </p:cNvSpPr>
          <p:nvPr/>
        </p:nvSpPr>
        <p:spPr bwMode="auto">
          <a:xfrm flipV="1">
            <a:off x="5715000" y="3962400"/>
            <a:ext cx="685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82" name="Text Box 22"/>
          <p:cNvSpPr txBox="1">
            <a:spLocks noChangeArrowheads="1"/>
          </p:cNvSpPr>
          <p:nvPr/>
        </p:nvSpPr>
        <p:spPr bwMode="auto">
          <a:xfrm>
            <a:off x="2355850" y="1858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3" name="Text Box 23"/>
          <p:cNvSpPr txBox="1">
            <a:spLocks noChangeArrowheads="1"/>
          </p:cNvSpPr>
          <p:nvPr/>
        </p:nvSpPr>
        <p:spPr bwMode="auto">
          <a:xfrm>
            <a:off x="2590800" y="27733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4" name="Text Box 24"/>
          <p:cNvSpPr txBox="1">
            <a:spLocks noChangeArrowheads="1"/>
          </p:cNvSpPr>
          <p:nvPr/>
        </p:nvSpPr>
        <p:spPr bwMode="auto">
          <a:xfrm>
            <a:off x="2279650" y="34480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5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5" name="Text Box 25"/>
          <p:cNvSpPr txBox="1">
            <a:spLocks noChangeArrowheads="1"/>
          </p:cNvSpPr>
          <p:nvPr/>
        </p:nvSpPr>
        <p:spPr bwMode="auto">
          <a:xfrm>
            <a:off x="3803650" y="4221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6" name="Text Box 26"/>
          <p:cNvSpPr txBox="1">
            <a:spLocks noChangeArrowheads="1"/>
          </p:cNvSpPr>
          <p:nvPr/>
        </p:nvSpPr>
        <p:spPr bwMode="auto">
          <a:xfrm>
            <a:off x="4114800" y="1858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7" name="Text Box 27"/>
          <p:cNvSpPr txBox="1">
            <a:spLocks noChangeArrowheads="1"/>
          </p:cNvSpPr>
          <p:nvPr/>
        </p:nvSpPr>
        <p:spPr bwMode="auto">
          <a:xfrm>
            <a:off x="4022725" y="29146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8" name="Text Box 28"/>
          <p:cNvSpPr txBox="1">
            <a:spLocks noChangeArrowheads="1"/>
          </p:cNvSpPr>
          <p:nvPr/>
        </p:nvSpPr>
        <p:spPr bwMode="auto">
          <a:xfrm>
            <a:off x="5480050" y="1905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89" name="Text Box 29"/>
          <p:cNvSpPr txBox="1">
            <a:spLocks noChangeArrowheads="1"/>
          </p:cNvSpPr>
          <p:nvPr/>
        </p:nvSpPr>
        <p:spPr bwMode="auto">
          <a:xfrm>
            <a:off x="5638800" y="28956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90" name="Text Box 30"/>
          <p:cNvSpPr txBox="1">
            <a:spLocks noChangeArrowheads="1"/>
          </p:cNvSpPr>
          <p:nvPr/>
        </p:nvSpPr>
        <p:spPr bwMode="auto">
          <a:xfrm>
            <a:off x="7232650" y="17827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32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50591" name="Text Box 31"/>
          <p:cNvSpPr txBox="1">
            <a:spLocks noChangeArrowheads="1"/>
          </p:cNvSpPr>
          <p:nvPr/>
        </p:nvSpPr>
        <p:spPr bwMode="auto">
          <a:xfrm>
            <a:off x="6842125" y="3001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92" name="Text Box 32"/>
          <p:cNvSpPr txBox="1">
            <a:spLocks noChangeArrowheads="1"/>
          </p:cNvSpPr>
          <p:nvPr/>
        </p:nvSpPr>
        <p:spPr bwMode="auto">
          <a:xfrm>
            <a:off x="5622925" y="39925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93" name="Line 33"/>
          <p:cNvSpPr>
            <a:spLocks noChangeShapeType="1"/>
          </p:cNvSpPr>
          <p:nvPr/>
        </p:nvSpPr>
        <p:spPr bwMode="auto">
          <a:xfrm flipV="1">
            <a:off x="2133600" y="1981200"/>
            <a:ext cx="1143000" cy="6858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4" name="Line 34"/>
          <p:cNvSpPr>
            <a:spLocks noChangeShapeType="1"/>
          </p:cNvSpPr>
          <p:nvPr/>
        </p:nvSpPr>
        <p:spPr bwMode="auto">
          <a:xfrm>
            <a:off x="3733800" y="1981200"/>
            <a:ext cx="1143000" cy="7620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5" name="Line 35"/>
          <p:cNvSpPr>
            <a:spLocks noChangeShapeType="1"/>
          </p:cNvSpPr>
          <p:nvPr/>
        </p:nvSpPr>
        <p:spPr bwMode="auto">
          <a:xfrm>
            <a:off x="5257800" y="2971800"/>
            <a:ext cx="1066800" cy="7620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6" name="Line 36"/>
          <p:cNvSpPr>
            <a:spLocks noChangeShapeType="1"/>
          </p:cNvSpPr>
          <p:nvPr/>
        </p:nvSpPr>
        <p:spPr bwMode="auto">
          <a:xfrm flipV="1">
            <a:off x="6781800" y="3048000"/>
            <a:ext cx="1143000" cy="685800"/>
          </a:xfrm>
          <a:prstGeom prst="line">
            <a:avLst/>
          </a:prstGeom>
          <a:noFill/>
          <a:ln w="57150" cap="sq">
            <a:solidFill>
              <a:srgbClr val="0000FF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7" name="Text Box 37"/>
          <p:cNvSpPr txBox="1">
            <a:spLocks noChangeArrowheads="1"/>
          </p:cNvSpPr>
          <p:nvPr/>
        </p:nvSpPr>
        <p:spPr bwMode="auto">
          <a:xfrm>
            <a:off x="187325" y="1447800"/>
            <a:ext cx="1336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隶书" charset="0"/>
                <a:ea typeface="隶书" charset="0"/>
              </a:rPr>
              <a:t>例如</a:t>
            </a:r>
            <a:r>
              <a:rPr kumimoji="1" lang="en-US" altLang="zh-CN" sz="3600" b="1">
                <a:solidFill>
                  <a:srgbClr val="800000"/>
                </a:solidFill>
                <a:latin typeface="隶书" charset="0"/>
                <a:ea typeface="隶书" charset="0"/>
              </a:rPr>
              <a:t>: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598" name="Text Box 38"/>
          <p:cNvSpPr txBox="1">
            <a:spLocks noChangeArrowheads="1"/>
          </p:cNvSpPr>
          <p:nvPr/>
        </p:nvSpPr>
        <p:spPr bwMode="auto">
          <a:xfrm>
            <a:off x="441325" y="5286375"/>
            <a:ext cx="8397875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200" u="sng">
                <a:solidFill>
                  <a:srgbClr val="000099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3200" u="sng">
                <a:solidFill>
                  <a:srgbClr val="0000FF"/>
                </a:solidFill>
                <a:latin typeface="Times New Roman" charset="0"/>
                <a:ea typeface="楷体_GB2312" charset="0"/>
              </a:rPr>
              <a:t>关键活动</a:t>
            </a:r>
            <a:r>
              <a:rPr kumimoji="1" lang="zh-CN" altLang="en-US" sz="3200" u="sng">
                <a:solidFill>
                  <a:srgbClr val="000099"/>
                </a:solidFill>
                <a:latin typeface="Times New Roman" charset="0"/>
                <a:ea typeface="楷体_GB2312" charset="0"/>
              </a:rPr>
              <a:t>”指的是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：该弧上的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权值增加</a:t>
            </a:r>
            <a:r>
              <a:rPr kumimoji="1" lang="zh-CN" altLang="en-US" sz="32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将使有向图上的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最长路径的长度增加。</a:t>
            </a:r>
            <a:endParaRPr kumimoji="1" lang="zh-CN" altLang="en-US" sz="3600" b="1">
              <a:solidFill>
                <a:srgbClr val="0000FF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50599" name="Text Box 39"/>
          <p:cNvSpPr txBox="1">
            <a:spLocks noChangeArrowheads="1"/>
          </p:cNvSpPr>
          <p:nvPr/>
        </p:nvSpPr>
        <p:spPr bwMode="auto">
          <a:xfrm>
            <a:off x="212725" y="190500"/>
            <a:ext cx="8778875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200" u="sng">
                <a:solidFill>
                  <a:srgbClr val="000099"/>
                </a:solidFill>
                <a:latin typeface="Times New Roman" charset="0"/>
                <a:ea typeface="楷体_GB2312" charset="0"/>
              </a:rPr>
              <a:t>整个工程完成的时间为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：从有向图的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源点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到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汇点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的最长路径。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50600" name="AutoShape 40"/>
          <p:cNvSpPr>
            <a:spLocks noChangeArrowheads="1"/>
          </p:cNvSpPr>
          <p:nvPr/>
        </p:nvSpPr>
        <p:spPr bwMode="auto">
          <a:xfrm>
            <a:off x="762000" y="3200400"/>
            <a:ext cx="914400" cy="457200"/>
          </a:xfrm>
          <a:prstGeom prst="wedgeRoundRectCallout">
            <a:avLst>
              <a:gd name="adj1" fmla="val 62847"/>
              <a:gd name="adj2" fmla="val -113194"/>
              <a:gd name="adj3" fmla="val 16667"/>
            </a:avLst>
          </a:prstGeom>
          <a:solidFill>
            <a:srgbClr val="CCFFFF">
              <a:alpha val="50195"/>
            </a:srgbClr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源点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50601" name="AutoShape 41"/>
          <p:cNvSpPr>
            <a:spLocks noChangeArrowheads="1"/>
          </p:cNvSpPr>
          <p:nvPr/>
        </p:nvSpPr>
        <p:spPr bwMode="auto">
          <a:xfrm>
            <a:off x="8229600" y="1600200"/>
            <a:ext cx="914400" cy="457200"/>
          </a:xfrm>
          <a:prstGeom prst="wedgeRoundRectCallout">
            <a:avLst>
              <a:gd name="adj1" fmla="val -55731"/>
              <a:gd name="adj2" fmla="val 188542"/>
              <a:gd name="adj3" fmla="val 16667"/>
            </a:avLst>
          </a:prstGeom>
          <a:solidFill>
            <a:srgbClr val="CCFFFF">
              <a:alpha val="50195"/>
            </a:srgbClr>
          </a:solidFill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汇点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50602" name="Text Box 42"/>
          <p:cNvSpPr txBox="1">
            <a:spLocks noChangeArrowheads="1"/>
          </p:cNvSpPr>
          <p:nvPr/>
        </p:nvSpPr>
        <p:spPr bwMode="auto">
          <a:xfrm>
            <a:off x="2355850" y="1858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603" name="Text Box 43"/>
          <p:cNvSpPr txBox="1">
            <a:spLocks noChangeArrowheads="1"/>
          </p:cNvSpPr>
          <p:nvPr/>
        </p:nvSpPr>
        <p:spPr bwMode="auto">
          <a:xfrm>
            <a:off x="4114800" y="1858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604" name="Text Box 44"/>
          <p:cNvSpPr txBox="1">
            <a:spLocks noChangeArrowheads="1"/>
          </p:cNvSpPr>
          <p:nvPr/>
        </p:nvSpPr>
        <p:spPr bwMode="auto">
          <a:xfrm>
            <a:off x="5638800" y="28956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0605" name="Text Box 45"/>
          <p:cNvSpPr txBox="1">
            <a:spLocks noChangeArrowheads="1"/>
          </p:cNvSpPr>
          <p:nvPr/>
        </p:nvSpPr>
        <p:spPr bwMode="auto">
          <a:xfrm>
            <a:off x="6851650" y="3001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9184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5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5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5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50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0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5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5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45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45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5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5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50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50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animBg="1" autoUpdateAnimBg="0"/>
      <p:bldP spid="450563" grpId="0" animBg="1" autoUpdateAnimBg="0"/>
      <p:bldP spid="450564" grpId="0" animBg="1" autoUpdateAnimBg="0"/>
      <p:bldP spid="450565" grpId="0" animBg="1" autoUpdateAnimBg="0"/>
      <p:bldP spid="450566" grpId="0" animBg="1" autoUpdateAnimBg="0"/>
      <p:bldP spid="450567" grpId="0" animBg="1" autoUpdateAnimBg="0"/>
      <p:bldP spid="450568" grpId="0" animBg="1" autoUpdateAnimBg="0"/>
      <p:bldP spid="450569" grpId="0" animBg="1" autoUpdateAnimBg="0"/>
      <p:bldP spid="450570" grpId="0" animBg="1" autoUpdateAnimBg="0"/>
      <p:bldP spid="450571" grpId="0" animBg="1"/>
      <p:bldP spid="450572" grpId="0" animBg="1"/>
      <p:bldP spid="450573" grpId="0" animBg="1"/>
      <p:bldP spid="450574" grpId="0" animBg="1"/>
      <p:bldP spid="450575" grpId="0" animBg="1"/>
      <p:bldP spid="450576" grpId="0" animBg="1"/>
      <p:bldP spid="450577" grpId="0" animBg="1"/>
      <p:bldP spid="450578" grpId="0" animBg="1"/>
      <p:bldP spid="450579" grpId="0" animBg="1"/>
      <p:bldP spid="450580" grpId="0" animBg="1"/>
      <p:bldP spid="450581" grpId="0" animBg="1"/>
      <p:bldP spid="450582" grpId="0" autoUpdateAnimBg="0"/>
      <p:bldP spid="450583" grpId="0" autoUpdateAnimBg="0"/>
      <p:bldP spid="450584" grpId="0" autoUpdateAnimBg="0"/>
      <p:bldP spid="450585" grpId="0" autoUpdateAnimBg="0"/>
      <p:bldP spid="450586" grpId="0" autoUpdateAnimBg="0"/>
      <p:bldP spid="450587" grpId="0" autoUpdateAnimBg="0"/>
      <p:bldP spid="450588" grpId="0" autoUpdateAnimBg="0"/>
      <p:bldP spid="450589" grpId="0" autoUpdateAnimBg="0"/>
      <p:bldP spid="450590" grpId="0" autoUpdateAnimBg="0"/>
      <p:bldP spid="450591" grpId="0" autoUpdateAnimBg="0"/>
      <p:bldP spid="450592" grpId="0" autoUpdateAnimBg="0"/>
      <p:bldP spid="450593" grpId="0" animBg="1"/>
      <p:bldP spid="450594" grpId="0" animBg="1"/>
      <p:bldP spid="450595" grpId="0" animBg="1"/>
      <p:bldP spid="450596" grpId="0" animBg="1"/>
      <p:bldP spid="450597" grpId="0" autoUpdateAnimBg="0"/>
      <p:bldP spid="450598" grpId="0" autoUpdateAnimBg="0"/>
      <p:bldP spid="450599" grpId="0" autoUpdateAnimBg="0"/>
      <p:bldP spid="450600" grpId="0" animBg="1" autoUpdateAnimBg="0"/>
      <p:bldP spid="450601" grpId="0" animBg="1" autoUpdateAnimBg="0"/>
      <p:bldP spid="450602" grpId="0" autoUpdateAnimBg="0"/>
      <p:bldP spid="450603" grpId="0" autoUpdateAnimBg="0"/>
      <p:bldP spid="450604" grpId="0" autoUpdateAnimBg="0"/>
      <p:bldP spid="450605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Text Box 2"/>
          <p:cNvSpPr txBox="1">
            <a:spLocks noChangeArrowheads="1"/>
          </p:cNvSpPr>
          <p:nvPr/>
        </p:nvSpPr>
        <p:spPr bwMode="auto">
          <a:xfrm>
            <a:off x="1908175" y="0"/>
            <a:ext cx="57912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6000">
                <a:solidFill>
                  <a:srgbClr val="6600CC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8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如何求关键活动？</a:t>
            </a:r>
            <a:endParaRPr kumimoji="1" lang="zh-CN" altLang="en-US" sz="6000" b="1">
              <a:solidFill>
                <a:srgbClr val="6600CC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51587" name="Text Box 3"/>
          <p:cNvSpPr txBox="1">
            <a:spLocks noChangeArrowheads="1"/>
          </p:cNvSpPr>
          <p:nvPr/>
        </p:nvSpPr>
        <p:spPr bwMode="auto">
          <a:xfrm>
            <a:off x="206375" y="1341438"/>
            <a:ext cx="893762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事件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)”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 最早发生时间 </a:t>
            </a:r>
            <a:r>
              <a:rPr kumimoji="1" lang="en-US" altLang="zh-CN" sz="40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ve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(j)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ve(j) = 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从源点到顶点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的最长路径长度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451588" name="Text Box 4"/>
          <p:cNvSpPr txBox="1">
            <a:spLocks noChangeArrowheads="1"/>
          </p:cNvSpPr>
          <p:nvPr/>
        </p:nvSpPr>
        <p:spPr bwMode="auto">
          <a:xfrm>
            <a:off x="65088" y="3349625"/>
            <a:ext cx="9078912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事件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顶点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)”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 最迟发生时间 </a:t>
            </a:r>
            <a:r>
              <a:rPr kumimoji="1" lang="en-US" altLang="zh-CN" sz="40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vl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(k) 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vl[k]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是指在不推迟整个工期的前提下，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事件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vk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允许的最晚发生时间。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vl(k) = 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从顶点</a:t>
            </a:r>
            <a:r>
              <a:rPr kumimoji="1" lang="en-US" altLang="zh-CN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zh-CN" altLang="en-US" sz="4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到汇点的最短路径长度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1539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6" grpId="0" autoUpdateAnimBg="0"/>
      <p:bldP spid="451587" grpId="0" autoUpdateAnimBg="0"/>
      <p:bldP spid="451588" grpId="0" autoUpdateAnimBg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Text Box 2"/>
          <p:cNvSpPr txBox="1">
            <a:spLocks noChangeArrowheads="1"/>
          </p:cNvSpPr>
          <p:nvPr/>
        </p:nvSpPr>
        <p:spPr bwMode="auto">
          <a:xfrm>
            <a:off x="1149350" y="0"/>
            <a:ext cx="7689850" cy="658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假设第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条弧为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&lt;j, k&gt;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则 对第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i 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项活动言</a:t>
            </a:r>
            <a:endParaRPr kumimoji="1" lang="zh-CN" altLang="en-US" sz="4000"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4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事件发生时间的计算公式：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源点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 = 0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ve(k) = Max{ve(j) + dut(&lt;j, k&gt;)}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vl(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汇点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 = ve(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汇点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vl(j) = Min{vl(k) – dut(&lt;j, k&gt;)}</a:t>
            </a:r>
          </a:p>
        </p:txBody>
      </p:sp>
    </p:spTree>
    <p:extLst>
      <p:ext uri="{BB962C8B-B14F-4D97-AF65-F5344CB8AC3E}">
        <p14:creationId xmlns:p14="http://schemas.microsoft.com/office/powerpoint/2010/main" val="1455225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0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Text Box 2"/>
          <p:cNvSpPr txBox="1">
            <a:spLocks noChangeArrowheads="1"/>
          </p:cNvSpPr>
          <p:nvPr/>
        </p:nvSpPr>
        <p:spPr bwMode="auto">
          <a:xfrm>
            <a:off x="838200" y="533400"/>
            <a:ext cx="7478713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endParaRPr kumimoji="1" lang="en-US" altLang="zh-CN" sz="40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“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活动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弧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)”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 最早开始时间 </a:t>
            </a:r>
            <a:r>
              <a:rPr kumimoji="1" lang="en-US" altLang="zh-CN" sz="40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ee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(i)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ee(i) = ve(j)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“活动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弧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)”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 最迟开始时间 </a:t>
            </a:r>
            <a:r>
              <a:rPr kumimoji="1" lang="en-US" altLang="zh-CN" sz="40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el</a:t>
            </a: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(i)</a:t>
            </a:r>
          </a:p>
          <a:p>
            <a:pPr eaLnBrk="1" hangingPunct="1">
              <a:lnSpc>
                <a:spcPct val="150000"/>
              </a:lnSpc>
            </a:pPr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el(i) = vl(k) – dut(&lt;j,k&gt;)</a:t>
            </a:r>
            <a:r>
              <a:rPr kumimoji="1" lang="zh-CN" altLang="en-US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13193463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4" grpId="0" autoUpdateAnimBg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Oval 2"/>
          <p:cNvSpPr>
            <a:spLocks noChangeArrowheads="1"/>
          </p:cNvSpPr>
          <p:nvPr/>
        </p:nvSpPr>
        <p:spPr bwMode="auto">
          <a:xfrm>
            <a:off x="1295400" y="10668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a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59" name="Oval 3"/>
          <p:cNvSpPr>
            <a:spLocks noChangeArrowheads="1"/>
          </p:cNvSpPr>
          <p:nvPr/>
        </p:nvSpPr>
        <p:spPr bwMode="auto">
          <a:xfrm>
            <a:off x="2819400" y="2286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b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0" name="Oval 4"/>
          <p:cNvSpPr>
            <a:spLocks noChangeArrowheads="1"/>
          </p:cNvSpPr>
          <p:nvPr/>
        </p:nvSpPr>
        <p:spPr bwMode="auto">
          <a:xfrm>
            <a:off x="2819400" y="2057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c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1" name="Oval 5"/>
          <p:cNvSpPr>
            <a:spLocks noChangeArrowheads="1"/>
          </p:cNvSpPr>
          <p:nvPr/>
        </p:nvSpPr>
        <p:spPr bwMode="auto">
          <a:xfrm>
            <a:off x="1905000" y="29718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d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2" name="Oval 6"/>
          <p:cNvSpPr>
            <a:spLocks noChangeArrowheads="1"/>
          </p:cNvSpPr>
          <p:nvPr/>
        </p:nvSpPr>
        <p:spPr bwMode="auto">
          <a:xfrm>
            <a:off x="4343400" y="11430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e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3" name="Oval 7"/>
          <p:cNvSpPr>
            <a:spLocks noChangeArrowheads="1"/>
          </p:cNvSpPr>
          <p:nvPr/>
        </p:nvSpPr>
        <p:spPr bwMode="auto">
          <a:xfrm>
            <a:off x="4800600" y="29718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f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4" name="Oval 8"/>
          <p:cNvSpPr>
            <a:spLocks noChangeArrowheads="1"/>
          </p:cNvSpPr>
          <p:nvPr/>
        </p:nvSpPr>
        <p:spPr bwMode="auto">
          <a:xfrm>
            <a:off x="5867400" y="2286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g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5" name="Oval 9"/>
          <p:cNvSpPr>
            <a:spLocks noChangeArrowheads="1"/>
          </p:cNvSpPr>
          <p:nvPr/>
        </p:nvSpPr>
        <p:spPr bwMode="auto">
          <a:xfrm>
            <a:off x="5867400" y="2057400"/>
            <a:ext cx="457200" cy="457200"/>
          </a:xfrm>
          <a:prstGeom prst="ellipse">
            <a:avLst/>
          </a:prstGeom>
          <a:solidFill>
            <a:srgbClr val="FFFF99"/>
          </a:solidFill>
          <a:ln w="25400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h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6" name="Oval 10"/>
          <p:cNvSpPr>
            <a:spLocks noChangeArrowheads="1"/>
          </p:cNvSpPr>
          <p:nvPr/>
        </p:nvSpPr>
        <p:spPr bwMode="auto">
          <a:xfrm>
            <a:off x="7391400" y="1143000"/>
            <a:ext cx="457200" cy="457200"/>
          </a:xfrm>
          <a:prstGeom prst="ellipse">
            <a:avLst/>
          </a:prstGeom>
          <a:solidFill>
            <a:srgbClr val="99CCFF"/>
          </a:solidFill>
          <a:ln w="2540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k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67" name="Line 11"/>
          <p:cNvSpPr>
            <a:spLocks noChangeShapeType="1"/>
          </p:cNvSpPr>
          <p:nvPr/>
        </p:nvSpPr>
        <p:spPr bwMode="auto">
          <a:xfrm flipV="1">
            <a:off x="1676400" y="4572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8" name="Line 12"/>
          <p:cNvSpPr>
            <a:spLocks noChangeShapeType="1"/>
          </p:cNvSpPr>
          <p:nvPr/>
        </p:nvSpPr>
        <p:spPr bwMode="auto">
          <a:xfrm>
            <a:off x="1752600" y="1295400"/>
            <a:ext cx="1143000" cy="9144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69" name="Line 13"/>
          <p:cNvSpPr>
            <a:spLocks noChangeShapeType="1"/>
          </p:cNvSpPr>
          <p:nvPr/>
        </p:nvSpPr>
        <p:spPr bwMode="auto">
          <a:xfrm flipV="1">
            <a:off x="3276600" y="14478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0" name="Line 14"/>
          <p:cNvSpPr>
            <a:spLocks noChangeShapeType="1"/>
          </p:cNvSpPr>
          <p:nvPr/>
        </p:nvSpPr>
        <p:spPr bwMode="auto">
          <a:xfrm>
            <a:off x="3276600" y="457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1" name="Line 15"/>
          <p:cNvSpPr>
            <a:spLocks noChangeShapeType="1"/>
          </p:cNvSpPr>
          <p:nvPr/>
        </p:nvSpPr>
        <p:spPr bwMode="auto">
          <a:xfrm flipV="1">
            <a:off x="4724400" y="457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2" name="Line 16"/>
          <p:cNvSpPr>
            <a:spLocks noChangeShapeType="1"/>
          </p:cNvSpPr>
          <p:nvPr/>
        </p:nvSpPr>
        <p:spPr bwMode="auto">
          <a:xfrm>
            <a:off x="6324600" y="457200"/>
            <a:ext cx="11430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3" name="Line 17"/>
          <p:cNvSpPr>
            <a:spLocks noChangeShapeType="1"/>
          </p:cNvSpPr>
          <p:nvPr/>
        </p:nvSpPr>
        <p:spPr bwMode="auto">
          <a:xfrm flipV="1">
            <a:off x="6324600" y="1524000"/>
            <a:ext cx="1143000" cy="685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4" name="Line 18"/>
          <p:cNvSpPr>
            <a:spLocks noChangeShapeType="1"/>
          </p:cNvSpPr>
          <p:nvPr/>
        </p:nvSpPr>
        <p:spPr bwMode="auto">
          <a:xfrm>
            <a:off x="4800600" y="1447800"/>
            <a:ext cx="1066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5" name="Line 19"/>
          <p:cNvSpPr>
            <a:spLocks noChangeShapeType="1"/>
          </p:cNvSpPr>
          <p:nvPr/>
        </p:nvSpPr>
        <p:spPr bwMode="auto">
          <a:xfrm>
            <a:off x="1524000" y="1524000"/>
            <a:ext cx="609600" cy="14478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6" name="Line 20"/>
          <p:cNvSpPr>
            <a:spLocks noChangeShapeType="1"/>
          </p:cNvSpPr>
          <p:nvPr/>
        </p:nvSpPr>
        <p:spPr bwMode="auto">
          <a:xfrm>
            <a:off x="2362200" y="3200400"/>
            <a:ext cx="2438400" cy="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7" name="Line 21"/>
          <p:cNvSpPr>
            <a:spLocks noChangeShapeType="1"/>
          </p:cNvSpPr>
          <p:nvPr/>
        </p:nvSpPr>
        <p:spPr bwMode="auto">
          <a:xfrm flipV="1">
            <a:off x="5257800" y="2438400"/>
            <a:ext cx="685800" cy="762000"/>
          </a:xfrm>
          <a:prstGeom prst="line">
            <a:avLst/>
          </a:prstGeom>
          <a:noFill/>
          <a:ln w="25400" cap="sq">
            <a:solidFill>
              <a:srgbClr val="800000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78" name="Text Box 22"/>
          <p:cNvSpPr txBox="1">
            <a:spLocks noChangeArrowheads="1"/>
          </p:cNvSpPr>
          <p:nvPr/>
        </p:nvSpPr>
        <p:spPr bwMode="auto">
          <a:xfrm>
            <a:off x="1898650" y="334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79" name="Text Box 23"/>
          <p:cNvSpPr txBox="1">
            <a:spLocks noChangeArrowheads="1"/>
          </p:cNvSpPr>
          <p:nvPr/>
        </p:nvSpPr>
        <p:spPr bwMode="auto">
          <a:xfrm>
            <a:off x="2133600" y="12493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0" name="Text Box 24"/>
          <p:cNvSpPr txBox="1">
            <a:spLocks noChangeArrowheads="1"/>
          </p:cNvSpPr>
          <p:nvPr/>
        </p:nvSpPr>
        <p:spPr bwMode="auto">
          <a:xfrm>
            <a:off x="1822450" y="19240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5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1" name="Text Box 25"/>
          <p:cNvSpPr txBox="1">
            <a:spLocks noChangeArrowheads="1"/>
          </p:cNvSpPr>
          <p:nvPr/>
        </p:nvSpPr>
        <p:spPr bwMode="auto">
          <a:xfrm>
            <a:off x="3346450" y="26971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2" name="Text Box 26"/>
          <p:cNvSpPr txBox="1">
            <a:spLocks noChangeArrowheads="1"/>
          </p:cNvSpPr>
          <p:nvPr/>
        </p:nvSpPr>
        <p:spPr bwMode="auto">
          <a:xfrm>
            <a:off x="3657600" y="334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3" name="Text Box 27"/>
          <p:cNvSpPr txBox="1">
            <a:spLocks noChangeArrowheads="1"/>
          </p:cNvSpPr>
          <p:nvPr/>
        </p:nvSpPr>
        <p:spPr bwMode="auto">
          <a:xfrm>
            <a:off x="3565525" y="139065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4" name="Text Box 28"/>
          <p:cNvSpPr txBox="1">
            <a:spLocks noChangeArrowheads="1"/>
          </p:cNvSpPr>
          <p:nvPr/>
        </p:nvSpPr>
        <p:spPr bwMode="auto">
          <a:xfrm>
            <a:off x="5022850" y="3810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5" name="Text Box 29"/>
          <p:cNvSpPr txBox="1">
            <a:spLocks noChangeArrowheads="1"/>
          </p:cNvSpPr>
          <p:nvPr/>
        </p:nvSpPr>
        <p:spPr bwMode="auto">
          <a:xfrm>
            <a:off x="5181600" y="1371600"/>
            <a:ext cx="38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6" name="Text Box 30"/>
          <p:cNvSpPr txBox="1">
            <a:spLocks noChangeArrowheads="1"/>
          </p:cNvSpPr>
          <p:nvPr/>
        </p:nvSpPr>
        <p:spPr bwMode="auto">
          <a:xfrm>
            <a:off x="6775450" y="2587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2</a:t>
            </a:r>
            <a:endParaRPr kumimoji="1" lang="en-US" altLang="zh-CN" sz="3200">
              <a:solidFill>
                <a:srgbClr val="0000FF"/>
              </a:solidFill>
              <a:latin typeface="Times New Roman" charset="0"/>
            </a:endParaRPr>
          </a:p>
        </p:txBody>
      </p:sp>
      <p:sp>
        <p:nvSpPr>
          <p:cNvPr id="454687" name="Text Box 31"/>
          <p:cNvSpPr txBox="1">
            <a:spLocks noChangeArrowheads="1"/>
          </p:cNvSpPr>
          <p:nvPr/>
        </p:nvSpPr>
        <p:spPr bwMode="auto">
          <a:xfrm>
            <a:off x="6384925" y="14779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8" name="Text Box 32"/>
          <p:cNvSpPr txBox="1">
            <a:spLocks noChangeArrowheads="1"/>
          </p:cNvSpPr>
          <p:nvPr/>
        </p:nvSpPr>
        <p:spPr bwMode="auto">
          <a:xfrm>
            <a:off x="5165725" y="2468563"/>
            <a:ext cx="38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800000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4689" name="Line 33"/>
          <p:cNvSpPr>
            <a:spLocks noChangeShapeType="1"/>
          </p:cNvSpPr>
          <p:nvPr/>
        </p:nvSpPr>
        <p:spPr bwMode="auto">
          <a:xfrm>
            <a:off x="685800" y="5943600"/>
            <a:ext cx="7696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4690" name="Line 34"/>
          <p:cNvSpPr>
            <a:spLocks noChangeShapeType="1"/>
          </p:cNvSpPr>
          <p:nvPr/>
        </p:nvSpPr>
        <p:spPr bwMode="auto">
          <a:xfrm>
            <a:off x="8382000" y="3810000"/>
            <a:ext cx="0" cy="2133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4691" name="Object 35"/>
          <p:cNvGraphicFramePr>
            <a:graphicFrameLocks noChangeAspect="1"/>
          </p:cNvGraphicFramePr>
          <p:nvPr/>
        </p:nvGraphicFramePr>
        <p:xfrm>
          <a:off x="768350" y="3822700"/>
          <a:ext cx="76136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7473" name="文档" r:id="rId3" imgW="7609840" imgH="2275840" progId="Word.Document.8">
                  <p:embed/>
                </p:oleObj>
              </mc:Choice>
              <mc:Fallback>
                <p:oleObj name="文档" r:id="rId3" imgW="7609840" imgH="2275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3822700"/>
                        <a:ext cx="76136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4692" name="Text Box 36"/>
          <p:cNvSpPr txBox="1">
            <a:spLocks noChangeArrowheads="1"/>
          </p:cNvSpPr>
          <p:nvPr/>
        </p:nvSpPr>
        <p:spPr bwMode="auto">
          <a:xfrm>
            <a:off x="1676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3" name="Text Box 37"/>
          <p:cNvSpPr txBox="1">
            <a:spLocks noChangeArrowheads="1"/>
          </p:cNvSpPr>
          <p:nvPr/>
        </p:nvSpPr>
        <p:spPr bwMode="auto">
          <a:xfrm>
            <a:off x="2438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4" name="Text Box 38"/>
          <p:cNvSpPr txBox="1">
            <a:spLocks noChangeArrowheads="1"/>
          </p:cNvSpPr>
          <p:nvPr/>
        </p:nvSpPr>
        <p:spPr bwMode="auto">
          <a:xfrm>
            <a:off x="3200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5" name="Text Box 39"/>
          <p:cNvSpPr txBox="1">
            <a:spLocks noChangeArrowheads="1"/>
          </p:cNvSpPr>
          <p:nvPr/>
        </p:nvSpPr>
        <p:spPr bwMode="auto">
          <a:xfrm>
            <a:off x="3962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6" name="Text Box 40"/>
          <p:cNvSpPr txBox="1">
            <a:spLocks noChangeArrowheads="1"/>
          </p:cNvSpPr>
          <p:nvPr/>
        </p:nvSpPr>
        <p:spPr bwMode="auto">
          <a:xfrm>
            <a:off x="4724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7" name="Text Box 41"/>
          <p:cNvSpPr txBox="1">
            <a:spLocks noChangeArrowheads="1"/>
          </p:cNvSpPr>
          <p:nvPr/>
        </p:nvSpPr>
        <p:spPr bwMode="auto">
          <a:xfrm>
            <a:off x="5486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8" name="Text Box 42"/>
          <p:cNvSpPr txBox="1">
            <a:spLocks noChangeArrowheads="1"/>
          </p:cNvSpPr>
          <p:nvPr/>
        </p:nvSpPr>
        <p:spPr bwMode="auto">
          <a:xfrm>
            <a:off x="6248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699" name="Text Box 43"/>
          <p:cNvSpPr txBox="1">
            <a:spLocks noChangeArrowheads="1"/>
          </p:cNvSpPr>
          <p:nvPr/>
        </p:nvSpPr>
        <p:spPr bwMode="auto">
          <a:xfrm>
            <a:off x="701040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0" name="Text Box 44"/>
          <p:cNvSpPr txBox="1">
            <a:spLocks noChangeArrowheads="1"/>
          </p:cNvSpPr>
          <p:nvPr/>
        </p:nvSpPr>
        <p:spPr bwMode="auto">
          <a:xfrm>
            <a:off x="7816850" y="4572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1" name="Text Box 45"/>
          <p:cNvSpPr txBox="1">
            <a:spLocks noChangeArrowheads="1"/>
          </p:cNvSpPr>
          <p:nvPr/>
        </p:nvSpPr>
        <p:spPr bwMode="auto">
          <a:xfrm>
            <a:off x="233045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6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2" name="Text Box 46"/>
          <p:cNvSpPr txBox="1">
            <a:spLocks noChangeArrowheads="1"/>
          </p:cNvSpPr>
          <p:nvPr/>
        </p:nvSpPr>
        <p:spPr bwMode="auto">
          <a:xfrm>
            <a:off x="312420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4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3" name="Text Box 47"/>
          <p:cNvSpPr txBox="1">
            <a:spLocks noChangeArrowheads="1"/>
          </p:cNvSpPr>
          <p:nvPr/>
        </p:nvSpPr>
        <p:spPr bwMode="auto">
          <a:xfrm>
            <a:off x="385445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5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4" name="Text Box 48"/>
          <p:cNvSpPr txBox="1">
            <a:spLocks noChangeArrowheads="1"/>
          </p:cNvSpPr>
          <p:nvPr/>
        </p:nvSpPr>
        <p:spPr bwMode="auto">
          <a:xfrm>
            <a:off x="541020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7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5" name="Text Box 49"/>
          <p:cNvSpPr txBox="1">
            <a:spLocks noChangeArrowheads="1"/>
          </p:cNvSpPr>
          <p:nvPr/>
        </p:nvSpPr>
        <p:spPr bwMode="auto">
          <a:xfrm>
            <a:off x="693420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11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6" name="Text Box 50"/>
          <p:cNvSpPr txBox="1">
            <a:spLocks noChangeArrowheads="1"/>
          </p:cNvSpPr>
          <p:nvPr/>
        </p:nvSpPr>
        <p:spPr bwMode="auto">
          <a:xfrm>
            <a:off x="461645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5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7" name="Text Box 51"/>
          <p:cNvSpPr txBox="1">
            <a:spLocks noChangeArrowheads="1"/>
          </p:cNvSpPr>
          <p:nvPr/>
        </p:nvSpPr>
        <p:spPr bwMode="auto">
          <a:xfrm>
            <a:off x="4648200" y="4572000"/>
            <a:ext cx="641350" cy="641350"/>
          </a:xfrm>
          <a:prstGeom prst="rect">
            <a:avLst/>
          </a:prstGeom>
          <a:solidFill>
            <a:srgbClr val="C67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7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8" name="Text Box 52"/>
          <p:cNvSpPr txBox="1">
            <a:spLocks noChangeArrowheads="1"/>
          </p:cNvSpPr>
          <p:nvPr/>
        </p:nvSpPr>
        <p:spPr bwMode="auto">
          <a:xfrm>
            <a:off x="617220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15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09" name="Text Box 53"/>
          <p:cNvSpPr txBox="1">
            <a:spLocks noChangeArrowheads="1"/>
          </p:cNvSpPr>
          <p:nvPr/>
        </p:nvSpPr>
        <p:spPr bwMode="auto">
          <a:xfrm>
            <a:off x="6934200" y="4572000"/>
            <a:ext cx="641350" cy="641350"/>
          </a:xfrm>
          <a:prstGeom prst="rect">
            <a:avLst/>
          </a:prstGeom>
          <a:solidFill>
            <a:srgbClr val="C67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14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0" name="Text Box 54"/>
          <p:cNvSpPr txBox="1">
            <a:spLocks noChangeArrowheads="1"/>
          </p:cNvSpPr>
          <p:nvPr/>
        </p:nvSpPr>
        <p:spPr bwMode="auto">
          <a:xfrm>
            <a:off x="7696200" y="45720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1" name="Text Box 55"/>
          <p:cNvSpPr txBox="1">
            <a:spLocks noChangeArrowheads="1"/>
          </p:cNvSpPr>
          <p:nvPr/>
        </p:nvSpPr>
        <p:spPr bwMode="auto">
          <a:xfrm>
            <a:off x="7664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2" name="Text Box 56"/>
          <p:cNvSpPr txBox="1">
            <a:spLocks noChangeArrowheads="1"/>
          </p:cNvSpPr>
          <p:nvPr/>
        </p:nvSpPr>
        <p:spPr bwMode="auto">
          <a:xfrm>
            <a:off x="6902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3" name="Text Box 57"/>
          <p:cNvSpPr txBox="1">
            <a:spLocks noChangeArrowheads="1"/>
          </p:cNvSpPr>
          <p:nvPr/>
        </p:nvSpPr>
        <p:spPr bwMode="auto">
          <a:xfrm>
            <a:off x="6140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4" name="Text Box 58"/>
          <p:cNvSpPr txBox="1">
            <a:spLocks noChangeArrowheads="1"/>
          </p:cNvSpPr>
          <p:nvPr/>
        </p:nvSpPr>
        <p:spPr bwMode="auto">
          <a:xfrm>
            <a:off x="5378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5" name="Text Box 59"/>
          <p:cNvSpPr txBox="1">
            <a:spLocks noChangeArrowheads="1"/>
          </p:cNvSpPr>
          <p:nvPr/>
        </p:nvSpPr>
        <p:spPr bwMode="auto">
          <a:xfrm>
            <a:off x="464820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6" name="Text Box 60"/>
          <p:cNvSpPr txBox="1">
            <a:spLocks noChangeArrowheads="1"/>
          </p:cNvSpPr>
          <p:nvPr/>
        </p:nvSpPr>
        <p:spPr bwMode="auto">
          <a:xfrm>
            <a:off x="3854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7" name="Text Box 61"/>
          <p:cNvSpPr txBox="1">
            <a:spLocks noChangeArrowheads="1"/>
          </p:cNvSpPr>
          <p:nvPr/>
        </p:nvSpPr>
        <p:spPr bwMode="auto">
          <a:xfrm>
            <a:off x="312420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8" name="Text Box 62"/>
          <p:cNvSpPr txBox="1">
            <a:spLocks noChangeArrowheads="1"/>
          </p:cNvSpPr>
          <p:nvPr/>
        </p:nvSpPr>
        <p:spPr bwMode="auto">
          <a:xfrm>
            <a:off x="2330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19" name="Text Box 63"/>
          <p:cNvSpPr txBox="1">
            <a:spLocks noChangeArrowheads="1"/>
          </p:cNvSpPr>
          <p:nvPr/>
        </p:nvSpPr>
        <p:spPr bwMode="auto">
          <a:xfrm>
            <a:off x="1568450" y="52578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>
                <a:solidFill>
                  <a:srgbClr val="99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20" name="Text Box 64"/>
          <p:cNvSpPr txBox="1">
            <a:spLocks noChangeArrowheads="1"/>
          </p:cNvSpPr>
          <p:nvPr/>
        </p:nvSpPr>
        <p:spPr bwMode="auto">
          <a:xfrm>
            <a:off x="6140450" y="52578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16</a:t>
            </a:r>
          </a:p>
        </p:txBody>
      </p:sp>
      <p:sp>
        <p:nvSpPr>
          <p:cNvPr id="454721" name="Text Box 65"/>
          <p:cNvSpPr txBox="1">
            <a:spLocks noChangeArrowheads="1"/>
          </p:cNvSpPr>
          <p:nvPr/>
        </p:nvSpPr>
        <p:spPr bwMode="auto">
          <a:xfrm>
            <a:off x="6934200" y="52578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14</a:t>
            </a:r>
          </a:p>
        </p:txBody>
      </p:sp>
      <p:sp>
        <p:nvSpPr>
          <p:cNvPr id="454722" name="Text Box 66"/>
          <p:cNvSpPr txBox="1">
            <a:spLocks noChangeArrowheads="1"/>
          </p:cNvSpPr>
          <p:nvPr/>
        </p:nvSpPr>
        <p:spPr bwMode="auto">
          <a:xfrm>
            <a:off x="4648200" y="5257800"/>
            <a:ext cx="60960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8</a:t>
            </a:r>
          </a:p>
        </p:txBody>
      </p:sp>
      <p:sp>
        <p:nvSpPr>
          <p:cNvPr id="454723" name="Text Box 67"/>
          <p:cNvSpPr txBox="1">
            <a:spLocks noChangeArrowheads="1"/>
          </p:cNvSpPr>
          <p:nvPr/>
        </p:nvSpPr>
        <p:spPr bwMode="auto">
          <a:xfrm>
            <a:off x="2362200" y="5257800"/>
            <a:ext cx="60960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6</a:t>
            </a:r>
          </a:p>
        </p:txBody>
      </p:sp>
      <p:sp>
        <p:nvSpPr>
          <p:cNvPr id="454724" name="Text Box 68"/>
          <p:cNvSpPr txBox="1">
            <a:spLocks noChangeArrowheads="1"/>
          </p:cNvSpPr>
          <p:nvPr/>
        </p:nvSpPr>
        <p:spPr bwMode="auto">
          <a:xfrm>
            <a:off x="3124200" y="5257800"/>
            <a:ext cx="60960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6</a:t>
            </a:r>
          </a:p>
        </p:txBody>
      </p:sp>
      <p:sp>
        <p:nvSpPr>
          <p:cNvPr id="454725" name="Text Box 69"/>
          <p:cNvSpPr txBox="1">
            <a:spLocks noChangeArrowheads="1"/>
          </p:cNvSpPr>
          <p:nvPr/>
        </p:nvSpPr>
        <p:spPr bwMode="auto">
          <a:xfrm>
            <a:off x="5410200" y="5257800"/>
            <a:ext cx="64135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10</a:t>
            </a:r>
          </a:p>
        </p:txBody>
      </p:sp>
      <p:sp>
        <p:nvSpPr>
          <p:cNvPr id="454726" name="Text Box 70"/>
          <p:cNvSpPr txBox="1">
            <a:spLocks noChangeArrowheads="1"/>
          </p:cNvSpPr>
          <p:nvPr/>
        </p:nvSpPr>
        <p:spPr bwMode="auto">
          <a:xfrm>
            <a:off x="3886200" y="5257800"/>
            <a:ext cx="60960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8</a:t>
            </a:r>
          </a:p>
        </p:txBody>
      </p:sp>
      <p:sp>
        <p:nvSpPr>
          <p:cNvPr id="454727" name="Text Box 71"/>
          <p:cNvSpPr txBox="1">
            <a:spLocks noChangeArrowheads="1"/>
          </p:cNvSpPr>
          <p:nvPr/>
        </p:nvSpPr>
        <p:spPr bwMode="auto">
          <a:xfrm>
            <a:off x="1600200" y="5257800"/>
            <a:ext cx="609600" cy="641350"/>
          </a:xfrm>
          <a:prstGeom prst="rect">
            <a:avLst/>
          </a:prstGeom>
          <a:solidFill>
            <a:srgbClr val="DFA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0</a:t>
            </a:r>
          </a:p>
        </p:txBody>
      </p:sp>
      <p:sp>
        <p:nvSpPr>
          <p:cNvPr id="454728" name="Text Box 72"/>
          <p:cNvSpPr txBox="1">
            <a:spLocks noChangeArrowheads="1"/>
          </p:cNvSpPr>
          <p:nvPr/>
        </p:nvSpPr>
        <p:spPr bwMode="auto">
          <a:xfrm>
            <a:off x="4648200" y="5302250"/>
            <a:ext cx="641350" cy="641350"/>
          </a:xfrm>
          <a:prstGeom prst="rect">
            <a:avLst/>
          </a:prstGeom>
          <a:solidFill>
            <a:srgbClr val="C673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7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4729" name="Text Box 73"/>
          <p:cNvSpPr txBox="1">
            <a:spLocks noChangeArrowheads="1"/>
          </p:cNvSpPr>
          <p:nvPr/>
        </p:nvSpPr>
        <p:spPr bwMode="auto">
          <a:xfrm>
            <a:off x="517525" y="6096000"/>
            <a:ext cx="7489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FF"/>
                </a:solidFill>
                <a:latin typeface="Times New Roman" charset="0"/>
                <a:ea typeface="隶书" charset="0"/>
              </a:rPr>
              <a:t>拓扑有序序列</a:t>
            </a:r>
            <a:r>
              <a:rPr kumimoji="1" lang="en-US" altLang="zh-CN" sz="3200" b="1">
                <a:solidFill>
                  <a:srgbClr val="0000FF"/>
                </a:solidFill>
                <a:latin typeface="Times New Roman" charset="0"/>
                <a:ea typeface="隶书" charset="0"/>
              </a:rPr>
              <a:t>:  </a:t>
            </a:r>
            <a:r>
              <a:rPr kumimoji="1" lang="en-US" altLang="zh-CN" sz="3200" b="1">
                <a:solidFill>
                  <a:srgbClr val="CC0000"/>
                </a:solidFill>
                <a:latin typeface="Times New Roman" charset="0"/>
                <a:ea typeface="隶书" charset="0"/>
              </a:rPr>
              <a:t>a - d - f - c - b - e - h - g - k</a:t>
            </a:r>
            <a:endParaRPr kumimoji="1" lang="en-US" altLang="zh-CN" sz="3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30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5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54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54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5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5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5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5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5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5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5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5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54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54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5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4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54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54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54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54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18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54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8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54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19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54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454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54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45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454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1" dur="500"/>
                                        <p:tgtEl>
                                          <p:spTgt spid="454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5" dur="500"/>
                                        <p:tgtEl>
                                          <p:spTgt spid="454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454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3" dur="500"/>
                                        <p:tgtEl>
                                          <p:spTgt spid="45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7" dur="500"/>
                                        <p:tgtEl>
                                          <p:spTgt spid="45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1" dur="500"/>
                                        <p:tgtEl>
                                          <p:spTgt spid="45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5" dur="500"/>
                                        <p:tgtEl>
                                          <p:spTgt spid="45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37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9" dur="500"/>
                                        <p:tgtEl>
                                          <p:spTgt spid="45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41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45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45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7" dur="500"/>
                                        <p:tgtEl>
                                          <p:spTgt spid="45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49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1" dur="500"/>
                                        <p:tgtEl>
                                          <p:spTgt spid="45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53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5" dur="500"/>
                                        <p:tgtEl>
                                          <p:spTgt spid="45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57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45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261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3" dur="500"/>
                                        <p:tgtEl>
                                          <p:spTgt spid="45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 nodeType="afterGroup">
                            <p:stCondLst>
                              <p:cond delay="22000"/>
                            </p:stCondLst>
                            <p:childTnLst>
                              <p:par>
                                <p:cTn id="265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7" dur="500"/>
                                        <p:tgtEl>
                                          <p:spTgt spid="45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269" presetID="2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1" dur="500"/>
                                        <p:tgtEl>
                                          <p:spTgt spid="45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8" grpId="0" animBg="1" autoUpdateAnimBg="0"/>
      <p:bldP spid="454659" grpId="0" animBg="1" autoUpdateAnimBg="0"/>
      <p:bldP spid="454660" grpId="0" animBg="1" autoUpdateAnimBg="0"/>
      <p:bldP spid="454661" grpId="0" animBg="1" autoUpdateAnimBg="0"/>
      <p:bldP spid="454662" grpId="0" animBg="1" autoUpdateAnimBg="0"/>
      <p:bldP spid="454663" grpId="0" animBg="1" autoUpdateAnimBg="0"/>
      <p:bldP spid="454664" grpId="0" animBg="1" autoUpdateAnimBg="0"/>
      <p:bldP spid="454665" grpId="0" animBg="1" autoUpdateAnimBg="0"/>
      <p:bldP spid="454666" grpId="0" animBg="1" autoUpdateAnimBg="0"/>
      <p:bldP spid="454667" grpId="0" animBg="1"/>
      <p:bldP spid="454668" grpId="0" animBg="1"/>
      <p:bldP spid="454669" grpId="0" animBg="1"/>
      <p:bldP spid="454670" grpId="0" animBg="1"/>
      <p:bldP spid="454671" grpId="0" animBg="1"/>
      <p:bldP spid="454672" grpId="0" animBg="1"/>
      <p:bldP spid="454673" grpId="0" animBg="1"/>
      <p:bldP spid="454674" grpId="0" animBg="1"/>
      <p:bldP spid="454675" grpId="0" animBg="1"/>
      <p:bldP spid="454676" grpId="0" animBg="1"/>
      <p:bldP spid="454677" grpId="0" animBg="1"/>
      <p:bldP spid="454678" grpId="0" autoUpdateAnimBg="0"/>
      <p:bldP spid="454679" grpId="0" autoUpdateAnimBg="0"/>
      <p:bldP spid="454680" grpId="0" autoUpdateAnimBg="0"/>
      <p:bldP spid="454681" grpId="0" autoUpdateAnimBg="0"/>
      <p:bldP spid="454682" grpId="0" autoUpdateAnimBg="0"/>
      <p:bldP spid="454683" grpId="0" autoUpdateAnimBg="0"/>
      <p:bldP spid="454684" grpId="0" autoUpdateAnimBg="0"/>
      <p:bldP spid="454685" grpId="0" autoUpdateAnimBg="0"/>
      <p:bldP spid="454686" grpId="0" autoUpdateAnimBg="0"/>
      <p:bldP spid="454687" grpId="0" autoUpdateAnimBg="0"/>
      <p:bldP spid="454688" grpId="0" autoUpdateAnimBg="0"/>
      <p:bldP spid="454689" grpId="0" animBg="1"/>
      <p:bldP spid="454690" grpId="0" animBg="1"/>
      <p:bldP spid="454692" grpId="0" autoUpdateAnimBg="0"/>
      <p:bldP spid="454693" grpId="0" autoUpdateAnimBg="0"/>
      <p:bldP spid="454694" grpId="0" autoUpdateAnimBg="0"/>
      <p:bldP spid="454695" grpId="0" autoUpdateAnimBg="0"/>
      <p:bldP spid="454696" grpId="0" autoUpdateAnimBg="0"/>
      <p:bldP spid="454697" grpId="0" autoUpdateAnimBg="0"/>
      <p:bldP spid="454698" grpId="0" autoUpdateAnimBg="0"/>
      <p:bldP spid="454699" grpId="0" autoUpdateAnimBg="0"/>
      <p:bldP spid="454700" grpId="0" autoUpdateAnimBg="0"/>
      <p:bldP spid="454701" grpId="0" animBg="1" autoUpdateAnimBg="0"/>
      <p:bldP spid="454702" grpId="0" animBg="1" autoUpdateAnimBg="0"/>
      <p:bldP spid="454703" grpId="0" animBg="1" autoUpdateAnimBg="0"/>
      <p:bldP spid="454704" grpId="0" animBg="1" autoUpdateAnimBg="0"/>
      <p:bldP spid="454705" grpId="0" animBg="1" autoUpdateAnimBg="0"/>
      <p:bldP spid="454706" grpId="0" animBg="1" autoUpdateAnimBg="0"/>
      <p:bldP spid="454707" grpId="0" animBg="1" autoUpdateAnimBg="0"/>
      <p:bldP spid="454708" grpId="0" animBg="1" autoUpdateAnimBg="0"/>
      <p:bldP spid="454709" grpId="0" animBg="1" autoUpdateAnimBg="0"/>
      <p:bldP spid="454710" grpId="0" animBg="1" autoUpdateAnimBg="0"/>
      <p:bldP spid="454711" grpId="0" autoUpdateAnimBg="0"/>
      <p:bldP spid="454712" grpId="0" autoUpdateAnimBg="0"/>
      <p:bldP spid="454713" grpId="0" autoUpdateAnimBg="0"/>
      <p:bldP spid="454714" grpId="0" autoUpdateAnimBg="0"/>
      <p:bldP spid="454715" grpId="0" autoUpdateAnimBg="0"/>
      <p:bldP spid="454716" grpId="0" autoUpdateAnimBg="0"/>
      <p:bldP spid="454717" grpId="0" autoUpdateAnimBg="0"/>
      <p:bldP spid="454718" grpId="0" autoUpdateAnimBg="0"/>
      <p:bldP spid="454719" grpId="0" autoUpdateAnimBg="0"/>
      <p:bldP spid="454720" grpId="0" animBg="1" autoUpdateAnimBg="0"/>
      <p:bldP spid="454721" grpId="0" animBg="1" autoUpdateAnimBg="0"/>
      <p:bldP spid="454722" grpId="0" animBg="1" autoUpdateAnimBg="0"/>
      <p:bldP spid="454723" grpId="0" animBg="1" autoUpdateAnimBg="0"/>
      <p:bldP spid="454724" grpId="0" animBg="1" autoUpdateAnimBg="0"/>
      <p:bldP spid="454725" grpId="0" animBg="1" autoUpdateAnimBg="0"/>
      <p:bldP spid="454726" grpId="0" animBg="1" autoUpdateAnimBg="0"/>
      <p:bldP spid="454727" grpId="0" animBg="1" autoUpdateAnimBg="0"/>
      <p:bldP spid="454728" grpId="0" animBg="1" autoUpdateAnimBg="0"/>
      <p:bldP spid="454729" grpId="0" autoUpdateAnimBg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Line 2"/>
          <p:cNvSpPr>
            <a:spLocks noChangeShapeType="1"/>
          </p:cNvSpPr>
          <p:nvPr/>
        </p:nvSpPr>
        <p:spPr bwMode="auto">
          <a:xfrm>
            <a:off x="685800" y="2501900"/>
            <a:ext cx="7696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683" name="Line 3"/>
          <p:cNvSpPr>
            <a:spLocks noChangeShapeType="1"/>
          </p:cNvSpPr>
          <p:nvPr/>
        </p:nvSpPr>
        <p:spPr bwMode="auto">
          <a:xfrm>
            <a:off x="8382000" y="368300"/>
            <a:ext cx="0" cy="2133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5684" name="Object 4"/>
          <p:cNvGraphicFramePr>
            <a:graphicFrameLocks noChangeAspect="1"/>
          </p:cNvGraphicFramePr>
          <p:nvPr/>
        </p:nvGraphicFramePr>
        <p:xfrm>
          <a:off x="768350" y="381000"/>
          <a:ext cx="7613650" cy="227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497" name="文档" r:id="rId3" imgW="7609840" imgH="2275840" progId="Word.Document.8">
                  <p:embed/>
                </p:oleObj>
              </mc:Choice>
              <mc:Fallback>
                <p:oleObj name="文档" r:id="rId3" imgW="7609840" imgH="2275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381000"/>
                        <a:ext cx="7613650" cy="227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685" name="Text Box 5"/>
          <p:cNvSpPr txBox="1">
            <a:spLocks noChangeArrowheads="1"/>
          </p:cNvSpPr>
          <p:nvPr/>
        </p:nvSpPr>
        <p:spPr bwMode="auto">
          <a:xfrm>
            <a:off x="1676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86" name="Text Box 6"/>
          <p:cNvSpPr txBox="1">
            <a:spLocks noChangeArrowheads="1"/>
          </p:cNvSpPr>
          <p:nvPr/>
        </p:nvSpPr>
        <p:spPr bwMode="auto">
          <a:xfrm>
            <a:off x="2438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6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87" name="Text Box 7"/>
          <p:cNvSpPr txBox="1">
            <a:spLocks noChangeArrowheads="1"/>
          </p:cNvSpPr>
          <p:nvPr/>
        </p:nvSpPr>
        <p:spPr bwMode="auto">
          <a:xfrm>
            <a:off x="3200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4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88" name="Text Box 8"/>
          <p:cNvSpPr txBox="1">
            <a:spLocks noChangeArrowheads="1"/>
          </p:cNvSpPr>
          <p:nvPr/>
        </p:nvSpPr>
        <p:spPr bwMode="auto">
          <a:xfrm>
            <a:off x="3962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5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89" name="Text Box 9"/>
          <p:cNvSpPr txBox="1">
            <a:spLocks noChangeArrowheads="1"/>
          </p:cNvSpPr>
          <p:nvPr/>
        </p:nvSpPr>
        <p:spPr bwMode="auto">
          <a:xfrm>
            <a:off x="4724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7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0" name="Text Box 10"/>
          <p:cNvSpPr txBox="1">
            <a:spLocks noChangeArrowheads="1"/>
          </p:cNvSpPr>
          <p:nvPr/>
        </p:nvSpPr>
        <p:spPr bwMode="auto">
          <a:xfrm>
            <a:off x="5486400" y="11303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7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1" name="Text Box 11"/>
          <p:cNvSpPr txBox="1">
            <a:spLocks noChangeArrowheads="1"/>
          </p:cNvSpPr>
          <p:nvPr/>
        </p:nvSpPr>
        <p:spPr bwMode="auto">
          <a:xfrm>
            <a:off x="6172200" y="11303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15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2" name="Text Box 12"/>
          <p:cNvSpPr txBox="1">
            <a:spLocks noChangeArrowheads="1"/>
          </p:cNvSpPr>
          <p:nvPr/>
        </p:nvSpPr>
        <p:spPr bwMode="auto">
          <a:xfrm>
            <a:off x="6902450" y="11303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14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3" name="Text Box 13"/>
          <p:cNvSpPr txBox="1">
            <a:spLocks noChangeArrowheads="1"/>
          </p:cNvSpPr>
          <p:nvPr/>
        </p:nvSpPr>
        <p:spPr bwMode="auto">
          <a:xfrm>
            <a:off x="7696200" y="11303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</a:rPr>
              <a:t>18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4" name="Text Box 14"/>
          <p:cNvSpPr txBox="1">
            <a:spLocks noChangeArrowheads="1"/>
          </p:cNvSpPr>
          <p:nvPr/>
        </p:nvSpPr>
        <p:spPr bwMode="auto">
          <a:xfrm>
            <a:off x="7664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18</a:t>
            </a:r>
          </a:p>
        </p:txBody>
      </p:sp>
      <p:sp>
        <p:nvSpPr>
          <p:cNvPr id="455695" name="Text Box 15"/>
          <p:cNvSpPr txBox="1">
            <a:spLocks noChangeArrowheads="1"/>
          </p:cNvSpPr>
          <p:nvPr/>
        </p:nvSpPr>
        <p:spPr bwMode="auto">
          <a:xfrm>
            <a:off x="6902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14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6" name="Text Box 16"/>
          <p:cNvSpPr txBox="1">
            <a:spLocks noChangeArrowheads="1"/>
          </p:cNvSpPr>
          <p:nvPr/>
        </p:nvSpPr>
        <p:spPr bwMode="auto">
          <a:xfrm>
            <a:off x="6140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16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7" name="Text Box 17"/>
          <p:cNvSpPr txBox="1">
            <a:spLocks noChangeArrowheads="1"/>
          </p:cNvSpPr>
          <p:nvPr/>
        </p:nvSpPr>
        <p:spPr bwMode="auto">
          <a:xfrm>
            <a:off x="5378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10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698" name="Text Box 18"/>
          <p:cNvSpPr txBox="1">
            <a:spLocks noChangeArrowheads="1"/>
          </p:cNvSpPr>
          <p:nvPr/>
        </p:nvSpPr>
        <p:spPr bwMode="auto">
          <a:xfrm>
            <a:off x="4648200" y="1816100"/>
            <a:ext cx="60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7</a:t>
            </a:r>
          </a:p>
        </p:txBody>
      </p:sp>
      <p:sp>
        <p:nvSpPr>
          <p:cNvPr id="455699" name="Text Box 19"/>
          <p:cNvSpPr txBox="1">
            <a:spLocks noChangeArrowheads="1"/>
          </p:cNvSpPr>
          <p:nvPr/>
        </p:nvSpPr>
        <p:spPr bwMode="auto">
          <a:xfrm>
            <a:off x="3854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8</a:t>
            </a:r>
          </a:p>
        </p:txBody>
      </p:sp>
      <p:sp>
        <p:nvSpPr>
          <p:cNvPr id="455700" name="Text Box 20"/>
          <p:cNvSpPr txBox="1">
            <a:spLocks noChangeArrowheads="1"/>
          </p:cNvSpPr>
          <p:nvPr/>
        </p:nvSpPr>
        <p:spPr bwMode="auto">
          <a:xfrm>
            <a:off x="3124200" y="1816100"/>
            <a:ext cx="533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6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701" name="Text Box 21"/>
          <p:cNvSpPr txBox="1">
            <a:spLocks noChangeArrowheads="1"/>
          </p:cNvSpPr>
          <p:nvPr/>
        </p:nvSpPr>
        <p:spPr bwMode="auto">
          <a:xfrm>
            <a:off x="2330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6</a:t>
            </a:r>
            <a:endParaRPr kumimoji="1" lang="en-US" altLang="zh-CN" sz="3600">
              <a:latin typeface="Times New Roman" charset="0"/>
            </a:endParaRPr>
          </a:p>
        </p:txBody>
      </p:sp>
      <p:sp>
        <p:nvSpPr>
          <p:cNvPr id="455702" name="Text Box 22"/>
          <p:cNvSpPr txBox="1">
            <a:spLocks noChangeArrowheads="1"/>
          </p:cNvSpPr>
          <p:nvPr/>
        </p:nvSpPr>
        <p:spPr bwMode="auto">
          <a:xfrm>
            <a:off x="1568450" y="18161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600" b="1">
                <a:solidFill>
                  <a:srgbClr val="580094"/>
                </a:solidFill>
                <a:latin typeface="Times New Roman" charset="0"/>
              </a:rPr>
              <a:t>0</a:t>
            </a:r>
            <a:endParaRPr kumimoji="1" lang="en-US" altLang="zh-CN" sz="3600">
              <a:latin typeface="Times New Roman" charset="0"/>
            </a:endParaRPr>
          </a:p>
        </p:txBody>
      </p:sp>
      <p:graphicFrame>
        <p:nvGraphicFramePr>
          <p:cNvPr id="455703" name="Object 23"/>
          <p:cNvGraphicFramePr>
            <a:graphicFrameLocks noChangeAspect="1"/>
          </p:cNvGraphicFramePr>
          <p:nvPr/>
        </p:nvGraphicFramePr>
        <p:xfrm>
          <a:off x="484188" y="3048000"/>
          <a:ext cx="8278812" cy="356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498" name="文档" r:id="rId5" imgW="8295640" imgH="3566160" progId="Word.Document.8">
                  <p:embed/>
                </p:oleObj>
              </mc:Choice>
              <mc:Fallback>
                <p:oleObj name="文档" r:id="rId5" imgW="8295640" imgH="3566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3048000"/>
                        <a:ext cx="8278812" cy="356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5704" name="Line 24"/>
          <p:cNvSpPr>
            <a:spLocks noChangeShapeType="1"/>
          </p:cNvSpPr>
          <p:nvPr/>
        </p:nvSpPr>
        <p:spPr bwMode="auto">
          <a:xfrm>
            <a:off x="609600" y="6400800"/>
            <a:ext cx="8153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705" name="Line 25"/>
          <p:cNvSpPr>
            <a:spLocks noChangeShapeType="1"/>
          </p:cNvSpPr>
          <p:nvPr/>
        </p:nvSpPr>
        <p:spPr bwMode="auto">
          <a:xfrm>
            <a:off x="8763000" y="3124200"/>
            <a:ext cx="0" cy="3276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706" name="Text Box 26"/>
          <p:cNvSpPr txBox="1">
            <a:spLocks noChangeArrowheads="1"/>
          </p:cNvSpPr>
          <p:nvPr/>
        </p:nvSpPr>
        <p:spPr bwMode="auto">
          <a:xfrm>
            <a:off x="114300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07" name="Text Box 27"/>
          <p:cNvSpPr txBox="1">
            <a:spLocks noChangeArrowheads="1"/>
          </p:cNvSpPr>
          <p:nvPr/>
        </p:nvSpPr>
        <p:spPr bwMode="auto">
          <a:xfrm>
            <a:off x="187325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08" name="Text Box 28"/>
          <p:cNvSpPr txBox="1">
            <a:spLocks noChangeArrowheads="1"/>
          </p:cNvSpPr>
          <p:nvPr/>
        </p:nvSpPr>
        <p:spPr bwMode="auto">
          <a:xfrm>
            <a:off x="255905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0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09" name="Text Box 29"/>
          <p:cNvSpPr txBox="1">
            <a:spLocks noChangeArrowheads="1"/>
          </p:cNvSpPr>
          <p:nvPr/>
        </p:nvSpPr>
        <p:spPr bwMode="auto">
          <a:xfrm>
            <a:off x="324485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0" name="Text Box 30"/>
          <p:cNvSpPr txBox="1">
            <a:spLocks noChangeArrowheads="1"/>
          </p:cNvSpPr>
          <p:nvPr/>
        </p:nvSpPr>
        <p:spPr bwMode="auto">
          <a:xfrm>
            <a:off x="396240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1" name="Text Box 31"/>
          <p:cNvSpPr txBox="1">
            <a:spLocks noChangeArrowheads="1"/>
          </p:cNvSpPr>
          <p:nvPr/>
        </p:nvSpPr>
        <p:spPr bwMode="auto">
          <a:xfrm>
            <a:off x="469265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5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2" name="Text Box 32"/>
          <p:cNvSpPr txBox="1">
            <a:spLocks noChangeArrowheads="1"/>
          </p:cNvSpPr>
          <p:nvPr/>
        </p:nvSpPr>
        <p:spPr bwMode="auto">
          <a:xfrm>
            <a:off x="537845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3" name="Text Box 33"/>
          <p:cNvSpPr txBox="1">
            <a:spLocks noChangeArrowheads="1"/>
          </p:cNvSpPr>
          <p:nvPr/>
        </p:nvSpPr>
        <p:spPr bwMode="auto">
          <a:xfrm>
            <a:off x="609600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4" name="Text Box 34"/>
          <p:cNvSpPr txBox="1">
            <a:spLocks noChangeArrowheads="1"/>
          </p:cNvSpPr>
          <p:nvPr/>
        </p:nvSpPr>
        <p:spPr bwMode="auto">
          <a:xfrm>
            <a:off x="6781800" y="43434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5" name="Text Box 35"/>
          <p:cNvSpPr txBox="1">
            <a:spLocks noChangeArrowheads="1"/>
          </p:cNvSpPr>
          <p:nvPr/>
        </p:nvSpPr>
        <p:spPr bwMode="auto">
          <a:xfrm>
            <a:off x="7359650" y="43434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15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6" name="Text Box 36"/>
          <p:cNvSpPr txBox="1">
            <a:spLocks noChangeArrowheads="1"/>
          </p:cNvSpPr>
          <p:nvPr/>
        </p:nvSpPr>
        <p:spPr bwMode="auto">
          <a:xfrm>
            <a:off x="8077200" y="43434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9900FF"/>
                </a:solidFill>
                <a:latin typeface="Times New Roman" charset="0"/>
              </a:rPr>
              <a:t>14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7" name="Text Box 37"/>
          <p:cNvSpPr txBox="1">
            <a:spLocks noChangeArrowheads="1"/>
          </p:cNvSpPr>
          <p:nvPr/>
        </p:nvSpPr>
        <p:spPr bwMode="auto">
          <a:xfrm>
            <a:off x="8077200" y="50736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14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8" name="Text Box 38"/>
          <p:cNvSpPr txBox="1">
            <a:spLocks noChangeArrowheads="1"/>
          </p:cNvSpPr>
          <p:nvPr/>
        </p:nvSpPr>
        <p:spPr bwMode="auto">
          <a:xfrm>
            <a:off x="7391400" y="50736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16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19" name="Text Box 39"/>
          <p:cNvSpPr txBox="1">
            <a:spLocks noChangeArrowheads="1"/>
          </p:cNvSpPr>
          <p:nvPr/>
        </p:nvSpPr>
        <p:spPr bwMode="auto">
          <a:xfrm>
            <a:off x="114300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0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0" name="Text Box 40"/>
          <p:cNvSpPr txBox="1">
            <a:spLocks noChangeArrowheads="1"/>
          </p:cNvSpPr>
          <p:nvPr/>
        </p:nvSpPr>
        <p:spPr bwMode="auto">
          <a:xfrm>
            <a:off x="187325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1" name="Text Box 41"/>
          <p:cNvSpPr txBox="1">
            <a:spLocks noChangeArrowheads="1"/>
          </p:cNvSpPr>
          <p:nvPr/>
        </p:nvSpPr>
        <p:spPr bwMode="auto">
          <a:xfrm>
            <a:off x="255905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3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2" name="Text Box 42"/>
          <p:cNvSpPr txBox="1">
            <a:spLocks noChangeArrowheads="1"/>
          </p:cNvSpPr>
          <p:nvPr/>
        </p:nvSpPr>
        <p:spPr bwMode="auto">
          <a:xfrm>
            <a:off x="324485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3" name="Text Box 43"/>
          <p:cNvSpPr txBox="1">
            <a:spLocks noChangeArrowheads="1"/>
          </p:cNvSpPr>
          <p:nvPr/>
        </p:nvSpPr>
        <p:spPr bwMode="auto">
          <a:xfrm>
            <a:off x="396240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6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4" name="Text Box 44"/>
          <p:cNvSpPr txBox="1">
            <a:spLocks noChangeArrowheads="1"/>
          </p:cNvSpPr>
          <p:nvPr/>
        </p:nvSpPr>
        <p:spPr bwMode="auto">
          <a:xfrm>
            <a:off x="469265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5" name="Text Box 45"/>
          <p:cNvSpPr txBox="1">
            <a:spLocks noChangeArrowheads="1"/>
          </p:cNvSpPr>
          <p:nvPr/>
        </p:nvSpPr>
        <p:spPr bwMode="auto">
          <a:xfrm>
            <a:off x="537845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8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6" name="Text Box 46"/>
          <p:cNvSpPr txBox="1">
            <a:spLocks noChangeArrowheads="1"/>
          </p:cNvSpPr>
          <p:nvPr/>
        </p:nvSpPr>
        <p:spPr bwMode="auto">
          <a:xfrm>
            <a:off x="6096000" y="5073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7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55727" name="Text Box 47"/>
          <p:cNvSpPr txBox="1">
            <a:spLocks noChangeArrowheads="1"/>
          </p:cNvSpPr>
          <p:nvPr/>
        </p:nvSpPr>
        <p:spPr bwMode="auto">
          <a:xfrm>
            <a:off x="6673850" y="50736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CC0000"/>
                </a:solidFill>
                <a:latin typeface="Times New Roman" charset="0"/>
              </a:rPr>
              <a:t>10</a:t>
            </a:r>
            <a:endParaRPr kumimoji="1" lang="en-US" altLang="zh-CN" sz="3200">
              <a:latin typeface="Times New Roman" charset="0"/>
            </a:endParaRPr>
          </a:p>
        </p:txBody>
      </p:sp>
      <p:graphicFrame>
        <p:nvGraphicFramePr>
          <p:cNvPr id="455728" name="Object 48"/>
          <p:cNvGraphicFramePr>
            <a:graphicFrameLocks noChangeAspect="1"/>
          </p:cNvGraphicFramePr>
          <p:nvPr/>
        </p:nvGraphicFramePr>
        <p:xfrm>
          <a:off x="3200400" y="580707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499" name="剪辑" r:id="rId7" imgW="361918" imgH="304816" progId="MS_ClipArt_Gallery.2">
                  <p:embed/>
                </p:oleObj>
              </mc:Choice>
              <mc:Fallback>
                <p:oleObj name="剪辑" r:id="rId7" imgW="361918" imgH="304816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807075"/>
                        <a:ext cx="6096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729" name="Object 49"/>
          <p:cNvGraphicFramePr>
            <a:graphicFrameLocks noChangeAspect="1"/>
          </p:cNvGraphicFramePr>
          <p:nvPr/>
        </p:nvGraphicFramePr>
        <p:xfrm>
          <a:off x="1143000" y="580707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500" name="剪辑" r:id="rId9" imgW="361918" imgH="304816" progId="MS_ClipArt_Gallery.2">
                  <p:embed/>
                </p:oleObj>
              </mc:Choice>
              <mc:Fallback>
                <p:oleObj name="剪辑" r:id="rId9" imgW="361918" imgH="304816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807075"/>
                        <a:ext cx="6096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730" name="Object 50"/>
          <p:cNvGraphicFramePr>
            <a:graphicFrameLocks noChangeAspect="1"/>
          </p:cNvGraphicFramePr>
          <p:nvPr/>
        </p:nvGraphicFramePr>
        <p:xfrm>
          <a:off x="6019800" y="580707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501" name="剪辑" r:id="rId11" imgW="361918" imgH="304816" progId="MS_ClipArt_Gallery.2">
                  <p:embed/>
                </p:oleObj>
              </mc:Choice>
              <mc:Fallback>
                <p:oleObj name="剪辑" r:id="rId11" imgW="361918" imgH="304816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807075"/>
                        <a:ext cx="6096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5731" name="Object 51"/>
          <p:cNvGraphicFramePr>
            <a:graphicFrameLocks noChangeAspect="1"/>
          </p:cNvGraphicFramePr>
          <p:nvPr/>
        </p:nvGraphicFramePr>
        <p:xfrm>
          <a:off x="8153400" y="5807075"/>
          <a:ext cx="609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8502" name="剪辑" r:id="rId13" imgW="361918" imgH="304816" progId="MS_ClipArt_Gallery.2">
                  <p:embed/>
                </p:oleObj>
              </mc:Choice>
              <mc:Fallback>
                <p:oleObj name="剪辑" r:id="rId13" imgW="361918" imgH="304816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5807075"/>
                        <a:ext cx="6096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7111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5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56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55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55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55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5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5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5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5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455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55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55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45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5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8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45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4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45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45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5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5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55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5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5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5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5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5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5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5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5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5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5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5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5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5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7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5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260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5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5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290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455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305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55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32000"/>
                            </p:stCondLst>
                            <p:childTnLst>
                              <p:par>
                                <p:cTn id="19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45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33500"/>
                            </p:stCondLst>
                            <p:childTnLst>
                              <p:par>
                                <p:cTn id="20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5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 nodeType="afterGroup">
                            <p:stCondLst>
                              <p:cond delay="350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5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36500"/>
                            </p:stCondLst>
                            <p:childTnLst>
                              <p:par>
                                <p:cTn id="20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5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682" grpId="0" animBg="1"/>
      <p:bldP spid="455683" grpId="0" animBg="1"/>
      <p:bldP spid="455685" grpId="0" autoUpdateAnimBg="0"/>
      <p:bldP spid="455686" grpId="0" autoUpdateAnimBg="0"/>
      <p:bldP spid="455687" grpId="0" autoUpdateAnimBg="0"/>
      <p:bldP spid="455688" grpId="0" autoUpdateAnimBg="0"/>
      <p:bldP spid="455689" grpId="0" autoUpdateAnimBg="0"/>
      <p:bldP spid="455690" grpId="0" autoUpdateAnimBg="0"/>
      <p:bldP spid="455691" grpId="0" autoUpdateAnimBg="0"/>
      <p:bldP spid="455692" grpId="0" autoUpdateAnimBg="0"/>
      <p:bldP spid="455693" grpId="0" autoUpdateAnimBg="0"/>
      <p:bldP spid="455694" grpId="0" autoUpdateAnimBg="0"/>
      <p:bldP spid="455695" grpId="0" autoUpdateAnimBg="0"/>
      <p:bldP spid="455696" grpId="0" autoUpdateAnimBg="0"/>
      <p:bldP spid="455697" grpId="0" autoUpdateAnimBg="0"/>
      <p:bldP spid="455698" grpId="0" autoUpdateAnimBg="0"/>
      <p:bldP spid="455699" grpId="0" autoUpdateAnimBg="0"/>
      <p:bldP spid="455700" grpId="0" autoUpdateAnimBg="0"/>
      <p:bldP spid="455701" grpId="0" autoUpdateAnimBg="0"/>
      <p:bldP spid="455702" grpId="0" autoUpdateAnimBg="0"/>
      <p:bldP spid="455704" grpId="0" animBg="1"/>
      <p:bldP spid="455705" grpId="0" animBg="1"/>
      <p:bldP spid="455706" grpId="0" autoUpdateAnimBg="0"/>
      <p:bldP spid="455707" grpId="0" autoUpdateAnimBg="0"/>
      <p:bldP spid="455708" grpId="0" autoUpdateAnimBg="0"/>
      <p:bldP spid="455709" grpId="0" autoUpdateAnimBg="0"/>
      <p:bldP spid="455710" grpId="0" autoUpdateAnimBg="0"/>
      <p:bldP spid="455711" grpId="0" autoUpdateAnimBg="0"/>
      <p:bldP spid="455712" grpId="0" autoUpdateAnimBg="0"/>
      <p:bldP spid="455713" grpId="0" autoUpdateAnimBg="0"/>
      <p:bldP spid="455714" grpId="0" autoUpdateAnimBg="0"/>
      <p:bldP spid="455715" grpId="0" autoUpdateAnimBg="0"/>
      <p:bldP spid="455716" grpId="0" autoUpdateAnimBg="0"/>
      <p:bldP spid="455717" grpId="0" autoUpdateAnimBg="0"/>
      <p:bldP spid="455718" grpId="0" autoUpdateAnimBg="0"/>
      <p:bldP spid="455719" grpId="0" autoUpdateAnimBg="0"/>
      <p:bldP spid="455720" grpId="0" autoUpdateAnimBg="0"/>
      <p:bldP spid="455721" grpId="0" autoUpdateAnimBg="0"/>
      <p:bldP spid="455722" grpId="0" autoUpdateAnimBg="0"/>
      <p:bldP spid="455723" grpId="0" autoUpdateAnimBg="0"/>
      <p:bldP spid="455724" grpId="0" autoUpdateAnimBg="0"/>
      <p:bldP spid="455725" grpId="0" autoUpdateAnimBg="0"/>
      <p:bldP spid="455726" grpId="0" autoUpdateAnimBg="0"/>
      <p:bldP spid="455727" grpId="0" autoUpdateAnimBg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Text Box 2"/>
          <p:cNvSpPr txBox="1">
            <a:spLocks noChangeArrowheads="1"/>
          </p:cNvSpPr>
          <p:nvPr/>
        </p:nvSpPr>
        <p:spPr bwMode="auto">
          <a:xfrm>
            <a:off x="2286000" y="152400"/>
            <a:ext cx="448945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55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44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算法的实现要点</a:t>
            </a:r>
            <a:r>
              <a:rPr kumimoji="1" lang="en-US" altLang="zh-CN" sz="4400" b="1">
                <a:solidFill>
                  <a:srgbClr val="6600CC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5500" b="1">
              <a:solidFill>
                <a:srgbClr val="6600CC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56707" name="Text Box 3"/>
          <p:cNvSpPr txBox="1">
            <a:spLocks noChangeArrowheads="1"/>
          </p:cNvSpPr>
          <p:nvPr/>
        </p:nvSpPr>
        <p:spPr bwMode="auto">
          <a:xfrm>
            <a:off x="136525" y="1306513"/>
            <a:ext cx="9007475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显然，求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ve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的顺序应该是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按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拓扑有序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次序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56708" name="Rectangle 4"/>
          <p:cNvSpPr>
            <a:spLocks noChangeArrowheads="1"/>
          </p:cNvSpPr>
          <p:nvPr/>
        </p:nvSpPr>
        <p:spPr bwMode="auto">
          <a:xfrm>
            <a:off x="304800" y="2286000"/>
            <a:ext cx="90233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而     求</a:t>
            </a:r>
            <a:r>
              <a:rPr kumimoji="1" lang="en-US" altLang="zh-CN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vl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的顺序应该是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按</a:t>
            </a:r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拓扑逆序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次序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456709" name="Rectangle 5"/>
          <p:cNvSpPr>
            <a:spLocks noChangeArrowheads="1"/>
          </p:cNvSpPr>
          <p:nvPr/>
        </p:nvSpPr>
        <p:spPr bwMode="auto">
          <a:xfrm>
            <a:off x="304800" y="3276600"/>
            <a:ext cx="84137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因为    拓扑逆序序列即为拓扑有序序列的</a:t>
            </a:r>
          </a:p>
          <a:p>
            <a:pPr eaLnBrk="1" hangingPunct="1"/>
            <a:r>
              <a:rPr kumimoji="1" lang="zh-CN" altLang="en-US" sz="36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         逆序列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</a:t>
            </a:r>
          </a:p>
        </p:txBody>
      </p:sp>
      <p:sp>
        <p:nvSpPr>
          <p:cNvPr id="456710" name="Rectangle 6"/>
          <p:cNvSpPr>
            <a:spLocks noChangeArrowheads="1"/>
          </p:cNvSpPr>
          <p:nvPr/>
        </p:nvSpPr>
        <p:spPr bwMode="auto">
          <a:xfrm>
            <a:off x="304800" y="4724400"/>
            <a:ext cx="7908925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因此    应该在拓扑排序的过程中，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另设一个</a:t>
            </a:r>
            <a:r>
              <a:rPr kumimoji="1" lang="zh-CN" altLang="en-US" sz="3600">
                <a:solidFill>
                  <a:srgbClr val="CC0000"/>
                </a:solidFill>
                <a:latin typeface="Times New Roman" charset="0"/>
                <a:ea typeface="楷体_GB2312" charset="0"/>
              </a:rPr>
              <a:t>“</a:t>
            </a:r>
            <a:r>
              <a:rPr kumimoji="1" lang="zh-CN" altLang="en-US" sz="3600" b="1">
                <a:solidFill>
                  <a:srgbClr val="FF0000"/>
                </a:solidFill>
                <a:latin typeface="Times New Roman" charset="0"/>
                <a:ea typeface="楷体_GB2312" charset="0"/>
              </a:rPr>
              <a:t>栈</a:t>
            </a:r>
            <a:r>
              <a:rPr kumimoji="1" lang="zh-CN" altLang="en-US" sz="3600">
                <a:solidFill>
                  <a:srgbClr val="CC0000"/>
                </a:solidFill>
                <a:latin typeface="Times New Roman" charset="0"/>
                <a:ea typeface="楷体_GB2312" charset="0"/>
              </a:rPr>
              <a:t>”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记下拓扑有序序列。</a:t>
            </a:r>
          </a:p>
        </p:txBody>
      </p:sp>
    </p:spTree>
    <p:extLst>
      <p:ext uri="{BB962C8B-B14F-4D97-AF65-F5344CB8AC3E}">
        <p14:creationId xmlns:p14="http://schemas.microsoft.com/office/powerpoint/2010/main" val="2407988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56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6" grpId="0" autoUpdateAnimBg="0"/>
      <p:bldP spid="456707" grpId="0" autoUpdateAnimBg="0"/>
      <p:bldP spid="456708" grpId="0" autoUpdateAnimBg="0"/>
      <p:bldP spid="456709" grpId="0" autoUpdateAnimBg="0"/>
      <p:bldP spid="456710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Text Box 2"/>
          <p:cNvSpPr txBox="1">
            <a:spLocks noChangeArrowheads="1"/>
          </p:cNvSpPr>
          <p:nvPr/>
        </p:nvSpPr>
        <p:spPr bwMode="auto">
          <a:xfrm>
            <a:off x="684213" y="-52388"/>
            <a:ext cx="423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求关键路径的算法步骤为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charset="0"/>
                <a:ea typeface="楷体_GB2312" charset="0"/>
              </a:rPr>
              <a:t>:</a:t>
            </a:r>
          </a:p>
        </p:txBody>
      </p:sp>
      <p:sp>
        <p:nvSpPr>
          <p:cNvPr id="457731" name="Text Box 3"/>
          <p:cNvSpPr txBox="1">
            <a:spLocks noChangeArrowheads="1"/>
          </p:cNvSpPr>
          <p:nvPr/>
        </p:nvSpPr>
        <p:spPr bwMode="auto">
          <a:xfrm>
            <a:off x="0" y="404813"/>
            <a:ext cx="9144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）输入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e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条弧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&lt;j,k&gt;,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建立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AOE-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网的存储结构；</a:t>
            </a:r>
          </a:p>
        </p:txBody>
      </p: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0" y="1052513"/>
            <a:ext cx="91440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）从源点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v0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出发，令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ve[0]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＝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0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，按拓扑有序求其余各顶点的最早发生时间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ve[i](1≤i≤n-1)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。如果得到的拓扑有序序列中顶点个数小于网中顶点数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n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，则说明网中存在环，不能求关键路径，算法终止；否则执行步骤（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3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</a:t>
            </a:r>
          </a:p>
        </p:txBody>
      </p:sp>
      <p:sp>
        <p:nvSpPr>
          <p:cNvPr id="457733" name="Text Box 5"/>
          <p:cNvSpPr txBox="1">
            <a:spLocks noChangeArrowheads="1"/>
          </p:cNvSpPr>
          <p:nvPr/>
        </p:nvSpPr>
        <p:spPr bwMode="auto">
          <a:xfrm>
            <a:off x="0" y="3644900"/>
            <a:ext cx="9144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3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）从汇点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vn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出发，令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vl[n-1]=ve[n-1],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按逆拓扑有序求其余各顶点的最迟发生时间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vl[i](n-2≥i≥2)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；</a:t>
            </a:r>
          </a:p>
        </p:txBody>
      </p:sp>
      <p:sp>
        <p:nvSpPr>
          <p:cNvPr id="457734" name="Text Box 6"/>
          <p:cNvSpPr txBox="1">
            <a:spLocks noChangeArrowheads="1"/>
          </p:cNvSpPr>
          <p:nvPr/>
        </p:nvSpPr>
        <p:spPr bwMode="auto">
          <a:xfrm>
            <a:off x="34925" y="5184775"/>
            <a:ext cx="91440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4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）根据各顶点的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ve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vl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值，求每条弧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的最早开始时间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e(s)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和最迟开始时间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（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）。若某条弧满足条件</a:t>
            </a:r>
            <a:r>
              <a:rPr kumimoji="1" lang="en-US" altLang="zh-CN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e(s)=l(s),</a:t>
            </a:r>
            <a:r>
              <a:rPr kumimoji="1" lang="zh-CN" altLang="en-US" sz="28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则为关键活动。</a:t>
            </a:r>
          </a:p>
        </p:txBody>
      </p:sp>
    </p:spTree>
    <p:extLst>
      <p:ext uri="{BB962C8B-B14F-4D97-AF65-F5344CB8AC3E}">
        <p14:creationId xmlns:p14="http://schemas.microsoft.com/office/powerpoint/2010/main" val="17032830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7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5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0" grpId="0" autoUpdateAnimBg="0"/>
      <p:bldP spid="457731" grpId="0" autoUpdateAnimBg="0"/>
      <p:bldP spid="457732" grpId="0" autoUpdateAnimBg="0"/>
      <p:bldP spid="457733" grpId="0" autoUpdateAnimBg="0"/>
      <p:bldP spid="457734" grpId="0" autoUpdateAnimBg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76200"/>
            <a:ext cx="9144000" cy="6858000"/>
          </a:xfrm>
          <a:solidFill>
            <a:schemeClr val="bg1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int topologicalOrder(ALGraph Stack &amp;T) 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{ /*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有向网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G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采用邻接表存储结构，求各顶点事件的最早发生时间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ve(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全局变量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)*/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/* T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为拓扑序列顶点栈，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S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为零入度顶点栈。*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/*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若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G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无回路，则用栈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T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返回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G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的一个拓扑序列，且函数值为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OK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，否则为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ERROR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。*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FindInDegree(G, indegree);       /*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对各顶点求入度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indegree[0..vernum-1]*/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InitStack(S);                            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建零入度顶点栈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S*/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count = 0;  ve[0..G.vexnum-1] = 0;     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/*</a:t>
            </a:r>
            <a:r>
              <a:rPr lang="zh-CN" altLang="en-US" sz="2400">
                <a:solidFill>
                  <a:srgbClr val="800000"/>
                </a:solidFill>
                <a:ea typeface="楷体_GB2312" charset="0"/>
              </a:rPr>
              <a:t>初始化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ve[ ]*/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for (i=0; i&lt;G.vexnum; i++) 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/*</a:t>
            </a:r>
            <a:r>
              <a:rPr lang="zh-CN" altLang="en-US" sz="2400">
                <a:solidFill>
                  <a:srgbClr val="800000"/>
                </a:solidFill>
                <a:ea typeface="楷体_GB2312" charset="0"/>
              </a:rPr>
              <a:t>将初始时入度为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0</a:t>
            </a:r>
            <a:r>
              <a:rPr lang="zh-CN" altLang="en-US" sz="2400">
                <a:solidFill>
                  <a:srgbClr val="800000"/>
                </a:solidFill>
                <a:ea typeface="楷体_GB2312" charset="0"/>
              </a:rPr>
              <a:t>的顶点入栈</a:t>
            </a:r>
            <a:endParaRPr lang="zh-CN" altLang="en-US" sz="2400">
              <a:solidFill>
                <a:srgbClr val="000099"/>
              </a:solidFill>
              <a:ea typeface="楷体_GB2312" charset="0"/>
            </a:endParaRPr>
          </a:p>
          <a:p>
            <a:pPr eaLnBrk="1" hangingPunct="1"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  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{if (indegree[i]==0)  push(S,i); 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if (count&lt;G. vexnum)  return 0; else return 1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；</a:t>
            </a:r>
          </a:p>
          <a:p>
            <a:pPr eaLnBrk="1" hangingPunct="1"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} /* TopologicalOrder*/</a:t>
            </a:r>
          </a:p>
        </p:txBody>
      </p:sp>
      <p:sp>
        <p:nvSpPr>
          <p:cNvPr id="117763" name="AutoShape 3"/>
          <p:cNvSpPr>
            <a:spLocks noChangeArrowheads="1"/>
          </p:cNvSpPr>
          <p:nvPr/>
        </p:nvSpPr>
        <p:spPr bwMode="auto">
          <a:xfrm>
            <a:off x="7092950" y="5229225"/>
            <a:ext cx="1582738" cy="1079500"/>
          </a:xfrm>
          <a:prstGeom prst="cloudCallout">
            <a:avLst>
              <a:gd name="adj1" fmla="val -199648"/>
              <a:gd name="adj2" fmla="val 125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latin typeface="Times New Roman" charset="0"/>
              </a:rPr>
              <a:t>next</a:t>
            </a:r>
          </a:p>
        </p:txBody>
      </p:sp>
      <p:sp>
        <p:nvSpPr>
          <p:cNvPr id="117764" name="Line 4"/>
          <p:cNvSpPr>
            <a:spLocks noChangeShapeType="1"/>
          </p:cNvSpPr>
          <p:nvPr/>
        </p:nvSpPr>
        <p:spPr bwMode="auto">
          <a:xfrm flipV="1">
            <a:off x="323850" y="5949950"/>
            <a:ext cx="43195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675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424863" cy="5073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while (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！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StackEmpty(S))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Pop (S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，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j);  Push (T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，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j);  ++ count;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/* j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号顶点入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T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栈并计数*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for (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ｐ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=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Ｇ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.adjlist[j].firstedge; p; p=p-&gt;next)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{ k = p-&gt;adjvex;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 /*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对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j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号顶点的每个邻接点的入度减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1*/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  if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（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- - indegree[k] = = 0)  Push(S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，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k);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 /*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若入度减为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0, 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则入栈*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  if (ve[j]+* (p-&gt;info)&gt;ve[k])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        ve[k] = ve[j]+*(p-&gt;info)</a:t>
            </a: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；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800">
                <a:solidFill>
                  <a:srgbClr val="000099"/>
                </a:solidFill>
                <a:ea typeface="楷体_GB2312" charset="0"/>
              </a:rPr>
              <a:t>    </a:t>
            </a: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99"/>
                </a:solidFill>
                <a:ea typeface="楷体_GB2312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6891045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int Criticalpath(ALGraph G)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{ 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/* G</a:t>
            </a:r>
            <a:r>
              <a:rPr lang="zh-CN" altLang="en-US" sz="2400">
                <a:solidFill>
                  <a:srgbClr val="800000"/>
                </a:solidFill>
                <a:ea typeface="楷体_GB2312" charset="0"/>
              </a:rPr>
              <a:t>为有向网，输出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G</a:t>
            </a:r>
            <a:r>
              <a:rPr lang="zh-CN" altLang="en-US" sz="2400">
                <a:solidFill>
                  <a:srgbClr val="800000"/>
                </a:solidFill>
                <a:ea typeface="楷体_GB2312" charset="0"/>
              </a:rPr>
              <a:t>的各项关键活动。*</a:t>
            </a:r>
            <a:r>
              <a:rPr lang="en-US" altLang="zh-CN" sz="2400">
                <a:solidFill>
                  <a:srgbClr val="800000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InitStack(T);     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建立用于产生拓扑逆序的栈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T*/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if (! TopologicalOrder (G,T) )   return 0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；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该有向网有回路返回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0*/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vl[0..G.vexnum-1] = ve [G.vexnum-1];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/*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初始化顶点事件的最迟发生时间*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逆拓扑有序过程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for ( j=0; j&lt;G. vexnum; + +j)            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求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ee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、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el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和关键活动*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 for (p=G.adjlist [j].firstedge; p; p = p-&gt;next)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  { k = p-&gt;adjvex;   dut= * (p-&gt;indo);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     e</a:t>
            </a: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e = ve [j]</a:t>
            </a:r>
            <a:r>
              <a:rPr lang="zh-CN" altLang="sv-SE" sz="2400">
                <a:solidFill>
                  <a:srgbClr val="000099"/>
                </a:solidFill>
                <a:ea typeface="楷体_GB2312" charset="0"/>
              </a:rPr>
              <a:t>；</a:t>
            </a: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el = vl [k] - dut;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          tag = (ee= =el) ? ‘*’:’’ 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          printf ( j,k,dut,ee,el,tag );                 /*</a:t>
            </a:r>
            <a:r>
              <a:rPr lang="zh-CN" altLang="sv-SE" sz="2400">
                <a:solidFill>
                  <a:srgbClr val="000099"/>
                </a:solidFill>
                <a:ea typeface="楷体_GB2312" charset="0"/>
              </a:rPr>
              <a:t>输出关键活动*</a:t>
            </a: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 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return 1;                                    /*</a:t>
            </a:r>
            <a:r>
              <a:rPr lang="zh-CN" altLang="sv-SE" sz="2400">
                <a:solidFill>
                  <a:srgbClr val="000099"/>
                </a:solidFill>
                <a:ea typeface="楷体_GB2312" charset="0"/>
              </a:rPr>
              <a:t>求出关键活动后返回</a:t>
            </a:r>
            <a:r>
              <a:rPr lang="sv-SE" altLang="zh-CN" sz="2400">
                <a:solidFill>
                  <a:srgbClr val="000099"/>
                </a:solidFill>
                <a:ea typeface="楷体_GB2312" charset="0"/>
              </a:rPr>
              <a:t>1*/</a:t>
            </a:r>
            <a:endParaRPr lang="en-US" altLang="zh-CN" sz="2400">
              <a:solidFill>
                <a:srgbClr val="000099"/>
              </a:solidFill>
              <a:ea typeface="楷体_GB2312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} /*Criticalpath*/</a:t>
            </a:r>
          </a:p>
        </p:txBody>
      </p:sp>
      <p:sp>
        <p:nvSpPr>
          <p:cNvPr id="119811" name="AutoShape 3"/>
          <p:cNvSpPr>
            <a:spLocks noChangeArrowheads="1"/>
          </p:cNvSpPr>
          <p:nvPr/>
        </p:nvSpPr>
        <p:spPr bwMode="auto">
          <a:xfrm>
            <a:off x="6400800" y="1752600"/>
            <a:ext cx="2305050" cy="1079500"/>
          </a:xfrm>
          <a:prstGeom prst="cloudCallout">
            <a:avLst>
              <a:gd name="adj1" fmla="val -171903"/>
              <a:gd name="adj2" fmla="val 7294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latin typeface="Times New Roman" charset="0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3041640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while (! StackEmpty (T) )  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     /*</a:t>
            </a:r>
            <a:r>
              <a:rPr lang="zh-CN" altLang="en-US">
                <a:solidFill>
                  <a:srgbClr val="000099"/>
                </a:solidFill>
                <a:ea typeface="楷体_GB2312" charset="0"/>
              </a:rPr>
              <a:t>按拓扑逆序求各顶点的</a:t>
            </a: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vl</a:t>
            </a:r>
            <a:r>
              <a:rPr lang="zh-CN" altLang="en-US">
                <a:solidFill>
                  <a:srgbClr val="000099"/>
                </a:solidFill>
                <a:ea typeface="楷体_GB2312" charset="0"/>
              </a:rPr>
              <a:t>值*</a:t>
            </a: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for (Pop(T,j), p=G. adjlist[j].firstedge; p; p=p-&gt;next) 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      { k=p-&gt;adjvex;  dut = * (p-&gt;info);   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       if ( vl [k]-dut &lt; vl [j] )  vl [j] = vl [k] – dut;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99"/>
                </a:solidFill>
                <a:ea typeface="楷体_GB2312" charset="0"/>
              </a:rPr>
              <a:t>      } </a:t>
            </a:r>
          </a:p>
        </p:txBody>
      </p:sp>
    </p:spTree>
    <p:extLst>
      <p:ext uri="{BB962C8B-B14F-4D97-AF65-F5344CB8AC3E}">
        <p14:creationId xmlns:p14="http://schemas.microsoft.com/office/powerpoint/2010/main" val="975964155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914400"/>
            <a:ext cx="6858000" cy="19812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altLang="zh-CN" sz="5400" b="0">
                <a:solidFill>
                  <a:srgbClr val="800000"/>
                </a:solidFill>
                <a:ea typeface="楷体_GB2312" charset="0"/>
              </a:rPr>
              <a:t>7.8  </a:t>
            </a:r>
            <a:r>
              <a:rPr lang="zh-CN" altLang="en-US" sz="5400" b="0">
                <a:solidFill>
                  <a:srgbClr val="800000"/>
                </a:solidFill>
                <a:ea typeface="楷体_GB2312" charset="0"/>
              </a:rPr>
              <a:t>两点之间的</a:t>
            </a:r>
            <a:br>
              <a:rPr lang="zh-CN" altLang="en-US" sz="5400" b="0">
                <a:solidFill>
                  <a:srgbClr val="800000"/>
                </a:solidFill>
                <a:ea typeface="楷体_GB2312" charset="0"/>
              </a:rPr>
            </a:br>
            <a:r>
              <a:rPr lang="zh-CN" altLang="en-US" sz="5400" b="0">
                <a:solidFill>
                  <a:srgbClr val="800000"/>
                </a:solidFill>
                <a:ea typeface="楷体_GB2312" charset="0"/>
              </a:rPr>
              <a:t>    最短路径问题</a:t>
            </a:r>
            <a:endParaRPr lang="zh-CN" altLang="en-US" sz="7200" b="0">
              <a:solidFill>
                <a:srgbClr val="800000"/>
              </a:solidFill>
              <a:ea typeface="楷体_GB2312" charset="0"/>
            </a:endParaRP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3048000"/>
            <a:ext cx="8648700" cy="20097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4800" b="1">
                <a:solidFill>
                  <a:srgbClr val="000099"/>
                </a:solidFill>
                <a:ea typeface="楷体_GB2312" charset="0"/>
              </a:rPr>
              <a:t> </a:t>
            </a:r>
            <a:r>
              <a:rPr lang="zh-CN" altLang="en-US" sz="4800" b="1">
                <a:solidFill>
                  <a:srgbClr val="000099"/>
                </a:solidFill>
                <a:ea typeface="楷体_GB2312" charset="0"/>
              </a:rPr>
              <a:t>求从某个源点到其余各点的最短路径</a:t>
            </a:r>
          </a:p>
        </p:txBody>
      </p:sp>
      <p:sp>
        <p:nvSpPr>
          <p:cNvPr id="462852" name="Rectangl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533400" y="51816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4800" b="1">
                <a:solidFill>
                  <a:srgbClr val="000099"/>
                </a:solidFill>
                <a:ea typeface="楷体_GB2312" charset="0"/>
              </a:rPr>
              <a:t> </a:t>
            </a:r>
            <a:r>
              <a:rPr lang="zh-CN" altLang="en-US" sz="4800" b="1">
                <a:solidFill>
                  <a:srgbClr val="000099"/>
                </a:solidFill>
                <a:ea typeface="楷体_GB2312" charset="0"/>
              </a:rPr>
              <a:t>每一对顶点之间的最短路径</a:t>
            </a:r>
          </a:p>
        </p:txBody>
      </p:sp>
      <p:sp>
        <p:nvSpPr>
          <p:cNvPr id="462853" name="Text Box 5">
            <a:hlinkClick r:id="" action="ppaction://hlinkshowjump?jump=nextslide"/>
          </p:cNvPr>
          <p:cNvSpPr txBox="1">
            <a:spLocks noChangeArrowheads="1"/>
          </p:cNvSpPr>
          <p:nvPr/>
        </p:nvSpPr>
        <p:spPr bwMode="auto">
          <a:xfrm>
            <a:off x="533400" y="3581400"/>
            <a:ext cx="77501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latin typeface="Times New Roman" charset="0"/>
              </a:rPr>
              <a:t>      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3200">
                <a:latin typeface="Times New Roman" charset="0"/>
              </a:rPr>
              <a:t> </a:t>
            </a:r>
          </a:p>
        </p:txBody>
      </p:sp>
      <p:sp>
        <p:nvSpPr>
          <p:cNvPr id="462854" name="AutoShape 6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229600" y="6172200"/>
            <a:ext cx="685800" cy="381000"/>
          </a:xfrm>
          <a:prstGeom prst="actionButtonBeginning">
            <a:avLst/>
          </a:prstGeom>
          <a:solidFill>
            <a:schemeClr val="bg2"/>
          </a:solidFill>
          <a:ln>
            <a:noFill/>
          </a:ln>
          <a:effectLst>
            <a:prstShdw prst="shdw17" dist="17961" dir="2700000">
              <a:srgbClr val="4D4D4D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1996054"/>
      </p:ext>
    </p:extLst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0" grpId="0" autoUpdateAnimBg="0"/>
      <p:bldP spid="462851" grpId="0" build="p" autoUpdateAnimBg="0"/>
      <p:bldP spid="462852" grpId="0" autoUpdateAnimBg="0"/>
      <p:bldP spid="462853" grpId="0" autoUpdateAnimBg="0"/>
      <p:bldP spid="462854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8245475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求</a:t>
            </a:r>
            <a:r>
              <a:rPr kumimoji="1" lang="zh-CN" altLang="en-US" sz="4000" b="1">
                <a:solidFill>
                  <a:srgbClr val="CC3300"/>
                </a:solidFill>
                <a:latin typeface="Times New Roman" charset="0"/>
                <a:ea typeface="楷体_GB2312" charset="0"/>
              </a:rPr>
              <a:t>从源点到其余各点的最短路径</a:t>
            </a:r>
            <a:r>
              <a:rPr kumimoji="1" lang="zh-CN" altLang="en-US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的算法的基本思想</a:t>
            </a:r>
            <a:r>
              <a:rPr kumimoji="1" lang="en-US" altLang="zh-CN" sz="40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:</a:t>
            </a:r>
            <a:endParaRPr kumimoji="1" lang="en-US" altLang="zh-CN" sz="4000" b="1">
              <a:latin typeface="Times New Roman" charset="0"/>
              <a:ea typeface="楷体_GB2312" charset="0"/>
            </a:endParaRPr>
          </a:p>
        </p:txBody>
      </p:sp>
      <p:sp>
        <p:nvSpPr>
          <p:cNvPr id="463875" name="Text Box 3"/>
          <p:cNvSpPr txBox="1">
            <a:spLocks noChangeArrowheads="1"/>
          </p:cNvSpPr>
          <p:nvPr/>
        </p:nvSpPr>
        <p:spPr bwMode="auto">
          <a:xfrm>
            <a:off x="457200" y="1965325"/>
            <a:ext cx="8686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4000" b="1">
                <a:solidFill>
                  <a:srgbClr val="800000"/>
                </a:solidFill>
                <a:latin typeface="Times New Roman" charset="0"/>
                <a:ea typeface="隶书" charset="0"/>
              </a:rPr>
              <a:t>   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隶书" charset="0"/>
              </a:rPr>
              <a:t>依</a:t>
            </a:r>
            <a:r>
              <a:rPr kumimoji="1" lang="zh-CN" altLang="en-US" sz="4000" b="1">
                <a:solidFill>
                  <a:srgbClr val="9900FF"/>
                </a:solidFill>
                <a:latin typeface="Times New Roman" charset="0"/>
                <a:ea typeface="隶书" charset="0"/>
              </a:rPr>
              <a:t>最短路径的长度</a:t>
            </a:r>
            <a:r>
              <a:rPr kumimoji="1" lang="zh-CN" altLang="en-US" sz="4000" b="1">
                <a:solidFill>
                  <a:srgbClr val="800000"/>
                </a:solidFill>
                <a:latin typeface="Times New Roman" charset="0"/>
                <a:ea typeface="隶书" charset="0"/>
              </a:rPr>
              <a:t>递增的次序求得各条路径</a:t>
            </a:r>
            <a:endParaRPr kumimoji="1" lang="zh-CN" altLang="en-US" sz="4000">
              <a:latin typeface="Times New Roman" charset="0"/>
            </a:endParaRPr>
          </a:p>
        </p:txBody>
      </p:sp>
      <p:sp>
        <p:nvSpPr>
          <p:cNvPr id="463876" name="Oval 4"/>
          <p:cNvSpPr>
            <a:spLocks noChangeArrowheads="1"/>
          </p:cNvSpPr>
          <p:nvPr/>
        </p:nvSpPr>
        <p:spPr bwMode="auto">
          <a:xfrm>
            <a:off x="838200" y="4419600"/>
            <a:ext cx="990600" cy="609600"/>
          </a:xfrm>
          <a:prstGeom prst="ellipse">
            <a:avLst/>
          </a:prstGeom>
          <a:solidFill>
            <a:srgbClr val="99CCFF">
              <a:alpha val="50195"/>
            </a:srgbClr>
          </a:solidFill>
          <a:ln w="31750" cap="sq">
            <a:solidFill>
              <a:srgbClr val="00008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源点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63877" name="Oval 5"/>
          <p:cNvSpPr>
            <a:spLocks noChangeArrowheads="1"/>
          </p:cNvSpPr>
          <p:nvPr/>
        </p:nvSpPr>
        <p:spPr bwMode="auto">
          <a:xfrm>
            <a:off x="2286000" y="3429000"/>
            <a:ext cx="533400" cy="533400"/>
          </a:xfrm>
          <a:prstGeom prst="ellips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v</a:t>
            </a:r>
            <a:r>
              <a:rPr kumimoji="1" lang="en-US" altLang="zh-CN" sz="3200" baseline="-25000">
                <a:solidFill>
                  <a:srgbClr val="0000FF"/>
                </a:solidFill>
                <a:latin typeface="Times New Roman" charset="0"/>
              </a:rPr>
              <a:t>1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63878" name="Oval 6"/>
          <p:cNvSpPr>
            <a:spLocks noChangeArrowheads="1"/>
          </p:cNvSpPr>
          <p:nvPr/>
        </p:nvSpPr>
        <p:spPr bwMode="auto">
          <a:xfrm>
            <a:off x="4267200" y="5715000"/>
            <a:ext cx="457200" cy="457200"/>
          </a:xfrm>
          <a:prstGeom prst="ellipse">
            <a:avLst/>
          </a:prstGeom>
          <a:noFill/>
          <a:ln w="12700" cap="sq">
            <a:solidFill>
              <a:srgbClr val="99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3879" name="Oval 7"/>
          <p:cNvSpPr>
            <a:spLocks noChangeArrowheads="1"/>
          </p:cNvSpPr>
          <p:nvPr/>
        </p:nvSpPr>
        <p:spPr bwMode="auto">
          <a:xfrm>
            <a:off x="3886200" y="4800600"/>
            <a:ext cx="457200" cy="457200"/>
          </a:xfrm>
          <a:prstGeom prst="ellipse">
            <a:avLst/>
          </a:prstGeom>
          <a:noFill/>
          <a:ln w="12700" cap="sq">
            <a:solidFill>
              <a:srgbClr val="99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3880" name="Text Box 8"/>
          <p:cNvSpPr txBox="1">
            <a:spLocks noChangeArrowheads="1"/>
          </p:cNvSpPr>
          <p:nvPr/>
        </p:nvSpPr>
        <p:spPr bwMode="auto">
          <a:xfrm>
            <a:off x="3778250" y="40386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</a:rPr>
              <a:t>…</a:t>
            </a:r>
            <a:endParaRPr kumimoji="1" lang="en-US" altLang="zh-CN" sz="3600" b="1">
              <a:latin typeface="Times New Roman" charset="0"/>
            </a:endParaRPr>
          </a:p>
        </p:txBody>
      </p:sp>
      <p:sp>
        <p:nvSpPr>
          <p:cNvPr id="463881" name="Line 9"/>
          <p:cNvSpPr>
            <a:spLocks noChangeShapeType="1"/>
          </p:cNvSpPr>
          <p:nvPr/>
        </p:nvSpPr>
        <p:spPr bwMode="auto">
          <a:xfrm flipV="1">
            <a:off x="1676400" y="3810000"/>
            <a:ext cx="685800" cy="68580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2" name="Line 10"/>
          <p:cNvSpPr>
            <a:spLocks noChangeShapeType="1"/>
          </p:cNvSpPr>
          <p:nvPr/>
        </p:nvSpPr>
        <p:spPr bwMode="auto">
          <a:xfrm>
            <a:off x="1828800" y="4800600"/>
            <a:ext cx="2041525" cy="228600"/>
          </a:xfrm>
          <a:prstGeom prst="line">
            <a:avLst/>
          </a:prstGeom>
          <a:noFill/>
          <a:ln w="12700" cap="sq">
            <a:solidFill>
              <a:srgbClr val="9900FF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3" name="Line 11"/>
          <p:cNvSpPr>
            <a:spLocks noChangeShapeType="1"/>
          </p:cNvSpPr>
          <p:nvPr/>
        </p:nvSpPr>
        <p:spPr bwMode="auto">
          <a:xfrm>
            <a:off x="1736725" y="4876800"/>
            <a:ext cx="2574925" cy="990600"/>
          </a:xfrm>
          <a:prstGeom prst="line">
            <a:avLst/>
          </a:prstGeom>
          <a:noFill/>
          <a:ln w="12700" cap="sq">
            <a:solidFill>
              <a:srgbClr val="9900FF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3884" name="Text Box 12"/>
          <p:cNvSpPr txBox="1">
            <a:spLocks noChangeArrowheads="1"/>
          </p:cNvSpPr>
          <p:nvPr/>
        </p:nvSpPr>
        <p:spPr bwMode="auto">
          <a:xfrm>
            <a:off x="5334000" y="3444875"/>
            <a:ext cx="3733800" cy="272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其中，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从源点到顶点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zh-CN" altLang="en-US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的最短路径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是所有最短路径中长度最短者。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63885" name="Oval 13"/>
          <p:cNvSpPr>
            <a:spLocks noChangeArrowheads="1"/>
          </p:cNvSpPr>
          <p:nvPr/>
        </p:nvSpPr>
        <p:spPr bwMode="auto">
          <a:xfrm>
            <a:off x="3200400" y="3733800"/>
            <a:ext cx="533400" cy="533400"/>
          </a:xfrm>
          <a:prstGeom prst="ellips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v</a:t>
            </a:r>
            <a:r>
              <a:rPr kumimoji="1" lang="en-US" altLang="zh-CN" sz="3200" baseline="-25000">
                <a:solidFill>
                  <a:srgbClr val="0000FF"/>
                </a:solidFill>
                <a:latin typeface="Times New Roman" charset="0"/>
              </a:rPr>
              <a:t>2</a:t>
            </a:r>
            <a:endParaRPr kumimoji="1" lang="en-US" altLang="zh-CN" sz="3200">
              <a:latin typeface="Times New Roman" charset="0"/>
            </a:endParaRPr>
          </a:p>
        </p:txBody>
      </p:sp>
      <p:sp>
        <p:nvSpPr>
          <p:cNvPr id="463886" name="Line 14"/>
          <p:cNvSpPr>
            <a:spLocks noChangeShapeType="1"/>
          </p:cNvSpPr>
          <p:nvPr/>
        </p:nvSpPr>
        <p:spPr bwMode="auto">
          <a:xfrm flipV="1">
            <a:off x="1828800" y="4038600"/>
            <a:ext cx="1371600" cy="609600"/>
          </a:xfrm>
          <a:prstGeom prst="line">
            <a:avLst/>
          </a:prstGeom>
          <a:noFill/>
          <a:ln w="12700" cap="sq">
            <a:solidFill>
              <a:srgbClr val="0000FF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5598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3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6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38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6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3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3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3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63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63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63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3874" grpId="0" autoUpdateAnimBg="0"/>
      <p:bldP spid="463875" grpId="0" autoUpdateAnimBg="0"/>
      <p:bldP spid="463876" grpId="0" animBg="1" autoUpdateAnimBg="0"/>
      <p:bldP spid="463877" grpId="0" animBg="1" autoUpdateAnimBg="0"/>
      <p:bldP spid="463878" grpId="0" animBg="1"/>
      <p:bldP spid="463879" grpId="0" animBg="1"/>
      <p:bldP spid="463880" grpId="0" autoUpdateAnimBg="0"/>
      <p:bldP spid="463881" grpId="0" animBg="1"/>
      <p:bldP spid="463882" grpId="0" animBg="1"/>
      <p:bldP spid="463883" grpId="0" animBg="1"/>
      <p:bldP spid="463884" grpId="0" autoUpdateAnimBg="0"/>
      <p:bldP spid="463885" grpId="0" animBg="1" autoUpdateAnimBg="0"/>
      <p:bldP spid="463886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457200" y="990600"/>
            <a:ext cx="8686800" cy="157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在这条路径上，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必定只含一条弧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，并且这条弧的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权值最小。 </a:t>
            </a:r>
          </a:p>
        </p:txBody>
      </p:sp>
      <p:sp>
        <p:nvSpPr>
          <p:cNvPr id="464899" name="Text Box 3"/>
          <p:cNvSpPr txBox="1">
            <a:spLocks noChangeArrowheads="1"/>
          </p:cNvSpPr>
          <p:nvPr/>
        </p:nvSpPr>
        <p:spPr bwMode="auto">
          <a:xfrm>
            <a:off x="-228600" y="2947988"/>
            <a:ext cx="9340850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0000"/>
              </a:lnSpc>
            </a:pP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下一条</a:t>
            </a:r>
            <a:r>
              <a:rPr kumimoji="1" lang="zh-CN" altLang="zh-CN" sz="3600">
                <a:solidFill>
                  <a:srgbClr val="CC0000"/>
                </a:solidFill>
                <a:latin typeface="Times New Roman" charset="0"/>
                <a:ea typeface="楷体_GB2312" charset="0"/>
              </a:rPr>
              <a:t>路径长度次短</a:t>
            </a: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最短路径</a:t>
            </a: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的特点：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64900" name="AutoShape 4"/>
          <p:cNvSpPr>
            <a:spLocks noChangeArrowheads="1"/>
          </p:cNvSpPr>
          <p:nvPr/>
        </p:nvSpPr>
        <p:spPr bwMode="auto">
          <a:xfrm>
            <a:off x="304800" y="457200"/>
            <a:ext cx="381000" cy="152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0000"/>
          </a:solidFill>
          <a:ln w="222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4901" name="Rectangle 5"/>
          <p:cNvSpPr>
            <a:spLocks noChangeArrowheads="1"/>
          </p:cNvSpPr>
          <p:nvPr/>
        </p:nvSpPr>
        <p:spPr bwMode="auto">
          <a:xfrm>
            <a:off x="762000" y="320675"/>
            <a:ext cx="7054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CC0000"/>
                </a:solidFill>
                <a:latin typeface="Times New Roman" charset="0"/>
                <a:ea typeface="楷体_GB2312" charset="0"/>
              </a:rPr>
              <a:t>路径长度最短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最短路径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的特点：</a:t>
            </a:r>
            <a:endParaRPr kumimoji="1" lang="zh-CN" altLang="en-US" sz="3600">
              <a:solidFill>
                <a:srgbClr val="000099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64902" name="AutoShape 6"/>
          <p:cNvSpPr>
            <a:spLocks noChangeArrowheads="1"/>
          </p:cNvSpPr>
          <p:nvPr/>
        </p:nvSpPr>
        <p:spPr bwMode="auto">
          <a:xfrm>
            <a:off x="304800" y="3200400"/>
            <a:ext cx="381000" cy="152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0000"/>
          </a:solidFill>
          <a:ln w="222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4903" name="Text Box 7"/>
          <p:cNvSpPr txBox="1">
            <a:spLocks noChangeArrowheads="1"/>
          </p:cNvSpPr>
          <p:nvPr/>
        </p:nvSpPr>
        <p:spPr bwMode="auto">
          <a:xfrm>
            <a:off x="457200" y="3733800"/>
            <a:ext cx="8550275" cy="231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它只可能有两种情况：或者是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直接从源点到该点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只含一条弧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 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从源点经过顶点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，再到达该顶点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由两条弧组成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4607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6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4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4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64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898" grpId="0" autoUpdateAnimBg="0"/>
      <p:bldP spid="464899" grpId="0" autoUpdateAnimBg="0"/>
      <p:bldP spid="464900" grpId="0" animBg="1"/>
      <p:bldP spid="464901" grpId="0" autoUpdateAnimBg="0"/>
      <p:bldP spid="464902" grpId="0" animBg="1"/>
      <p:bldP spid="464903" grpId="0" autoUpdateAnimBg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Text Box 2"/>
          <p:cNvSpPr txBox="1">
            <a:spLocks noChangeArrowheads="1"/>
          </p:cNvSpPr>
          <p:nvPr/>
        </p:nvSpPr>
        <p:spPr bwMode="auto">
          <a:xfrm>
            <a:off x="730250" y="3930650"/>
            <a:ext cx="4756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800000"/>
                </a:solidFill>
                <a:latin typeface="楷体_GB2312" charset="0"/>
                <a:ea typeface="楷体_GB2312" charset="0"/>
              </a:rPr>
              <a:t>其余最短路径的特点：</a:t>
            </a:r>
            <a:endParaRPr kumimoji="1" lang="zh-CN" altLang="en-US" sz="3200">
              <a:latin typeface="楷体_GB2312" charset="0"/>
              <a:ea typeface="楷体_GB2312" charset="0"/>
            </a:endParaRPr>
          </a:p>
        </p:txBody>
      </p:sp>
      <p:sp>
        <p:nvSpPr>
          <p:cNvPr id="465923" name="Text Box 3"/>
          <p:cNvSpPr txBox="1">
            <a:spLocks noChangeArrowheads="1"/>
          </p:cNvSpPr>
          <p:nvPr/>
        </p:nvSpPr>
        <p:spPr bwMode="auto">
          <a:xfrm>
            <a:off x="-228600" y="163513"/>
            <a:ext cx="9467850" cy="75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0000"/>
              </a:lnSpc>
            </a:pP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再下一条</a:t>
            </a:r>
            <a:r>
              <a:rPr kumimoji="1" lang="zh-CN" altLang="zh-CN" sz="3600">
                <a:solidFill>
                  <a:srgbClr val="CC0000"/>
                </a:solidFill>
                <a:latin typeface="Times New Roman" charset="0"/>
                <a:ea typeface="楷体_GB2312" charset="0"/>
              </a:rPr>
              <a:t>路径长度次短</a:t>
            </a: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最短路径</a:t>
            </a:r>
            <a:r>
              <a:rPr kumimoji="1" lang="zh-CN" altLang="zh-CN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的特点:</a:t>
            </a:r>
            <a:endParaRPr kumimoji="1" lang="en-US" altLang="zh-CN" sz="3600">
              <a:latin typeface="Times New Roman" charset="0"/>
              <a:ea typeface="楷体_GB2312" charset="0"/>
            </a:endParaRPr>
          </a:p>
        </p:txBody>
      </p:sp>
      <p:sp>
        <p:nvSpPr>
          <p:cNvPr id="465924" name="AutoShape 4"/>
          <p:cNvSpPr>
            <a:spLocks noChangeArrowheads="1"/>
          </p:cNvSpPr>
          <p:nvPr/>
        </p:nvSpPr>
        <p:spPr bwMode="auto">
          <a:xfrm>
            <a:off x="304800" y="304800"/>
            <a:ext cx="381000" cy="152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0000"/>
          </a:solidFill>
          <a:ln w="222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5925" name="Text Box 5"/>
          <p:cNvSpPr txBox="1">
            <a:spLocks noChangeArrowheads="1"/>
          </p:cNvSpPr>
          <p:nvPr/>
        </p:nvSpPr>
        <p:spPr bwMode="auto">
          <a:xfrm>
            <a:off x="304800" y="914400"/>
            <a:ext cx="88392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它可能有三种情况：或者是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直接从源点到该点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只含一条弧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 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从源点经过顶点</a:t>
            </a:r>
            <a:r>
              <a:rPr kumimoji="1" lang="en-US" altLang="zh-CN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FF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，再到达该顶点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由两条弧组成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；或者是从源点经过顶点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</a:t>
            </a:r>
            <a:r>
              <a:rPr kumimoji="1" lang="en-US" altLang="zh-CN" sz="3600" baseline="-25000">
                <a:solidFill>
                  <a:srgbClr val="000099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，再到达该顶点。</a:t>
            </a:r>
          </a:p>
        </p:txBody>
      </p:sp>
      <p:sp>
        <p:nvSpPr>
          <p:cNvPr id="465926" name="AutoShape 6"/>
          <p:cNvSpPr>
            <a:spLocks noChangeArrowheads="1"/>
          </p:cNvSpPr>
          <p:nvPr/>
        </p:nvSpPr>
        <p:spPr bwMode="auto">
          <a:xfrm>
            <a:off x="304800" y="4038600"/>
            <a:ext cx="381000" cy="152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0000"/>
          </a:solidFill>
          <a:ln w="222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5927" name="Text Box 7"/>
          <p:cNvSpPr txBox="1">
            <a:spLocks noChangeArrowheads="1"/>
          </p:cNvSpPr>
          <p:nvPr/>
        </p:nvSpPr>
        <p:spPr bwMode="auto">
          <a:xfrm>
            <a:off x="593725" y="4637088"/>
            <a:ext cx="8550275" cy="20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它或者是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直接从源点到该点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(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只含一条弧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)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； 或者是</a:t>
            </a:r>
            <a:r>
              <a:rPr kumimoji="1" lang="zh-CN" altLang="en-US" sz="36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从源点经过已求得最短路径的顶点，再到达该顶点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692307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5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5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5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6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2" grpId="0" autoUpdateAnimBg="0"/>
      <p:bldP spid="465923" grpId="0" autoUpdateAnimBg="0"/>
      <p:bldP spid="465924" grpId="0" animBg="1"/>
      <p:bldP spid="465925" grpId="0" autoUpdateAnimBg="0"/>
      <p:bldP spid="465926" grpId="0" animBg="1"/>
      <p:bldP spid="465927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Text Box 2"/>
          <p:cNvSpPr txBox="1">
            <a:spLocks noChangeArrowheads="1"/>
          </p:cNvSpPr>
          <p:nvPr/>
        </p:nvSpPr>
        <p:spPr bwMode="auto">
          <a:xfrm>
            <a:off x="-228600" y="225425"/>
            <a:ext cx="9317038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0000"/>
              </a:lnSpc>
            </a:pPr>
            <a:r>
              <a:rPr kumimoji="1" lang="zh-CN" altLang="zh-CN" sz="3200">
                <a:latin typeface="Times New Roman" charset="0"/>
                <a:ea typeface="楷体_GB2312" charset="0"/>
              </a:rPr>
              <a:t>Dijkstra算法的正确性可以用反证法加以证明。</a:t>
            </a:r>
            <a:endParaRPr kumimoji="1" lang="zh-CN" altLang="en-US" sz="3200">
              <a:latin typeface="Times New Roman" charset="0"/>
              <a:ea typeface="楷体_GB2312" charset="0"/>
            </a:endParaRPr>
          </a:p>
        </p:txBody>
      </p:sp>
      <p:sp>
        <p:nvSpPr>
          <p:cNvPr id="466947" name="AutoShape 3"/>
          <p:cNvSpPr>
            <a:spLocks noChangeArrowheads="1"/>
          </p:cNvSpPr>
          <p:nvPr/>
        </p:nvSpPr>
        <p:spPr bwMode="auto">
          <a:xfrm>
            <a:off x="304800" y="304800"/>
            <a:ext cx="381000" cy="152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0000"/>
          </a:solidFill>
          <a:ln w="22225" cap="sq">
            <a:solidFill>
              <a:srgbClr val="80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66948" name="Text Box 4"/>
          <p:cNvSpPr txBox="1">
            <a:spLocks noChangeArrowheads="1"/>
          </p:cNvSpPr>
          <p:nvPr/>
        </p:nvSpPr>
        <p:spPr bwMode="auto">
          <a:xfrm>
            <a:off x="107950" y="981075"/>
            <a:ext cx="88392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	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假设下一条最短路径的终点为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x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，那么，该路径必然或者是弧（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v0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x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），或者是中间只经过集合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中的顶点而到达顶点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x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的路径。因为假若此路径上除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x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之外有一个或一个以上的顶点不在集合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中，那么必然存在另外的终点不在</a:t>
            </a:r>
            <a:r>
              <a:rPr kumimoji="1" lang="en-US" altLang="zh-CN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S</a:t>
            </a:r>
            <a:r>
              <a:rPr kumimoji="1" lang="zh-CN" altLang="en-US" sz="32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中而路径长度比此路径还短的路径，这与我们按路径长度递增的顺序产生最短路径的前提相矛盾，所以此假设不成立。</a:t>
            </a:r>
          </a:p>
        </p:txBody>
      </p:sp>
    </p:spTree>
    <p:extLst>
      <p:ext uri="{BB962C8B-B14F-4D97-AF65-F5344CB8AC3E}">
        <p14:creationId xmlns:p14="http://schemas.microsoft.com/office/powerpoint/2010/main" val="1027524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6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6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66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6" grpId="0" autoUpdateAnimBg="0"/>
      <p:bldP spid="466947" grpId="0" animBg="1"/>
      <p:bldP spid="466948" grpId="0" autoUpdateAnimBg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Text Box 2"/>
          <p:cNvSpPr txBox="1">
            <a:spLocks noChangeArrowheads="1"/>
          </p:cNvSpPr>
          <p:nvPr/>
        </p:nvSpPr>
        <p:spPr bwMode="auto">
          <a:xfrm>
            <a:off x="533400" y="120650"/>
            <a:ext cx="65849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求最短路径的迪杰斯特拉算法：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  <p:sp>
        <p:nvSpPr>
          <p:cNvPr id="467971" name="Text Box 3"/>
          <p:cNvSpPr txBox="1">
            <a:spLocks noChangeArrowheads="1"/>
          </p:cNvSpPr>
          <p:nvPr/>
        </p:nvSpPr>
        <p:spPr bwMode="auto">
          <a:xfrm>
            <a:off x="-533400" y="3159125"/>
            <a:ext cx="10144125" cy="316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40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一般情况下，</a:t>
            </a:r>
          </a:p>
          <a:p>
            <a:pPr lvl="2"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Dist[k] = &lt;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源点到顶点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k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的弧上的权值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&gt;</a:t>
            </a:r>
          </a:p>
          <a:p>
            <a:pPr lvl="2"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或者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= &lt;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源点到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其它顶点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的路径长度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&gt;</a:t>
            </a:r>
          </a:p>
          <a:p>
            <a:pPr eaLnBrk="1" hangingPunct="1">
              <a:lnSpc>
                <a:spcPct val="14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         </a:t>
            </a:r>
            <a:r>
              <a:rPr kumimoji="1" lang="en-US" altLang="zh-CN" sz="3600" b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+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&lt;</a:t>
            </a:r>
            <a:r>
              <a:rPr kumimoji="1" lang="zh-CN" altLang="en-US" sz="3600">
                <a:solidFill>
                  <a:srgbClr val="CC3300"/>
                </a:solidFill>
                <a:latin typeface="Times New Roman" charset="0"/>
                <a:ea typeface="楷体_GB2312" charset="0"/>
              </a:rPr>
              <a:t>其它顶点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到顶点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k </a:t>
            </a:r>
            <a:r>
              <a:rPr kumimoji="1" lang="zh-CN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弧上的权值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&gt;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67972" name="Text Box 4"/>
          <p:cNvSpPr txBox="1">
            <a:spLocks noChangeArrowheads="1"/>
          </p:cNvSpPr>
          <p:nvPr/>
        </p:nvSpPr>
        <p:spPr bwMode="auto">
          <a:xfrm>
            <a:off x="-609600" y="838200"/>
            <a:ext cx="96012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>
              <a:lnSpc>
                <a:spcPct val="125000"/>
              </a:lnSpc>
            </a:pPr>
            <a:r>
              <a:rPr kumimoji="1" lang="en-US" altLang="zh-CN" sz="4000">
                <a:latin typeface="楷体_GB2312" charset="0"/>
                <a:ea typeface="楷体_GB2312" charset="0"/>
              </a:rPr>
              <a:t>  </a:t>
            </a:r>
            <a:r>
              <a:rPr kumimoji="1" lang="zh-CN" altLang="en-US" sz="3600">
                <a:solidFill>
                  <a:srgbClr val="000099"/>
                </a:solidFill>
                <a:latin typeface="楷体_GB2312" charset="0"/>
                <a:ea typeface="楷体_GB2312" charset="0"/>
              </a:rPr>
              <a:t>设置辅助数组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，其中每个分量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Dist[k]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表示</a:t>
            </a:r>
            <a:r>
              <a:rPr kumimoji="1" lang="zh-CN" altLang="en-US" sz="3600">
                <a:latin typeface="Times New Roman" charset="0"/>
                <a:ea typeface="楷体_GB2312" charset="0"/>
              </a:rPr>
              <a:t> </a:t>
            </a:r>
            <a:r>
              <a:rPr kumimoji="1" lang="zh-CN" altLang="en-US" sz="3600">
                <a:solidFill>
                  <a:srgbClr val="6600CC"/>
                </a:solidFill>
                <a:latin typeface="Times New Roman" charset="0"/>
                <a:ea typeface="楷体_GB2312" charset="0"/>
              </a:rPr>
              <a:t>当前所求得的从源点到其余各顶点 </a:t>
            </a:r>
            <a:r>
              <a:rPr kumimoji="1" lang="en-US" altLang="zh-CN" sz="3600">
                <a:solidFill>
                  <a:srgbClr val="6600CC"/>
                </a:solidFill>
                <a:latin typeface="Times New Roman" charset="0"/>
                <a:ea typeface="楷体_GB2312" charset="0"/>
              </a:rPr>
              <a:t>k </a:t>
            </a:r>
            <a:r>
              <a:rPr kumimoji="1" lang="zh-CN" altLang="en-US" sz="3600">
                <a:solidFill>
                  <a:srgbClr val="6600CC"/>
                </a:solidFill>
                <a:latin typeface="Times New Roman" charset="0"/>
                <a:ea typeface="楷体_GB2312" charset="0"/>
              </a:rPr>
              <a:t>的最短路径。</a:t>
            </a:r>
            <a:endParaRPr kumimoji="1" lang="zh-CN" altLang="en-US" sz="3600">
              <a:latin typeface="Times New Roman" charset="0"/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3386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0" grpId="0" autoUpdateAnimBg="0"/>
      <p:bldP spid="467971" grpId="0" autoUpdateAnimBg="0"/>
      <p:bldP spid="467972" grpId="0" autoUpdateAnimBg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ChangeArrowheads="1"/>
          </p:cNvSpPr>
          <p:nvPr/>
        </p:nvSpPr>
        <p:spPr bwMode="auto">
          <a:xfrm>
            <a:off x="381000" y="152400"/>
            <a:ext cx="85344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）在所有从源点出发的弧中选取一条权值最小的弧，即为第一条最短路径。</a:t>
            </a:r>
          </a:p>
        </p:txBody>
      </p:sp>
      <p:sp>
        <p:nvSpPr>
          <p:cNvPr id="468995" name="Rectangle 3"/>
          <p:cNvSpPr>
            <a:spLocks noChangeArrowheads="1"/>
          </p:cNvSpPr>
          <p:nvPr/>
        </p:nvSpPr>
        <p:spPr bwMode="auto">
          <a:xfrm>
            <a:off x="533400" y="3810000"/>
            <a:ext cx="8534400" cy="284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）修改其它各顶点的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]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值。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假设求得最短路径的顶点为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，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若 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]+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G.arcs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][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]&lt;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b="1" i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]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则将 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]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改为 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Dist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]+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G.arcs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[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u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][</a:t>
            </a:r>
            <a:r>
              <a:rPr kumimoji="1" lang="en-US" altLang="zh-CN" sz="3600" i="1">
                <a:solidFill>
                  <a:srgbClr val="000099"/>
                </a:solidFill>
                <a:latin typeface="Times New Roman" charset="0"/>
                <a:ea typeface="楷体_GB2312" charset="0"/>
              </a:rPr>
              <a:t>k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]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graphicFrame>
        <p:nvGraphicFramePr>
          <p:cNvPr id="468996" name="Object 4"/>
          <p:cNvGraphicFramePr>
            <a:graphicFrameLocks noChangeAspect="1"/>
          </p:cNvGraphicFramePr>
          <p:nvPr/>
        </p:nvGraphicFramePr>
        <p:xfrm>
          <a:off x="457200" y="1590675"/>
          <a:ext cx="55626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809" name="公式" r:id="rId3" imgW="1778000" imgH="457200" progId="Equation.3">
                  <p:embed/>
                </p:oleObj>
              </mc:Choice>
              <mc:Fallback>
                <p:oleObj name="公式" r:id="rId3" imgW="17780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590675"/>
                        <a:ext cx="55626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5562600" y="1600200"/>
            <a:ext cx="3322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V0</a:t>
            </a:r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k</a:t>
            </a:r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之间存在弧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68998" name="Text Box 6"/>
          <p:cNvSpPr txBox="1">
            <a:spLocks noChangeArrowheads="1"/>
          </p:cNvSpPr>
          <p:nvPr/>
        </p:nvSpPr>
        <p:spPr bwMode="auto">
          <a:xfrm>
            <a:off x="5410200" y="2286000"/>
            <a:ext cx="3729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V0</a:t>
            </a:r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和</a:t>
            </a:r>
            <a:r>
              <a:rPr kumimoji="1" lang="en-US" altLang="zh-CN" sz="3200">
                <a:solidFill>
                  <a:srgbClr val="0000FF"/>
                </a:solidFill>
                <a:latin typeface="Times New Roman" charset="0"/>
              </a:rPr>
              <a:t>k</a:t>
            </a:r>
            <a:r>
              <a:rPr kumimoji="1" lang="zh-CN" altLang="en-US" sz="3200">
                <a:solidFill>
                  <a:srgbClr val="0000FF"/>
                </a:solidFill>
                <a:latin typeface="Times New Roman" charset="0"/>
                <a:ea typeface="楷体_GB2312" charset="0"/>
              </a:rPr>
              <a:t>之间不存在弧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68999" name="Text Box 7"/>
          <p:cNvSpPr txBox="1">
            <a:spLocks noChangeArrowheads="1"/>
          </p:cNvSpPr>
          <p:nvPr/>
        </p:nvSpPr>
        <p:spPr bwMode="auto">
          <a:xfrm>
            <a:off x="425450" y="2941638"/>
            <a:ext cx="7546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rgbClr val="800000"/>
                </a:solidFill>
                <a:latin typeface="Times New Roman" charset="0"/>
                <a:ea typeface="楷体_GB2312" charset="0"/>
              </a:rPr>
              <a:t>其中的最小值即为最短路径的长度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  <p:sp>
        <p:nvSpPr>
          <p:cNvPr id="469000" name="AutoShape 8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8200" y="6172200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704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8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8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68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46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3" dur="500"/>
                                        <p:tgtEl>
                                          <p:spTgt spid="468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9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4" grpId="0" autoUpdateAnimBg="0"/>
      <p:bldP spid="468995" grpId="0" autoUpdateAnimBg="0"/>
      <p:bldP spid="468997" grpId="0" autoUpdateAnimBg="0"/>
      <p:bldP spid="468998" grpId="0" autoUpdateAnimBg="0"/>
      <p:bldP spid="468999" grpId="0" autoUpdateAnimBg="0"/>
      <p:bldP spid="46900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8893175" cy="52578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void ShortestPath_1(Mgraph G,int v0,PathMatrix *p, ShortPathTable *D)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{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用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Dijkstra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算法求有向网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G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的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顶点到其余顶点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的最短路径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P[v]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及其路径长度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D[v]*/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若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P[v][w]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为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TRUE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，则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w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是从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到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当前求得最短路径上的顶点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 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/*final[v]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为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TRUE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当且仅当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v∈S, 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即已经求得从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到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的最短路径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 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常量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INFINITY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为边上权值可能的最大值</a:t>
            </a:r>
            <a:endParaRPr lang="da-DK" altLang="zh-CN" sz="2400">
              <a:solidFill>
                <a:srgbClr val="000099"/>
              </a:solidFill>
              <a:ea typeface="楷体_GB2312" charset="0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da-DK" altLang="zh-CN" sz="2400">
                <a:solidFill>
                  <a:srgbClr val="000099"/>
                </a:solidFill>
                <a:ea typeface="楷体_GB2312" charset="0"/>
              </a:rPr>
              <a:t>  for (v=0;v&lt;G.vexnum;++v)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da-DK" altLang="zh-CN" sz="2400">
                <a:solidFill>
                  <a:srgbClr val="000099"/>
                </a:solidFill>
                <a:ea typeface="楷体_GB2312" charset="0"/>
              </a:rPr>
              <a:t>    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{fianl[v]=FALSE; D[v]=G.edges[v0][v];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 for (w=0; w&lt;G.vexnum; ++w)  P[v][w]=FALSE;  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设空路径*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 if (D[v]&lt;INFINITY) {P[v][v0]=TRUE; P[v][w]=TRUE;}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   }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  D[v0]=0; final[v0]=TRUE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；        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/*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初始化，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顶点属于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S</a:t>
            </a:r>
            <a:r>
              <a:rPr lang="zh-CN" altLang="en-US" sz="2400">
                <a:solidFill>
                  <a:srgbClr val="000099"/>
                </a:solidFill>
                <a:ea typeface="楷体_GB2312" charset="0"/>
              </a:rPr>
              <a:t>集*</a:t>
            </a:r>
            <a:r>
              <a:rPr lang="en-US" altLang="zh-CN" sz="2400">
                <a:solidFill>
                  <a:srgbClr val="000099"/>
                </a:solidFill>
                <a:ea typeface="楷体_GB2312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15897282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791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 /*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开始主循环，每次求得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到某个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 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顶点的最短路径，并加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到集*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for(i=1; i&lt;G.vexnum; ++i)          /*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其余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G.vexnum-1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个顶点*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{min=INFINITY;         /*min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为当前所知离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顶点的最近距离*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for (w=0;w&lt;G.vexnum;++w)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  if (!final[w])                  /*w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顶点在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－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S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中*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   if (D[w]&lt;min) {v=w; min=D[w];}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final[v]=TRUE                          /*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离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v0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顶点最近的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v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加入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S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集合*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for(w=0;w&gt;G.vexnum;++w)    /*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更新当前最短路径*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/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/*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修改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D[w]</a:t>
            </a:r>
            <a:r>
              <a:rPr lang="zh-CN" altLang="en-US" sz="2400" b="1">
                <a:solidFill>
                  <a:srgbClr val="000099"/>
                </a:solidFill>
                <a:ea typeface="楷体_GB2312" charset="0"/>
              </a:rPr>
              <a:t>和</a:t>
            </a: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P[w],w∈V-S*/	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       if (!final[w]&amp;&amp;(min+G.edges[v][w]&lt;D[w]))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             { D[w]=min+G.edges[v][w];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      P[w]=P[v]+P[w];P[w][v]=TRUE;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  <a:ea typeface="楷体_GB2312" charset="0"/>
              </a:rPr>
              <a:t>	}/*ShortestPath._1*/</a:t>
            </a:r>
          </a:p>
          <a:p>
            <a:pPr eaLnBrk="1" hangingPunct="1">
              <a:lnSpc>
                <a:spcPct val="80000"/>
              </a:lnSpc>
            </a:pPr>
            <a:endParaRPr lang="en-US" altLang="zh-CN" sz="2400" b="1">
              <a:solidFill>
                <a:srgbClr val="000099"/>
              </a:solidFill>
              <a:ea typeface="楷体_GB23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358387"/>
      </p:ext>
    </p:extLst>
  </p:cSld>
  <p:clrMapOvr>
    <a:masterClrMapping/>
  </p:clrMapOvr>
  <p:transition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Text Box 2"/>
          <p:cNvSpPr txBox="1">
            <a:spLocks noChangeArrowheads="1"/>
          </p:cNvSpPr>
          <p:nvPr/>
        </p:nvSpPr>
        <p:spPr bwMode="auto">
          <a:xfrm>
            <a:off x="1447800" y="228600"/>
            <a:ext cx="5467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3200">
                <a:solidFill>
                  <a:srgbClr val="CC3300"/>
                </a:solidFill>
                <a:latin typeface="Times New Roman" charset="0"/>
                <a:ea typeface="楷体_GB2312" charset="0"/>
              </a:rPr>
              <a:t>求每一对顶点之间的最短路径</a:t>
            </a:r>
            <a:endParaRPr kumimoji="1" lang="zh-CN" altLang="en-US" sz="3200">
              <a:latin typeface="Times New Roman" charset="0"/>
            </a:endParaRPr>
          </a:p>
        </p:txBody>
      </p:sp>
      <p:sp>
        <p:nvSpPr>
          <p:cNvPr id="472067" name="Text Box 3"/>
          <p:cNvSpPr txBox="1">
            <a:spLocks noChangeArrowheads="1"/>
          </p:cNvSpPr>
          <p:nvPr/>
        </p:nvSpPr>
        <p:spPr bwMode="auto">
          <a:xfrm>
            <a:off x="365125" y="1889125"/>
            <a:ext cx="678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zh-CN" altLang="en-US" sz="4000">
                <a:solidFill>
                  <a:srgbClr val="0000FF"/>
                </a:solidFill>
                <a:latin typeface="Times New Roman" charset="0"/>
              </a:rPr>
              <a:t>弗洛伊德算法的基本思想是：</a:t>
            </a:r>
            <a:endParaRPr kumimoji="1" lang="zh-CN" altLang="en-US" sz="2400">
              <a:latin typeface="Times New Roman" charset="0"/>
            </a:endParaRPr>
          </a:p>
        </p:txBody>
      </p:sp>
      <p:sp>
        <p:nvSpPr>
          <p:cNvPr id="472068" name="Text Box 4"/>
          <p:cNvSpPr txBox="1">
            <a:spLocks noChangeArrowheads="1"/>
          </p:cNvSpPr>
          <p:nvPr/>
        </p:nvSpPr>
        <p:spPr bwMode="auto">
          <a:xfrm>
            <a:off x="533400" y="2743200"/>
            <a:ext cx="8305800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6000">
                <a:solidFill>
                  <a:srgbClr val="800000"/>
                </a:solidFill>
                <a:latin typeface="隶书" charset="0"/>
                <a:ea typeface="隶书" charset="0"/>
              </a:rPr>
              <a:t>  </a:t>
            </a:r>
            <a:r>
              <a:rPr kumimoji="1" lang="zh-CN" altLang="en-US" sz="6000">
                <a:solidFill>
                  <a:srgbClr val="800000"/>
                </a:solidFill>
                <a:latin typeface="隶书" charset="0"/>
                <a:ea typeface="隶书" charset="0"/>
              </a:rPr>
              <a:t>从 </a:t>
            </a:r>
            <a:r>
              <a:rPr kumimoji="1" lang="en-US" altLang="zh-CN" sz="6000">
                <a:solidFill>
                  <a:srgbClr val="800000"/>
                </a:solidFill>
                <a:latin typeface="隶书" charset="0"/>
                <a:ea typeface="隶书" charset="0"/>
              </a:rPr>
              <a:t>v</a:t>
            </a:r>
            <a:r>
              <a:rPr kumimoji="1" lang="en-US" altLang="zh-CN" sz="6000" baseline="-25000">
                <a:solidFill>
                  <a:srgbClr val="800000"/>
                </a:solidFill>
                <a:latin typeface="隶书" charset="0"/>
                <a:ea typeface="隶书" charset="0"/>
              </a:rPr>
              <a:t>i</a:t>
            </a:r>
            <a:r>
              <a:rPr kumimoji="1" lang="en-US" altLang="zh-CN" sz="6000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6000">
                <a:solidFill>
                  <a:srgbClr val="800000"/>
                </a:solidFill>
                <a:latin typeface="隶书" charset="0"/>
                <a:ea typeface="隶书" charset="0"/>
              </a:rPr>
              <a:t>到 </a:t>
            </a:r>
            <a:r>
              <a:rPr kumimoji="1" lang="en-US" altLang="zh-CN" sz="6000">
                <a:solidFill>
                  <a:srgbClr val="800000"/>
                </a:solidFill>
                <a:latin typeface="隶书" charset="0"/>
                <a:ea typeface="隶书" charset="0"/>
              </a:rPr>
              <a:t>v</a:t>
            </a:r>
            <a:r>
              <a:rPr kumimoji="1" lang="en-US" altLang="zh-CN" sz="6000" baseline="-25000">
                <a:solidFill>
                  <a:srgbClr val="800000"/>
                </a:solidFill>
                <a:latin typeface="隶书" charset="0"/>
                <a:ea typeface="隶书" charset="0"/>
              </a:rPr>
              <a:t>j</a:t>
            </a:r>
            <a:r>
              <a:rPr kumimoji="1" lang="en-US" altLang="zh-CN" sz="6000">
                <a:solidFill>
                  <a:srgbClr val="800000"/>
                </a:solidFill>
                <a:latin typeface="隶书" charset="0"/>
                <a:ea typeface="隶书" charset="0"/>
              </a:rPr>
              <a:t> </a:t>
            </a:r>
            <a:r>
              <a:rPr kumimoji="1" lang="zh-CN" altLang="en-US" sz="6000">
                <a:solidFill>
                  <a:srgbClr val="800000"/>
                </a:solidFill>
                <a:latin typeface="隶书" charset="0"/>
                <a:ea typeface="隶书" charset="0"/>
              </a:rPr>
              <a:t>的所有可能存在的路径中，选出一条长度最短的路径</a:t>
            </a:r>
            <a:r>
              <a:rPr kumimoji="1" lang="zh-CN" altLang="en-US" sz="3600">
                <a:solidFill>
                  <a:srgbClr val="800000"/>
                </a:solidFill>
                <a:latin typeface="Times New Roman" charset="0"/>
                <a:ea typeface="楷体_GB2312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76543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2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6" grpId="0" autoUpdateAnimBg="0"/>
      <p:bldP spid="472067" grpId="0" autoUpdateAnimBg="0"/>
      <p:bldP spid="472068" grpId="0" autoUpdateAnimBg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Text Box 2"/>
          <p:cNvSpPr txBox="1">
            <a:spLocks noChangeArrowheads="1"/>
          </p:cNvSpPr>
          <p:nvPr/>
        </p:nvSpPr>
        <p:spPr bwMode="auto">
          <a:xfrm>
            <a:off x="152400" y="131763"/>
            <a:ext cx="8839200" cy="5278437"/>
          </a:xfrm>
          <a:prstGeom prst="rect">
            <a:avLst/>
          </a:prstGeom>
          <a:solidFill>
            <a:srgbClr val="CCFFFF"/>
          </a:solidFill>
          <a:ln w="25400" cap="sq">
            <a:solidFill>
              <a:srgbClr val="003366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&lt;v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&gt;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存在，则存在路径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{v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     //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路径中不含其它顶点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&lt;v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&gt;,&lt;v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&gt;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存在，则存在路径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{v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1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//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路径中所含顶点序号不大于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若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{v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,…,v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}, {v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,…,v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存在，</a:t>
            </a:r>
          </a:p>
          <a:p>
            <a:pPr eaLnBrk="1" hangingPunct="1">
              <a:lnSpc>
                <a:spcPct val="120000"/>
              </a:lnSpc>
            </a:pP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则存在一条路径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{v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i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 …, 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2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, …v</a:t>
            </a:r>
            <a:r>
              <a:rPr kumimoji="1" lang="en-US" altLang="zh-CN" sz="3600" baseline="-25000">
                <a:solidFill>
                  <a:schemeClr val="tx2"/>
                </a:solidFill>
                <a:latin typeface="Times New Roman" charset="0"/>
                <a:ea typeface="楷体_GB2312" charset="0"/>
              </a:rPr>
              <a:t>j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       // </a:t>
            </a:r>
            <a:r>
              <a:rPr kumimoji="1" lang="zh-CN" altLang="en-US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路径中所含顶点序号不大于</a:t>
            </a:r>
            <a:r>
              <a:rPr kumimoji="1" lang="en-US" altLang="zh-CN" sz="3600">
                <a:solidFill>
                  <a:schemeClr val="tx2"/>
                </a:solidFill>
                <a:latin typeface="Times New Roman" charset="0"/>
                <a:ea typeface="楷体_GB2312" charset="0"/>
              </a:rPr>
              <a:t>2</a:t>
            </a:r>
          </a:p>
          <a:p>
            <a:pPr eaLnBrk="1" hangingPunct="1">
              <a:lnSpc>
                <a:spcPct val="90000"/>
              </a:lnSpc>
            </a:pPr>
            <a:r>
              <a:rPr kumimoji="1" lang="en-US" altLang="zh-CN" sz="4000" b="1">
                <a:solidFill>
                  <a:schemeClr val="tx2"/>
                </a:solidFill>
                <a:latin typeface="Times New Roman" charset="0"/>
                <a:ea typeface="楷体_GB2312" charset="0"/>
              </a:rPr>
              <a:t>      …</a:t>
            </a:r>
            <a:endParaRPr kumimoji="1" lang="en-US" altLang="zh-CN" sz="4000">
              <a:solidFill>
                <a:schemeClr val="tx2"/>
              </a:solidFill>
              <a:latin typeface="Times New Roman" charset="0"/>
              <a:ea typeface="楷体_GB2312" charset="0"/>
            </a:endParaRPr>
          </a:p>
        </p:txBody>
      </p:sp>
      <p:sp>
        <p:nvSpPr>
          <p:cNvPr id="473091" name="Text Box 3"/>
          <p:cNvSpPr txBox="1">
            <a:spLocks noChangeArrowheads="1"/>
          </p:cNvSpPr>
          <p:nvPr/>
        </p:nvSpPr>
        <p:spPr bwMode="auto">
          <a:xfrm>
            <a:off x="228600" y="5486400"/>
            <a:ext cx="8686800" cy="124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05000"/>
              </a:lnSpc>
            </a:pP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    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依次类推，则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vi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至 </a:t>
            </a:r>
            <a:r>
              <a:rPr kumimoji="1" lang="en-US" altLang="zh-CN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vj </a:t>
            </a:r>
            <a:r>
              <a:rPr kumimoji="1" lang="zh-CN" altLang="en-US" sz="3600">
                <a:solidFill>
                  <a:srgbClr val="000099"/>
                </a:solidFill>
                <a:latin typeface="Times New Roman" charset="0"/>
                <a:ea typeface="楷体_GB2312" charset="0"/>
              </a:rPr>
              <a:t>的最短路径应是上述这些路径中，路径长度最小者。</a:t>
            </a:r>
            <a:endParaRPr kumimoji="1" lang="zh-CN" altLang="en-US" sz="36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4512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4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3090" grpId="0" animBg="1" autoUpdateAnimBg="0"/>
      <p:bldP spid="473091" grpId="0" autoUpdateAnimBg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847013" cy="54864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800">
                <a:solidFill>
                  <a:srgbClr val="000000"/>
                </a:solidFill>
              </a:rPr>
              <a:t>现定义一个</a:t>
            </a:r>
            <a:r>
              <a:rPr lang="en-US" altLang="zh-CN" sz="2800">
                <a:solidFill>
                  <a:srgbClr val="000000"/>
                </a:solidFill>
              </a:rPr>
              <a:t>n</a:t>
            </a:r>
            <a:r>
              <a:rPr lang="zh-CN" altLang="en-US" sz="2800">
                <a:solidFill>
                  <a:srgbClr val="000000"/>
                </a:solidFill>
              </a:rPr>
              <a:t>阶方阵序列。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800">
                <a:solidFill>
                  <a:srgbClr val="000000"/>
                </a:solidFill>
              </a:rPr>
              <a:t>    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(-1)</a:t>
            </a:r>
            <a:r>
              <a:rPr lang="zh-CN" altLang="en-US" sz="2800">
                <a:solidFill>
                  <a:srgbClr val="000000"/>
                </a:solidFill>
              </a:rPr>
              <a:t>，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(0)</a:t>
            </a:r>
            <a:r>
              <a:rPr lang="zh-CN" altLang="en-US" sz="2800">
                <a:solidFill>
                  <a:srgbClr val="000000"/>
                </a:solidFill>
              </a:rPr>
              <a:t>，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(1)</a:t>
            </a:r>
            <a:r>
              <a:rPr lang="zh-CN" altLang="en-US" sz="2800">
                <a:solidFill>
                  <a:srgbClr val="000000"/>
                </a:solidFill>
              </a:rPr>
              <a:t>，</a:t>
            </a:r>
            <a:r>
              <a:rPr lang="en-US" altLang="zh-CN" sz="2800">
                <a:solidFill>
                  <a:srgbClr val="000000"/>
                </a:solidFill>
              </a:rPr>
              <a:t>…</a:t>
            </a:r>
            <a:r>
              <a:rPr lang="zh-CN" altLang="en-US" sz="2800">
                <a:solidFill>
                  <a:srgbClr val="000000"/>
                </a:solidFill>
              </a:rPr>
              <a:t>，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(k)</a:t>
            </a:r>
            <a:r>
              <a:rPr lang="zh-CN" altLang="en-US" sz="2800">
                <a:solidFill>
                  <a:srgbClr val="000000"/>
                </a:solidFill>
              </a:rPr>
              <a:t>，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(n-1)</a:t>
            </a:r>
            <a:endParaRPr lang="en-US" altLang="zh-CN" sz="2800">
              <a:solidFill>
                <a:srgbClr val="000000"/>
              </a:solidFill>
            </a:endParaRP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00"/>
                </a:solidFill>
              </a:rPr>
              <a:t> </a:t>
            </a:r>
            <a:r>
              <a:rPr lang="zh-CN" altLang="en-US" sz="2800">
                <a:solidFill>
                  <a:srgbClr val="000000"/>
                </a:solidFill>
              </a:rPr>
              <a:t>其中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zh-CN" altLang="en-US" sz="2800">
                <a:solidFill>
                  <a:srgbClr val="000000"/>
                </a:solidFill>
              </a:rPr>
              <a:t> </a:t>
            </a:r>
            <a:r>
              <a:rPr lang="en-US" altLang="zh-CN" sz="2800">
                <a:solidFill>
                  <a:srgbClr val="000000"/>
                </a:solidFill>
              </a:rPr>
              <a:t>D</a:t>
            </a:r>
            <a:r>
              <a:rPr lang="en-US" altLang="zh-CN" sz="2800" baseline="30000">
                <a:solidFill>
                  <a:srgbClr val="000000"/>
                </a:solidFill>
              </a:rPr>
              <a:t>(-1)</a:t>
            </a:r>
            <a:r>
              <a:rPr lang="en-US" altLang="zh-CN" sz="2800">
                <a:solidFill>
                  <a:srgbClr val="000000"/>
                </a:solidFill>
              </a:rPr>
              <a:t>[i][j]=edges[i][j]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00"/>
                </a:solidFill>
              </a:rPr>
              <a:t> </a:t>
            </a:r>
            <a:r>
              <a:rPr lang="pl-PL" altLang="zh-CN" sz="2800">
                <a:solidFill>
                  <a:srgbClr val="000000"/>
                </a:solidFill>
              </a:rPr>
              <a:t>D</a:t>
            </a:r>
            <a:r>
              <a:rPr lang="pl-PL" altLang="zh-CN" sz="2800" baseline="30000">
                <a:solidFill>
                  <a:srgbClr val="000000"/>
                </a:solidFill>
              </a:rPr>
              <a:t>( k)</a:t>
            </a:r>
            <a:r>
              <a:rPr lang="pl-PL" altLang="zh-CN" sz="2800">
                <a:solidFill>
                  <a:srgbClr val="000000"/>
                </a:solidFill>
              </a:rPr>
              <a:t>[i][j]=</a:t>
            </a:r>
            <a:endParaRPr lang="en-US" altLang="zh-CN" sz="2800">
              <a:solidFill>
                <a:srgbClr val="000000"/>
              </a:solidFill>
            </a:endParaRP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00"/>
                </a:solidFill>
              </a:rPr>
              <a:t>         </a:t>
            </a:r>
            <a:r>
              <a:rPr lang="pl-PL" altLang="zh-CN" sz="2800">
                <a:solidFill>
                  <a:srgbClr val="000000"/>
                </a:solidFill>
              </a:rPr>
              <a:t>Min{D</a:t>
            </a:r>
            <a:r>
              <a:rPr lang="pl-PL" altLang="zh-CN" sz="2800" baseline="30000">
                <a:solidFill>
                  <a:srgbClr val="000000"/>
                </a:solidFill>
              </a:rPr>
              <a:t>(k-1)</a:t>
            </a:r>
            <a:r>
              <a:rPr lang="pl-PL" altLang="zh-CN" sz="2800">
                <a:solidFill>
                  <a:srgbClr val="000000"/>
                </a:solidFill>
              </a:rPr>
              <a:t>[i][j], D</a:t>
            </a:r>
            <a:r>
              <a:rPr lang="pl-PL" altLang="zh-CN" sz="2800" baseline="30000">
                <a:solidFill>
                  <a:srgbClr val="000000"/>
                </a:solidFill>
              </a:rPr>
              <a:t>(k-1)</a:t>
            </a:r>
            <a:r>
              <a:rPr lang="pl-PL" altLang="zh-CN" sz="2800">
                <a:solidFill>
                  <a:srgbClr val="000000"/>
                </a:solidFill>
              </a:rPr>
              <a:t>[i][k]+D</a:t>
            </a:r>
            <a:r>
              <a:rPr lang="pl-PL" altLang="zh-CN" sz="2800" baseline="30000">
                <a:solidFill>
                  <a:srgbClr val="000000"/>
                </a:solidFill>
              </a:rPr>
              <a:t>(k-1)</a:t>
            </a:r>
            <a:r>
              <a:rPr lang="pl-PL" altLang="zh-CN" sz="2800">
                <a:solidFill>
                  <a:srgbClr val="000000"/>
                </a:solidFill>
              </a:rPr>
              <a:t>[k][j]}  </a:t>
            </a:r>
            <a:r>
              <a:rPr lang="en-US" altLang="zh-CN" sz="2800">
                <a:solidFill>
                  <a:srgbClr val="000000"/>
                </a:solidFill>
              </a:rPr>
              <a:t>    </a:t>
            </a: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800">
                <a:solidFill>
                  <a:srgbClr val="000000"/>
                </a:solidFill>
              </a:rPr>
              <a:t>                </a:t>
            </a:r>
            <a:r>
              <a:rPr lang="pl-PL" altLang="zh-CN" sz="2800">
                <a:solidFill>
                  <a:srgbClr val="000000"/>
                </a:solidFill>
              </a:rPr>
              <a:t>0≦k≦n-1</a:t>
            </a:r>
            <a:endParaRPr lang="en-US" altLang="zh-CN" sz="2800">
              <a:solidFill>
                <a:srgbClr val="000000"/>
              </a:solidFill>
            </a:endParaRPr>
          </a:p>
          <a:p>
            <a:pPr marL="0" indent="0" algn="just" eaLnBrk="1" hangingPunct="1">
              <a:lnSpc>
                <a:spcPct val="80000"/>
              </a:lnSpc>
              <a:buFontTx/>
              <a:buNone/>
            </a:pPr>
            <a:r>
              <a:rPr lang="en-US" altLang="zh-CN" sz="2800"/>
              <a:t>	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  <a:cs typeface="Times New Roman" charset="0"/>
              </a:rPr>
              <a:t>从上述计算公式可见，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  <a:cs typeface="Times New Roman" charset="0"/>
              </a:rPr>
              <a:t>D</a:t>
            </a:r>
            <a:r>
              <a:rPr lang="en-US" altLang="zh-CN" sz="2800" baseline="30000">
                <a:solidFill>
                  <a:srgbClr val="0000FF"/>
                </a:solidFill>
                <a:latin typeface="华文楷体" charset="-122"/>
                <a:ea typeface="华文楷体" charset="-122"/>
                <a:cs typeface="Times New Roman" charset="0"/>
              </a:rPr>
              <a:t>(1)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  <a:cs typeface="Times New Roman" charset="0"/>
              </a:rPr>
              <a:t>[i][j]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  <a:cs typeface="Times New Roman" charset="0"/>
              </a:rPr>
              <a:t>是从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vi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到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vj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的中间顶点的序号不大于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1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的最短路径的长度；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D</a:t>
            </a:r>
            <a:r>
              <a:rPr lang="en-US" altLang="zh-CN" sz="2800" baseline="300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( k)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[i][j] 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是从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vi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到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vj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的中间顶点的个数不大于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k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的最短路径的长度；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D</a:t>
            </a:r>
            <a:r>
              <a:rPr lang="en-US" altLang="zh-CN" sz="2800" baseline="300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( n-1)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[i][j] 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就是从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vi 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到</a:t>
            </a:r>
            <a:r>
              <a:rPr lang="en-US" altLang="zh-CN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vj</a:t>
            </a:r>
            <a:r>
              <a:rPr lang="zh-CN" altLang="en-US" sz="2800">
                <a:solidFill>
                  <a:srgbClr val="0000FF"/>
                </a:solidFill>
                <a:latin typeface="华文楷体" charset="-122"/>
                <a:ea typeface="华文楷体" charset="-122"/>
              </a:rPr>
              <a:t>的最短路径的长度。</a:t>
            </a:r>
            <a:r>
              <a:rPr lang="zh-CN" altLang="en-US" sz="280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56746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04813"/>
            <a:ext cx="7772400" cy="5691187"/>
          </a:xfrm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477187" name="AutoShape 3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2000" y="6503988"/>
            <a:ext cx="381000" cy="381000"/>
          </a:xfrm>
          <a:prstGeom prst="actionButtonBackPrevious">
            <a:avLst/>
          </a:prstGeom>
          <a:solidFill>
            <a:schemeClr val="bg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0"/>
            <a:ext cx="6497637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92375"/>
            <a:ext cx="8996362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297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87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457200" y="161925"/>
            <a:ext cx="8610600" cy="623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　</a:t>
            </a:r>
            <a:r>
              <a:rPr kumimoji="1" lang="en-US" altLang="zh-CN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1. </a:t>
            </a:r>
            <a:r>
              <a:rPr kumimoji="1" lang="zh-CN" altLang="en-US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熟悉图的各种存储结构及其构造算法，了解实际问题的求解效率与采用何种存储结构和算法有密切联系。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　</a:t>
            </a:r>
            <a:r>
              <a:rPr kumimoji="1" lang="en-US" altLang="zh-CN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2. </a:t>
            </a:r>
            <a:r>
              <a:rPr kumimoji="1" lang="zh-CN" altLang="en-US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熟练掌握图的两种搜索路径的遍历：遍历的逻辑定义、深度优先搜索和广度优先搜索的算法。</a:t>
            </a:r>
          </a:p>
          <a:p>
            <a:pPr eaLnBrk="1" hangingPunct="1">
              <a:lnSpc>
                <a:spcPct val="140000"/>
              </a:lnSpc>
            </a:pPr>
            <a:r>
              <a:rPr kumimoji="1" lang="zh-CN" altLang="en-US" sz="36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   在学习中应注意图的遍历算法与树的遍历算法之间的类似和差异。</a:t>
            </a:r>
            <a:endParaRPr kumimoji="1" lang="zh-CN" altLang="en-US" sz="3600" b="1">
              <a:solidFill>
                <a:srgbClr val="0000FF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537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ChangeArrowheads="1"/>
          </p:cNvSpPr>
          <p:nvPr/>
        </p:nvSpPr>
        <p:spPr bwMode="auto">
          <a:xfrm>
            <a:off x="457200" y="1520825"/>
            <a:ext cx="822960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1" lang="zh-CN" altLang="en-US" sz="4000">
                <a:solidFill>
                  <a:srgbClr val="663300"/>
                </a:solidFill>
                <a:latin typeface="楷体_GB2312" charset="0"/>
                <a:ea typeface="楷体_GB2312" charset="0"/>
              </a:rPr>
              <a:t>　  </a:t>
            </a:r>
            <a:r>
              <a:rPr kumimoji="1" lang="en-US" altLang="zh-CN" sz="40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3. </a:t>
            </a:r>
            <a:r>
              <a:rPr kumimoji="1" lang="zh-CN" altLang="en-US" sz="40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应用图的遍历算法求解各种简单路径问题。</a:t>
            </a:r>
          </a:p>
          <a:p>
            <a:pPr eaLnBrk="1" hangingPunct="1">
              <a:lnSpc>
                <a:spcPct val="150000"/>
              </a:lnSpc>
            </a:pPr>
            <a:r>
              <a:rPr kumimoji="1" lang="zh-CN" altLang="en-US" sz="40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　　</a:t>
            </a:r>
            <a:r>
              <a:rPr kumimoji="1" lang="en-US" altLang="zh-CN" sz="40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4. </a:t>
            </a:r>
            <a:r>
              <a:rPr kumimoji="1" lang="zh-CN" altLang="en-US" sz="4000" b="1">
                <a:solidFill>
                  <a:srgbClr val="0000FF"/>
                </a:solidFill>
                <a:latin typeface="楷体_GB2312" charset="0"/>
                <a:ea typeface="楷体_GB2312" charset="0"/>
              </a:rPr>
              <a:t>理解教科书中讨论的各种图的算法。</a:t>
            </a:r>
          </a:p>
        </p:txBody>
      </p:sp>
    </p:spTree>
    <p:extLst>
      <p:ext uri="{BB962C8B-B14F-4D97-AF65-F5344CB8AC3E}">
        <p14:creationId xmlns:p14="http://schemas.microsoft.com/office/powerpoint/2010/main" val="2037994776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TM03457496[[fn=视差]]</Template>
  <TotalTime>39</TotalTime>
  <Words>8852</Words>
  <Application>Microsoft Macintosh PowerPoint</Application>
  <PresentationFormat>全屏显示(4:3)</PresentationFormat>
  <Paragraphs>1386</Paragraphs>
  <Slides>130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130</vt:i4>
      </vt:variant>
    </vt:vector>
  </HeadingPairs>
  <TitlesOfParts>
    <vt:vector size="148" baseType="lpstr">
      <vt:lpstr>Calibri</vt:lpstr>
      <vt:lpstr>Lucida Sans Unicode</vt:lpstr>
      <vt:lpstr>Verdana</vt:lpstr>
      <vt:lpstr>Wingdings 2</vt:lpstr>
      <vt:lpstr>Wingdings 3</vt:lpstr>
      <vt:lpstr>黑体</vt:lpstr>
      <vt:lpstr>华文楷体</vt:lpstr>
      <vt:lpstr>楷体_GB2312</vt:lpstr>
      <vt:lpstr>隶书</vt:lpstr>
      <vt:lpstr>宋体</vt:lpstr>
      <vt:lpstr>Arial</vt:lpstr>
      <vt:lpstr>Symbol</vt:lpstr>
      <vt:lpstr>Times New Roman</vt:lpstr>
      <vt:lpstr>聚合</vt:lpstr>
      <vt:lpstr>Microsoft Word 97 - 2003 文档</vt:lpstr>
      <vt:lpstr>Microsoft Word 文档</vt:lpstr>
      <vt:lpstr>Microsoft Clip Gallery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图的创建基本过程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邻接表为存储结构的图进行深度优先遍历 </vt:lpstr>
      <vt:lpstr>PowerPoint 演示文稿</vt:lpstr>
      <vt:lpstr>PowerPoint 演示文稿</vt:lpstr>
      <vt:lpstr>PowerPoint 演示文稿</vt:lpstr>
      <vt:lpstr>PowerPoint 演示文稿</vt:lpstr>
      <vt:lpstr>邻接矩阵为存储结构的图广度优先遍历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7.8  两点之间的     最短路径问题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in C</dc:title>
  <dc:creator>zl</dc:creator>
  <cp:lastModifiedBy>Microsoft Office User</cp:lastModifiedBy>
  <cp:revision>71</cp:revision>
  <dcterms:created xsi:type="dcterms:W3CDTF">2021-09-07T07:00:29Z</dcterms:created>
  <dcterms:modified xsi:type="dcterms:W3CDTF">2021-09-12T02:29:30Z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CADF6424C67F4878824CBAFDDE4F69C5</vt:lpwstr>
  </property>
  <property fmtid="{D5CDD505-2E9C-101B-9397-08002B2CF9AE}" pid="3" name="KSOProductBuildVer">
    <vt:lpwstr>2052-3.0.0.4824</vt:lpwstr>
  </property>
</Properties>
</file>