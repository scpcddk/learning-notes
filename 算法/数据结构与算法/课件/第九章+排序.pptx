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audio1.bin" ContentType="audio/unknown"/>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8"/>
  </p:normalViewPr>
  <p:slideViewPr>
    <p:cSldViewPr>
      <p:cViewPr varScale="1">
        <p:scale>
          <a:sx n="121" d="100"/>
          <a:sy n="121" d="100"/>
        </p:scale>
        <p:origin x="1360" y="184"/>
      </p:cViewPr>
      <p:guideLst>
        <p:guide orient="horz" pos="2160"/>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00" Type="http://schemas.openxmlformats.org/officeDocument/2006/relationships/slide" Target="slides/slide9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 Id="rId2" Type="http://schemas.openxmlformats.org/officeDocument/2006/relationships/image" Target="../media/image6.wmf"/><Relationship Id="rId3"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 Id="rId2"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wmf"/><Relationship Id="rId2"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t>2021/9/12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AC4428-3871-A24B-BB0D-68C4518DB45E}" type="slidenum">
              <a:rPr lang="en-US" altLang="zh-CN"/>
              <a:pPr/>
              <a:t>17</a:t>
            </a:fld>
            <a:endParaRPr lang="en-US" altLang="zh-CN"/>
          </a:p>
        </p:txBody>
      </p:sp>
      <p:sp>
        <p:nvSpPr>
          <p:cNvPr id="48130" name="Rectangle 1026"/>
          <p:cNvSpPr>
            <a:spLocks noChangeArrowheads="1" noTextEdit="1"/>
          </p:cNvSpPr>
          <p:nvPr>
            <p:ph type="sldImg"/>
          </p:nvPr>
        </p:nvSpPr>
        <p:spPr>
          <a:ln/>
        </p:spPr>
      </p:sp>
      <p:sp>
        <p:nvSpPr>
          <p:cNvPr id="48131" name="Rectangle 1027"/>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84941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ECF11A-DCBB-C14A-B71B-CCF49C04C99A}" type="slidenum">
              <a:rPr lang="en-US" altLang="zh-CN"/>
              <a:pPr/>
              <a:t>28</a:t>
            </a:fld>
            <a:endParaRPr lang="en-US" altLang="zh-CN"/>
          </a:p>
        </p:txBody>
      </p:sp>
      <p:sp>
        <p:nvSpPr>
          <p:cNvPr id="138242" name="Rectangle 2"/>
          <p:cNvSpPr>
            <a:spLocks noChangeArrowheads="1" noTextEdit="1"/>
          </p:cNvSpPr>
          <p:nvPr>
            <p:ph type="sldImg"/>
          </p:nvPr>
        </p:nvSpPr>
        <p:spPr>
          <a:ln/>
        </p:spPr>
      </p:sp>
      <p:sp>
        <p:nvSpPr>
          <p:cNvPr id="138243" name="Rectangle 3"/>
          <p:cNvSpPr>
            <a:spLocks noGrp="1" noChangeArrowheads="1"/>
          </p:cNvSpPr>
          <p:nvPr>
            <p:ph type="body" idx="1"/>
          </p:nvPr>
        </p:nvSpPr>
        <p:spPr/>
        <p:txBody>
          <a:bodyPr/>
          <a:lstStyle/>
          <a:p>
            <a:r>
              <a:rPr lang="zh-CN" altLang="en-US"/>
              <a:t>比较</a:t>
            </a:r>
            <a:r>
              <a:rPr lang="en-US" altLang="zh-CN"/>
              <a:t>i-1 </a:t>
            </a:r>
            <a:r>
              <a:rPr lang="zh-CN" altLang="en-US"/>
              <a:t>加第</a:t>
            </a:r>
            <a:r>
              <a:rPr lang="en-US" altLang="zh-CN"/>
              <a:t>0</a:t>
            </a:r>
            <a:r>
              <a:rPr lang="zh-CN" altLang="en-US"/>
              <a:t>个数据</a:t>
            </a:r>
          </a:p>
          <a:p>
            <a:r>
              <a:rPr lang="zh-CN" altLang="en-US"/>
              <a:t>移动：移动ｉ－１移动数据到［０］初始　　［１］最后</a:t>
            </a:r>
          </a:p>
          <a:p>
            <a:endParaRPr lang="zh-CN" altLang="en-US"/>
          </a:p>
        </p:txBody>
      </p:sp>
    </p:spTree>
    <p:extLst>
      <p:ext uri="{BB962C8B-B14F-4D97-AF65-F5344CB8AC3E}">
        <p14:creationId xmlns:p14="http://schemas.microsoft.com/office/powerpoint/2010/main" val="511965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0CBFC8-0C7A-A24E-9AA8-CBECC69BCF75}" type="slidenum">
              <a:rPr lang="en-US" altLang="zh-CN"/>
              <a:pPr/>
              <a:t>50</a:t>
            </a:fld>
            <a:endParaRPr lang="en-US" altLang="zh-CN"/>
          </a:p>
        </p:txBody>
      </p:sp>
      <p:sp>
        <p:nvSpPr>
          <p:cNvPr id="137218" name="Rectangle 2"/>
          <p:cNvSpPr>
            <a:spLocks noChangeArrowheads="1" noTextEdit="1"/>
          </p:cNvSpPr>
          <p:nvPr>
            <p:ph type="sldImg"/>
          </p:nvPr>
        </p:nvSpPr>
        <p:spPr>
          <a:ln/>
        </p:spPr>
      </p:sp>
      <p:sp>
        <p:nvSpPr>
          <p:cNvPr id="1372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39595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BA6AD4-A53E-5840-9227-1477E56E6BBE}" type="slidenum">
              <a:rPr lang="en-US" altLang="zh-CN"/>
              <a:pPr/>
              <a:t>123</a:t>
            </a:fld>
            <a:endParaRPr lang="en-US" altLang="zh-CN"/>
          </a:p>
        </p:txBody>
      </p:sp>
      <p:sp>
        <p:nvSpPr>
          <p:cNvPr id="140290" name="Rectangle 2"/>
          <p:cNvSpPr>
            <a:spLocks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zh-CN" altLang="en-US"/>
              <a:t>这个首先要明确一点，只用到比较的排序算法最低时间复杂度是</a:t>
            </a:r>
            <a:r>
              <a:rPr lang="en-US" altLang="zh-CN"/>
              <a:t>O(nlogn)</a:t>
            </a:r>
            <a:r>
              <a:rPr lang="zh-CN" altLang="en-US"/>
              <a:t>，而像桶排这样的只需要</a:t>
            </a:r>
            <a:r>
              <a:rPr lang="en-US" altLang="zh-CN"/>
              <a:t>O(R)(R</a:t>
            </a:r>
            <a:r>
              <a:rPr lang="zh-CN" altLang="en-US"/>
              <a:t>为桶的大小</a:t>
            </a:r>
            <a:r>
              <a:rPr lang="en-US" altLang="zh-CN"/>
              <a:t>) </a:t>
            </a:r>
            <a:br>
              <a:rPr lang="en-US" altLang="zh-CN"/>
            </a:br>
            <a:r>
              <a:rPr lang="zh-CN" altLang="en-US"/>
              <a:t>为了证明只用到比较的排序算法最低时间复杂度是</a:t>
            </a:r>
            <a:r>
              <a:rPr lang="en-US" altLang="zh-CN"/>
              <a:t>O(nlogn)</a:t>
            </a:r>
            <a:r>
              <a:rPr lang="zh-CN" altLang="en-US"/>
              <a:t>，首先要引入决策树。 </a:t>
            </a:r>
            <a:br>
              <a:rPr lang="zh-CN" altLang="en-US"/>
            </a:br>
            <a:r>
              <a:rPr lang="zh-CN" altLang="en-US"/>
              <a:t>首先决策树是一颗二叉树，每个节点表示元素之间一组可能的排序，它予以京进行的比较相一致，比较的结果是树的边。 </a:t>
            </a:r>
            <a:br>
              <a:rPr lang="zh-CN" altLang="en-US"/>
            </a:br>
            <a:r>
              <a:rPr lang="zh-CN" altLang="en-US"/>
              <a:t>先来说明一些二叉树的性质，令</a:t>
            </a:r>
            <a:r>
              <a:rPr lang="en-US" altLang="zh-CN"/>
              <a:t>T</a:t>
            </a:r>
            <a:r>
              <a:rPr lang="zh-CN" altLang="en-US"/>
              <a:t>是深度为</a:t>
            </a:r>
            <a:r>
              <a:rPr lang="en-US" altLang="zh-CN"/>
              <a:t>d</a:t>
            </a:r>
            <a:r>
              <a:rPr lang="zh-CN" altLang="en-US"/>
              <a:t>的二叉树，则</a:t>
            </a:r>
            <a:r>
              <a:rPr lang="en-US" altLang="zh-CN"/>
              <a:t>T</a:t>
            </a:r>
            <a:r>
              <a:rPr lang="zh-CN" altLang="en-US"/>
              <a:t>最多有</a:t>
            </a:r>
            <a:r>
              <a:rPr lang="en-US" altLang="zh-CN"/>
              <a:t>2^</a:t>
            </a:r>
            <a:r>
              <a:rPr lang="zh-CN" altLang="en-US"/>
              <a:t>片树叶。 </a:t>
            </a:r>
            <a:br>
              <a:rPr lang="zh-CN" altLang="en-US"/>
            </a:br>
            <a:r>
              <a:rPr lang="zh-CN" altLang="en-US"/>
              <a:t>具有</a:t>
            </a:r>
            <a:r>
              <a:rPr lang="en-US" altLang="zh-CN"/>
              <a:t>L</a:t>
            </a:r>
            <a:r>
              <a:rPr lang="zh-CN" altLang="en-US"/>
              <a:t>片树叶的二叉树的深度至少是</a:t>
            </a:r>
            <a:r>
              <a:rPr lang="en-US" altLang="zh-CN"/>
              <a:t>logL</a:t>
            </a:r>
            <a:r>
              <a:rPr lang="zh-CN" altLang="en-US"/>
              <a:t>。 </a:t>
            </a:r>
            <a:br>
              <a:rPr lang="zh-CN" altLang="en-US"/>
            </a:br>
            <a:r>
              <a:rPr lang="zh-CN" altLang="en-US"/>
              <a:t>所以，对</a:t>
            </a:r>
            <a:r>
              <a:rPr lang="en-US" altLang="zh-CN"/>
              <a:t>n</a:t>
            </a:r>
            <a:r>
              <a:rPr lang="zh-CN" altLang="en-US"/>
              <a:t>个元素排序的决策树必然有</a:t>
            </a:r>
            <a:r>
              <a:rPr lang="en-US" altLang="zh-CN"/>
              <a:t>n!</a:t>
            </a:r>
            <a:r>
              <a:rPr lang="zh-CN" altLang="en-US"/>
              <a:t>片树叶（因为</a:t>
            </a:r>
            <a:r>
              <a:rPr lang="en-US" altLang="zh-CN"/>
              <a:t>n</a:t>
            </a:r>
            <a:r>
              <a:rPr lang="zh-CN" altLang="en-US"/>
              <a:t>个数有</a:t>
            </a:r>
            <a:r>
              <a:rPr lang="en-US" altLang="zh-CN"/>
              <a:t>n!</a:t>
            </a:r>
            <a:r>
              <a:rPr lang="zh-CN" altLang="en-US"/>
              <a:t>种不同的大小关系），所以决策树的深度至少是</a:t>
            </a:r>
            <a:r>
              <a:rPr lang="en-US" altLang="zh-CN"/>
              <a:t>log(n!)</a:t>
            </a:r>
            <a:r>
              <a:rPr lang="zh-CN" altLang="en-US"/>
              <a:t>，即至少需要</a:t>
            </a:r>
            <a:r>
              <a:rPr lang="en-US" altLang="zh-CN"/>
              <a:t>log(n!)</a:t>
            </a:r>
            <a:r>
              <a:rPr lang="zh-CN" altLang="en-US"/>
              <a:t>次比较。 </a:t>
            </a:r>
            <a:br>
              <a:rPr lang="zh-CN" altLang="en-US"/>
            </a:br>
            <a:r>
              <a:rPr lang="zh-CN" altLang="en-US"/>
              <a:t>而 </a:t>
            </a:r>
            <a:br>
              <a:rPr lang="zh-CN" altLang="en-US"/>
            </a:br>
            <a:r>
              <a:rPr lang="en-US" altLang="zh-CN"/>
              <a:t>log(n!)=logn+log(n-1)+log(n-2)+...+log2+log1 </a:t>
            </a:r>
            <a:br>
              <a:rPr lang="en-US" altLang="zh-CN"/>
            </a:br>
            <a:r>
              <a:rPr lang="en-US" altLang="zh-CN"/>
              <a:t>&gt;=logn+log(n-1)+log(n-2)+...+log(n/2) </a:t>
            </a:r>
            <a:br>
              <a:rPr lang="en-US" altLang="zh-CN"/>
            </a:br>
            <a:r>
              <a:rPr lang="en-US" altLang="zh-CN"/>
              <a:t>&gt;=(n/2)log(n/2) </a:t>
            </a:r>
            <a:br>
              <a:rPr lang="en-US" altLang="zh-CN"/>
            </a:br>
            <a:r>
              <a:rPr lang="en-US" altLang="zh-CN"/>
              <a:t>&gt;=(n/2)logn-n/2 </a:t>
            </a:r>
            <a:br>
              <a:rPr lang="en-US" altLang="zh-CN"/>
            </a:br>
            <a:r>
              <a:rPr lang="en-US" altLang="zh-CN"/>
              <a:t>=O(nlogn) </a:t>
            </a:r>
            <a:br>
              <a:rPr lang="en-US" altLang="zh-CN"/>
            </a:br>
            <a:r>
              <a:rPr lang="zh-CN" altLang="en-US"/>
              <a:t>所以只用到比较的排序算法最低时间复杂度是</a:t>
            </a:r>
            <a:r>
              <a:rPr lang="en-US" altLang="zh-CN"/>
              <a:t>O(nlogn)</a:t>
            </a:r>
            <a:r>
              <a:rPr lang="zh-CN" altLang="en-US"/>
              <a:t>。 </a:t>
            </a:r>
          </a:p>
        </p:txBody>
      </p:sp>
    </p:spTree>
    <p:extLst>
      <p:ext uri="{BB962C8B-B14F-4D97-AF65-F5344CB8AC3E}">
        <p14:creationId xmlns:p14="http://schemas.microsoft.com/office/powerpoint/2010/main" val="2000355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NUL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fld id="{C85226CB-B0C2-4344-A5A0-B57BD90EDBDF}" type="datetimeFigureOut">
              <a:rPr lang="zh-CN" altLang="en-US" smtClean="0"/>
              <a:t>2021/9/12</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lstStyle>
          <a:p>
            <a:fld id="{6E1C0148-8E4B-4B2F-95CE-20B4709700A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smtClean="0"/>
              <a:t>单击此处编辑母版文本样式</a:t>
            </a:r>
          </a:p>
          <a:p>
            <a:pPr lvl="1" eaLnBrk="1" latinLnBrk="0" hangingPunct="1"/>
            <a:r>
              <a:rPr lang="zh-CN" altLang="en-US" dirty="0" smtClean="0"/>
              <a:t>第二级</a:t>
            </a:r>
          </a:p>
          <a:p>
            <a:pPr lvl="2" eaLnBrk="1" latinLnBrk="0" hangingPunct="1"/>
            <a:r>
              <a:rPr lang="zh-CN" altLang="en-US" smtClean="0"/>
              <a:t>第三级</a:t>
            </a:r>
            <a:endParaRPr lang="zh-CN" altLang="en-US" dirty="0" smtClean="0"/>
          </a:p>
        </p:txBody>
      </p:sp>
      <p:sp>
        <p:nvSpPr>
          <p:cNvPr id="4" name="日期占位符 3"/>
          <p:cNvSpPr>
            <a:spLocks noGrp="1"/>
          </p:cNvSpPr>
          <p:nvPr>
            <p:ph type="dt" sz="half" idx="10"/>
          </p:nvPr>
        </p:nvSpPr>
        <p:spPr>
          <a:xfrm>
            <a:off x="6164422" y="6407309"/>
            <a:ext cx="1920240" cy="365760"/>
          </a:xfrm>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a:xfrm>
            <a:off x="3570447" y="6408579"/>
            <a:ext cx="2350681" cy="365125"/>
          </a:xfrm>
        </p:spPr>
        <p:txBody>
          <a:bodyPr/>
          <a:lstStyle/>
          <a:p>
            <a:endParaRPr lang="zh-CN" altLang="en-US"/>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t>‹#›</a:t>
            </a:fld>
            <a:endParaRPr lang="zh-CN" altLang="en-US" dirty="0"/>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727032" y="6407944"/>
            <a:ext cx="1920240" cy="365760"/>
          </a:xfrm>
        </p:spPr>
        <p:txBody>
          <a:body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fld id="{C85226CB-B0C2-4344-A5A0-B57BD90EDBDF}" type="datetimeFigureOut">
              <a:rPr lang="zh-CN" altLang="en-US" smtClean="0"/>
              <a:t>2021/9/12</a:t>
            </a:fld>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t>‹#›</a:t>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smtClean="0"/>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C85226CB-B0C2-4344-A5A0-B57BD90EDBDF}" type="datetimeFigureOut">
              <a:rPr lang="zh-CN" altLang="en-US" smtClean="0"/>
              <a:t>2021/9/12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C85226CB-B0C2-4344-A5A0-B57BD90EDBDF}" type="datetimeFigureOut">
              <a:rPr lang="zh-CN" altLang="en-US" smtClean="0"/>
              <a:t>2021/9/12</a:t>
            </a:fld>
            <a:endParaRPr lang="zh-CN" altLang="en-US"/>
          </a:p>
        </p:txBody>
      </p:sp>
      <p:sp>
        <p:nvSpPr>
          <p:cNvPr id="22" name="页脚占位符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18" name="灯片编号占位符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ile:///D:/&#25945;&#23398;/&#25968;&#25454;&#32467;&#26500;&#35838;&#20214;/chap009.pps#-1,1,&#27809;&#26377;&#24187;&#28783;&#29255;&#26631;&#39064;" TargetMode="Externa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46.xml"/><Relationship Id="rId5" Type="http://schemas.openxmlformats.org/officeDocument/2006/relationships/slide" Target="slide63.xml"/><Relationship Id="rId6" Type="http://schemas.openxmlformats.org/officeDocument/2006/relationships/slide" Target="slide83.xml"/><Relationship Id="rId7" Type="http://schemas.openxmlformats.org/officeDocument/2006/relationships/slide" Target="slide94.xml"/><Relationship Id="rId8" Type="http://schemas.openxmlformats.org/officeDocument/2006/relationships/slide" Target="slide112.xml"/><Relationship Id="rId9" Type="http://schemas.openxmlformats.org/officeDocument/2006/relationships/slide" Target="slide91.xml"/><Relationship Id="rId1" Type="http://schemas.openxmlformats.org/officeDocument/2006/relationships/slideLayout" Target="../slideLayouts/slideLayout7.xml"/><Relationship Id="rId2"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4" Type="http://schemas.openxmlformats.org/officeDocument/2006/relationships/slide" Target="slide7.xml"/><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14.xml"/><Relationship Id="rId4" Type="http://schemas.openxmlformats.org/officeDocument/2006/relationships/slide" Target="slide15.xml"/><Relationship Id="rId5" Type="http://schemas.openxmlformats.org/officeDocument/2006/relationships/slide" Target="slide16.xml"/><Relationship Id="rId1" Type="http://schemas.openxmlformats.org/officeDocument/2006/relationships/slideLayout" Target="../slideLayouts/slideLayout7.xml"/><Relationship Id="rId2" Type="http://schemas.openxmlformats.org/officeDocument/2006/relationships/slide" Target="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slide" Target="slide30.xml"/><Relationship Id="rId5" Type="http://schemas.openxmlformats.org/officeDocument/2006/relationships/slide" Target="slide38.xml"/><Relationship Id="rId6" Type="http://schemas.openxmlformats.org/officeDocument/2006/relationships/slide" Target="slide2.xml"/><Relationship Id="rId1" Type="http://schemas.openxmlformats.org/officeDocument/2006/relationships/slideLayout" Target="../slideLayouts/slideLayout7.xml"/><Relationship Id="rId2" Type="http://schemas.openxmlformats.org/officeDocument/2006/relationships/slide" Target="slide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slide" Target="slide23.xml"/><Relationship Id="rId1" Type="http://schemas.openxmlformats.org/officeDocument/2006/relationships/slideLayout" Target="../slideLayouts/slideLayout7.xml"/><Relationship Id="rId2"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6.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4" Type="http://schemas.openxmlformats.org/officeDocument/2006/relationships/oleObject" Target="../embeddings/oleObject1.bin"/><Relationship Id="rId5" Type="http://schemas.openxmlformats.org/officeDocument/2006/relationships/image" Target="../media/image5.wmf"/><Relationship Id="rId6" Type="http://schemas.openxmlformats.org/officeDocument/2006/relationships/oleObject" Target="../embeddings/oleObject2.bin"/><Relationship Id="rId7" Type="http://schemas.openxmlformats.org/officeDocument/2006/relationships/image" Target="../media/image6.wmf"/><Relationship Id="rId8" Type="http://schemas.openxmlformats.org/officeDocument/2006/relationships/slide" Target="slide20.xml"/><Relationship Id="rId9" Type="http://schemas.openxmlformats.org/officeDocument/2006/relationships/image" Target="../media/image8.png"/><Relationship Id="rId10" Type="http://schemas.openxmlformats.org/officeDocument/2006/relationships/oleObject" Target="../embeddings/oleObject3.bin"/><Relationship Id="rId11" Type="http://schemas.openxmlformats.org/officeDocument/2006/relationships/image" Target="../media/image7.wmf"/><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1.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0.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slide" Target="slide51.xml"/><Relationship Id="rId4" Type="http://schemas.openxmlformats.org/officeDocument/2006/relationships/slide" Target="slide56.xml"/><Relationship Id="rId5" Type="http://schemas.openxmlformats.org/officeDocument/2006/relationships/slide" Target="slide59.xml"/><Relationship Id="rId6" Type="http://schemas.openxmlformats.org/officeDocument/2006/relationships/slide" Target="slide2.xml"/><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0.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9.wmf"/><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xml"/><Relationship Id="rId4" Type="http://schemas.openxmlformats.org/officeDocument/2006/relationships/oleObject" Target="../embeddings/oleObject5.bin"/><Relationship Id="rId5" Type="http://schemas.openxmlformats.org/officeDocument/2006/relationships/image" Target="../media/image10.wmf"/><Relationship Id="rId6" Type="http://schemas.openxmlformats.org/officeDocument/2006/relationships/oleObject" Target="../embeddings/oleObject6.bin"/><Relationship Id="rId7" Type="http://schemas.openxmlformats.org/officeDocument/2006/relationships/image" Target="../media/image11.wmf"/><Relationship Id="rId8" Type="http://schemas.openxmlformats.org/officeDocument/2006/relationships/slide" Target="slide46.xml"/><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12.wmf"/><Relationship Id="rId1" Type="http://schemas.openxmlformats.org/officeDocument/2006/relationships/vmlDrawing" Target="../drawings/vmlDrawing4.vml"/><Relationship Id="rId2"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13.wmf"/><Relationship Id="rId5" Type="http://schemas.openxmlformats.org/officeDocument/2006/relationships/oleObject" Target="../embeddings/oleObject9.bin"/><Relationship Id="rId6" Type="http://schemas.openxmlformats.org/officeDocument/2006/relationships/image" Target="../media/image14.wmf"/><Relationship Id="rId1" Type="http://schemas.openxmlformats.org/officeDocument/2006/relationships/vmlDrawing" Target="../drawings/vmlDrawing5.vml"/><Relationship Id="rId2"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slide" Target="slide64.xml"/><Relationship Id="rId4" Type="http://schemas.openxmlformats.org/officeDocument/2006/relationships/image" Target="../media/image15.png"/><Relationship Id="rId5" Type="http://schemas.openxmlformats.org/officeDocument/2006/relationships/slide" Target="slide2.xml"/><Relationship Id="rId1" Type="http://schemas.openxmlformats.org/officeDocument/2006/relationships/slideLayout" Target="../slideLayouts/slideLayout7.xml"/><Relationship Id="rId2" Type="http://schemas.openxmlformats.org/officeDocument/2006/relationships/slide" Target="slide7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audio1.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7.wmf"/><Relationship Id="rId5" Type="http://schemas.openxmlformats.org/officeDocument/2006/relationships/slide" Target="slide63.xml"/><Relationship Id="rId1" Type="http://schemas.openxmlformats.org/officeDocument/2006/relationships/vmlDrawing" Target="../drawings/vmlDrawing6.vml"/><Relationship Id="rId2"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18.wmf"/><Relationship Id="rId5" Type="http://schemas.openxmlformats.org/officeDocument/2006/relationships/oleObject" Target="../embeddings/oleObject12.bin"/><Relationship Id="rId6" Type="http://schemas.openxmlformats.org/officeDocument/2006/relationships/image" Target="../media/image19.wmf"/><Relationship Id="rId1" Type="http://schemas.openxmlformats.org/officeDocument/2006/relationships/vmlDrawing" Target="../drawings/vmlDrawing7.vml"/><Relationship Id="rId2"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1.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slide" Target="slide101.xml"/><Relationship Id="rId4" Type="http://schemas.openxmlformats.org/officeDocument/2006/relationships/slide" Target="slide2.xml"/><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9.xml"/><Relationship Id="rId3" Type="http://schemas.openxmlformats.org/officeDocument/2006/relationships/slide" Target="slide9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audio" Target="../media/audio1.bin"/><Relationship Id="rId4" Type="http://schemas.openxmlformats.org/officeDocument/2006/relationships/oleObject" Target="../embeddings/oleObject13.bin"/><Relationship Id="rId5" Type="http://schemas.openxmlformats.org/officeDocument/2006/relationships/image" Target="../media/image22.wmf"/><Relationship Id="rId1" Type="http://schemas.openxmlformats.org/officeDocument/2006/relationships/vmlDrawing" Target="../drawings/vmlDrawing8.vml"/><Relationship Id="rId2"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audio" Target="../media/audio1.bin"/><Relationship Id="rId4" Type="http://schemas.openxmlformats.org/officeDocument/2006/relationships/oleObject" Target="../embeddings/oleObject14.bin"/><Relationship Id="rId5" Type="http://schemas.openxmlformats.org/officeDocument/2006/relationships/image" Target="../media/image23.wmf"/><Relationship Id="rId1" Type="http://schemas.openxmlformats.org/officeDocument/2006/relationships/vmlDrawing" Target="../drawings/vmlDrawing9.vml"/><Relationship Id="rId2"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audio" Target="../media/audio1.bin"/><Relationship Id="rId4" Type="http://schemas.openxmlformats.org/officeDocument/2006/relationships/oleObject" Target="../embeddings/oleObject15.bin"/><Relationship Id="rId5" Type="http://schemas.openxmlformats.org/officeDocument/2006/relationships/image" Target="../media/image23.wmf"/><Relationship Id="rId1" Type="http://schemas.openxmlformats.org/officeDocument/2006/relationships/vmlDrawing" Target="../drawings/vmlDrawing10.vml"/><Relationship Id="rId2"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9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a:hlinkClick r:id="rId2" action="ppaction://hlinkpres?slideindex=1&amp;slidetitle=没有幻灯片标题"/>
          </p:cNvPr>
          <p:cNvSpPr txBox="1">
            <a:spLocks noChangeArrowheads="1"/>
          </p:cNvSpPr>
          <p:nvPr/>
        </p:nvSpPr>
        <p:spPr bwMode="auto">
          <a:xfrm>
            <a:off x="3197225" y="1050925"/>
            <a:ext cx="557075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14000" b="1" dirty="0" smtClean="0">
                <a:solidFill>
                  <a:srgbClr val="005452"/>
                </a:solidFill>
                <a:ea typeface="隶书" charset="0"/>
              </a:rPr>
              <a:t>第九章</a:t>
            </a:r>
            <a:endParaRPr lang="zh-CN" altLang="en-US" sz="14000" b="1" dirty="0">
              <a:solidFill>
                <a:srgbClr val="005452"/>
              </a:solidFill>
              <a:ea typeface="隶书" charset="0"/>
            </a:endParaRPr>
          </a:p>
          <a:p>
            <a:r>
              <a:rPr lang="zh-CN" altLang="en-US" sz="14000" b="1" dirty="0">
                <a:solidFill>
                  <a:srgbClr val="005452"/>
                </a:solidFill>
                <a:ea typeface="隶书" charset="0"/>
              </a:rPr>
              <a:t>排序</a:t>
            </a:r>
            <a:endParaRPr lang="zh-CN" altLang="en-US" sz="9600" dirty="0"/>
          </a:p>
        </p:txBody>
      </p:sp>
      <p:pic>
        <p:nvPicPr>
          <p:cNvPr id="136195" name="Picture 3" descr="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33400"/>
            <a:ext cx="2016125"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888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a:hlinkClick r:id="rId2" action="ppaction://hlinksldjump" highlightClick="1"/>
          </p:cNvPr>
          <p:cNvSpPr txBox="1">
            <a:spLocks noChangeArrowheads="1"/>
          </p:cNvSpPr>
          <p:nvPr/>
        </p:nvSpPr>
        <p:spPr bwMode="auto">
          <a:xfrm>
            <a:off x="457200" y="228600"/>
            <a:ext cx="2343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10.1  </a:t>
            </a:r>
            <a:r>
              <a:rPr lang="zh-CN" altLang="en-US" sz="4000" b="1">
                <a:solidFill>
                  <a:srgbClr val="003366"/>
                </a:solidFill>
                <a:ea typeface="楷体_GB2312" charset="0"/>
              </a:rPr>
              <a:t>概述</a:t>
            </a:r>
            <a:endParaRPr lang="zh-CN" altLang="en-US" sz="4000" b="1">
              <a:solidFill>
                <a:srgbClr val="0000FF"/>
              </a:solidFill>
              <a:ea typeface="楷体_GB2312" charset="0"/>
            </a:endParaRPr>
          </a:p>
        </p:txBody>
      </p:sp>
      <p:sp>
        <p:nvSpPr>
          <p:cNvPr id="97283" name="Text Box 3">
            <a:hlinkClick r:id="rId3" action="ppaction://hlinksldjump" highlightClick="1"/>
          </p:cNvPr>
          <p:cNvSpPr txBox="1">
            <a:spLocks noChangeArrowheads="1"/>
          </p:cNvSpPr>
          <p:nvPr/>
        </p:nvSpPr>
        <p:spPr bwMode="auto">
          <a:xfrm>
            <a:off x="1447800" y="1066800"/>
            <a:ext cx="3359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10.2  </a:t>
            </a:r>
            <a:r>
              <a:rPr lang="zh-CN" altLang="en-US" sz="4000" b="1">
                <a:solidFill>
                  <a:srgbClr val="003366"/>
                </a:solidFill>
                <a:ea typeface="楷体_GB2312" charset="0"/>
              </a:rPr>
              <a:t>插入排序</a:t>
            </a:r>
            <a:endParaRPr lang="zh-CN" altLang="en-US" sz="4000" b="1">
              <a:solidFill>
                <a:srgbClr val="FF6600"/>
              </a:solidFill>
              <a:ea typeface="楷体_GB2312" charset="0"/>
            </a:endParaRPr>
          </a:p>
        </p:txBody>
      </p:sp>
      <p:sp>
        <p:nvSpPr>
          <p:cNvPr id="97284" name="Text Box 4">
            <a:hlinkClick r:id="rId4" action="ppaction://hlinksldjump" highlightClick="1"/>
          </p:cNvPr>
          <p:cNvSpPr txBox="1">
            <a:spLocks noChangeArrowheads="1"/>
          </p:cNvSpPr>
          <p:nvPr/>
        </p:nvSpPr>
        <p:spPr bwMode="auto">
          <a:xfrm>
            <a:off x="2438400" y="1905000"/>
            <a:ext cx="3359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10.3  </a:t>
            </a:r>
            <a:r>
              <a:rPr lang="zh-CN" altLang="en-US" sz="4000" b="1">
                <a:solidFill>
                  <a:srgbClr val="003366"/>
                </a:solidFill>
                <a:ea typeface="楷体_GB2312" charset="0"/>
              </a:rPr>
              <a:t>快速排序</a:t>
            </a:r>
            <a:endParaRPr lang="zh-CN" altLang="en-US" sz="4000" b="1">
              <a:solidFill>
                <a:srgbClr val="FF6600"/>
              </a:solidFill>
              <a:ea typeface="楷体_GB2312" charset="0"/>
            </a:endParaRPr>
          </a:p>
        </p:txBody>
      </p:sp>
      <p:sp>
        <p:nvSpPr>
          <p:cNvPr id="97285" name="Text Box 5">
            <a:hlinkClick r:id="rId5" action="ppaction://hlinksldjump" highlightClick="1"/>
          </p:cNvPr>
          <p:cNvSpPr txBox="1">
            <a:spLocks noChangeArrowheads="1"/>
          </p:cNvSpPr>
          <p:nvPr/>
        </p:nvSpPr>
        <p:spPr bwMode="auto">
          <a:xfrm>
            <a:off x="3429000" y="2727325"/>
            <a:ext cx="3124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4000" b="1">
                <a:solidFill>
                  <a:srgbClr val="003366"/>
                </a:solidFill>
                <a:ea typeface="楷体_GB2312" charset="0"/>
              </a:rPr>
              <a:t>10.4  </a:t>
            </a:r>
            <a:r>
              <a:rPr lang="zh-CN" altLang="en-US" sz="4000" b="1">
                <a:solidFill>
                  <a:srgbClr val="003366"/>
                </a:solidFill>
                <a:ea typeface="楷体_GB2312" charset="0"/>
              </a:rPr>
              <a:t>堆排序</a:t>
            </a:r>
            <a:endParaRPr lang="zh-CN" altLang="en-US" sz="4000" b="1">
              <a:solidFill>
                <a:srgbClr val="FF6600"/>
              </a:solidFill>
              <a:ea typeface="楷体_GB2312" charset="0"/>
            </a:endParaRPr>
          </a:p>
        </p:txBody>
      </p:sp>
      <p:sp>
        <p:nvSpPr>
          <p:cNvPr id="97286" name="Text Box 6">
            <a:hlinkClick r:id="rId6" action="ppaction://hlinksldjump" highlightClick="1"/>
          </p:cNvPr>
          <p:cNvSpPr txBox="1">
            <a:spLocks noChangeArrowheads="1"/>
          </p:cNvSpPr>
          <p:nvPr/>
        </p:nvSpPr>
        <p:spPr bwMode="auto">
          <a:xfrm>
            <a:off x="457200" y="3413125"/>
            <a:ext cx="3359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10.5  </a:t>
            </a:r>
            <a:r>
              <a:rPr lang="zh-CN" altLang="en-US" sz="4000" b="1">
                <a:solidFill>
                  <a:srgbClr val="003366"/>
                </a:solidFill>
                <a:ea typeface="楷体_GB2312" charset="0"/>
              </a:rPr>
              <a:t>归并排序</a:t>
            </a:r>
            <a:endParaRPr lang="zh-CN" altLang="en-US" sz="4000" b="1">
              <a:solidFill>
                <a:srgbClr val="FF6600"/>
              </a:solidFill>
              <a:ea typeface="楷体_GB2312" charset="0"/>
            </a:endParaRPr>
          </a:p>
        </p:txBody>
      </p:sp>
      <p:sp>
        <p:nvSpPr>
          <p:cNvPr id="97287" name="Text Box 7">
            <a:hlinkClick r:id="rId7" action="ppaction://hlinksldjump" highlightClick="1"/>
          </p:cNvPr>
          <p:cNvSpPr txBox="1">
            <a:spLocks noChangeArrowheads="1"/>
          </p:cNvSpPr>
          <p:nvPr/>
        </p:nvSpPr>
        <p:spPr bwMode="auto">
          <a:xfrm>
            <a:off x="1295400" y="4251325"/>
            <a:ext cx="3359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10.6  </a:t>
            </a:r>
            <a:r>
              <a:rPr lang="zh-CN" altLang="en-US" sz="4000" b="1">
                <a:solidFill>
                  <a:srgbClr val="003366"/>
                </a:solidFill>
                <a:ea typeface="楷体_GB2312" charset="0"/>
              </a:rPr>
              <a:t>基数排序</a:t>
            </a:r>
            <a:endParaRPr lang="zh-CN" altLang="en-US" sz="4000" b="1">
              <a:solidFill>
                <a:srgbClr val="FF6600"/>
              </a:solidFill>
              <a:ea typeface="楷体_GB2312" charset="0"/>
            </a:endParaRPr>
          </a:p>
        </p:txBody>
      </p:sp>
      <p:sp>
        <p:nvSpPr>
          <p:cNvPr id="97288" name="Text Box 8">
            <a:hlinkClick r:id="rId8" action="ppaction://hlinksldjump" highlightClick="1"/>
          </p:cNvPr>
          <p:cNvSpPr txBox="1">
            <a:spLocks noChangeArrowheads="1"/>
          </p:cNvSpPr>
          <p:nvPr/>
        </p:nvSpPr>
        <p:spPr bwMode="auto">
          <a:xfrm>
            <a:off x="2076450" y="5089525"/>
            <a:ext cx="6915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ea typeface="楷体_GB2312" charset="0"/>
              </a:rPr>
              <a:t>10.7  </a:t>
            </a:r>
            <a:r>
              <a:rPr lang="zh-CN" altLang="en-US" sz="4000" b="1">
                <a:solidFill>
                  <a:srgbClr val="003366"/>
                </a:solidFill>
                <a:ea typeface="楷体_GB2312" charset="0"/>
              </a:rPr>
              <a:t>各种排序方法的综合比较</a:t>
            </a:r>
            <a:endParaRPr lang="zh-CN" altLang="en-US" sz="4000" b="1">
              <a:solidFill>
                <a:srgbClr val="FF6600"/>
              </a:solidFill>
              <a:ea typeface="楷体_GB2312" charset="0"/>
            </a:endParaRPr>
          </a:p>
        </p:txBody>
      </p:sp>
      <p:sp>
        <p:nvSpPr>
          <p:cNvPr id="97289" name="Text Box 9">
            <a:hlinkClick r:id="rId9" action="ppaction://hlinksldjump" highlightClick="1"/>
          </p:cNvPr>
          <p:cNvSpPr txBox="1">
            <a:spLocks noChangeArrowheads="1"/>
          </p:cNvSpPr>
          <p:nvPr/>
        </p:nvSpPr>
        <p:spPr bwMode="auto">
          <a:xfrm>
            <a:off x="2057400" y="5927725"/>
            <a:ext cx="487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gn="l"/>
            <a:r>
              <a:rPr lang="en-US" altLang="zh-CN" sz="4000" b="1">
                <a:solidFill>
                  <a:srgbClr val="003366"/>
                </a:solidFill>
                <a:ea typeface="楷体_GB2312" charset="0"/>
              </a:rPr>
              <a:t>10.8	  </a:t>
            </a:r>
            <a:r>
              <a:rPr lang="zh-CN" altLang="en-US" sz="4000" b="1">
                <a:solidFill>
                  <a:srgbClr val="003366"/>
                </a:solidFill>
                <a:ea typeface="楷体_GB2312" charset="0"/>
              </a:rPr>
              <a:t>外部排序</a:t>
            </a:r>
            <a:endParaRPr lang="zh-CN" altLang="en-US"/>
          </a:p>
        </p:txBody>
      </p:sp>
    </p:spTree>
    <p:extLst>
      <p:ext uri="{BB962C8B-B14F-4D97-AF65-F5344CB8AC3E}">
        <p14:creationId xmlns:p14="http://schemas.microsoft.com/office/powerpoint/2010/main" val="14136360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checkerboard(across)">
                                      <p:cBhvr>
                                        <p:cTn id="7" dur="500"/>
                                        <p:tgtEl>
                                          <p:spTgt spid="97282"/>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97283"/>
                                        </p:tgtEl>
                                        <p:attrNameLst>
                                          <p:attrName>style.visibility</p:attrName>
                                        </p:attrNameLst>
                                      </p:cBhvr>
                                      <p:to>
                                        <p:strVal val="visible"/>
                                      </p:to>
                                    </p:set>
                                    <p:animEffect transition="in" filter="checkerboard(across)">
                                      <p:cBhvr>
                                        <p:cTn id="11" dur="500"/>
                                        <p:tgtEl>
                                          <p:spTgt spid="97283"/>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97284"/>
                                        </p:tgtEl>
                                        <p:attrNameLst>
                                          <p:attrName>style.visibility</p:attrName>
                                        </p:attrNameLst>
                                      </p:cBhvr>
                                      <p:to>
                                        <p:strVal val="visible"/>
                                      </p:to>
                                    </p:set>
                                    <p:animEffect transition="in" filter="checkerboard(across)">
                                      <p:cBhvr>
                                        <p:cTn id="15" dur="500"/>
                                        <p:tgtEl>
                                          <p:spTgt spid="97284"/>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97285"/>
                                        </p:tgtEl>
                                        <p:attrNameLst>
                                          <p:attrName>style.visibility</p:attrName>
                                        </p:attrNameLst>
                                      </p:cBhvr>
                                      <p:to>
                                        <p:strVal val="visible"/>
                                      </p:to>
                                    </p:set>
                                    <p:animEffect transition="in" filter="checkerboard(across)">
                                      <p:cBhvr>
                                        <p:cTn id="19" dur="500"/>
                                        <p:tgtEl>
                                          <p:spTgt spid="97285"/>
                                        </p:tgtEl>
                                      </p:cBhvr>
                                    </p:animEffect>
                                  </p:childTnLst>
                                </p:cTn>
                              </p:par>
                            </p:childTnLst>
                          </p:cTn>
                        </p:par>
                        <p:par>
                          <p:cTn id="20" fill="hold" nodeType="afterGroup">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97286"/>
                                        </p:tgtEl>
                                        <p:attrNameLst>
                                          <p:attrName>style.visibility</p:attrName>
                                        </p:attrNameLst>
                                      </p:cBhvr>
                                      <p:to>
                                        <p:strVal val="visible"/>
                                      </p:to>
                                    </p:set>
                                    <p:animEffect transition="in" filter="checkerboard(across)">
                                      <p:cBhvr>
                                        <p:cTn id="23" dur="500"/>
                                        <p:tgtEl>
                                          <p:spTgt spid="97286"/>
                                        </p:tgtEl>
                                      </p:cBhvr>
                                    </p:animEffect>
                                  </p:childTnLst>
                                </p:cTn>
                              </p:par>
                            </p:childTnLst>
                          </p:cTn>
                        </p:par>
                        <p:par>
                          <p:cTn id="24" fill="hold" nodeType="afterGroup">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checkerboard(across)">
                                      <p:cBhvr>
                                        <p:cTn id="27" dur="500"/>
                                        <p:tgtEl>
                                          <p:spTgt spid="97287"/>
                                        </p:tgtEl>
                                      </p:cBhvr>
                                    </p:animEffect>
                                  </p:childTnLst>
                                </p:cTn>
                              </p:par>
                            </p:childTnLst>
                          </p:cTn>
                        </p:par>
                        <p:par>
                          <p:cTn id="28" fill="hold" nodeType="afterGroup">
                            <p:stCondLst>
                              <p:cond delay="3000"/>
                            </p:stCondLst>
                            <p:childTnLst>
                              <p:par>
                                <p:cTn id="29" presetID="5" presetClass="entr" presetSubtype="10" fill="hold" grpId="0" nodeType="afterEffect">
                                  <p:stCondLst>
                                    <p:cond delay="0"/>
                                  </p:stCondLst>
                                  <p:childTnLst>
                                    <p:set>
                                      <p:cBhvr>
                                        <p:cTn id="30" dur="1" fill="hold">
                                          <p:stCondLst>
                                            <p:cond delay="0"/>
                                          </p:stCondLst>
                                        </p:cTn>
                                        <p:tgtEl>
                                          <p:spTgt spid="97288"/>
                                        </p:tgtEl>
                                        <p:attrNameLst>
                                          <p:attrName>style.visibility</p:attrName>
                                        </p:attrNameLst>
                                      </p:cBhvr>
                                      <p:to>
                                        <p:strVal val="visible"/>
                                      </p:to>
                                    </p:set>
                                    <p:animEffect transition="in" filter="checkerboard(across)">
                                      <p:cBhvr>
                                        <p:cTn id="31" dur="500"/>
                                        <p:tgtEl>
                                          <p:spTgt spid="97288"/>
                                        </p:tgtEl>
                                      </p:cBhvr>
                                    </p:animEffect>
                                  </p:childTnLst>
                                </p:cTn>
                              </p:par>
                            </p:childTnLst>
                          </p:cTn>
                        </p:par>
                        <p:par>
                          <p:cTn id="32" fill="hold" nodeType="afterGroup">
                            <p:stCondLst>
                              <p:cond delay="3500"/>
                            </p:stCondLst>
                            <p:childTnLst>
                              <p:par>
                                <p:cTn id="33" presetID="5" presetClass="entr" presetSubtype="10" fill="hold" grpId="0" nodeType="afterEffect">
                                  <p:stCondLst>
                                    <p:cond delay="0"/>
                                  </p:stCondLst>
                                  <p:childTnLst>
                                    <p:set>
                                      <p:cBhvr>
                                        <p:cTn id="34" dur="1" fill="hold">
                                          <p:stCondLst>
                                            <p:cond delay="0"/>
                                          </p:stCondLst>
                                        </p:cTn>
                                        <p:tgtEl>
                                          <p:spTgt spid="97289"/>
                                        </p:tgtEl>
                                        <p:attrNameLst>
                                          <p:attrName>style.visibility</p:attrName>
                                        </p:attrNameLst>
                                      </p:cBhvr>
                                      <p:to>
                                        <p:strVal val="visible"/>
                                      </p:to>
                                    </p:set>
                                    <p:animEffect transition="in" filter="checkerboard(across)">
                                      <p:cBhvr>
                                        <p:cTn id="35" dur="500"/>
                                        <p:tgtEl>
                                          <p:spTgt spid="97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autoUpdateAnimBg="0"/>
      <p:bldP spid="97283" grpId="0" autoUpdateAnimBg="0"/>
      <p:bldP spid="97284" grpId="0" autoUpdateAnimBg="0"/>
      <p:bldP spid="97285" grpId="0" autoUpdateAnimBg="0"/>
      <p:bldP spid="97286" grpId="0" autoUpdateAnimBg="0"/>
      <p:bldP spid="97287" grpId="0" autoUpdateAnimBg="0"/>
      <p:bldP spid="97288" grpId="0" autoUpdateAnimBg="0"/>
      <p:bldP spid="9728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hlinkClick r:id="rId2" action="ppaction://hlinksldjump"/>
          </p:cNvPr>
          <p:cNvSpPr txBox="1">
            <a:spLocks noChangeArrowheads="1"/>
          </p:cNvSpPr>
          <p:nvPr/>
        </p:nvSpPr>
        <p:spPr bwMode="auto">
          <a:xfrm>
            <a:off x="2362200" y="609600"/>
            <a:ext cx="4387850"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6600" b="1">
                <a:solidFill>
                  <a:srgbClr val="003366"/>
                </a:solidFill>
                <a:ea typeface="楷体_GB2312" charset="0"/>
              </a:rPr>
              <a:t>10.1    </a:t>
            </a:r>
            <a:r>
              <a:rPr lang="zh-CN" altLang="en-US" sz="6600" b="1">
                <a:solidFill>
                  <a:srgbClr val="003366"/>
                </a:solidFill>
                <a:ea typeface="楷体_GB2312" charset="0"/>
              </a:rPr>
              <a:t>概 述</a:t>
            </a:r>
            <a:endParaRPr lang="zh-CN" altLang="en-US" sz="4800" b="1">
              <a:solidFill>
                <a:srgbClr val="0000FF"/>
              </a:solidFill>
              <a:ea typeface="楷体_GB2312" charset="0"/>
            </a:endParaRPr>
          </a:p>
        </p:txBody>
      </p:sp>
      <p:sp>
        <p:nvSpPr>
          <p:cNvPr id="71687" name="Text Box 7">
            <a:hlinkClick r:id="" action="ppaction://hlinkshowjump?jump=nextslide"/>
          </p:cNvPr>
          <p:cNvSpPr txBox="1">
            <a:spLocks noChangeArrowheads="1"/>
          </p:cNvSpPr>
          <p:nvPr/>
        </p:nvSpPr>
        <p:spPr bwMode="auto">
          <a:xfrm>
            <a:off x="798513" y="2209800"/>
            <a:ext cx="37734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7B78"/>
                </a:solidFill>
                <a:ea typeface="楷体_GB2312" charset="0"/>
              </a:rPr>
              <a:t>一、排序的定义</a:t>
            </a:r>
            <a:endParaRPr lang="zh-CN" altLang="en-US" sz="4000">
              <a:ea typeface="楷体_GB2312" charset="0"/>
            </a:endParaRPr>
          </a:p>
        </p:txBody>
      </p:sp>
      <p:sp>
        <p:nvSpPr>
          <p:cNvPr id="71688" name="Text Box 8">
            <a:hlinkClick r:id="rId3" action="ppaction://hlinksldjump"/>
          </p:cNvPr>
          <p:cNvSpPr txBox="1">
            <a:spLocks noChangeArrowheads="1"/>
          </p:cNvSpPr>
          <p:nvPr/>
        </p:nvSpPr>
        <p:spPr bwMode="auto">
          <a:xfrm>
            <a:off x="804863" y="3336925"/>
            <a:ext cx="5824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7B78"/>
                </a:solidFill>
                <a:ea typeface="楷体_GB2312" charset="0"/>
              </a:rPr>
              <a:t>二、内部排序和外部排序</a:t>
            </a:r>
            <a:endParaRPr lang="zh-CN" altLang="en-US" sz="4000">
              <a:ea typeface="楷体_GB2312" charset="0"/>
            </a:endParaRPr>
          </a:p>
        </p:txBody>
      </p:sp>
      <p:sp>
        <p:nvSpPr>
          <p:cNvPr id="71689" name="Text Box 9">
            <a:hlinkClick r:id="rId4" action="ppaction://hlinksldjump"/>
          </p:cNvPr>
          <p:cNvSpPr txBox="1">
            <a:spLocks noChangeArrowheads="1"/>
          </p:cNvSpPr>
          <p:nvPr/>
        </p:nvSpPr>
        <p:spPr bwMode="auto">
          <a:xfrm>
            <a:off x="804863" y="4535488"/>
            <a:ext cx="5824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7B78"/>
                </a:solidFill>
                <a:ea typeface="楷体_GB2312" charset="0"/>
              </a:rPr>
              <a:t>三、内部排序方法的分类</a:t>
            </a:r>
            <a:endParaRPr lang="zh-CN" altLang="en-US" sz="4000">
              <a:ea typeface="楷体_GB2312" charset="0"/>
            </a:endParaRPr>
          </a:p>
        </p:txBody>
      </p:sp>
      <p:sp>
        <p:nvSpPr>
          <p:cNvPr id="71691" name="AutoShape 11">
            <a:hlinkClick r:id="" action="ppaction://hlinkshowjump?jump=previousslide" highlightClick="1"/>
          </p:cNvPr>
          <p:cNvSpPr>
            <a:spLocks noChangeArrowheads="1"/>
          </p:cNvSpPr>
          <p:nvPr/>
        </p:nvSpPr>
        <p:spPr bwMode="auto">
          <a:xfrm>
            <a:off x="8382000" y="6172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687786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ppt_x"/>
                                          </p:val>
                                        </p:tav>
                                        <p:tav tm="100000">
                                          <p:val>
                                            <p:strVal val="#ppt_x"/>
                                          </p:val>
                                        </p:tav>
                                      </p:tavLst>
                                    </p:anim>
                                    <p:anim calcmode="lin" valueType="num">
                                      <p:cBhvr additive="base">
                                        <p:cTn id="8" dur="500" fill="hold"/>
                                        <p:tgtEl>
                                          <p:spTgt spid="7168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71687"/>
                                        </p:tgtEl>
                                        <p:attrNameLst>
                                          <p:attrName>style.visibility</p:attrName>
                                        </p:attrNameLst>
                                      </p:cBhvr>
                                      <p:to>
                                        <p:strVal val="visible"/>
                                      </p:to>
                                    </p:set>
                                    <p:animEffect transition="in" filter="strips(downRight)">
                                      <p:cBhvr>
                                        <p:cTn id="13" dur="500"/>
                                        <p:tgtEl>
                                          <p:spTgt spid="71687"/>
                                        </p:tgtEl>
                                      </p:cBhvr>
                                    </p:animEffect>
                                  </p:childTnLst>
                                </p:cTn>
                              </p:par>
                            </p:childTnLst>
                          </p:cTn>
                        </p:par>
                        <p:par>
                          <p:cTn id="14" fill="hold" nodeType="afterGroup">
                            <p:stCondLst>
                              <p:cond delay="500"/>
                            </p:stCondLst>
                            <p:childTnLst>
                              <p:par>
                                <p:cTn id="15" presetID="18" presetClass="entr" presetSubtype="6" fill="hold" grpId="0" nodeType="afterEffect">
                                  <p:stCondLst>
                                    <p:cond delay="0"/>
                                  </p:stCondLst>
                                  <p:childTnLst>
                                    <p:set>
                                      <p:cBhvr>
                                        <p:cTn id="16" dur="1" fill="hold">
                                          <p:stCondLst>
                                            <p:cond delay="0"/>
                                          </p:stCondLst>
                                        </p:cTn>
                                        <p:tgtEl>
                                          <p:spTgt spid="71688"/>
                                        </p:tgtEl>
                                        <p:attrNameLst>
                                          <p:attrName>style.visibility</p:attrName>
                                        </p:attrNameLst>
                                      </p:cBhvr>
                                      <p:to>
                                        <p:strVal val="visible"/>
                                      </p:to>
                                    </p:set>
                                    <p:animEffect transition="in" filter="strips(downRight)">
                                      <p:cBhvr>
                                        <p:cTn id="17" dur="500"/>
                                        <p:tgtEl>
                                          <p:spTgt spid="71688"/>
                                        </p:tgtEl>
                                      </p:cBhvr>
                                    </p:animEffect>
                                  </p:childTnLst>
                                </p:cTn>
                              </p:par>
                            </p:childTnLst>
                          </p:cTn>
                        </p:par>
                        <p:par>
                          <p:cTn id="18" fill="hold" nodeType="afterGroup">
                            <p:stCondLst>
                              <p:cond delay="1000"/>
                            </p:stCondLst>
                            <p:childTnLst>
                              <p:par>
                                <p:cTn id="19" presetID="18" presetClass="entr" presetSubtype="6" fill="hold" grpId="0" nodeType="afterEffect">
                                  <p:stCondLst>
                                    <p:cond delay="0"/>
                                  </p:stCondLst>
                                  <p:childTnLst>
                                    <p:set>
                                      <p:cBhvr>
                                        <p:cTn id="20" dur="1" fill="hold">
                                          <p:stCondLst>
                                            <p:cond delay="0"/>
                                          </p:stCondLst>
                                        </p:cTn>
                                        <p:tgtEl>
                                          <p:spTgt spid="71689"/>
                                        </p:tgtEl>
                                        <p:attrNameLst>
                                          <p:attrName>style.visibility</p:attrName>
                                        </p:attrNameLst>
                                      </p:cBhvr>
                                      <p:to>
                                        <p:strVal val="visible"/>
                                      </p:to>
                                    </p:set>
                                    <p:animEffect transition="in" filter="strips(downRight)">
                                      <p:cBhvr>
                                        <p:cTn id="21" dur="500"/>
                                        <p:tgtEl>
                                          <p:spTgt spid="71689"/>
                                        </p:tgtEl>
                                      </p:cBhvr>
                                    </p:animEffect>
                                  </p:childTnLst>
                                </p:cTn>
                              </p:par>
                            </p:childTnLst>
                          </p:cTn>
                        </p:par>
                        <p:par>
                          <p:cTn id="22" fill="hold" nodeType="afterGroup">
                            <p:stCondLst>
                              <p:cond delay="1500"/>
                            </p:stCondLst>
                            <p:childTnLst>
                              <p:par>
                                <p:cTn id="23" presetID="2" presetClass="entr" presetSubtype="6" fill="hold" grpId="0" nodeType="afterEffect">
                                  <p:stCondLst>
                                    <p:cond delay="0"/>
                                  </p:stCondLst>
                                  <p:childTnLst>
                                    <p:set>
                                      <p:cBhvr>
                                        <p:cTn id="24" dur="1" fill="hold">
                                          <p:stCondLst>
                                            <p:cond delay="0"/>
                                          </p:stCondLst>
                                        </p:cTn>
                                        <p:tgtEl>
                                          <p:spTgt spid="71691"/>
                                        </p:tgtEl>
                                        <p:attrNameLst>
                                          <p:attrName>style.visibility</p:attrName>
                                        </p:attrNameLst>
                                      </p:cBhvr>
                                      <p:to>
                                        <p:strVal val="visible"/>
                                      </p:to>
                                    </p:set>
                                    <p:anim calcmode="lin" valueType="num">
                                      <p:cBhvr additive="base">
                                        <p:cTn id="25" dur="500" fill="hold"/>
                                        <p:tgtEl>
                                          <p:spTgt spid="71691"/>
                                        </p:tgtEl>
                                        <p:attrNameLst>
                                          <p:attrName>ppt_x</p:attrName>
                                        </p:attrNameLst>
                                      </p:cBhvr>
                                      <p:tavLst>
                                        <p:tav tm="0">
                                          <p:val>
                                            <p:strVal val="1+#ppt_w/2"/>
                                          </p:val>
                                        </p:tav>
                                        <p:tav tm="100000">
                                          <p:val>
                                            <p:strVal val="#ppt_x"/>
                                          </p:val>
                                        </p:tav>
                                      </p:tavLst>
                                    </p:anim>
                                    <p:anim calcmode="lin" valueType="num">
                                      <p:cBhvr additive="base">
                                        <p:cTn id="26" dur="500" fill="hold"/>
                                        <p:tgtEl>
                                          <p:spTgt spid="716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utoUpdateAnimBg="0"/>
      <p:bldP spid="71687" grpId="0" autoUpdateAnimBg="0"/>
      <p:bldP spid="71688" grpId="0" autoUpdateAnimBg="0"/>
      <p:bldP spid="71689" grpId="0" autoUpdateAnimBg="0"/>
      <p:bldP spid="7169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533400" y="381000"/>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一、什么是排序？</a:t>
            </a:r>
          </a:p>
        </p:txBody>
      </p:sp>
      <p:sp>
        <p:nvSpPr>
          <p:cNvPr id="3076" name="Text Box 4"/>
          <p:cNvSpPr txBox="1">
            <a:spLocks noChangeArrowheads="1"/>
          </p:cNvSpPr>
          <p:nvPr/>
        </p:nvSpPr>
        <p:spPr bwMode="auto">
          <a:xfrm>
            <a:off x="381000" y="1219200"/>
            <a:ext cx="83058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排序是计算机内经常进行的一种操作，其目的是将一组</a:t>
            </a:r>
            <a:r>
              <a:rPr lang="zh-CN" altLang="en-US" sz="3600" b="1">
                <a:solidFill>
                  <a:srgbClr val="800080"/>
                </a:solidFill>
                <a:ea typeface="楷体_GB2312" charset="0"/>
              </a:rPr>
              <a:t>“无序”的记录序列调整为“有序”</a:t>
            </a:r>
            <a:r>
              <a:rPr lang="zh-CN" altLang="en-US" sz="3600">
                <a:ea typeface="楷体_GB2312" charset="0"/>
              </a:rPr>
              <a:t>的记录序列。</a:t>
            </a:r>
            <a:endParaRPr lang="zh-CN" altLang="en-US" sz="4000">
              <a:ea typeface="楷体_GB2312" charset="0"/>
            </a:endParaRPr>
          </a:p>
        </p:txBody>
      </p:sp>
      <p:sp>
        <p:nvSpPr>
          <p:cNvPr id="3077" name="Text Box 5"/>
          <p:cNvSpPr txBox="1">
            <a:spLocks noChangeArrowheads="1"/>
          </p:cNvSpPr>
          <p:nvPr/>
        </p:nvSpPr>
        <p:spPr bwMode="auto">
          <a:xfrm>
            <a:off x="685800" y="3429000"/>
            <a:ext cx="53657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zh-CN" altLang="en-US" sz="4000">
                <a:solidFill>
                  <a:srgbClr val="FF6600"/>
                </a:solidFill>
                <a:ea typeface="隶书" charset="0"/>
              </a:rPr>
              <a:t>例如：</a:t>
            </a:r>
            <a:r>
              <a:rPr lang="zh-CN" altLang="en-US" sz="3600">
                <a:ea typeface="楷体_GB2312" charset="0"/>
              </a:rPr>
              <a:t>将下列关键字序列</a:t>
            </a:r>
            <a:endParaRPr lang="zh-CN" altLang="en-US" sz="4000">
              <a:ea typeface="楷体_GB2312" charset="0"/>
            </a:endParaRPr>
          </a:p>
        </p:txBody>
      </p:sp>
      <p:sp>
        <p:nvSpPr>
          <p:cNvPr id="3078" name="Text Box 6"/>
          <p:cNvSpPr txBox="1">
            <a:spLocks noChangeArrowheads="1"/>
          </p:cNvSpPr>
          <p:nvPr/>
        </p:nvSpPr>
        <p:spPr bwMode="auto">
          <a:xfrm>
            <a:off x="984250" y="4203700"/>
            <a:ext cx="75501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4000" b="1">
                <a:solidFill>
                  <a:srgbClr val="663300"/>
                </a:solidFill>
                <a:ea typeface="楷体_GB2312" charset="0"/>
              </a:rPr>
              <a:t>52, 49, 80, 36, 14, 58, 61, 23, 97, 75</a:t>
            </a:r>
            <a:endParaRPr lang="en-US" altLang="zh-CN" sz="4000">
              <a:ea typeface="楷体_GB2312" charset="0"/>
            </a:endParaRPr>
          </a:p>
        </p:txBody>
      </p:sp>
      <p:sp>
        <p:nvSpPr>
          <p:cNvPr id="3079" name="Text Box 7"/>
          <p:cNvSpPr txBox="1">
            <a:spLocks noChangeArrowheads="1"/>
          </p:cNvSpPr>
          <p:nvPr/>
        </p:nvSpPr>
        <p:spPr bwMode="auto">
          <a:xfrm>
            <a:off x="288925" y="4897438"/>
            <a:ext cx="15557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zh-CN" altLang="en-US" sz="3600">
                <a:solidFill>
                  <a:srgbClr val="9933FF"/>
                </a:solidFill>
                <a:ea typeface="楷体_GB2312" charset="0"/>
              </a:rPr>
              <a:t>调整为</a:t>
            </a:r>
            <a:endParaRPr lang="zh-CN" altLang="en-US" sz="4000">
              <a:ea typeface="楷体_GB2312" charset="0"/>
            </a:endParaRPr>
          </a:p>
        </p:txBody>
      </p:sp>
      <p:sp>
        <p:nvSpPr>
          <p:cNvPr id="3080" name="Text Box 8"/>
          <p:cNvSpPr txBox="1">
            <a:spLocks noChangeArrowheads="1"/>
          </p:cNvSpPr>
          <p:nvPr/>
        </p:nvSpPr>
        <p:spPr bwMode="auto">
          <a:xfrm>
            <a:off x="974725" y="5711825"/>
            <a:ext cx="755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663300"/>
                </a:solidFill>
                <a:ea typeface="楷体_GB2312" charset="0"/>
              </a:rPr>
              <a:t>14, 23, 36, 49, 52, 58, 61 ,75, 80, 97</a:t>
            </a:r>
            <a:endParaRPr lang="en-US" altLang="zh-CN" sz="4000">
              <a:ea typeface="楷体_GB2312" charset="0"/>
            </a:endParaRPr>
          </a:p>
        </p:txBody>
      </p:sp>
    </p:spTree>
    <p:extLst>
      <p:ext uri="{BB962C8B-B14F-4D97-AF65-F5344CB8AC3E}">
        <p14:creationId xmlns:p14="http://schemas.microsoft.com/office/powerpoint/2010/main" val="18607534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iterate type="wd">
                                    <p:tmPct val="100000"/>
                                  </p:iterate>
                                  <p:childTnLst>
                                    <p:set>
                                      <p:cBhvr>
                                        <p:cTn id="12" dur="1" fill="hold">
                                          <p:stCondLst>
                                            <p:cond delay="0"/>
                                          </p:stCondLst>
                                        </p:cTn>
                                        <p:tgtEl>
                                          <p:spTgt spid="3076"/>
                                        </p:tgtEl>
                                        <p:attrNameLst>
                                          <p:attrName>style.visibility</p:attrName>
                                        </p:attrNameLst>
                                      </p:cBhvr>
                                      <p:to>
                                        <p:strVal val="visible"/>
                                      </p:to>
                                    </p:set>
                                    <p:animEffect transition="in" filter="checkerboard(across)">
                                      <p:cBhvr>
                                        <p:cTn id="13" dur="300"/>
                                        <p:tgtEl>
                                          <p:spTgt spid="307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3077"/>
                                        </p:tgtEl>
                                        <p:attrNameLst>
                                          <p:attrName>style.visibility</p:attrName>
                                        </p:attrNameLst>
                                      </p:cBhvr>
                                      <p:to>
                                        <p:strVal val="visible"/>
                                      </p:to>
                                    </p:set>
                                    <p:animEffect transition="in" filter="strips(downRight)">
                                      <p:cBhvr>
                                        <p:cTn id="18" dur="500"/>
                                        <p:tgtEl>
                                          <p:spTgt spid="307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078"/>
                                        </p:tgtEl>
                                        <p:attrNameLst>
                                          <p:attrName>style.visibility</p:attrName>
                                        </p:attrNameLst>
                                      </p:cBhvr>
                                      <p:to>
                                        <p:strVal val="visible"/>
                                      </p:to>
                                    </p:set>
                                    <p:animEffect transition="in" filter="wipe(left)">
                                      <p:cBhvr>
                                        <p:cTn id="23" dur="500"/>
                                        <p:tgtEl>
                                          <p:spTgt spid="307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79"/>
                                        </p:tgtEl>
                                        <p:attrNameLst>
                                          <p:attrName>style.visibility</p:attrName>
                                        </p:attrNameLst>
                                      </p:cBhvr>
                                      <p:to>
                                        <p:strVal val="visible"/>
                                      </p:to>
                                    </p:set>
                                    <p:animEffect transition="in" filter="wipe(left)">
                                      <p:cBhvr>
                                        <p:cTn id="28" dur="500"/>
                                        <p:tgtEl>
                                          <p:spTgt spid="30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3080"/>
                                        </p:tgtEl>
                                        <p:attrNameLst>
                                          <p:attrName>style.visibility</p:attrName>
                                        </p:attrNameLst>
                                      </p:cBhvr>
                                      <p:to>
                                        <p:strVal val="visible"/>
                                      </p:to>
                                    </p:set>
                                    <p:animEffect transition="in" filter="wipe(left)">
                                      <p:cBhvr>
                                        <p:cTn id="33" dur="3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utoUpdateAnimBg="0"/>
      <p:bldP spid="3076" grpId="0" autoUpdateAnimBg="0"/>
      <p:bldP spid="3077" grpId="0" autoUpdateAnimBg="0"/>
      <p:bldP spid="3078" grpId="0" autoUpdateAnimBg="0"/>
      <p:bldP spid="3079" grpId="0" autoUpdateAnimBg="0"/>
      <p:bldP spid="308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304800" y="152400"/>
            <a:ext cx="86868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solidFill>
                  <a:srgbClr val="0000FF"/>
                </a:solidFill>
                <a:ea typeface="楷体_GB2312" charset="0"/>
              </a:rPr>
              <a:t>    </a:t>
            </a:r>
            <a:r>
              <a:rPr lang="zh-CN" altLang="en-US" sz="3600">
                <a:solidFill>
                  <a:srgbClr val="0000FF"/>
                </a:solidFill>
                <a:ea typeface="楷体_GB2312" charset="0"/>
              </a:rPr>
              <a:t>一般情况下，</a:t>
            </a:r>
          </a:p>
          <a:p>
            <a:pPr algn="l">
              <a:lnSpc>
                <a:spcPct val="125000"/>
              </a:lnSpc>
            </a:pPr>
            <a:r>
              <a:rPr lang="zh-CN" altLang="en-US" sz="3600">
                <a:solidFill>
                  <a:srgbClr val="0000FF"/>
                </a:solidFill>
                <a:ea typeface="楷体_GB2312" charset="0"/>
              </a:rPr>
              <a:t>假设含</a:t>
            </a:r>
            <a:r>
              <a:rPr lang="en-US" altLang="zh-CN" sz="3600" i="1">
                <a:solidFill>
                  <a:srgbClr val="0000FF"/>
                </a:solidFill>
                <a:ea typeface="楷体_GB2312" charset="0"/>
              </a:rPr>
              <a:t>n</a:t>
            </a:r>
            <a:r>
              <a:rPr lang="zh-CN" altLang="en-US" sz="3600">
                <a:solidFill>
                  <a:srgbClr val="0000FF"/>
                </a:solidFill>
                <a:ea typeface="楷体_GB2312" charset="0"/>
              </a:rPr>
              <a:t>个记录的序列为</a:t>
            </a:r>
            <a:r>
              <a:rPr lang="en-US" altLang="zh-CN" sz="3600">
                <a:solidFill>
                  <a:srgbClr val="990033"/>
                </a:solidFill>
                <a:ea typeface="楷体_GB2312" charset="0"/>
              </a:rPr>
              <a:t>{ R</a:t>
            </a:r>
            <a:r>
              <a:rPr lang="en-US" altLang="zh-CN" sz="3600" baseline="-25000">
                <a:solidFill>
                  <a:srgbClr val="990033"/>
                </a:solidFill>
                <a:ea typeface="楷体_GB2312" charset="0"/>
              </a:rPr>
              <a:t>1</a:t>
            </a:r>
            <a:r>
              <a:rPr lang="en-US" altLang="zh-CN" sz="3600">
                <a:solidFill>
                  <a:srgbClr val="990033"/>
                </a:solidFill>
                <a:ea typeface="楷体_GB2312" charset="0"/>
              </a:rPr>
              <a:t>, R</a:t>
            </a:r>
            <a:r>
              <a:rPr lang="en-US" altLang="zh-CN" sz="3600" baseline="-25000">
                <a:solidFill>
                  <a:srgbClr val="990033"/>
                </a:solidFill>
                <a:ea typeface="楷体_GB2312" charset="0"/>
              </a:rPr>
              <a:t>2</a:t>
            </a:r>
            <a:r>
              <a:rPr lang="en-US" altLang="zh-CN" sz="3600">
                <a:solidFill>
                  <a:srgbClr val="990033"/>
                </a:solidFill>
                <a:ea typeface="楷体_GB2312" charset="0"/>
              </a:rPr>
              <a:t>, …</a:t>
            </a:r>
            <a:r>
              <a:rPr lang="zh-CN" altLang="en-US" sz="3600">
                <a:solidFill>
                  <a:srgbClr val="990033"/>
                </a:solidFill>
                <a:ea typeface="楷体_GB2312" charset="0"/>
              </a:rPr>
              <a:t>， </a:t>
            </a:r>
            <a:r>
              <a:rPr lang="en-US" altLang="zh-CN" sz="3600">
                <a:solidFill>
                  <a:srgbClr val="990033"/>
                </a:solidFill>
                <a:ea typeface="楷体_GB2312" charset="0"/>
              </a:rPr>
              <a:t>R</a:t>
            </a:r>
            <a:r>
              <a:rPr lang="en-US" altLang="zh-CN" sz="3600" baseline="-25000">
                <a:solidFill>
                  <a:srgbClr val="990033"/>
                </a:solidFill>
                <a:ea typeface="楷体_GB2312" charset="0"/>
              </a:rPr>
              <a:t>n</a:t>
            </a:r>
            <a:r>
              <a:rPr lang="en-US" altLang="zh-CN" sz="3600">
                <a:solidFill>
                  <a:srgbClr val="990033"/>
                </a:solidFill>
                <a:ea typeface="楷体_GB2312" charset="0"/>
              </a:rPr>
              <a:t> }</a:t>
            </a:r>
            <a:endParaRPr lang="en-US" altLang="zh-CN" sz="3600">
              <a:solidFill>
                <a:srgbClr val="0000FF"/>
              </a:solidFill>
              <a:ea typeface="楷体_GB2312" charset="0"/>
            </a:endParaRPr>
          </a:p>
          <a:p>
            <a:pPr algn="l">
              <a:lnSpc>
                <a:spcPct val="125000"/>
              </a:lnSpc>
            </a:pPr>
            <a:r>
              <a:rPr lang="zh-CN" altLang="en-US" sz="3600">
                <a:solidFill>
                  <a:srgbClr val="0000FF"/>
                </a:solidFill>
                <a:ea typeface="楷体_GB2312" charset="0"/>
              </a:rPr>
              <a:t>其相应的关键字序列为  </a:t>
            </a:r>
            <a:r>
              <a:rPr lang="en-US" altLang="zh-CN" sz="3600">
                <a:solidFill>
                  <a:srgbClr val="990033"/>
                </a:solidFill>
                <a:ea typeface="楷体_GB2312" charset="0"/>
              </a:rPr>
              <a:t>{ K</a:t>
            </a:r>
            <a:r>
              <a:rPr lang="en-US" altLang="zh-CN" sz="3600" baseline="-25000">
                <a:solidFill>
                  <a:srgbClr val="990033"/>
                </a:solidFill>
                <a:ea typeface="楷体_GB2312" charset="0"/>
              </a:rPr>
              <a:t>1</a:t>
            </a:r>
            <a:r>
              <a:rPr lang="en-US" altLang="zh-CN" sz="3600">
                <a:solidFill>
                  <a:srgbClr val="990033"/>
                </a:solidFill>
                <a:ea typeface="楷体_GB2312" charset="0"/>
              </a:rPr>
              <a:t>, K</a:t>
            </a:r>
            <a:r>
              <a:rPr lang="en-US" altLang="zh-CN" sz="3600" baseline="-25000">
                <a:solidFill>
                  <a:srgbClr val="990033"/>
                </a:solidFill>
                <a:ea typeface="楷体_GB2312" charset="0"/>
              </a:rPr>
              <a:t>2</a:t>
            </a:r>
            <a:r>
              <a:rPr lang="en-US" altLang="zh-CN" sz="3600">
                <a:solidFill>
                  <a:srgbClr val="990033"/>
                </a:solidFill>
                <a:ea typeface="楷体_GB2312" charset="0"/>
              </a:rPr>
              <a:t>, …</a:t>
            </a:r>
            <a:r>
              <a:rPr lang="zh-CN" altLang="en-US" sz="3600">
                <a:solidFill>
                  <a:srgbClr val="990033"/>
                </a:solidFill>
                <a:ea typeface="楷体_GB2312" charset="0"/>
              </a:rPr>
              <a:t>，</a:t>
            </a:r>
            <a:r>
              <a:rPr lang="en-US" altLang="zh-CN" sz="3600">
                <a:solidFill>
                  <a:srgbClr val="990033"/>
                </a:solidFill>
                <a:ea typeface="楷体_GB2312" charset="0"/>
              </a:rPr>
              <a:t>K</a:t>
            </a:r>
            <a:r>
              <a:rPr lang="en-US" altLang="zh-CN" sz="3600" baseline="-25000">
                <a:solidFill>
                  <a:srgbClr val="990033"/>
                </a:solidFill>
                <a:ea typeface="楷体_GB2312" charset="0"/>
              </a:rPr>
              <a:t>n</a:t>
            </a:r>
            <a:r>
              <a:rPr lang="en-US" altLang="zh-CN" sz="3600">
                <a:solidFill>
                  <a:srgbClr val="990033"/>
                </a:solidFill>
                <a:ea typeface="楷体_GB2312" charset="0"/>
              </a:rPr>
              <a:t> }</a:t>
            </a:r>
            <a:endParaRPr lang="en-US" altLang="zh-CN" sz="3600">
              <a:solidFill>
                <a:srgbClr val="0000FF"/>
              </a:solidFill>
              <a:ea typeface="楷体_GB2312" charset="0"/>
            </a:endParaRPr>
          </a:p>
        </p:txBody>
      </p:sp>
      <p:sp>
        <p:nvSpPr>
          <p:cNvPr id="4099" name="Text Box 3"/>
          <p:cNvSpPr txBox="1">
            <a:spLocks noChangeArrowheads="1"/>
          </p:cNvSpPr>
          <p:nvPr/>
        </p:nvSpPr>
        <p:spPr bwMode="auto">
          <a:xfrm>
            <a:off x="304800" y="2362200"/>
            <a:ext cx="89154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solidFill>
                  <a:srgbClr val="0000FF"/>
                </a:solidFill>
                <a:ea typeface="楷体_GB2312" charset="0"/>
              </a:rPr>
              <a:t>这些关键字相互之间可以进行比较，即在</a:t>
            </a:r>
          </a:p>
          <a:p>
            <a:pPr algn="l">
              <a:lnSpc>
                <a:spcPct val="125000"/>
              </a:lnSpc>
            </a:pPr>
            <a:r>
              <a:rPr lang="zh-CN" altLang="en-US" sz="3600">
                <a:solidFill>
                  <a:srgbClr val="0000FF"/>
                </a:solidFill>
                <a:ea typeface="楷体_GB2312" charset="0"/>
              </a:rPr>
              <a:t>它们之间存在着这样一个关系 ：</a:t>
            </a:r>
          </a:p>
          <a:p>
            <a:pPr algn="l">
              <a:lnSpc>
                <a:spcPct val="125000"/>
              </a:lnSpc>
            </a:pPr>
            <a:r>
              <a:rPr lang="zh-CN" altLang="en-US" sz="3600">
                <a:solidFill>
                  <a:srgbClr val="0000FF"/>
                </a:solidFill>
                <a:ea typeface="楷体_GB2312" charset="0"/>
              </a:rPr>
              <a:t>    　           </a:t>
            </a:r>
            <a:r>
              <a:rPr lang="en-US" altLang="zh-CN" sz="3600" b="1">
                <a:solidFill>
                  <a:srgbClr val="CC3399"/>
                </a:solidFill>
                <a:ea typeface="楷体_GB2312" charset="0"/>
              </a:rPr>
              <a:t>K</a:t>
            </a:r>
            <a:r>
              <a:rPr lang="en-US" altLang="zh-CN" sz="3600" b="1" baseline="-25000">
                <a:solidFill>
                  <a:srgbClr val="CC3399"/>
                </a:solidFill>
                <a:ea typeface="楷体_GB2312" charset="0"/>
              </a:rPr>
              <a:t>p1</a:t>
            </a:r>
            <a:r>
              <a:rPr lang="en-US" altLang="zh-CN" sz="3600" b="1">
                <a:solidFill>
                  <a:srgbClr val="CC3399"/>
                </a:solidFill>
                <a:latin typeface="楷体_GB2312" charset="0"/>
                <a:ea typeface="楷体_GB2312" charset="0"/>
              </a:rPr>
              <a:t>≤</a:t>
            </a:r>
            <a:r>
              <a:rPr lang="en-US" altLang="zh-CN" sz="3600" b="1">
                <a:solidFill>
                  <a:srgbClr val="CC3399"/>
                </a:solidFill>
                <a:ea typeface="楷体_GB2312" charset="0"/>
              </a:rPr>
              <a:t>K</a:t>
            </a:r>
            <a:r>
              <a:rPr lang="en-US" altLang="zh-CN" sz="3600" b="1" baseline="-25000">
                <a:solidFill>
                  <a:srgbClr val="CC3399"/>
                </a:solidFill>
                <a:ea typeface="楷体_GB2312" charset="0"/>
              </a:rPr>
              <a:t>p2</a:t>
            </a:r>
            <a:r>
              <a:rPr lang="en-US" altLang="zh-CN" sz="3600" b="1">
                <a:solidFill>
                  <a:srgbClr val="CC3399"/>
                </a:solidFill>
                <a:latin typeface="楷体_GB2312" charset="0"/>
                <a:ea typeface="楷体_GB2312" charset="0"/>
              </a:rPr>
              <a:t>≤</a:t>
            </a:r>
            <a:r>
              <a:rPr lang="en-US" altLang="zh-CN" sz="3600" b="1">
                <a:solidFill>
                  <a:srgbClr val="CC3399"/>
                </a:solidFill>
                <a:ea typeface="楷体_GB2312" charset="0"/>
              </a:rPr>
              <a:t>…</a:t>
            </a:r>
            <a:r>
              <a:rPr lang="en-US" altLang="zh-CN" sz="3600" b="1">
                <a:solidFill>
                  <a:srgbClr val="CC3399"/>
                </a:solidFill>
                <a:latin typeface="楷体_GB2312" charset="0"/>
                <a:ea typeface="楷体_GB2312" charset="0"/>
              </a:rPr>
              <a:t>≤</a:t>
            </a:r>
            <a:r>
              <a:rPr lang="en-US" altLang="zh-CN" sz="3600" b="1">
                <a:solidFill>
                  <a:srgbClr val="CC3399"/>
                </a:solidFill>
                <a:ea typeface="楷体_GB2312" charset="0"/>
              </a:rPr>
              <a:t>K</a:t>
            </a:r>
            <a:r>
              <a:rPr lang="en-US" altLang="zh-CN" sz="3600" b="1" baseline="-25000">
                <a:solidFill>
                  <a:srgbClr val="CC3399"/>
                </a:solidFill>
                <a:ea typeface="楷体_GB2312" charset="0"/>
              </a:rPr>
              <a:t>pn</a:t>
            </a:r>
            <a:endParaRPr lang="en-US" altLang="zh-CN" sz="3600">
              <a:solidFill>
                <a:srgbClr val="0000FF"/>
              </a:solidFill>
              <a:ea typeface="楷体_GB2312" charset="0"/>
            </a:endParaRPr>
          </a:p>
        </p:txBody>
      </p:sp>
      <p:sp>
        <p:nvSpPr>
          <p:cNvPr id="4100" name="Text Box 4"/>
          <p:cNvSpPr txBox="1">
            <a:spLocks noChangeArrowheads="1"/>
          </p:cNvSpPr>
          <p:nvPr/>
        </p:nvSpPr>
        <p:spPr bwMode="auto">
          <a:xfrm>
            <a:off x="288925" y="4560888"/>
            <a:ext cx="9007475" cy="206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3600">
                <a:solidFill>
                  <a:srgbClr val="0000FF"/>
                </a:solidFill>
                <a:ea typeface="楷体_GB2312" charset="0"/>
              </a:rPr>
              <a:t>按此固有关系将上式记录序列重新排列为   </a:t>
            </a:r>
          </a:p>
          <a:p>
            <a:pPr algn="l">
              <a:lnSpc>
                <a:spcPct val="120000"/>
              </a:lnSpc>
            </a:pPr>
            <a:r>
              <a:rPr lang="zh-CN" altLang="en-US" sz="3600">
                <a:solidFill>
                  <a:srgbClr val="0000FF"/>
                </a:solidFill>
                <a:ea typeface="楷体_GB2312" charset="0"/>
              </a:rPr>
              <a:t>                   </a:t>
            </a:r>
            <a:r>
              <a:rPr lang="en-US" altLang="zh-CN" sz="3600">
                <a:solidFill>
                  <a:srgbClr val="990033"/>
                </a:solidFill>
                <a:ea typeface="楷体_GB2312" charset="0"/>
              </a:rPr>
              <a:t>{ R</a:t>
            </a:r>
            <a:r>
              <a:rPr lang="en-US" altLang="zh-CN" sz="3600" baseline="-25000">
                <a:solidFill>
                  <a:srgbClr val="990033"/>
                </a:solidFill>
                <a:ea typeface="楷体_GB2312" charset="0"/>
              </a:rPr>
              <a:t>p1</a:t>
            </a:r>
            <a:r>
              <a:rPr lang="en-US" altLang="zh-CN" sz="3600">
                <a:solidFill>
                  <a:srgbClr val="990033"/>
                </a:solidFill>
                <a:ea typeface="楷体_GB2312" charset="0"/>
              </a:rPr>
              <a:t>, R</a:t>
            </a:r>
            <a:r>
              <a:rPr lang="en-US" altLang="zh-CN" sz="3600" baseline="-25000">
                <a:solidFill>
                  <a:srgbClr val="990033"/>
                </a:solidFill>
                <a:ea typeface="楷体_GB2312" charset="0"/>
              </a:rPr>
              <a:t>p2</a:t>
            </a:r>
            <a:r>
              <a:rPr lang="en-US" altLang="zh-CN" sz="3600">
                <a:solidFill>
                  <a:srgbClr val="990033"/>
                </a:solidFill>
                <a:ea typeface="楷体_GB2312" charset="0"/>
              </a:rPr>
              <a:t>,</a:t>
            </a:r>
            <a:r>
              <a:rPr lang="en-US" altLang="zh-CN" sz="3600">
                <a:solidFill>
                  <a:srgbClr val="990033"/>
                </a:solidFill>
                <a:latin typeface="楷体_GB2312" charset="0"/>
                <a:ea typeface="楷体_GB2312" charset="0"/>
              </a:rPr>
              <a:t> </a:t>
            </a:r>
            <a:r>
              <a:rPr lang="en-US" altLang="zh-CN" sz="3600">
                <a:solidFill>
                  <a:srgbClr val="990033"/>
                </a:solidFill>
                <a:ea typeface="楷体_GB2312" charset="0"/>
              </a:rPr>
              <a:t>…</a:t>
            </a:r>
            <a:r>
              <a:rPr lang="zh-CN" altLang="en-US" sz="3600">
                <a:solidFill>
                  <a:srgbClr val="990033"/>
                </a:solidFill>
                <a:ea typeface="楷体_GB2312" charset="0"/>
              </a:rPr>
              <a:t>，</a:t>
            </a:r>
            <a:r>
              <a:rPr lang="en-US" altLang="zh-CN" sz="3600">
                <a:solidFill>
                  <a:srgbClr val="990033"/>
                </a:solidFill>
                <a:ea typeface="楷体_GB2312" charset="0"/>
              </a:rPr>
              <a:t>R</a:t>
            </a:r>
            <a:r>
              <a:rPr lang="en-US" altLang="zh-CN" sz="3600" baseline="-25000">
                <a:solidFill>
                  <a:srgbClr val="990033"/>
                </a:solidFill>
                <a:ea typeface="楷体_GB2312" charset="0"/>
              </a:rPr>
              <a:t>pn</a:t>
            </a:r>
            <a:r>
              <a:rPr lang="en-US" altLang="zh-CN" sz="3600">
                <a:solidFill>
                  <a:srgbClr val="990033"/>
                </a:solidFill>
                <a:ea typeface="楷体_GB2312" charset="0"/>
              </a:rPr>
              <a:t> }</a:t>
            </a:r>
            <a:endParaRPr lang="en-US" altLang="zh-CN" sz="3600">
              <a:solidFill>
                <a:srgbClr val="0000FF"/>
              </a:solidFill>
              <a:ea typeface="楷体_GB2312" charset="0"/>
            </a:endParaRPr>
          </a:p>
          <a:p>
            <a:pPr algn="l">
              <a:lnSpc>
                <a:spcPct val="120000"/>
              </a:lnSpc>
            </a:pPr>
            <a:r>
              <a:rPr lang="zh-CN" altLang="en-US" sz="3600">
                <a:solidFill>
                  <a:srgbClr val="0000FF"/>
                </a:solidFill>
                <a:ea typeface="楷体_GB2312" charset="0"/>
              </a:rPr>
              <a:t>的</a:t>
            </a:r>
            <a:r>
              <a:rPr lang="zh-CN" altLang="en-US" sz="3600" b="1">
                <a:solidFill>
                  <a:srgbClr val="0000FF"/>
                </a:solidFill>
                <a:ea typeface="楷体_GB2312" charset="0"/>
              </a:rPr>
              <a:t>操作</a:t>
            </a:r>
            <a:r>
              <a:rPr lang="zh-CN" altLang="en-US" sz="3600">
                <a:solidFill>
                  <a:srgbClr val="0000FF"/>
                </a:solidFill>
                <a:ea typeface="楷体_GB2312" charset="0"/>
              </a:rPr>
              <a:t>称作</a:t>
            </a:r>
            <a:r>
              <a:rPr lang="zh-CN" altLang="en-US" sz="3600" b="1">
                <a:solidFill>
                  <a:schemeClr val="accent2"/>
                </a:solidFill>
                <a:ea typeface="楷体_GB2312" charset="0"/>
              </a:rPr>
              <a:t>排序</a:t>
            </a:r>
            <a:r>
              <a:rPr lang="zh-CN" altLang="en-US" sz="3600">
                <a:solidFill>
                  <a:srgbClr val="0000FF"/>
                </a:solidFill>
                <a:ea typeface="楷体_GB2312" charset="0"/>
              </a:rPr>
              <a:t>。</a:t>
            </a:r>
          </a:p>
        </p:txBody>
      </p:sp>
      <p:sp>
        <p:nvSpPr>
          <p:cNvPr id="4102" name="AutoShape 6">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633032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heckerboard(across)">
                                      <p:cBhvr>
                                        <p:cTn id="7" dur="500"/>
                                        <p:tgtEl>
                                          <p:spTgt spid="4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checkerboard(across)">
                                      <p:cBhvr>
                                        <p:cTn id="12" dur="500"/>
                                        <p:tgtEl>
                                          <p:spTgt spid="40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100"/>
                                        </p:tgtEl>
                                        <p:attrNameLst>
                                          <p:attrName>style.visibility</p:attrName>
                                        </p:attrNameLst>
                                      </p:cBhvr>
                                      <p:to>
                                        <p:strVal val="visible"/>
                                      </p:to>
                                    </p:set>
                                    <p:animEffect transition="in" filter="checkerboard(across)">
                                      <p:cBhvr>
                                        <p:cTn id="17" dur="500"/>
                                        <p:tgtEl>
                                          <p:spTgt spid="4100"/>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4102"/>
                                        </p:tgtEl>
                                        <p:attrNameLst>
                                          <p:attrName>style.visibility</p:attrName>
                                        </p:attrNameLst>
                                      </p:cBhvr>
                                      <p:to>
                                        <p:strVal val="visible"/>
                                      </p:to>
                                    </p:set>
                                    <p:anim calcmode="lin" valueType="num">
                                      <p:cBhvr additive="base">
                                        <p:cTn id="21" dur="500" fill="hold"/>
                                        <p:tgtEl>
                                          <p:spTgt spid="4102"/>
                                        </p:tgtEl>
                                        <p:attrNameLst>
                                          <p:attrName>ppt_x</p:attrName>
                                        </p:attrNameLst>
                                      </p:cBhvr>
                                      <p:tavLst>
                                        <p:tav tm="0">
                                          <p:val>
                                            <p:strVal val="1+#ppt_w/2"/>
                                          </p:val>
                                        </p:tav>
                                        <p:tav tm="100000">
                                          <p:val>
                                            <p:strVal val="#ppt_x"/>
                                          </p:val>
                                        </p:tav>
                                      </p:tavLst>
                                    </p:anim>
                                    <p:anim calcmode="lin" valueType="num">
                                      <p:cBhvr additive="base">
                                        <p:cTn id="22" dur="500" fill="hold"/>
                                        <p:tgtEl>
                                          <p:spTgt spid="4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autoUpdateAnimBg="0"/>
      <p:bldP spid="4100" grpId="0" autoUpdateAnimBg="0"/>
      <p:bldP spid="410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57200" y="457200"/>
            <a:ext cx="63833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二、内部排序和外部排序</a:t>
            </a:r>
          </a:p>
        </p:txBody>
      </p:sp>
      <p:sp>
        <p:nvSpPr>
          <p:cNvPr id="5123" name="Text Box 3"/>
          <p:cNvSpPr txBox="1">
            <a:spLocks noChangeArrowheads="1"/>
          </p:cNvSpPr>
          <p:nvPr/>
        </p:nvSpPr>
        <p:spPr bwMode="auto">
          <a:xfrm>
            <a:off x="762000" y="1524000"/>
            <a:ext cx="77724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若</a:t>
            </a:r>
            <a:r>
              <a:rPr lang="zh-CN" altLang="en-US" sz="3600">
                <a:solidFill>
                  <a:srgbClr val="0000FF"/>
                </a:solidFill>
                <a:ea typeface="楷体_GB2312" charset="0"/>
              </a:rPr>
              <a:t>整个排序过程</a:t>
            </a:r>
            <a:r>
              <a:rPr lang="zh-CN" altLang="en-US" sz="3600" b="1">
                <a:solidFill>
                  <a:srgbClr val="0000FF"/>
                </a:solidFill>
                <a:ea typeface="楷体_GB2312" charset="0"/>
              </a:rPr>
              <a:t>不需要访问外存</a:t>
            </a:r>
            <a:r>
              <a:rPr lang="zh-CN" altLang="en-US" sz="3600">
                <a:ea typeface="楷体_GB2312" charset="0"/>
              </a:rPr>
              <a:t>便能完成，则称此类排序问题</a:t>
            </a:r>
            <a:r>
              <a:rPr lang="zh-CN" altLang="en-US" sz="3600">
                <a:solidFill>
                  <a:srgbClr val="0000FF"/>
                </a:solidFill>
                <a:ea typeface="楷体_GB2312" charset="0"/>
              </a:rPr>
              <a:t>为</a:t>
            </a:r>
            <a:r>
              <a:rPr lang="zh-CN" altLang="en-US" sz="3600" b="1">
                <a:solidFill>
                  <a:srgbClr val="0000FF"/>
                </a:solidFill>
                <a:ea typeface="楷体_GB2312" charset="0"/>
              </a:rPr>
              <a:t>内部排序</a:t>
            </a:r>
            <a:r>
              <a:rPr lang="zh-CN" altLang="en-US" sz="3600">
                <a:solidFill>
                  <a:srgbClr val="0000FF"/>
                </a:solidFill>
                <a:ea typeface="楷体_GB2312" charset="0"/>
              </a:rPr>
              <a:t>；</a:t>
            </a:r>
            <a:r>
              <a:rPr lang="zh-CN" altLang="en-US" sz="3600">
                <a:ea typeface="楷体_GB2312" charset="0"/>
              </a:rPr>
              <a:t>  　</a:t>
            </a:r>
            <a:r>
              <a:rPr lang="zh-CN" altLang="en-US" sz="4000">
                <a:ea typeface="楷体_GB2312" charset="0"/>
              </a:rPr>
              <a:t> 　</a:t>
            </a:r>
          </a:p>
        </p:txBody>
      </p:sp>
      <p:sp>
        <p:nvSpPr>
          <p:cNvPr id="5124" name="Text Box 4"/>
          <p:cNvSpPr txBox="1">
            <a:spLocks noChangeArrowheads="1"/>
          </p:cNvSpPr>
          <p:nvPr/>
        </p:nvSpPr>
        <p:spPr bwMode="auto">
          <a:xfrm>
            <a:off x="425450" y="3810000"/>
            <a:ext cx="8197850"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4000">
                <a:ea typeface="楷体_GB2312" charset="0"/>
              </a:rPr>
              <a:t>     </a:t>
            </a:r>
            <a:r>
              <a:rPr lang="zh-CN" altLang="en-US" sz="3600">
                <a:ea typeface="楷体_GB2312" charset="0"/>
              </a:rPr>
              <a:t>反之，若参加排序的记录数量很大，</a:t>
            </a:r>
          </a:p>
          <a:p>
            <a:pPr algn="l">
              <a:lnSpc>
                <a:spcPct val="140000"/>
              </a:lnSpc>
            </a:pPr>
            <a:r>
              <a:rPr lang="zh-CN" altLang="en-US" sz="3600">
                <a:ea typeface="楷体_GB2312" charset="0"/>
              </a:rPr>
              <a:t>  整个序列的排序过程</a:t>
            </a:r>
            <a:r>
              <a:rPr lang="zh-CN" altLang="en-US" sz="3600">
                <a:solidFill>
                  <a:srgbClr val="0000FF"/>
                </a:solidFill>
                <a:ea typeface="楷体_GB2312" charset="0"/>
              </a:rPr>
              <a:t>不可能在内存中</a:t>
            </a:r>
          </a:p>
          <a:p>
            <a:pPr algn="l">
              <a:lnSpc>
                <a:spcPct val="140000"/>
              </a:lnSpc>
            </a:pPr>
            <a:r>
              <a:rPr lang="zh-CN" altLang="en-US" sz="3600">
                <a:solidFill>
                  <a:srgbClr val="0000FF"/>
                </a:solidFill>
                <a:ea typeface="楷体_GB2312" charset="0"/>
              </a:rPr>
              <a:t>  完成</a:t>
            </a:r>
            <a:r>
              <a:rPr lang="zh-CN" altLang="en-US" sz="3600">
                <a:ea typeface="楷体_GB2312" charset="0"/>
              </a:rPr>
              <a:t>，则称此类排序问题</a:t>
            </a:r>
            <a:r>
              <a:rPr lang="zh-CN" altLang="en-US" sz="3600">
                <a:solidFill>
                  <a:srgbClr val="0000FF"/>
                </a:solidFill>
                <a:ea typeface="楷体_GB2312" charset="0"/>
              </a:rPr>
              <a:t>为</a:t>
            </a:r>
            <a:r>
              <a:rPr lang="zh-CN" altLang="en-US" sz="3600" b="1">
                <a:solidFill>
                  <a:srgbClr val="0000FF"/>
                </a:solidFill>
                <a:ea typeface="楷体_GB2312" charset="0"/>
              </a:rPr>
              <a:t>外部排序</a:t>
            </a:r>
            <a:r>
              <a:rPr lang="zh-CN" altLang="en-US" sz="3600">
                <a:ea typeface="楷体_GB2312" charset="0"/>
              </a:rPr>
              <a:t>。</a:t>
            </a:r>
            <a:endParaRPr lang="zh-CN" altLang="en-US"/>
          </a:p>
        </p:txBody>
      </p:sp>
      <p:sp>
        <p:nvSpPr>
          <p:cNvPr id="5126" name="AutoShape 6">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987317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5123"/>
                                        </p:tgtEl>
                                        <p:attrNameLst>
                                          <p:attrName>style.visibility</p:attrName>
                                        </p:attrNameLst>
                                      </p:cBhvr>
                                      <p:to>
                                        <p:strVal val="visible"/>
                                      </p:to>
                                    </p:set>
                                    <p:animEffect transition="in" filter="strips(downRight)">
                                      <p:cBhvr>
                                        <p:cTn id="13" dur="500"/>
                                        <p:tgtEl>
                                          <p:spTgt spid="512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5124"/>
                                        </p:tgtEl>
                                        <p:attrNameLst>
                                          <p:attrName>style.visibility</p:attrName>
                                        </p:attrNameLst>
                                      </p:cBhvr>
                                      <p:to>
                                        <p:strVal val="visible"/>
                                      </p:to>
                                    </p:set>
                                    <p:animEffect transition="in" filter="strips(downRight)">
                                      <p:cBhvr>
                                        <p:cTn id="18" dur="500"/>
                                        <p:tgtEl>
                                          <p:spTgt spid="5124"/>
                                        </p:tgtEl>
                                      </p:cBhvr>
                                    </p:animEffect>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5126"/>
                                        </p:tgtEl>
                                        <p:attrNameLst>
                                          <p:attrName>style.visibility</p:attrName>
                                        </p:attrNameLst>
                                      </p:cBhvr>
                                      <p:to>
                                        <p:strVal val="visible"/>
                                      </p:to>
                                    </p:set>
                                    <p:anim calcmode="lin" valueType="num">
                                      <p:cBhvr additive="base">
                                        <p:cTn id="22" dur="500" fill="hold"/>
                                        <p:tgtEl>
                                          <p:spTgt spid="5126"/>
                                        </p:tgtEl>
                                        <p:attrNameLst>
                                          <p:attrName>ppt_x</p:attrName>
                                        </p:attrNameLst>
                                      </p:cBhvr>
                                      <p:tavLst>
                                        <p:tav tm="0">
                                          <p:val>
                                            <p:strVal val="1+#ppt_w/2"/>
                                          </p:val>
                                        </p:tav>
                                        <p:tav tm="100000">
                                          <p:val>
                                            <p:strVal val="#ppt_x"/>
                                          </p:val>
                                        </p:tav>
                                      </p:tavLst>
                                    </p:anim>
                                    <p:anim calcmode="lin" valueType="num">
                                      <p:cBhvr additive="base">
                                        <p:cTn id="23"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autoUpdateAnimBg="0"/>
      <p:bldP spid="5123" grpId="0" autoUpdateAnimBg="0"/>
      <p:bldP spid="5124" grpId="0" autoUpdateAnimBg="0"/>
      <p:bldP spid="51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a:spLocks noChangeArrowheads="1"/>
          </p:cNvSpPr>
          <p:nvPr/>
        </p:nvSpPr>
        <p:spPr bwMode="auto">
          <a:xfrm>
            <a:off x="304800" y="228600"/>
            <a:ext cx="52562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三、内部排序的方法</a:t>
            </a:r>
            <a:endParaRPr lang="zh-CN" altLang="en-US" sz="5400" b="1">
              <a:solidFill>
                <a:srgbClr val="FF00FF"/>
              </a:solidFill>
              <a:ea typeface="楷体_GB2312" charset="0"/>
            </a:endParaRPr>
          </a:p>
        </p:txBody>
      </p:sp>
      <p:sp>
        <p:nvSpPr>
          <p:cNvPr id="6148" name="Text Box 4"/>
          <p:cNvSpPr txBox="1">
            <a:spLocks noChangeArrowheads="1"/>
          </p:cNvSpPr>
          <p:nvPr/>
        </p:nvSpPr>
        <p:spPr bwMode="auto">
          <a:xfrm>
            <a:off x="762000" y="1127125"/>
            <a:ext cx="7848600" cy="154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4000">
                <a:solidFill>
                  <a:srgbClr val="0000FF"/>
                </a:solidFill>
                <a:ea typeface="楷体_GB2312" charset="0"/>
              </a:rPr>
              <a:t>　　</a:t>
            </a:r>
            <a:r>
              <a:rPr lang="zh-CN" altLang="en-US" sz="3600">
                <a:solidFill>
                  <a:srgbClr val="0000FF"/>
                </a:solidFill>
                <a:ea typeface="楷体_GB2312" charset="0"/>
              </a:rPr>
              <a:t>内部排序的过程是一个</a:t>
            </a:r>
            <a:r>
              <a:rPr lang="zh-CN" altLang="en-US" sz="3600" b="1">
                <a:solidFill>
                  <a:srgbClr val="0000FF"/>
                </a:solidFill>
                <a:ea typeface="楷体_GB2312" charset="0"/>
              </a:rPr>
              <a:t>逐步扩大</a:t>
            </a:r>
            <a:endParaRPr lang="zh-CN" altLang="en-US" sz="3600">
              <a:solidFill>
                <a:srgbClr val="0000FF"/>
              </a:solidFill>
              <a:ea typeface="楷体_GB2312" charset="0"/>
            </a:endParaRPr>
          </a:p>
          <a:p>
            <a:pPr algn="l">
              <a:lnSpc>
                <a:spcPct val="125000"/>
              </a:lnSpc>
            </a:pPr>
            <a:r>
              <a:rPr lang="zh-CN" altLang="en-US" sz="3600">
                <a:solidFill>
                  <a:srgbClr val="0000FF"/>
                </a:solidFill>
                <a:ea typeface="楷体_GB2312" charset="0"/>
              </a:rPr>
              <a:t>记录的</a:t>
            </a:r>
            <a:r>
              <a:rPr lang="zh-CN" altLang="en-US" sz="3600" b="1">
                <a:solidFill>
                  <a:srgbClr val="0000FF"/>
                </a:solidFill>
                <a:ea typeface="楷体_GB2312" charset="0"/>
              </a:rPr>
              <a:t>有序序列长度</a:t>
            </a:r>
            <a:r>
              <a:rPr lang="zh-CN" altLang="en-US" sz="3600">
                <a:solidFill>
                  <a:srgbClr val="0000FF"/>
                </a:solidFill>
                <a:ea typeface="楷体_GB2312" charset="0"/>
              </a:rPr>
              <a:t>的过程。</a:t>
            </a:r>
            <a:endParaRPr lang="zh-CN" altLang="en-US" sz="4000">
              <a:ea typeface="楷体_GB2312" charset="0"/>
            </a:endParaRPr>
          </a:p>
        </p:txBody>
      </p:sp>
      <p:sp>
        <p:nvSpPr>
          <p:cNvPr id="6151" name="Text Box 7"/>
          <p:cNvSpPr txBox="1">
            <a:spLocks noChangeArrowheads="1"/>
          </p:cNvSpPr>
          <p:nvPr/>
        </p:nvSpPr>
        <p:spPr bwMode="auto">
          <a:xfrm>
            <a:off x="5638800" y="4267200"/>
            <a:ext cx="3505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600" b="1">
                <a:solidFill>
                  <a:srgbClr val="800080"/>
                </a:solidFill>
                <a:ea typeface="楷体_GB2312" charset="0"/>
              </a:rPr>
              <a:t>经过一趟排序</a:t>
            </a:r>
            <a:endParaRPr lang="zh-CN" altLang="en-US" sz="4000">
              <a:ea typeface="楷体_GB2312" charset="0"/>
            </a:endParaRPr>
          </a:p>
        </p:txBody>
      </p:sp>
      <p:sp>
        <p:nvSpPr>
          <p:cNvPr id="6152" name="Rectangle 8" descr="60%"/>
          <p:cNvSpPr>
            <a:spLocks noChangeArrowheads="1"/>
          </p:cNvSpPr>
          <p:nvPr/>
        </p:nvSpPr>
        <p:spPr bwMode="auto">
          <a:xfrm>
            <a:off x="1143000" y="3124200"/>
            <a:ext cx="2514600" cy="838200"/>
          </a:xfrm>
          <a:prstGeom prst="rect">
            <a:avLst/>
          </a:prstGeom>
          <a:pattFill prst="pct60">
            <a:fgClr>
              <a:schemeClr val="hlink"/>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ea typeface="隶书" charset="0"/>
              </a:rPr>
              <a:t>有序序列区</a:t>
            </a:r>
            <a:endParaRPr lang="zh-CN" altLang="en-US" sz="3600"/>
          </a:p>
        </p:txBody>
      </p:sp>
      <p:sp>
        <p:nvSpPr>
          <p:cNvPr id="6153" name="Rectangle 9" descr="棚架"/>
          <p:cNvSpPr>
            <a:spLocks noChangeArrowheads="1"/>
          </p:cNvSpPr>
          <p:nvPr/>
        </p:nvSpPr>
        <p:spPr bwMode="auto">
          <a:xfrm>
            <a:off x="3657600" y="3124200"/>
            <a:ext cx="4038600" cy="838200"/>
          </a:xfrm>
          <a:prstGeom prst="rect">
            <a:avLst/>
          </a:prstGeom>
          <a:pattFill prst="trellis">
            <a:fgClr>
              <a:srgbClr val="00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latin typeface="隶书" charset="0"/>
                <a:ea typeface="隶书" charset="0"/>
              </a:rPr>
              <a:t>无 序 序 列 区</a:t>
            </a:r>
            <a:endParaRPr lang="zh-CN" altLang="en-US" sz="4400"/>
          </a:p>
        </p:txBody>
      </p:sp>
      <p:sp>
        <p:nvSpPr>
          <p:cNvPr id="6156" name="Rectangle 12" descr="60%"/>
          <p:cNvSpPr>
            <a:spLocks noChangeArrowheads="1"/>
          </p:cNvSpPr>
          <p:nvPr/>
        </p:nvSpPr>
        <p:spPr bwMode="auto">
          <a:xfrm>
            <a:off x="1219200" y="5257800"/>
            <a:ext cx="2971800" cy="838200"/>
          </a:xfrm>
          <a:prstGeom prst="rect">
            <a:avLst/>
          </a:prstGeom>
          <a:pattFill prst="pct60">
            <a:fgClr>
              <a:schemeClr val="hlink"/>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ea typeface="隶书" charset="0"/>
              </a:rPr>
              <a:t>有序序列区</a:t>
            </a:r>
            <a:endParaRPr lang="zh-CN" altLang="en-US" sz="3600"/>
          </a:p>
        </p:txBody>
      </p:sp>
      <p:sp>
        <p:nvSpPr>
          <p:cNvPr id="6157" name="Rectangle 13" descr="棚架"/>
          <p:cNvSpPr>
            <a:spLocks noChangeArrowheads="1"/>
          </p:cNvSpPr>
          <p:nvPr/>
        </p:nvSpPr>
        <p:spPr bwMode="auto">
          <a:xfrm>
            <a:off x="4191000" y="5257800"/>
            <a:ext cx="3505200" cy="838200"/>
          </a:xfrm>
          <a:prstGeom prst="rect">
            <a:avLst/>
          </a:prstGeom>
          <a:pattFill prst="trellis">
            <a:fgClr>
              <a:srgbClr val="00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latin typeface="隶书" charset="0"/>
                <a:ea typeface="隶书" charset="0"/>
              </a:rPr>
              <a:t>无 序 序 列 区</a:t>
            </a:r>
            <a:endParaRPr lang="zh-CN" altLang="en-US" sz="4400"/>
          </a:p>
        </p:txBody>
      </p:sp>
      <p:sp>
        <p:nvSpPr>
          <p:cNvPr id="6158" name="AutoShape 14"/>
          <p:cNvSpPr>
            <a:spLocks noChangeArrowheads="1"/>
          </p:cNvSpPr>
          <p:nvPr/>
        </p:nvSpPr>
        <p:spPr bwMode="auto">
          <a:xfrm>
            <a:off x="4876800" y="4191000"/>
            <a:ext cx="533400" cy="914400"/>
          </a:xfrm>
          <a:prstGeom prst="downArrow">
            <a:avLst>
              <a:gd name="adj1" fmla="val 50000"/>
              <a:gd name="adj2" fmla="val 42857"/>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6159" name="Line 15"/>
          <p:cNvSpPr>
            <a:spLocks noChangeShapeType="1"/>
          </p:cNvSpPr>
          <p:nvPr/>
        </p:nvSpPr>
        <p:spPr bwMode="auto">
          <a:xfrm>
            <a:off x="3657600" y="3962400"/>
            <a:ext cx="0" cy="1295400"/>
          </a:xfrm>
          <a:prstGeom prst="line">
            <a:avLst/>
          </a:prstGeom>
          <a:noFill/>
          <a:ln w="9525" cap="rnd">
            <a:solidFill>
              <a:srgbClr val="0033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160" name="Line 16"/>
          <p:cNvSpPr>
            <a:spLocks noChangeShapeType="1"/>
          </p:cNvSpPr>
          <p:nvPr/>
        </p:nvSpPr>
        <p:spPr bwMode="auto">
          <a:xfrm>
            <a:off x="4191000" y="3962400"/>
            <a:ext cx="0" cy="1295400"/>
          </a:xfrm>
          <a:prstGeom prst="line">
            <a:avLst/>
          </a:prstGeom>
          <a:noFill/>
          <a:ln w="9525" cap="rnd">
            <a:solidFill>
              <a:srgbClr val="0033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461981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147"/>
                                        </p:tgtEl>
                                        <p:attrNameLst>
                                          <p:attrName>style.visibility</p:attrName>
                                        </p:attrNameLst>
                                      </p:cBhvr>
                                      <p:to>
                                        <p:strVal val="visible"/>
                                      </p:to>
                                    </p:set>
                                    <p:anim calcmode="lin" valueType="num">
                                      <p:cBhvr additive="base">
                                        <p:cTn id="7" dur="500" fill="hold"/>
                                        <p:tgtEl>
                                          <p:spTgt spid="6147"/>
                                        </p:tgtEl>
                                        <p:attrNameLst>
                                          <p:attrName>ppt_x</p:attrName>
                                        </p:attrNameLst>
                                      </p:cBhvr>
                                      <p:tavLst>
                                        <p:tav tm="0">
                                          <p:val>
                                            <p:strVal val="0-#ppt_w/2"/>
                                          </p:val>
                                        </p:tav>
                                        <p:tav tm="100000">
                                          <p:val>
                                            <p:strVal val="#ppt_x"/>
                                          </p:val>
                                        </p:tav>
                                      </p:tavLst>
                                    </p:anim>
                                    <p:anim calcmode="lin" valueType="num">
                                      <p:cBhvr additive="base">
                                        <p:cTn id="8" dur="500" fill="hold"/>
                                        <p:tgtEl>
                                          <p:spTgt spid="61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6148"/>
                                        </p:tgtEl>
                                        <p:attrNameLst>
                                          <p:attrName>style.visibility</p:attrName>
                                        </p:attrNameLst>
                                      </p:cBhvr>
                                      <p:to>
                                        <p:strVal val="visible"/>
                                      </p:to>
                                    </p:set>
                                    <p:animEffect transition="in" filter="strips(downRight)">
                                      <p:cBhvr>
                                        <p:cTn id="13" dur="500"/>
                                        <p:tgtEl>
                                          <p:spTgt spid="614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152"/>
                                        </p:tgtEl>
                                        <p:attrNameLst>
                                          <p:attrName>style.visibility</p:attrName>
                                        </p:attrNameLst>
                                      </p:cBhvr>
                                      <p:to>
                                        <p:strVal val="visible"/>
                                      </p:to>
                                    </p:set>
                                    <p:animEffect transition="in" filter="wipe(left)">
                                      <p:cBhvr>
                                        <p:cTn id="18" dur="500"/>
                                        <p:tgtEl>
                                          <p:spTgt spid="6152"/>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6153"/>
                                        </p:tgtEl>
                                        <p:attrNameLst>
                                          <p:attrName>style.visibility</p:attrName>
                                        </p:attrNameLst>
                                      </p:cBhvr>
                                      <p:to>
                                        <p:strVal val="visible"/>
                                      </p:to>
                                    </p:set>
                                    <p:animEffect transition="in" filter="wipe(left)">
                                      <p:cBhvr>
                                        <p:cTn id="22" dur="500"/>
                                        <p:tgtEl>
                                          <p:spTgt spid="61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6151"/>
                                        </p:tgtEl>
                                        <p:attrNameLst>
                                          <p:attrName>style.visibility</p:attrName>
                                        </p:attrNameLst>
                                      </p:cBhvr>
                                      <p:to>
                                        <p:strVal val="visible"/>
                                      </p:to>
                                    </p:set>
                                    <p:animEffect transition="in" filter="slide(fromRight)">
                                      <p:cBhvr>
                                        <p:cTn id="27" dur="500"/>
                                        <p:tgtEl>
                                          <p:spTgt spid="6151"/>
                                        </p:tgtEl>
                                      </p:cBhvr>
                                    </p:animEffect>
                                  </p:childTnLst>
                                </p:cTn>
                              </p:par>
                            </p:childTnLst>
                          </p:cTn>
                        </p:par>
                        <p:par>
                          <p:cTn id="28" fill="hold" nodeType="afterGroup">
                            <p:stCondLst>
                              <p:cond delay="500"/>
                            </p:stCondLst>
                            <p:childTnLst>
                              <p:par>
                                <p:cTn id="29" presetID="17" presetClass="entr" presetSubtype="1" fill="hold" grpId="0" nodeType="afterEffect">
                                  <p:stCondLst>
                                    <p:cond delay="0"/>
                                  </p:stCondLst>
                                  <p:childTnLst>
                                    <p:set>
                                      <p:cBhvr>
                                        <p:cTn id="30" dur="1" fill="hold">
                                          <p:stCondLst>
                                            <p:cond delay="0"/>
                                          </p:stCondLst>
                                        </p:cTn>
                                        <p:tgtEl>
                                          <p:spTgt spid="6158"/>
                                        </p:tgtEl>
                                        <p:attrNameLst>
                                          <p:attrName>style.visibility</p:attrName>
                                        </p:attrNameLst>
                                      </p:cBhvr>
                                      <p:to>
                                        <p:strVal val="visible"/>
                                      </p:to>
                                    </p:set>
                                    <p:anim calcmode="lin" valueType="num">
                                      <p:cBhvr>
                                        <p:cTn id="31" dur="500" fill="hold"/>
                                        <p:tgtEl>
                                          <p:spTgt spid="6158"/>
                                        </p:tgtEl>
                                        <p:attrNameLst>
                                          <p:attrName>ppt_x</p:attrName>
                                        </p:attrNameLst>
                                      </p:cBhvr>
                                      <p:tavLst>
                                        <p:tav tm="0">
                                          <p:val>
                                            <p:strVal val="#ppt_x"/>
                                          </p:val>
                                        </p:tav>
                                        <p:tav tm="100000">
                                          <p:val>
                                            <p:strVal val="#ppt_x"/>
                                          </p:val>
                                        </p:tav>
                                      </p:tavLst>
                                    </p:anim>
                                    <p:anim calcmode="lin" valueType="num">
                                      <p:cBhvr>
                                        <p:cTn id="32" dur="500" fill="hold"/>
                                        <p:tgtEl>
                                          <p:spTgt spid="6158"/>
                                        </p:tgtEl>
                                        <p:attrNameLst>
                                          <p:attrName>ppt_y</p:attrName>
                                        </p:attrNameLst>
                                      </p:cBhvr>
                                      <p:tavLst>
                                        <p:tav tm="0">
                                          <p:val>
                                            <p:strVal val="#ppt_y-#ppt_h/2"/>
                                          </p:val>
                                        </p:tav>
                                        <p:tav tm="100000">
                                          <p:val>
                                            <p:strVal val="#ppt_y"/>
                                          </p:val>
                                        </p:tav>
                                      </p:tavLst>
                                    </p:anim>
                                    <p:anim calcmode="lin" valueType="num">
                                      <p:cBhvr>
                                        <p:cTn id="33" dur="500" fill="hold"/>
                                        <p:tgtEl>
                                          <p:spTgt spid="6158"/>
                                        </p:tgtEl>
                                        <p:attrNameLst>
                                          <p:attrName>ppt_w</p:attrName>
                                        </p:attrNameLst>
                                      </p:cBhvr>
                                      <p:tavLst>
                                        <p:tav tm="0">
                                          <p:val>
                                            <p:strVal val="#ppt_w"/>
                                          </p:val>
                                        </p:tav>
                                        <p:tav tm="100000">
                                          <p:val>
                                            <p:strVal val="#ppt_w"/>
                                          </p:val>
                                        </p:tav>
                                      </p:tavLst>
                                    </p:anim>
                                    <p:anim calcmode="lin" valueType="num">
                                      <p:cBhvr>
                                        <p:cTn id="34" dur="500" fill="hold"/>
                                        <p:tgtEl>
                                          <p:spTgt spid="6158"/>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156"/>
                                        </p:tgtEl>
                                        <p:attrNameLst>
                                          <p:attrName>style.visibility</p:attrName>
                                        </p:attrNameLst>
                                      </p:cBhvr>
                                      <p:to>
                                        <p:strVal val="visible"/>
                                      </p:to>
                                    </p:set>
                                    <p:animEffect transition="in" filter="wipe(left)">
                                      <p:cBhvr>
                                        <p:cTn id="39" dur="500"/>
                                        <p:tgtEl>
                                          <p:spTgt spid="6156"/>
                                        </p:tgtEl>
                                      </p:cBhvr>
                                    </p:animEffect>
                                  </p:childTnLst>
                                </p:cTn>
                              </p:par>
                            </p:childTnLst>
                          </p:cTn>
                        </p:par>
                        <p:par>
                          <p:cTn id="40" fill="hold" nodeType="afterGroup">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6157"/>
                                        </p:tgtEl>
                                        <p:attrNameLst>
                                          <p:attrName>style.visibility</p:attrName>
                                        </p:attrNameLst>
                                      </p:cBhvr>
                                      <p:to>
                                        <p:strVal val="visible"/>
                                      </p:to>
                                    </p:set>
                                    <p:animEffect transition="in" filter="wipe(left)">
                                      <p:cBhvr>
                                        <p:cTn id="43" dur="500"/>
                                        <p:tgtEl>
                                          <p:spTgt spid="6157"/>
                                        </p:tgtEl>
                                      </p:cBhvr>
                                    </p:animEffect>
                                  </p:childTnLst>
                                </p:cTn>
                              </p:par>
                            </p:childTnLst>
                          </p:cTn>
                        </p:par>
                        <p:par>
                          <p:cTn id="44" fill="hold" nodeType="afterGroup">
                            <p:stCondLst>
                              <p:cond delay="1000"/>
                            </p:stCondLst>
                            <p:childTnLst>
                              <p:par>
                                <p:cTn id="45" presetID="17" presetClass="entr" presetSubtype="1" fill="hold" grpId="0" nodeType="afterEffect">
                                  <p:stCondLst>
                                    <p:cond delay="0"/>
                                  </p:stCondLst>
                                  <p:childTnLst>
                                    <p:set>
                                      <p:cBhvr>
                                        <p:cTn id="46" dur="1" fill="hold">
                                          <p:stCondLst>
                                            <p:cond delay="0"/>
                                          </p:stCondLst>
                                        </p:cTn>
                                        <p:tgtEl>
                                          <p:spTgt spid="6159"/>
                                        </p:tgtEl>
                                        <p:attrNameLst>
                                          <p:attrName>style.visibility</p:attrName>
                                        </p:attrNameLst>
                                      </p:cBhvr>
                                      <p:to>
                                        <p:strVal val="visible"/>
                                      </p:to>
                                    </p:set>
                                    <p:anim calcmode="lin" valueType="num">
                                      <p:cBhvr>
                                        <p:cTn id="47" dur="500" fill="hold"/>
                                        <p:tgtEl>
                                          <p:spTgt spid="6159"/>
                                        </p:tgtEl>
                                        <p:attrNameLst>
                                          <p:attrName>ppt_x</p:attrName>
                                        </p:attrNameLst>
                                      </p:cBhvr>
                                      <p:tavLst>
                                        <p:tav tm="0">
                                          <p:val>
                                            <p:strVal val="#ppt_x"/>
                                          </p:val>
                                        </p:tav>
                                        <p:tav tm="100000">
                                          <p:val>
                                            <p:strVal val="#ppt_x"/>
                                          </p:val>
                                        </p:tav>
                                      </p:tavLst>
                                    </p:anim>
                                    <p:anim calcmode="lin" valueType="num">
                                      <p:cBhvr>
                                        <p:cTn id="48" dur="500" fill="hold"/>
                                        <p:tgtEl>
                                          <p:spTgt spid="6159"/>
                                        </p:tgtEl>
                                        <p:attrNameLst>
                                          <p:attrName>ppt_y</p:attrName>
                                        </p:attrNameLst>
                                      </p:cBhvr>
                                      <p:tavLst>
                                        <p:tav tm="0">
                                          <p:val>
                                            <p:strVal val="#ppt_y-#ppt_h/2"/>
                                          </p:val>
                                        </p:tav>
                                        <p:tav tm="100000">
                                          <p:val>
                                            <p:strVal val="#ppt_y"/>
                                          </p:val>
                                        </p:tav>
                                      </p:tavLst>
                                    </p:anim>
                                    <p:anim calcmode="lin" valueType="num">
                                      <p:cBhvr>
                                        <p:cTn id="49" dur="500" fill="hold"/>
                                        <p:tgtEl>
                                          <p:spTgt spid="6159"/>
                                        </p:tgtEl>
                                        <p:attrNameLst>
                                          <p:attrName>ppt_w</p:attrName>
                                        </p:attrNameLst>
                                      </p:cBhvr>
                                      <p:tavLst>
                                        <p:tav tm="0">
                                          <p:val>
                                            <p:strVal val="#ppt_w"/>
                                          </p:val>
                                        </p:tav>
                                        <p:tav tm="100000">
                                          <p:val>
                                            <p:strVal val="#ppt_w"/>
                                          </p:val>
                                        </p:tav>
                                      </p:tavLst>
                                    </p:anim>
                                    <p:anim calcmode="lin" valueType="num">
                                      <p:cBhvr>
                                        <p:cTn id="50" dur="500" fill="hold"/>
                                        <p:tgtEl>
                                          <p:spTgt spid="6159"/>
                                        </p:tgtEl>
                                        <p:attrNameLst>
                                          <p:attrName>ppt_h</p:attrName>
                                        </p:attrNameLst>
                                      </p:cBhvr>
                                      <p:tavLst>
                                        <p:tav tm="0">
                                          <p:val>
                                            <p:fltVal val="0"/>
                                          </p:val>
                                        </p:tav>
                                        <p:tav tm="100000">
                                          <p:val>
                                            <p:strVal val="#ppt_h"/>
                                          </p:val>
                                        </p:tav>
                                      </p:tavLst>
                                    </p:anim>
                                  </p:childTnLst>
                                </p:cTn>
                              </p:par>
                            </p:childTnLst>
                          </p:cTn>
                        </p:par>
                        <p:par>
                          <p:cTn id="51" fill="hold" nodeType="afterGroup">
                            <p:stCondLst>
                              <p:cond delay="1500"/>
                            </p:stCondLst>
                            <p:childTnLst>
                              <p:par>
                                <p:cTn id="52" presetID="17" presetClass="entr" presetSubtype="1" fill="hold" grpId="0" nodeType="afterEffect">
                                  <p:stCondLst>
                                    <p:cond delay="0"/>
                                  </p:stCondLst>
                                  <p:childTnLst>
                                    <p:set>
                                      <p:cBhvr>
                                        <p:cTn id="53" dur="1" fill="hold">
                                          <p:stCondLst>
                                            <p:cond delay="0"/>
                                          </p:stCondLst>
                                        </p:cTn>
                                        <p:tgtEl>
                                          <p:spTgt spid="6160"/>
                                        </p:tgtEl>
                                        <p:attrNameLst>
                                          <p:attrName>style.visibility</p:attrName>
                                        </p:attrNameLst>
                                      </p:cBhvr>
                                      <p:to>
                                        <p:strVal val="visible"/>
                                      </p:to>
                                    </p:set>
                                    <p:anim calcmode="lin" valueType="num">
                                      <p:cBhvr>
                                        <p:cTn id="54" dur="500" fill="hold"/>
                                        <p:tgtEl>
                                          <p:spTgt spid="6160"/>
                                        </p:tgtEl>
                                        <p:attrNameLst>
                                          <p:attrName>ppt_x</p:attrName>
                                        </p:attrNameLst>
                                      </p:cBhvr>
                                      <p:tavLst>
                                        <p:tav tm="0">
                                          <p:val>
                                            <p:strVal val="#ppt_x"/>
                                          </p:val>
                                        </p:tav>
                                        <p:tav tm="100000">
                                          <p:val>
                                            <p:strVal val="#ppt_x"/>
                                          </p:val>
                                        </p:tav>
                                      </p:tavLst>
                                    </p:anim>
                                    <p:anim calcmode="lin" valueType="num">
                                      <p:cBhvr>
                                        <p:cTn id="55" dur="500" fill="hold"/>
                                        <p:tgtEl>
                                          <p:spTgt spid="6160"/>
                                        </p:tgtEl>
                                        <p:attrNameLst>
                                          <p:attrName>ppt_y</p:attrName>
                                        </p:attrNameLst>
                                      </p:cBhvr>
                                      <p:tavLst>
                                        <p:tav tm="0">
                                          <p:val>
                                            <p:strVal val="#ppt_y-#ppt_h/2"/>
                                          </p:val>
                                        </p:tav>
                                        <p:tav tm="100000">
                                          <p:val>
                                            <p:strVal val="#ppt_y"/>
                                          </p:val>
                                        </p:tav>
                                      </p:tavLst>
                                    </p:anim>
                                    <p:anim calcmode="lin" valueType="num">
                                      <p:cBhvr>
                                        <p:cTn id="56" dur="500" fill="hold"/>
                                        <p:tgtEl>
                                          <p:spTgt spid="6160"/>
                                        </p:tgtEl>
                                        <p:attrNameLst>
                                          <p:attrName>ppt_w</p:attrName>
                                        </p:attrNameLst>
                                      </p:cBhvr>
                                      <p:tavLst>
                                        <p:tav tm="0">
                                          <p:val>
                                            <p:strVal val="#ppt_w"/>
                                          </p:val>
                                        </p:tav>
                                        <p:tav tm="100000">
                                          <p:val>
                                            <p:strVal val="#ppt_w"/>
                                          </p:val>
                                        </p:tav>
                                      </p:tavLst>
                                    </p:anim>
                                    <p:anim calcmode="lin" valueType="num">
                                      <p:cBhvr>
                                        <p:cTn id="57" dur="500" fill="hold"/>
                                        <p:tgtEl>
                                          <p:spTgt spid="616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8" grpId="0" autoUpdateAnimBg="0"/>
      <p:bldP spid="6151" grpId="0" autoUpdateAnimBg="0"/>
      <p:bldP spid="6152" grpId="0" animBg="1" autoUpdateAnimBg="0"/>
      <p:bldP spid="6153" grpId="0" animBg="1" autoUpdateAnimBg="0"/>
      <p:bldP spid="6156" grpId="0" animBg="1" autoUpdateAnimBg="0"/>
      <p:bldP spid="6157" grpId="0" animBg="1" autoUpdateAnimBg="0"/>
      <p:bldP spid="6158" grpId="0" animBg="1"/>
      <p:bldP spid="6159" grpId="0" animBg="1"/>
      <p:bldP spid="616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57200" y="533400"/>
            <a:ext cx="8093075"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4000">
                <a:ea typeface="楷体_GB2312" charset="0"/>
              </a:rPr>
              <a:t>　</a:t>
            </a:r>
            <a:r>
              <a:rPr lang="zh-CN" altLang="en-US" sz="4000">
                <a:solidFill>
                  <a:srgbClr val="006666"/>
                </a:solidFill>
                <a:ea typeface="楷体_GB2312" charset="0"/>
              </a:rPr>
              <a:t>基于不同的“</a:t>
            </a:r>
            <a:r>
              <a:rPr lang="zh-CN" altLang="en-US" sz="4000" b="1">
                <a:solidFill>
                  <a:srgbClr val="006666"/>
                </a:solidFill>
                <a:ea typeface="楷体_GB2312" charset="0"/>
              </a:rPr>
              <a:t>扩大</a:t>
            </a:r>
            <a:r>
              <a:rPr lang="zh-CN" altLang="en-US" sz="4000">
                <a:solidFill>
                  <a:srgbClr val="006666"/>
                </a:solidFill>
                <a:ea typeface="楷体_GB2312" charset="0"/>
              </a:rPr>
              <a:t>”</a:t>
            </a:r>
            <a:r>
              <a:rPr lang="zh-CN" altLang="en-US" sz="4000" b="1">
                <a:solidFill>
                  <a:srgbClr val="006666"/>
                </a:solidFill>
                <a:ea typeface="楷体_GB2312" charset="0"/>
              </a:rPr>
              <a:t> </a:t>
            </a:r>
            <a:r>
              <a:rPr lang="zh-CN" altLang="en-US" sz="4000">
                <a:solidFill>
                  <a:srgbClr val="006666"/>
                </a:solidFill>
                <a:ea typeface="楷体_GB2312" charset="0"/>
              </a:rPr>
              <a:t>有序序列长度的</a:t>
            </a:r>
            <a:r>
              <a:rPr lang="zh-CN" altLang="en-US" sz="4000" b="1">
                <a:solidFill>
                  <a:srgbClr val="006666"/>
                </a:solidFill>
                <a:ea typeface="楷体_GB2312" charset="0"/>
              </a:rPr>
              <a:t>方法，内部排序方法</a:t>
            </a:r>
            <a:r>
              <a:rPr lang="zh-CN" altLang="en-US" sz="4000">
                <a:solidFill>
                  <a:srgbClr val="006666"/>
                </a:solidFill>
                <a:ea typeface="楷体_GB2312" charset="0"/>
              </a:rPr>
              <a:t>大致可分下列几种类型：</a:t>
            </a:r>
          </a:p>
        </p:txBody>
      </p:sp>
      <p:sp>
        <p:nvSpPr>
          <p:cNvPr id="8198" name="Text Box 6">
            <a:hlinkClick r:id="rId2" action="ppaction://hlinksldjump" highlightClick="1"/>
          </p:cNvPr>
          <p:cNvSpPr txBox="1">
            <a:spLocks noChangeArrowheads="1"/>
          </p:cNvSpPr>
          <p:nvPr/>
        </p:nvSpPr>
        <p:spPr bwMode="auto">
          <a:xfrm>
            <a:off x="838200" y="3573463"/>
            <a:ext cx="18748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660066"/>
                </a:solidFill>
                <a:ea typeface="楷体_GB2312" charset="0"/>
              </a:rPr>
              <a:t>插入类</a:t>
            </a:r>
            <a:endParaRPr lang="zh-CN" altLang="en-US" sz="4800" b="1">
              <a:solidFill>
                <a:srgbClr val="800080"/>
              </a:solidFill>
              <a:ea typeface="楷体_GB2312" charset="0"/>
            </a:endParaRPr>
          </a:p>
        </p:txBody>
      </p:sp>
      <p:sp>
        <p:nvSpPr>
          <p:cNvPr id="8199" name="Text Box 7">
            <a:hlinkClick r:id="rId3" action="ppaction://hlinksldjump" highlightClick="1"/>
          </p:cNvPr>
          <p:cNvSpPr txBox="1">
            <a:spLocks noChangeArrowheads="1"/>
          </p:cNvSpPr>
          <p:nvPr/>
        </p:nvSpPr>
        <p:spPr bwMode="auto">
          <a:xfrm>
            <a:off x="3657600" y="3573463"/>
            <a:ext cx="18748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800080"/>
                </a:solidFill>
                <a:ea typeface="楷体_GB2312" charset="0"/>
              </a:rPr>
              <a:t>交换类</a:t>
            </a:r>
            <a:endParaRPr lang="zh-CN" altLang="en-US" sz="4800" b="1">
              <a:solidFill>
                <a:srgbClr val="800080"/>
              </a:solidFill>
              <a:ea typeface="楷体_GB2312" charset="0"/>
            </a:endParaRPr>
          </a:p>
        </p:txBody>
      </p:sp>
      <p:sp>
        <p:nvSpPr>
          <p:cNvPr id="8200" name="Text Box 8">
            <a:hlinkClick r:id="rId4" action="ppaction://hlinksldjump" highlightClick="1"/>
          </p:cNvPr>
          <p:cNvSpPr txBox="1">
            <a:spLocks noChangeArrowheads="1"/>
          </p:cNvSpPr>
          <p:nvPr/>
        </p:nvSpPr>
        <p:spPr bwMode="auto">
          <a:xfrm>
            <a:off x="6477000" y="3573463"/>
            <a:ext cx="18748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800080"/>
                </a:solidFill>
                <a:ea typeface="楷体_GB2312" charset="0"/>
              </a:rPr>
              <a:t>选择类</a:t>
            </a:r>
            <a:endParaRPr lang="zh-CN" altLang="en-US" sz="4800" b="1">
              <a:solidFill>
                <a:srgbClr val="800080"/>
              </a:solidFill>
              <a:ea typeface="楷体_GB2312" charset="0"/>
            </a:endParaRPr>
          </a:p>
        </p:txBody>
      </p:sp>
      <p:sp>
        <p:nvSpPr>
          <p:cNvPr id="8201" name="Text Box 9">
            <a:hlinkClick r:id="rId5" action="ppaction://hlinksldjump"/>
          </p:cNvPr>
          <p:cNvSpPr txBox="1">
            <a:spLocks noChangeArrowheads="1"/>
          </p:cNvSpPr>
          <p:nvPr/>
        </p:nvSpPr>
        <p:spPr bwMode="auto">
          <a:xfrm>
            <a:off x="1782763" y="4876800"/>
            <a:ext cx="20145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400" b="1">
                <a:solidFill>
                  <a:srgbClr val="800080"/>
                </a:solidFill>
                <a:ea typeface="楷体_GB2312" charset="0"/>
              </a:rPr>
              <a:t> </a:t>
            </a:r>
            <a:r>
              <a:rPr lang="zh-CN" altLang="en-US" sz="4400" b="1">
                <a:solidFill>
                  <a:srgbClr val="800080"/>
                </a:solidFill>
                <a:ea typeface="楷体_GB2312" charset="0"/>
              </a:rPr>
              <a:t>归并类</a:t>
            </a:r>
            <a:endParaRPr lang="zh-CN" altLang="en-US" sz="4800" b="1">
              <a:solidFill>
                <a:srgbClr val="800080"/>
              </a:solidFill>
              <a:ea typeface="楷体_GB2312" charset="0"/>
            </a:endParaRPr>
          </a:p>
        </p:txBody>
      </p:sp>
      <p:sp>
        <p:nvSpPr>
          <p:cNvPr id="8202" name="Text Box 10">
            <a:hlinkClick r:id="rId5" action="ppaction://hlinksldjump" highlightClick="1"/>
          </p:cNvPr>
          <p:cNvSpPr txBox="1">
            <a:spLocks noChangeArrowheads="1"/>
          </p:cNvSpPr>
          <p:nvPr/>
        </p:nvSpPr>
        <p:spPr bwMode="auto">
          <a:xfrm>
            <a:off x="4953000" y="4876800"/>
            <a:ext cx="2438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800080"/>
                </a:solidFill>
                <a:ea typeface="楷体_GB2312" charset="0"/>
              </a:rPr>
              <a:t>其它方法</a:t>
            </a:r>
          </a:p>
        </p:txBody>
      </p:sp>
    </p:spTree>
    <p:extLst>
      <p:ext uri="{BB962C8B-B14F-4D97-AF65-F5344CB8AC3E}">
        <p14:creationId xmlns:p14="http://schemas.microsoft.com/office/powerpoint/2010/main" val="9791191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194"/>
                                        </p:tgtEl>
                                        <p:attrNameLst>
                                          <p:attrName>style.visibility</p:attrName>
                                        </p:attrNameLst>
                                      </p:cBhvr>
                                      <p:to>
                                        <p:strVal val="visible"/>
                                      </p:to>
                                    </p:set>
                                    <p:animEffect transition="in" filter="wipe(left)">
                                      <p:cBhvr>
                                        <p:cTn id="7" dur="3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slide(fromLeft)">
                                      <p:cBhvr>
                                        <p:cTn id="12" dur="500"/>
                                        <p:tgtEl>
                                          <p:spTgt spid="8198"/>
                                        </p:tgtEl>
                                      </p:cBhvr>
                                    </p:animEffect>
                                  </p:childTnLst>
                                </p:cTn>
                              </p:par>
                            </p:childTnLst>
                          </p:cTn>
                        </p:par>
                        <p:par>
                          <p:cTn id="13" fill="hold" nodeType="afterGroup">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8199"/>
                                        </p:tgtEl>
                                        <p:attrNameLst>
                                          <p:attrName>style.visibility</p:attrName>
                                        </p:attrNameLst>
                                      </p:cBhvr>
                                      <p:to>
                                        <p:strVal val="visible"/>
                                      </p:to>
                                    </p:set>
                                    <p:animEffect transition="in" filter="slide(fromLeft)">
                                      <p:cBhvr>
                                        <p:cTn id="16" dur="500"/>
                                        <p:tgtEl>
                                          <p:spTgt spid="8199"/>
                                        </p:tgtEl>
                                      </p:cBhvr>
                                    </p:animEffect>
                                  </p:childTnLst>
                                </p:cTn>
                              </p:par>
                            </p:childTnLst>
                          </p:cTn>
                        </p:par>
                        <p:par>
                          <p:cTn id="17" fill="hold" nodeType="afterGroup">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8200"/>
                                        </p:tgtEl>
                                        <p:attrNameLst>
                                          <p:attrName>style.visibility</p:attrName>
                                        </p:attrNameLst>
                                      </p:cBhvr>
                                      <p:to>
                                        <p:strVal val="visible"/>
                                      </p:to>
                                    </p:set>
                                    <p:animEffect transition="in" filter="slide(fromLeft)">
                                      <p:cBhvr>
                                        <p:cTn id="20" dur="500"/>
                                        <p:tgtEl>
                                          <p:spTgt spid="8200"/>
                                        </p:tgtEl>
                                      </p:cBhvr>
                                    </p:animEffect>
                                  </p:childTnLst>
                                </p:cTn>
                              </p:par>
                            </p:childTnLst>
                          </p:cTn>
                        </p:par>
                        <p:par>
                          <p:cTn id="21" fill="hold" nodeType="afterGroup">
                            <p:stCondLst>
                              <p:cond delay="1500"/>
                            </p:stCondLst>
                            <p:childTnLst>
                              <p:par>
                                <p:cTn id="22" presetID="12" presetClass="entr" presetSubtype="8" fill="hold" grpId="0" nodeType="afterEffect">
                                  <p:stCondLst>
                                    <p:cond delay="0"/>
                                  </p:stCondLst>
                                  <p:childTnLst>
                                    <p:set>
                                      <p:cBhvr>
                                        <p:cTn id="23" dur="1" fill="hold">
                                          <p:stCondLst>
                                            <p:cond delay="0"/>
                                          </p:stCondLst>
                                        </p:cTn>
                                        <p:tgtEl>
                                          <p:spTgt spid="8201"/>
                                        </p:tgtEl>
                                        <p:attrNameLst>
                                          <p:attrName>style.visibility</p:attrName>
                                        </p:attrNameLst>
                                      </p:cBhvr>
                                      <p:to>
                                        <p:strVal val="visible"/>
                                      </p:to>
                                    </p:set>
                                    <p:animEffect transition="in" filter="slide(fromLeft)">
                                      <p:cBhvr>
                                        <p:cTn id="24" dur="500"/>
                                        <p:tgtEl>
                                          <p:spTgt spid="8201"/>
                                        </p:tgtEl>
                                      </p:cBhvr>
                                    </p:animEffect>
                                  </p:childTnLst>
                                </p:cTn>
                              </p:par>
                            </p:childTnLst>
                          </p:cTn>
                        </p:par>
                        <p:par>
                          <p:cTn id="25" fill="hold" nodeType="afterGroup">
                            <p:stCondLst>
                              <p:cond delay="2000"/>
                            </p:stCondLst>
                            <p:childTnLst>
                              <p:par>
                                <p:cTn id="26" presetID="12" presetClass="entr" presetSubtype="8" fill="hold" grpId="0" nodeType="afterEffect">
                                  <p:stCondLst>
                                    <p:cond delay="0"/>
                                  </p:stCondLst>
                                  <p:childTnLst>
                                    <p:set>
                                      <p:cBhvr>
                                        <p:cTn id="27" dur="1" fill="hold">
                                          <p:stCondLst>
                                            <p:cond delay="0"/>
                                          </p:stCondLst>
                                        </p:cTn>
                                        <p:tgtEl>
                                          <p:spTgt spid="8202"/>
                                        </p:tgtEl>
                                        <p:attrNameLst>
                                          <p:attrName>style.visibility</p:attrName>
                                        </p:attrNameLst>
                                      </p:cBhvr>
                                      <p:to>
                                        <p:strVal val="visible"/>
                                      </p:to>
                                    </p:set>
                                    <p:animEffect transition="in" filter="slide(fromLeft)">
                                      <p:cBhvr>
                                        <p:cTn id="28" dur="500"/>
                                        <p:tgtEl>
                                          <p:spTgt spid="8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8" grpId="0" autoUpdateAnimBg="0"/>
      <p:bldP spid="8199" grpId="0" autoUpdateAnimBg="0"/>
      <p:bldP spid="8200" grpId="0" autoUpdateAnimBg="0"/>
      <p:bldP spid="8201" grpId="0" autoUpdateAnimBg="0"/>
      <p:bldP spid="820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3074"/>
          <p:cNvSpPr txBox="1">
            <a:spLocks noChangeArrowheads="1"/>
          </p:cNvSpPr>
          <p:nvPr/>
        </p:nvSpPr>
        <p:spPr bwMode="auto">
          <a:xfrm>
            <a:off x="685800" y="228600"/>
            <a:ext cx="63214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9999"/>
                </a:solidFill>
                <a:ea typeface="楷体_GB2312" charset="0"/>
              </a:rPr>
              <a:t>待排记录的数据类型定义如下</a:t>
            </a:r>
            <a:r>
              <a:rPr lang="en-US" altLang="zh-CN" sz="3600" b="1">
                <a:solidFill>
                  <a:srgbClr val="009999"/>
                </a:solidFill>
                <a:ea typeface="楷体_GB2312" charset="0"/>
              </a:rPr>
              <a:t>:</a:t>
            </a:r>
            <a:endParaRPr lang="en-US" altLang="zh-CN" sz="3600">
              <a:solidFill>
                <a:srgbClr val="990000"/>
              </a:solidFill>
              <a:ea typeface="楷体_GB2312" charset="0"/>
            </a:endParaRPr>
          </a:p>
        </p:txBody>
      </p:sp>
      <p:sp>
        <p:nvSpPr>
          <p:cNvPr id="131075" name="Text Box 3075"/>
          <p:cNvSpPr txBox="1">
            <a:spLocks noChangeArrowheads="1"/>
          </p:cNvSpPr>
          <p:nvPr/>
        </p:nvSpPr>
        <p:spPr bwMode="auto">
          <a:xfrm>
            <a:off x="593725" y="152400"/>
            <a:ext cx="8093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009999"/>
                </a:solidFill>
                <a:ea typeface="楷体_GB2312" charset="0"/>
              </a:rPr>
              <a:t>#define MAXSIZE  1000</a:t>
            </a:r>
            <a:r>
              <a:rPr lang="en-US" altLang="zh-CN" sz="3600" b="1">
                <a:solidFill>
                  <a:srgbClr val="009999"/>
                </a:solidFill>
                <a:ea typeface="楷体_GB2312" charset="0"/>
              </a:rPr>
              <a:t> </a:t>
            </a:r>
            <a:r>
              <a:rPr lang="en-US" altLang="zh-CN" sz="2800" b="1">
                <a:solidFill>
                  <a:srgbClr val="005042"/>
                </a:solidFill>
                <a:ea typeface="楷体_GB2312" charset="0"/>
              </a:rPr>
              <a:t>// </a:t>
            </a:r>
            <a:r>
              <a:rPr lang="zh-CN" altLang="en-US" sz="2800" b="1">
                <a:solidFill>
                  <a:srgbClr val="005042"/>
                </a:solidFill>
                <a:ea typeface="楷体_GB2312" charset="0"/>
              </a:rPr>
              <a:t>待排顺序表最大长度</a:t>
            </a:r>
            <a:endParaRPr lang="zh-CN" altLang="en-US" sz="3600">
              <a:ea typeface="楷体_GB2312" charset="0"/>
            </a:endParaRPr>
          </a:p>
        </p:txBody>
      </p:sp>
      <p:sp>
        <p:nvSpPr>
          <p:cNvPr id="131076" name="Text Box 3076"/>
          <p:cNvSpPr txBox="1">
            <a:spLocks noChangeArrowheads="1"/>
          </p:cNvSpPr>
          <p:nvPr/>
        </p:nvSpPr>
        <p:spPr bwMode="auto">
          <a:xfrm>
            <a:off x="609600" y="793750"/>
            <a:ext cx="81676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009999"/>
                </a:solidFill>
                <a:ea typeface="楷体_GB2312" charset="0"/>
              </a:rPr>
              <a:t>typedef  int  KeyType;</a:t>
            </a:r>
            <a:r>
              <a:rPr lang="en-US" altLang="zh-CN" sz="3600" b="1">
                <a:solidFill>
                  <a:srgbClr val="009999"/>
                </a:solidFill>
                <a:ea typeface="楷体_GB2312" charset="0"/>
              </a:rPr>
              <a:t>  </a:t>
            </a:r>
            <a:r>
              <a:rPr lang="en-US" altLang="zh-CN" sz="2800" b="1">
                <a:solidFill>
                  <a:srgbClr val="005042"/>
                </a:solidFill>
                <a:ea typeface="楷体_GB2312" charset="0"/>
              </a:rPr>
              <a:t>// </a:t>
            </a:r>
            <a:r>
              <a:rPr lang="zh-CN" altLang="en-US" sz="2800" b="1">
                <a:solidFill>
                  <a:srgbClr val="005042"/>
                </a:solidFill>
                <a:ea typeface="楷体_GB2312" charset="0"/>
              </a:rPr>
              <a:t>关键字类型为整数类型</a:t>
            </a:r>
            <a:endParaRPr lang="zh-CN" altLang="en-US" sz="3600">
              <a:ea typeface="楷体_GB2312" charset="0"/>
            </a:endParaRPr>
          </a:p>
        </p:txBody>
      </p:sp>
      <p:sp>
        <p:nvSpPr>
          <p:cNvPr id="131077" name="Text Box 3077"/>
          <p:cNvSpPr txBox="1">
            <a:spLocks noChangeArrowheads="1"/>
          </p:cNvSpPr>
          <p:nvPr/>
        </p:nvSpPr>
        <p:spPr bwMode="auto">
          <a:xfrm>
            <a:off x="609600" y="1476375"/>
            <a:ext cx="67119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200" b="1">
                <a:solidFill>
                  <a:srgbClr val="009999"/>
                </a:solidFill>
                <a:ea typeface="楷体_GB2312" charset="0"/>
              </a:rPr>
              <a:t>typedef  struct {</a:t>
            </a:r>
          </a:p>
          <a:p>
            <a:pPr algn="l">
              <a:lnSpc>
                <a:spcPct val="125000"/>
              </a:lnSpc>
            </a:pPr>
            <a:r>
              <a:rPr lang="en-US" altLang="zh-CN" sz="3200" b="1">
                <a:solidFill>
                  <a:srgbClr val="009999"/>
                </a:solidFill>
                <a:ea typeface="楷体_GB2312" charset="0"/>
              </a:rPr>
              <a:t>   KeyType   key;             </a:t>
            </a:r>
            <a:r>
              <a:rPr lang="en-US" altLang="zh-CN" sz="3200" b="1">
                <a:solidFill>
                  <a:srgbClr val="005042"/>
                </a:solidFill>
                <a:ea typeface="楷体_GB2312" charset="0"/>
              </a:rPr>
              <a:t>// </a:t>
            </a:r>
            <a:r>
              <a:rPr lang="zh-CN" altLang="en-US" sz="3200" b="1">
                <a:solidFill>
                  <a:srgbClr val="005042"/>
                </a:solidFill>
                <a:ea typeface="楷体_GB2312" charset="0"/>
              </a:rPr>
              <a:t>关键字项</a:t>
            </a:r>
            <a:endParaRPr lang="zh-CN" altLang="en-US" sz="3200" b="1">
              <a:solidFill>
                <a:srgbClr val="009999"/>
              </a:solidFill>
              <a:ea typeface="楷体_GB2312" charset="0"/>
            </a:endParaRPr>
          </a:p>
          <a:p>
            <a:pPr algn="l">
              <a:lnSpc>
                <a:spcPct val="125000"/>
              </a:lnSpc>
            </a:pPr>
            <a:r>
              <a:rPr lang="zh-CN" altLang="en-US" sz="3200" b="1">
                <a:solidFill>
                  <a:srgbClr val="009999"/>
                </a:solidFill>
                <a:ea typeface="楷体_GB2312" charset="0"/>
              </a:rPr>
              <a:t>    </a:t>
            </a:r>
            <a:r>
              <a:rPr lang="en-US" altLang="zh-CN" sz="3200" b="1">
                <a:solidFill>
                  <a:srgbClr val="009999"/>
                </a:solidFill>
                <a:ea typeface="楷体_GB2312" charset="0"/>
              </a:rPr>
              <a:t>InfoType  otherinfo;  </a:t>
            </a:r>
            <a:r>
              <a:rPr lang="en-US" altLang="zh-CN" sz="3200" b="1">
                <a:solidFill>
                  <a:srgbClr val="005042"/>
                </a:solidFill>
                <a:ea typeface="楷体_GB2312" charset="0"/>
              </a:rPr>
              <a:t>// </a:t>
            </a:r>
            <a:r>
              <a:rPr lang="zh-CN" altLang="en-US" sz="3200" b="1">
                <a:solidFill>
                  <a:srgbClr val="005042"/>
                </a:solidFill>
                <a:ea typeface="楷体_GB2312" charset="0"/>
              </a:rPr>
              <a:t>其它数据项</a:t>
            </a:r>
            <a:endParaRPr lang="zh-CN" altLang="en-US" sz="3200" b="1">
              <a:solidFill>
                <a:srgbClr val="009999"/>
              </a:solidFill>
              <a:ea typeface="楷体_GB2312" charset="0"/>
            </a:endParaRPr>
          </a:p>
          <a:p>
            <a:pPr algn="l">
              <a:lnSpc>
                <a:spcPct val="125000"/>
              </a:lnSpc>
            </a:pPr>
            <a:r>
              <a:rPr lang="en-US" altLang="zh-CN" sz="3200" b="1">
                <a:solidFill>
                  <a:srgbClr val="009999"/>
                </a:solidFill>
                <a:ea typeface="楷体_GB2312" charset="0"/>
              </a:rPr>
              <a:t>} RcdType;                     </a:t>
            </a:r>
            <a:r>
              <a:rPr lang="en-US" altLang="zh-CN" sz="3200" b="1">
                <a:solidFill>
                  <a:srgbClr val="005042"/>
                </a:solidFill>
                <a:ea typeface="楷体_GB2312" charset="0"/>
              </a:rPr>
              <a:t>// </a:t>
            </a:r>
            <a:r>
              <a:rPr lang="zh-CN" altLang="en-US" sz="3200" b="1">
                <a:solidFill>
                  <a:srgbClr val="005042"/>
                </a:solidFill>
                <a:ea typeface="楷体_GB2312" charset="0"/>
              </a:rPr>
              <a:t>记录类型</a:t>
            </a:r>
            <a:endParaRPr lang="zh-CN" altLang="en-US" sz="2800" b="1">
              <a:solidFill>
                <a:srgbClr val="009999"/>
              </a:solidFill>
              <a:ea typeface="楷体_GB2312" charset="0"/>
            </a:endParaRPr>
          </a:p>
        </p:txBody>
      </p:sp>
      <p:sp>
        <p:nvSpPr>
          <p:cNvPr id="131078" name="Text Box 3078"/>
          <p:cNvSpPr txBox="1">
            <a:spLocks noChangeArrowheads="1"/>
          </p:cNvSpPr>
          <p:nvPr/>
        </p:nvSpPr>
        <p:spPr bwMode="auto">
          <a:xfrm>
            <a:off x="609600" y="4098925"/>
            <a:ext cx="7399338"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200" b="1">
                <a:solidFill>
                  <a:srgbClr val="009999"/>
                </a:solidFill>
                <a:ea typeface="楷体_GB2312" charset="0"/>
              </a:rPr>
              <a:t>typedef  struct {</a:t>
            </a:r>
          </a:p>
          <a:p>
            <a:pPr algn="l">
              <a:lnSpc>
                <a:spcPct val="125000"/>
              </a:lnSpc>
            </a:pPr>
            <a:r>
              <a:rPr lang="en-US" altLang="zh-CN" sz="3200" b="1">
                <a:solidFill>
                  <a:srgbClr val="009999"/>
                </a:solidFill>
                <a:ea typeface="楷体_GB2312" charset="0"/>
              </a:rPr>
              <a:t>    RcdType    r[MAXSIZE+1]; </a:t>
            </a:r>
            <a:r>
              <a:rPr lang="en-US" altLang="zh-CN" sz="3200" b="1">
                <a:solidFill>
                  <a:srgbClr val="005042"/>
                </a:solidFill>
                <a:ea typeface="楷体_GB2312" charset="0"/>
              </a:rPr>
              <a:t>// r[0]</a:t>
            </a:r>
            <a:r>
              <a:rPr lang="zh-CN" altLang="en-US" sz="3200" b="1">
                <a:solidFill>
                  <a:srgbClr val="005042"/>
                </a:solidFill>
                <a:ea typeface="楷体_GB2312" charset="0"/>
              </a:rPr>
              <a:t>闲置</a:t>
            </a:r>
            <a:endParaRPr lang="zh-CN" altLang="en-US" sz="3200" b="1">
              <a:solidFill>
                <a:srgbClr val="009999"/>
              </a:solidFill>
              <a:ea typeface="楷体_GB2312" charset="0"/>
            </a:endParaRPr>
          </a:p>
          <a:p>
            <a:pPr algn="l">
              <a:lnSpc>
                <a:spcPct val="125000"/>
              </a:lnSpc>
            </a:pPr>
            <a:r>
              <a:rPr lang="zh-CN" altLang="en-US" sz="3200" b="1">
                <a:solidFill>
                  <a:srgbClr val="009999"/>
                </a:solidFill>
                <a:ea typeface="楷体_GB2312" charset="0"/>
              </a:rPr>
              <a:t>    </a:t>
            </a:r>
            <a:r>
              <a:rPr lang="en-US" altLang="zh-CN" sz="3200" b="1">
                <a:solidFill>
                  <a:srgbClr val="009999"/>
                </a:solidFill>
                <a:ea typeface="楷体_GB2312" charset="0"/>
              </a:rPr>
              <a:t>int               length;            </a:t>
            </a:r>
            <a:r>
              <a:rPr lang="en-US" altLang="zh-CN" sz="3200" b="1">
                <a:solidFill>
                  <a:srgbClr val="005042"/>
                </a:solidFill>
                <a:ea typeface="楷体_GB2312" charset="0"/>
              </a:rPr>
              <a:t>// </a:t>
            </a:r>
            <a:r>
              <a:rPr lang="zh-CN" altLang="en-US" sz="3200" b="1">
                <a:solidFill>
                  <a:srgbClr val="005042"/>
                </a:solidFill>
                <a:ea typeface="楷体_GB2312" charset="0"/>
              </a:rPr>
              <a:t>顺序表长度</a:t>
            </a:r>
            <a:endParaRPr lang="zh-CN" altLang="en-US" sz="3200" b="1">
              <a:solidFill>
                <a:srgbClr val="009999"/>
              </a:solidFill>
              <a:ea typeface="楷体_GB2312" charset="0"/>
            </a:endParaRPr>
          </a:p>
          <a:p>
            <a:pPr algn="l">
              <a:lnSpc>
                <a:spcPct val="125000"/>
              </a:lnSpc>
            </a:pPr>
            <a:r>
              <a:rPr lang="en-US" altLang="zh-CN" sz="3200" b="1">
                <a:solidFill>
                  <a:srgbClr val="009999"/>
                </a:solidFill>
                <a:ea typeface="楷体_GB2312" charset="0"/>
              </a:rPr>
              <a:t>} SqList;                                </a:t>
            </a:r>
            <a:r>
              <a:rPr lang="en-US" altLang="zh-CN" sz="3200" b="1">
                <a:solidFill>
                  <a:srgbClr val="005042"/>
                </a:solidFill>
                <a:ea typeface="楷体_GB2312" charset="0"/>
              </a:rPr>
              <a:t>// </a:t>
            </a:r>
            <a:r>
              <a:rPr lang="zh-CN" altLang="en-US" sz="3200" b="1">
                <a:solidFill>
                  <a:srgbClr val="005042"/>
                </a:solidFill>
                <a:ea typeface="楷体_GB2312" charset="0"/>
              </a:rPr>
              <a:t>顺序表类型</a:t>
            </a:r>
            <a:endParaRPr lang="zh-CN" altLang="en-US" sz="3200" b="1">
              <a:solidFill>
                <a:srgbClr val="009999"/>
              </a:solidFill>
              <a:ea typeface="楷体_GB2312" charset="0"/>
            </a:endParaRPr>
          </a:p>
        </p:txBody>
      </p:sp>
      <p:sp>
        <p:nvSpPr>
          <p:cNvPr id="131080" name="AutoShape 3080">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860316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1074"/>
                                        </p:tgtEl>
                                        <p:attrNameLst>
                                          <p:attrName>style.visibility</p:attrName>
                                        </p:attrNameLst>
                                      </p:cBhvr>
                                      <p:to>
                                        <p:strVal val="visible"/>
                                      </p:to>
                                    </p:set>
                                    <p:anim calcmode="lin" valueType="num">
                                      <p:cBhvr additive="base">
                                        <p:cTn id="7" dur="500" fill="hold"/>
                                        <p:tgtEl>
                                          <p:spTgt spid="131074"/>
                                        </p:tgtEl>
                                        <p:attrNameLst>
                                          <p:attrName>ppt_x</p:attrName>
                                        </p:attrNameLst>
                                      </p:cBhvr>
                                      <p:tavLst>
                                        <p:tav tm="0">
                                          <p:val>
                                            <p:strVal val="0-#ppt_w/2"/>
                                          </p:val>
                                        </p:tav>
                                        <p:tav tm="100000">
                                          <p:val>
                                            <p:strVal val="#ppt_x"/>
                                          </p:val>
                                        </p:tav>
                                      </p:tavLst>
                                    </p:anim>
                                    <p:anim calcmode="lin" valueType="num">
                                      <p:cBhvr additive="base">
                                        <p:cTn id="8" dur="500" fill="hold"/>
                                        <p:tgtEl>
                                          <p:spTgt spid="13107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31074"/>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31075"/>
                                        </p:tgtEl>
                                        <p:attrNameLst>
                                          <p:attrName>style.visibility</p:attrName>
                                        </p:attrNameLst>
                                      </p:cBhvr>
                                      <p:to>
                                        <p:strVal val="visible"/>
                                      </p:to>
                                    </p:set>
                                    <p:animEffect transition="in" filter="strips(downRight)">
                                      <p:cBhvr>
                                        <p:cTn id="13" dur="500"/>
                                        <p:tgtEl>
                                          <p:spTgt spid="13107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31076"/>
                                        </p:tgtEl>
                                        <p:attrNameLst>
                                          <p:attrName>style.visibility</p:attrName>
                                        </p:attrNameLst>
                                      </p:cBhvr>
                                      <p:to>
                                        <p:strVal val="visible"/>
                                      </p:to>
                                    </p:set>
                                    <p:animEffect transition="in" filter="strips(downRight)">
                                      <p:cBhvr>
                                        <p:cTn id="18" dur="500"/>
                                        <p:tgtEl>
                                          <p:spTgt spid="13107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31077"/>
                                        </p:tgtEl>
                                        <p:attrNameLst>
                                          <p:attrName>style.visibility</p:attrName>
                                        </p:attrNameLst>
                                      </p:cBhvr>
                                      <p:to>
                                        <p:strVal val="visible"/>
                                      </p:to>
                                    </p:set>
                                    <p:animEffect transition="in" filter="strips(downRight)">
                                      <p:cBhvr>
                                        <p:cTn id="23" dur="500"/>
                                        <p:tgtEl>
                                          <p:spTgt spid="13107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31078"/>
                                        </p:tgtEl>
                                        <p:attrNameLst>
                                          <p:attrName>style.visibility</p:attrName>
                                        </p:attrNameLst>
                                      </p:cBhvr>
                                      <p:to>
                                        <p:strVal val="visible"/>
                                      </p:to>
                                    </p:set>
                                    <p:animEffect transition="in" filter="strips(downRight)">
                                      <p:cBhvr>
                                        <p:cTn id="28" dur="500"/>
                                        <p:tgtEl>
                                          <p:spTgt spid="131078"/>
                                        </p:tgtEl>
                                      </p:cBhvr>
                                    </p:animEffect>
                                  </p:childTnLst>
                                </p:cTn>
                              </p:par>
                            </p:childTnLst>
                          </p:cTn>
                        </p:par>
                        <p:par>
                          <p:cTn id="29" fill="hold" nodeType="afterGroup">
                            <p:stCondLst>
                              <p:cond delay="500"/>
                            </p:stCondLst>
                            <p:childTnLst>
                              <p:par>
                                <p:cTn id="30" presetID="2" presetClass="entr" presetSubtype="6" fill="hold" grpId="0" nodeType="afterEffect">
                                  <p:stCondLst>
                                    <p:cond delay="0"/>
                                  </p:stCondLst>
                                  <p:childTnLst>
                                    <p:set>
                                      <p:cBhvr>
                                        <p:cTn id="31" dur="1" fill="hold">
                                          <p:stCondLst>
                                            <p:cond delay="0"/>
                                          </p:stCondLst>
                                        </p:cTn>
                                        <p:tgtEl>
                                          <p:spTgt spid="131080"/>
                                        </p:tgtEl>
                                        <p:attrNameLst>
                                          <p:attrName>style.visibility</p:attrName>
                                        </p:attrNameLst>
                                      </p:cBhvr>
                                      <p:to>
                                        <p:strVal val="visible"/>
                                      </p:to>
                                    </p:set>
                                    <p:anim calcmode="lin" valueType="num">
                                      <p:cBhvr additive="base">
                                        <p:cTn id="32" dur="500" fill="hold"/>
                                        <p:tgtEl>
                                          <p:spTgt spid="131080"/>
                                        </p:tgtEl>
                                        <p:attrNameLst>
                                          <p:attrName>ppt_x</p:attrName>
                                        </p:attrNameLst>
                                      </p:cBhvr>
                                      <p:tavLst>
                                        <p:tav tm="0">
                                          <p:val>
                                            <p:strVal val="1+#ppt_w/2"/>
                                          </p:val>
                                        </p:tav>
                                        <p:tav tm="100000">
                                          <p:val>
                                            <p:strVal val="#ppt_x"/>
                                          </p:val>
                                        </p:tav>
                                      </p:tavLst>
                                    </p:anim>
                                    <p:anim calcmode="lin" valueType="num">
                                      <p:cBhvr additive="base">
                                        <p:cTn id="33" dur="500" fill="hold"/>
                                        <p:tgtEl>
                                          <p:spTgt spid="1310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autoUpdateAnimBg="0"/>
      <p:bldP spid="131075" grpId="0" autoUpdateAnimBg="0"/>
      <p:bldP spid="131076" grpId="0" autoUpdateAnimBg="0"/>
      <p:bldP spid="131077" grpId="0" autoUpdateAnimBg="0"/>
      <p:bldP spid="131078" grpId="0" autoUpdateAnimBg="0"/>
      <p:bldP spid="13108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3"/>
          <p:cNvSpPr>
            <a:spLocks noGrp="1" noChangeArrowheads="1"/>
          </p:cNvSpPr>
          <p:nvPr>
            <p:ph type="body" idx="1"/>
          </p:nvPr>
        </p:nvSpPr>
        <p:spPr>
          <a:xfrm>
            <a:off x="539750" y="1125538"/>
            <a:ext cx="7918450" cy="4970462"/>
          </a:xfrm>
        </p:spPr>
        <p:txBody>
          <a:bodyPr/>
          <a:lstStyle/>
          <a:p>
            <a:pPr>
              <a:lnSpc>
                <a:spcPct val="105000"/>
              </a:lnSpc>
            </a:pPr>
            <a:r>
              <a:rPr lang="zh-CN" altLang="en-US" sz="3600" b="1">
                <a:solidFill>
                  <a:srgbClr val="009999"/>
                </a:solidFill>
                <a:ea typeface="楷体_GB2312" charset="0"/>
              </a:rPr>
              <a:t>排序算法的稳定性</a:t>
            </a:r>
            <a:r>
              <a:rPr lang="en-US" altLang="zh-CN" sz="3600" b="1">
                <a:solidFill>
                  <a:srgbClr val="009999"/>
                </a:solidFill>
                <a:ea typeface="楷体_GB2312" charset="0"/>
              </a:rPr>
              <a:t>: </a:t>
            </a:r>
            <a:r>
              <a:rPr lang="zh-CN" altLang="en-US" sz="3600" b="1">
                <a:solidFill>
                  <a:srgbClr val="009999"/>
                </a:solidFill>
                <a:ea typeface="楷体_GB2312" charset="0"/>
              </a:rPr>
              <a:t>如果在对象序列中有两个对象</a:t>
            </a:r>
            <a:r>
              <a:rPr lang="en-US" altLang="zh-CN" sz="3600" b="1">
                <a:solidFill>
                  <a:srgbClr val="009999"/>
                </a:solidFill>
                <a:ea typeface="楷体_GB2312" charset="0"/>
              </a:rPr>
              <a:t>r[i]</a:t>
            </a:r>
            <a:r>
              <a:rPr lang="zh-CN" altLang="en-US" sz="3600" b="1">
                <a:solidFill>
                  <a:srgbClr val="009999"/>
                </a:solidFill>
                <a:ea typeface="楷体_GB2312" charset="0"/>
              </a:rPr>
              <a:t>和</a:t>
            </a:r>
            <a:r>
              <a:rPr lang="en-US" altLang="zh-CN" sz="3600" b="1">
                <a:solidFill>
                  <a:srgbClr val="009999"/>
                </a:solidFill>
                <a:ea typeface="楷体_GB2312" charset="0"/>
              </a:rPr>
              <a:t>r[j]</a:t>
            </a:r>
            <a:r>
              <a:rPr lang="zh-CN" altLang="en-US" sz="3600" b="1">
                <a:solidFill>
                  <a:srgbClr val="009999"/>
                </a:solidFill>
                <a:ea typeface="楷体_GB2312" charset="0"/>
              </a:rPr>
              <a:t>，它们的关键码 </a:t>
            </a:r>
            <a:r>
              <a:rPr lang="en-US" altLang="zh-CN" sz="3600" b="1">
                <a:solidFill>
                  <a:srgbClr val="009999"/>
                </a:solidFill>
                <a:ea typeface="楷体_GB2312" charset="0"/>
              </a:rPr>
              <a:t>k[i] == k[j]</a:t>
            </a:r>
            <a:r>
              <a:rPr lang="zh-CN" altLang="en-US" sz="3600" b="1">
                <a:solidFill>
                  <a:srgbClr val="009999"/>
                </a:solidFill>
                <a:ea typeface="楷体_GB2312" charset="0"/>
              </a:rPr>
              <a:t>，且在排序之前，对象</a:t>
            </a:r>
            <a:r>
              <a:rPr lang="en-US" altLang="zh-CN" sz="3600" b="1">
                <a:solidFill>
                  <a:srgbClr val="009999"/>
                </a:solidFill>
                <a:ea typeface="楷体_GB2312" charset="0"/>
              </a:rPr>
              <a:t>r[i]</a:t>
            </a:r>
            <a:r>
              <a:rPr lang="zh-CN" altLang="en-US" sz="3600" b="1">
                <a:solidFill>
                  <a:srgbClr val="009999"/>
                </a:solidFill>
                <a:ea typeface="楷体_GB2312" charset="0"/>
              </a:rPr>
              <a:t>排在</a:t>
            </a:r>
            <a:r>
              <a:rPr lang="en-US" altLang="zh-CN" sz="3600" b="1">
                <a:solidFill>
                  <a:srgbClr val="009999"/>
                </a:solidFill>
                <a:ea typeface="楷体_GB2312" charset="0"/>
              </a:rPr>
              <a:t>r[j]</a:t>
            </a:r>
            <a:r>
              <a:rPr lang="zh-CN" altLang="en-US" sz="3600" b="1">
                <a:solidFill>
                  <a:srgbClr val="009999"/>
                </a:solidFill>
                <a:ea typeface="楷体_GB2312" charset="0"/>
              </a:rPr>
              <a:t>前面。如果在排序之后，对象</a:t>
            </a:r>
            <a:r>
              <a:rPr lang="en-US" altLang="zh-CN" sz="3600" b="1">
                <a:solidFill>
                  <a:srgbClr val="009999"/>
                </a:solidFill>
                <a:ea typeface="楷体_GB2312" charset="0"/>
              </a:rPr>
              <a:t>r[i]</a:t>
            </a:r>
            <a:r>
              <a:rPr lang="zh-CN" altLang="en-US" sz="3600" b="1">
                <a:solidFill>
                  <a:srgbClr val="009999"/>
                </a:solidFill>
                <a:ea typeface="楷体_GB2312" charset="0"/>
              </a:rPr>
              <a:t>仍在对象</a:t>
            </a:r>
            <a:r>
              <a:rPr lang="en-US" altLang="zh-CN" sz="3600" b="1">
                <a:solidFill>
                  <a:srgbClr val="009999"/>
                </a:solidFill>
                <a:ea typeface="楷体_GB2312" charset="0"/>
              </a:rPr>
              <a:t>r[j]</a:t>
            </a:r>
            <a:r>
              <a:rPr lang="zh-CN" altLang="en-US" sz="3600" b="1">
                <a:solidFill>
                  <a:srgbClr val="009999"/>
                </a:solidFill>
                <a:ea typeface="楷体_GB2312" charset="0"/>
              </a:rPr>
              <a:t>的前面，则称这个排序方法是稳定的，否则称这个排序方法是不稳定的</a:t>
            </a:r>
          </a:p>
          <a:p>
            <a:endParaRPr lang="zh-CN" altLang="en-US" sz="3600" b="1">
              <a:solidFill>
                <a:srgbClr val="009999"/>
              </a:solidFill>
              <a:ea typeface="楷体_GB2312" charset="0"/>
            </a:endParaRPr>
          </a:p>
        </p:txBody>
      </p:sp>
    </p:spTree>
    <p:extLst>
      <p:ext uri="{BB962C8B-B14F-4D97-AF65-F5344CB8AC3E}">
        <p14:creationId xmlns:p14="http://schemas.microsoft.com/office/powerpoint/2010/main" val="13101268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611188" y="188913"/>
            <a:ext cx="80645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4000" b="1">
                <a:solidFill>
                  <a:srgbClr val="008000"/>
                </a:solidFill>
                <a:ea typeface="楷体_GB2312" charset="0"/>
              </a:rPr>
              <a:t>稳定的排序方法</a:t>
            </a:r>
            <a:r>
              <a:rPr lang="zh-CN" altLang="en-US" sz="4000" b="1">
                <a:solidFill>
                  <a:srgbClr val="000099"/>
                </a:solidFill>
                <a:ea typeface="楷体_GB2312" charset="0"/>
              </a:rPr>
              <a:t>指的是，对于两个关键字相等的记录，它们在序列中的相对位置，在排序之前和排序之后，没有发生改变</a:t>
            </a:r>
          </a:p>
        </p:txBody>
      </p:sp>
      <p:sp>
        <p:nvSpPr>
          <p:cNvPr id="150531" name="Text Box 3"/>
          <p:cNvSpPr txBox="1">
            <a:spLocks noChangeArrowheads="1"/>
          </p:cNvSpPr>
          <p:nvPr/>
        </p:nvSpPr>
        <p:spPr bwMode="auto">
          <a:xfrm>
            <a:off x="252413" y="3724275"/>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b="1">
                <a:solidFill>
                  <a:srgbClr val="003366"/>
                </a:solidFill>
              </a:rPr>
              <a:t>排序之前 </a:t>
            </a:r>
            <a:r>
              <a:rPr lang="en-US" altLang="zh-CN" sz="3600" b="1">
                <a:solidFill>
                  <a:srgbClr val="003366"/>
                </a:solidFill>
              </a:rPr>
              <a:t>:   { · · · · · </a:t>
            </a:r>
            <a:r>
              <a:rPr lang="en-US" altLang="zh-CN" sz="3600" b="1">
                <a:solidFill>
                  <a:srgbClr val="990033"/>
                </a:solidFill>
                <a:ea typeface="楷体_GB2312" charset="0"/>
              </a:rPr>
              <a:t>R</a:t>
            </a:r>
            <a:r>
              <a:rPr lang="en-US" altLang="zh-CN" sz="3600" b="1" baseline="-25000">
                <a:solidFill>
                  <a:srgbClr val="990033"/>
                </a:solidFill>
                <a:ea typeface="楷体_GB2312" charset="0"/>
              </a:rPr>
              <a:t>i</a:t>
            </a:r>
            <a:r>
              <a:rPr lang="en-US" altLang="zh-CN" sz="3600" b="1">
                <a:solidFill>
                  <a:srgbClr val="003366"/>
                </a:solidFill>
              </a:rPr>
              <a:t>(K) · · · · · </a:t>
            </a:r>
            <a:r>
              <a:rPr lang="en-US" altLang="zh-CN" sz="3600" b="1">
                <a:solidFill>
                  <a:srgbClr val="990033"/>
                </a:solidFill>
                <a:ea typeface="楷体_GB2312" charset="0"/>
              </a:rPr>
              <a:t>R</a:t>
            </a:r>
            <a:r>
              <a:rPr lang="en-US" altLang="zh-CN" sz="3600" b="1" baseline="-25000">
                <a:solidFill>
                  <a:srgbClr val="990033"/>
                </a:solidFill>
                <a:ea typeface="楷体_GB2312" charset="0"/>
              </a:rPr>
              <a:t>j</a:t>
            </a:r>
            <a:r>
              <a:rPr lang="en-US" altLang="zh-CN" sz="3600" b="1">
                <a:solidFill>
                  <a:srgbClr val="003366"/>
                </a:solidFill>
              </a:rPr>
              <a:t>(K) · · · · }</a:t>
            </a:r>
          </a:p>
        </p:txBody>
      </p:sp>
      <p:sp>
        <p:nvSpPr>
          <p:cNvPr id="150532" name="Text Box 4"/>
          <p:cNvSpPr txBox="1">
            <a:spLocks noChangeArrowheads="1"/>
          </p:cNvSpPr>
          <p:nvPr/>
        </p:nvSpPr>
        <p:spPr bwMode="auto">
          <a:xfrm>
            <a:off x="252413" y="44434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b="1">
                <a:solidFill>
                  <a:srgbClr val="003366"/>
                </a:solidFill>
              </a:rPr>
              <a:t>排序之后 </a:t>
            </a:r>
            <a:r>
              <a:rPr lang="en-US" altLang="zh-CN" sz="3600" b="1">
                <a:solidFill>
                  <a:srgbClr val="003366"/>
                </a:solidFill>
              </a:rPr>
              <a:t>:   { · · · · · </a:t>
            </a:r>
            <a:r>
              <a:rPr lang="en-US" altLang="zh-CN" sz="3600" b="1">
                <a:solidFill>
                  <a:srgbClr val="990033"/>
                </a:solidFill>
                <a:ea typeface="楷体_GB2312" charset="0"/>
              </a:rPr>
              <a:t>R</a:t>
            </a:r>
            <a:r>
              <a:rPr lang="en-US" altLang="zh-CN" sz="3600" b="1" baseline="-25000">
                <a:solidFill>
                  <a:srgbClr val="990033"/>
                </a:solidFill>
                <a:ea typeface="楷体_GB2312" charset="0"/>
              </a:rPr>
              <a:t>i</a:t>
            </a:r>
            <a:r>
              <a:rPr lang="en-US" altLang="zh-CN" sz="3600" b="1">
                <a:solidFill>
                  <a:srgbClr val="003366"/>
                </a:solidFill>
              </a:rPr>
              <a:t>(K) </a:t>
            </a:r>
            <a:r>
              <a:rPr lang="en-US" altLang="zh-CN" sz="3600" b="1">
                <a:solidFill>
                  <a:srgbClr val="990033"/>
                </a:solidFill>
                <a:ea typeface="楷体_GB2312" charset="0"/>
              </a:rPr>
              <a:t>R</a:t>
            </a:r>
            <a:r>
              <a:rPr lang="en-US" altLang="zh-CN" sz="3600" b="1" baseline="-25000">
                <a:solidFill>
                  <a:srgbClr val="990033"/>
                </a:solidFill>
                <a:ea typeface="楷体_GB2312" charset="0"/>
              </a:rPr>
              <a:t>j</a:t>
            </a:r>
            <a:r>
              <a:rPr lang="en-US" altLang="zh-CN" sz="3600" b="1">
                <a:solidFill>
                  <a:srgbClr val="003366"/>
                </a:solidFill>
              </a:rPr>
              <a:t>(K) · · · · ·· · · · ·}</a:t>
            </a:r>
          </a:p>
        </p:txBody>
      </p:sp>
    </p:spTree>
    <p:extLst>
      <p:ext uri="{BB962C8B-B14F-4D97-AF65-F5344CB8AC3E}">
        <p14:creationId xmlns:p14="http://schemas.microsoft.com/office/powerpoint/2010/main" val="1798679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0530"/>
                                        </p:tgtEl>
                                        <p:attrNameLst>
                                          <p:attrName>style.visibility</p:attrName>
                                        </p:attrNameLst>
                                      </p:cBhvr>
                                      <p:to>
                                        <p:strVal val="visible"/>
                                      </p:to>
                                    </p:set>
                                    <p:animEffect transition="in" filter="strips(downRight)">
                                      <p:cBhvr>
                                        <p:cTn id="7" dur="500"/>
                                        <p:tgtEl>
                                          <p:spTgt spid="150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0531"/>
                                        </p:tgtEl>
                                        <p:attrNameLst>
                                          <p:attrName>style.visibility</p:attrName>
                                        </p:attrNameLst>
                                      </p:cBhvr>
                                      <p:to>
                                        <p:strVal val="visible"/>
                                      </p:to>
                                    </p:set>
                                    <p:animEffect transition="in" filter="strips(downRight)">
                                      <p:cBhvr>
                                        <p:cTn id="12" dur="500"/>
                                        <p:tgtEl>
                                          <p:spTgt spid="1505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0532"/>
                                        </p:tgtEl>
                                        <p:attrNameLst>
                                          <p:attrName>style.visibility</p:attrName>
                                        </p:attrNameLst>
                                      </p:cBhvr>
                                      <p:to>
                                        <p:strVal val="visible"/>
                                      </p:to>
                                    </p:set>
                                    <p:animEffect transition="in" filter="strips(downRight)">
                                      <p:cBhvr>
                                        <p:cTn id="17" dur="500"/>
                                        <p:tgtEl>
                                          <p:spTgt spid="15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autoUpdateAnimBg="0"/>
      <p:bldP spid="150531" grpId="0" autoUpdateAnimBg="0"/>
      <p:bldP spid="15053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381000" y="260350"/>
            <a:ext cx="8270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3366"/>
                </a:solidFill>
                <a:ea typeface="楷体_GB2312" charset="0"/>
              </a:rPr>
              <a:t>排序前</a:t>
            </a:r>
            <a:r>
              <a:rPr lang="zh-CN" altLang="en-US" sz="4000" b="1">
                <a:ea typeface="楷体_GB2312" charset="0"/>
              </a:rPr>
              <a:t> </a:t>
            </a:r>
            <a:r>
              <a:rPr lang="en-US" altLang="zh-CN" sz="4000" b="1"/>
              <a:t>( 56, 34, </a:t>
            </a:r>
            <a:r>
              <a:rPr lang="en-US" altLang="zh-CN" sz="4000" b="1">
                <a:solidFill>
                  <a:srgbClr val="FF6600"/>
                </a:solidFill>
              </a:rPr>
              <a:t>47</a:t>
            </a:r>
            <a:r>
              <a:rPr lang="en-US" altLang="zh-CN" sz="4000" b="1"/>
              <a:t>, 23, 66, 18, 82,</a:t>
            </a:r>
            <a:r>
              <a:rPr lang="en-US" altLang="zh-CN" sz="4000" b="1">
                <a:solidFill>
                  <a:srgbClr val="FF99FF"/>
                </a:solidFill>
              </a:rPr>
              <a:t> </a:t>
            </a:r>
            <a:r>
              <a:rPr lang="en-US" altLang="zh-CN" sz="4000" b="1">
                <a:solidFill>
                  <a:srgbClr val="0000FF"/>
                </a:solidFill>
              </a:rPr>
              <a:t>47</a:t>
            </a:r>
            <a:r>
              <a:rPr lang="en-US" altLang="zh-CN" sz="4000" b="1"/>
              <a:t> )</a:t>
            </a:r>
          </a:p>
        </p:txBody>
      </p:sp>
      <p:sp>
        <p:nvSpPr>
          <p:cNvPr id="151555" name="Rectangle 3"/>
          <p:cNvSpPr>
            <a:spLocks noChangeArrowheads="1"/>
          </p:cNvSpPr>
          <p:nvPr/>
        </p:nvSpPr>
        <p:spPr bwMode="auto">
          <a:xfrm>
            <a:off x="381000" y="1341438"/>
            <a:ext cx="8397875"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zh-CN" altLang="en-US" sz="4000" b="1">
                <a:solidFill>
                  <a:srgbClr val="003366"/>
                </a:solidFill>
                <a:ea typeface="楷体_GB2312" charset="0"/>
              </a:rPr>
              <a:t>若排序后得到结果</a:t>
            </a:r>
            <a:endParaRPr lang="zh-CN" altLang="en-US" sz="4000" b="1"/>
          </a:p>
          <a:p>
            <a:pPr algn="l">
              <a:lnSpc>
                <a:spcPct val="125000"/>
              </a:lnSpc>
            </a:pPr>
            <a:r>
              <a:rPr lang="zh-CN" altLang="en-US" sz="4000" b="1"/>
              <a:t>              </a:t>
            </a:r>
            <a:r>
              <a:rPr lang="en-US" altLang="zh-CN" sz="4000" b="1"/>
              <a:t>( 18, 23, 34, </a:t>
            </a:r>
            <a:r>
              <a:rPr lang="en-US" altLang="zh-CN" sz="4000" b="1">
                <a:solidFill>
                  <a:srgbClr val="FF6600"/>
                </a:solidFill>
              </a:rPr>
              <a:t>47</a:t>
            </a:r>
            <a:r>
              <a:rPr lang="en-US" altLang="zh-CN" sz="4000" b="1"/>
              <a:t>, </a:t>
            </a:r>
            <a:r>
              <a:rPr lang="en-US" altLang="zh-CN" sz="4000" b="1">
                <a:solidFill>
                  <a:srgbClr val="0000FF"/>
                </a:solidFill>
              </a:rPr>
              <a:t>47</a:t>
            </a:r>
            <a:r>
              <a:rPr lang="en-US" altLang="zh-CN" sz="4000" b="1"/>
              <a:t>, 56, 66, 82 )</a:t>
            </a:r>
          </a:p>
          <a:p>
            <a:pPr algn="l">
              <a:lnSpc>
                <a:spcPct val="125000"/>
              </a:lnSpc>
            </a:pPr>
            <a:r>
              <a:rPr lang="zh-CN" altLang="en-US" sz="4000" b="1">
                <a:solidFill>
                  <a:srgbClr val="003366"/>
                </a:solidFill>
                <a:latin typeface="楷体_GB2312" charset="0"/>
                <a:ea typeface="楷体_GB2312" charset="0"/>
              </a:rPr>
              <a:t>则称该排序方法是</a:t>
            </a:r>
            <a:r>
              <a:rPr lang="zh-CN" altLang="en-US" sz="4000" b="1">
                <a:solidFill>
                  <a:srgbClr val="990000"/>
                </a:solidFill>
                <a:latin typeface="楷体_GB2312" charset="0"/>
                <a:ea typeface="楷体_GB2312" charset="0"/>
              </a:rPr>
              <a:t>稳定</a:t>
            </a:r>
            <a:r>
              <a:rPr lang="zh-CN" altLang="en-US" sz="4000" b="1">
                <a:solidFill>
                  <a:srgbClr val="003366"/>
                </a:solidFill>
                <a:latin typeface="楷体_GB2312" charset="0"/>
                <a:ea typeface="楷体_GB2312" charset="0"/>
              </a:rPr>
              <a:t>的</a:t>
            </a:r>
            <a:endParaRPr lang="zh-CN" altLang="en-US" sz="4000" b="1"/>
          </a:p>
        </p:txBody>
      </p:sp>
      <p:sp>
        <p:nvSpPr>
          <p:cNvPr id="151556" name="Rectangle 4"/>
          <p:cNvSpPr>
            <a:spLocks noChangeArrowheads="1"/>
          </p:cNvSpPr>
          <p:nvPr/>
        </p:nvSpPr>
        <p:spPr bwMode="auto">
          <a:xfrm>
            <a:off x="381000" y="3933825"/>
            <a:ext cx="8270875"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zh-CN" altLang="en-US" sz="4000" b="1">
                <a:solidFill>
                  <a:srgbClr val="003366"/>
                </a:solidFill>
                <a:ea typeface="楷体_GB2312" charset="0"/>
              </a:rPr>
              <a:t>若排序后得到结果</a:t>
            </a:r>
            <a:endParaRPr lang="zh-CN" altLang="en-US" sz="4000" b="1"/>
          </a:p>
          <a:p>
            <a:pPr algn="l">
              <a:lnSpc>
                <a:spcPct val="125000"/>
              </a:lnSpc>
            </a:pPr>
            <a:r>
              <a:rPr lang="zh-CN" altLang="en-US" sz="4000" b="1"/>
              <a:t>             </a:t>
            </a:r>
            <a:r>
              <a:rPr lang="en-US" altLang="zh-CN" sz="4000" b="1"/>
              <a:t>( 18, 23, 34,</a:t>
            </a:r>
            <a:r>
              <a:rPr lang="en-US" altLang="zh-CN" sz="4000" b="1">
                <a:solidFill>
                  <a:srgbClr val="0000FF"/>
                </a:solidFill>
              </a:rPr>
              <a:t> 47</a:t>
            </a:r>
            <a:r>
              <a:rPr lang="en-US" altLang="zh-CN" sz="4000" b="1"/>
              <a:t>, </a:t>
            </a:r>
            <a:r>
              <a:rPr lang="en-US" altLang="zh-CN" sz="4000" b="1">
                <a:solidFill>
                  <a:srgbClr val="FF6600"/>
                </a:solidFill>
              </a:rPr>
              <a:t>47</a:t>
            </a:r>
            <a:r>
              <a:rPr lang="en-US" altLang="zh-CN" sz="4000" b="1"/>
              <a:t>, 56, 66, 82 )</a:t>
            </a:r>
          </a:p>
          <a:p>
            <a:pPr algn="l">
              <a:lnSpc>
                <a:spcPct val="125000"/>
              </a:lnSpc>
            </a:pPr>
            <a:r>
              <a:rPr lang="zh-CN" altLang="en-US" sz="4000" b="1">
                <a:solidFill>
                  <a:srgbClr val="003366"/>
                </a:solidFill>
                <a:latin typeface="楷体_GB2312" charset="0"/>
                <a:ea typeface="楷体_GB2312" charset="0"/>
              </a:rPr>
              <a:t>则称该排序方法是</a:t>
            </a:r>
            <a:r>
              <a:rPr lang="zh-CN" altLang="en-US" sz="4000" b="1">
                <a:solidFill>
                  <a:srgbClr val="990000"/>
                </a:solidFill>
                <a:latin typeface="楷体_GB2312" charset="0"/>
                <a:ea typeface="楷体_GB2312" charset="0"/>
              </a:rPr>
              <a:t>不稳定</a:t>
            </a:r>
            <a:r>
              <a:rPr lang="zh-CN" altLang="en-US" sz="4000" b="1">
                <a:solidFill>
                  <a:srgbClr val="003366"/>
                </a:solidFill>
                <a:latin typeface="楷体_GB2312" charset="0"/>
                <a:ea typeface="楷体_GB2312" charset="0"/>
              </a:rPr>
              <a:t>的</a:t>
            </a:r>
          </a:p>
        </p:txBody>
      </p:sp>
    </p:spTree>
    <p:extLst>
      <p:ext uri="{BB962C8B-B14F-4D97-AF65-F5344CB8AC3E}">
        <p14:creationId xmlns:p14="http://schemas.microsoft.com/office/powerpoint/2010/main" val="8584690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wipe(left)">
                                      <p:cBhvr>
                                        <p:cTn id="7" dur="500"/>
                                        <p:tgtEl>
                                          <p:spTgt spid="151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5"/>
                                        </p:tgtEl>
                                        <p:attrNameLst>
                                          <p:attrName>style.visibility</p:attrName>
                                        </p:attrNameLst>
                                      </p:cBhvr>
                                      <p:to>
                                        <p:strVal val="visible"/>
                                      </p:to>
                                    </p:set>
                                    <p:animEffect transition="in" filter="wipe(left)">
                                      <p:cBhvr>
                                        <p:cTn id="12" dur="500"/>
                                        <p:tgtEl>
                                          <p:spTgt spid="151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1556"/>
                                        </p:tgtEl>
                                        <p:attrNameLst>
                                          <p:attrName>style.visibility</p:attrName>
                                        </p:attrNameLst>
                                      </p:cBhvr>
                                      <p:to>
                                        <p:strVal val="visible"/>
                                      </p:to>
                                    </p:set>
                                    <p:animEffect transition="in" filter="wipe(left)">
                                      <p:cBhvr>
                                        <p:cTn id="17" dur="500"/>
                                        <p:tgtEl>
                                          <p:spTgt spid="151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autoUpdateAnimBg="0"/>
      <p:bldP spid="151555" grpId="0" autoUpdateAnimBg="0"/>
      <p:bldP spid="15155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1026"/>
          <p:cNvSpPr txBox="1">
            <a:spLocks noChangeArrowheads="1"/>
          </p:cNvSpPr>
          <p:nvPr/>
        </p:nvSpPr>
        <p:spPr bwMode="auto">
          <a:xfrm>
            <a:off x="792163" y="762000"/>
            <a:ext cx="294163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5400" b="1">
                <a:solidFill>
                  <a:srgbClr val="800080"/>
                </a:solidFill>
                <a:ea typeface="楷体_GB2312" charset="0"/>
              </a:rPr>
              <a:t>1. </a:t>
            </a:r>
            <a:r>
              <a:rPr lang="zh-CN" altLang="en-US" sz="5400" b="1">
                <a:solidFill>
                  <a:srgbClr val="800080"/>
                </a:solidFill>
                <a:ea typeface="楷体_GB2312" charset="0"/>
              </a:rPr>
              <a:t>插入类</a:t>
            </a:r>
            <a:endParaRPr lang="zh-CN" altLang="en-US" sz="4800" b="1">
              <a:solidFill>
                <a:srgbClr val="800080"/>
              </a:solidFill>
              <a:ea typeface="楷体_GB2312" charset="0"/>
            </a:endParaRPr>
          </a:p>
        </p:txBody>
      </p:sp>
      <p:sp>
        <p:nvSpPr>
          <p:cNvPr id="112643" name="Text Box 1027"/>
          <p:cNvSpPr txBox="1">
            <a:spLocks noChangeArrowheads="1"/>
          </p:cNvSpPr>
          <p:nvPr/>
        </p:nvSpPr>
        <p:spPr bwMode="auto">
          <a:xfrm>
            <a:off x="762000" y="2133600"/>
            <a:ext cx="7696200" cy="292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50000"/>
              </a:lnSpc>
            </a:pPr>
            <a:r>
              <a:rPr lang="zh-CN" altLang="en-US" sz="4400">
                <a:ea typeface="楷体_GB2312" charset="0"/>
              </a:rPr>
              <a:t>　　</a:t>
            </a:r>
            <a:r>
              <a:rPr lang="zh-CN" altLang="en-US" sz="4000">
                <a:solidFill>
                  <a:srgbClr val="006666"/>
                </a:solidFill>
                <a:ea typeface="楷体_GB2312" charset="0"/>
              </a:rPr>
              <a:t>将无序子序列中的</a:t>
            </a:r>
            <a:r>
              <a:rPr lang="zh-CN" altLang="en-US" sz="4000">
                <a:solidFill>
                  <a:srgbClr val="9933FF"/>
                </a:solidFill>
                <a:ea typeface="楷体_GB2312" charset="0"/>
              </a:rPr>
              <a:t>一个或几个记录</a:t>
            </a:r>
            <a:r>
              <a:rPr lang="zh-CN" altLang="en-US" sz="4000">
                <a:solidFill>
                  <a:srgbClr val="FF0000"/>
                </a:solidFill>
                <a:ea typeface="楷体_GB2312" charset="0"/>
              </a:rPr>
              <a:t>“</a:t>
            </a:r>
            <a:r>
              <a:rPr lang="zh-CN" altLang="en-US" sz="4000" b="1">
                <a:solidFill>
                  <a:srgbClr val="FF0000"/>
                </a:solidFill>
                <a:ea typeface="楷体_GB2312" charset="0"/>
              </a:rPr>
              <a:t>插入</a:t>
            </a:r>
            <a:r>
              <a:rPr lang="zh-CN" altLang="en-US" sz="4000">
                <a:solidFill>
                  <a:srgbClr val="FF0000"/>
                </a:solidFill>
                <a:ea typeface="楷体_GB2312" charset="0"/>
              </a:rPr>
              <a:t>”</a:t>
            </a:r>
            <a:r>
              <a:rPr lang="zh-CN" altLang="en-US" sz="4000">
                <a:solidFill>
                  <a:srgbClr val="006666"/>
                </a:solidFill>
                <a:ea typeface="楷体_GB2312" charset="0"/>
              </a:rPr>
              <a:t>到有序序列中，从而增加记录的有序子序列的长度。</a:t>
            </a:r>
            <a:endParaRPr lang="zh-CN" altLang="en-US" sz="4000">
              <a:ea typeface="楷体_GB2312" charset="0"/>
            </a:endParaRPr>
          </a:p>
        </p:txBody>
      </p:sp>
      <p:pic>
        <p:nvPicPr>
          <p:cNvPr id="112644" name="Picture 1028"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2819400" cy="109538"/>
          </a:xfrm>
          <a:prstGeom prst="rect">
            <a:avLst/>
          </a:prstGeom>
          <a:noFill/>
          <a:extLst>
            <a:ext uri="{909E8E84-426E-40DD-AFC4-6F175D3DCCD1}">
              <a14:hiddenFill xmlns:a14="http://schemas.microsoft.com/office/drawing/2010/main">
                <a:solidFill>
                  <a:srgbClr val="FFFFFF"/>
                </a:solidFill>
              </a14:hiddenFill>
            </a:ext>
          </a:extLst>
        </p:spPr>
      </p:pic>
      <p:sp>
        <p:nvSpPr>
          <p:cNvPr id="112650" name="AutoShape 1034">
            <a:hlinkClick r:id="rId3"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950849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additive="base">
                                        <p:cTn id="7" dur="500" fill="hold"/>
                                        <p:tgtEl>
                                          <p:spTgt spid="112642"/>
                                        </p:tgtEl>
                                        <p:attrNameLst>
                                          <p:attrName>ppt_x</p:attrName>
                                        </p:attrNameLst>
                                      </p:cBhvr>
                                      <p:tavLst>
                                        <p:tav tm="0">
                                          <p:val>
                                            <p:strVal val="#ppt_x"/>
                                          </p:val>
                                        </p:tav>
                                        <p:tav tm="100000">
                                          <p:val>
                                            <p:strVal val="#ppt_x"/>
                                          </p:val>
                                        </p:tav>
                                      </p:tavLst>
                                    </p:anim>
                                    <p:anim calcmode="lin" valueType="num">
                                      <p:cBhvr additive="base">
                                        <p:cTn id="8" dur="500" fill="hold"/>
                                        <p:tgtEl>
                                          <p:spTgt spid="112642"/>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7" presetClass="entr" presetSubtype="10" fill="hold" nodeType="afterEffect">
                                  <p:stCondLst>
                                    <p:cond delay="0"/>
                                  </p:stCondLst>
                                  <p:childTnLst>
                                    <p:set>
                                      <p:cBhvr>
                                        <p:cTn id="11" dur="1" fill="hold">
                                          <p:stCondLst>
                                            <p:cond delay="0"/>
                                          </p:stCondLst>
                                        </p:cTn>
                                        <p:tgtEl>
                                          <p:spTgt spid="112644"/>
                                        </p:tgtEl>
                                        <p:attrNameLst>
                                          <p:attrName>style.visibility</p:attrName>
                                        </p:attrNameLst>
                                      </p:cBhvr>
                                      <p:to>
                                        <p:strVal val="visible"/>
                                      </p:to>
                                    </p:set>
                                    <p:anim calcmode="lin" valueType="num">
                                      <p:cBhvr>
                                        <p:cTn id="12" dur="500" fill="hold"/>
                                        <p:tgtEl>
                                          <p:spTgt spid="112644"/>
                                        </p:tgtEl>
                                        <p:attrNameLst>
                                          <p:attrName>ppt_w</p:attrName>
                                        </p:attrNameLst>
                                      </p:cBhvr>
                                      <p:tavLst>
                                        <p:tav tm="0">
                                          <p:val>
                                            <p:fltVal val="0"/>
                                          </p:val>
                                        </p:tav>
                                        <p:tav tm="100000">
                                          <p:val>
                                            <p:strVal val="#ppt_w"/>
                                          </p:val>
                                        </p:tav>
                                      </p:tavLst>
                                    </p:anim>
                                    <p:anim calcmode="lin" valueType="num">
                                      <p:cBhvr>
                                        <p:cTn id="13" dur="500" fill="hold"/>
                                        <p:tgtEl>
                                          <p:spTgt spid="112644"/>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43"/>
                                        </p:tgtEl>
                                        <p:attrNameLst>
                                          <p:attrName>style.visibility</p:attrName>
                                        </p:attrNameLst>
                                      </p:cBhvr>
                                      <p:to>
                                        <p:strVal val="visible"/>
                                      </p:to>
                                    </p:set>
                                    <p:animEffect transition="in" filter="strips(downRight)">
                                      <p:cBhvr>
                                        <p:cTn id="18" dur="500"/>
                                        <p:tgtEl>
                                          <p:spTgt spid="112643"/>
                                        </p:tgtEl>
                                      </p:cBhvr>
                                    </p:animEffect>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112650"/>
                                        </p:tgtEl>
                                        <p:attrNameLst>
                                          <p:attrName>style.visibility</p:attrName>
                                        </p:attrNameLst>
                                      </p:cBhvr>
                                      <p:to>
                                        <p:strVal val="visible"/>
                                      </p:to>
                                    </p:set>
                                    <p:anim calcmode="lin" valueType="num">
                                      <p:cBhvr additive="base">
                                        <p:cTn id="22" dur="500" fill="hold"/>
                                        <p:tgtEl>
                                          <p:spTgt spid="112650"/>
                                        </p:tgtEl>
                                        <p:attrNameLst>
                                          <p:attrName>ppt_x</p:attrName>
                                        </p:attrNameLst>
                                      </p:cBhvr>
                                      <p:tavLst>
                                        <p:tav tm="0">
                                          <p:val>
                                            <p:strVal val="1+#ppt_w/2"/>
                                          </p:val>
                                        </p:tav>
                                        <p:tav tm="100000">
                                          <p:val>
                                            <p:strVal val="#ppt_x"/>
                                          </p:val>
                                        </p:tav>
                                      </p:tavLst>
                                    </p:anim>
                                    <p:anim calcmode="lin" valueType="num">
                                      <p:cBhvr additive="base">
                                        <p:cTn id="23" dur="500" fill="hold"/>
                                        <p:tgtEl>
                                          <p:spTgt spid="1126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utoUpdateAnimBg="0"/>
      <p:bldP spid="112643" grpId="0" autoUpdateAnimBg="0"/>
      <p:bldP spid="11265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Text Box 7"/>
          <p:cNvSpPr txBox="1">
            <a:spLocks noChangeArrowheads="1"/>
          </p:cNvSpPr>
          <p:nvPr/>
        </p:nvSpPr>
        <p:spPr bwMode="auto">
          <a:xfrm>
            <a:off x="735013" y="612775"/>
            <a:ext cx="294163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5400" b="1">
                <a:solidFill>
                  <a:srgbClr val="800080"/>
                </a:solidFill>
                <a:ea typeface="楷体_GB2312" charset="0"/>
              </a:rPr>
              <a:t>2. </a:t>
            </a:r>
            <a:r>
              <a:rPr lang="zh-CN" altLang="en-US" sz="5400" b="1">
                <a:solidFill>
                  <a:srgbClr val="800080"/>
                </a:solidFill>
                <a:ea typeface="楷体_GB2312" charset="0"/>
              </a:rPr>
              <a:t>交换类</a:t>
            </a:r>
            <a:endParaRPr lang="zh-CN" altLang="en-US" sz="4800" b="1">
              <a:solidFill>
                <a:srgbClr val="800080"/>
              </a:solidFill>
              <a:ea typeface="楷体_GB2312" charset="0"/>
            </a:endParaRPr>
          </a:p>
        </p:txBody>
      </p:sp>
      <p:sp>
        <p:nvSpPr>
          <p:cNvPr id="9224" name="Text Box 8"/>
          <p:cNvSpPr txBox="1">
            <a:spLocks noChangeArrowheads="1"/>
          </p:cNvSpPr>
          <p:nvPr/>
        </p:nvSpPr>
        <p:spPr bwMode="auto">
          <a:xfrm>
            <a:off x="746125" y="1676400"/>
            <a:ext cx="8245475"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en-US" sz="4000">
                <a:ea typeface="楷体_GB2312" charset="0"/>
              </a:rPr>
              <a:t>　　</a:t>
            </a:r>
            <a:r>
              <a:rPr lang="zh-CN" altLang="en-US" sz="4000">
                <a:solidFill>
                  <a:srgbClr val="006666"/>
                </a:solidFill>
                <a:ea typeface="楷体_GB2312" charset="0"/>
              </a:rPr>
              <a:t>通过</a:t>
            </a:r>
            <a:r>
              <a:rPr lang="zh-CN" altLang="en-US" sz="4000" b="1">
                <a:solidFill>
                  <a:srgbClr val="FF0000"/>
                </a:solidFill>
                <a:ea typeface="楷体_GB2312" charset="0"/>
              </a:rPr>
              <a:t>“交换”</a:t>
            </a:r>
            <a:r>
              <a:rPr lang="zh-CN" altLang="en-US" sz="4000">
                <a:solidFill>
                  <a:srgbClr val="006666"/>
                </a:solidFill>
                <a:ea typeface="楷体_GB2312" charset="0"/>
              </a:rPr>
              <a:t>无序序列中的记录从而得到其中</a:t>
            </a:r>
            <a:r>
              <a:rPr lang="zh-CN" altLang="en-US" sz="4000">
                <a:solidFill>
                  <a:srgbClr val="9933FF"/>
                </a:solidFill>
                <a:ea typeface="楷体_GB2312" charset="0"/>
              </a:rPr>
              <a:t>关键字最小</a:t>
            </a:r>
            <a:r>
              <a:rPr lang="zh-CN" altLang="en-US" sz="4000">
                <a:solidFill>
                  <a:srgbClr val="006666"/>
                </a:solidFill>
                <a:ea typeface="楷体_GB2312" charset="0"/>
              </a:rPr>
              <a:t>或</a:t>
            </a:r>
            <a:r>
              <a:rPr lang="zh-CN" altLang="en-US" sz="4000">
                <a:solidFill>
                  <a:srgbClr val="9933FF"/>
                </a:solidFill>
                <a:ea typeface="楷体_GB2312" charset="0"/>
              </a:rPr>
              <a:t>最大</a:t>
            </a:r>
            <a:r>
              <a:rPr lang="zh-CN" altLang="en-US" sz="4000">
                <a:solidFill>
                  <a:srgbClr val="006666"/>
                </a:solidFill>
                <a:ea typeface="楷体_GB2312" charset="0"/>
              </a:rPr>
              <a:t>的记录，并将它</a:t>
            </a:r>
            <a:r>
              <a:rPr lang="zh-CN" altLang="en-US" sz="4000">
                <a:solidFill>
                  <a:srgbClr val="9933FF"/>
                </a:solidFill>
                <a:ea typeface="楷体_GB2312" charset="0"/>
              </a:rPr>
              <a:t>加入到有序子序列中</a:t>
            </a:r>
            <a:r>
              <a:rPr lang="zh-CN" altLang="en-US" sz="4000">
                <a:ea typeface="楷体_GB2312" charset="0"/>
              </a:rPr>
              <a:t>，</a:t>
            </a:r>
            <a:r>
              <a:rPr lang="zh-CN" altLang="en-US" sz="4000">
                <a:solidFill>
                  <a:srgbClr val="006666"/>
                </a:solidFill>
                <a:ea typeface="楷体_GB2312" charset="0"/>
              </a:rPr>
              <a:t>以此方法增加记录的有序子序列的长度。</a:t>
            </a:r>
            <a:endParaRPr lang="zh-CN" altLang="en-US" sz="4000">
              <a:ea typeface="楷体_GB2312" charset="0"/>
            </a:endParaRPr>
          </a:p>
        </p:txBody>
      </p:sp>
      <p:pic>
        <p:nvPicPr>
          <p:cNvPr id="9225" name="Picture 9"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2743200" cy="106363"/>
          </a:xfrm>
          <a:prstGeom prst="rect">
            <a:avLst/>
          </a:prstGeom>
          <a:noFill/>
          <a:extLst>
            <a:ext uri="{909E8E84-426E-40DD-AFC4-6F175D3DCCD1}">
              <a14:hiddenFill xmlns:a14="http://schemas.microsoft.com/office/drawing/2010/main">
                <a:solidFill>
                  <a:srgbClr val="FFFFFF"/>
                </a:solidFill>
              </a14:hiddenFill>
            </a:ext>
          </a:extLst>
        </p:spPr>
      </p:pic>
      <p:sp>
        <p:nvSpPr>
          <p:cNvPr id="9227" name="AutoShape 11">
            <a:hlinkClick r:id="rId3"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596421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223"/>
                                        </p:tgtEl>
                                        <p:attrNameLst>
                                          <p:attrName>style.visibility</p:attrName>
                                        </p:attrNameLst>
                                      </p:cBhvr>
                                      <p:to>
                                        <p:strVal val="visible"/>
                                      </p:to>
                                    </p:set>
                                    <p:anim calcmode="lin" valueType="num">
                                      <p:cBhvr additive="base">
                                        <p:cTn id="7" dur="500" fill="hold"/>
                                        <p:tgtEl>
                                          <p:spTgt spid="9223"/>
                                        </p:tgtEl>
                                        <p:attrNameLst>
                                          <p:attrName>ppt_x</p:attrName>
                                        </p:attrNameLst>
                                      </p:cBhvr>
                                      <p:tavLst>
                                        <p:tav tm="0">
                                          <p:val>
                                            <p:strVal val="#ppt_x"/>
                                          </p:val>
                                        </p:tav>
                                        <p:tav tm="100000">
                                          <p:val>
                                            <p:strVal val="#ppt_x"/>
                                          </p:val>
                                        </p:tav>
                                      </p:tavLst>
                                    </p:anim>
                                    <p:anim calcmode="lin" valueType="num">
                                      <p:cBhvr additive="base">
                                        <p:cTn id="8" dur="500" fill="hold"/>
                                        <p:tgtEl>
                                          <p:spTgt spid="9223"/>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7" presetClass="entr" presetSubtype="10" fill="hold" nodeType="afterEffect">
                                  <p:stCondLst>
                                    <p:cond delay="0"/>
                                  </p:stCondLst>
                                  <p:childTnLst>
                                    <p:set>
                                      <p:cBhvr>
                                        <p:cTn id="11" dur="1" fill="hold">
                                          <p:stCondLst>
                                            <p:cond delay="0"/>
                                          </p:stCondLst>
                                        </p:cTn>
                                        <p:tgtEl>
                                          <p:spTgt spid="9225"/>
                                        </p:tgtEl>
                                        <p:attrNameLst>
                                          <p:attrName>style.visibility</p:attrName>
                                        </p:attrNameLst>
                                      </p:cBhvr>
                                      <p:to>
                                        <p:strVal val="visible"/>
                                      </p:to>
                                    </p:set>
                                    <p:anim calcmode="lin" valueType="num">
                                      <p:cBhvr>
                                        <p:cTn id="12" dur="500" fill="hold"/>
                                        <p:tgtEl>
                                          <p:spTgt spid="9225"/>
                                        </p:tgtEl>
                                        <p:attrNameLst>
                                          <p:attrName>ppt_w</p:attrName>
                                        </p:attrNameLst>
                                      </p:cBhvr>
                                      <p:tavLst>
                                        <p:tav tm="0">
                                          <p:val>
                                            <p:fltVal val="0"/>
                                          </p:val>
                                        </p:tav>
                                        <p:tav tm="100000">
                                          <p:val>
                                            <p:strVal val="#ppt_w"/>
                                          </p:val>
                                        </p:tav>
                                      </p:tavLst>
                                    </p:anim>
                                    <p:anim calcmode="lin" valueType="num">
                                      <p:cBhvr>
                                        <p:cTn id="13" dur="500" fill="hold"/>
                                        <p:tgtEl>
                                          <p:spTgt spid="9225"/>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iterate type="wd">
                                    <p:tmPct val="100000"/>
                                  </p:iterate>
                                  <p:childTnLst>
                                    <p:set>
                                      <p:cBhvr>
                                        <p:cTn id="17" dur="1" fill="hold">
                                          <p:stCondLst>
                                            <p:cond delay="0"/>
                                          </p:stCondLst>
                                        </p:cTn>
                                        <p:tgtEl>
                                          <p:spTgt spid="9224"/>
                                        </p:tgtEl>
                                        <p:attrNameLst>
                                          <p:attrName>style.visibility</p:attrName>
                                        </p:attrNameLst>
                                      </p:cBhvr>
                                      <p:to>
                                        <p:strVal val="visible"/>
                                      </p:to>
                                    </p:set>
                                    <p:animEffect transition="in" filter="strips(downRight)">
                                      <p:cBhvr>
                                        <p:cTn id="18" dur="300"/>
                                        <p:tgtEl>
                                          <p:spTgt spid="9224"/>
                                        </p:tgtEl>
                                      </p:cBhvr>
                                    </p:animEffect>
                                  </p:childTnLst>
                                </p:cTn>
                              </p:par>
                            </p:childTnLst>
                          </p:cTn>
                        </p:par>
                        <p:par>
                          <p:cTn id="19" fill="hold" nodeType="afterGroup">
                            <p:stCondLst>
                              <p:cond delay="11400"/>
                            </p:stCondLst>
                            <p:childTnLst>
                              <p:par>
                                <p:cTn id="20" presetID="2" presetClass="entr" presetSubtype="6" fill="hold" grpId="0" nodeType="afterEffect">
                                  <p:stCondLst>
                                    <p:cond delay="0"/>
                                  </p:stCondLst>
                                  <p:childTnLst>
                                    <p:set>
                                      <p:cBhvr>
                                        <p:cTn id="21" dur="1" fill="hold">
                                          <p:stCondLst>
                                            <p:cond delay="0"/>
                                          </p:stCondLst>
                                        </p:cTn>
                                        <p:tgtEl>
                                          <p:spTgt spid="9227"/>
                                        </p:tgtEl>
                                        <p:attrNameLst>
                                          <p:attrName>style.visibility</p:attrName>
                                        </p:attrNameLst>
                                      </p:cBhvr>
                                      <p:to>
                                        <p:strVal val="visible"/>
                                      </p:to>
                                    </p:set>
                                    <p:anim calcmode="lin" valueType="num">
                                      <p:cBhvr additive="base">
                                        <p:cTn id="22" dur="500" fill="hold"/>
                                        <p:tgtEl>
                                          <p:spTgt spid="9227"/>
                                        </p:tgtEl>
                                        <p:attrNameLst>
                                          <p:attrName>ppt_x</p:attrName>
                                        </p:attrNameLst>
                                      </p:cBhvr>
                                      <p:tavLst>
                                        <p:tav tm="0">
                                          <p:val>
                                            <p:strVal val="1+#ppt_w/2"/>
                                          </p:val>
                                        </p:tav>
                                        <p:tav tm="100000">
                                          <p:val>
                                            <p:strVal val="#ppt_x"/>
                                          </p:val>
                                        </p:tav>
                                      </p:tavLst>
                                    </p:anim>
                                    <p:anim calcmode="lin" valueType="num">
                                      <p:cBhvr additive="base">
                                        <p:cTn id="23" dur="500" fill="hold"/>
                                        <p:tgtEl>
                                          <p:spTgt spid="92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autoUpdateAnimBg="0"/>
      <p:bldP spid="9224" grpId="0" autoUpdateAnimBg="0"/>
      <p:bldP spid="92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792163" y="609600"/>
            <a:ext cx="294163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5400" b="1">
                <a:solidFill>
                  <a:srgbClr val="800080"/>
                </a:solidFill>
                <a:ea typeface="楷体_GB2312" charset="0"/>
              </a:rPr>
              <a:t>3. </a:t>
            </a:r>
            <a:r>
              <a:rPr lang="zh-CN" altLang="en-US" sz="5400" b="1">
                <a:solidFill>
                  <a:srgbClr val="800080"/>
                </a:solidFill>
                <a:ea typeface="楷体_GB2312" charset="0"/>
              </a:rPr>
              <a:t>选择类</a:t>
            </a:r>
            <a:endParaRPr lang="zh-CN" altLang="en-US" sz="4800" b="1">
              <a:solidFill>
                <a:srgbClr val="800080"/>
              </a:solidFill>
              <a:ea typeface="楷体_GB2312" charset="0"/>
            </a:endParaRPr>
          </a:p>
        </p:txBody>
      </p:sp>
      <p:sp>
        <p:nvSpPr>
          <p:cNvPr id="10244" name="Text Box 4"/>
          <p:cNvSpPr txBox="1">
            <a:spLocks noChangeArrowheads="1"/>
          </p:cNvSpPr>
          <p:nvPr/>
        </p:nvSpPr>
        <p:spPr bwMode="auto">
          <a:xfrm>
            <a:off x="746125" y="1752600"/>
            <a:ext cx="7940675"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en-US" sz="4000">
                <a:ea typeface="楷体_GB2312" charset="0"/>
              </a:rPr>
              <a:t>　　</a:t>
            </a:r>
            <a:r>
              <a:rPr lang="zh-CN" altLang="en-US" sz="4000">
                <a:solidFill>
                  <a:srgbClr val="006666"/>
                </a:solidFill>
                <a:ea typeface="楷体_GB2312" charset="0"/>
              </a:rPr>
              <a:t>从记录的无序子序列中</a:t>
            </a:r>
            <a:r>
              <a:rPr lang="zh-CN" altLang="en-US" sz="4000">
                <a:solidFill>
                  <a:srgbClr val="FF0000"/>
                </a:solidFill>
                <a:ea typeface="楷体_GB2312" charset="0"/>
              </a:rPr>
              <a:t>“选择”</a:t>
            </a:r>
            <a:r>
              <a:rPr lang="zh-CN" altLang="en-US" sz="4000">
                <a:solidFill>
                  <a:srgbClr val="9933FF"/>
                </a:solidFill>
                <a:ea typeface="楷体_GB2312" charset="0"/>
              </a:rPr>
              <a:t>关键字最小或最大</a:t>
            </a:r>
            <a:r>
              <a:rPr lang="zh-CN" altLang="en-US" sz="4000">
                <a:solidFill>
                  <a:srgbClr val="006666"/>
                </a:solidFill>
                <a:ea typeface="楷体_GB2312" charset="0"/>
              </a:rPr>
              <a:t>的记录，并将它</a:t>
            </a:r>
            <a:r>
              <a:rPr lang="zh-CN" altLang="en-US" sz="4000">
                <a:solidFill>
                  <a:srgbClr val="9933FF"/>
                </a:solidFill>
                <a:ea typeface="楷体_GB2312" charset="0"/>
              </a:rPr>
              <a:t>加入到有序子序列</a:t>
            </a:r>
            <a:r>
              <a:rPr lang="zh-CN" altLang="en-US" sz="4000">
                <a:solidFill>
                  <a:srgbClr val="006666"/>
                </a:solidFill>
                <a:ea typeface="楷体_GB2312" charset="0"/>
              </a:rPr>
              <a:t>中，以此方法增加记录的有序子序列的长度。</a:t>
            </a:r>
            <a:endParaRPr lang="zh-CN" altLang="en-US" sz="4000">
              <a:ea typeface="楷体_GB2312" charset="0"/>
            </a:endParaRPr>
          </a:p>
        </p:txBody>
      </p:sp>
      <p:pic>
        <p:nvPicPr>
          <p:cNvPr id="10245" name="Picture 5"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27163"/>
            <a:ext cx="3048000" cy="117475"/>
          </a:xfrm>
          <a:prstGeom prst="rect">
            <a:avLst/>
          </a:prstGeom>
          <a:noFill/>
          <a:extLst>
            <a:ext uri="{909E8E84-426E-40DD-AFC4-6F175D3DCCD1}">
              <a14:hiddenFill xmlns:a14="http://schemas.microsoft.com/office/drawing/2010/main">
                <a:solidFill>
                  <a:srgbClr val="FFFFFF"/>
                </a:solidFill>
              </a14:hiddenFill>
            </a:ext>
          </a:extLst>
        </p:spPr>
      </p:pic>
      <p:sp>
        <p:nvSpPr>
          <p:cNvPr id="10247" name="AutoShape 7">
            <a:hlinkClick r:id="rId3"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902203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0-#ppt_w/2"/>
                                          </p:val>
                                        </p:tav>
                                        <p:tav tm="100000">
                                          <p:val>
                                            <p:strVal val="#ppt_x"/>
                                          </p:val>
                                        </p:tav>
                                      </p:tavLst>
                                    </p:anim>
                                    <p:anim calcmode="lin" valueType="num">
                                      <p:cBhvr additive="base">
                                        <p:cTn id="8" dur="500" fill="hold"/>
                                        <p:tgtEl>
                                          <p:spTgt spid="1024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7" presetClass="entr" presetSubtype="10" fill="hold" nodeType="afterEffect">
                                  <p:stCondLst>
                                    <p:cond delay="0"/>
                                  </p:stCondLst>
                                  <p:childTnLst>
                                    <p:set>
                                      <p:cBhvr>
                                        <p:cTn id="11" dur="1" fill="hold">
                                          <p:stCondLst>
                                            <p:cond delay="0"/>
                                          </p:stCondLst>
                                        </p:cTn>
                                        <p:tgtEl>
                                          <p:spTgt spid="10245"/>
                                        </p:tgtEl>
                                        <p:attrNameLst>
                                          <p:attrName>style.visibility</p:attrName>
                                        </p:attrNameLst>
                                      </p:cBhvr>
                                      <p:to>
                                        <p:strVal val="visible"/>
                                      </p:to>
                                    </p:set>
                                    <p:anim calcmode="lin" valueType="num">
                                      <p:cBhvr>
                                        <p:cTn id="12" dur="500" fill="hold"/>
                                        <p:tgtEl>
                                          <p:spTgt spid="10245"/>
                                        </p:tgtEl>
                                        <p:attrNameLst>
                                          <p:attrName>ppt_w</p:attrName>
                                        </p:attrNameLst>
                                      </p:cBhvr>
                                      <p:tavLst>
                                        <p:tav tm="0">
                                          <p:val>
                                            <p:fltVal val="0"/>
                                          </p:val>
                                        </p:tav>
                                        <p:tav tm="100000">
                                          <p:val>
                                            <p:strVal val="#ppt_w"/>
                                          </p:val>
                                        </p:tav>
                                      </p:tavLst>
                                    </p:anim>
                                    <p:anim calcmode="lin" valueType="num">
                                      <p:cBhvr>
                                        <p:cTn id="13" dur="500" fill="hold"/>
                                        <p:tgtEl>
                                          <p:spTgt spid="10245"/>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strips(downRight)">
                                      <p:cBhvr>
                                        <p:cTn id="18" dur="500"/>
                                        <p:tgtEl>
                                          <p:spTgt spid="10244"/>
                                        </p:tgtEl>
                                      </p:cBhvr>
                                    </p:animEffect>
                                  </p:childTnLst>
                                </p:cTn>
                              </p:par>
                            </p:childTnLst>
                          </p:cTn>
                        </p:par>
                        <p:par>
                          <p:cTn id="19" fill="hold" nodeType="afterGroup">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10247"/>
                                        </p:tgtEl>
                                        <p:attrNameLst>
                                          <p:attrName>style.visibility</p:attrName>
                                        </p:attrNameLst>
                                      </p:cBhvr>
                                      <p:to>
                                        <p:strVal val="visible"/>
                                      </p:to>
                                    </p:set>
                                    <p:anim calcmode="lin" valueType="num">
                                      <p:cBhvr additive="base">
                                        <p:cTn id="22" dur="500" fill="hold"/>
                                        <p:tgtEl>
                                          <p:spTgt spid="10247"/>
                                        </p:tgtEl>
                                        <p:attrNameLst>
                                          <p:attrName>ppt_x</p:attrName>
                                        </p:attrNameLst>
                                      </p:cBhvr>
                                      <p:tavLst>
                                        <p:tav tm="0">
                                          <p:val>
                                            <p:strVal val="1+#ppt_w/2"/>
                                          </p:val>
                                        </p:tav>
                                        <p:tav tm="100000">
                                          <p:val>
                                            <p:strVal val="#ppt_x"/>
                                          </p:val>
                                        </p:tav>
                                      </p:tavLst>
                                    </p:anim>
                                    <p:anim calcmode="lin" valueType="num">
                                      <p:cBhvr additive="base">
                                        <p:cTn id="23" dur="500" fill="hold"/>
                                        <p:tgtEl>
                                          <p:spTgt spid="102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utoUpdateAnimBg="0"/>
      <p:bldP spid="10244" grpId="0" autoUpdateAnimBg="0"/>
      <p:bldP spid="1024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792163" y="609600"/>
            <a:ext cx="294163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5400" b="1">
                <a:solidFill>
                  <a:srgbClr val="800080"/>
                </a:solidFill>
                <a:ea typeface="楷体_GB2312" charset="0"/>
              </a:rPr>
              <a:t>4. </a:t>
            </a:r>
            <a:r>
              <a:rPr lang="zh-CN" altLang="en-US" sz="5400" b="1">
                <a:solidFill>
                  <a:srgbClr val="800080"/>
                </a:solidFill>
                <a:ea typeface="楷体_GB2312" charset="0"/>
              </a:rPr>
              <a:t>归并类</a:t>
            </a:r>
            <a:endParaRPr lang="zh-CN" altLang="en-US" sz="4800" b="1">
              <a:solidFill>
                <a:srgbClr val="800080"/>
              </a:solidFill>
              <a:ea typeface="楷体_GB2312" charset="0"/>
            </a:endParaRPr>
          </a:p>
        </p:txBody>
      </p:sp>
      <p:sp>
        <p:nvSpPr>
          <p:cNvPr id="11268" name="Text Box 4"/>
          <p:cNvSpPr txBox="1">
            <a:spLocks noChangeArrowheads="1"/>
          </p:cNvSpPr>
          <p:nvPr/>
        </p:nvSpPr>
        <p:spPr bwMode="auto">
          <a:xfrm>
            <a:off x="762000" y="1841500"/>
            <a:ext cx="786447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en-US" sz="4000">
                <a:ea typeface="楷体_GB2312" charset="0"/>
              </a:rPr>
              <a:t>　</a:t>
            </a:r>
            <a:r>
              <a:rPr lang="zh-CN" altLang="en-US" sz="4000">
                <a:solidFill>
                  <a:srgbClr val="006666"/>
                </a:solidFill>
                <a:ea typeface="楷体_GB2312" charset="0"/>
              </a:rPr>
              <a:t>通过</a:t>
            </a:r>
            <a:r>
              <a:rPr lang="zh-CN" altLang="en-US" sz="4000" b="1">
                <a:solidFill>
                  <a:srgbClr val="FF6600"/>
                </a:solidFill>
                <a:ea typeface="楷体_GB2312" charset="0"/>
              </a:rPr>
              <a:t>“归并”</a:t>
            </a:r>
            <a:r>
              <a:rPr lang="zh-CN" altLang="en-US" sz="4000">
                <a:solidFill>
                  <a:srgbClr val="006666"/>
                </a:solidFill>
                <a:ea typeface="楷体_GB2312" charset="0"/>
              </a:rPr>
              <a:t>两个或两个以上的记录有序子序列，逐步增加记录有序序列的长度。</a:t>
            </a:r>
          </a:p>
        </p:txBody>
      </p:sp>
      <p:sp>
        <p:nvSpPr>
          <p:cNvPr id="11269" name="Text Box 5"/>
          <p:cNvSpPr txBox="1">
            <a:spLocks noChangeArrowheads="1"/>
          </p:cNvSpPr>
          <p:nvPr/>
        </p:nvSpPr>
        <p:spPr bwMode="auto">
          <a:xfrm>
            <a:off x="762000" y="5048250"/>
            <a:ext cx="3632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5400" b="1">
                <a:solidFill>
                  <a:srgbClr val="800080"/>
                </a:solidFill>
                <a:ea typeface="楷体_GB2312" charset="0"/>
              </a:rPr>
              <a:t>5. </a:t>
            </a:r>
            <a:r>
              <a:rPr lang="zh-CN" altLang="en-US" sz="5400" b="1">
                <a:solidFill>
                  <a:srgbClr val="800080"/>
                </a:solidFill>
                <a:ea typeface="楷体_GB2312" charset="0"/>
              </a:rPr>
              <a:t>其它方法</a:t>
            </a:r>
          </a:p>
        </p:txBody>
      </p:sp>
      <p:pic>
        <p:nvPicPr>
          <p:cNvPr id="11270" name="Picture 6"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35100"/>
            <a:ext cx="28956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1271" name="Picture 7" descr="Autumn Lea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886450"/>
            <a:ext cx="3429000" cy="133350"/>
          </a:xfrm>
          <a:prstGeom prst="rect">
            <a:avLst/>
          </a:prstGeom>
          <a:noFill/>
          <a:extLst>
            <a:ext uri="{909E8E84-426E-40DD-AFC4-6F175D3DCCD1}">
              <a14:hiddenFill xmlns:a14="http://schemas.microsoft.com/office/drawing/2010/main">
                <a:solidFill>
                  <a:srgbClr val="FFFFFF"/>
                </a:solidFill>
              </a14:hiddenFill>
            </a:ext>
          </a:extLst>
        </p:spPr>
      </p:pic>
      <p:sp>
        <p:nvSpPr>
          <p:cNvPr id="11276" name="AutoShape 12">
            <a:hlinkClick r:id="rId3"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349316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0-#ppt_w/2"/>
                                          </p:val>
                                        </p:tav>
                                        <p:tav tm="100000">
                                          <p:val>
                                            <p:strVal val="#ppt_x"/>
                                          </p:val>
                                        </p:tav>
                                      </p:tavLst>
                                    </p:anim>
                                    <p:anim calcmode="lin" valueType="num">
                                      <p:cBhvr additive="base">
                                        <p:cTn id="8" dur="500" fill="hold"/>
                                        <p:tgtEl>
                                          <p:spTgt spid="1126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7" presetClass="entr" presetSubtype="10" fill="hold" nodeType="afterEffect">
                                  <p:stCondLst>
                                    <p:cond delay="0"/>
                                  </p:stCondLst>
                                  <p:childTnLst>
                                    <p:set>
                                      <p:cBhvr>
                                        <p:cTn id="11" dur="1" fill="hold">
                                          <p:stCondLst>
                                            <p:cond delay="0"/>
                                          </p:stCondLst>
                                        </p:cTn>
                                        <p:tgtEl>
                                          <p:spTgt spid="11270"/>
                                        </p:tgtEl>
                                        <p:attrNameLst>
                                          <p:attrName>style.visibility</p:attrName>
                                        </p:attrNameLst>
                                      </p:cBhvr>
                                      <p:to>
                                        <p:strVal val="visible"/>
                                      </p:to>
                                    </p:set>
                                    <p:anim calcmode="lin" valueType="num">
                                      <p:cBhvr>
                                        <p:cTn id="12" dur="500" fill="hold"/>
                                        <p:tgtEl>
                                          <p:spTgt spid="11270"/>
                                        </p:tgtEl>
                                        <p:attrNameLst>
                                          <p:attrName>ppt_w</p:attrName>
                                        </p:attrNameLst>
                                      </p:cBhvr>
                                      <p:tavLst>
                                        <p:tav tm="0">
                                          <p:val>
                                            <p:fltVal val="0"/>
                                          </p:val>
                                        </p:tav>
                                        <p:tav tm="100000">
                                          <p:val>
                                            <p:strVal val="#ppt_w"/>
                                          </p:val>
                                        </p:tav>
                                      </p:tavLst>
                                    </p:anim>
                                    <p:anim calcmode="lin" valueType="num">
                                      <p:cBhvr>
                                        <p:cTn id="13" dur="500" fill="hold"/>
                                        <p:tgtEl>
                                          <p:spTgt spid="11270"/>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1268"/>
                                        </p:tgtEl>
                                        <p:attrNameLst>
                                          <p:attrName>style.visibility</p:attrName>
                                        </p:attrNameLst>
                                      </p:cBhvr>
                                      <p:to>
                                        <p:strVal val="visible"/>
                                      </p:to>
                                    </p:set>
                                    <p:animEffect transition="in" filter="strips(downRight)">
                                      <p:cBhvr>
                                        <p:cTn id="18" dur="500"/>
                                        <p:tgtEl>
                                          <p:spTgt spid="1126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1269"/>
                                        </p:tgtEl>
                                        <p:attrNameLst>
                                          <p:attrName>style.visibility</p:attrName>
                                        </p:attrNameLst>
                                      </p:cBhvr>
                                      <p:to>
                                        <p:strVal val="visible"/>
                                      </p:to>
                                    </p:set>
                                    <p:anim calcmode="lin" valueType="num">
                                      <p:cBhvr additive="base">
                                        <p:cTn id="23" dur="500" fill="hold"/>
                                        <p:tgtEl>
                                          <p:spTgt spid="11269"/>
                                        </p:tgtEl>
                                        <p:attrNameLst>
                                          <p:attrName>ppt_x</p:attrName>
                                        </p:attrNameLst>
                                      </p:cBhvr>
                                      <p:tavLst>
                                        <p:tav tm="0">
                                          <p:val>
                                            <p:strVal val="0-#ppt_w/2"/>
                                          </p:val>
                                        </p:tav>
                                        <p:tav tm="100000">
                                          <p:val>
                                            <p:strVal val="#ppt_x"/>
                                          </p:val>
                                        </p:tav>
                                      </p:tavLst>
                                    </p:anim>
                                    <p:anim calcmode="lin" valueType="num">
                                      <p:cBhvr additive="base">
                                        <p:cTn id="24" dur="500" fill="hold"/>
                                        <p:tgtEl>
                                          <p:spTgt spid="11269"/>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17" presetClass="entr" presetSubtype="10" fill="hold" nodeType="afterEffect">
                                  <p:stCondLst>
                                    <p:cond delay="0"/>
                                  </p:stCondLst>
                                  <p:childTnLst>
                                    <p:set>
                                      <p:cBhvr>
                                        <p:cTn id="27" dur="1" fill="hold">
                                          <p:stCondLst>
                                            <p:cond delay="0"/>
                                          </p:stCondLst>
                                        </p:cTn>
                                        <p:tgtEl>
                                          <p:spTgt spid="11271"/>
                                        </p:tgtEl>
                                        <p:attrNameLst>
                                          <p:attrName>style.visibility</p:attrName>
                                        </p:attrNameLst>
                                      </p:cBhvr>
                                      <p:to>
                                        <p:strVal val="visible"/>
                                      </p:to>
                                    </p:set>
                                    <p:anim calcmode="lin" valueType="num">
                                      <p:cBhvr>
                                        <p:cTn id="28" dur="500" fill="hold"/>
                                        <p:tgtEl>
                                          <p:spTgt spid="11271"/>
                                        </p:tgtEl>
                                        <p:attrNameLst>
                                          <p:attrName>ppt_w</p:attrName>
                                        </p:attrNameLst>
                                      </p:cBhvr>
                                      <p:tavLst>
                                        <p:tav tm="0">
                                          <p:val>
                                            <p:fltVal val="0"/>
                                          </p:val>
                                        </p:tav>
                                        <p:tav tm="100000">
                                          <p:val>
                                            <p:strVal val="#ppt_w"/>
                                          </p:val>
                                        </p:tav>
                                      </p:tavLst>
                                    </p:anim>
                                    <p:anim calcmode="lin" valueType="num">
                                      <p:cBhvr>
                                        <p:cTn id="29" dur="500" fill="hold"/>
                                        <p:tgtEl>
                                          <p:spTgt spid="11271"/>
                                        </p:tgtEl>
                                        <p:attrNameLst>
                                          <p:attrName>ppt_h</p:attrName>
                                        </p:attrNameLst>
                                      </p:cBhvr>
                                      <p:tavLst>
                                        <p:tav tm="0">
                                          <p:val>
                                            <p:strVal val="#ppt_h"/>
                                          </p:val>
                                        </p:tav>
                                        <p:tav tm="100000">
                                          <p:val>
                                            <p:strVal val="#ppt_h"/>
                                          </p:val>
                                        </p:tav>
                                      </p:tavLst>
                                    </p:anim>
                                  </p:childTnLst>
                                </p:cTn>
                              </p:par>
                            </p:childTnLst>
                          </p:cTn>
                        </p:par>
                        <p:par>
                          <p:cTn id="30" fill="hold" nodeType="afterGroup">
                            <p:stCondLst>
                              <p:cond delay="1000"/>
                            </p:stCondLst>
                            <p:childTnLst>
                              <p:par>
                                <p:cTn id="31" presetID="2" presetClass="entr" presetSubtype="6" fill="hold" grpId="0" nodeType="afterEffect">
                                  <p:stCondLst>
                                    <p:cond delay="0"/>
                                  </p:stCondLst>
                                  <p:childTnLst>
                                    <p:set>
                                      <p:cBhvr>
                                        <p:cTn id="32" dur="1" fill="hold">
                                          <p:stCondLst>
                                            <p:cond delay="0"/>
                                          </p:stCondLst>
                                        </p:cTn>
                                        <p:tgtEl>
                                          <p:spTgt spid="11276"/>
                                        </p:tgtEl>
                                        <p:attrNameLst>
                                          <p:attrName>style.visibility</p:attrName>
                                        </p:attrNameLst>
                                      </p:cBhvr>
                                      <p:to>
                                        <p:strVal val="visible"/>
                                      </p:to>
                                    </p:set>
                                    <p:anim calcmode="lin" valueType="num">
                                      <p:cBhvr additive="base">
                                        <p:cTn id="33" dur="500" fill="hold"/>
                                        <p:tgtEl>
                                          <p:spTgt spid="11276"/>
                                        </p:tgtEl>
                                        <p:attrNameLst>
                                          <p:attrName>ppt_x</p:attrName>
                                        </p:attrNameLst>
                                      </p:cBhvr>
                                      <p:tavLst>
                                        <p:tav tm="0">
                                          <p:val>
                                            <p:strVal val="1+#ppt_w/2"/>
                                          </p:val>
                                        </p:tav>
                                        <p:tav tm="100000">
                                          <p:val>
                                            <p:strVal val="#ppt_x"/>
                                          </p:val>
                                        </p:tav>
                                      </p:tavLst>
                                    </p:anim>
                                    <p:anim calcmode="lin" valueType="num">
                                      <p:cBhvr additive="base">
                                        <p:cTn id="34" dur="500" fill="hold"/>
                                        <p:tgtEl>
                                          <p:spTgt spid="112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p:bldP spid="11268" grpId="0" autoUpdateAnimBg="0"/>
      <p:bldP spid="11269" grpId="0" autoUpdateAnimBg="0"/>
      <p:bldP spid="1127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ext Box 5"/>
          <p:cNvSpPr txBox="1">
            <a:spLocks noChangeArrowheads="1"/>
          </p:cNvSpPr>
          <p:nvPr/>
        </p:nvSpPr>
        <p:spPr bwMode="auto">
          <a:xfrm>
            <a:off x="2514600" y="609600"/>
            <a:ext cx="4191000" cy="331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60000"/>
              </a:lnSpc>
            </a:pPr>
            <a:r>
              <a:rPr lang="en-US" altLang="zh-CN" sz="6600" b="1">
                <a:solidFill>
                  <a:srgbClr val="0000FF"/>
                </a:solidFill>
                <a:ea typeface="楷体_GB2312" charset="0"/>
              </a:rPr>
              <a:t>      </a:t>
            </a:r>
            <a:r>
              <a:rPr lang="en-US" altLang="zh-CN" sz="6600" b="1">
                <a:solidFill>
                  <a:srgbClr val="003366"/>
                </a:solidFill>
                <a:ea typeface="楷体_GB2312" charset="0"/>
              </a:rPr>
              <a:t>10. 2     </a:t>
            </a:r>
          </a:p>
          <a:p>
            <a:pPr algn="l">
              <a:lnSpc>
                <a:spcPct val="160000"/>
              </a:lnSpc>
            </a:pPr>
            <a:r>
              <a:rPr lang="zh-CN" altLang="en-US" sz="6600" b="1">
                <a:solidFill>
                  <a:srgbClr val="003366"/>
                </a:solidFill>
                <a:ea typeface="楷体_GB2312" charset="0"/>
              </a:rPr>
              <a:t>插 入 排 序</a:t>
            </a:r>
            <a:endParaRPr lang="zh-CN" altLang="en-US" sz="5000" b="1">
              <a:solidFill>
                <a:srgbClr val="0000FF"/>
              </a:solidFill>
              <a:ea typeface="楷体_GB2312" charset="0"/>
            </a:endParaRPr>
          </a:p>
        </p:txBody>
      </p:sp>
    </p:spTree>
    <p:extLst>
      <p:ext uri="{BB962C8B-B14F-4D97-AF65-F5344CB8AC3E}">
        <p14:creationId xmlns:p14="http://schemas.microsoft.com/office/powerpoint/2010/main" val="6387728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dissolve">
                                      <p:cBhvr>
                                        <p:cTn id="7"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descr="60%"/>
          <p:cNvSpPr>
            <a:spLocks noChangeArrowheads="1"/>
          </p:cNvSpPr>
          <p:nvPr/>
        </p:nvSpPr>
        <p:spPr bwMode="auto">
          <a:xfrm>
            <a:off x="533400" y="1676400"/>
            <a:ext cx="3352800" cy="838200"/>
          </a:xfrm>
          <a:prstGeom prst="rect">
            <a:avLst/>
          </a:prstGeom>
          <a:pattFill prst="pct60">
            <a:fgClr>
              <a:srgbClr val="CC99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a:t>有序序列</a:t>
            </a:r>
            <a:r>
              <a:rPr lang="en-US" altLang="zh-CN" sz="3200"/>
              <a:t>R[1..i-1]</a:t>
            </a:r>
            <a:endParaRPr lang="en-US" altLang="zh-CN" sz="3000"/>
          </a:p>
        </p:txBody>
      </p:sp>
      <p:sp>
        <p:nvSpPr>
          <p:cNvPr id="7173" name="Rectangle 5"/>
          <p:cNvSpPr>
            <a:spLocks noChangeArrowheads="1"/>
          </p:cNvSpPr>
          <p:nvPr/>
        </p:nvSpPr>
        <p:spPr bwMode="auto">
          <a:xfrm>
            <a:off x="3886200" y="2819400"/>
            <a:ext cx="762000" cy="838200"/>
          </a:xfrm>
          <a:prstGeom prst="rect">
            <a:avLst/>
          </a:prstGeom>
          <a:gradFill rotWithShape="0">
            <a:gsLst>
              <a:gs pos="0">
                <a:srgbClr val="66FFFF"/>
              </a:gs>
              <a:gs pos="100000">
                <a:srgbClr val="66FFFF">
                  <a:gamma/>
                  <a:shade val="94118"/>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a:t>R[i]</a:t>
            </a:r>
            <a:endParaRPr lang="en-US" altLang="zh-CN" sz="3000"/>
          </a:p>
        </p:txBody>
      </p:sp>
      <p:sp>
        <p:nvSpPr>
          <p:cNvPr id="7174" name="Rectangle 6" descr="棚架"/>
          <p:cNvSpPr>
            <a:spLocks noChangeArrowheads="1"/>
          </p:cNvSpPr>
          <p:nvPr/>
        </p:nvSpPr>
        <p:spPr bwMode="auto">
          <a:xfrm>
            <a:off x="3886200" y="1676400"/>
            <a:ext cx="4724400" cy="838200"/>
          </a:xfrm>
          <a:prstGeom prst="rect">
            <a:avLst/>
          </a:prstGeom>
          <a:pattFill prst="trellis">
            <a:fgClr>
              <a:srgbClr val="00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a:t>无序序列 </a:t>
            </a:r>
            <a:r>
              <a:rPr lang="en-US" altLang="zh-CN" sz="3200"/>
              <a:t>R[i..n]</a:t>
            </a:r>
          </a:p>
        </p:txBody>
      </p:sp>
      <p:sp>
        <p:nvSpPr>
          <p:cNvPr id="7182" name="Text Box 14"/>
          <p:cNvSpPr txBox="1">
            <a:spLocks noChangeArrowheads="1"/>
          </p:cNvSpPr>
          <p:nvPr/>
        </p:nvSpPr>
        <p:spPr bwMode="auto">
          <a:xfrm>
            <a:off x="441325" y="441325"/>
            <a:ext cx="729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0000FF"/>
                </a:solidFill>
                <a:ea typeface="楷体_GB2312" charset="0"/>
              </a:rPr>
              <a:t>一趟直接插入排序的基本思想：</a:t>
            </a:r>
          </a:p>
        </p:txBody>
      </p:sp>
      <p:sp>
        <p:nvSpPr>
          <p:cNvPr id="7183" name="Rectangle 15" descr="60%"/>
          <p:cNvSpPr>
            <a:spLocks noChangeArrowheads="1"/>
          </p:cNvSpPr>
          <p:nvPr/>
        </p:nvSpPr>
        <p:spPr bwMode="auto">
          <a:xfrm>
            <a:off x="533400" y="5029200"/>
            <a:ext cx="4114800" cy="838200"/>
          </a:xfrm>
          <a:prstGeom prst="rect">
            <a:avLst/>
          </a:prstGeom>
          <a:pattFill prst="pct60">
            <a:fgClr>
              <a:srgbClr val="CC99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a:t>有序序列</a:t>
            </a:r>
            <a:r>
              <a:rPr lang="en-US" altLang="zh-CN" sz="3200"/>
              <a:t>R[1..i]</a:t>
            </a:r>
            <a:endParaRPr lang="en-US" altLang="zh-CN" sz="3000"/>
          </a:p>
        </p:txBody>
      </p:sp>
      <p:sp>
        <p:nvSpPr>
          <p:cNvPr id="7184" name="Rectangle 16" descr="棚架"/>
          <p:cNvSpPr>
            <a:spLocks noChangeArrowheads="1"/>
          </p:cNvSpPr>
          <p:nvPr/>
        </p:nvSpPr>
        <p:spPr bwMode="auto">
          <a:xfrm>
            <a:off x="4648200" y="5029200"/>
            <a:ext cx="3962400" cy="838200"/>
          </a:xfrm>
          <a:prstGeom prst="rect">
            <a:avLst/>
          </a:prstGeom>
          <a:pattFill prst="trellis">
            <a:fgClr>
              <a:srgbClr val="00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a:t>无序序列 </a:t>
            </a:r>
            <a:r>
              <a:rPr lang="en-US" altLang="zh-CN" sz="3200"/>
              <a:t>R[i+1..n]</a:t>
            </a:r>
          </a:p>
        </p:txBody>
      </p:sp>
      <p:cxnSp>
        <p:nvCxnSpPr>
          <p:cNvPr id="7189" name="AutoShape 21"/>
          <p:cNvCxnSpPr>
            <a:cxnSpLocks noChangeShapeType="1"/>
            <a:stCxn id="7173" idx="1"/>
            <a:endCxn id="7172" idx="2"/>
          </p:cNvCxnSpPr>
          <p:nvPr/>
        </p:nvCxnSpPr>
        <p:spPr bwMode="auto">
          <a:xfrm rot="10800000">
            <a:off x="2209800" y="2514600"/>
            <a:ext cx="1676400" cy="723900"/>
          </a:xfrm>
          <a:prstGeom prst="bentConnector2">
            <a:avLst/>
          </a:prstGeom>
          <a:noFill/>
          <a:ln w="571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190" name="AutoShape 22"/>
          <p:cNvSpPr>
            <a:spLocks noChangeArrowheads="1"/>
          </p:cNvSpPr>
          <p:nvPr/>
        </p:nvSpPr>
        <p:spPr bwMode="auto">
          <a:xfrm>
            <a:off x="2971800" y="3505200"/>
            <a:ext cx="838200" cy="1371600"/>
          </a:xfrm>
          <a:prstGeom prst="downArrow">
            <a:avLst>
              <a:gd name="adj1" fmla="val 50000"/>
              <a:gd name="adj2" fmla="val 40909"/>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7191" name="Line 23"/>
          <p:cNvSpPr>
            <a:spLocks noChangeShapeType="1"/>
          </p:cNvSpPr>
          <p:nvPr/>
        </p:nvSpPr>
        <p:spPr bwMode="auto">
          <a:xfrm>
            <a:off x="4648200" y="1676400"/>
            <a:ext cx="0" cy="8382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192" name="Line 24"/>
          <p:cNvSpPr>
            <a:spLocks noChangeShapeType="1"/>
          </p:cNvSpPr>
          <p:nvPr/>
        </p:nvSpPr>
        <p:spPr bwMode="auto">
          <a:xfrm>
            <a:off x="4648200" y="3657600"/>
            <a:ext cx="0" cy="137160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393885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wipe(left)">
                                      <p:cBhvr>
                                        <p:cTn id="7" dur="500"/>
                                        <p:tgtEl>
                                          <p:spTgt spid="717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174"/>
                                        </p:tgtEl>
                                        <p:attrNameLst>
                                          <p:attrName>style.visibility</p:attrName>
                                        </p:attrNameLst>
                                      </p:cBhvr>
                                      <p:to>
                                        <p:strVal val="visible"/>
                                      </p:to>
                                    </p:set>
                                    <p:animEffect transition="in" filter="wipe(left)">
                                      <p:cBhvr>
                                        <p:cTn id="11" dur="500"/>
                                        <p:tgtEl>
                                          <p:spTgt spid="717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7" presetClass="entr" presetSubtype="1" fill="hold" grpId="0" nodeType="clickEffect">
                                  <p:stCondLst>
                                    <p:cond delay="0"/>
                                  </p:stCondLst>
                                  <p:childTnLst>
                                    <p:set>
                                      <p:cBhvr>
                                        <p:cTn id="15" dur="1" fill="hold">
                                          <p:stCondLst>
                                            <p:cond delay="0"/>
                                          </p:stCondLst>
                                        </p:cTn>
                                        <p:tgtEl>
                                          <p:spTgt spid="7191"/>
                                        </p:tgtEl>
                                        <p:attrNameLst>
                                          <p:attrName>style.visibility</p:attrName>
                                        </p:attrNameLst>
                                      </p:cBhvr>
                                      <p:to>
                                        <p:strVal val="visible"/>
                                      </p:to>
                                    </p:set>
                                    <p:anim calcmode="lin" valueType="num">
                                      <p:cBhvr>
                                        <p:cTn id="16" dur="500" fill="hold"/>
                                        <p:tgtEl>
                                          <p:spTgt spid="7191"/>
                                        </p:tgtEl>
                                        <p:attrNameLst>
                                          <p:attrName>ppt_x</p:attrName>
                                        </p:attrNameLst>
                                      </p:cBhvr>
                                      <p:tavLst>
                                        <p:tav tm="0">
                                          <p:val>
                                            <p:strVal val="#ppt_x"/>
                                          </p:val>
                                        </p:tav>
                                        <p:tav tm="100000">
                                          <p:val>
                                            <p:strVal val="#ppt_x"/>
                                          </p:val>
                                        </p:tav>
                                      </p:tavLst>
                                    </p:anim>
                                    <p:anim calcmode="lin" valueType="num">
                                      <p:cBhvr>
                                        <p:cTn id="17" dur="500" fill="hold"/>
                                        <p:tgtEl>
                                          <p:spTgt spid="7191"/>
                                        </p:tgtEl>
                                        <p:attrNameLst>
                                          <p:attrName>ppt_y</p:attrName>
                                        </p:attrNameLst>
                                      </p:cBhvr>
                                      <p:tavLst>
                                        <p:tav tm="0">
                                          <p:val>
                                            <p:strVal val="#ppt_y-#ppt_h/2"/>
                                          </p:val>
                                        </p:tav>
                                        <p:tav tm="100000">
                                          <p:val>
                                            <p:strVal val="#ppt_y"/>
                                          </p:val>
                                        </p:tav>
                                      </p:tavLst>
                                    </p:anim>
                                    <p:anim calcmode="lin" valueType="num">
                                      <p:cBhvr>
                                        <p:cTn id="18" dur="500" fill="hold"/>
                                        <p:tgtEl>
                                          <p:spTgt spid="7191"/>
                                        </p:tgtEl>
                                        <p:attrNameLst>
                                          <p:attrName>ppt_w</p:attrName>
                                        </p:attrNameLst>
                                      </p:cBhvr>
                                      <p:tavLst>
                                        <p:tav tm="0">
                                          <p:val>
                                            <p:strVal val="#ppt_w"/>
                                          </p:val>
                                        </p:tav>
                                        <p:tav tm="100000">
                                          <p:val>
                                            <p:strVal val="#ppt_w"/>
                                          </p:val>
                                        </p:tav>
                                      </p:tavLst>
                                    </p:anim>
                                    <p:anim calcmode="lin" valueType="num">
                                      <p:cBhvr>
                                        <p:cTn id="19" dur="500" fill="hold"/>
                                        <p:tgtEl>
                                          <p:spTgt spid="7191"/>
                                        </p:tgtEl>
                                        <p:attrNameLst>
                                          <p:attrName>ppt_h</p:attrName>
                                        </p:attrNameLst>
                                      </p:cBhvr>
                                      <p:tavLst>
                                        <p:tav tm="0">
                                          <p:val>
                                            <p:fltVal val="0"/>
                                          </p:val>
                                        </p:tav>
                                        <p:tav tm="100000">
                                          <p:val>
                                            <p:strVal val="#ppt_h"/>
                                          </p:val>
                                        </p:tav>
                                      </p:tavLst>
                                    </p:anim>
                                  </p:childTnLst>
                                </p:cTn>
                              </p:par>
                            </p:childTnLst>
                          </p:cTn>
                        </p:par>
                        <p:par>
                          <p:cTn id="20" fill="hold" nodeType="afterGroup">
                            <p:stCondLst>
                              <p:cond delay="500"/>
                            </p:stCondLst>
                            <p:childTnLst>
                              <p:par>
                                <p:cTn id="21" presetID="12" presetClass="entr" presetSubtype="1" fill="hold" grpId="0" nodeType="afterEffect">
                                  <p:stCondLst>
                                    <p:cond delay="0"/>
                                  </p:stCondLst>
                                  <p:childTnLst>
                                    <p:set>
                                      <p:cBhvr>
                                        <p:cTn id="22" dur="1" fill="hold">
                                          <p:stCondLst>
                                            <p:cond delay="0"/>
                                          </p:stCondLst>
                                        </p:cTn>
                                        <p:tgtEl>
                                          <p:spTgt spid="7173"/>
                                        </p:tgtEl>
                                        <p:attrNameLst>
                                          <p:attrName>style.visibility</p:attrName>
                                        </p:attrNameLst>
                                      </p:cBhvr>
                                      <p:to>
                                        <p:strVal val="visible"/>
                                      </p:to>
                                    </p:set>
                                    <p:animEffect transition="in" filter="slide(fromTop)">
                                      <p:cBhvr>
                                        <p:cTn id="23" dur="500"/>
                                        <p:tgtEl>
                                          <p:spTgt spid="717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2" fill="hold" nodeType="clickEffect">
                                  <p:stCondLst>
                                    <p:cond delay="0"/>
                                  </p:stCondLst>
                                  <p:childTnLst>
                                    <p:set>
                                      <p:cBhvr>
                                        <p:cTn id="27" dur="1" fill="hold">
                                          <p:stCondLst>
                                            <p:cond delay="0"/>
                                          </p:stCondLst>
                                        </p:cTn>
                                        <p:tgtEl>
                                          <p:spTgt spid="7189"/>
                                        </p:tgtEl>
                                        <p:attrNameLst>
                                          <p:attrName>style.visibility</p:attrName>
                                        </p:attrNameLst>
                                      </p:cBhvr>
                                      <p:to>
                                        <p:strVal val="visible"/>
                                      </p:to>
                                    </p:set>
                                    <p:animEffect transition="in" filter="wipe(right)">
                                      <p:cBhvr>
                                        <p:cTn id="28" dur="500"/>
                                        <p:tgtEl>
                                          <p:spTgt spid="718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7190"/>
                                        </p:tgtEl>
                                        <p:attrNameLst>
                                          <p:attrName>style.visibility</p:attrName>
                                        </p:attrNameLst>
                                      </p:cBhvr>
                                      <p:to>
                                        <p:strVal val="visible"/>
                                      </p:to>
                                    </p:set>
                                    <p:anim calcmode="lin" valueType="num">
                                      <p:cBhvr>
                                        <p:cTn id="33" dur="500" fill="hold"/>
                                        <p:tgtEl>
                                          <p:spTgt spid="7190"/>
                                        </p:tgtEl>
                                        <p:attrNameLst>
                                          <p:attrName>ppt_x</p:attrName>
                                        </p:attrNameLst>
                                      </p:cBhvr>
                                      <p:tavLst>
                                        <p:tav tm="0">
                                          <p:val>
                                            <p:strVal val="#ppt_x"/>
                                          </p:val>
                                        </p:tav>
                                        <p:tav tm="100000">
                                          <p:val>
                                            <p:strVal val="#ppt_x"/>
                                          </p:val>
                                        </p:tav>
                                      </p:tavLst>
                                    </p:anim>
                                    <p:anim calcmode="lin" valueType="num">
                                      <p:cBhvr>
                                        <p:cTn id="34" dur="500" fill="hold"/>
                                        <p:tgtEl>
                                          <p:spTgt spid="7190"/>
                                        </p:tgtEl>
                                        <p:attrNameLst>
                                          <p:attrName>ppt_y</p:attrName>
                                        </p:attrNameLst>
                                      </p:cBhvr>
                                      <p:tavLst>
                                        <p:tav tm="0">
                                          <p:val>
                                            <p:strVal val="#ppt_y-#ppt_h/2"/>
                                          </p:val>
                                        </p:tav>
                                        <p:tav tm="100000">
                                          <p:val>
                                            <p:strVal val="#ppt_y"/>
                                          </p:val>
                                        </p:tav>
                                      </p:tavLst>
                                    </p:anim>
                                    <p:anim calcmode="lin" valueType="num">
                                      <p:cBhvr>
                                        <p:cTn id="35" dur="500" fill="hold"/>
                                        <p:tgtEl>
                                          <p:spTgt spid="7190"/>
                                        </p:tgtEl>
                                        <p:attrNameLst>
                                          <p:attrName>ppt_w</p:attrName>
                                        </p:attrNameLst>
                                      </p:cBhvr>
                                      <p:tavLst>
                                        <p:tav tm="0">
                                          <p:val>
                                            <p:strVal val="#ppt_w"/>
                                          </p:val>
                                        </p:tav>
                                        <p:tav tm="100000">
                                          <p:val>
                                            <p:strVal val="#ppt_w"/>
                                          </p:val>
                                        </p:tav>
                                      </p:tavLst>
                                    </p:anim>
                                    <p:anim calcmode="lin" valueType="num">
                                      <p:cBhvr>
                                        <p:cTn id="36" dur="500" fill="hold"/>
                                        <p:tgtEl>
                                          <p:spTgt spid="7190"/>
                                        </p:tgtEl>
                                        <p:attrNameLst>
                                          <p:attrName>ppt_h</p:attrName>
                                        </p:attrNameLst>
                                      </p:cBhvr>
                                      <p:tavLst>
                                        <p:tav tm="0">
                                          <p:val>
                                            <p:fltVal val="0"/>
                                          </p:val>
                                        </p:tav>
                                        <p:tav tm="100000">
                                          <p:val>
                                            <p:strVal val="#ppt_h"/>
                                          </p:val>
                                        </p:tav>
                                      </p:tavLst>
                                    </p:anim>
                                  </p:childTnLst>
                                </p:cTn>
                              </p:par>
                            </p:childTnLst>
                          </p:cTn>
                        </p:par>
                        <p:par>
                          <p:cTn id="37" fill="hold" nodeType="afterGroup">
                            <p:stCondLst>
                              <p:cond delay="500"/>
                            </p:stCondLst>
                            <p:childTnLst>
                              <p:par>
                                <p:cTn id="38" presetID="17" presetClass="entr" presetSubtype="1" fill="hold" grpId="0" nodeType="afterEffect">
                                  <p:stCondLst>
                                    <p:cond delay="0"/>
                                  </p:stCondLst>
                                  <p:childTnLst>
                                    <p:set>
                                      <p:cBhvr>
                                        <p:cTn id="39" dur="1" fill="hold">
                                          <p:stCondLst>
                                            <p:cond delay="0"/>
                                          </p:stCondLst>
                                        </p:cTn>
                                        <p:tgtEl>
                                          <p:spTgt spid="7192"/>
                                        </p:tgtEl>
                                        <p:attrNameLst>
                                          <p:attrName>style.visibility</p:attrName>
                                        </p:attrNameLst>
                                      </p:cBhvr>
                                      <p:to>
                                        <p:strVal val="visible"/>
                                      </p:to>
                                    </p:set>
                                    <p:anim calcmode="lin" valueType="num">
                                      <p:cBhvr>
                                        <p:cTn id="40" dur="500" fill="hold"/>
                                        <p:tgtEl>
                                          <p:spTgt spid="7192"/>
                                        </p:tgtEl>
                                        <p:attrNameLst>
                                          <p:attrName>ppt_x</p:attrName>
                                        </p:attrNameLst>
                                      </p:cBhvr>
                                      <p:tavLst>
                                        <p:tav tm="0">
                                          <p:val>
                                            <p:strVal val="#ppt_x"/>
                                          </p:val>
                                        </p:tav>
                                        <p:tav tm="100000">
                                          <p:val>
                                            <p:strVal val="#ppt_x"/>
                                          </p:val>
                                        </p:tav>
                                      </p:tavLst>
                                    </p:anim>
                                    <p:anim calcmode="lin" valueType="num">
                                      <p:cBhvr>
                                        <p:cTn id="41" dur="500" fill="hold"/>
                                        <p:tgtEl>
                                          <p:spTgt spid="7192"/>
                                        </p:tgtEl>
                                        <p:attrNameLst>
                                          <p:attrName>ppt_y</p:attrName>
                                        </p:attrNameLst>
                                      </p:cBhvr>
                                      <p:tavLst>
                                        <p:tav tm="0">
                                          <p:val>
                                            <p:strVal val="#ppt_y-#ppt_h/2"/>
                                          </p:val>
                                        </p:tav>
                                        <p:tav tm="100000">
                                          <p:val>
                                            <p:strVal val="#ppt_y"/>
                                          </p:val>
                                        </p:tav>
                                      </p:tavLst>
                                    </p:anim>
                                    <p:anim calcmode="lin" valueType="num">
                                      <p:cBhvr>
                                        <p:cTn id="42" dur="500" fill="hold"/>
                                        <p:tgtEl>
                                          <p:spTgt spid="7192"/>
                                        </p:tgtEl>
                                        <p:attrNameLst>
                                          <p:attrName>ppt_w</p:attrName>
                                        </p:attrNameLst>
                                      </p:cBhvr>
                                      <p:tavLst>
                                        <p:tav tm="0">
                                          <p:val>
                                            <p:strVal val="#ppt_w"/>
                                          </p:val>
                                        </p:tav>
                                        <p:tav tm="100000">
                                          <p:val>
                                            <p:strVal val="#ppt_w"/>
                                          </p:val>
                                        </p:tav>
                                      </p:tavLst>
                                    </p:anim>
                                    <p:anim calcmode="lin" valueType="num">
                                      <p:cBhvr>
                                        <p:cTn id="43" dur="500" fill="hold"/>
                                        <p:tgtEl>
                                          <p:spTgt spid="7192"/>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183"/>
                                        </p:tgtEl>
                                        <p:attrNameLst>
                                          <p:attrName>style.visibility</p:attrName>
                                        </p:attrNameLst>
                                      </p:cBhvr>
                                      <p:to>
                                        <p:strVal val="visible"/>
                                      </p:to>
                                    </p:set>
                                    <p:animEffect transition="in" filter="wipe(left)">
                                      <p:cBhvr>
                                        <p:cTn id="48" dur="500"/>
                                        <p:tgtEl>
                                          <p:spTgt spid="7183"/>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7184"/>
                                        </p:tgtEl>
                                        <p:attrNameLst>
                                          <p:attrName>style.visibility</p:attrName>
                                        </p:attrNameLst>
                                      </p:cBhvr>
                                      <p:to>
                                        <p:strVal val="visible"/>
                                      </p:to>
                                    </p:set>
                                    <p:animEffect transition="in" filter="wipe(left)">
                                      <p:cBhvr>
                                        <p:cTn id="52" dur="500"/>
                                        <p:tgtEl>
                                          <p:spTgt spid="7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autoUpdateAnimBg="0"/>
      <p:bldP spid="7173" grpId="0" animBg="1" autoUpdateAnimBg="0"/>
      <p:bldP spid="7174" grpId="0" animBg="1" autoUpdateAnimBg="0"/>
      <p:bldP spid="7183" grpId="0" animBg="1" autoUpdateAnimBg="0"/>
      <p:bldP spid="7184" grpId="0" animBg="1" autoUpdateAnimBg="0"/>
      <p:bldP spid="7190" grpId="0" animBg="1"/>
      <p:bldP spid="7191" grpId="0" animBg="1"/>
      <p:bldP spid="719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3074"/>
          <p:cNvSpPr txBox="1">
            <a:spLocks noChangeArrowheads="1"/>
          </p:cNvSpPr>
          <p:nvPr/>
        </p:nvSpPr>
        <p:spPr bwMode="auto">
          <a:xfrm>
            <a:off x="379413" y="304800"/>
            <a:ext cx="8383587"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4000" b="1">
                <a:ea typeface="楷体_GB2312" charset="0"/>
              </a:rPr>
              <a:t>实现“一趟插入排序”可分三步进行：</a:t>
            </a:r>
            <a:endParaRPr lang="zh-CN" altLang="en-US" sz="4000">
              <a:solidFill>
                <a:srgbClr val="0000FF"/>
              </a:solidFill>
              <a:ea typeface="楷体_GB2312" charset="0"/>
            </a:endParaRPr>
          </a:p>
        </p:txBody>
      </p:sp>
      <p:sp>
        <p:nvSpPr>
          <p:cNvPr id="73737" name="Text Box 3081"/>
          <p:cNvSpPr txBox="1">
            <a:spLocks noChangeArrowheads="1"/>
          </p:cNvSpPr>
          <p:nvPr/>
        </p:nvSpPr>
        <p:spPr bwMode="auto">
          <a:xfrm>
            <a:off x="609600" y="5318125"/>
            <a:ext cx="853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4000" b="1">
                <a:solidFill>
                  <a:srgbClr val="0000FF"/>
                </a:solidFill>
                <a:ea typeface="楷体_GB2312" charset="0"/>
              </a:rPr>
              <a:t>3</a:t>
            </a:r>
            <a:r>
              <a:rPr lang="zh-CN" altLang="en-US" sz="4000" b="1">
                <a:solidFill>
                  <a:srgbClr val="0000FF"/>
                </a:solidFill>
                <a:ea typeface="楷体_GB2312" charset="0"/>
              </a:rPr>
              <a:t>．</a:t>
            </a:r>
            <a:r>
              <a:rPr lang="zh-CN" altLang="en-US" sz="3600">
                <a:solidFill>
                  <a:srgbClr val="0000FF"/>
                </a:solidFill>
                <a:ea typeface="楷体_GB2312" charset="0"/>
              </a:rPr>
              <a:t>将</a:t>
            </a:r>
            <a:r>
              <a:rPr lang="en-US" altLang="zh-CN" sz="3600">
                <a:solidFill>
                  <a:srgbClr val="0000FF"/>
                </a:solidFill>
                <a:ea typeface="楷体_GB2312" charset="0"/>
              </a:rPr>
              <a:t>R[i] </a:t>
            </a:r>
            <a:r>
              <a:rPr lang="zh-CN" altLang="en-US" sz="4000" b="1">
                <a:solidFill>
                  <a:srgbClr val="003366"/>
                </a:solidFill>
                <a:ea typeface="楷体_GB2312" charset="0"/>
              </a:rPr>
              <a:t>插入</a:t>
            </a:r>
            <a:r>
              <a:rPr lang="en-US" altLang="zh-CN" sz="3600">
                <a:solidFill>
                  <a:srgbClr val="0000FF"/>
                </a:solidFill>
                <a:ea typeface="楷体_GB2312" charset="0"/>
              </a:rPr>
              <a:t>(</a:t>
            </a:r>
            <a:r>
              <a:rPr lang="zh-CN" altLang="en-US" sz="3600">
                <a:solidFill>
                  <a:srgbClr val="0000FF"/>
                </a:solidFill>
                <a:ea typeface="楷体_GB2312" charset="0"/>
              </a:rPr>
              <a:t>复制</a:t>
            </a:r>
            <a:r>
              <a:rPr lang="en-US" altLang="zh-CN" sz="3600">
                <a:solidFill>
                  <a:srgbClr val="0000FF"/>
                </a:solidFill>
                <a:ea typeface="楷体_GB2312" charset="0"/>
              </a:rPr>
              <a:t>)</a:t>
            </a:r>
            <a:r>
              <a:rPr lang="zh-CN" altLang="en-US" sz="3600">
                <a:solidFill>
                  <a:srgbClr val="0000FF"/>
                </a:solidFill>
                <a:ea typeface="楷体_GB2312" charset="0"/>
              </a:rPr>
              <a:t>到</a:t>
            </a:r>
            <a:r>
              <a:rPr lang="en-US" altLang="zh-CN" sz="3600">
                <a:solidFill>
                  <a:srgbClr val="0000FF"/>
                </a:solidFill>
                <a:ea typeface="楷体_GB2312" charset="0"/>
              </a:rPr>
              <a:t>R[j+1]</a:t>
            </a:r>
            <a:r>
              <a:rPr lang="zh-CN" altLang="en-US" sz="3600">
                <a:solidFill>
                  <a:srgbClr val="0000FF"/>
                </a:solidFill>
                <a:ea typeface="楷体_GB2312" charset="0"/>
              </a:rPr>
              <a:t>的位置上。</a:t>
            </a:r>
            <a:endParaRPr lang="zh-CN" altLang="en-US" sz="4000">
              <a:solidFill>
                <a:srgbClr val="0000FF"/>
              </a:solidFill>
              <a:ea typeface="楷体_GB2312" charset="0"/>
            </a:endParaRPr>
          </a:p>
        </p:txBody>
      </p:sp>
      <p:sp>
        <p:nvSpPr>
          <p:cNvPr id="73738" name="Rectangle 3082"/>
          <p:cNvSpPr>
            <a:spLocks noChangeArrowheads="1"/>
          </p:cNvSpPr>
          <p:nvPr/>
        </p:nvSpPr>
        <p:spPr bwMode="auto">
          <a:xfrm>
            <a:off x="609600" y="3276600"/>
            <a:ext cx="8534400"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4000" b="1">
                <a:solidFill>
                  <a:srgbClr val="0000FF"/>
                </a:solidFill>
                <a:ea typeface="楷体_GB2312" charset="0"/>
              </a:rPr>
              <a:t>2</a:t>
            </a:r>
            <a:r>
              <a:rPr lang="zh-CN" altLang="en-US" sz="4000" b="1">
                <a:solidFill>
                  <a:srgbClr val="0000FF"/>
                </a:solidFill>
                <a:ea typeface="楷体_GB2312" charset="0"/>
              </a:rPr>
              <a:t>．</a:t>
            </a:r>
            <a:r>
              <a:rPr lang="zh-CN" altLang="en-US" sz="3600">
                <a:solidFill>
                  <a:srgbClr val="0000FF"/>
                </a:solidFill>
                <a:ea typeface="楷体_GB2312" charset="0"/>
              </a:rPr>
              <a:t>将</a:t>
            </a:r>
            <a:r>
              <a:rPr lang="en-US" altLang="zh-CN" sz="3600">
                <a:solidFill>
                  <a:srgbClr val="0000FF"/>
                </a:solidFill>
                <a:ea typeface="楷体_GB2312" charset="0"/>
              </a:rPr>
              <a:t>R[j+1</a:t>
            </a:r>
            <a:r>
              <a:rPr lang="en-US" altLang="zh-CN" sz="3600" b="1">
                <a:solidFill>
                  <a:srgbClr val="0000FF"/>
                </a:solidFill>
                <a:ea typeface="楷体_GB2312" charset="0"/>
              </a:rPr>
              <a:t>..</a:t>
            </a:r>
            <a:r>
              <a:rPr lang="en-US" altLang="zh-CN" sz="3600">
                <a:solidFill>
                  <a:srgbClr val="0000FF"/>
                </a:solidFill>
                <a:ea typeface="楷体_GB2312" charset="0"/>
              </a:rPr>
              <a:t>i-1]</a:t>
            </a:r>
            <a:r>
              <a:rPr lang="zh-CN" altLang="en-US" sz="3600">
                <a:solidFill>
                  <a:srgbClr val="0000FF"/>
                </a:solidFill>
                <a:ea typeface="楷体_GB2312" charset="0"/>
              </a:rPr>
              <a:t>中的所有</a:t>
            </a:r>
            <a:r>
              <a:rPr lang="zh-CN" altLang="en-US" sz="4000" b="1">
                <a:solidFill>
                  <a:srgbClr val="003366"/>
                </a:solidFill>
                <a:ea typeface="楷体_GB2312" charset="0"/>
              </a:rPr>
              <a:t>记录</a:t>
            </a:r>
            <a:r>
              <a:rPr lang="zh-CN" altLang="en-US" sz="3600">
                <a:solidFill>
                  <a:srgbClr val="0000FF"/>
                </a:solidFill>
                <a:ea typeface="楷体_GB2312" charset="0"/>
              </a:rPr>
              <a:t>均</a:t>
            </a:r>
            <a:r>
              <a:rPr lang="zh-CN" altLang="en-US" sz="4000" b="1">
                <a:solidFill>
                  <a:srgbClr val="003366"/>
                </a:solidFill>
                <a:ea typeface="楷体_GB2312" charset="0"/>
              </a:rPr>
              <a:t>后移</a:t>
            </a:r>
            <a:endParaRPr lang="zh-CN" altLang="en-US" sz="3600">
              <a:solidFill>
                <a:srgbClr val="0000FF"/>
              </a:solidFill>
              <a:ea typeface="楷体_GB2312" charset="0"/>
            </a:endParaRPr>
          </a:p>
          <a:p>
            <a:pPr algn="l">
              <a:lnSpc>
                <a:spcPct val="130000"/>
              </a:lnSpc>
            </a:pPr>
            <a:r>
              <a:rPr lang="zh-CN" altLang="en-US" sz="3600">
                <a:solidFill>
                  <a:srgbClr val="0000FF"/>
                </a:solidFill>
                <a:ea typeface="楷体_GB2312" charset="0"/>
              </a:rPr>
              <a:t>     一个位置；</a:t>
            </a:r>
            <a:endParaRPr lang="zh-CN" altLang="en-US" sz="4000">
              <a:solidFill>
                <a:srgbClr val="0000FF"/>
              </a:solidFill>
              <a:ea typeface="楷体_GB2312" charset="0"/>
            </a:endParaRPr>
          </a:p>
        </p:txBody>
      </p:sp>
      <p:sp>
        <p:nvSpPr>
          <p:cNvPr id="73739" name="Rectangle 3083"/>
          <p:cNvSpPr>
            <a:spLocks noChangeArrowheads="1"/>
          </p:cNvSpPr>
          <p:nvPr/>
        </p:nvSpPr>
        <p:spPr bwMode="auto">
          <a:xfrm>
            <a:off x="552450" y="1398588"/>
            <a:ext cx="8280400" cy="159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4000" b="1">
                <a:solidFill>
                  <a:srgbClr val="0000FF"/>
                </a:solidFill>
                <a:ea typeface="楷体_GB2312" charset="0"/>
              </a:rPr>
              <a:t>1</a:t>
            </a:r>
            <a:r>
              <a:rPr lang="zh-CN" altLang="en-US" sz="4000" b="1">
                <a:solidFill>
                  <a:srgbClr val="0000FF"/>
                </a:solidFill>
                <a:ea typeface="楷体_GB2312" charset="0"/>
              </a:rPr>
              <a:t>．</a:t>
            </a:r>
            <a:r>
              <a:rPr lang="zh-CN" altLang="en-US" sz="3600">
                <a:solidFill>
                  <a:srgbClr val="0000FF"/>
                </a:solidFill>
                <a:ea typeface="楷体_GB2312" charset="0"/>
              </a:rPr>
              <a:t>在</a:t>
            </a:r>
            <a:r>
              <a:rPr lang="en-US" altLang="zh-CN" sz="3600">
                <a:solidFill>
                  <a:srgbClr val="0000FF"/>
                </a:solidFill>
                <a:ea typeface="楷体_GB2312" charset="0"/>
              </a:rPr>
              <a:t>R[1..i-1]</a:t>
            </a:r>
            <a:r>
              <a:rPr lang="zh-CN" altLang="en-US" sz="3600">
                <a:solidFill>
                  <a:srgbClr val="0000FF"/>
                </a:solidFill>
                <a:ea typeface="楷体_GB2312" charset="0"/>
              </a:rPr>
              <a:t>中</a:t>
            </a:r>
            <a:r>
              <a:rPr lang="zh-CN" altLang="en-US" sz="4000" b="1">
                <a:solidFill>
                  <a:srgbClr val="003366"/>
                </a:solidFill>
                <a:ea typeface="楷体_GB2312" charset="0"/>
              </a:rPr>
              <a:t>查找</a:t>
            </a:r>
            <a:r>
              <a:rPr lang="en-US" altLang="zh-CN" sz="3600">
                <a:solidFill>
                  <a:srgbClr val="0000FF"/>
                </a:solidFill>
                <a:ea typeface="楷体_GB2312" charset="0"/>
              </a:rPr>
              <a:t>R[i]</a:t>
            </a:r>
            <a:r>
              <a:rPr lang="zh-CN" altLang="en-US" sz="3600">
                <a:solidFill>
                  <a:srgbClr val="0000FF"/>
                </a:solidFill>
                <a:ea typeface="楷体_GB2312" charset="0"/>
              </a:rPr>
              <a:t>的插入位置，</a:t>
            </a:r>
          </a:p>
          <a:p>
            <a:pPr algn="l">
              <a:lnSpc>
                <a:spcPct val="130000"/>
              </a:lnSpc>
            </a:pPr>
            <a:r>
              <a:rPr lang="zh-CN" altLang="en-US" sz="3600">
                <a:solidFill>
                  <a:srgbClr val="0000FF"/>
                </a:solidFill>
                <a:ea typeface="楷体_GB2312" charset="0"/>
              </a:rPr>
              <a:t>    </a:t>
            </a:r>
            <a:r>
              <a:rPr lang="en-US" altLang="zh-CN" sz="3600">
                <a:solidFill>
                  <a:srgbClr val="0000FF"/>
                </a:solidFill>
                <a:ea typeface="楷体_GB2312" charset="0"/>
              </a:rPr>
              <a:t>R[1..j].key </a:t>
            </a:r>
            <a:r>
              <a:rPr lang="en-US" altLang="zh-CN" sz="3600" b="1">
                <a:solidFill>
                  <a:srgbClr val="003366"/>
                </a:solidFill>
                <a:ea typeface="楷体_GB2312" charset="0"/>
                <a:sym typeface="Symbol" charset="2"/>
              </a:rPr>
              <a:t></a:t>
            </a:r>
            <a:r>
              <a:rPr lang="en-US" altLang="zh-CN" sz="3600">
                <a:solidFill>
                  <a:srgbClr val="0000FF"/>
                </a:solidFill>
                <a:ea typeface="楷体_GB2312" charset="0"/>
                <a:sym typeface="Symbol" charset="2"/>
              </a:rPr>
              <a:t> R[i].key </a:t>
            </a:r>
            <a:r>
              <a:rPr lang="en-US" altLang="zh-CN" sz="3600" b="1">
                <a:solidFill>
                  <a:srgbClr val="003366"/>
                </a:solidFill>
                <a:ea typeface="楷体_GB2312" charset="0"/>
                <a:sym typeface="Symbol" charset="2"/>
              </a:rPr>
              <a:t>&lt;</a:t>
            </a:r>
            <a:r>
              <a:rPr lang="en-US" altLang="zh-CN" sz="3600">
                <a:solidFill>
                  <a:srgbClr val="0000FF"/>
                </a:solidFill>
                <a:ea typeface="楷体_GB2312" charset="0"/>
                <a:sym typeface="Symbol" charset="2"/>
              </a:rPr>
              <a:t> R[j+1..i-1].key</a:t>
            </a:r>
            <a:r>
              <a:rPr lang="zh-CN" altLang="en-US" sz="3600">
                <a:solidFill>
                  <a:srgbClr val="0000FF"/>
                </a:solidFill>
                <a:ea typeface="楷体_GB2312" charset="0"/>
                <a:sym typeface="Symbol" charset="2"/>
              </a:rPr>
              <a:t>；</a:t>
            </a:r>
            <a:endParaRPr lang="zh-CN" altLang="en-US" sz="4000">
              <a:solidFill>
                <a:srgbClr val="0000FF"/>
              </a:solidFill>
              <a:ea typeface="楷体_GB2312" charset="0"/>
            </a:endParaRPr>
          </a:p>
        </p:txBody>
      </p:sp>
    </p:spTree>
    <p:extLst>
      <p:ext uri="{BB962C8B-B14F-4D97-AF65-F5344CB8AC3E}">
        <p14:creationId xmlns:p14="http://schemas.microsoft.com/office/powerpoint/2010/main" val="16932922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strips(downRight)">
                                      <p:cBhvr>
                                        <p:cTn id="7" dur="500"/>
                                        <p:tgtEl>
                                          <p:spTgt spid="73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39"/>
                                        </p:tgtEl>
                                        <p:attrNameLst>
                                          <p:attrName>style.visibility</p:attrName>
                                        </p:attrNameLst>
                                      </p:cBhvr>
                                      <p:to>
                                        <p:strVal val="visible"/>
                                      </p:to>
                                    </p:set>
                                    <p:animEffect transition="in" filter="wipe(left)">
                                      <p:cBhvr>
                                        <p:cTn id="12" dur="500"/>
                                        <p:tgtEl>
                                          <p:spTgt spid="73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738"/>
                                        </p:tgtEl>
                                        <p:attrNameLst>
                                          <p:attrName>style.visibility</p:attrName>
                                        </p:attrNameLst>
                                      </p:cBhvr>
                                      <p:to>
                                        <p:strVal val="visible"/>
                                      </p:to>
                                    </p:set>
                                    <p:animEffect transition="in" filter="wipe(left)">
                                      <p:cBhvr>
                                        <p:cTn id="17" dur="500"/>
                                        <p:tgtEl>
                                          <p:spTgt spid="737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737"/>
                                        </p:tgtEl>
                                        <p:attrNameLst>
                                          <p:attrName>style.visibility</p:attrName>
                                        </p:attrNameLst>
                                      </p:cBhvr>
                                      <p:to>
                                        <p:strVal val="visible"/>
                                      </p:to>
                                    </p:set>
                                    <p:animEffect transition="in" filter="wipe(left)">
                                      <p:cBhvr>
                                        <p:cTn id="22" dur="500"/>
                                        <p:tgtEl>
                                          <p:spTgt spid="73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p:bldP spid="73737" grpId="0" autoUpdateAnimBg="0"/>
      <p:bldP spid="73738" grpId="0" autoUpdateAnimBg="0"/>
      <p:bldP spid="7373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1026">
            <a:hlinkClick r:id="" action="ppaction://hlinkshowjump?jump=nextslide"/>
          </p:cNvPr>
          <p:cNvSpPr txBox="1">
            <a:spLocks noChangeArrowheads="1"/>
          </p:cNvSpPr>
          <p:nvPr/>
        </p:nvSpPr>
        <p:spPr bwMode="auto">
          <a:xfrm>
            <a:off x="1066800" y="1584325"/>
            <a:ext cx="685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4400" b="1">
                <a:solidFill>
                  <a:srgbClr val="FF00FF"/>
                </a:solidFill>
                <a:ea typeface="楷体_GB2312" charset="0"/>
              </a:rPr>
              <a:t>直接插入排序</a:t>
            </a:r>
            <a:r>
              <a:rPr lang="zh-CN" altLang="en-US" sz="3200" b="1">
                <a:solidFill>
                  <a:srgbClr val="990000"/>
                </a:solidFill>
                <a:ea typeface="楷体_GB2312" charset="0"/>
              </a:rPr>
              <a:t>（基于顺序查找）</a:t>
            </a:r>
            <a:endParaRPr lang="zh-CN" altLang="en-US" sz="4400" b="1">
              <a:solidFill>
                <a:srgbClr val="FF00FF"/>
              </a:solidFill>
              <a:ea typeface="楷体_GB2312" charset="0"/>
            </a:endParaRPr>
          </a:p>
        </p:txBody>
      </p:sp>
      <p:sp>
        <p:nvSpPr>
          <p:cNvPr id="113668" name="Text Box 1028">
            <a:hlinkClick r:id="rId2" action="ppaction://hlinksldjump"/>
          </p:cNvPr>
          <p:cNvSpPr txBox="1">
            <a:spLocks noChangeArrowheads="1"/>
          </p:cNvSpPr>
          <p:nvPr/>
        </p:nvSpPr>
        <p:spPr bwMode="auto">
          <a:xfrm>
            <a:off x="1143000" y="4038600"/>
            <a:ext cx="62785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表插入排序</a:t>
            </a:r>
            <a:r>
              <a:rPr lang="zh-CN" altLang="en-US" sz="3200" b="1">
                <a:solidFill>
                  <a:srgbClr val="990000"/>
                </a:solidFill>
                <a:ea typeface="楷体_GB2312" charset="0"/>
              </a:rPr>
              <a:t>（基于链表存储）</a:t>
            </a:r>
            <a:endParaRPr lang="zh-CN" altLang="en-US" sz="4400" b="1">
              <a:solidFill>
                <a:srgbClr val="FF00FF"/>
              </a:solidFill>
              <a:ea typeface="楷体_GB2312" charset="0"/>
            </a:endParaRPr>
          </a:p>
        </p:txBody>
      </p:sp>
      <p:pic>
        <p:nvPicPr>
          <p:cNvPr id="113670" name="Picture 1030" descr="Pebble">
            <a:hlinkClick r:id="" action="ppaction://hlinkshowjump?jump=nextslide"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7950"/>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13671" name="Picture 1031" descr="Pebble">
            <a:hlinkClick r:id="rId4"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97150"/>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13672" name="Picture 1032" descr="Pebble">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816350"/>
            <a:ext cx="457200" cy="434975"/>
          </a:xfrm>
          <a:prstGeom prst="rect">
            <a:avLst/>
          </a:prstGeom>
          <a:noFill/>
          <a:extLst>
            <a:ext uri="{909E8E84-426E-40DD-AFC4-6F175D3DCCD1}">
              <a14:hiddenFill xmlns:a14="http://schemas.microsoft.com/office/drawing/2010/main">
                <a:solidFill>
                  <a:srgbClr val="FFFFFF"/>
                </a:solidFill>
              </a14:hiddenFill>
            </a:ext>
          </a:extLst>
        </p:spPr>
      </p:pic>
      <p:pic>
        <p:nvPicPr>
          <p:cNvPr id="113674" name="Picture 1034" descr="Pebble">
            <a:hlinkClick r:id="rId5"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5111750"/>
            <a:ext cx="457200" cy="434975"/>
          </a:xfrm>
          <a:prstGeom prst="rect">
            <a:avLst/>
          </a:prstGeom>
          <a:noFill/>
          <a:extLst>
            <a:ext uri="{909E8E84-426E-40DD-AFC4-6F175D3DCCD1}">
              <a14:hiddenFill xmlns:a14="http://schemas.microsoft.com/office/drawing/2010/main">
                <a:solidFill>
                  <a:srgbClr val="FFFFFF"/>
                </a:solidFill>
              </a14:hiddenFill>
            </a:ext>
          </a:extLst>
        </p:spPr>
      </p:pic>
      <p:sp>
        <p:nvSpPr>
          <p:cNvPr id="113676" name="Text Box 1036"/>
          <p:cNvSpPr txBox="1">
            <a:spLocks noChangeArrowheads="1"/>
          </p:cNvSpPr>
          <p:nvPr/>
        </p:nvSpPr>
        <p:spPr bwMode="auto">
          <a:xfrm>
            <a:off x="425450" y="425450"/>
            <a:ext cx="8470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8784"/>
                </a:solidFill>
                <a:ea typeface="隶书" charset="0"/>
              </a:rPr>
              <a:t>不同的具体实现方法导致不同的算法描述</a:t>
            </a:r>
            <a:endParaRPr lang="zh-CN" altLang="en-US" sz="3600">
              <a:ea typeface="隶书" charset="0"/>
            </a:endParaRPr>
          </a:p>
        </p:txBody>
      </p:sp>
      <p:sp>
        <p:nvSpPr>
          <p:cNvPr id="113677" name="Text Box 1037">
            <a:hlinkClick r:id="rId4" action="ppaction://hlinksldjump"/>
          </p:cNvPr>
          <p:cNvSpPr txBox="1">
            <a:spLocks noChangeArrowheads="1"/>
          </p:cNvSpPr>
          <p:nvPr/>
        </p:nvSpPr>
        <p:spPr bwMode="auto">
          <a:xfrm>
            <a:off x="1143000" y="2819400"/>
            <a:ext cx="685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4400" b="1">
                <a:solidFill>
                  <a:srgbClr val="FF00FF"/>
                </a:solidFill>
                <a:ea typeface="楷体_GB2312" charset="0"/>
              </a:rPr>
              <a:t>折半插入排序</a:t>
            </a:r>
            <a:r>
              <a:rPr lang="zh-CN" altLang="en-US" sz="3200" b="1">
                <a:solidFill>
                  <a:srgbClr val="990000"/>
                </a:solidFill>
                <a:ea typeface="楷体_GB2312" charset="0"/>
              </a:rPr>
              <a:t>（基于折半查找）</a:t>
            </a:r>
            <a:endParaRPr lang="zh-CN" altLang="en-US" sz="4400" b="1">
              <a:solidFill>
                <a:srgbClr val="FF00FF"/>
              </a:solidFill>
              <a:ea typeface="楷体_GB2312" charset="0"/>
            </a:endParaRPr>
          </a:p>
        </p:txBody>
      </p:sp>
      <p:sp>
        <p:nvSpPr>
          <p:cNvPr id="113678" name="Text Box 1038">
            <a:hlinkClick r:id="rId5" action="ppaction://hlinksldjump"/>
          </p:cNvPr>
          <p:cNvSpPr txBox="1">
            <a:spLocks noChangeArrowheads="1"/>
          </p:cNvSpPr>
          <p:nvPr/>
        </p:nvSpPr>
        <p:spPr bwMode="auto">
          <a:xfrm>
            <a:off x="1143000" y="5257800"/>
            <a:ext cx="6858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4400" b="1">
                <a:solidFill>
                  <a:srgbClr val="FF00FF"/>
                </a:solidFill>
                <a:ea typeface="楷体_GB2312" charset="0"/>
              </a:rPr>
              <a:t>希尔排序</a:t>
            </a:r>
            <a:r>
              <a:rPr lang="zh-CN" altLang="en-US" sz="3200" b="1">
                <a:solidFill>
                  <a:srgbClr val="990000"/>
                </a:solidFill>
                <a:ea typeface="楷体_GB2312" charset="0"/>
              </a:rPr>
              <a:t>（基于逐趟缩小增量）</a:t>
            </a:r>
            <a:endParaRPr lang="zh-CN" altLang="en-US" sz="4400" b="1">
              <a:solidFill>
                <a:srgbClr val="FF00FF"/>
              </a:solidFill>
              <a:ea typeface="楷体_GB2312" charset="0"/>
            </a:endParaRPr>
          </a:p>
        </p:txBody>
      </p:sp>
      <p:sp>
        <p:nvSpPr>
          <p:cNvPr id="113679" name="AutoShape 1039">
            <a:hlinkClick r:id="rId6" action="ppaction://hlinksldjump" highlightClick="1"/>
          </p:cNvPr>
          <p:cNvSpPr>
            <a:spLocks noChangeArrowheads="1"/>
          </p:cNvSpPr>
          <p:nvPr/>
        </p:nvSpPr>
        <p:spPr bwMode="auto">
          <a:xfrm>
            <a:off x="8153400" y="61722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1396305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3676"/>
                                        </p:tgtEl>
                                        <p:attrNameLst>
                                          <p:attrName>style.visibility</p:attrName>
                                        </p:attrNameLst>
                                      </p:cBhvr>
                                      <p:to>
                                        <p:strVal val="visible"/>
                                      </p:to>
                                    </p:set>
                                    <p:animEffect transition="in" filter="wipe(left)">
                                      <p:cBhvr>
                                        <p:cTn id="7" dur="500"/>
                                        <p:tgtEl>
                                          <p:spTgt spid="113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3666"/>
                                        </p:tgtEl>
                                        <p:attrNameLst>
                                          <p:attrName>style.visibility</p:attrName>
                                        </p:attrNameLst>
                                      </p:cBhvr>
                                      <p:to>
                                        <p:strVal val="visible"/>
                                      </p:to>
                                    </p:set>
                                    <p:animEffect transition="in" filter="dissolve">
                                      <p:cBhvr>
                                        <p:cTn id="12" dur="500"/>
                                        <p:tgtEl>
                                          <p:spTgt spid="113666"/>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11367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3677"/>
                                        </p:tgtEl>
                                        <p:attrNameLst>
                                          <p:attrName>style.visibility</p:attrName>
                                        </p:attrNameLst>
                                      </p:cBhvr>
                                      <p:to>
                                        <p:strVal val="visible"/>
                                      </p:to>
                                    </p:set>
                                    <p:animEffect transition="in" filter="dissolve">
                                      <p:cBhvr>
                                        <p:cTn id="20" dur="500"/>
                                        <p:tgtEl>
                                          <p:spTgt spid="113677"/>
                                        </p:tgtEl>
                                      </p:cBhvr>
                                    </p:animEffect>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13679"/>
                                        </p:tgtEl>
                                        <p:attrNameLst>
                                          <p:attrName>style.visibility</p:attrName>
                                        </p:attrNameLst>
                                      </p:cBhvr>
                                      <p:to>
                                        <p:strVal val="visible"/>
                                      </p:to>
                                    </p:set>
                                    <p:anim calcmode="lin" valueType="num">
                                      <p:cBhvr additive="base">
                                        <p:cTn id="24" dur="500" fill="hold"/>
                                        <p:tgtEl>
                                          <p:spTgt spid="113679"/>
                                        </p:tgtEl>
                                        <p:attrNameLst>
                                          <p:attrName>ppt_x</p:attrName>
                                        </p:attrNameLst>
                                      </p:cBhvr>
                                      <p:tavLst>
                                        <p:tav tm="0">
                                          <p:val>
                                            <p:strVal val="0-#ppt_w/2"/>
                                          </p:val>
                                        </p:tav>
                                        <p:tav tm="100000">
                                          <p:val>
                                            <p:strVal val="#ppt_x"/>
                                          </p:val>
                                        </p:tav>
                                      </p:tavLst>
                                    </p:anim>
                                    <p:anim calcmode="lin" valueType="num">
                                      <p:cBhvr additive="base">
                                        <p:cTn id="25" dur="500" fill="hold"/>
                                        <p:tgtEl>
                                          <p:spTgt spid="113679"/>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1" presetClass="entr" presetSubtype="0" fill="hold" nodeType="afterEffect">
                                  <p:stCondLst>
                                    <p:cond delay="0"/>
                                  </p:stCondLst>
                                  <p:childTnLst>
                                    <p:set>
                                      <p:cBhvr>
                                        <p:cTn id="28" dur="1" fill="hold">
                                          <p:stCondLst>
                                            <p:cond delay="499"/>
                                          </p:stCondLst>
                                        </p:cTn>
                                        <p:tgtEl>
                                          <p:spTgt spid="11367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113668"/>
                                        </p:tgtEl>
                                        <p:attrNameLst>
                                          <p:attrName>style.visibility</p:attrName>
                                        </p:attrNameLst>
                                      </p:cBhvr>
                                      <p:to>
                                        <p:strVal val="visible"/>
                                      </p:to>
                                    </p:set>
                                    <p:animEffect transition="in" filter="randombar(vertical)">
                                      <p:cBhvr>
                                        <p:cTn id="33" dur="500"/>
                                        <p:tgtEl>
                                          <p:spTgt spid="113668"/>
                                        </p:tgtEl>
                                      </p:cBhvr>
                                    </p:animEffect>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11367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13678"/>
                                        </p:tgtEl>
                                        <p:attrNameLst>
                                          <p:attrName>style.visibility</p:attrName>
                                        </p:attrNameLst>
                                      </p:cBhvr>
                                      <p:to>
                                        <p:strVal val="visible"/>
                                      </p:to>
                                    </p:set>
                                    <p:animEffect transition="in" filter="dissolve">
                                      <p:cBhvr>
                                        <p:cTn id="41" dur="500"/>
                                        <p:tgtEl>
                                          <p:spTgt spid="113678"/>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1136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autoUpdateAnimBg="0"/>
      <p:bldP spid="113668" grpId="0" autoUpdateAnimBg="0"/>
      <p:bldP spid="113676" grpId="0" autoUpdateAnimBg="0"/>
      <p:bldP spid="113677" grpId="0" autoUpdateAnimBg="0"/>
      <p:bldP spid="113678" grpId="0" autoUpdateAnimBg="0"/>
      <p:bldP spid="11367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1026"/>
          <p:cNvSpPr txBox="1">
            <a:spLocks noChangeArrowheads="1"/>
          </p:cNvSpPr>
          <p:nvPr/>
        </p:nvSpPr>
        <p:spPr bwMode="auto">
          <a:xfrm>
            <a:off x="762000" y="381000"/>
            <a:ext cx="5029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4400" b="1">
                <a:solidFill>
                  <a:srgbClr val="FF00FF"/>
                </a:solidFill>
                <a:ea typeface="楷体_GB2312" charset="0"/>
              </a:rPr>
              <a:t>一、直接插入排序</a:t>
            </a:r>
          </a:p>
        </p:txBody>
      </p:sp>
      <p:sp>
        <p:nvSpPr>
          <p:cNvPr id="74755" name="Text Box 1027"/>
          <p:cNvSpPr txBox="1">
            <a:spLocks noChangeArrowheads="1"/>
          </p:cNvSpPr>
          <p:nvPr/>
        </p:nvSpPr>
        <p:spPr bwMode="auto">
          <a:xfrm>
            <a:off x="561975" y="1447800"/>
            <a:ext cx="8201025"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50000"/>
              </a:lnSpc>
            </a:pPr>
            <a:r>
              <a:rPr lang="zh-CN" altLang="en-US" sz="3600">
                <a:ea typeface="楷体_GB2312" charset="0"/>
              </a:rPr>
              <a:t>　　</a:t>
            </a:r>
            <a:r>
              <a:rPr lang="zh-CN" altLang="en-US" sz="4000">
                <a:ea typeface="楷体_GB2312" charset="0"/>
              </a:rPr>
              <a:t>利用</a:t>
            </a:r>
            <a:r>
              <a:rPr lang="zh-CN" altLang="en-US" sz="4000" b="1">
                <a:solidFill>
                  <a:srgbClr val="9900CC"/>
                </a:solidFill>
                <a:ea typeface="楷体_GB2312" charset="0"/>
              </a:rPr>
              <a:t> “顺序查找”</a:t>
            </a:r>
            <a:r>
              <a:rPr lang="zh-CN" altLang="en-US" sz="4000">
                <a:ea typeface="楷体_GB2312" charset="0"/>
              </a:rPr>
              <a:t>实现</a:t>
            </a:r>
          </a:p>
          <a:p>
            <a:pPr algn="l">
              <a:lnSpc>
                <a:spcPct val="150000"/>
              </a:lnSpc>
            </a:pPr>
            <a:r>
              <a:rPr lang="zh-CN" altLang="en-US" sz="4000">
                <a:ea typeface="楷体_GB2312" charset="0"/>
              </a:rPr>
              <a:t>“在</a:t>
            </a:r>
            <a:r>
              <a:rPr lang="en-US" altLang="zh-CN" sz="4000">
                <a:ea typeface="楷体_GB2312" charset="0"/>
              </a:rPr>
              <a:t>R[1..i-1]</a:t>
            </a:r>
            <a:r>
              <a:rPr lang="zh-CN" altLang="en-US" sz="4000">
                <a:ea typeface="楷体_GB2312" charset="0"/>
              </a:rPr>
              <a:t>中</a:t>
            </a:r>
            <a:r>
              <a:rPr lang="zh-CN" altLang="en-US" sz="4400" b="1">
                <a:solidFill>
                  <a:srgbClr val="0000FF"/>
                </a:solidFill>
                <a:ea typeface="楷体_GB2312" charset="0"/>
              </a:rPr>
              <a:t>查找</a:t>
            </a:r>
            <a:r>
              <a:rPr lang="en-US" altLang="zh-CN" sz="4000">
                <a:ea typeface="楷体_GB2312" charset="0"/>
              </a:rPr>
              <a:t>R[i]</a:t>
            </a:r>
            <a:r>
              <a:rPr lang="zh-CN" altLang="en-US" sz="4000">
                <a:ea typeface="楷体_GB2312" charset="0"/>
              </a:rPr>
              <a:t>的插入位置”</a:t>
            </a:r>
          </a:p>
        </p:txBody>
      </p:sp>
      <p:sp>
        <p:nvSpPr>
          <p:cNvPr id="74757" name="Text Box 1029"/>
          <p:cNvSpPr txBox="1">
            <a:spLocks noChangeArrowheads="1"/>
          </p:cNvSpPr>
          <p:nvPr/>
        </p:nvSpPr>
        <p:spPr bwMode="auto">
          <a:xfrm>
            <a:off x="1355725" y="4205288"/>
            <a:ext cx="509905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800" b="1">
                <a:solidFill>
                  <a:srgbClr val="840C26"/>
                </a:solidFill>
                <a:ea typeface="楷体_GB2312" charset="0"/>
              </a:rPr>
              <a:t>算法的实现要点：</a:t>
            </a:r>
            <a:endParaRPr lang="zh-CN" altLang="en-US"/>
          </a:p>
        </p:txBody>
      </p:sp>
    </p:spTree>
    <p:extLst>
      <p:ext uri="{BB962C8B-B14F-4D97-AF65-F5344CB8AC3E}">
        <p14:creationId xmlns:p14="http://schemas.microsoft.com/office/powerpoint/2010/main" val="18823302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additive="base">
                                        <p:cTn id="7" dur="500" fill="hold"/>
                                        <p:tgtEl>
                                          <p:spTgt spid="74754"/>
                                        </p:tgtEl>
                                        <p:attrNameLst>
                                          <p:attrName>ppt_x</p:attrName>
                                        </p:attrNameLst>
                                      </p:cBhvr>
                                      <p:tavLst>
                                        <p:tav tm="0">
                                          <p:val>
                                            <p:strVal val="#ppt_x"/>
                                          </p:val>
                                        </p:tav>
                                        <p:tav tm="100000">
                                          <p:val>
                                            <p:strVal val="#ppt_x"/>
                                          </p:val>
                                        </p:tav>
                                      </p:tavLst>
                                    </p:anim>
                                    <p:anim calcmode="lin" valueType="num">
                                      <p:cBhvr additive="base">
                                        <p:cTn id="8" dur="500" fill="hold"/>
                                        <p:tgtEl>
                                          <p:spTgt spid="7475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4755"/>
                                        </p:tgtEl>
                                        <p:attrNameLst>
                                          <p:attrName>style.visibility</p:attrName>
                                        </p:attrNameLst>
                                      </p:cBhvr>
                                      <p:to>
                                        <p:strVal val="visible"/>
                                      </p:to>
                                    </p:set>
                                    <p:animEffect transition="in" filter="wipe(left)">
                                      <p:cBhvr>
                                        <p:cTn id="13" dur="500"/>
                                        <p:tgtEl>
                                          <p:spTgt spid="7475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4757"/>
                                        </p:tgtEl>
                                        <p:attrNameLst>
                                          <p:attrName>style.visibility</p:attrName>
                                        </p:attrNameLst>
                                      </p:cBhvr>
                                      <p:to>
                                        <p:strVal val="visible"/>
                                      </p:to>
                                    </p:set>
                                    <p:animEffect transition="in" filter="wipe(left)">
                                      <p:cBhvr>
                                        <p:cTn id="18" dur="500"/>
                                        <p:tgtEl>
                                          <p:spTgt spid="74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utoUpdateAnimBg="0"/>
      <p:bldP spid="74755" grpId="0" autoUpdateAnimBg="0"/>
      <p:bldP spid="7475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a:hlinkClick r:id="rId2" action="ppaction://hlinksldjump"/>
          </p:cNvPr>
          <p:cNvSpPr txBox="1">
            <a:spLocks noChangeArrowheads="1"/>
          </p:cNvSpPr>
          <p:nvPr/>
        </p:nvSpPr>
        <p:spPr bwMode="auto">
          <a:xfrm>
            <a:off x="1127125" y="304800"/>
            <a:ext cx="63404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solidFill>
                  <a:srgbClr val="0000FF"/>
                </a:solidFill>
                <a:ea typeface="楷体_GB2312" charset="0"/>
              </a:rPr>
              <a:t>从</a:t>
            </a:r>
            <a:r>
              <a:rPr lang="en-US" altLang="zh-CN" sz="3600">
                <a:solidFill>
                  <a:srgbClr val="0000FF"/>
                </a:solidFill>
                <a:ea typeface="楷体_GB2312" charset="0"/>
              </a:rPr>
              <a:t>R[i-1]</a:t>
            </a:r>
            <a:r>
              <a:rPr lang="zh-CN" altLang="en-US" sz="3600">
                <a:solidFill>
                  <a:srgbClr val="0000FF"/>
                </a:solidFill>
                <a:ea typeface="楷体_GB2312" charset="0"/>
              </a:rPr>
              <a:t>起向前进行顺序查找，            </a:t>
            </a:r>
            <a:r>
              <a:rPr lang="zh-CN" altLang="en-US" sz="3600">
                <a:solidFill>
                  <a:srgbClr val="FF6600"/>
                </a:solidFill>
                <a:ea typeface="楷体_GB2312" charset="0"/>
              </a:rPr>
              <a:t>监视哨设置在</a:t>
            </a:r>
            <a:r>
              <a:rPr lang="en-US" altLang="zh-CN" sz="3600">
                <a:solidFill>
                  <a:srgbClr val="FF6600"/>
                </a:solidFill>
                <a:ea typeface="楷体_GB2312" charset="0"/>
              </a:rPr>
              <a:t>R[0]</a:t>
            </a:r>
            <a:r>
              <a:rPr lang="zh-CN" altLang="en-US" sz="3600">
                <a:solidFill>
                  <a:srgbClr val="FF6600"/>
                </a:solidFill>
                <a:ea typeface="楷体_GB2312" charset="0"/>
              </a:rPr>
              <a:t>；</a:t>
            </a:r>
            <a:endParaRPr lang="zh-CN" altLang="en-US" sz="3600">
              <a:solidFill>
                <a:srgbClr val="0000FF"/>
              </a:solidFill>
              <a:ea typeface="楷体_GB2312" charset="0"/>
            </a:endParaRPr>
          </a:p>
        </p:txBody>
      </p:sp>
      <p:pic>
        <p:nvPicPr>
          <p:cNvPr id="22536" name="Picture 8"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096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2540" name="Text Box 12"/>
          <p:cNvSpPr txBox="1">
            <a:spLocks noChangeArrowheads="1"/>
          </p:cNvSpPr>
          <p:nvPr/>
        </p:nvSpPr>
        <p:spPr bwMode="auto">
          <a:xfrm>
            <a:off x="1120775" y="3482975"/>
            <a:ext cx="6346825"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a:ea typeface="楷体_GB2312" charset="0"/>
              </a:rPr>
              <a:t>R[0] = R[i];            // </a:t>
            </a:r>
            <a:r>
              <a:rPr lang="zh-CN" altLang="en-US" sz="3600">
                <a:ea typeface="楷体_GB2312" charset="0"/>
              </a:rPr>
              <a:t>设置“哨兵”</a:t>
            </a:r>
          </a:p>
        </p:txBody>
      </p:sp>
      <p:sp>
        <p:nvSpPr>
          <p:cNvPr id="22541" name="Text Box 13"/>
          <p:cNvSpPr txBox="1">
            <a:spLocks noChangeArrowheads="1"/>
          </p:cNvSpPr>
          <p:nvPr/>
        </p:nvSpPr>
        <p:spPr bwMode="auto">
          <a:xfrm>
            <a:off x="1133475" y="5845175"/>
            <a:ext cx="72517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zh-CN" altLang="en-US" sz="3600">
                <a:solidFill>
                  <a:srgbClr val="840C26"/>
                </a:solidFill>
                <a:ea typeface="楷体_GB2312" charset="0"/>
              </a:rPr>
              <a:t>循环结束表明</a:t>
            </a:r>
            <a:r>
              <a:rPr lang="en-US" altLang="zh-CN" sz="3600">
                <a:solidFill>
                  <a:srgbClr val="840C26"/>
                </a:solidFill>
                <a:ea typeface="楷体_GB2312" charset="0"/>
              </a:rPr>
              <a:t>R[i]</a:t>
            </a:r>
            <a:r>
              <a:rPr lang="zh-CN" altLang="en-US" sz="3600">
                <a:solidFill>
                  <a:srgbClr val="840C26"/>
                </a:solidFill>
                <a:ea typeface="楷体_GB2312" charset="0"/>
              </a:rPr>
              <a:t>的插入位置为 </a:t>
            </a:r>
            <a:r>
              <a:rPr lang="en-US" altLang="zh-CN" sz="3600" b="1" i="1">
                <a:solidFill>
                  <a:srgbClr val="840C26"/>
                </a:solidFill>
                <a:ea typeface="楷体_GB2312" charset="0"/>
              </a:rPr>
              <a:t>j +1</a:t>
            </a:r>
            <a:endParaRPr lang="en-US" altLang="zh-CN">
              <a:solidFill>
                <a:srgbClr val="FF99FF"/>
              </a:solidFill>
            </a:endParaRPr>
          </a:p>
        </p:txBody>
      </p:sp>
      <p:sp>
        <p:nvSpPr>
          <p:cNvPr id="22542" name="Rectangle 14" descr="大棋盘"/>
          <p:cNvSpPr>
            <a:spLocks noChangeArrowheads="1"/>
          </p:cNvSpPr>
          <p:nvPr/>
        </p:nvSpPr>
        <p:spPr bwMode="auto">
          <a:xfrm>
            <a:off x="1828800" y="2362200"/>
            <a:ext cx="3124200" cy="304800"/>
          </a:xfrm>
          <a:prstGeom prst="rect">
            <a:avLst/>
          </a:prstGeom>
          <a:pattFill prst="lgCheck">
            <a:fgClr>
              <a:srgbClr val="CC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44" name="Rectangle 16"/>
          <p:cNvSpPr>
            <a:spLocks noChangeArrowheads="1"/>
          </p:cNvSpPr>
          <p:nvPr/>
        </p:nvSpPr>
        <p:spPr bwMode="auto">
          <a:xfrm>
            <a:off x="1524000" y="2362200"/>
            <a:ext cx="304800" cy="30480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45" name="Text Box 17"/>
          <p:cNvSpPr txBox="1">
            <a:spLocks noChangeArrowheads="1"/>
          </p:cNvSpPr>
          <p:nvPr/>
        </p:nvSpPr>
        <p:spPr bwMode="auto">
          <a:xfrm>
            <a:off x="1295400" y="175260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t>R[0]</a:t>
            </a:r>
          </a:p>
        </p:txBody>
      </p:sp>
      <p:sp>
        <p:nvSpPr>
          <p:cNvPr id="22546" name="Line 18"/>
          <p:cNvSpPr>
            <a:spLocks noChangeShapeType="1"/>
          </p:cNvSpPr>
          <p:nvPr/>
        </p:nvSpPr>
        <p:spPr bwMode="auto">
          <a:xfrm>
            <a:off x="4800600" y="2667000"/>
            <a:ext cx="0" cy="762000"/>
          </a:xfrm>
          <a:prstGeom prst="line">
            <a:avLst/>
          </a:prstGeom>
          <a:noFill/>
          <a:ln w="9525">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47" name="Line 19"/>
          <p:cNvSpPr>
            <a:spLocks noChangeShapeType="1"/>
          </p:cNvSpPr>
          <p:nvPr/>
        </p:nvSpPr>
        <p:spPr bwMode="auto">
          <a:xfrm>
            <a:off x="3505200" y="2667000"/>
            <a:ext cx="0" cy="762000"/>
          </a:xfrm>
          <a:prstGeom prst="line">
            <a:avLst/>
          </a:prstGeom>
          <a:noFill/>
          <a:ln w="9525">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48" name="Text Box 20"/>
          <p:cNvSpPr txBox="1">
            <a:spLocks noChangeArrowheads="1"/>
          </p:cNvSpPr>
          <p:nvPr/>
        </p:nvSpPr>
        <p:spPr bwMode="auto">
          <a:xfrm>
            <a:off x="3527425" y="2819400"/>
            <a:ext cx="587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600"/>
              <a:t>j</a:t>
            </a:r>
            <a:endParaRPr lang="en-US" altLang="zh-CN"/>
          </a:p>
        </p:txBody>
      </p:sp>
      <p:sp>
        <p:nvSpPr>
          <p:cNvPr id="22549" name="Rectangle 21" descr="60%"/>
          <p:cNvSpPr>
            <a:spLocks noChangeArrowheads="1"/>
          </p:cNvSpPr>
          <p:nvPr/>
        </p:nvSpPr>
        <p:spPr bwMode="auto">
          <a:xfrm>
            <a:off x="3657600" y="2362200"/>
            <a:ext cx="1295400" cy="304800"/>
          </a:xfrm>
          <a:prstGeom prst="rect">
            <a:avLst/>
          </a:prstGeom>
          <a:pattFill prst="pct60">
            <a:fgClr>
              <a:srgbClr val="FF99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50" name="Rectangle 22"/>
          <p:cNvSpPr>
            <a:spLocks noChangeArrowheads="1"/>
          </p:cNvSpPr>
          <p:nvPr/>
        </p:nvSpPr>
        <p:spPr bwMode="auto">
          <a:xfrm>
            <a:off x="4953000" y="2362200"/>
            <a:ext cx="3429000" cy="304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51" name="Rectangle 23"/>
          <p:cNvSpPr>
            <a:spLocks noChangeArrowheads="1"/>
          </p:cNvSpPr>
          <p:nvPr/>
        </p:nvSpPr>
        <p:spPr bwMode="auto">
          <a:xfrm>
            <a:off x="4953000" y="2362200"/>
            <a:ext cx="304800" cy="30480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2552" name="Rectangle 24"/>
          <p:cNvSpPr>
            <a:spLocks noChangeArrowheads="1"/>
          </p:cNvSpPr>
          <p:nvPr/>
        </p:nvSpPr>
        <p:spPr bwMode="auto">
          <a:xfrm>
            <a:off x="4724400" y="1828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t>R[i]</a:t>
            </a:r>
          </a:p>
        </p:txBody>
      </p:sp>
      <p:sp>
        <p:nvSpPr>
          <p:cNvPr id="22553" name="Rectangle 25"/>
          <p:cNvSpPr>
            <a:spLocks noChangeArrowheads="1"/>
          </p:cNvSpPr>
          <p:nvPr/>
        </p:nvSpPr>
        <p:spPr bwMode="auto">
          <a:xfrm>
            <a:off x="1117600" y="4343400"/>
            <a:ext cx="67310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b="1">
                <a:ea typeface="楷体_GB2312" charset="0"/>
              </a:rPr>
              <a:t>for</a:t>
            </a:r>
            <a:r>
              <a:rPr lang="en-US" altLang="zh-CN" sz="3600">
                <a:ea typeface="楷体_GB2312" charset="0"/>
              </a:rPr>
              <a:t> (j=i-1; R[0].key&lt;R[j].key; </a:t>
            </a:r>
            <a:r>
              <a:rPr lang="en-US" altLang="zh-CN" sz="3600" b="1">
                <a:ea typeface="楷体_GB2312" charset="0"/>
              </a:rPr>
              <a:t>--</a:t>
            </a:r>
            <a:r>
              <a:rPr lang="en-US" altLang="zh-CN" sz="3600">
                <a:ea typeface="楷体_GB2312" charset="0"/>
              </a:rPr>
              <a:t>j);  </a:t>
            </a:r>
          </a:p>
          <a:p>
            <a:pPr algn="l">
              <a:lnSpc>
                <a:spcPct val="140000"/>
              </a:lnSpc>
            </a:pPr>
            <a:r>
              <a:rPr lang="en-US" altLang="zh-CN" sz="3600">
                <a:ea typeface="楷体_GB2312" charset="0"/>
              </a:rPr>
              <a:t>                              // </a:t>
            </a:r>
            <a:r>
              <a:rPr lang="zh-CN" altLang="en-US" sz="3600">
                <a:ea typeface="楷体_GB2312" charset="0"/>
              </a:rPr>
              <a:t>从后往前找</a:t>
            </a:r>
          </a:p>
        </p:txBody>
      </p:sp>
      <p:sp>
        <p:nvSpPr>
          <p:cNvPr id="22554" name="Text Box 26"/>
          <p:cNvSpPr txBox="1">
            <a:spLocks noChangeArrowheads="1"/>
          </p:cNvSpPr>
          <p:nvPr/>
        </p:nvSpPr>
        <p:spPr bwMode="auto">
          <a:xfrm>
            <a:off x="4876800" y="2971800"/>
            <a:ext cx="968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t>j=i-1</a:t>
            </a:r>
          </a:p>
        </p:txBody>
      </p:sp>
      <p:sp>
        <p:nvSpPr>
          <p:cNvPr id="22555" name="AutoShape 27"/>
          <p:cNvSpPr>
            <a:spLocks noChangeArrowheads="1"/>
          </p:cNvSpPr>
          <p:nvPr/>
        </p:nvSpPr>
        <p:spPr bwMode="auto">
          <a:xfrm>
            <a:off x="4267200" y="3048000"/>
            <a:ext cx="1600200" cy="457200"/>
          </a:xfrm>
          <a:prstGeom prst="wedgeRoundRectCallout">
            <a:avLst>
              <a:gd name="adj1" fmla="val -80653"/>
              <a:gd name="adj2" fmla="val -129861"/>
              <a:gd name="adj3" fmla="val 16667"/>
            </a:avLst>
          </a:prstGeom>
          <a:solidFill>
            <a:srgbClr val="FFFF99">
              <a:alpha val="50000"/>
            </a:srgbClr>
          </a:solidFill>
          <a:ln w="12700">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2800" b="1">
                <a:solidFill>
                  <a:srgbClr val="990000"/>
                </a:solidFill>
                <a:ea typeface="楷体_GB2312" charset="0"/>
              </a:rPr>
              <a:t>插入位置</a:t>
            </a:r>
            <a:endParaRPr lang="zh-CN" altLang="en-US" sz="2800"/>
          </a:p>
        </p:txBody>
      </p:sp>
    </p:spTree>
    <p:extLst>
      <p:ext uri="{BB962C8B-B14F-4D97-AF65-F5344CB8AC3E}">
        <p14:creationId xmlns:p14="http://schemas.microsoft.com/office/powerpoint/2010/main" val="19557929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22536"/>
                                        </p:tgtEl>
                                        <p:attrNameLst>
                                          <p:attrName>style.visibility</p:attrName>
                                        </p:attrNameLst>
                                      </p:cBhvr>
                                      <p:to>
                                        <p:strVal val="visible"/>
                                      </p:to>
                                    </p:set>
                                  </p:childTnLst>
                                </p:cTn>
                              </p:par>
                            </p:childTnLst>
                          </p:cTn>
                        </p:par>
                        <p:par>
                          <p:cTn id="7" fill="hold" nodeType="afterGroup">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2532"/>
                                        </p:tgtEl>
                                        <p:attrNameLst>
                                          <p:attrName>style.visibility</p:attrName>
                                        </p:attrNameLst>
                                      </p:cBhvr>
                                      <p:to>
                                        <p:strVal val="visible"/>
                                      </p:to>
                                    </p:set>
                                    <p:animEffect transition="in" filter="strips(downRight)">
                                      <p:cBhvr>
                                        <p:cTn id="10" dur="500"/>
                                        <p:tgtEl>
                                          <p:spTgt spid="2253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2542"/>
                                        </p:tgtEl>
                                        <p:attrNameLst>
                                          <p:attrName>style.visibility</p:attrName>
                                        </p:attrNameLst>
                                      </p:cBhvr>
                                      <p:to>
                                        <p:strVal val="visible"/>
                                      </p:to>
                                    </p:set>
                                    <p:animEffect transition="in" filter="wipe(left)">
                                      <p:cBhvr>
                                        <p:cTn id="15" dur="500"/>
                                        <p:tgtEl>
                                          <p:spTgt spid="22542"/>
                                        </p:tgtEl>
                                      </p:cBhvr>
                                    </p:animEffect>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2550"/>
                                        </p:tgtEl>
                                        <p:attrNameLst>
                                          <p:attrName>style.visibility</p:attrName>
                                        </p:attrNameLst>
                                      </p:cBhvr>
                                      <p:to>
                                        <p:strVal val="visible"/>
                                      </p:to>
                                    </p:set>
                                    <p:animEffect transition="in" filter="wipe(left)">
                                      <p:cBhvr>
                                        <p:cTn id="19" dur="500"/>
                                        <p:tgtEl>
                                          <p:spTgt spid="2255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1" fill="hold" grpId="0" nodeType="clickEffect">
                                  <p:stCondLst>
                                    <p:cond delay="0"/>
                                  </p:stCondLst>
                                  <p:childTnLst>
                                    <p:set>
                                      <p:cBhvr>
                                        <p:cTn id="23" dur="1" fill="hold">
                                          <p:stCondLst>
                                            <p:cond delay="0"/>
                                          </p:stCondLst>
                                        </p:cTn>
                                        <p:tgtEl>
                                          <p:spTgt spid="22552"/>
                                        </p:tgtEl>
                                        <p:attrNameLst>
                                          <p:attrName>style.visibility</p:attrName>
                                        </p:attrNameLst>
                                      </p:cBhvr>
                                      <p:to>
                                        <p:strVal val="visible"/>
                                      </p:to>
                                    </p:set>
                                    <p:animEffect transition="in" filter="slide(fromTop)">
                                      <p:cBhvr>
                                        <p:cTn id="24" dur="500"/>
                                        <p:tgtEl>
                                          <p:spTgt spid="22552"/>
                                        </p:tgtEl>
                                      </p:cBhvr>
                                    </p:animEffect>
                                  </p:childTnLst>
                                </p:cTn>
                              </p:par>
                            </p:childTnLst>
                          </p:cTn>
                        </p:par>
                        <p:par>
                          <p:cTn id="25" fill="hold" nodeType="afterGroup">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22551"/>
                                        </p:tgtEl>
                                        <p:attrNameLst>
                                          <p:attrName>style.visibility</p:attrName>
                                        </p:attrNameLst>
                                      </p:cBhvr>
                                      <p:to>
                                        <p:strVal val="visible"/>
                                      </p:to>
                                    </p:set>
                                    <p:animEffect transition="in" filter="dissolve">
                                      <p:cBhvr>
                                        <p:cTn id="28" dur="500"/>
                                        <p:tgtEl>
                                          <p:spTgt spid="2255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22540"/>
                                        </p:tgtEl>
                                        <p:attrNameLst>
                                          <p:attrName>style.visibility</p:attrName>
                                        </p:attrNameLst>
                                      </p:cBhvr>
                                      <p:to>
                                        <p:strVal val="visible"/>
                                      </p:to>
                                    </p:set>
                                    <p:animEffect transition="in" filter="strips(downRight)">
                                      <p:cBhvr>
                                        <p:cTn id="33" dur="500"/>
                                        <p:tgtEl>
                                          <p:spTgt spid="225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22545"/>
                                        </p:tgtEl>
                                        <p:attrNameLst>
                                          <p:attrName>style.visibility</p:attrName>
                                        </p:attrNameLst>
                                      </p:cBhvr>
                                      <p:to>
                                        <p:strVal val="visible"/>
                                      </p:to>
                                    </p:set>
                                    <p:animEffect transition="in" filter="slide(fromTop)">
                                      <p:cBhvr>
                                        <p:cTn id="38" dur="500"/>
                                        <p:tgtEl>
                                          <p:spTgt spid="22545"/>
                                        </p:tgtEl>
                                      </p:cBhvr>
                                    </p:animEffect>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22544"/>
                                        </p:tgtEl>
                                        <p:attrNameLst>
                                          <p:attrName>style.visibility</p:attrName>
                                        </p:attrNameLst>
                                      </p:cBhvr>
                                      <p:to>
                                        <p:strVal val="visible"/>
                                      </p:to>
                                    </p:set>
                                    <p:animEffect transition="in" filter="dissolve">
                                      <p:cBhvr>
                                        <p:cTn id="42" dur="500"/>
                                        <p:tgtEl>
                                          <p:spTgt spid="2254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22553"/>
                                        </p:tgtEl>
                                        <p:attrNameLst>
                                          <p:attrName>style.visibility</p:attrName>
                                        </p:attrNameLst>
                                      </p:cBhvr>
                                      <p:to>
                                        <p:strVal val="visible"/>
                                      </p:to>
                                    </p:set>
                                    <p:animEffect transition="in" filter="strips(downRight)">
                                      <p:cBhvr>
                                        <p:cTn id="47" dur="500"/>
                                        <p:tgtEl>
                                          <p:spTgt spid="2255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4" fill="hold" grpId="0" nodeType="clickEffect">
                                  <p:stCondLst>
                                    <p:cond delay="0"/>
                                  </p:stCondLst>
                                  <p:childTnLst>
                                    <p:set>
                                      <p:cBhvr>
                                        <p:cTn id="51" dur="1" fill="hold">
                                          <p:stCondLst>
                                            <p:cond delay="0"/>
                                          </p:stCondLst>
                                        </p:cTn>
                                        <p:tgtEl>
                                          <p:spTgt spid="22546"/>
                                        </p:tgtEl>
                                        <p:attrNameLst>
                                          <p:attrName>style.visibility</p:attrName>
                                        </p:attrNameLst>
                                      </p:cBhvr>
                                      <p:to>
                                        <p:strVal val="visible"/>
                                      </p:to>
                                    </p:set>
                                    <p:anim calcmode="lin" valueType="num">
                                      <p:cBhvr>
                                        <p:cTn id="52" dur="500" fill="hold"/>
                                        <p:tgtEl>
                                          <p:spTgt spid="22546"/>
                                        </p:tgtEl>
                                        <p:attrNameLst>
                                          <p:attrName>ppt_x</p:attrName>
                                        </p:attrNameLst>
                                      </p:cBhvr>
                                      <p:tavLst>
                                        <p:tav tm="0">
                                          <p:val>
                                            <p:strVal val="#ppt_x"/>
                                          </p:val>
                                        </p:tav>
                                        <p:tav tm="100000">
                                          <p:val>
                                            <p:strVal val="#ppt_x"/>
                                          </p:val>
                                        </p:tav>
                                      </p:tavLst>
                                    </p:anim>
                                    <p:anim calcmode="lin" valueType="num">
                                      <p:cBhvr>
                                        <p:cTn id="53" dur="500" fill="hold"/>
                                        <p:tgtEl>
                                          <p:spTgt spid="22546"/>
                                        </p:tgtEl>
                                        <p:attrNameLst>
                                          <p:attrName>ppt_y</p:attrName>
                                        </p:attrNameLst>
                                      </p:cBhvr>
                                      <p:tavLst>
                                        <p:tav tm="0">
                                          <p:val>
                                            <p:strVal val="#ppt_y+#ppt_h/2"/>
                                          </p:val>
                                        </p:tav>
                                        <p:tav tm="100000">
                                          <p:val>
                                            <p:strVal val="#ppt_y"/>
                                          </p:val>
                                        </p:tav>
                                      </p:tavLst>
                                    </p:anim>
                                    <p:anim calcmode="lin" valueType="num">
                                      <p:cBhvr>
                                        <p:cTn id="54" dur="500" fill="hold"/>
                                        <p:tgtEl>
                                          <p:spTgt spid="22546"/>
                                        </p:tgtEl>
                                        <p:attrNameLst>
                                          <p:attrName>ppt_w</p:attrName>
                                        </p:attrNameLst>
                                      </p:cBhvr>
                                      <p:tavLst>
                                        <p:tav tm="0">
                                          <p:val>
                                            <p:strVal val="#ppt_w"/>
                                          </p:val>
                                        </p:tav>
                                        <p:tav tm="100000">
                                          <p:val>
                                            <p:strVal val="#ppt_w"/>
                                          </p:val>
                                        </p:tav>
                                      </p:tavLst>
                                    </p:anim>
                                    <p:anim calcmode="lin" valueType="num">
                                      <p:cBhvr>
                                        <p:cTn id="55" dur="500" fill="hold"/>
                                        <p:tgtEl>
                                          <p:spTgt spid="22546"/>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2546"/>
                                        </p:tgtEl>
                                        <p:attrNameLst>
                                          <p:attrName>style.visibility</p:attrName>
                                        </p:attrNameLst>
                                      </p:cBhvr>
                                      <p:to>
                                        <p:strVal val="hidden"/>
                                      </p:to>
                                    </p:set>
                                  </p:sub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2554"/>
                                        </p:tgtEl>
                                        <p:attrNameLst>
                                          <p:attrName>style.visibility</p:attrName>
                                        </p:attrNameLst>
                                      </p:cBhvr>
                                      <p:to>
                                        <p:strVal val="visible"/>
                                      </p:to>
                                    </p:set>
                                    <p:animEffect transition="in" filter="wipe(left)">
                                      <p:cBhvr>
                                        <p:cTn id="59" dur="500"/>
                                        <p:tgtEl>
                                          <p:spTgt spid="22554"/>
                                        </p:tgtEl>
                                      </p:cBhvr>
                                    </p:animEffect>
                                  </p:childTnLst>
                                  <p:subTnLst>
                                    <p:set>
                                      <p:cBhvr override="childStyle">
                                        <p:cTn dur="1" fill="hold" display="0" masterRel="nextClick" afterEffect="1"/>
                                        <p:tgtEl>
                                          <p:spTgt spid="22554"/>
                                        </p:tgtEl>
                                        <p:attrNameLst>
                                          <p:attrName>style.visibility</p:attrName>
                                        </p:attrNameLst>
                                      </p:cBhvr>
                                      <p:to>
                                        <p:strVal val="hidden"/>
                                      </p:to>
                                    </p:set>
                                  </p:sub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4" fill="hold" grpId="0" nodeType="clickEffect">
                                  <p:stCondLst>
                                    <p:cond delay="0"/>
                                  </p:stCondLst>
                                  <p:childTnLst>
                                    <p:set>
                                      <p:cBhvr>
                                        <p:cTn id="63" dur="1" fill="hold">
                                          <p:stCondLst>
                                            <p:cond delay="0"/>
                                          </p:stCondLst>
                                        </p:cTn>
                                        <p:tgtEl>
                                          <p:spTgt spid="22547"/>
                                        </p:tgtEl>
                                        <p:attrNameLst>
                                          <p:attrName>style.visibility</p:attrName>
                                        </p:attrNameLst>
                                      </p:cBhvr>
                                      <p:to>
                                        <p:strVal val="visible"/>
                                      </p:to>
                                    </p:set>
                                    <p:anim calcmode="lin" valueType="num">
                                      <p:cBhvr>
                                        <p:cTn id="64" dur="500" fill="hold"/>
                                        <p:tgtEl>
                                          <p:spTgt spid="22547"/>
                                        </p:tgtEl>
                                        <p:attrNameLst>
                                          <p:attrName>ppt_x</p:attrName>
                                        </p:attrNameLst>
                                      </p:cBhvr>
                                      <p:tavLst>
                                        <p:tav tm="0">
                                          <p:val>
                                            <p:strVal val="#ppt_x"/>
                                          </p:val>
                                        </p:tav>
                                        <p:tav tm="100000">
                                          <p:val>
                                            <p:strVal val="#ppt_x"/>
                                          </p:val>
                                        </p:tav>
                                      </p:tavLst>
                                    </p:anim>
                                    <p:anim calcmode="lin" valueType="num">
                                      <p:cBhvr>
                                        <p:cTn id="65" dur="500" fill="hold"/>
                                        <p:tgtEl>
                                          <p:spTgt spid="22547"/>
                                        </p:tgtEl>
                                        <p:attrNameLst>
                                          <p:attrName>ppt_y</p:attrName>
                                        </p:attrNameLst>
                                      </p:cBhvr>
                                      <p:tavLst>
                                        <p:tav tm="0">
                                          <p:val>
                                            <p:strVal val="#ppt_y+#ppt_h/2"/>
                                          </p:val>
                                        </p:tav>
                                        <p:tav tm="100000">
                                          <p:val>
                                            <p:strVal val="#ppt_y"/>
                                          </p:val>
                                        </p:tav>
                                      </p:tavLst>
                                    </p:anim>
                                    <p:anim calcmode="lin" valueType="num">
                                      <p:cBhvr>
                                        <p:cTn id="66" dur="500" fill="hold"/>
                                        <p:tgtEl>
                                          <p:spTgt spid="22547"/>
                                        </p:tgtEl>
                                        <p:attrNameLst>
                                          <p:attrName>ppt_w</p:attrName>
                                        </p:attrNameLst>
                                      </p:cBhvr>
                                      <p:tavLst>
                                        <p:tav tm="0">
                                          <p:val>
                                            <p:strVal val="#ppt_w"/>
                                          </p:val>
                                        </p:tav>
                                        <p:tav tm="100000">
                                          <p:val>
                                            <p:strVal val="#ppt_w"/>
                                          </p:val>
                                        </p:tav>
                                      </p:tavLst>
                                    </p:anim>
                                    <p:anim calcmode="lin" valueType="num">
                                      <p:cBhvr>
                                        <p:cTn id="67" dur="500" fill="hold"/>
                                        <p:tgtEl>
                                          <p:spTgt spid="22547"/>
                                        </p:tgtEl>
                                        <p:attrNameLst>
                                          <p:attrName>ppt_h</p:attrName>
                                        </p:attrNameLst>
                                      </p:cBhvr>
                                      <p:tavLst>
                                        <p:tav tm="0">
                                          <p:val>
                                            <p:fltVal val="0"/>
                                          </p:val>
                                        </p:tav>
                                        <p:tav tm="100000">
                                          <p:val>
                                            <p:strVal val="#ppt_h"/>
                                          </p:val>
                                        </p:tav>
                                      </p:tavLst>
                                    </p:anim>
                                  </p:childTnLst>
                                </p:cTn>
                              </p:par>
                            </p:childTnLst>
                          </p:cTn>
                        </p:par>
                        <p:par>
                          <p:cTn id="68" fill="hold" nodeType="afterGroup">
                            <p:stCondLst>
                              <p:cond delay="500"/>
                            </p:stCondLst>
                            <p:childTnLst>
                              <p:par>
                                <p:cTn id="69" presetID="9" presetClass="entr" presetSubtype="0" fill="hold" grpId="0" nodeType="afterEffect">
                                  <p:stCondLst>
                                    <p:cond delay="0"/>
                                  </p:stCondLst>
                                  <p:childTnLst>
                                    <p:set>
                                      <p:cBhvr>
                                        <p:cTn id="70" dur="1" fill="hold">
                                          <p:stCondLst>
                                            <p:cond delay="0"/>
                                          </p:stCondLst>
                                        </p:cTn>
                                        <p:tgtEl>
                                          <p:spTgt spid="22548"/>
                                        </p:tgtEl>
                                        <p:attrNameLst>
                                          <p:attrName>style.visibility</p:attrName>
                                        </p:attrNameLst>
                                      </p:cBhvr>
                                      <p:to>
                                        <p:strVal val="visible"/>
                                      </p:to>
                                    </p:set>
                                    <p:animEffect transition="in" filter="dissolve">
                                      <p:cBhvr>
                                        <p:cTn id="71" dur="500"/>
                                        <p:tgtEl>
                                          <p:spTgt spid="22548"/>
                                        </p:tgtEl>
                                      </p:cBhvr>
                                    </p:animEffect>
                                  </p:childTnLst>
                                </p:cTn>
                              </p:par>
                            </p:childTnLst>
                          </p:cTn>
                        </p:par>
                        <p:par>
                          <p:cTn id="72" fill="hold" nodeType="afterGroup">
                            <p:stCondLst>
                              <p:cond delay="1000"/>
                            </p:stCondLst>
                            <p:childTnLst>
                              <p:par>
                                <p:cTn id="73" presetID="22" presetClass="entr" presetSubtype="2" fill="hold" grpId="0" nodeType="afterEffect">
                                  <p:stCondLst>
                                    <p:cond delay="0"/>
                                  </p:stCondLst>
                                  <p:childTnLst>
                                    <p:set>
                                      <p:cBhvr>
                                        <p:cTn id="74" dur="1" fill="hold">
                                          <p:stCondLst>
                                            <p:cond delay="0"/>
                                          </p:stCondLst>
                                        </p:cTn>
                                        <p:tgtEl>
                                          <p:spTgt spid="22549"/>
                                        </p:tgtEl>
                                        <p:attrNameLst>
                                          <p:attrName>style.visibility</p:attrName>
                                        </p:attrNameLst>
                                      </p:cBhvr>
                                      <p:to>
                                        <p:strVal val="visible"/>
                                      </p:to>
                                    </p:set>
                                    <p:animEffect transition="in" filter="wipe(right)">
                                      <p:cBhvr>
                                        <p:cTn id="75" dur="500"/>
                                        <p:tgtEl>
                                          <p:spTgt spid="2254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22541"/>
                                        </p:tgtEl>
                                        <p:attrNameLst>
                                          <p:attrName>style.visibility</p:attrName>
                                        </p:attrNameLst>
                                      </p:cBhvr>
                                      <p:to>
                                        <p:strVal val="visible"/>
                                      </p:to>
                                    </p:set>
                                    <p:animEffect transition="in" filter="strips(downRight)">
                                      <p:cBhvr>
                                        <p:cTn id="80" dur="500"/>
                                        <p:tgtEl>
                                          <p:spTgt spid="22541"/>
                                        </p:tgtEl>
                                      </p:cBhvr>
                                    </p:animEffect>
                                  </p:childTnLst>
                                </p:cTn>
                              </p:par>
                            </p:childTnLst>
                          </p:cTn>
                        </p:par>
                        <p:par>
                          <p:cTn id="81" fill="hold" nodeType="afterGroup">
                            <p:stCondLst>
                              <p:cond delay="500"/>
                            </p:stCondLst>
                            <p:childTnLst>
                              <p:par>
                                <p:cTn id="82" presetID="12" presetClass="entr" presetSubtype="2" fill="hold" grpId="0" nodeType="afterEffect">
                                  <p:stCondLst>
                                    <p:cond delay="0"/>
                                  </p:stCondLst>
                                  <p:childTnLst>
                                    <p:set>
                                      <p:cBhvr>
                                        <p:cTn id="83" dur="1" fill="hold">
                                          <p:stCondLst>
                                            <p:cond delay="0"/>
                                          </p:stCondLst>
                                        </p:cTn>
                                        <p:tgtEl>
                                          <p:spTgt spid="22555"/>
                                        </p:tgtEl>
                                        <p:attrNameLst>
                                          <p:attrName>style.visibility</p:attrName>
                                        </p:attrNameLst>
                                      </p:cBhvr>
                                      <p:to>
                                        <p:strVal val="visible"/>
                                      </p:to>
                                    </p:set>
                                    <p:animEffect transition="in" filter="slide(fromRight)">
                                      <p:cBhvr>
                                        <p:cTn id="84" dur="500"/>
                                        <p:tgtEl>
                                          <p:spTgt spid="22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40" grpId="0" autoUpdateAnimBg="0"/>
      <p:bldP spid="22541" grpId="0" autoUpdateAnimBg="0"/>
      <p:bldP spid="22542" grpId="0" animBg="1"/>
      <p:bldP spid="22544" grpId="0" animBg="1"/>
      <p:bldP spid="22545" grpId="0" autoUpdateAnimBg="0"/>
      <p:bldP spid="22546" grpId="0" animBg="1"/>
      <p:bldP spid="22547" grpId="0" animBg="1"/>
      <p:bldP spid="22548" grpId="0" autoUpdateAnimBg="0"/>
      <p:bldP spid="22549" grpId="0" animBg="1"/>
      <p:bldP spid="22550" grpId="0" animBg="1"/>
      <p:bldP spid="22551" grpId="0" animBg="1"/>
      <p:bldP spid="22552" grpId="0" autoUpdateAnimBg="0"/>
      <p:bldP spid="22553" grpId="0" autoUpdateAnimBg="0"/>
      <p:bldP spid="22554" grpId="0" autoUpdateAnimBg="0"/>
      <p:bldP spid="22555"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572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3557" name="Text Box 5"/>
          <p:cNvSpPr txBox="1">
            <a:spLocks noChangeArrowheads="1"/>
          </p:cNvSpPr>
          <p:nvPr/>
        </p:nvSpPr>
        <p:spPr bwMode="auto">
          <a:xfrm>
            <a:off x="746125" y="152400"/>
            <a:ext cx="794067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solidFill>
                  <a:srgbClr val="0000FF"/>
                </a:solidFill>
                <a:ea typeface="楷体_GB2312" charset="0"/>
              </a:rPr>
              <a:t>     </a:t>
            </a:r>
            <a:r>
              <a:rPr lang="zh-CN" altLang="en-US" sz="3600">
                <a:solidFill>
                  <a:srgbClr val="0000FF"/>
                </a:solidFill>
                <a:ea typeface="楷体_GB2312" charset="0"/>
              </a:rPr>
              <a:t>对于在查找过程中找到的那些关键字不小于</a:t>
            </a:r>
            <a:r>
              <a:rPr lang="en-US" altLang="zh-CN" sz="3600">
                <a:solidFill>
                  <a:srgbClr val="0000FF"/>
                </a:solidFill>
                <a:ea typeface="楷体_GB2312" charset="0"/>
              </a:rPr>
              <a:t>R[i].key</a:t>
            </a:r>
            <a:r>
              <a:rPr lang="zh-CN" altLang="en-US" sz="3600">
                <a:solidFill>
                  <a:srgbClr val="0000FF"/>
                </a:solidFill>
                <a:ea typeface="楷体_GB2312" charset="0"/>
              </a:rPr>
              <a:t>的记录，并在查找的同时实现记录向后移动；</a:t>
            </a:r>
            <a:endParaRPr lang="zh-CN" altLang="en-US" sz="4000">
              <a:solidFill>
                <a:srgbClr val="0000FF"/>
              </a:solidFill>
              <a:ea typeface="楷体_GB2312" charset="0"/>
            </a:endParaRPr>
          </a:p>
        </p:txBody>
      </p:sp>
      <p:sp>
        <p:nvSpPr>
          <p:cNvPr id="23558" name="Text Box 6"/>
          <p:cNvSpPr txBox="1">
            <a:spLocks noChangeArrowheads="1"/>
          </p:cNvSpPr>
          <p:nvPr/>
        </p:nvSpPr>
        <p:spPr bwMode="auto">
          <a:xfrm>
            <a:off x="1117600" y="2362200"/>
            <a:ext cx="67310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b="1">
                <a:ea typeface="楷体_GB2312" charset="0"/>
              </a:rPr>
              <a:t>for</a:t>
            </a:r>
            <a:r>
              <a:rPr lang="en-US" altLang="zh-CN" sz="3600">
                <a:ea typeface="楷体_GB2312" charset="0"/>
              </a:rPr>
              <a:t> (j=i-1; R[0].key&lt;R[j].key; </a:t>
            </a:r>
            <a:r>
              <a:rPr lang="en-US" altLang="zh-CN" sz="3600" b="1">
                <a:ea typeface="楷体_GB2312" charset="0"/>
              </a:rPr>
              <a:t>--</a:t>
            </a:r>
            <a:r>
              <a:rPr lang="en-US" altLang="zh-CN" sz="3600">
                <a:ea typeface="楷体_GB2312" charset="0"/>
              </a:rPr>
              <a:t>j);  </a:t>
            </a:r>
          </a:p>
          <a:p>
            <a:pPr algn="l">
              <a:lnSpc>
                <a:spcPct val="120000"/>
              </a:lnSpc>
            </a:pPr>
            <a:r>
              <a:rPr lang="en-US" altLang="zh-CN" sz="3600">
                <a:ea typeface="楷体_GB2312" charset="0"/>
              </a:rPr>
              <a:t>        </a:t>
            </a:r>
            <a:r>
              <a:rPr lang="en-US" altLang="zh-CN" sz="3600" b="1">
                <a:solidFill>
                  <a:srgbClr val="840C26"/>
                </a:solidFill>
                <a:ea typeface="楷体_GB2312" charset="0"/>
              </a:rPr>
              <a:t>R[j+1] = R[j]</a:t>
            </a:r>
            <a:endParaRPr lang="en-US" altLang="zh-CN" b="1"/>
          </a:p>
        </p:txBody>
      </p:sp>
      <p:sp>
        <p:nvSpPr>
          <p:cNvPr id="23569" name="Rectangle 17" descr="大棋盘"/>
          <p:cNvSpPr>
            <a:spLocks noChangeArrowheads="1"/>
          </p:cNvSpPr>
          <p:nvPr/>
        </p:nvSpPr>
        <p:spPr bwMode="auto">
          <a:xfrm>
            <a:off x="1828800" y="4648200"/>
            <a:ext cx="3124200" cy="457200"/>
          </a:xfrm>
          <a:prstGeom prst="rect">
            <a:avLst/>
          </a:prstGeom>
          <a:pattFill prst="lgCheck">
            <a:fgClr>
              <a:srgbClr val="CCFFCC"/>
            </a:fgClr>
            <a:bgClr>
              <a:srgbClr val="FFFFFF"/>
            </a:bgClr>
          </a:patt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0" name="Rectangle 18"/>
          <p:cNvSpPr>
            <a:spLocks noChangeArrowheads="1"/>
          </p:cNvSpPr>
          <p:nvPr/>
        </p:nvSpPr>
        <p:spPr bwMode="auto">
          <a:xfrm>
            <a:off x="1524000" y="4648200"/>
            <a:ext cx="304800" cy="457200"/>
          </a:xfrm>
          <a:prstGeom prst="rect">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1" name="Text Box 19"/>
          <p:cNvSpPr txBox="1">
            <a:spLocks noChangeArrowheads="1"/>
          </p:cNvSpPr>
          <p:nvPr/>
        </p:nvSpPr>
        <p:spPr bwMode="auto">
          <a:xfrm>
            <a:off x="1295400" y="4038600"/>
            <a:ext cx="83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t>R[0]</a:t>
            </a:r>
          </a:p>
        </p:txBody>
      </p:sp>
      <p:sp>
        <p:nvSpPr>
          <p:cNvPr id="23572" name="Line 20"/>
          <p:cNvSpPr>
            <a:spLocks noChangeShapeType="1"/>
          </p:cNvSpPr>
          <p:nvPr/>
        </p:nvSpPr>
        <p:spPr bwMode="auto">
          <a:xfrm>
            <a:off x="4800600" y="5181600"/>
            <a:ext cx="0" cy="762000"/>
          </a:xfrm>
          <a:prstGeom prst="line">
            <a:avLst/>
          </a:prstGeom>
          <a:noFill/>
          <a:ln w="9525">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3" name="Line 21"/>
          <p:cNvSpPr>
            <a:spLocks noChangeShapeType="1"/>
          </p:cNvSpPr>
          <p:nvPr/>
        </p:nvSpPr>
        <p:spPr bwMode="auto">
          <a:xfrm>
            <a:off x="3505200" y="5105400"/>
            <a:ext cx="0" cy="762000"/>
          </a:xfrm>
          <a:prstGeom prst="line">
            <a:avLst/>
          </a:prstGeom>
          <a:noFill/>
          <a:ln w="9525">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4" name="Text Box 22"/>
          <p:cNvSpPr txBox="1">
            <a:spLocks noChangeArrowheads="1"/>
          </p:cNvSpPr>
          <p:nvPr/>
        </p:nvSpPr>
        <p:spPr bwMode="auto">
          <a:xfrm>
            <a:off x="3527425" y="5181600"/>
            <a:ext cx="587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600"/>
              <a:t>j</a:t>
            </a:r>
            <a:endParaRPr lang="en-US" altLang="zh-CN"/>
          </a:p>
        </p:txBody>
      </p:sp>
      <p:sp>
        <p:nvSpPr>
          <p:cNvPr id="23576" name="Rectangle 24"/>
          <p:cNvSpPr>
            <a:spLocks noChangeArrowheads="1"/>
          </p:cNvSpPr>
          <p:nvPr/>
        </p:nvSpPr>
        <p:spPr bwMode="auto">
          <a:xfrm>
            <a:off x="4953000" y="4648200"/>
            <a:ext cx="3429000" cy="4572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7" name="Rectangle 25"/>
          <p:cNvSpPr>
            <a:spLocks noChangeArrowheads="1"/>
          </p:cNvSpPr>
          <p:nvPr/>
        </p:nvSpPr>
        <p:spPr bwMode="auto">
          <a:xfrm>
            <a:off x="4953000" y="4648200"/>
            <a:ext cx="304800" cy="45720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78" name="Rectangle 26"/>
          <p:cNvSpPr>
            <a:spLocks noChangeArrowheads="1"/>
          </p:cNvSpPr>
          <p:nvPr/>
        </p:nvSpPr>
        <p:spPr bwMode="auto">
          <a:xfrm>
            <a:off x="4724400" y="4114800"/>
            <a:ext cx="75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t>R[i]</a:t>
            </a:r>
          </a:p>
        </p:txBody>
      </p:sp>
      <p:sp>
        <p:nvSpPr>
          <p:cNvPr id="23580" name="Rectangle 28" descr="60%"/>
          <p:cNvSpPr>
            <a:spLocks noChangeArrowheads="1"/>
          </p:cNvSpPr>
          <p:nvPr/>
        </p:nvSpPr>
        <p:spPr bwMode="auto">
          <a:xfrm>
            <a:off x="3962400" y="4648200"/>
            <a:ext cx="1295400" cy="457200"/>
          </a:xfrm>
          <a:prstGeom prst="rect">
            <a:avLst/>
          </a:prstGeom>
          <a:pattFill prst="pct60">
            <a:fgClr>
              <a:srgbClr val="FF99FF"/>
            </a:fgClr>
            <a:bgClr>
              <a:srgbClr val="FFFFFF"/>
            </a:bgClr>
          </a:patt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81" name="Rectangle 29" descr="大棋盘"/>
          <p:cNvSpPr>
            <a:spLocks noChangeArrowheads="1"/>
          </p:cNvSpPr>
          <p:nvPr/>
        </p:nvSpPr>
        <p:spPr bwMode="auto">
          <a:xfrm>
            <a:off x="3657600" y="4648200"/>
            <a:ext cx="304800" cy="457200"/>
          </a:xfrm>
          <a:prstGeom prst="rect">
            <a:avLst/>
          </a:prstGeom>
          <a:pattFill prst="lgCheck">
            <a:fgClr>
              <a:srgbClr val="CCFFCC"/>
            </a:fgClr>
            <a:bgClr>
              <a:srgbClr val="FFFFFF"/>
            </a:bgClr>
          </a:patt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82" name="Text Box 30"/>
          <p:cNvSpPr txBox="1">
            <a:spLocks noChangeArrowheads="1"/>
          </p:cNvSpPr>
          <p:nvPr/>
        </p:nvSpPr>
        <p:spPr bwMode="auto">
          <a:xfrm>
            <a:off x="4876800" y="5181600"/>
            <a:ext cx="1196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600"/>
              <a:t>j= i-1</a:t>
            </a:r>
            <a:endParaRPr lang="en-US" altLang="zh-CN"/>
          </a:p>
        </p:txBody>
      </p:sp>
      <p:sp>
        <p:nvSpPr>
          <p:cNvPr id="23585" name="Line 33"/>
          <p:cNvSpPr>
            <a:spLocks noChangeShapeType="1"/>
          </p:cNvSpPr>
          <p:nvPr/>
        </p:nvSpPr>
        <p:spPr bwMode="auto">
          <a:xfrm>
            <a:off x="4953000" y="4648200"/>
            <a:ext cx="1588" cy="457200"/>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586" name="Text Box 34"/>
          <p:cNvSpPr txBox="1">
            <a:spLocks noChangeArrowheads="1"/>
          </p:cNvSpPr>
          <p:nvPr/>
        </p:nvSpPr>
        <p:spPr bwMode="auto">
          <a:xfrm>
            <a:off x="730250" y="5988050"/>
            <a:ext cx="7956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chemeClr val="accent2"/>
                </a:solidFill>
                <a:ea typeface="楷体_GB2312" charset="0"/>
              </a:rPr>
              <a:t>上述循环结束后可以直接进行“插入”</a:t>
            </a:r>
            <a:endParaRPr lang="zh-CN" altLang="en-US" sz="3600">
              <a:ea typeface="楷体_GB2312" charset="0"/>
            </a:endParaRPr>
          </a:p>
        </p:txBody>
      </p:sp>
      <p:pic>
        <p:nvPicPr>
          <p:cNvPr id="23587" name="Picture 35" descr="Green Ball">
            <a:hlinkClick r:id="rId4"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60198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3588" name="AutoShape 36"/>
          <p:cNvSpPr>
            <a:spLocks noChangeArrowheads="1"/>
          </p:cNvSpPr>
          <p:nvPr/>
        </p:nvSpPr>
        <p:spPr bwMode="auto">
          <a:xfrm>
            <a:off x="4419600" y="5410200"/>
            <a:ext cx="1600200" cy="457200"/>
          </a:xfrm>
          <a:prstGeom prst="wedgeRoundRectCallout">
            <a:avLst>
              <a:gd name="adj1" fmla="val -87796"/>
              <a:gd name="adj2" fmla="val -163194"/>
              <a:gd name="adj3" fmla="val 16667"/>
            </a:avLst>
          </a:prstGeom>
          <a:solidFill>
            <a:srgbClr val="FFFF99">
              <a:alpha val="50000"/>
            </a:srgbClr>
          </a:solidFill>
          <a:ln w="12700">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2800" b="1">
                <a:solidFill>
                  <a:srgbClr val="990000"/>
                </a:solidFill>
                <a:ea typeface="楷体_GB2312" charset="0"/>
              </a:rPr>
              <a:t>插入位置</a:t>
            </a:r>
            <a:endParaRPr lang="zh-CN" altLang="en-US" sz="2800"/>
          </a:p>
        </p:txBody>
      </p:sp>
    </p:spTree>
    <p:extLst>
      <p:ext uri="{BB962C8B-B14F-4D97-AF65-F5344CB8AC3E}">
        <p14:creationId xmlns:p14="http://schemas.microsoft.com/office/powerpoint/2010/main" val="7882394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slide(fromLeft)">
                                      <p:cBhvr>
                                        <p:cTn id="7" dur="500"/>
                                        <p:tgtEl>
                                          <p:spTgt spid="23556"/>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23557"/>
                                        </p:tgtEl>
                                        <p:attrNameLst>
                                          <p:attrName>style.visibility</p:attrName>
                                        </p:attrNameLst>
                                      </p:cBhvr>
                                      <p:to>
                                        <p:strVal val="visible"/>
                                      </p:to>
                                    </p:set>
                                    <p:animEffect transition="in" filter="strips(downRight)">
                                      <p:cBhvr>
                                        <p:cTn id="11" dur="500"/>
                                        <p:tgtEl>
                                          <p:spTgt spid="2355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23558"/>
                                        </p:tgtEl>
                                        <p:attrNameLst>
                                          <p:attrName>style.visibility</p:attrName>
                                        </p:attrNameLst>
                                      </p:cBhvr>
                                      <p:to>
                                        <p:strVal val="visible"/>
                                      </p:to>
                                    </p:set>
                                    <p:animEffect transition="in" filter="strips(downRight)">
                                      <p:cBhvr>
                                        <p:cTn id="16" dur="500"/>
                                        <p:tgtEl>
                                          <p:spTgt spid="2355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569"/>
                                        </p:tgtEl>
                                        <p:attrNameLst>
                                          <p:attrName>style.visibility</p:attrName>
                                        </p:attrNameLst>
                                      </p:cBhvr>
                                      <p:to>
                                        <p:strVal val="visible"/>
                                      </p:to>
                                    </p:set>
                                    <p:animEffect transition="in" filter="wipe(left)">
                                      <p:cBhvr>
                                        <p:cTn id="21" dur="500"/>
                                        <p:tgtEl>
                                          <p:spTgt spid="23569"/>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576"/>
                                        </p:tgtEl>
                                        <p:attrNameLst>
                                          <p:attrName>style.visibility</p:attrName>
                                        </p:attrNameLst>
                                      </p:cBhvr>
                                      <p:to>
                                        <p:strVal val="visible"/>
                                      </p:to>
                                    </p:set>
                                    <p:animEffect transition="in" filter="wipe(left)">
                                      <p:cBhvr>
                                        <p:cTn id="25" dur="500"/>
                                        <p:tgtEl>
                                          <p:spTgt spid="23576"/>
                                        </p:tgtEl>
                                      </p:cBhvr>
                                    </p:animEffect>
                                  </p:childTnLst>
                                </p:cTn>
                              </p:par>
                            </p:childTnLst>
                          </p:cTn>
                        </p:par>
                        <p:par>
                          <p:cTn id="26" fill="hold" nodeType="afterGroup">
                            <p:stCondLst>
                              <p:cond delay="1000"/>
                            </p:stCondLst>
                            <p:childTnLst>
                              <p:par>
                                <p:cTn id="27" presetID="12" presetClass="entr" presetSubtype="1" fill="hold" grpId="0" nodeType="afterEffect">
                                  <p:stCondLst>
                                    <p:cond delay="0"/>
                                  </p:stCondLst>
                                  <p:childTnLst>
                                    <p:set>
                                      <p:cBhvr>
                                        <p:cTn id="28" dur="1" fill="hold">
                                          <p:stCondLst>
                                            <p:cond delay="0"/>
                                          </p:stCondLst>
                                        </p:cTn>
                                        <p:tgtEl>
                                          <p:spTgt spid="23578"/>
                                        </p:tgtEl>
                                        <p:attrNameLst>
                                          <p:attrName>style.visibility</p:attrName>
                                        </p:attrNameLst>
                                      </p:cBhvr>
                                      <p:to>
                                        <p:strVal val="visible"/>
                                      </p:to>
                                    </p:set>
                                    <p:animEffect transition="in" filter="slide(fromTop)">
                                      <p:cBhvr>
                                        <p:cTn id="29" dur="500"/>
                                        <p:tgtEl>
                                          <p:spTgt spid="23578"/>
                                        </p:tgtEl>
                                      </p:cBhvr>
                                    </p:animEffect>
                                  </p:childTnLst>
                                </p:cTn>
                              </p:par>
                            </p:childTnLst>
                          </p:cTn>
                        </p:par>
                        <p:par>
                          <p:cTn id="30" fill="hold" nodeType="afterGroup">
                            <p:stCondLst>
                              <p:cond delay="1500"/>
                            </p:stCondLst>
                            <p:childTnLst>
                              <p:par>
                                <p:cTn id="31" presetID="9" presetClass="entr" presetSubtype="0" fill="hold" grpId="0" nodeType="afterEffect">
                                  <p:stCondLst>
                                    <p:cond delay="0"/>
                                  </p:stCondLst>
                                  <p:childTnLst>
                                    <p:set>
                                      <p:cBhvr>
                                        <p:cTn id="32" dur="1" fill="hold">
                                          <p:stCondLst>
                                            <p:cond delay="0"/>
                                          </p:stCondLst>
                                        </p:cTn>
                                        <p:tgtEl>
                                          <p:spTgt spid="23577"/>
                                        </p:tgtEl>
                                        <p:attrNameLst>
                                          <p:attrName>style.visibility</p:attrName>
                                        </p:attrNameLst>
                                      </p:cBhvr>
                                      <p:to>
                                        <p:strVal val="visible"/>
                                      </p:to>
                                    </p:set>
                                    <p:animEffect transition="in" filter="dissolve">
                                      <p:cBhvr>
                                        <p:cTn id="33" dur="500"/>
                                        <p:tgtEl>
                                          <p:spTgt spid="23577"/>
                                        </p:tgtEl>
                                      </p:cBhvr>
                                    </p:animEffect>
                                  </p:childTnLst>
                                </p:cTn>
                              </p:par>
                            </p:childTnLst>
                          </p:cTn>
                        </p:par>
                        <p:par>
                          <p:cTn id="34" fill="hold" nodeType="afterGroup">
                            <p:stCondLst>
                              <p:cond delay="2000"/>
                            </p:stCondLst>
                            <p:childTnLst>
                              <p:par>
                                <p:cTn id="35" presetID="12" presetClass="entr" presetSubtype="1" fill="hold" grpId="0" nodeType="afterEffect">
                                  <p:stCondLst>
                                    <p:cond delay="0"/>
                                  </p:stCondLst>
                                  <p:childTnLst>
                                    <p:set>
                                      <p:cBhvr>
                                        <p:cTn id="36" dur="1" fill="hold">
                                          <p:stCondLst>
                                            <p:cond delay="0"/>
                                          </p:stCondLst>
                                        </p:cTn>
                                        <p:tgtEl>
                                          <p:spTgt spid="23571"/>
                                        </p:tgtEl>
                                        <p:attrNameLst>
                                          <p:attrName>style.visibility</p:attrName>
                                        </p:attrNameLst>
                                      </p:cBhvr>
                                      <p:to>
                                        <p:strVal val="visible"/>
                                      </p:to>
                                    </p:set>
                                    <p:animEffect transition="in" filter="slide(fromTop)">
                                      <p:cBhvr>
                                        <p:cTn id="37" dur="500"/>
                                        <p:tgtEl>
                                          <p:spTgt spid="23571"/>
                                        </p:tgtEl>
                                      </p:cBhvr>
                                    </p:animEffect>
                                  </p:childTnLst>
                                </p:cTn>
                              </p:par>
                            </p:childTnLst>
                          </p:cTn>
                        </p:par>
                        <p:par>
                          <p:cTn id="38" fill="hold" nodeType="afterGroup">
                            <p:stCondLst>
                              <p:cond delay="2500"/>
                            </p:stCondLst>
                            <p:childTnLst>
                              <p:par>
                                <p:cTn id="39" presetID="9" presetClass="entr" presetSubtype="0" fill="hold" grpId="0" nodeType="afterEffect">
                                  <p:stCondLst>
                                    <p:cond delay="0"/>
                                  </p:stCondLst>
                                  <p:childTnLst>
                                    <p:set>
                                      <p:cBhvr>
                                        <p:cTn id="40" dur="1" fill="hold">
                                          <p:stCondLst>
                                            <p:cond delay="0"/>
                                          </p:stCondLst>
                                        </p:cTn>
                                        <p:tgtEl>
                                          <p:spTgt spid="23570"/>
                                        </p:tgtEl>
                                        <p:attrNameLst>
                                          <p:attrName>style.visibility</p:attrName>
                                        </p:attrNameLst>
                                      </p:cBhvr>
                                      <p:to>
                                        <p:strVal val="visible"/>
                                      </p:to>
                                    </p:set>
                                    <p:animEffect transition="in" filter="dissolve">
                                      <p:cBhvr>
                                        <p:cTn id="41" dur="500"/>
                                        <p:tgtEl>
                                          <p:spTgt spid="2357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4" fill="hold" grpId="0" nodeType="clickEffect">
                                  <p:stCondLst>
                                    <p:cond delay="0"/>
                                  </p:stCondLst>
                                  <p:childTnLst>
                                    <p:set>
                                      <p:cBhvr>
                                        <p:cTn id="45" dur="1" fill="hold">
                                          <p:stCondLst>
                                            <p:cond delay="0"/>
                                          </p:stCondLst>
                                        </p:cTn>
                                        <p:tgtEl>
                                          <p:spTgt spid="23572"/>
                                        </p:tgtEl>
                                        <p:attrNameLst>
                                          <p:attrName>style.visibility</p:attrName>
                                        </p:attrNameLst>
                                      </p:cBhvr>
                                      <p:to>
                                        <p:strVal val="visible"/>
                                      </p:to>
                                    </p:set>
                                    <p:anim calcmode="lin" valueType="num">
                                      <p:cBhvr>
                                        <p:cTn id="46" dur="500" fill="hold"/>
                                        <p:tgtEl>
                                          <p:spTgt spid="23572"/>
                                        </p:tgtEl>
                                        <p:attrNameLst>
                                          <p:attrName>ppt_x</p:attrName>
                                        </p:attrNameLst>
                                      </p:cBhvr>
                                      <p:tavLst>
                                        <p:tav tm="0">
                                          <p:val>
                                            <p:strVal val="#ppt_x"/>
                                          </p:val>
                                        </p:tav>
                                        <p:tav tm="100000">
                                          <p:val>
                                            <p:strVal val="#ppt_x"/>
                                          </p:val>
                                        </p:tav>
                                      </p:tavLst>
                                    </p:anim>
                                    <p:anim calcmode="lin" valueType="num">
                                      <p:cBhvr>
                                        <p:cTn id="47" dur="500" fill="hold"/>
                                        <p:tgtEl>
                                          <p:spTgt spid="23572"/>
                                        </p:tgtEl>
                                        <p:attrNameLst>
                                          <p:attrName>ppt_y</p:attrName>
                                        </p:attrNameLst>
                                      </p:cBhvr>
                                      <p:tavLst>
                                        <p:tav tm="0">
                                          <p:val>
                                            <p:strVal val="#ppt_y+#ppt_h/2"/>
                                          </p:val>
                                        </p:tav>
                                        <p:tav tm="100000">
                                          <p:val>
                                            <p:strVal val="#ppt_y"/>
                                          </p:val>
                                        </p:tav>
                                      </p:tavLst>
                                    </p:anim>
                                    <p:anim calcmode="lin" valueType="num">
                                      <p:cBhvr>
                                        <p:cTn id="48" dur="500" fill="hold"/>
                                        <p:tgtEl>
                                          <p:spTgt spid="23572"/>
                                        </p:tgtEl>
                                        <p:attrNameLst>
                                          <p:attrName>ppt_w</p:attrName>
                                        </p:attrNameLst>
                                      </p:cBhvr>
                                      <p:tavLst>
                                        <p:tav tm="0">
                                          <p:val>
                                            <p:strVal val="#ppt_w"/>
                                          </p:val>
                                        </p:tav>
                                        <p:tav tm="100000">
                                          <p:val>
                                            <p:strVal val="#ppt_w"/>
                                          </p:val>
                                        </p:tav>
                                      </p:tavLst>
                                    </p:anim>
                                    <p:anim calcmode="lin" valueType="num">
                                      <p:cBhvr>
                                        <p:cTn id="49" dur="500" fill="hold"/>
                                        <p:tgtEl>
                                          <p:spTgt spid="2357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23572"/>
                                        </p:tgtEl>
                                        <p:attrNameLst>
                                          <p:attrName>style.visibility</p:attrName>
                                        </p:attrNameLst>
                                      </p:cBhvr>
                                      <p:to>
                                        <p:strVal val="hidden"/>
                                      </p:to>
                                    </p:set>
                                  </p:subTnLst>
                                </p:cTn>
                              </p:par>
                            </p:childTnLst>
                          </p:cTn>
                        </p:par>
                        <p:par>
                          <p:cTn id="50" fill="hold" nodeType="afterGroup">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23582"/>
                                        </p:tgtEl>
                                        <p:attrNameLst>
                                          <p:attrName>style.visibility</p:attrName>
                                        </p:attrNameLst>
                                      </p:cBhvr>
                                      <p:to>
                                        <p:strVal val="visible"/>
                                      </p:to>
                                    </p:set>
                                    <p:animEffect transition="in" filter="dissolve">
                                      <p:cBhvr>
                                        <p:cTn id="53" dur="500"/>
                                        <p:tgtEl>
                                          <p:spTgt spid="23582"/>
                                        </p:tgtEl>
                                      </p:cBhvr>
                                    </p:animEffect>
                                  </p:childTnLst>
                                  <p:subTnLst>
                                    <p:set>
                                      <p:cBhvr override="childStyle">
                                        <p:cTn dur="1" fill="hold" display="0" masterRel="nextClick" afterEffect="1"/>
                                        <p:tgtEl>
                                          <p:spTgt spid="23582"/>
                                        </p:tgtEl>
                                        <p:attrNameLst>
                                          <p:attrName>style.visibility</p:attrName>
                                        </p:attrNameLst>
                                      </p:cBhvr>
                                      <p:to>
                                        <p:strVal val="hidden"/>
                                      </p:to>
                                    </p:set>
                                  </p:sub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4" fill="hold" grpId="0" nodeType="clickEffect">
                                  <p:stCondLst>
                                    <p:cond delay="0"/>
                                  </p:stCondLst>
                                  <p:childTnLst>
                                    <p:set>
                                      <p:cBhvr>
                                        <p:cTn id="57" dur="1" fill="hold">
                                          <p:stCondLst>
                                            <p:cond delay="0"/>
                                          </p:stCondLst>
                                        </p:cTn>
                                        <p:tgtEl>
                                          <p:spTgt spid="23573"/>
                                        </p:tgtEl>
                                        <p:attrNameLst>
                                          <p:attrName>style.visibility</p:attrName>
                                        </p:attrNameLst>
                                      </p:cBhvr>
                                      <p:to>
                                        <p:strVal val="visible"/>
                                      </p:to>
                                    </p:set>
                                    <p:anim calcmode="lin" valueType="num">
                                      <p:cBhvr>
                                        <p:cTn id="58" dur="500" fill="hold"/>
                                        <p:tgtEl>
                                          <p:spTgt spid="23573"/>
                                        </p:tgtEl>
                                        <p:attrNameLst>
                                          <p:attrName>ppt_x</p:attrName>
                                        </p:attrNameLst>
                                      </p:cBhvr>
                                      <p:tavLst>
                                        <p:tav tm="0">
                                          <p:val>
                                            <p:strVal val="#ppt_x"/>
                                          </p:val>
                                        </p:tav>
                                        <p:tav tm="100000">
                                          <p:val>
                                            <p:strVal val="#ppt_x"/>
                                          </p:val>
                                        </p:tav>
                                      </p:tavLst>
                                    </p:anim>
                                    <p:anim calcmode="lin" valueType="num">
                                      <p:cBhvr>
                                        <p:cTn id="59" dur="500" fill="hold"/>
                                        <p:tgtEl>
                                          <p:spTgt spid="23573"/>
                                        </p:tgtEl>
                                        <p:attrNameLst>
                                          <p:attrName>ppt_y</p:attrName>
                                        </p:attrNameLst>
                                      </p:cBhvr>
                                      <p:tavLst>
                                        <p:tav tm="0">
                                          <p:val>
                                            <p:strVal val="#ppt_y+#ppt_h/2"/>
                                          </p:val>
                                        </p:tav>
                                        <p:tav tm="100000">
                                          <p:val>
                                            <p:strVal val="#ppt_y"/>
                                          </p:val>
                                        </p:tav>
                                      </p:tavLst>
                                    </p:anim>
                                    <p:anim calcmode="lin" valueType="num">
                                      <p:cBhvr>
                                        <p:cTn id="60" dur="500" fill="hold"/>
                                        <p:tgtEl>
                                          <p:spTgt spid="23573"/>
                                        </p:tgtEl>
                                        <p:attrNameLst>
                                          <p:attrName>ppt_w</p:attrName>
                                        </p:attrNameLst>
                                      </p:cBhvr>
                                      <p:tavLst>
                                        <p:tav tm="0">
                                          <p:val>
                                            <p:strVal val="#ppt_w"/>
                                          </p:val>
                                        </p:tav>
                                        <p:tav tm="100000">
                                          <p:val>
                                            <p:strVal val="#ppt_w"/>
                                          </p:val>
                                        </p:tav>
                                      </p:tavLst>
                                    </p:anim>
                                    <p:anim calcmode="lin" valueType="num">
                                      <p:cBhvr>
                                        <p:cTn id="61" dur="500" fill="hold"/>
                                        <p:tgtEl>
                                          <p:spTgt spid="23573"/>
                                        </p:tgtEl>
                                        <p:attrNameLst>
                                          <p:attrName>ppt_h</p:attrName>
                                        </p:attrNameLst>
                                      </p:cBhvr>
                                      <p:tavLst>
                                        <p:tav tm="0">
                                          <p:val>
                                            <p:fltVal val="0"/>
                                          </p:val>
                                        </p:tav>
                                        <p:tav tm="100000">
                                          <p:val>
                                            <p:strVal val="#ppt_h"/>
                                          </p:val>
                                        </p:tav>
                                      </p:tavLst>
                                    </p:anim>
                                  </p:childTnLst>
                                </p:cTn>
                              </p:par>
                            </p:childTnLst>
                          </p:cTn>
                        </p:par>
                        <p:par>
                          <p:cTn id="62" fill="hold" nodeType="afterGroup">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23574"/>
                                        </p:tgtEl>
                                        <p:attrNameLst>
                                          <p:attrName>style.visibility</p:attrName>
                                        </p:attrNameLst>
                                      </p:cBhvr>
                                      <p:to>
                                        <p:strVal val="visible"/>
                                      </p:to>
                                    </p:set>
                                    <p:animEffect transition="in" filter="dissolve">
                                      <p:cBhvr>
                                        <p:cTn id="65" dur="500"/>
                                        <p:tgtEl>
                                          <p:spTgt spid="23574"/>
                                        </p:tgtEl>
                                      </p:cBhvr>
                                    </p:animEffect>
                                  </p:childTnLst>
                                </p:cTn>
                              </p:par>
                            </p:childTnLst>
                          </p:cTn>
                        </p:par>
                        <p:par>
                          <p:cTn id="66" fill="hold" nodeType="afterGroup">
                            <p:stCondLst>
                              <p:cond delay="1000"/>
                            </p:stCondLst>
                            <p:childTnLst>
                              <p:par>
                                <p:cTn id="67" presetID="22" presetClass="entr" presetSubtype="2" fill="hold" grpId="0" nodeType="afterEffect">
                                  <p:stCondLst>
                                    <p:cond delay="0"/>
                                  </p:stCondLst>
                                  <p:childTnLst>
                                    <p:set>
                                      <p:cBhvr>
                                        <p:cTn id="68" dur="1" fill="hold">
                                          <p:stCondLst>
                                            <p:cond delay="0"/>
                                          </p:stCondLst>
                                        </p:cTn>
                                        <p:tgtEl>
                                          <p:spTgt spid="23580"/>
                                        </p:tgtEl>
                                        <p:attrNameLst>
                                          <p:attrName>style.visibility</p:attrName>
                                        </p:attrNameLst>
                                      </p:cBhvr>
                                      <p:to>
                                        <p:strVal val="visible"/>
                                      </p:to>
                                    </p:set>
                                    <p:animEffect transition="in" filter="wipe(right)">
                                      <p:cBhvr>
                                        <p:cTn id="69" dur="500"/>
                                        <p:tgtEl>
                                          <p:spTgt spid="23580"/>
                                        </p:tgtEl>
                                      </p:cBhvr>
                                    </p:animEffect>
                                  </p:childTnLst>
                                </p:cTn>
                              </p:par>
                            </p:childTnLst>
                          </p:cTn>
                        </p:par>
                        <p:par>
                          <p:cTn id="70" fill="hold" nodeType="afterGroup">
                            <p:stCondLst>
                              <p:cond delay="1500"/>
                            </p:stCondLst>
                            <p:childTnLst>
                              <p:par>
                                <p:cTn id="71" presetID="1" presetClass="entr" presetSubtype="0" fill="hold" grpId="0" nodeType="afterEffect">
                                  <p:stCondLst>
                                    <p:cond delay="0"/>
                                  </p:stCondLst>
                                  <p:childTnLst>
                                    <p:set>
                                      <p:cBhvr>
                                        <p:cTn id="72" dur="1" fill="hold">
                                          <p:stCondLst>
                                            <p:cond delay="499"/>
                                          </p:stCondLst>
                                        </p:cTn>
                                        <p:tgtEl>
                                          <p:spTgt spid="23585"/>
                                        </p:tgtEl>
                                        <p:attrNameLst>
                                          <p:attrName>style.visibility</p:attrName>
                                        </p:attrNameLst>
                                      </p:cBhvr>
                                      <p:to>
                                        <p:strVal val="visible"/>
                                      </p:to>
                                    </p:set>
                                  </p:childTnLst>
                                </p:cTn>
                              </p:par>
                            </p:childTnLst>
                          </p:cTn>
                        </p:par>
                        <p:par>
                          <p:cTn id="73" fill="hold" nodeType="afterGroup">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3581"/>
                                        </p:tgtEl>
                                        <p:attrNameLst>
                                          <p:attrName>style.visibility</p:attrName>
                                        </p:attrNameLst>
                                      </p:cBhvr>
                                      <p:to>
                                        <p:strVal val="visible"/>
                                      </p:to>
                                    </p:set>
                                    <p:animEffect transition="in" filter="dissolve">
                                      <p:cBhvr>
                                        <p:cTn id="76" dur="500"/>
                                        <p:tgtEl>
                                          <p:spTgt spid="2358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3586"/>
                                        </p:tgtEl>
                                        <p:attrNameLst>
                                          <p:attrName>style.visibility</p:attrName>
                                        </p:attrNameLst>
                                      </p:cBhvr>
                                      <p:to>
                                        <p:strVal val="visible"/>
                                      </p:to>
                                    </p:set>
                                    <p:anim calcmode="lin" valueType="num">
                                      <p:cBhvr additive="base">
                                        <p:cTn id="81" dur="500" fill="hold"/>
                                        <p:tgtEl>
                                          <p:spTgt spid="23586"/>
                                        </p:tgtEl>
                                        <p:attrNameLst>
                                          <p:attrName>ppt_x</p:attrName>
                                        </p:attrNameLst>
                                      </p:cBhvr>
                                      <p:tavLst>
                                        <p:tav tm="0">
                                          <p:val>
                                            <p:strVal val="#ppt_x"/>
                                          </p:val>
                                        </p:tav>
                                        <p:tav tm="100000">
                                          <p:val>
                                            <p:strVal val="#ppt_x"/>
                                          </p:val>
                                        </p:tav>
                                      </p:tavLst>
                                    </p:anim>
                                    <p:anim calcmode="lin" valueType="num">
                                      <p:cBhvr additive="base">
                                        <p:cTn id="82" dur="500" fill="hold"/>
                                        <p:tgtEl>
                                          <p:spTgt spid="23586"/>
                                        </p:tgtEl>
                                        <p:attrNameLst>
                                          <p:attrName>ppt_y</p:attrName>
                                        </p:attrNameLst>
                                      </p:cBhvr>
                                      <p:tavLst>
                                        <p:tav tm="0">
                                          <p:val>
                                            <p:strVal val="1+#ppt_h/2"/>
                                          </p:val>
                                        </p:tav>
                                        <p:tav tm="100000">
                                          <p:val>
                                            <p:strVal val="#ppt_y"/>
                                          </p:val>
                                        </p:tav>
                                      </p:tavLst>
                                    </p:anim>
                                  </p:childTnLst>
                                </p:cTn>
                              </p:par>
                            </p:childTnLst>
                          </p:cTn>
                        </p:par>
                        <p:par>
                          <p:cTn id="83" fill="hold" nodeType="afterGroup">
                            <p:stCondLst>
                              <p:cond delay="500"/>
                            </p:stCondLst>
                            <p:childTnLst>
                              <p:par>
                                <p:cTn id="84" presetID="1" presetClass="entr" presetSubtype="0" fill="hold" nodeType="afterEffect">
                                  <p:stCondLst>
                                    <p:cond delay="0"/>
                                  </p:stCondLst>
                                  <p:childTnLst>
                                    <p:set>
                                      <p:cBhvr>
                                        <p:cTn id="85" dur="1" fill="hold">
                                          <p:stCondLst>
                                            <p:cond delay="499"/>
                                          </p:stCondLst>
                                        </p:cTn>
                                        <p:tgtEl>
                                          <p:spTgt spid="23587"/>
                                        </p:tgtEl>
                                        <p:attrNameLst>
                                          <p:attrName>style.visibility</p:attrName>
                                        </p:attrNameLst>
                                      </p:cBhvr>
                                      <p:to>
                                        <p:strVal val="visible"/>
                                      </p:to>
                                    </p:set>
                                  </p:childTnLst>
                                </p:cTn>
                              </p:par>
                            </p:childTnLst>
                          </p:cTn>
                        </p:par>
                        <p:par>
                          <p:cTn id="86" fill="hold" nodeType="afterGroup">
                            <p:stCondLst>
                              <p:cond delay="1000"/>
                            </p:stCondLst>
                            <p:childTnLst>
                              <p:par>
                                <p:cTn id="87" presetID="12" presetClass="entr" presetSubtype="2" fill="hold" grpId="0" nodeType="afterEffect">
                                  <p:stCondLst>
                                    <p:cond delay="0"/>
                                  </p:stCondLst>
                                  <p:childTnLst>
                                    <p:set>
                                      <p:cBhvr>
                                        <p:cTn id="88" dur="1" fill="hold">
                                          <p:stCondLst>
                                            <p:cond delay="0"/>
                                          </p:stCondLst>
                                        </p:cTn>
                                        <p:tgtEl>
                                          <p:spTgt spid="23588"/>
                                        </p:tgtEl>
                                        <p:attrNameLst>
                                          <p:attrName>style.visibility</p:attrName>
                                        </p:attrNameLst>
                                      </p:cBhvr>
                                      <p:to>
                                        <p:strVal val="visible"/>
                                      </p:to>
                                    </p:set>
                                    <p:animEffect transition="in" filter="slide(fromRight)">
                                      <p:cBhvr>
                                        <p:cTn id="89" dur="500"/>
                                        <p:tgtEl>
                                          <p:spTgt spid="23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utoUpdateAnimBg="0"/>
      <p:bldP spid="23558" grpId="0" autoUpdateAnimBg="0"/>
      <p:bldP spid="23569" grpId="0" animBg="1"/>
      <p:bldP spid="23570" grpId="0" animBg="1"/>
      <p:bldP spid="23571" grpId="0" autoUpdateAnimBg="0"/>
      <p:bldP spid="23572" grpId="0" animBg="1"/>
      <p:bldP spid="23573" grpId="0" animBg="1"/>
      <p:bldP spid="23574" grpId="0" autoUpdateAnimBg="0"/>
      <p:bldP spid="23576" grpId="0" animBg="1"/>
      <p:bldP spid="23577" grpId="0" animBg="1"/>
      <p:bldP spid="23578" grpId="0" autoUpdateAnimBg="0"/>
      <p:bldP spid="23580" grpId="0" animBg="1"/>
      <p:bldP spid="23581" grpId="0" animBg="1"/>
      <p:bldP spid="23582" grpId="0" autoUpdateAnimBg="0"/>
      <p:bldP spid="23585" grpId="0" animBg="1"/>
      <p:bldP spid="23586" grpId="0" autoUpdateAnimBg="0"/>
      <p:bldP spid="23588"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1" name="Picture 5" descr="Green Ball">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46138"/>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24582" name="Text Box 6"/>
          <p:cNvSpPr txBox="1">
            <a:spLocks noChangeArrowheads="1"/>
          </p:cNvSpPr>
          <p:nvPr/>
        </p:nvSpPr>
        <p:spPr bwMode="auto">
          <a:xfrm>
            <a:off x="1143000" y="541338"/>
            <a:ext cx="52578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zh-CN" sz="3600">
                <a:solidFill>
                  <a:srgbClr val="0000FF"/>
                </a:solidFill>
                <a:ea typeface="楷体_GB2312" charset="0"/>
              </a:rPr>
              <a:t>令 </a:t>
            </a:r>
            <a:r>
              <a:rPr lang="en-US" altLang="zh-CN" sz="3600">
                <a:solidFill>
                  <a:srgbClr val="0000FF"/>
                </a:solidFill>
                <a:ea typeface="楷体_GB2312" charset="0"/>
              </a:rPr>
              <a:t>i = 2</a:t>
            </a:r>
            <a:r>
              <a:rPr lang="zh-CN" altLang="en-US" sz="3600">
                <a:solidFill>
                  <a:srgbClr val="0000FF"/>
                </a:solidFill>
                <a:ea typeface="楷体_GB2312" charset="0"/>
              </a:rPr>
              <a:t>，</a:t>
            </a:r>
            <a:r>
              <a:rPr lang="en-US" altLang="zh-CN" sz="3600">
                <a:solidFill>
                  <a:srgbClr val="0000FF"/>
                </a:solidFill>
                <a:ea typeface="楷体_GB2312" charset="0"/>
              </a:rPr>
              <a:t>3</a:t>
            </a:r>
            <a:r>
              <a:rPr lang="zh-CN" altLang="en-US" sz="3600">
                <a:solidFill>
                  <a:srgbClr val="0000FF"/>
                </a:solidFill>
                <a:ea typeface="楷体_GB2312" charset="0"/>
              </a:rPr>
              <a:t>，</a:t>
            </a:r>
            <a:r>
              <a:rPr lang="en-US" altLang="zh-CN" sz="3600">
                <a:solidFill>
                  <a:srgbClr val="0000FF"/>
                </a:solidFill>
                <a:ea typeface="楷体_GB2312" charset="0"/>
              </a:rPr>
              <a:t>…, n, </a:t>
            </a:r>
          </a:p>
          <a:p>
            <a:pPr algn="l">
              <a:lnSpc>
                <a:spcPct val="140000"/>
              </a:lnSpc>
            </a:pPr>
            <a:r>
              <a:rPr lang="zh-CN" altLang="en-US" sz="3600">
                <a:solidFill>
                  <a:srgbClr val="0000FF"/>
                </a:solidFill>
                <a:ea typeface="楷体_GB2312" charset="0"/>
              </a:rPr>
              <a:t>实现整个序列的排序。</a:t>
            </a:r>
            <a:endParaRPr lang="zh-CN" altLang="en-US"/>
          </a:p>
        </p:txBody>
      </p:sp>
      <p:sp>
        <p:nvSpPr>
          <p:cNvPr id="24583" name="Text Box 7"/>
          <p:cNvSpPr txBox="1">
            <a:spLocks noChangeArrowheads="1"/>
          </p:cNvSpPr>
          <p:nvPr/>
        </p:nvSpPr>
        <p:spPr bwMode="auto">
          <a:xfrm>
            <a:off x="1004888" y="2141538"/>
            <a:ext cx="7831137"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b="1"/>
              <a:t>for</a:t>
            </a:r>
            <a:r>
              <a:rPr lang="en-US" altLang="zh-CN" sz="3600"/>
              <a:t> ( i=2;  i&lt;=n;  ++i )</a:t>
            </a:r>
          </a:p>
          <a:p>
            <a:pPr algn="l">
              <a:lnSpc>
                <a:spcPct val="140000"/>
              </a:lnSpc>
            </a:pPr>
            <a:r>
              <a:rPr lang="en-US" altLang="zh-CN" sz="3600">
                <a:ea typeface="楷体_GB2312" charset="0"/>
              </a:rPr>
              <a:t>   </a:t>
            </a:r>
            <a:r>
              <a:rPr lang="en-US" altLang="zh-CN" sz="3600" b="1">
                <a:solidFill>
                  <a:schemeClr val="accent2"/>
                </a:solidFill>
                <a:ea typeface="楷体_GB2312" charset="0"/>
              </a:rPr>
              <a:t>if </a:t>
            </a:r>
            <a:r>
              <a:rPr lang="en-US" altLang="zh-CN" sz="3600">
                <a:solidFill>
                  <a:schemeClr val="accent2"/>
                </a:solidFill>
                <a:ea typeface="楷体_GB2312" charset="0"/>
              </a:rPr>
              <a:t>(R[i].key&lt;R[i-1].key) </a:t>
            </a:r>
          </a:p>
          <a:p>
            <a:pPr algn="l">
              <a:lnSpc>
                <a:spcPct val="140000"/>
              </a:lnSpc>
            </a:pPr>
            <a:r>
              <a:rPr lang="en-US" altLang="zh-CN" sz="3600">
                <a:solidFill>
                  <a:schemeClr val="accent2"/>
                </a:solidFill>
                <a:ea typeface="楷体_GB2312" charset="0"/>
              </a:rPr>
              <a:t>     </a:t>
            </a:r>
            <a:r>
              <a:rPr lang="en-US" altLang="zh-CN" sz="3600" b="1">
                <a:solidFill>
                  <a:schemeClr val="accent2"/>
                </a:solidFill>
                <a:ea typeface="楷体_GB2312" charset="0"/>
              </a:rPr>
              <a:t>{  </a:t>
            </a:r>
            <a:r>
              <a:rPr lang="zh-CN" altLang="en-US" sz="3600">
                <a:solidFill>
                  <a:srgbClr val="006666"/>
                </a:solidFill>
                <a:ea typeface="楷体_GB2312" charset="0"/>
              </a:rPr>
              <a:t>在</a:t>
            </a:r>
            <a:r>
              <a:rPr lang="zh-CN" altLang="en-US" sz="3600" b="1">
                <a:solidFill>
                  <a:schemeClr val="accent2"/>
                </a:solidFill>
                <a:ea typeface="楷体_GB2312" charset="0"/>
              </a:rPr>
              <a:t> </a:t>
            </a:r>
            <a:r>
              <a:rPr lang="en-US" altLang="zh-CN" sz="3600">
                <a:solidFill>
                  <a:srgbClr val="006666"/>
                </a:solidFill>
                <a:ea typeface="楷体_GB2312" charset="0"/>
              </a:rPr>
              <a:t>R[1..i-1]</a:t>
            </a:r>
            <a:r>
              <a:rPr lang="zh-CN" altLang="en-US" sz="3600">
                <a:solidFill>
                  <a:srgbClr val="006666"/>
                </a:solidFill>
                <a:ea typeface="楷体_GB2312" charset="0"/>
              </a:rPr>
              <a:t>中查找</a:t>
            </a:r>
            <a:r>
              <a:rPr lang="en-US" altLang="zh-CN" sz="3600">
                <a:solidFill>
                  <a:srgbClr val="006666"/>
                </a:solidFill>
                <a:ea typeface="楷体_GB2312" charset="0"/>
              </a:rPr>
              <a:t>R[i]</a:t>
            </a:r>
            <a:r>
              <a:rPr lang="zh-CN" altLang="en-US" sz="3600">
                <a:solidFill>
                  <a:srgbClr val="006666"/>
                </a:solidFill>
                <a:ea typeface="楷体_GB2312" charset="0"/>
              </a:rPr>
              <a:t>的插入位置</a:t>
            </a:r>
            <a:r>
              <a:rPr lang="en-US" altLang="zh-CN" sz="3600">
                <a:solidFill>
                  <a:srgbClr val="006666"/>
                </a:solidFill>
                <a:ea typeface="楷体_GB2312" charset="0"/>
              </a:rPr>
              <a:t>;</a:t>
            </a:r>
          </a:p>
          <a:p>
            <a:pPr algn="l">
              <a:lnSpc>
                <a:spcPct val="140000"/>
              </a:lnSpc>
            </a:pPr>
            <a:r>
              <a:rPr lang="en-US" altLang="zh-CN" sz="3600">
                <a:solidFill>
                  <a:srgbClr val="006666"/>
                </a:solidFill>
                <a:ea typeface="楷体_GB2312" charset="0"/>
              </a:rPr>
              <a:t>         </a:t>
            </a:r>
            <a:r>
              <a:rPr lang="zh-CN" altLang="en-US" sz="3600">
                <a:solidFill>
                  <a:srgbClr val="006666"/>
                </a:solidFill>
                <a:ea typeface="楷体_GB2312" charset="0"/>
              </a:rPr>
              <a:t>插入</a:t>
            </a:r>
            <a:r>
              <a:rPr lang="en-US" altLang="zh-CN" sz="3600">
                <a:solidFill>
                  <a:srgbClr val="006666"/>
                </a:solidFill>
                <a:ea typeface="楷体_GB2312" charset="0"/>
              </a:rPr>
              <a:t>R[i] ;</a:t>
            </a:r>
          </a:p>
          <a:p>
            <a:pPr algn="l">
              <a:lnSpc>
                <a:spcPct val="140000"/>
              </a:lnSpc>
            </a:pPr>
            <a:r>
              <a:rPr lang="en-US" altLang="zh-CN" sz="3600">
                <a:solidFill>
                  <a:srgbClr val="006666"/>
                </a:solidFill>
                <a:ea typeface="楷体_GB2312" charset="0"/>
              </a:rPr>
              <a:t>     </a:t>
            </a:r>
            <a:r>
              <a:rPr lang="en-US" altLang="zh-CN" sz="3600" b="1">
                <a:solidFill>
                  <a:schemeClr val="accent2"/>
                </a:solidFill>
                <a:ea typeface="楷体_GB2312" charset="0"/>
              </a:rPr>
              <a:t>}</a:t>
            </a:r>
          </a:p>
        </p:txBody>
      </p:sp>
    </p:spTree>
    <p:extLst>
      <p:ext uri="{BB962C8B-B14F-4D97-AF65-F5344CB8AC3E}">
        <p14:creationId xmlns:p14="http://schemas.microsoft.com/office/powerpoint/2010/main" val="4569213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24581"/>
                                        </p:tgtEl>
                                        <p:attrNameLst>
                                          <p:attrName>style.visibility</p:attrName>
                                        </p:attrNameLst>
                                      </p:cBhvr>
                                      <p:to>
                                        <p:strVal val="visible"/>
                                      </p:to>
                                    </p:set>
                                  </p:childTnLst>
                                </p:cTn>
                              </p:par>
                            </p:childTnLst>
                          </p:cTn>
                        </p:par>
                        <p:par>
                          <p:cTn id="7" fill="hold" nodeType="afterGroup">
                            <p:stCondLst>
                              <p:cond delay="500"/>
                            </p:stCondLst>
                            <p:childTnLst>
                              <p:par>
                                <p:cTn id="8" presetID="18" presetClass="entr" presetSubtype="6" fill="hold" grpId="0" nodeType="afterEffect">
                                  <p:stCondLst>
                                    <p:cond delay="0"/>
                                  </p:stCondLst>
                                  <p:childTnLst>
                                    <p:set>
                                      <p:cBhvr>
                                        <p:cTn id="9" dur="1" fill="hold">
                                          <p:stCondLst>
                                            <p:cond delay="0"/>
                                          </p:stCondLst>
                                        </p:cTn>
                                        <p:tgtEl>
                                          <p:spTgt spid="24582"/>
                                        </p:tgtEl>
                                        <p:attrNameLst>
                                          <p:attrName>style.visibility</p:attrName>
                                        </p:attrNameLst>
                                      </p:cBhvr>
                                      <p:to>
                                        <p:strVal val="visible"/>
                                      </p:to>
                                    </p:set>
                                    <p:animEffect transition="in" filter="strips(downRight)">
                                      <p:cBhvr>
                                        <p:cTn id="10" dur="500"/>
                                        <p:tgtEl>
                                          <p:spTgt spid="2458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24583"/>
                                        </p:tgtEl>
                                        <p:attrNameLst>
                                          <p:attrName>style.visibility</p:attrName>
                                        </p:attrNameLst>
                                      </p:cBhvr>
                                      <p:to>
                                        <p:strVal val="visible"/>
                                      </p:to>
                                    </p:set>
                                    <p:animEffect transition="in" filter="strips(downRight)">
                                      <p:cBhvr>
                                        <p:cTn id="15"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autoUpdateAnimBg="0"/>
      <p:bldP spid="2458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6513513" y="3500438"/>
            <a:ext cx="2667000" cy="1206500"/>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just" eaLnBrk="0" hangingPunct="0">
              <a:spcBef>
                <a:spcPct val="50000"/>
              </a:spcBef>
            </a:pPr>
            <a:r>
              <a:rPr kumimoji="0" lang="zh-CN" altLang="en-US" b="1">
                <a:solidFill>
                  <a:srgbClr val="FF3300"/>
                </a:solidFill>
              </a:rPr>
              <a:t>该算法适合于</a:t>
            </a:r>
            <a:r>
              <a:rPr kumimoji="0" lang="en-US" altLang="zh-CN" b="1">
                <a:solidFill>
                  <a:srgbClr val="FF3300"/>
                </a:solidFill>
              </a:rPr>
              <a:t>n </a:t>
            </a:r>
            <a:r>
              <a:rPr kumimoji="0" lang="zh-CN" altLang="en-US" b="1">
                <a:solidFill>
                  <a:srgbClr val="FF3300"/>
                </a:solidFill>
              </a:rPr>
              <a:t>较小的情况，时间复杂度为</a:t>
            </a:r>
            <a:r>
              <a:rPr kumimoji="0" lang="en-US" altLang="zh-CN" b="1">
                <a:solidFill>
                  <a:srgbClr val="FF3300"/>
                </a:solidFill>
              </a:rPr>
              <a:t>O(n</a:t>
            </a:r>
            <a:r>
              <a:rPr kumimoji="0" lang="en-US" altLang="zh-CN" b="1" baseline="30000">
                <a:solidFill>
                  <a:srgbClr val="FF3300"/>
                </a:solidFill>
              </a:rPr>
              <a:t>2</a:t>
            </a:r>
            <a:r>
              <a:rPr kumimoji="0" lang="en-US" altLang="zh-CN" b="1">
                <a:solidFill>
                  <a:srgbClr val="FF3300"/>
                </a:solidFill>
              </a:rPr>
              <a:t>)</a:t>
            </a:r>
          </a:p>
        </p:txBody>
      </p:sp>
      <p:sp>
        <p:nvSpPr>
          <p:cNvPr id="152579" name="Text Box 3"/>
          <p:cNvSpPr txBox="1">
            <a:spLocks noChangeArrowheads="1"/>
          </p:cNvSpPr>
          <p:nvPr/>
        </p:nvSpPr>
        <p:spPr bwMode="auto">
          <a:xfrm>
            <a:off x="539750" y="261938"/>
            <a:ext cx="6011863" cy="5111750"/>
          </a:xfrm>
          <a:prstGeom prst="rect">
            <a:avLst/>
          </a:prstGeom>
          <a:solidFill>
            <a:srgbClr val="FFFF66"/>
          </a:solidFill>
          <a:ln w="19050">
            <a:solidFill>
              <a:srgbClr val="FF0000"/>
            </a:solidFill>
            <a:miter lim="800000"/>
            <a:headEnd/>
            <a:tailEnd/>
          </a:ln>
        </p:spPr>
        <p:txBody>
          <a:bodyPr/>
          <a:lstStyle/>
          <a:p>
            <a:pPr algn="just" eaLnBrk="0" hangingPunct="0"/>
            <a:r>
              <a:rPr kumimoji="0" lang="zh-CN" altLang="en-US" b="1"/>
              <a:t>待排元素序列：</a:t>
            </a:r>
            <a:r>
              <a:rPr kumimoji="0" lang="en-US" altLang="zh-CN" b="1">
                <a:solidFill>
                  <a:srgbClr val="0000FF"/>
                </a:solidFill>
              </a:rPr>
              <a:t>[53]</a:t>
            </a:r>
            <a:r>
              <a:rPr kumimoji="0" lang="en-US" altLang="zh-CN" b="1"/>
              <a:t>   27   36   15   69   42</a:t>
            </a:r>
          </a:p>
          <a:p>
            <a:pPr algn="just" eaLnBrk="0" hangingPunct="0"/>
            <a:endParaRPr kumimoji="0" lang="en-US" altLang="zh-CN" b="1"/>
          </a:p>
          <a:p>
            <a:pPr algn="just" eaLnBrk="0" hangingPunct="0"/>
            <a:r>
              <a:rPr kumimoji="0" lang="zh-CN" altLang="en-US" b="1"/>
              <a:t>第一次排序：    </a:t>
            </a:r>
            <a:r>
              <a:rPr kumimoji="0" lang="en-US" altLang="zh-CN" b="1">
                <a:solidFill>
                  <a:srgbClr val="6600FF"/>
                </a:solidFill>
              </a:rPr>
              <a:t>[27   53]</a:t>
            </a:r>
            <a:r>
              <a:rPr kumimoji="0" lang="en-US" altLang="zh-CN" b="1"/>
              <a:t>   36   15   69   42</a:t>
            </a:r>
          </a:p>
          <a:p>
            <a:pPr algn="just" eaLnBrk="0" hangingPunct="0"/>
            <a:endParaRPr kumimoji="0" lang="en-US" altLang="zh-CN" b="1"/>
          </a:p>
          <a:p>
            <a:pPr algn="just" eaLnBrk="0" hangingPunct="0"/>
            <a:r>
              <a:rPr kumimoji="0" lang="zh-CN" altLang="en-US" b="1"/>
              <a:t>第二次排序：    </a:t>
            </a:r>
            <a:r>
              <a:rPr kumimoji="0" lang="en-US" altLang="zh-CN" b="1">
                <a:solidFill>
                  <a:srgbClr val="0000FF"/>
                </a:solidFill>
              </a:rPr>
              <a:t>[27   36   53]</a:t>
            </a:r>
            <a:r>
              <a:rPr kumimoji="0" lang="en-US" altLang="zh-CN" b="1"/>
              <a:t>   15   69   42</a:t>
            </a:r>
          </a:p>
          <a:p>
            <a:pPr algn="just" eaLnBrk="0" hangingPunct="0"/>
            <a:endParaRPr kumimoji="0" lang="en-US" altLang="zh-CN" b="1"/>
          </a:p>
          <a:p>
            <a:pPr algn="just" eaLnBrk="0" hangingPunct="0"/>
            <a:r>
              <a:rPr kumimoji="0" lang="zh-CN" altLang="en-US" b="1"/>
              <a:t>第三次排序：    </a:t>
            </a:r>
            <a:r>
              <a:rPr kumimoji="0" lang="en-US" altLang="zh-CN" b="1">
                <a:solidFill>
                  <a:srgbClr val="0000FF"/>
                </a:solidFill>
              </a:rPr>
              <a:t>[15   27   36   53]</a:t>
            </a:r>
            <a:r>
              <a:rPr kumimoji="0" lang="en-US" altLang="zh-CN" b="1"/>
              <a:t>   69   42</a:t>
            </a:r>
          </a:p>
          <a:p>
            <a:pPr algn="just" eaLnBrk="0" hangingPunct="0"/>
            <a:endParaRPr kumimoji="0" lang="en-US" altLang="zh-CN" b="1"/>
          </a:p>
          <a:p>
            <a:pPr algn="just" eaLnBrk="0" hangingPunct="0"/>
            <a:r>
              <a:rPr kumimoji="0" lang="zh-CN" altLang="en-US" b="1"/>
              <a:t>第四次排序：    </a:t>
            </a:r>
            <a:r>
              <a:rPr kumimoji="0" lang="en-US" altLang="zh-CN" b="1">
                <a:solidFill>
                  <a:srgbClr val="0000FF"/>
                </a:solidFill>
              </a:rPr>
              <a:t>[15   27   36    53   69]</a:t>
            </a:r>
            <a:r>
              <a:rPr kumimoji="0" lang="en-US" altLang="zh-CN" b="1"/>
              <a:t>  42</a:t>
            </a:r>
          </a:p>
          <a:p>
            <a:pPr algn="just" eaLnBrk="0" hangingPunct="0"/>
            <a:endParaRPr kumimoji="0" lang="en-US" altLang="zh-CN" b="1"/>
          </a:p>
          <a:p>
            <a:pPr algn="just" eaLnBrk="0" hangingPunct="0"/>
            <a:r>
              <a:rPr kumimoji="0" lang="zh-CN" altLang="en-US" b="1"/>
              <a:t>第五次排序：    </a:t>
            </a:r>
            <a:r>
              <a:rPr kumimoji="0" lang="en-US" altLang="zh-CN" b="1">
                <a:solidFill>
                  <a:srgbClr val="0000FF"/>
                </a:solidFill>
              </a:rPr>
              <a:t>[15   27   36  42   53   69]</a:t>
            </a:r>
            <a:r>
              <a:rPr kumimoji="0" lang="en-US" altLang="zh-CN" b="1"/>
              <a:t>  </a:t>
            </a:r>
          </a:p>
          <a:p>
            <a:pPr algn="just" eaLnBrk="0" hangingPunct="0"/>
            <a:r>
              <a:rPr kumimoji="0" lang="en-US" altLang="zh-CN" b="1"/>
              <a:t> </a:t>
            </a:r>
          </a:p>
          <a:p>
            <a:pPr eaLnBrk="0" hangingPunct="0"/>
            <a:r>
              <a:rPr kumimoji="0" lang="zh-CN" altLang="en-US" sz="3200" b="1">
                <a:solidFill>
                  <a:srgbClr val="008000"/>
                </a:solidFill>
              </a:rPr>
              <a:t>直接插入排序示例</a:t>
            </a:r>
          </a:p>
        </p:txBody>
      </p:sp>
      <p:sp>
        <p:nvSpPr>
          <p:cNvPr id="152580" name="AutoShape 4"/>
          <p:cNvSpPr>
            <a:spLocks noChangeArrowheads="1"/>
          </p:cNvSpPr>
          <p:nvPr/>
        </p:nvSpPr>
        <p:spPr bwMode="auto">
          <a:xfrm>
            <a:off x="6459538" y="836613"/>
            <a:ext cx="2667000" cy="2209800"/>
          </a:xfrm>
          <a:prstGeom prst="cloudCallout">
            <a:avLst>
              <a:gd name="adj1" fmla="val -60773"/>
              <a:gd name="adj2" fmla="val 76366"/>
            </a:avLst>
          </a:prstGeom>
          <a:solidFill>
            <a:schemeClr val="bg1"/>
          </a:solidFill>
          <a:ln w="19050">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p>
            <a:pPr eaLnBrk="0" hangingPunct="0"/>
            <a:r>
              <a:rPr kumimoji="0" lang="zh-CN" altLang="en-US" sz="2000" b="1"/>
              <a:t>对于有</a:t>
            </a:r>
            <a:r>
              <a:rPr kumimoji="0" lang="en-US" altLang="zh-CN" sz="2000" b="1">
                <a:solidFill>
                  <a:srgbClr val="FF0000"/>
                </a:solidFill>
              </a:rPr>
              <a:t>n</a:t>
            </a:r>
            <a:r>
              <a:rPr kumimoji="0" lang="zh-CN" altLang="en-US" sz="2000" b="1"/>
              <a:t>个数据元素的待排序列，插入操作要进行</a:t>
            </a:r>
            <a:r>
              <a:rPr kumimoji="0" lang="en-US" altLang="zh-CN" sz="2000" b="1">
                <a:solidFill>
                  <a:srgbClr val="FF0000"/>
                </a:solidFill>
              </a:rPr>
              <a:t>n-1</a:t>
            </a:r>
            <a:r>
              <a:rPr kumimoji="0" lang="zh-CN" altLang="en-US" sz="2000" b="1"/>
              <a:t>次</a:t>
            </a:r>
          </a:p>
        </p:txBody>
      </p:sp>
      <p:grpSp>
        <p:nvGrpSpPr>
          <p:cNvPr id="152581" name="Group 5"/>
          <p:cNvGrpSpPr>
            <a:grpSpLocks/>
          </p:cNvGrpSpPr>
          <p:nvPr/>
        </p:nvGrpSpPr>
        <p:grpSpPr bwMode="auto">
          <a:xfrm>
            <a:off x="3071813" y="620713"/>
            <a:ext cx="533400" cy="533400"/>
            <a:chOff x="1344" y="1056"/>
            <a:chExt cx="336" cy="336"/>
          </a:xfrm>
        </p:grpSpPr>
        <p:sp>
          <p:nvSpPr>
            <p:cNvPr id="152582" name="Line 6"/>
            <p:cNvSpPr>
              <a:spLocks noChangeShapeType="1"/>
            </p:cNvSpPr>
            <p:nvPr/>
          </p:nvSpPr>
          <p:spPr bwMode="auto">
            <a:xfrm>
              <a:off x="1680" y="1056"/>
              <a:ext cx="0" cy="14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83" name="Line 7"/>
            <p:cNvSpPr>
              <a:spLocks noChangeShapeType="1"/>
            </p:cNvSpPr>
            <p:nvPr/>
          </p:nvSpPr>
          <p:spPr bwMode="auto">
            <a:xfrm>
              <a:off x="1344" y="1200"/>
              <a:ext cx="33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84" name="Line 8"/>
            <p:cNvSpPr>
              <a:spLocks noChangeShapeType="1"/>
            </p:cNvSpPr>
            <p:nvPr/>
          </p:nvSpPr>
          <p:spPr bwMode="auto">
            <a:xfrm>
              <a:off x="1344" y="1200"/>
              <a:ext cx="0" cy="19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152585" name="Group 9"/>
          <p:cNvGrpSpPr>
            <a:grpSpLocks/>
          </p:cNvGrpSpPr>
          <p:nvPr/>
        </p:nvGrpSpPr>
        <p:grpSpPr bwMode="auto">
          <a:xfrm>
            <a:off x="3619500" y="1341438"/>
            <a:ext cx="533400" cy="533400"/>
            <a:chOff x="1344" y="1056"/>
            <a:chExt cx="336" cy="336"/>
          </a:xfrm>
        </p:grpSpPr>
        <p:sp>
          <p:nvSpPr>
            <p:cNvPr id="152586" name="Line 10"/>
            <p:cNvSpPr>
              <a:spLocks noChangeShapeType="1"/>
            </p:cNvSpPr>
            <p:nvPr/>
          </p:nvSpPr>
          <p:spPr bwMode="auto">
            <a:xfrm>
              <a:off x="1680" y="1056"/>
              <a:ext cx="0" cy="14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87" name="Line 11"/>
            <p:cNvSpPr>
              <a:spLocks noChangeShapeType="1"/>
            </p:cNvSpPr>
            <p:nvPr/>
          </p:nvSpPr>
          <p:spPr bwMode="auto">
            <a:xfrm>
              <a:off x="1344" y="1200"/>
              <a:ext cx="33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88" name="Line 12"/>
            <p:cNvSpPr>
              <a:spLocks noChangeShapeType="1"/>
            </p:cNvSpPr>
            <p:nvPr/>
          </p:nvSpPr>
          <p:spPr bwMode="auto">
            <a:xfrm>
              <a:off x="1344" y="1200"/>
              <a:ext cx="0" cy="19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grpSp>
        <p:nvGrpSpPr>
          <p:cNvPr id="152589" name="Group 13"/>
          <p:cNvGrpSpPr>
            <a:grpSpLocks/>
          </p:cNvGrpSpPr>
          <p:nvPr/>
        </p:nvGrpSpPr>
        <p:grpSpPr bwMode="auto">
          <a:xfrm>
            <a:off x="3048000" y="2060575"/>
            <a:ext cx="1658938" cy="533400"/>
            <a:chOff x="1344" y="2112"/>
            <a:chExt cx="816" cy="336"/>
          </a:xfrm>
        </p:grpSpPr>
        <p:sp>
          <p:nvSpPr>
            <p:cNvPr id="152590" name="Line 14"/>
            <p:cNvSpPr>
              <a:spLocks noChangeShapeType="1"/>
            </p:cNvSpPr>
            <p:nvPr/>
          </p:nvSpPr>
          <p:spPr bwMode="auto">
            <a:xfrm>
              <a:off x="2160" y="2112"/>
              <a:ext cx="0" cy="14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91" name="Line 15"/>
            <p:cNvSpPr>
              <a:spLocks noChangeShapeType="1"/>
            </p:cNvSpPr>
            <p:nvPr/>
          </p:nvSpPr>
          <p:spPr bwMode="auto">
            <a:xfrm>
              <a:off x="1344" y="2256"/>
              <a:ext cx="0" cy="19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92" name="Line 16"/>
            <p:cNvSpPr>
              <a:spLocks noChangeShapeType="1"/>
            </p:cNvSpPr>
            <p:nvPr/>
          </p:nvSpPr>
          <p:spPr bwMode="auto">
            <a:xfrm>
              <a:off x="1344" y="2256"/>
              <a:ext cx="81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
        <p:nvSpPr>
          <p:cNvPr id="152593" name="Line 17"/>
          <p:cNvSpPr>
            <a:spLocks noChangeShapeType="1"/>
          </p:cNvSpPr>
          <p:nvPr/>
        </p:nvSpPr>
        <p:spPr bwMode="auto">
          <a:xfrm>
            <a:off x="5219700" y="2781300"/>
            <a:ext cx="0" cy="5334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nvGrpSpPr>
          <p:cNvPr id="152594" name="Group 18"/>
          <p:cNvGrpSpPr>
            <a:grpSpLocks/>
          </p:cNvGrpSpPr>
          <p:nvPr/>
        </p:nvGrpSpPr>
        <p:grpSpPr bwMode="auto">
          <a:xfrm>
            <a:off x="4597400" y="3500438"/>
            <a:ext cx="1125538" cy="533400"/>
            <a:chOff x="2064" y="3168"/>
            <a:chExt cx="576" cy="336"/>
          </a:xfrm>
        </p:grpSpPr>
        <p:sp>
          <p:nvSpPr>
            <p:cNvPr id="152595" name="Line 19"/>
            <p:cNvSpPr>
              <a:spLocks noChangeShapeType="1"/>
            </p:cNvSpPr>
            <p:nvPr/>
          </p:nvSpPr>
          <p:spPr bwMode="auto">
            <a:xfrm>
              <a:off x="2640" y="3168"/>
              <a:ext cx="0" cy="14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96" name="Line 20"/>
            <p:cNvSpPr>
              <a:spLocks noChangeShapeType="1"/>
            </p:cNvSpPr>
            <p:nvPr/>
          </p:nvSpPr>
          <p:spPr bwMode="auto">
            <a:xfrm>
              <a:off x="2064" y="3312"/>
              <a:ext cx="57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2597" name="Line 21"/>
            <p:cNvSpPr>
              <a:spLocks noChangeShapeType="1"/>
            </p:cNvSpPr>
            <p:nvPr/>
          </p:nvSpPr>
          <p:spPr bwMode="auto">
            <a:xfrm>
              <a:off x="2064" y="3312"/>
              <a:ext cx="0" cy="19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grpSp>
    </p:spTree>
    <p:extLst>
      <p:ext uri="{BB962C8B-B14F-4D97-AF65-F5344CB8AC3E}">
        <p14:creationId xmlns:p14="http://schemas.microsoft.com/office/powerpoint/2010/main" val="21453987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52581"/>
                                        </p:tgtEl>
                                        <p:attrNameLst>
                                          <p:attrName>style.visibility</p:attrName>
                                        </p:attrNameLst>
                                      </p:cBhvr>
                                      <p:to>
                                        <p:strVal val="visible"/>
                                      </p:to>
                                    </p:set>
                                    <p:animEffect transition="in" filter="wipe(right)">
                                      <p:cBhvr>
                                        <p:cTn id="7" dur="500"/>
                                        <p:tgtEl>
                                          <p:spTgt spid="1525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152585"/>
                                        </p:tgtEl>
                                        <p:attrNameLst>
                                          <p:attrName>style.visibility</p:attrName>
                                        </p:attrNameLst>
                                      </p:cBhvr>
                                      <p:to>
                                        <p:strVal val="visible"/>
                                      </p:to>
                                    </p:set>
                                    <p:animEffect transition="in" filter="wipe(right)">
                                      <p:cBhvr>
                                        <p:cTn id="12" dur="500"/>
                                        <p:tgtEl>
                                          <p:spTgt spid="1525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52589"/>
                                        </p:tgtEl>
                                        <p:attrNameLst>
                                          <p:attrName>style.visibility</p:attrName>
                                        </p:attrNameLst>
                                      </p:cBhvr>
                                      <p:to>
                                        <p:strVal val="visible"/>
                                      </p:to>
                                    </p:set>
                                    <p:animEffect transition="in" filter="wipe(right)">
                                      <p:cBhvr>
                                        <p:cTn id="17" dur="500"/>
                                        <p:tgtEl>
                                          <p:spTgt spid="1525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2593"/>
                                        </p:tgtEl>
                                        <p:attrNameLst>
                                          <p:attrName>style.visibility</p:attrName>
                                        </p:attrNameLst>
                                      </p:cBhvr>
                                      <p:to>
                                        <p:strVal val="visible"/>
                                      </p:to>
                                    </p:set>
                                    <p:animEffect transition="in" filter="wipe(up)">
                                      <p:cBhvr>
                                        <p:cTn id="22" dur="500"/>
                                        <p:tgtEl>
                                          <p:spTgt spid="1525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152594"/>
                                        </p:tgtEl>
                                        <p:attrNameLst>
                                          <p:attrName>style.visibility</p:attrName>
                                        </p:attrNameLst>
                                      </p:cBhvr>
                                      <p:to>
                                        <p:strVal val="visible"/>
                                      </p:to>
                                    </p:set>
                                    <p:animEffect transition="in" filter="wipe(right)">
                                      <p:cBhvr>
                                        <p:cTn id="27" dur="500"/>
                                        <p:tgtEl>
                                          <p:spTgt spid="1525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3" fill="hold" grpId="0" nodeType="clickEffect">
                                  <p:stCondLst>
                                    <p:cond delay="0"/>
                                  </p:stCondLst>
                                  <p:childTnLst>
                                    <p:set>
                                      <p:cBhvr>
                                        <p:cTn id="31" dur="1" fill="hold">
                                          <p:stCondLst>
                                            <p:cond delay="0"/>
                                          </p:stCondLst>
                                        </p:cTn>
                                        <p:tgtEl>
                                          <p:spTgt spid="152580"/>
                                        </p:tgtEl>
                                        <p:attrNameLst>
                                          <p:attrName>style.visibility</p:attrName>
                                        </p:attrNameLst>
                                      </p:cBhvr>
                                      <p:to>
                                        <p:strVal val="visible"/>
                                      </p:to>
                                    </p:set>
                                    <p:anim calcmode="lin" valueType="num">
                                      <p:cBhvr additive="base">
                                        <p:cTn id="32" dur="500" fill="hold"/>
                                        <p:tgtEl>
                                          <p:spTgt spid="152580"/>
                                        </p:tgtEl>
                                        <p:attrNameLst>
                                          <p:attrName>ppt_x</p:attrName>
                                        </p:attrNameLst>
                                      </p:cBhvr>
                                      <p:tavLst>
                                        <p:tav tm="0">
                                          <p:val>
                                            <p:strVal val="1+#ppt_w/2"/>
                                          </p:val>
                                        </p:tav>
                                        <p:tav tm="100000">
                                          <p:val>
                                            <p:strVal val="#ppt_x"/>
                                          </p:val>
                                        </p:tav>
                                      </p:tavLst>
                                    </p:anim>
                                    <p:anim calcmode="lin" valueType="num">
                                      <p:cBhvr additive="base">
                                        <p:cTn id="33" dur="500" fill="hold"/>
                                        <p:tgtEl>
                                          <p:spTgt spid="152580"/>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152578"/>
                                        </p:tgtEl>
                                        <p:attrNameLst>
                                          <p:attrName>style.visibility</p:attrName>
                                        </p:attrNameLst>
                                      </p:cBhvr>
                                      <p:to>
                                        <p:strVal val="visible"/>
                                      </p:to>
                                    </p:set>
                                    <p:animEffect transition="in" filter="barn(outHorizontal)">
                                      <p:cBhvr>
                                        <p:cTn id="38" dur="500"/>
                                        <p:tgtEl>
                                          <p:spTgt spid="152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animBg="1" autoUpdateAnimBg="0"/>
      <p:bldP spid="152580" grpId="0" animBg="1" autoUpdateAnimBg="0"/>
      <p:bldP spid="15259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152400" y="76200"/>
            <a:ext cx="6348413" cy="678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ea typeface="楷体_GB2312" charset="0"/>
              </a:rPr>
              <a:t>void</a:t>
            </a:r>
            <a:r>
              <a:rPr lang="en-US" altLang="zh-CN" sz="3200">
                <a:ea typeface="楷体_GB2312" charset="0"/>
              </a:rPr>
              <a:t> InsertionSort ( SqList &amp;L ) </a:t>
            </a:r>
            <a:r>
              <a:rPr lang="en-US" altLang="zh-CN" sz="3200" b="1">
                <a:ea typeface="楷体_GB2312" charset="0"/>
              </a:rPr>
              <a:t>{</a:t>
            </a:r>
          </a:p>
          <a:p>
            <a:pPr algn="l">
              <a:lnSpc>
                <a:spcPct val="115000"/>
              </a:lnSpc>
            </a:pPr>
            <a:r>
              <a:rPr lang="en-US" altLang="zh-CN" sz="3200">
                <a:ea typeface="楷体_GB2312" charset="0"/>
              </a:rPr>
              <a:t>  // </a:t>
            </a:r>
            <a:r>
              <a:rPr lang="zh-CN" altLang="en-US" sz="3200">
                <a:ea typeface="楷体_GB2312" charset="0"/>
              </a:rPr>
              <a:t>对顺序表 </a:t>
            </a:r>
            <a:r>
              <a:rPr lang="en-US" altLang="zh-CN" sz="3200">
                <a:ea typeface="楷体_GB2312" charset="0"/>
              </a:rPr>
              <a:t>L </a:t>
            </a:r>
            <a:r>
              <a:rPr lang="zh-CN" altLang="en-US" sz="3200">
                <a:ea typeface="楷体_GB2312" charset="0"/>
              </a:rPr>
              <a:t>作直接插入排序。</a:t>
            </a:r>
            <a:endParaRPr lang="zh-CN" altLang="en-US" sz="4000">
              <a:ea typeface="楷体_GB2312" charset="0"/>
            </a:endParaRPr>
          </a:p>
          <a:p>
            <a:pPr algn="l">
              <a:lnSpc>
                <a:spcPct val="125000"/>
              </a:lnSpc>
            </a:pPr>
            <a:r>
              <a:rPr lang="zh-CN" altLang="en-US" sz="4000">
                <a:ea typeface="楷体_GB2312" charset="0"/>
              </a:rPr>
              <a:t>   </a:t>
            </a:r>
            <a:r>
              <a:rPr lang="en-US" altLang="zh-CN" sz="3600" b="1">
                <a:solidFill>
                  <a:schemeClr val="accent2"/>
                </a:solidFill>
                <a:ea typeface="楷体_GB2312" charset="0"/>
              </a:rPr>
              <a:t>for</a:t>
            </a:r>
            <a:r>
              <a:rPr lang="en-US" altLang="zh-CN" sz="3600">
                <a:solidFill>
                  <a:schemeClr val="accent2"/>
                </a:solidFill>
                <a:ea typeface="楷体_GB2312" charset="0"/>
              </a:rPr>
              <a:t> ( i=2; i&lt;=L.length; ++i ) </a:t>
            </a:r>
            <a:endParaRPr lang="en-US" altLang="zh-CN" sz="3600" b="1">
              <a:solidFill>
                <a:schemeClr val="accent2"/>
              </a:solidFill>
              <a:ea typeface="楷体_GB2312" charset="0"/>
            </a:endParaRPr>
          </a:p>
          <a:p>
            <a:pPr algn="l">
              <a:lnSpc>
                <a:spcPct val="125000"/>
              </a:lnSpc>
            </a:pPr>
            <a:r>
              <a:rPr lang="en-US" altLang="zh-CN" sz="3600" b="1">
                <a:solidFill>
                  <a:schemeClr val="accent2"/>
                </a:solidFill>
                <a:ea typeface="楷体_GB2312" charset="0"/>
              </a:rPr>
              <a:t>       if </a:t>
            </a:r>
            <a:r>
              <a:rPr lang="en-US" altLang="zh-CN" sz="3600">
                <a:solidFill>
                  <a:schemeClr val="accent2"/>
                </a:solidFill>
                <a:ea typeface="楷体_GB2312" charset="0"/>
              </a:rPr>
              <a:t>(L.r[i].key &lt; L.r[i-1].key) </a:t>
            </a:r>
            <a:r>
              <a:rPr lang="en-US" altLang="zh-CN" sz="3600" b="1">
                <a:solidFill>
                  <a:schemeClr val="accent2"/>
                </a:solidFill>
                <a:ea typeface="楷体_GB2312" charset="0"/>
              </a:rPr>
              <a:t>{</a:t>
            </a:r>
            <a:endParaRPr lang="en-US" altLang="zh-CN" sz="3600">
              <a:ea typeface="楷体_GB2312" charset="0"/>
            </a:endParaRPr>
          </a:p>
          <a:p>
            <a:pPr algn="l">
              <a:lnSpc>
                <a:spcPct val="125000"/>
              </a:lnSpc>
            </a:pPr>
            <a:endParaRPr lang="en-US" altLang="zh-CN" sz="3600">
              <a:ea typeface="楷体_GB2312" charset="0"/>
            </a:endParaRPr>
          </a:p>
          <a:p>
            <a:pPr algn="l">
              <a:lnSpc>
                <a:spcPct val="125000"/>
              </a:lnSpc>
            </a:pPr>
            <a:endParaRPr lang="en-US" altLang="zh-CN" sz="3600">
              <a:ea typeface="楷体_GB2312" charset="0"/>
            </a:endParaRPr>
          </a:p>
          <a:p>
            <a:pPr algn="l">
              <a:lnSpc>
                <a:spcPct val="125000"/>
              </a:lnSpc>
            </a:pPr>
            <a:endParaRPr lang="en-US" altLang="zh-CN" sz="3600">
              <a:ea typeface="楷体_GB2312" charset="0"/>
            </a:endParaRPr>
          </a:p>
          <a:p>
            <a:pPr algn="l">
              <a:lnSpc>
                <a:spcPct val="125000"/>
              </a:lnSpc>
            </a:pPr>
            <a:endParaRPr lang="en-US" altLang="zh-CN" sz="3600">
              <a:ea typeface="楷体_GB2312" charset="0"/>
            </a:endParaRPr>
          </a:p>
          <a:p>
            <a:pPr algn="l">
              <a:lnSpc>
                <a:spcPct val="125000"/>
              </a:lnSpc>
            </a:pPr>
            <a:r>
              <a:rPr lang="en-US" altLang="zh-CN" sz="3600">
                <a:ea typeface="楷体_GB2312" charset="0"/>
              </a:rPr>
              <a:t>       </a:t>
            </a:r>
            <a:r>
              <a:rPr lang="en-US" altLang="zh-CN" sz="3600" b="1">
                <a:solidFill>
                  <a:schemeClr val="accent2"/>
                </a:solidFill>
                <a:ea typeface="楷体_GB2312" charset="0"/>
              </a:rPr>
              <a:t>}</a:t>
            </a:r>
            <a:endParaRPr lang="en-US" altLang="zh-CN" sz="3600" b="1">
              <a:ea typeface="楷体_GB2312" charset="0"/>
            </a:endParaRPr>
          </a:p>
          <a:p>
            <a:pPr algn="l">
              <a:lnSpc>
                <a:spcPct val="125000"/>
              </a:lnSpc>
            </a:pPr>
            <a:r>
              <a:rPr lang="en-US" altLang="zh-CN" sz="3600" b="1">
                <a:ea typeface="楷体_GB2312" charset="0"/>
              </a:rPr>
              <a:t>} </a:t>
            </a:r>
            <a:r>
              <a:rPr lang="en-US" altLang="zh-CN" sz="3600">
                <a:ea typeface="楷体_GB2312" charset="0"/>
              </a:rPr>
              <a:t>// InsertSort</a:t>
            </a:r>
          </a:p>
        </p:txBody>
      </p:sp>
      <p:sp>
        <p:nvSpPr>
          <p:cNvPr id="13317" name="Rectangle 5"/>
          <p:cNvSpPr>
            <a:spLocks noChangeArrowheads="1"/>
          </p:cNvSpPr>
          <p:nvPr/>
        </p:nvSpPr>
        <p:spPr bwMode="auto">
          <a:xfrm>
            <a:off x="1295400" y="2743200"/>
            <a:ext cx="78232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a:ea typeface="楷体_GB2312" charset="0"/>
              </a:rPr>
              <a:t>L.r[0] = L.r[i];            // </a:t>
            </a:r>
            <a:r>
              <a:rPr lang="zh-CN" altLang="en-US" sz="3600">
                <a:ea typeface="楷体_GB2312" charset="0"/>
              </a:rPr>
              <a:t>复制为监视哨</a:t>
            </a:r>
          </a:p>
          <a:p>
            <a:pPr algn="l">
              <a:lnSpc>
                <a:spcPct val="125000"/>
              </a:lnSpc>
            </a:pPr>
            <a:r>
              <a:rPr lang="en-US" altLang="zh-CN" sz="3600" b="1">
                <a:solidFill>
                  <a:srgbClr val="840C26"/>
                </a:solidFill>
                <a:ea typeface="楷体_GB2312" charset="0"/>
              </a:rPr>
              <a:t>for</a:t>
            </a:r>
            <a:r>
              <a:rPr lang="en-US" altLang="zh-CN" sz="3600">
                <a:solidFill>
                  <a:srgbClr val="840C26"/>
                </a:solidFill>
                <a:ea typeface="楷体_GB2312" charset="0"/>
              </a:rPr>
              <a:t> ( j=i-1; L.r[0].key &lt; L.r[j].key;  -- j )</a:t>
            </a:r>
          </a:p>
          <a:p>
            <a:pPr algn="l">
              <a:lnSpc>
                <a:spcPct val="125000"/>
              </a:lnSpc>
            </a:pPr>
            <a:r>
              <a:rPr lang="en-US" altLang="zh-CN" sz="3600">
                <a:solidFill>
                  <a:srgbClr val="840C26"/>
                </a:solidFill>
                <a:ea typeface="楷体_GB2312" charset="0"/>
              </a:rPr>
              <a:t>    L.r[j+1] = L.r[j];</a:t>
            </a:r>
            <a:r>
              <a:rPr lang="en-US" altLang="zh-CN" sz="3600">
                <a:ea typeface="楷体_GB2312" charset="0"/>
              </a:rPr>
              <a:t>        // </a:t>
            </a:r>
            <a:r>
              <a:rPr lang="zh-CN" altLang="en-US" sz="3600">
                <a:ea typeface="楷体_GB2312" charset="0"/>
              </a:rPr>
              <a:t>记录后移</a:t>
            </a:r>
          </a:p>
          <a:p>
            <a:pPr algn="l">
              <a:lnSpc>
                <a:spcPct val="125000"/>
              </a:lnSpc>
            </a:pPr>
            <a:r>
              <a:rPr lang="en-US" altLang="zh-CN" sz="3600">
                <a:ea typeface="楷体_GB2312" charset="0"/>
              </a:rPr>
              <a:t>L.r[j+1] = L.r[0];        // </a:t>
            </a:r>
            <a:r>
              <a:rPr lang="zh-CN" altLang="en-US" sz="3600">
                <a:ea typeface="楷体_GB2312" charset="0"/>
              </a:rPr>
              <a:t>插入到正确位置</a:t>
            </a:r>
          </a:p>
        </p:txBody>
      </p:sp>
    </p:spTree>
    <p:extLst>
      <p:ext uri="{BB962C8B-B14F-4D97-AF65-F5344CB8AC3E}">
        <p14:creationId xmlns:p14="http://schemas.microsoft.com/office/powerpoint/2010/main" val="14661900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strips(downRight)">
                                      <p:cBhvr>
                                        <p:cTn id="7"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533400" y="685800"/>
            <a:ext cx="6553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5000">
                <a:solidFill>
                  <a:srgbClr val="FF9900"/>
                </a:solidFill>
                <a:ea typeface="楷体_GB2312" charset="0"/>
              </a:rPr>
              <a:t>内部排序的</a:t>
            </a:r>
            <a:r>
              <a:rPr lang="zh-CN" altLang="en-US" sz="5000" b="1">
                <a:solidFill>
                  <a:srgbClr val="FF9900"/>
                </a:solidFill>
                <a:ea typeface="楷体_GB2312" charset="0"/>
              </a:rPr>
              <a:t>时间分析</a:t>
            </a:r>
            <a:r>
              <a:rPr lang="zh-CN" altLang="en-US" sz="5000">
                <a:solidFill>
                  <a:srgbClr val="FF9900"/>
                </a:solidFill>
                <a:ea typeface="楷体_GB2312" charset="0"/>
              </a:rPr>
              <a:t>：</a:t>
            </a:r>
            <a:endParaRPr lang="zh-CN" altLang="en-US" sz="5000">
              <a:ea typeface="楷体_GB2312" charset="0"/>
            </a:endParaRPr>
          </a:p>
        </p:txBody>
      </p:sp>
      <p:sp>
        <p:nvSpPr>
          <p:cNvPr id="14339" name="Text Box 3"/>
          <p:cNvSpPr txBox="1">
            <a:spLocks noChangeArrowheads="1"/>
          </p:cNvSpPr>
          <p:nvPr/>
        </p:nvSpPr>
        <p:spPr bwMode="auto">
          <a:xfrm>
            <a:off x="762000" y="1676400"/>
            <a:ext cx="7823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zh-CN" altLang="en-US" sz="4000">
                <a:solidFill>
                  <a:srgbClr val="0000FF"/>
                </a:solidFill>
                <a:ea typeface="楷体_GB2312" charset="0"/>
              </a:rPr>
              <a:t>实现内部排序的</a:t>
            </a:r>
            <a:r>
              <a:rPr lang="zh-CN" altLang="en-US" sz="4000" b="1">
                <a:solidFill>
                  <a:srgbClr val="003366"/>
                </a:solidFill>
                <a:ea typeface="楷体_GB2312" charset="0"/>
              </a:rPr>
              <a:t>基本操作</a:t>
            </a:r>
            <a:r>
              <a:rPr lang="zh-CN" altLang="en-US" sz="4000">
                <a:solidFill>
                  <a:srgbClr val="0000FF"/>
                </a:solidFill>
                <a:ea typeface="楷体_GB2312" charset="0"/>
              </a:rPr>
              <a:t>有两个：</a:t>
            </a:r>
            <a:endParaRPr lang="zh-CN" altLang="en-US" sz="4000"/>
          </a:p>
        </p:txBody>
      </p:sp>
      <p:sp>
        <p:nvSpPr>
          <p:cNvPr id="14340" name="Rectangle 4"/>
          <p:cNvSpPr>
            <a:spLocks noChangeArrowheads="1"/>
          </p:cNvSpPr>
          <p:nvPr/>
        </p:nvSpPr>
        <p:spPr bwMode="auto">
          <a:xfrm>
            <a:off x="762000" y="4724400"/>
            <a:ext cx="4511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chemeClr val="accent2"/>
                </a:solidFill>
                <a:ea typeface="楷体_GB2312" charset="0"/>
              </a:rPr>
              <a:t>（</a:t>
            </a:r>
            <a:r>
              <a:rPr lang="en-US" altLang="zh-CN" sz="4000">
                <a:solidFill>
                  <a:schemeClr val="accent2"/>
                </a:solidFill>
                <a:ea typeface="楷体_GB2312" charset="0"/>
              </a:rPr>
              <a:t>2</a:t>
            </a:r>
            <a:r>
              <a:rPr lang="zh-CN" altLang="en-US" sz="4000">
                <a:solidFill>
                  <a:schemeClr val="accent2"/>
                </a:solidFill>
                <a:ea typeface="楷体_GB2312" charset="0"/>
              </a:rPr>
              <a:t>）</a:t>
            </a:r>
            <a:r>
              <a:rPr lang="zh-CN" altLang="en-US" sz="4000" b="1">
                <a:solidFill>
                  <a:srgbClr val="003366"/>
                </a:solidFill>
                <a:ea typeface="楷体_GB2312" charset="0"/>
              </a:rPr>
              <a:t>“移动”</a:t>
            </a:r>
            <a:r>
              <a:rPr lang="zh-CN" altLang="en-US" sz="4000">
                <a:solidFill>
                  <a:schemeClr val="accent2"/>
                </a:solidFill>
                <a:ea typeface="楷体_GB2312" charset="0"/>
              </a:rPr>
              <a:t>记录。</a:t>
            </a:r>
            <a:endParaRPr lang="zh-CN" altLang="en-US" sz="4000">
              <a:ea typeface="楷体_GB2312" charset="0"/>
            </a:endParaRPr>
          </a:p>
        </p:txBody>
      </p:sp>
      <p:sp>
        <p:nvSpPr>
          <p:cNvPr id="14341" name="Rectangle 5"/>
          <p:cNvSpPr>
            <a:spLocks noChangeArrowheads="1"/>
          </p:cNvSpPr>
          <p:nvPr/>
        </p:nvSpPr>
        <p:spPr bwMode="auto">
          <a:xfrm>
            <a:off x="762000" y="3048000"/>
            <a:ext cx="90170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4000">
                <a:solidFill>
                  <a:schemeClr val="accent2"/>
                </a:solidFill>
                <a:ea typeface="楷体_GB2312" charset="0"/>
              </a:rPr>
              <a:t>（</a:t>
            </a:r>
            <a:r>
              <a:rPr lang="en-US" altLang="zh-CN" sz="4000">
                <a:solidFill>
                  <a:schemeClr val="accent2"/>
                </a:solidFill>
                <a:ea typeface="楷体_GB2312" charset="0"/>
              </a:rPr>
              <a:t>1</a:t>
            </a:r>
            <a:r>
              <a:rPr lang="zh-CN" altLang="en-US" sz="4000">
                <a:solidFill>
                  <a:schemeClr val="accent2"/>
                </a:solidFill>
                <a:ea typeface="楷体_GB2312" charset="0"/>
              </a:rPr>
              <a:t>）</a:t>
            </a:r>
            <a:r>
              <a:rPr lang="zh-CN" altLang="en-US" sz="4000" b="1">
                <a:solidFill>
                  <a:srgbClr val="003366"/>
                </a:solidFill>
                <a:ea typeface="楷体_GB2312" charset="0"/>
              </a:rPr>
              <a:t>“比较”</a:t>
            </a:r>
            <a:r>
              <a:rPr lang="zh-CN" altLang="en-US" sz="4000">
                <a:solidFill>
                  <a:schemeClr val="accent2"/>
                </a:solidFill>
                <a:ea typeface="楷体_GB2312" charset="0"/>
              </a:rPr>
              <a:t>序列中两个关键字的</a:t>
            </a:r>
          </a:p>
          <a:p>
            <a:pPr algn="l">
              <a:lnSpc>
                <a:spcPct val="120000"/>
              </a:lnSpc>
            </a:pPr>
            <a:r>
              <a:rPr lang="zh-CN" altLang="en-US" sz="4000">
                <a:solidFill>
                  <a:schemeClr val="accent2"/>
                </a:solidFill>
                <a:ea typeface="楷体_GB2312" charset="0"/>
              </a:rPr>
              <a:t>          大小；</a:t>
            </a:r>
          </a:p>
        </p:txBody>
      </p:sp>
    </p:spTree>
    <p:extLst>
      <p:ext uri="{BB962C8B-B14F-4D97-AF65-F5344CB8AC3E}">
        <p14:creationId xmlns:p14="http://schemas.microsoft.com/office/powerpoint/2010/main" val="18411423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slide(fromTop)">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wipe(left)">
                                      <p:cBhvr>
                                        <p:cTn id="12" dur="500"/>
                                        <p:tgtEl>
                                          <p:spTgt spid="14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41"/>
                                        </p:tgtEl>
                                        <p:attrNameLst>
                                          <p:attrName>style.visibility</p:attrName>
                                        </p:attrNameLst>
                                      </p:cBhvr>
                                      <p:to>
                                        <p:strVal val="visible"/>
                                      </p:to>
                                    </p:set>
                                    <p:animEffect transition="in" filter="wipe(left)">
                                      <p:cBhvr>
                                        <p:cTn id="17" dur="500"/>
                                        <p:tgtEl>
                                          <p:spTgt spid="14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wipe(left)">
                                      <p:cBhvr>
                                        <p:cTn id="22"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0" grpId="0" autoUpdateAnimBg="0"/>
      <p:bldP spid="1434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28600" y="76200"/>
            <a:ext cx="4298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ea typeface="隶书" charset="0"/>
              </a:rPr>
              <a:t>对于直接插入排序：</a:t>
            </a:r>
            <a:endParaRPr lang="zh-CN" altLang="en-US" sz="4000">
              <a:ea typeface="楷体_GB2312" charset="0"/>
            </a:endParaRPr>
          </a:p>
        </p:txBody>
      </p:sp>
      <p:sp>
        <p:nvSpPr>
          <p:cNvPr id="15363" name="Text Box 3"/>
          <p:cNvSpPr txBox="1">
            <a:spLocks noChangeArrowheads="1"/>
          </p:cNvSpPr>
          <p:nvPr/>
        </p:nvSpPr>
        <p:spPr bwMode="auto">
          <a:xfrm>
            <a:off x="365125" y="906463"/>
            <a:ext cx="8785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b="1">
                <a:solidFill>
                  <a:srgbClr val="000080"/>
                </a:solidFill>
                <a:ea typeface="楷体_GB2312" charset="0"/>
              </a:rPr>
              <a:t>最好的情况（关键字在记录序列中顺序有序）：</a:t>
            </a:r>
          </a:p>
        </p:txBody>
      </p:sp>
      <p:sp>
        <p:nvSpPr>
          <p:cNvPr id="15364" name="Text Box 4"/>
          <p:cNvSpPr txBox="1">
            <a:spLocks noChangeArrowheads="1"/>
          </p:cNvSpPr>
          <p:nvPr/>
        </p:nvSpPr>
        <p:spPr bwMode="auto">
          <a:xfrm>
            <a:off x="762000" y="1647825"/>
            <a:ext cx="333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2"/>
                </a:solidFill>
                <a:ea typeface="楷体_GB2312" charset="0"/>
              </a:rPr>
              <a:t>“</a:t>
            </a:r>
            <a:r>
              <a:rPr lang="zh-CN" altLang="en-US" sz="3600">
                <a:solidFill>
                  <a:schemeClr val="accent2"/>
                </a:solidFill>
                <a:ea typeface="楷体_GB2312" charset="0"/>
              </a:rPr>
              <a:t>比较”</a:t>
            </a:r>
            <a:r>
              <a:rPr lang="zh-CN" altLang="en-US" sz="3600">
                <a:ea typeface="楷体_GB2312" charset="0"/>
              </a:rPr>
              <a:t>的次数：</a:t>
            </a:r>
            <a:endParaRPr lang="zh-CN" altLang="en-US" sz="4000"/>
          </a:p>
        </p:txBody>
      </p:sp>
      <p:sp>
        <p:nvSpPr>
          <p:cNvPr id="15368" name="Text Box 8"/>
          <p:cNvSpPr txBox="1">
            <a:spLocks noChangeArrowheads="1"/>
          </p:cNvSpPr>
          <p:nvPr/>
        </p:nvSpPr>
        <p:spPr bwMode="auto">
          <a:xfrm>
            <a:off x="381000" y="3581400"/>
            <a:ext cx="8785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b="1">
                <a:solidFill>
                  <a:srgbClr val="000080"/>
                </a:solidFill>
                <a:ea typeface="楷体_GB2312" charset="0"/>
              </a:rPr>
              <a:t>最坏的情况（关键字在记录序列中逆序有序）：</a:t>
            </a:r>
          </a:p>
        </p:txBody>
      </p:sp>
      <p:sp>
        <p:nvSpPr>
          <p:cNvPr id="15369" name="Text Box 9"/>
          <p:cNvSpPr txBox="1">
            <a:spLocks noChangeArrowheads="1"/>
          </p:cNvSpPr>
          <p:nvPr/>
        </p:nvSpPr>
        <p:spPr bwMode="auto">
          <a:xfrm>
            <a:off x="685800" y="4311650"/>
            <a:ext cx="333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2"/>
                </a:solidFill>
                <a:ea typeface="楷体_GB2312" charset="0"/>
              </a:rPr>
              <a:t>“</a:t>
            </a:r>
            <a:r>
              <a:rPr lang="zh-CN" altLang="en-US" sz="3600">
                <a:solidFill>
                  <a:schemeClr val="accent2"/>
                </a:solidFill>
                <a:ea typeface="楷体_GB2312" charset="0"/>
              </a:rPr>
              <a:t>比较”</a:t>
            </a:r>
            <a:r>
              <a:rPr lang="zh-CN" altLang="en-US" sz="3600">
                <a:ea typeface="楷体_GB2312" charset="0"/>
              </a:rPr>
              <a:t>的次数：</a:t>
            </a:r>
            <a:endParaRPr lang="zh-CN" altLang="en-US" sz="4000">
              <a:ea typeface="楷体_GB2312" charset="0"/>
            </a:endParaRPr>
          </a:p>
        </p:txBody>
      </p:sp>
      <p:graphicFrame>
        <p:nvGraphicFramePr>
          <p:cNvPr id="15370" name="Object 10"/>
          <p:cNvGraphicFramePr>
            <a:graphicFrameLocks noChangeAspect="1"/>
          </p:cNvGraphicFramePr>
          <p:nvPr/>
        </p:nvGraphicFramePr>
        <p:xfrm>
          <a:off x="1295400" y="2209800"/>
          <a:ext cx="2438400" cy="1135063"/>
        </p:xfrm>
        <a:graphic>
          <a:graphicData uri="http://schemas.openxmlformats.org/presentationml/2006/ole">
            <mc:AlternateContent xmlns:mc="http://schemas.openxmlformats.org/markup-compatibility/2006">
              <mc:Choice xmlns:v="urn:schemas-microsoft-com:vml" Requires="v">
                <p:oleObj spid="_x0000_s1667079" name="公式" r:id="rId4" imgW="711000" imgH="431640" progId="Equation.3">
                  <p:embed/>
                </p:oleObj>
              </mc:Choice>
              <mc:Fallback>
                <p:oleObj name="公式" r:id="rId4" imgW="71100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209800"/>
                        <a:ext cx="2438400" cy="113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5371" name="Text Box 11"/>
          <p:cNvSpPr txBox="1">
            <a:spLocks noChangeArrowheads="1"/>
          </p:cNvSpPr>
          <p:nvPr/>
        </p:nvSpPr>
        <p:spPr bwMode="auto">
          <a:xfrm>
            <a:off x="6019800" y="23622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400" b="1">
                <a:solidFill>
                  <a:srgbClr val="FF0000"/>
                </a:solidFill>
              </a:rPr>
              <a:t>0</a:t>
            </a:r>
            <a:endParaRPr lang="en-US" altLang="zh-CN"/>
          </a:p>
        </p:txBody>
      </p:sp>
      <p:graphicFrame>
        <p:nvGraphicFramePr>
          <p:cNvPr id="15373" name="Object 13"/>
          <p:cNvGraphicFramePr>
            <a:graphicFrameLocks noChangeAspect="1"/>
          </p:cNvGraphicFramePr>
          <p:nvPr/>
        </p:nvGraphicFramePr>
        <p:xfrm>
          <a:off x="4953000" y="5029200"/>
          <a:ext cx="3505200" cy="1295400"/>
        </p:xfrm>
        <a:graphic>
          <a:graphicData uri="http://schemas.openxmlformats.org/presentationml/2006/ole">
            <mc:AlternateContent xmlns:mc="http://schemas.openxmlformats.org/markup-compatibility/2006">
              <mc:Choice xmlns:v="urn:schemas-microsoft-com:vml" Requires="v">
                <p:oleObj spid="_x0000_s1667080" name="公式" r:id="rId6" imgW="1536480" imgH="431640" progId="Equation.3">
                  <p:embed/>
                </p:oleObj>
              </mc:Choice>
              <mc:Fallback>
                <p:oleObj name="公式" r:id="rId6" imgW="153648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5029200"/>
                        <a:ext cx="3505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5374" name="Rectangle 14"/>
          <p:cNvSpPr>
            <a:spLocks noChangeArrowheads="1"/>
          </p:cNvSpPr>
          <p:nvPr/>
        </p:nvSpPr>
        <p:spPr bwMode="auto">
          <a:xfrm>
            <a:off x="4800600" y="1644650"/>
            <a:ext cx="333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2"/>
                </a:solidFill>
                <a:ea typeface="楷体_GB2312" charset="0"/>
              </a:rPr>
              <a:t>“</a:t>
            </a:r>
            <a:r>
              <a:rPr lang="zh-CN" altLang="en-US" sz="3600">
                <a:solidFill>
                  <a:schemeClr val="accent2"/>
                </a:solidFill>
                <a:ea typeface="楷体_GB2312" charset="0"/>
              </a:rPr>
              <a:t>移动”</a:t>
            </a:r>
            <a:r>
              <a:rPr lang="zh-CN" altLang="en-US" sz="3600">
                <a:ea typeface="楷体_GB2312" charset="0"/>
              </a:rPr>
              <a:t>的次数：</a:t>
            </a:r>
            <a:endParaRPr lang="zh-CN" altLang="en-US" sz="4000">
              <a:ea typeface="楷体_GB2312" charset="0"/>
            </a:endParaRPr>
          </a:p>
        </p:txBody>
      </p:sp>
      <p:sp>
        <p:nvSpPr>
          <p:cNvPr id="15375" name="Rectangle 15"/>
          <p:cNvSpPr>
            <a:spLocks noChangeArrowheads="1"/>
          </p:cNvSpPr>
          <p:nvPr/>
        </p:nvSpPr>
        <p:spPr bwMode="auto">
          <a:xfrm>
            <a:off x="4876800" y="4311650"/>
            <a:ext cx="333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2"/>
                </a:solidFill>
                <a:ea typeface="楷体_GB2312" charset="0"/>
              </a:rPr>
              <a:t>“</a:t>
            </a:r>
            <a:r>
              <a:rPr lang="zh-CN" altLang="en-US" sz="3600">
                <a:solidFill>
                  <a:schemeClr val="accent2"/>
                </a:solidFill>
                <a:ea typeface="楷体_GB2312" charset="0"/>
              </a:rPr>
              <a:t>移动”</a:t>
            </a:r>
            <a:r>
              <a:rPr lang="zh-CN" altLang="en-US" sz="3600">
                <a:ea typeface="楷体_GB2312" charset="0"/>
              </a:rPr>
              <a:t>的次数：</a:t>
            </a:r>
            <a:endParaRPr lang="zh-CN" altLang="en-US" sz="4000">
              <a:ea typeface="楷体_GB2312" charset="0"/>
            </a:endParaRPr>
          </a:p>
        </p:txBody>
      </p:sp>
      <p:pic>
        <p:nvPicPr>
          <p:cNvPr id="15378" name="Picture 18" descr="Neighborhood">
            <a:hlinkClick r:id="rId8" action="ppaction://hlinksldjump" highlightClick="1"/>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 y="6553200"/>
            <a:ext cx="8458200" cy="228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379" name="Object 19"/>
          <p:cNvGraphicFramePr>
            <a:graphicFrameLocks noChangeAspect="1"/>
          </p:cNvGraphicFramePr>
          <p:nvPr/>
        </p:nvGraphicFramePr>
        <p:xfrm>
          <a:off x="654050" y="4991100"/>
          <a:ext cx="3417888" cy="1371600"/>
        </p:xfrm>
        <a:graphic>
          <a:graphicData uri="http://schemas.openxmlformats.org/presentationml/2006/ole">
            <mc:AlternateContent xmlns:mc="http://schemas.openxmlformats.org/markup-compatibility/2006">
              <mc:Choice xmlns:v="urn:schemas-microsoft-com:vml" Requires="v">
                <p:oleObj spid="_x0000_s1667081" name="公式" r:id="rId10" imgW="1498320" imgH="457200" progId="Equation.3">
                  <p:embed/>
                </p:oleObj>
              </mc:Choice>
              <mc:Fallback>
                <p:oleObj name="公式" r:id="rId10" imgW="1498320" imgH="457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4050" y="4991100"/>
                        <a:ext cx="341788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616285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0-#ppt_w/2"/>
                                          </p:val>
                                        </p:tav>
                                        <p:tav tm="100000">
                                          <p:val>
                                            <p:strVal val="#ppt_x"/>
                                          </p:val>
                                        </p:tav>
                                      </p:tavLst>
                                    </p:anim>
                                    <p:anim calcmode="lin" valueType="num">
                                      <p:cBhvr additive="base">
                                        <p:cTn id="8" dur="500" fill="hold"/>
                                        <p:tgtEl>
                                          <p:spTgt spid="153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5363"/>
                                        </p:tgtEl>
                                        <p:attrNameLst>
                                          <p:attrName>style.visibility</p:attrName>
                                        </p:attrNameLst>
                                      </p:cBhvr>
                                      <p:to>
                                        <p:strVal val="visible"/>
                                      </p:to>
                                    </p:set>
                                    <p:animEffect transition="in" filter="strips(downRight)">
                                      <p:cBhvr>
                                        <p:cTn id="13" dur="500"/>
                                        <p:tgtEl>
                                          <p:spTgt spid="1536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364"/>
                                        </p:tgtEl>
                                        <p:attrNameLst>
                                          <p:attrName>style.visibility</p:attrName>
                                        </p:attrNameLst>
                                      </p:cBhvr>
                                      <p:to>
                                        <p:strVal val="visible"/>
                                      </p:to>
                                    </p:set>
                                    <p:animEffect transition="in" filter="wipe(left)">
                                      <p:cBhvr>
                                        <p:cTn id="18" dur="500"/>
                                        <p:tgtEl>
                                          <p:spTgt spid="15364"/>
                                        </p:tgtEl>
                                      </p:cBhvr>
                                    </p:animEffect>
                                  </p:childTnLst>
                                </p:cTn>
                              </p:par>
                            </p:childTnLst>
                          </p:cTn>
                        </p:par>
                        <p:par>
                          <p:cTn id="19" fill="hold" nodeType="afterGroup">
                            <p:stCondLst>
                              <p:cond delay="500"/>
                            </p:stCondLst>
                            <p:childTnLst>
                              <p:par>
                                <p:cTn id="20" presetID="3" presetClass="entr" presetSubtype="5" fill="hold" nodeType="afterEffect">
                                  <p:stCondLst>
                                    <p:cond delay="0"/>
                                  </p:stCondLst>
                                  <p:childTnLst>
                                    <p:set>
                                      <p:cBhvr>
                                        <p:cTn id="21" dur="1" fill="hold">
                                          <p:stCondLst>
                                            <p:cond delay="0"/>
                                          </p:stCondLst>
                                        </p:cTn>
                                        <p:tgtEl>
                                          <p:spTgt spid="15370"/>
                                        </p:tgtEl>
                                        <p:attrNameLst>
                                          <p:attrName>style.visibility</p:attrName>
                                        </p:attrNameLst>
                                      </p:cBhvr>
                                      <p:to>
                                        <p:strVal val="visible"/>
                                      </p:to>
                                    </p:set>
                                    <p:animEffect transition="in" filter="blinds(vertical)">
                                      <p:cBhvr>
                                        <p:cTn id="22" dur="500"/>
                                        <p:tgtEl>
                                          <p:spTgt spid="153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74"/>
                                        </p:tgtEl>
                                        <p:attrNameLst>
                                          <p:attrName>style.visibility</p:attrName>
                                        </p:attrNameLst>
                                      </p:cBhvr>
                                      <p:to>
                                        <p:strVal val="visible"/>
                                      </p:to>
                                    </p:set>
                                    <p:animEffect transition="in" filter="wipe(left)">
                                      <p:cBhvr>
                                        <p:cTn id="27" dur="500"/>
                                        <p:tgtEl>
                                          <p:spTgt spid="15374"/>
                                        </p:tgtEl>
                                      </p:cBhvr>
                                    </p:animEffect>
                                  </p:childTnLst>
                                </p:cTn>
                              </p:par>
                            </p:childTnLst>
                          </p:cTn>
                        </p:par>
                        <p:par>
                          <p:cTn id="28" fill="hold" nodeType="afterGroup">
                            <p:stCondLst>
                              <p:cond delay="500"/>
                            </p:stCondLst>
                            <p:childTnLst>
                              <p:par>
                                <p:cTn id="29" presetID="3" presetClass="entr" presetSubtype="5" fill="hold" grpId="0" nodeType="afterEffect">
                                  <p:stCondLst>
                                    <p:cond delay="0"/>
                                  </p:stCondLst>
                                  <p:childTnLst>
                                    <p:set>
                                      <p:cBhvr>
                                        <p:cTn id="30" dur="1" fill="hold">
                                          <p:stCondLst>
                                            <p:cond delay="0"/>
                                          </p:stCondLst>
                                        </p:cTn>
                                        <p:tgtEl>
                                          <p:spTgt spid="15371"/>
                                        </p:tgtEl>
                                        <p:attrNameLst>
                                          <p:attrName>style.visibility</p:attrName>
                                        </p:attrNameLst>
                                      </p:cBhvr>
                                      <p:to>
                                        <p:strVal val="visible"/>
                                      </p:to>
                                    </p:set>
                                    <p:animEffect transition="in" filter="blinds(vertical)">
                                      <p:cBhvr>
                                        <p:cTn id="31" dur="500"/>
                                        <p:tgtEl>
                                          <p:spTgt spid="1537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15368"/>
                                        </p:tgtEl>
                                        <p:attrNameLst>
                                          <p:attrName>style.visibility</p:attrName>
                                        </p:attrNameLst>
                                      </p:cBhvr>
                                      <p:to>
                                        <p:strVal val="visible"/>
                                      </p:to>
                                    </p:set>
                                    <p:animEffect transition="in" filter="strips(downRight)">
                                      <p:cBhvr>
                                        <p:cTn id="36" dur="500"/>
                                        <p:tgtEl>
                                          <p:spTgt spid="1536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369"/>
                                        </p:tgtEl>
                                        <p:attrNameLst>
                                          <p:attrName>style.visibility</p:attrName>
                                        </p:attrNameLst>
                                      </p:cBhvr>
                                      <p:to>
                                        <p:strVal val="visible"/>
                                      </p:to>
                                    </p:set>
                                    <p:animEffect transition="in" filter="wipe(left)">
                                      <p:cBhvr>
                                        <p:cTn id="41" dur="500"/>
                                        <p:tgtEl>
                                          <p:spTgt spid="153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375"/>
                                        </p:tgtEl>
                                        <p:attrNameLst>
                                          <p:attrName>style.visibility</p:attrName>
                                        </p:attrNameLst>
                                      </p:cBhvr>
                                      <p:to>
                                        <p:strVal val="visible"/>
                                      </p:to>
                                    </p:set>
                                    <p:animEffect transition="in" filter="wipe(left)">
                                      <p:cBhvr>
                                        <p:cTn id="46" dur="500"/>
                                        <p:tgtEl>
                                          <p:spTgt spid="15375"/>
                                        </p:tgtEl>
                                      </p:cBhvr>
                                    </p:animEffect>
                                  </p:childTnLst>
                                </p:cTn>
                              </p:par>
                            </p:childTnLst>
                          </p:cTn>
                        </p:par>
                        <p:par>
                          <p:cTn id="47" fill="hold" nodeType="afterGroup">
                            <p:stCondLst>
                              <p:cond delay="500"/>
                            </p:stCondLst>
                            <p:childTnLst>
                              <p:par>
                                <p:cTn id="48" presetID="3" presetClass="entr" presetSubtype="5" fill="hold" nodeType="afterEffect">
                                  <p:stCondLst>
                                    <p:cond delay="0"/>
                                  </p:stCondLst>
                                  <p:childTnLst>
                                    <p:set>
                                      <p:cBhvr>
                                        <p:cTn id="49" dur="1" fill="hold">
                                          <p:stCondLst>
                                            <p:cond delay="0"/>
                                          </p:stCondLst>
                                        </p:cTn>
                                        <p:tgtEl>
                                          <p:spTgt spid="15373"/>
                                        </p:tgtEl>
                                        <p:attrNameLst>
                                          <p:attrName>style.visibility</p:attrName>
                                        </p:attrNameLst>
                                      </p:cBhvr>
                                      <p:to>
                                        <p:strVal val="visible"/>
                                      </p:to>
                                    </p:set>
                                    <p:animEffect transition="in" filter="blinds(vertical)">
                                      <p:cBhvr>
                                        <p:cTn id="50" dur="500"/>
                                        <p:tgtEl>
                                          <p:spTgt spid="15373"/>
                                        </p:tgtEl>
                                      </p:cBhvr>
                                    </p:animEffect>
                                  </p:childTnLst>
                                </p:cTn>
                              </p:par>
                            </p:childTnLst>
                          </p:cTn>
                        </p:par>
                        <p:par>
                          <p:cTn id="51" fill="hold" nodeType="afterGroup">
                            <p:stCondLst>
                              <p:cond delay="1000"/>
                            </p:stCondLst>
                            <p:childTnLst>
                              <p:par>
                                <p:cTn id="52" presetID="3" presetClass="entr" presetSubtype="5" fill="hold" nodeType="afterEffect">
                                  <p:stCondLst>
                                    <p:cond delay="0"/>
                                  </p:stCondLst>
                                  <p:childTnLst>
                                    <p:set>
                                      <p:cBhvr>
                                        <p:cTn id="53" dur="1" fill="hold">
                                          <p:stCondLst>
                                            <p:cond delay="0"/>
                                          </p:stCondLst>
                                        </p:cTn>
                                        <p:tgtEl>
                                          <p:spTgt spid="15379"/>
                                        </p:tgtEl>
                                        <p:attrNameLst>
                                          <p:attrName>style.visibility</p:attrName>
                                        </p:attrNameLst>
                                      </p:cBhvr>
                                      <p:to>
                                        <p:strVal val="visible"/>
                                      </p:to>
                                    </p:set>
                                    <p:animEffect transition="in" filter="blinds(vertical)">
                                      <p:cBhvr>
                                        <p:cTn id="54" dur="500"/>
                                        <p:tgtEl>
                                          <p:spTgt spid="15379"/>
                                        </p:tgtEl>
                                      </p:cBhvr>
                                    </p:animEffect>
                                  </p:childTnLst>
                                </p:cTn>
                              </p:par>
                            </p:childTnLst>
                          </p:cTn>
                        </p:par>
                        <p:par>
                          <p:cTn id="55" fill="hold" nodeType="afterGroup">
                            <p:stCondLst>
                              <p:cond delay="1500"/>
                            </p:stCondLst>
                            <p:childTnLst>
                              <p:par>
                                <p:cTn id="56" presetID="2" presetClass="entr" presetSubtype="4" fill="hold" nodeType="afterEffect">
                                  <p:stCondLst>
                                    <p:cond delay="0"/>
                                  </p:stCondLst>
                                  <p:childTnLst>
                                    <p:set>
                                      <p:cBhvr>
                                        <p:cTn id="57" dur="1" fill="hold">
                                          <p:stCondLst>
                                            <p:cond delay="0"/>
                                          </p:stCondLst>
                                        </p:cTn>
                                        <p:tgtEl>
                                          <p:spTgt spid="15378"/>
                                        </p:tgtEl>
                                        <p:attrNameLst>
                                          <p:attrName>style.visibility</p:attrName>
                                        </p:attrNameLst>
                                      </p:cBhvr>
                                      <p:to>
                                        <p:strVal val="visible"/>
                                      </p:to>
                                    </p:set>
                                    <p:anim calcmode="lin" valueType="num">
                                      <p:cBhvr additive="base">
                                        <p:cTn id="58" dur="500" fill="hold"/>
                                        <p:tgtEl>
                                          <p:spTgt spid="15378"/>
                                        </p:tgtEl>
                                        <p:attrNameLst>
                                          <p:attrName>ppt_x</p:attrName>
                                        </p:attrNameLst>
                                      </p:cBhvr>
                                      <p:tavLst>
                                        <p:tav tm="0">
                                          <p:val>
                                            <p:strVal val="#ppt_x"/>
                                          </p:val>
                                        </p:tav>
                                        <p:tav tm="100000">
                                          <p:val>
                                            <p:strVal val="#ppt_x"/>
                                          </p:val>
                                        </p:tav>
                                      </p:tavLst>
                                    </p:anim>
                                    <p:anim calcmode="lin" valueType="num">
                                      <p:cBhvr additive="base">
                                        <p:cTn id="59" dur="500" fill="hold"/>
                                        <p:tgtEl>
                                          <p:spTgt spid="153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utoUpdateAnimBg="0"/>
      <p:bldP spid="15364" grpId="0" autoUpdateAnimBg="0"/>
      <p:bldP spid="15368" grpId="0" autoUpdateAnimBg="0"/>
      <p:bldP spid="15369" grpId="0" autoUpdateAnimBg="0"/>
      <p:bldP spid="15371" grpId="0" autoUpdateAnimBg="0"/>
      <p:bldP spid="15374" grpId="0" autoUpdateAnimBg="0"/>
      <p:bldP spid="1537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53603"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直接插入排序是一种稳定的排序方法</a:t>
            </a:r>
          </a:p>
        </p:txBody>
      </p:sp>
      <p:sp>
        <p:nvSpPr>
          <p:cNvPr id="153604" name="Text Box 4"/>
          <p:cNvSpPr txBox="1">
            <a:spLocks noChangeArrowheads="1"/>
          </p:cNvSpPr>
          <p:nvPr/>
        </p:nvSpPr>
        <p:spPr bwMode="auto">
          <a:xfrm>
            <a:off x="0" y="1600200"/>
            <a:ext cx="87312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初始序列的为正序时时间复杂度为：</a:t>
            </a:r>
            <a:r>
              <a:rPr lang="en-US" altLang="zh-CN" sz="3600" b="1">
                <a:solidFill>
                  <a:srgbClr val="008000"/>
                </a:solidFill>
              </a:rPr>
              <a:t>O</a:t>
            </a:r>
            <a:r>
              <a:rPr lang="zh-CN" altLang="en-US" sz="3600" b="1">
                <a:solidFill>
                  <a:srgbClr val="008000"/>
                </a:solidFill>
              </a:rPr>
              <a:t>（</a:t>
            </a:r>
            <a:r>
              <a:rPr lang="en-US" altLang="zh-CN" sz="3600" b="1">
                <a:solidFill>
                  <a:srgbClr val="008000"/>
                </a:solidFill>
              </a:rPr>
              <a:t>n</a:t>
            </a:r>
            <a:r>
              <a:rPr lang="zh-CN" altLang="en-US" sz="3600" b="1">
                <a:solidFill>
                  <a:srgbClr val="008000"/>
                </a:solidFill>
              </a:rPr>
              <a:t>）， 初始序列的为逆序时时间复杂度为：</a:t>
            </a:r>
            <a:r>
              <a:rPr lang="en-US" altLang="zh-CN" sz="3600" b="1">
                <a:solidFill>
                  <a:srgbClr val="008000"/>
                </a:solidFill>
              </a:rPr>
              <a:t>O</a:t>
            </a:r>
            <a:r>
              <a:rPr lang="zh-CN" altLang="en-US" sz="3600" b="1">
                <a:solidFill>
                  <a:srgbClr val="008000"/>
                </a:solidFill>
              </a:rPr>
              <a:t>（</a:t>
            </a:r>
            <a:r>
              <a:rPr lang="en-US" altLang="zh-CN" sz="3600" b="1">
                <a:solidFill>
                  <a:srgbClr val="008000"/>
                </a:solidFill>
              </a:rPr>
              <a:t>n</a:t>
            </a:r>
            <a:r>
              <a:rPr lang="en-US" altLang="zh-CN" sz="3600" b="1" baseline="30000">
                <a:solidFill>
                  <a:srgbClr val="008000"/>
                </a:solidFill>
              </a:rPr>
              <a:t>2</a:t>
            </a:r>
            <a:r>
              <a:rPr lang="zh-CN" altLang="en-US" sz="3600" b="1">
                <a:solidFill>
                  <a:srgbClr val="008000"/>
                </a:solidFill>
              </a:rPr>
              <a:t>）</a:t>
            </a:r>
          </a:p>
        </p:txBody>
      </p:sp>
      <p:sp>
        <p:nvSpPr>
          <p:cNvPr id="153605"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不是每趟排序后都将某个数据放置在它的最终位置</a:t>
            </a:r>
          </a:p>
        </p:txBody>
      </p:sp>
    </p:spTree>
    <p:extLst>
      <p:ext uri="{BB962C8B-B14F-4D97-AF65-F5344CB8AC3E}">
        <p14:creationId xmlns:p14="http://schemas.microsoft.com/office/powerpoint/2010/main" val="9939933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 calcmode="lin" valueType="num">
                                      <p:cBhvr additive="base">
                                        <p:cTn id="7" dur="500" fill="hold"/>
                                        <p:tgtEl>
                                          <p:spTgt spid="1536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3604"/>
                                        </p:tgtEl>
                                        <p:attrNameLst>
                                          <p:attrName>style.visibility</p:attrName>
                                        </p:attrNameLst>
                                      </p:cBhvr>
                                      <p:to>
                                        <p:strVal val="visible"/>
                                      </p:to>
                                    </p:set>
                                    <p:anim calcmode="lin" valueType="num">
                                      <p:cBhvr additive="base">
                                        <p:cTn id="13" dur="500" fill="hold"/>
                                        <p:tgtEl>
                                          <p:spTgt spid="153604"/>
                                        </p:tgtEl>
                                        <p:attrNameLst>
                                          <p:attrName>ppt_x</p:attrName>
                                        </p:attrNameLst>
                                      </p:cBhvr>
                                      <p:tavLst>
                                        <p:tav tm="0">
                                          <p:val>
                                            <p:strVal val="1+#ppt_w/2"/>
                                          </p:val>
                                        </p:tav>
                                        <p:tav tm="100000">
                                          <p:val>
                                            <p:strVal val="#ppt_x"/>
                                          </p:val>
                                        </p:tav>
                                      </p:tavLst>
                                    </p:anim>
                                    <p:anim calcmode="lin" valueType="num">
                                      <p:cBhvr additive="base">
                                        <p:cTn id="14" dur="500" fill="hold"/>
                                        <p:tgtEl>
                                          <p:spTgt spid="15360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05"/>
                                        </p:tgtEl>
                                        <p:attrNameLst>
                                          <p:attrName>style.visibility</p:attrName>
                                        </p:attrNameLst>
                                      </p:cBhvr>
                                      <p:to>
                                        <p:strVal val="visible"/>
                                      </p:to>
                                    </p:set>
                                    <p:anim calcmode="lin" valueType="num">
                                      <p:cBhvr additive="base">
                                        <p:cTn id="19" dur="500" fill="hold"/>
                                        <p:tgtEl>
                                          <p:spTgt spid="153605"/>
                                        </p:tgtEl>
                                        <p:attrNameLst>
                                          <p:attrName>ppt_x</p:attrName>
                                        </p:attrNameLst>
                                      </p:cBhvr>
                                      <p:tavLst>
                                        <p:tav tm="0">
                                          <p:val>
                                            <p:strVal val="#ppt_x"/>
                                          </p:val>
                                        </p:tav>
                                        <p:tav tm="100000">
                                          <p:val>
                                            <p:strVal val="#ppt_x"/>
                                          </p:val>
                                        </p:tav>
                                      </p:tavLst>
                                    </p:anim>
                                    <p:anim calcmode="lin" valueType="num">
                                      <p:cBhvr additive="base">
                                        <p:cTn id="20" dur="500" fill="hold"/>
                                        <p:tgtEl>
                                          <p:spTgt spid="1536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p:bldP spid="1536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p:cNvSpPr txBox="1">
            <a:spLocks noChangeArrowheads="1"/>
          </p:cNvSpPr>
          <p:nvPr/>
        </p:nvSpPr>
        <p:spPr bwMode="auto">
          <a:xfrm>
            <a:off x="779463" y="1524000"/>
            <a:ext cx="7831137"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50000"/>
              </a:lnSpc>
            </a:pPr>
            <a:r>
              <a:rPr lang="en-US" altLang="zh-CN" sz="4000">
                <a:ea typeface="楷体_GB2312" charset="0"/>
              </a:rPr>
              <a:t>        </a:t>
            </a:r>
            <a:r>
              <a:rPr lang="zh-CN" altLang="en-US" sz="3600">
                <a:ea typeface="楷体_GB2312" charset="0"/>
              </a:rPr>
              <a:t>因为 </a:t>
            </a:r>
            <a:r>
              <a:rPr lang="en-US" altLang="zh-CN" sz="3600">
                <a:ea typeface="楷体_GB2312" charset="0"/>
              </a:rPr>
              <a:t>R[1..i-1] </a:t>
            </a:r>
            <a:r>
              <a:rPr lang="zh-CN" altLang="en-US" sz="3600">
                <a:ea typeface="楷体_GB2312" charset="0"/>
              </a:rPr>
              <a:t>是一个按关键字有序的有序序列，则可以</a:t>
            </a:r>
            <a:r>
              <a:rPr lang="zh-CN" altLang="en-US" sz="3600">
                <a:solidFill>
                  <a:srgbClr val="0000FF"/>
                </a:solidFill>
                <a:ea typeface="楷体_GB2312" charset="0"/>
              </a:rPr>
              <a:t>利用</a:t>
            </a:r>
            <a:r>
              <a:rPr lang="zh-CN" altLang="en-US" sz="3600" b="1">
                <a:solidFill>
                  <a:srgbClr val="0000FF"/>
                </a:solidFill>
                <a:ea typeface="楷体_GB2312" charset="0"/>
              </a:rPr>
              <a:t>折半查找</a:t>
            </a:r>
            <a:r>
              <a:rPr lang="zh-CN" altLang="en-US" sz="3600">
                <a:solidFill>
                  <a:srgbClr val="0000FF"/>
                </a:solidFill>
                <a:ea typeface="楷体_GB2312" charset="0"/>
              </a:rPr>
              <a:t>实现“在</a:t>
            </a:r>
            <a:r>
              <a:rPr lang="en-US" altLang="zh-CN" sz="3600">
                <a:solidFill>
                  <a:srgbClr val="0000FF"/>
                </a:solidFill>
                <a:ea typeface="楷体_GB2312" charset="0"/>
              </a:rPr>
              <a:t>R[1..i-1]</a:t>
            </a:r>
            <a:r>
              <a:rPr lang="zh-CN" altLang="en-US" sz="3600">
                <a:solidFill>
                  <a:srgbClr val="0000FF"/>
                </a:solidFill>
                <a:ea typeface="楷体_GB2312" charset="0"/>
              </a:rPr>
              <a:t>中</a:t>
            </a:r>
            <a:r>
              <a:rPr lang="zh-CN" altLang="en-US" sz="3600" b="1">
                <a:solidFill>
                  <a:srgbClr val="005042"/>
                </a:solidFill>
                <a:ea typeface="楷体_GB2312" charset="0"/>
              </a:rPr>
              <a:t>查找</a:t>
            </a:r>
            <a:r>
              <a:rPr lang="en-US" altLang="zh-CN" sz="3600">
                <a:solidFill>
                  <a:srgbClr val="0000FF"/>
                </a:solidFill>
                <a:ea typeface="楷体_GB2312" charset="0"/>
              </a:rPr>
              <a:t>R[i]</a:t>
            </a:r>
            <a:r>
              <a:rPr lang="zh-CN" altLang="en-US" sz="3600">
                <a:solidFill>
                  <a:srgbClr val="0000FF"/>
                </a:solidFill>
                <a:ea typeface="楷体_GB2312" charset="0"/>
              </a:rPr>
              <a:t>的</a:t>
            </a:r>
            <a:r>
              <a:rPr lang="zh-CN" altLang="en-US" sz="3600">
                <a:solidFill>
                  <a:srgbClr val="005042"/>
                </a:solidFill>
                <a:ea typeface="楷体_GB2312" charset="0"/>
              </a:rPr>
              <a:t>插入位置</a:t>
            </a:r>
            <a:r>
              <a:rPr lang="zh-CN" altLang="en-US" sz="3600">
                <a:solidFill>
                  <a:srgbClr val="0000FF"/>
                </a:solidFill>
                <a:ea typeface="楷体_GB2312" charset="0"/>
              </a:rPr>
              <a:t>”</a:t>
            </a:r>
            <a:r>
              <a:rPr lang="zh-CN" altLang="en-US" sz="3600">
                <a:ea typeface="楷体_GB2312" charset="0"/>
              </a:rPr>
              <a:t>，如此实现的插入排序为</a:t>
            </a:r>
            <a:r>
              <a:rPr lang="zh-CN" altLang="en-US" sz="3600" b="1">
                <a:solidFill>
                  <a:srgbClr val="FF0000"/>
                </a:solidFill>
                <a:ea typeface="楷体_GB2312" charset="0"/>
              </a:rPr>
              <a:t>折半插入</a:t>
            </a:r>
            <a:r>
              <a:rPr lang="zh-CN" altLang="en-US" sz="3600">
                <a:ea typeface="楷体_GB2312" charset="0"/>
              </a:rPr>
              <a:t>排序。</a:t>
            </a:r>
            <a:endParaRPr lang="zh-CN" altLang="en-US" sz="4000"/>
          </a:p>
        </p:txBody>
      </p:sp>
      <p:sp>
        <p:nvSpPr>
          <p:cNvPr id="75780" name="Rectangle 4"/>
          <p:cNvSpPr>
            <a:spLocks noChangeArrowheads="1"/>
          </p:cNvSpPr>
          <p:nvPr/>
        </p:nvSpPr>
        <p:spPr bwMode="auto">
          <a:xfrm>
            <a:off x="793750" y="381000"/>
            <a:ext cx="46926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二、折半插入排序</a:t>
            </a:r>
            <a:endParaRPr lang="zh-CN" altLang="en-US" sz="4000" b="1">
              <a:solidFill>
                <a:srgbClr val="FF00FF"/>
              </a:solidFill>
              <a:ea typeface="楷体_GB2312" charset="0"/>
            </a:endParaRPr>
          </a:p>
        </p:txBody>
      </p:sp>
    </p:spTree>
    <p:extLst>
      <p:ext uri="{BB962C8B-B14F-4D97-AF65-F5344CB8AC3E}">
        <p14:creationId xmlns:p14="http://schemas.microsoft.com/office/powerpoint/2010/main" val="21425037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slide(fromLeft)">
                                      <p:cBhvr>
                                        <p:cTn id="7" dur="500"/>
                                        <p:tgtEl>
                                          <p:spTgt spid="75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75779"/>
                                        </p:tgtEl>
                                        <p:attrNameLst>
                                          <p:attrName>style.visibility</p:attrName>
                                        </p:attrNameLst>
                                      </p:cBhvr>
                                      <p:to>
                                        <p:strVal val="visible"/>
                                      </p:to>
                                    </p:set>
                                    <p:animEffect transition="in" filter="strips(upRight)">
                                      <p:cBhvr>
                                        <p:cTn id="12" dur="500"/>
                                        <p:tgtEl>
                                          <p:spTgt spid="75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utoUpdateAnimBg="0"/>
      <p:bldP spid="7578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4"/>
          <p:cNvSpPr txBox="1">
            <a:spLocks noChangeArrowheads="1"/>
          </p:cNvSpPr>
          <p:nvPr/>
        </p:nvSpPr>
        <p:spPr bwMode="auto">
          <a:xfrm>
            <a:off x="423863" y="96838"/>
            <a:ext cx="6840537" cy="652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600" b="1">
                <a:solidFill>
                  <a:srgbClr val="005042"/>
                </a:solidFill>
                <a:ea typeface="楷体_GB2312" charset="0"/>
              </a:rPr>
              <a:t>void</a:t>
            </a:r>
            <a:r>
              <a:rPr lang="en-US" altLang="zh-CN" sz="3600">
                <a:solidFill>
                  <a:srgbClr val="005042"/>
                </a:solidFill>
                <a:ea typeface="楷体_GB2312" charset="0"/>
              </a:rPr>
              <a:t> BiInsertionSort ( SqList &amp;L ) </a:t>
            </a:r>
            <a:r>
              <a:rPr lang="en-US" altLang="zh-CN" sz="3600" b="1">
                <a:solidFill>
                  <a:srgbClr val="005042"/>
                </a:solidFill>
                <a:ea typeface="楷体_GB2312" charset="0"/>
              </a:rPr>
              <a:t>{</a:t>
            </a:r>
            <a:endParaRPr lang="en-US" altLang="zh-CN" sz="3600">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endParaRPr lang="en-US" altLang="zh-CN" sz="3600" b="1">
              <a:solidFill>
                <a:srgbClr val="005042"/>
              </a:solidFill>
              <a:ea typeface="楷体_GB2312" charset="0"/>
            </a:endParaRPr>
          </a:p>
          <a:p>
            <a:pPr algn="l">
              <a:lnSpc>
                <a:spcPct val="130000"/>
              </a:lnSpc>
            </a:pPr>
            <a:r>
              <a:rPr lang="en-US" altLang="zh-CN" sz="3600" b="1">
                <a:solidFill>
                  <a:srgbClr val="005042"/>
                </a:solidFill>
                <a:ea typeface="楷体_GB2312" charset="0"/>
              </a:rPr>
              <a:t>} </a:t>
            </a:r>
            <a:r>
              <a:rPr lang="en-US" altLang="zh-CN" sz="3600">
                <a:solidFill>
                  <a:srgbClr val="005042"/>
                </a:solidFill>
                <a:ea typeface="楷体_GB2312" charset="0"/>
              </a:rPr>
              <a:t>// BInsertSort</a:t>
            </a:r>
          </a:p>
        </p:txBody>
      </p:sp>
      <p:sp>
        <p:nvSpPr>
          <p:cNvPr id="16392" name="Text Box 8">
            <a:hlinkClick r:id="" action="ppaction://hlinkshowjump?jump=nextslide"/>
          </p:cNvPr>
          <p:cNvSpPr txBox="1">
            <a:spLocks noChangeArrowheads="1"/>
          </p:cNvSpPr>
          <p:nvPr/>
        </p:nvSpPr>
        <p:spPr bwMode="auto">
          <a:xfrm>
            <a:off x="1219200" y="2286000"/>
            <a:ext cx="7254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zh-CN" sz="3600" b="1">
                <a:solidFill>
                  <a:srgbClr val="840C26"/>
                </a:solidFill>
                <a:ea typeface="楷体_GB2312" charset="0"/>
              </a:rPr>
              <a:t>在 </a:t>
            </a:r>
            <a:r>
              <a:rPr lang="en-US" altLang="zh-CN" sz="3600" b="1">
                <a:solidFill>
                  <a:srgbClr val="840C26"/>
                </a:solidFill>
                <a:ea typeface="楷体_GB2312" charset="0"/>
              </a:rPr>
              <a:t>L.r[1..i-1]</a:t>
            </a:r>
            <a:r>
              <a:rPr lang="zh-CN" altLang="zh-CN" sz="3600" b="1">
                <a:solidFill>
                  <a:srgbClr val="840C26"/>
                </a:solidFill>
                <a:ea typeface="楷体_GB2312" charset="0"/>
              </a:rPr>
              <a:t>中折半查找插入位置；</a:t>
            </a:r>
            <a:endParaRPr lang="zh-CN" altLang="en-US" sz="4000">
              <a:ea typeface="楷体_GB2312" charset="0"/>
            </a:endParaRPr>
          </a:p>
        </p:txBody>
      </p:sp>
      <p:pic>
        <p:nvPicPr>
          <p:cNvPr id="16393" name="Picture 9" descr="Neighborhood">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477000"/>
            <a:ext cx="8001000" cy="209550"/>
          </a:xfrm>
          <a:prstGeom prst="rect">
            <a:avLst/>
          </a:prstGeom>
          <a:noFill/>
          <a:extLst>
            <a:ext uri="{909E8E84-426E-40DD-AFC4-6F175D3DCCD1}">
              <a14:hiddenFill xmlns:a14="http://schemas.microsoft.com/office/drawing/2010/main">
                <a:solidFill>
                  <a:srgbClr val="FFFFFF"/>
                </a:solidFill>
              </a14:hiddenFill>
            </a:ext>
          </a:extLst>
        </p:spPr>
      </p:pic>
      <p:sp>
        <p:nvSpPr>
          <p:cNvPr id="16394" name="Rectangle 10"/>
          <p:cNvSpPr>
            <a:spLocks noChangeArrowheads="1"/>
          </p:cNvSpPr>
          <p:nvPr/>
        </p:nvSpPr>
        <p:spPr bwMode="auto">
          <a:xfrm>
            <a:off x="762000" y="782638"/>
            <a:ext cx="5630863" cy="514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600" b="1">
                <a:solidFill>
                  <a:srgbClr val="9900CC"/>
                </a:solidFill>
                <a:ea typeface="楷体_GB2312" charset="0"/>
              </a:rPr>
              <a:t>for</a:t>
            </a:r>
            <a:r>
              <a:rPr lang="en-US" altLang="zh-CN" sz="3600">
                <a:solidFill>
                  <a:srgbClr val="9900CC"/>
                </a:solidFill>
                <a:ea typeface="楷体_GB2312" charset="0"/>
              </a:rPr>
              <a:t> ( i=2; i&lt;=L.length; </a:t>
            </a:r>
            <a:r>
              <a:rPr lang="en-US" altLang="zh-CN" sz="3600" b="1">
                <a:solidFill>
                  <a:srgbClr val="9900CC"/>
                </a:solidFill>
                <a:ea typeface="楷体_GB2312" charset="0"/>
              </a:rPr>
              <a:t>++</a:t>
            </a:r>
            <a:r>
              <a:rPr lang="en-US" altLang="zh-CN" sz="3600">
                <a:solidFill>
                  <a:srgbClr val="9900CC"/>
                </a:solidFill>
                <a:ea typeface="楷体_GB2312" charset="0"/>
              </a:rPr>
              <a:t>i ) </a:t>
            </a:r>
            <a:r>
              <a:rPr lang="en-US" altLang="zh-CN" sz="3600" b="1">
                <a:solidFill>
                  <a:srgbClr val="9900CC"/>
                </a:solidFill>
                <a:ea typeface="楷体_GB2312" charset="0"/>
              </a:rPr>
              <a:t>{</a:t>
            </a:r>
            <a:endParaRPr lang="en-US" altLang="zh-CN" sz="3600">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endParaRPr lang="en-US" altLang="zh-CN" sz="3600" b="1">
              <a:solidFill>
                <a:srgbClr val="9900CC"/>
              </a:solidFill>
              <a:ea typeface="楷体_GB2312" charset="0"/>
            </a:endParaRPr>
          </a:p>
          <a:p>
            <a:pPr algn="l">
              <a:lnSpc>
                <a:spcPct val="115000"/>
              </a:lnSpc>
            </a:pPr>
            <a:r>
              <a:rPr lang="en-US" altLang="zh-CN" sz="3600" b="1">
                <a:solidFill>
                  <a:srgbClr val="9900CC"/>
                </a:solidFill>
                <a:ea typeface="楷体_GB2312" charset="0"/>
              </a:rPr>
              <a:t>} // </a:t>
            </a:r>
            <a:r>
              <a:rPr lang="en-US" altLang="zh-CN" sz="3600">
                <a:solidFill>
                  <a:srgbClr val="9900CC"/>
                </a:solidFill>
                <a:ea typeface="楷体_GB2312" charset="0"/>
              </a:rPr>
              <a:t>for</a:t>
            </a:r>
          </a:p>
        </p:txBody>
      </p:sp>
      <p:sp>
        <p:nvSpPr>
          <p:cNvPr id="16395" name="Rectangle 11"/>
          <p:cNvSpPr>
            <a:spLocks noChangeArrowheads="1"/>
          </p:cNvSpPr>
          <p:nvPr/>
        </p:nvSpPr>
        <p:spPr bwMode="auto">
          <a:xfrm>
            <a:off x="1219200" y="1371600"/>
            <a:ext cx="7621588"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a:solidFill>
                  <a:srgbClr val="000099"/>
                </a:solidFill>
                <a:ea typeface="楷体_GB2312" charset="0"/>
              </a:rPr>
              <a:t>L.r[0] = L.r[i];      </a:t>
            </a:r>
            <a:r>
              <a:rPr lang="en-US" altLang="zh-CN" sz="3200">
                <a:solidFill>
                  <a:srgbClr val="000099"/>
                </a:solidFill>
                <a:ea typeface="楷体_GB2312" charset="0"/>
              </a:rPr>
              <a:t>// </a:t>
            </a:r>
            <a:r>
              <a:rPr lang="zh-CN" altLang="en-US" sz="3200">
                <a:solidFill>
                  <a:srgbClr val="000099"/>
                </a:solidFill>
                <a:ea typeface="楷体_GB2312" charset="0"/>
              </a:rPr>
              <a:t>将 </a:t>
            </a:r>
            <a:r>
              <a:rPr lang="en-US" altLang="zh-CN" sz="3200">
                <a:solidFill>
                  <a:srgbClr val="000099"/>
                </a:solidFill>
                <a:ea typeface="楷体_GB2312" charset="0"/>
              </a:rPr>
              <a:t>L.r[i] </a:t>
            </a:r>
            <a:r>
              <a:rPr lang="zh-CN" altLang="en-US" sz="3200">
                <a:solidFill>
                  <a:srgbClr val="000099"/>
                </a:solidFill>
                <a:ea typeface="楷体_GB2312" charset="0"/>
              </a:rPr>
              <a:t>暂存到 </a:t>
            </a:r>
            <a:r>
              <a:rPr lang="en-US" altLang="zh-CN" sz="3200">
                <a:solidFill>
                  <a:srgbClr val="000099"/>
                </a:solidFill>
                <a:ea typeface="楷体_GB2312" charset="0"/>
              </a:rPr>
              <a:t>L.r[0]</a:t>
            </a:r>
            <a:endParaRPr lang="en-US" altLang="zh-CN" sz="3600">
              <a:ea typeface="楷体_GB2312" charset="0"/>
            </a:endParaRPr>
          </a:p>
        </p:txBody>
      </p:sp>
      <p:sp>
        <p:nvSpPr>
          <p:cNvPr id="16396" name="Rectangle 12"/>
          <p:cNvSpPr>
            <a:spLocks noChangeArrowheads="1"/>
          </p:cNvSpPr>
          <p:nvPr/>
        </p:nvSpPr>
        <p:spPr bwMode="auto">
          <a:xfrm>
            <a:off x="1219200" y="2971800"/>
            <a:ext cx="65786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b="1">
                <a:solidFill>
                  <a:srgbClr val="000099"/>
                </a:solidFill>
                <a:ea typeface="楷体_GB2312" charset="0"/>
              </a:rPr>
              <a:t>for</a:t>
            </a:r>
            <a:r>
              <a:rPr lang="en-US" altLang="zh-CN" sz="3600">
                <a:solidFill>
                  <a:srgbClr val="000099"/>
                </a:solidFill>
                <a:ea typeface="楷体_GB2312" charset="0"/>
              </a:rPr>
              <a:t> ( j=i-1;  j&gt;=high+1;  --j )</a:t>
            </a:r>
          </a:p>
          <a:p>
            <a:pPr algn="l">
              <a:lnSpc>
                <a:spcPct val="125000"/>
              </a:lnSpc>
            </a:pPr>
            <a:r>
              <a:rPr lang="en-US" altLang="zh-CN" sz="3600">
                <a:solidFill>
                  <a:srgbClr val="000099"/>
                </a:solidFill>
                <a:ea typeface="楷体_GB2312" charset="0"/>
              </a:rPr>
              <a:t>    L.r[j+1] = L.r[j];      // </a:t>
            </a:r>
            <a:r>
              <a:rPr lang="zh-CN" altLang="en-US" sz="3600">
                <a:solidFill>
                  <a:srgbClr val="000099"/>
                </a:solidFill>
                <a:ea typeface="楷体_GB2312" charset="0"/>
              </a:rPr>
              <a:t>记录后移</a:t>
            </a:r>
            <a:endParaRPr lang="zh-CN" altLang="en-US" sz="3600">
              <a:ea typeface="楷体_GB2312" charset="0"/>
            </a:endParaRPr>
          </a:p>
        </p:txBody>
      </p:sp>
      <p:sp>
        <p:nvSpPr>
          <p:cNvPr id="16397" name="Rectangle 13"/>
          <p:cNvSpPr>
            <a:spLocks noChangeArrowheads="1"/>
          </p:cNvSpPr>
          <p:nvPr/>
        </p:nvSpPr>
        <p:spPr bwMode="auto">
          <a:xfrm>
            <a:off x="1219200" y="4495800"/>
            <a:ext cx="55372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a:solidFill>
                  <a:srgbClr val="000099"/>
                </a:solidFill>
                <a:ea typeface="楷体_GB2312" charset="0"/>
              </a:rPr>
              <a:t>L.r[high+1] = L.r[0];  // </a:t>
            </a:r>
            <a:r>
              <a:rPr lang="zh-CN" altLang="en-US" sz="3600">
                <a:solidFill>
                  <a:srgbClr val="000099"/>
                </a:solidFill>
                <a:ea typeface="楷体_GB2312" charset="0"/>
              </a:rPr>
              <a:t>插入</a:t>
            </a:r>
            <a:endParaRPr lang="zh-CN" altLang="en-US" sz="3600">
              <a:ea typeface="楷体_GB2312" charset="0"/>
            </a:endParaRPr>
          </a:p>
        </p:txBody>
      </p:sp>
    </p:spTree>
    <p:extLst>
      <p:ext uri="{BB962C8B-B14F-4D97-AF65-F5344CB8AC3E}">
        <p14:creationId xmlns:p14="http://schemas.microsoft.com/office/powerpoint/2010/main" val="9429310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strips(downRight)">
                                      <p:cBhvr>
                                        <p:cTn id="7" dur="500"/>
                                        <p:tgtEl>
                                          <p:spTgt spid="16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5"/>
                                        </p:tgtEl>
                                        <p:attrNameLst>
                                          <p:attrName>style.visibility</p:attrName>
                                        </p:attrNameLst>
                                      </p:cBhvr>
                                      <p:to>
                                        <p:strVal val="visible"/>
                                      </p:to>
                                    </p:set>
                                    <p:animEffect transition="in" filter="wipe(left)">
                                      <p:cBhvr>
                                        <p:cTn id="12" dur="500"/>
                                        <p:tgtEl>
                                          <p:spTgt spid="16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92"/>
                                        </p:tgtEl>
                                        <p:attrNameLst>
                                          <p:attrName>style.visibility</p:attrName>
                                        </p:attrNameLst>
                                      </p:cBhvr>
                                      <p:to>
                                        <p:strVal val="visible"/>
                                      </p:to>
                                    </p:set>
                                    <p:animEffect transition="in" filter="wipe(left)">
                                      <p:cBhvr>
                                        <p:cTn id="17" dur="500"/>
                                        <p:tgtEl>
                                          <p:spTgt spid="163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96"/>
                                        </p:tgtEl>
                                        <p:attrNameLst>
                                          <p:attrName>style.visibility</p:attrName>
                                        </p:attrNameLst>
                                      </p:cBhvr>
                                      <p:to>
                                        <p:strVal val="visible"/>
                                      </p:to>
                                    </p:set>
                                    <p:animEffect transition="in" filter="wipe(left)">
                                      <p:cBhvr>
                                        <p:cTn id="22" dur="500"/>
                                        <p:tgtEl>
                                          <p:spTgt spid="163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397"/>
                                        </p:tgtEl>
                                        <p:attrNameLst>
                                          <p:attrName>style.visibility</p:attrName>
                                        </p:attrNameLst>
                                      </p:cBhvr>
                                      <p:to>
                                        <p:strVal val="visible"/>
                                      </p:to>
                                    </p:set>
                                    <p:animEffect transition="in" filter="wipe(left)">
                                      <p:cBhvr>
                                        <p:cTn id="27" dur="500"/>
                                        <p:tgtEl>
                                          <p:spTgt spid="163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394"/>
                                        </p:tgtEl>
                                        <p:attrNameLst>
                                          <p:attrName>style.visibility</p:attrName>
                                        </p:attrNameLst>
                                      </p:cBhvr>
                                      <p:to>
                                        <p:strVal val="visible"/>
                                      </p:to>
                                    </p:set>
                                    <p:animEffect transition="in" filter="wipe(left)">
                                      <p:cBhvr>
                                        <p:cTn id="32" dur="500"/>
                                        <p:tgtEl>
                                          <p:spTgt spid="16394"/>
                                        </p:tgtEl>
                                      </p:cBhvr>
                                    </p:animEffect>
                                  </p:childTnLst>
                                </p:cTn>
                              </p:par>
                            </p:childTnLst>
                          </p:cTn>
                        </p:par>
                        <p:par>
                          <p:cTn id="33" fill="hold" nodeType="afterGroup">
                            <p:stCondLst>
                              <p:cond delay="500"/>
                            </p:stCondLst>
                            <p:childTnLst>
                              <p:par>
                                <p:cTn id="34" presetID="2" presetClass="entr" presetSubtype="4" fill="hold" nodeType="afterEffect">
                                  <p:stCondLst>
                                    <p:cond delay="0"/>
                                  </p:stCondLst>
                                  <p:childTnLst>
                                    <p:set>
                                      <p:cBhvr>
                                        <p:cTn id="35" dur="1" fill="hold">
                                          <p:stCondLst>
                                            <p:cond delay="0"/>
                                          </p:stCondLst>
                                        </p:cTn>
                                        <p:tgtEl>
                                          <p:spTgt spid="16393"/>
                                        </p:tgtEl>
                                        <p:attrNameLst>
                                          <p:attrName>style.visibility</p:attrName>
                                        </p:attrNameLst>
                                      </p:cBhvr>
                                      <p:to>
                                        <p:strVal val="visible"/>
                                      </p:to>
                                    </p:set>
                                    <p:anim calcmode="lin" valueType="num">
                                      <p:cBhvr additive="base">
                                        <p:cTn id="36" dur="500" fill="hold"/>
                                        <p:tgtEl>
                                          <p:spTgt spid="16393"/>
                                        </p:tgtEl>
                                        <p:attrNameLst>
                                          <p:attrName>ppt_x</p:attrName>
                                        </p:attrNameLst>
                                      </p:cBhvr>
                                      <p:tavLst>
                                        <p:tav tm="0">
                                          <p:val>
                                            <p:strVal val="#ppt_x"/>
                                          </p:val>
                                        </p:tav>
                                        <p:tav tm="100000">
                                          <p:val>
                                            <p:strVal val="#ppt_x"/>
                                          </p:val>
                                        </p:tav>
                                      </p:tavLst>
                                    </p:anim>
                                    <p:anim calcmode="lin" valueType="num">
                                      <p:cBhvr additive="base">
                                        <p:cTn id="37" dur="500" fill="hold"/>
                                        <p:tgtEl>
                                          <p:spTgt spid="163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utoUpdateAnimBg="0"/>
      <p:bldP spid="16392" grpId="0" autoUpdateAnimBg="0"/>
      <p:bldP spid="16394" grpId="0" autoUpdateAnimBg="0"/>
      <p:bldP spid="16395" grpId="0" autoUpdateAnimBg="0"/>
      <p:bldP spid="16396" grpId="0" autoUpdateAnimBg="0"/>
      <p:bldP spid="1639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ext Box 1028"/>
          <p:cNvSpPr txBox="1">
            <a:spLocks noChangeArrowheads="1"/>
          </p:cNvSpPr>
          <p:nvPr/>
        </p:nvSpPr>
        <p:spPr bwMode="auto">
          <a:xfrm>
            <a:off x="901700" y="434975"/>
            <a:ext cx="4071938"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a:ea typeface="楷体_GB2312" charset="0"/>
              </a:rPr>
              <a:t>low = 1;   high = i-1;</a:t>
            </a:r>
          </a:p>
          <a:p>
            <a:pPr algn="l">
              <a:lnSpc>
                <a:spcPct val="140000"/>
              </a:lnSpc>
            </a:pPr>
            <a:r>
              <a:rPr lang="en-US" altLang="zh-CN" sz="3600" b="1">
                <a:ea typeface="楷体_GB2312" charset="0"/>
              </a:rPr>
              <a:t>while</a:t>
            </a:r>
            <a:r>
              <a:rPr lang="en-US" altLang="zh-CN" sz="3600">
                <a:ea typeface="楷体_GB2312" charset="0"/>
              </a:rPr>
              <a:t> </a:t>
            </a:r>
            <a:r>
              <a:rPr lang="en-US" altLang="zh-CN" sz="3600">
                <a:solidFill>
                  <a:srgbClr val="840C26"/>
                </a:solidFill>
                <a:ea typeface="楷体_GB2312" charset="0"/>
              </a:rPr>
              <a:t>(low</a:t>
            </a:r>
            <a:r>
              <a:rPr lang="en-US" altLang="zh-CN" sz="3600" b="1">
                <a:solidFill>
                  <a:srgbClr val="840C26"/>
                </a:solidFill>
                <a:ea typeface="楷体_GB2312" charset="0"/>
              </a:rPr>
              <a:t>&lt;=</a:t>
            </a:r>
            <a:r>
              <a:rPr lang="en-US" altLang="zh-CN" sz="3600">
                <a:solidFill>
                  <a:srgbClr val="840C26"/>
                </a:solidFill>
                <a:ea typeface="楷体_GB2312" charset="0"/>
              </a:rPr>
              <a:t>high)</a:t>
            </a:r>
            <a:r>
              <a:rPr lang="en-US" altLang="zh-CN" sz="3600">
                <a:ea typeface="楷体_GB2312" charset="0"/>
              </a:rPr>
              <a:t> </a:t>
            </a:r>
            <a:r>
              <a:rPr lang="en-US" altLang="zh-CN" sz="3600" b="1">
                <a:ea typeface="楷体_GB2312" charset="0"/>
              </a:rPr>
              <a:t>{ </a:t>
            </a:r>
            <a:endParaRPr lang="en-US" altLang="zh-CN" sz="3600">
              <a:ea typeface="楷体_GB2312" charset="0"/>
            </a:endParaRPr>
          </a:p>
          <a:p>
            <a:pPr algn="l">
              <a:lnSpc>
                <a:spcPct val="140000"/>
              </a:lnSpc>
            </a:pPr>
            <a:endParaRPr lang="en-US" altLang="zh-CN" sz="3600">
              <a:ea typeface="楷体_GB2312" charset="0"/>
            </a:endParaRPr>
          </a:p>
          <a:p>
            <a:pPr algn="l">
              <a:lnSpc>
                <a:spcPct val="140000"/>
              </a:lnSpc>
            </a:pPr>
            <a:endParaRPr lang="en-US" altLang="zh-CN" sz="3600">
              <a:ea typeface="楷体_GB2312" charset="0"/>
            </a:endParaRPr>
          </a:p>
          <a:p>
            <a:pPr algn="l">
              <a:lnSpc>
                <a:spcPct val="140000"/>
              </a:lnSpc>
            </a:pPr>
            <a:endParaRPr lang="en-US" altLang="zh-CN" sz="3600">
              <a:ea typeface="楷体_GB2312" charset="0"/>
            </a:endParaRPr>
          </a:p>
          <a:p>
            <a:pPr algn="l">
              <a:lnSpc>
                <a:spcPct val="140000"/>
              </a:lnSpc>
            </a:pPr>
            <a:endParaRPr lang="en-US" altLang="zh-CN" sz="3600">
              <a:ea typeface="楷体_GB2312" charset="0"/>
            </a:endParaRPr>
          </a:p>
          <a:p>
            <a:pPr algn="l">
              <a:lnSpc>
                <a:spcPct val="140000"/>
              </a:lnSpc>
            </a:pPr>
            <a:r>
              <a:rPr lang="en-US" altLang="zh-CN" sz="3600" b="1">
                <a:ea typeface="楷体_GB2312" charset="0"/>
              </a:rPr>
              <a:t>}</a:t>
            </a:r>
            <a:endParaRPr lang="en-US" altLang="zh-CN" sz="3600"/>
          </a:p>
        </p:txBody>
      </p:sp>
      <p:sp>
        <p:nvSpPr>
          <p:cNvPr id="76805" name="Rectangle 1029"/>
          <p:cNvSpPr>
            <a:spLocks noChangeArrowheads="1"/>
          </p:cNvSpPr>
          <p:nvPr/>
        </p:nvSpPr>
        <p:spPr bwMode="auto">
          <a:xfrm>
            <a:off x="1358900" y="2057400"/>
            <a:ext cx="61087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a:ea typeface="楷体_GB2312" charset="0"/>
              </a:rPr>
              <a:t>m = (low+high)/2;           // </a:t>
            </a:r>
            <a:r>
              <a:rPr lang="zh-CN" altLang="en-US" sz="3600">
                <a:ea typeface="楷体_GB2312" charset="0"/>
              </a:rPr>
              <a:t>折半</a:t>
            </a:r>
          </a:p>
        </p:txBody>
      </p:sp>
      <p:sp>
        <p:nvSpPr>
          <p:cNvPr id="76806" name="Rectangle 1030"/>
          <p:cNvSpPr>
            <a:spLocks noChangeArrowheads="1"/>
          </p:cNvSpPr>
          <p:nvPr/>
        </p:nvSpPr>
        <p:spPr bwMode="auto">
          <a:xfrm>
            <a:off x="1371600" y="2819400"/>
            <a:ext cx="717232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b="1">
                <a:ea typeface="楷体_GB2312" charset="0"/>
              </a:rPr>
              <a:t>if</a:t>
            </a:r>
            <a:r>
              <a:rPr lang="en-US" altLang="zh-CN" sz="3600">
                <a:ea typeface="楷体_GB2312" charset="0"/>
              </a:rPr>
              <a:t> </a:t>
            </a:r>
            <a:r>
              <a:rPr lang="en-US" altLang="zh-CN" sz="3600">
                <a:solidFill>
                  <a:schemeClr val="accent2"/>
                </a:solidFill>
                <a:ea typeface="楷体_GB2312" charset="0"/>
              </a:rPr>
              <a:t>(L.r[0].key &lt; L.r[m].key)</a:t>
            </a:r>
            <a:endParaRPr lang="en-US" altLang="zh-CN" sz="3600">
              <a:ea typeface="楷体_GB2312" charset="0"/>
            </a:endParaRPr>
          </a:p>
          <a:p>
            <a:pPr algn="l">
              <a:lnSpc>
                <a:spcPct val="140000"/>
              </a:lnSpc>
            </a:pPr>
            <a:r>
              <a:rPr lang="en-US" altLang="zh-CN" sz="3600">
                <a:ea typeface="楷体_GB2312" charset="0"/>
              </a:rPr>
              <a:t>        </a:t>
            </a:r>
            <a:r>
              <a:rPr lang="en-US" altLang="zh-CN" sz="3600">
                <a:solidFill>
                  <a:srgbClr val="840C26"/>
                </a:solidFill>
                <a:ea typeface="楷体_GB2312" charset="0"/>
              </a:rPr>
              <a:t>high = m-1;</a:t>
            </a:r>
            <a:r>
              <a:rPr lang="en-US" altLang="zh-CN" sz="3600">
                <a:ea typeface="楷体_GB2312" charset="0"/>
              </a:rPr>
              <a:t>   // </a:t>
            </a:r>
            <a:r>
              <a:rPr lang="zh-CN" altLang="en-US" sz="3600">
                <a:ea typeface="楷体_GB2312" charset="0"/>
              </a:rPr>
              <a:t>插入点在低半区</a:t>
            </a:r>
          </a:p>
          <a:p>
            <a:pPr algn="l">
              <a:lnSpc>
                <a:spcPct val="140000"/>
              </a:lnSpc>
            </a:pPr>
            <a:r>
              <a:rPr lang="en-US" altLang="zh-CN" sz="3600" b="1">
                <a:ea typeface="楷体_GB2312" charset="0"/>
              </a:rPr>
              <a:t>else</a:t>
            </a:r>
            <a:r>
              <a:rPr lang="en-US" altLang="zh-CN" sz="3600">
                <a:ea typeface="楷体_GB2312" charset="0"/>
              </a:rPr>
              <a:t>  </a:t>
            </a:r>
            <a:r>
              <a:rPr lang="en-US" altLang="zh-CN" sz="3600">
                <a:solidFill>
                  <a:srgbClr val="840C26"/>
                </a:solidFill>
                <a:ea typeface="楷体_GB2312" charset="0"/>
              </a:rPr>
              <a:t>low = m+1;</a:t>
            </a:r>
            <a:r>
              <a:rPr lang="en-US" altLang="zh-CN" sz="3600">
                <a:ea typeface="楷体_GB2312" charset="0"/>
              </a:rPr>
              <a:t> // </a:t>
            </a:r>
            <a:r>
              <a:rPr lang="zh-CN" altLang="en-US" sz="3600">
                <a:ea typeface="楷体_GB2312" charset="0"/>
              </a:rPr>
              <a:t>插入点在高半区</a:t>
            </a:r>
          </a:p>
        </p:txBody>
      </p:sp>
    </p:spTree>
    <p:extLst>
      <p:ext uri="{BB962C8B-B14F-4D97-AF65-F5344CB8AC3E}">
        <p14:creationId xmlns:p14="http://schemas.microsoft.com/office/powerpoint/2010/main" val="17637461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strips(downRight)">
                                      <p:cBhvr>
                                        <p:cTn id="7" dur="500"/>
                                        <p:tgtEl>
                                          <p:spTgt spid="76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805"/>
                                        </p:tgtEl>
                                        <p:attrNameLst>
                                          <p:attrName>style.visibility</p:attrName>
                                        </p:attrNameLst>
                                      </p:cBhvr>
                                      <p:to>
                                        <p:strVal val="visible"/>
                                      </p:to>
                                    </p:set>
                                    <p:animEffect transition="in" filter="wipe(left)">
                                      <p:cBhvr>
                                        <p:cTn id="12" dur="500"/>
                                        <p:tgtEl>
                                          <p:spTgt spid="768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wipe(left)">
                                      <p:cBhvr>
                                        <p:cTn id="17" dur="500"/>
                                        <p:tgtEl>
                                          <p:spTgt spid="76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utoUpdateAnimBg="0"/>
      <p:bldP spid="76805" grpId="0" autoUpdateAnimBg="0"/>
      <p:bldP spid="7680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1026"/>
          <p:cNvSpPr txBox="1">
            <a:spLocks noChangeArrowheads="1"/>
          </p:cNvSpPr>
          <p:nvPr/>
        </p:nvSpPr>
        <p:spPr bwMode="auto">
          <a:xfrm>
            <a:off x="1492250" y="1111250"/>
            <a:ext cx="3444875" cy="650875"/>
          </a:xfrm>
          <a:prstGeom prst="rect">
            <a:avLst/>
          </a:prstGeom>
          <a:solidFill>
            <a:srgbClr val="FFFF99">
              <a:alpha val="50000"/>
            </a:srgbClr>
          </a:solidFill>
          <a:ln w="9525">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800000"/>
                </a:solidFill>
              </a:rPr>
              <a:t>14  36  49  52  80</a:t>
            </a:r>
            <a:endParaRPr lang="en-US" altLang="zh-CN" sz="3600"/>
          </a:p>
        </p:txBody>
      </p:sp>
      <p:sp>
        <p:nvSpPr>
          <p:cNvPr id="121859" name="Line 1027"/>
          <p:cNvSpPr>
            <a:spLocks noChangeShapeType="1"/>
          </p:cNvSpPr>
          <p:nvPr/>
        </p:nvSpPr>
        <p:spPr bwMode="auto">
          <a:xfrm>
            <a:off x="2117725" y="10668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0" name="Line 1028"/>
          <p:cNvSpPr>
            <a:spLocks noChangeShapeType="1"/>
          </p:cNvSpPr>
          <p:nvPr/>
        </p:nvSpPr>
        <p:spPr bwMode="auto">
          <a:xfrm>
            <a:off x="2803525" y="10668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1" name="Line 1029"/>
          <p:cNvSpPr>
            <a:spLocks noChangeShapeType="1"/>
          </p:cNvSpPr>
          <p:nvPr/>
        </p:nvSpPr>
        <p:spPr bwMode="auto">
          <a:xfrm>
            <a:off x="3489325" y="10668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2" name="Line 1030"/>
          <p:cNvSpPr>
            <a:spLocks noChangeShapeType="1"/>
          </p:cNvSpPr>
          <p:nvPr/>
        </p:nvSpPr>
        <p:spPr bwMode="auto">
          <a:xfrm>
            <a:off x="4175125" y="10668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3" name="Text Box 1031"/>
          <p:cNvSpPr txBox="1">
            <a:spLocks noChangeArrowheads="1"/>
          </p:cNvSpPr>
          <p:nvPr/>
        </p:nvSpPr>
        <p:spPr bwMode="auto">
          <a:xfrm>
            <a:off x="4937125" y="1101725"/>
            <a:ext cx="3444875" cy="650875"/>
          </a:xfrm>
          <a:prstGeom prst="rect">
            <a:avLst/>
          </a:prstGeom>
          <a:solidFill>
            <a:srgbClr val="CCFFFF">
              <a:alpha val="50000"/>
            </a:srgbClr>
          </a:solidFill>
          <a:ln w="9525">
            <a:solidFill>
              <a:srgbClr val="000099"/>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0099"/>
                </a:solidFill>
              </a:rPr>
              <a:t>58  </a:t>
            </a:r>
            <a:r>
              <a:rPr lang="en-US" altLang="zh-CN" sz="3600">
                <a:solidFill>
                  <a:srgbClr val="000099"/>
                </a:solidFill>
              </a:rPr>
              <a:t>61  23  97  75</a:t>
            </a:r>
            <a:endParaRPr lang="en-US" altLang="zh-CN" sz="3600"/>
          </a:p>
        </p:txBody>
      </p:sp>
      <p:sp>
        <p:nvSpPr>
          <p:cNvPr id="121864" name="Line 1032"/>
          <p:cNvSpPr>
            <a:spLocks noChangeShapeType="1"/>
          </p:cNvSpPr>
          <p:nvPr/>
        </p:nvSpPr>
        <p:spPr bwMode="auto">
          <a:xfrm>
            <a:off x="5546725" y="10668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5" name="Line 1033"/>
          <p:cNvSpPr>
            <a:spLocks noChangeShapeType="1"/>
          </p:cNvSpPr>
          <p:nvPr/>
        </p:nvSpPr>
        <p:spPr bwMode="auto">
          <a:xfrm>
            <a:off x="6232525" y="10668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6" name="Line 1034"/>
          <p:cNvSpPr>
            <a:spLocks noChangeShapeType="1"/>
          </p:cNvSpPr>
          <p:nvPr/>
        </p:nvSpPr>
        <p:spPr bwMode="auto">
          <a:xfrm>
            <a:off x="6918325" y="10668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7" name="Line 1035"/>
          <p:cNvSpPr>
            <a:spLocks noChangeShapeType="1"/>
          </p:cNvSpPr>
          <p:nvPr/>
        </p:nvSpPr>
        <p:spPr bwMode="auto">
          <a:xfrm>
            <a:off x="7604125" y="10668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8" name="Line 1036"/>
          <p:cNvSpPr>
            <a:spLocks noChangeShapeType="1"/>
          </p:cNvSpPr>
          <p:nvPr/>
        </p:nvSpPr>
        <p:spPr bwMode="auto">
          <a:xfrm>
            <a:off x="5165725" y="685800"/>
            <a:ext cx="0" cy="381000"/>
          </a:xfrm>
          <a:prstGeom prst="line">
            <a:avLst/>
          </a:prstGeom>
          <a:noFill/>
          <a:ln w="127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69" name="Text Box 1037"/>
          <p:cNvSpPr txBox="1">
            <a:spLocks noChangeArrowheads="1"/>
          </p:cNvSpPr>
          <p:nvPr/>
        </p:nvSpPr>
        <p:spPr bwMode="auto">
          <a:xfrm>
            <a:off x="5149850" y="523875"/>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0099"/>
                </a:solidFill>
              </a:rPr>
              <a:t>i</a:t>
            </a:r>
            <a:endParaRPr lang="en-US" altLang="zh-CN" sz="2800"/>
          </a:p>
        </p:txBody>
      </p:sp>
      <p:sp>
        <p:nvSpPr>
          <p:cNvPr id="121870" name="Line 1038"/>
          <p:cNvSpPr>
            <a:spLocks noChangeShapeType="1"/>
          </p:cNvSpPr>
          <p:nvPr/>
        </p:nvSpPr>
        <p:spPr bwMode="auto">
          <a:xfrm flipV="1">
            <a:off x="1736725" y="1828800"/>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71" name="Text Box 1039"/>
          <p:cNvSpPr txBox="1">
            <a:spLocks noChangeArrowheads="1"/>
          </p:cNvSpPr>
          <p:nvPr/>
        </p:nvSpPr>
        <p:spPr bwMode="auto">
          <a:xfrm>
            <a:off x="958850"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FF6600"/>
                </a:solidFill>
              </a:rPr>
              <a:t>low</a:t>
            </a:r>
            <a:endParaRPr lang="en-US" altLang="zh-CN" sz="2800"/>
          </a:p>
        </p:txBody>
      </p:sp>
      <p:sp>
        <p:nvSpPr>
          <p:cNvPr id="121872" name="Line 1040"/>
          <p:cNvSpPr>
            <a:spLocks noChangeShapeType="1"/>
          </p:cNvSpPr>
          <p:nvPr/>
        </p:nvSpPr>
        <p:spPr bwMode="auto">
          <a:xfrm flipV="1">
            <a:off x="4708525" y="1828800"/>
            <a:ext cx="0" cy="5334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73" name="Text Box 1041"/>
          <p:cNvSpPr txBox="1">
            <a:spLocks noChangeArrowheads="1"/>
          </p:cNvSpPr>
          <p:nvPr/>
        </p:nvSpPr>
        <p:spPr bwMode="auto">
          <a:xfrm>
            <a:off x="4746625" y="19812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6600"/>
                </a:solidFill>
              </a:rPr>
              <a:t>high</a:t>
            </a:r>
            <a:endParaRPr lang="en-US" altLang="zh-CN" sz="2800"/>
          </a:p>
        </p:txBody>
      </p:sp>
      <p:sp>
        <p:nvSpPr>
          <p:cNvPr id="121874" name="Line 1042"/>
          <p:cNvSpPr>
            <a:spLocks noChangeShapeType="1"/>
          </p:cNvSpPr>
          <p:nvPr/>
        </p:nvSpPr>
        <p:spPr bwMode="auto">
          <a:xfrm flipV="1">
            <a:off x="3124200" y="1828800"/>
            <a:ext cx="0" cy="533400"/>
          </a:xfrm>
          <a:prstGeom prst="line">
            <a:avLst/>
          </a:prstGeom>
          <a:noFill/>
          <a:ln w="190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75" name="Text Box 1043"/>
          <p:cNvSpPr txBox="1">
            <a:spLocks noChangeArrowheads="1"/>
          </p:cNvSpPr>
          <p:nvPr/>
        </p:nvSpPr>
        <p:spPr bwMode="auto">
          <a:xfrm>
            <a:off x="2876550" y="22240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chemeClr val="accent1"/>
                </a:solidFill>
              </a:rPr>
              <a:t>m</a:t>
            </a:r>
            <a:endParaRPr lang="en-US" altLang="zh-CN" sz="2800"/>
          </a:p>
        </p:txBody>
      </p:sp>
      <p:sp>
        <p:nvSpPr>
          <p:cNvPr id="121876" name="Line 1044"/>
          <p:cNvSpPr>
            <a:spLocks noChangeShapeType="1"/>
          </p:cNvSpPr>
          <p:nvPr/>
        </p:nvSpPr>
        <p:spPr bwMode="auto">
          <a:xfrm flipV="1">
            <a:off x="3657600" y="1828800"/>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21878" name="Rectangle 1046"/>
          <p:cNvSpPr>
            <a:spLocks noChangeArrowheads="1"/>
          </p:cNvSpPr>
          <p:nvPr/>
        </p:nvSpPr>
        <p:spPr bwMode="auto">
          <a:xfrm>
            <a:off x="990600" y="1828800"/>
            <a:ext cx="914400" cy="609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79" name="Line 1047"/>
          <p:cNvSpPr>
            <a:spLocks noChangeShapeType="1"/>
          </p:cNvSpPr>
          <p:nvPr/>
        </p:nvSpPr>
        <p:spPr bwMode="auto">
          <a:xfrm flipV="1">
            <a:off x="3870325" y="1905000"/>
            <a:ext cx="0" cy="533400"/>
          </a:xfrm>
          <a:prstGeom prst="line">
            <a:avLst/>
          </a:prstGeom>
          <a:noFill/>
          <a:ln w="190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80" name="Text Box 1048"/>
          <p:cNvSpPr txBox="1">
            <a:spLocks noChangeArrowheads="1"/>
          </p:cNvSpPr>
          <p:nvPr/>
        </p:nvSpPr>
        <p:spPr bwMode="auto">
          <a:xfrm>
            <a:off x="3562350" y="23002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chemeClr val="accent1"/>
                </a:solidFill>
              </a:rPr>
              <a:t>m</a:t>
            </a:r>
            <a:endParaRPr lang="en-US" altLang="zh-CN" sz="2800"/>
          </a:p>
        </p:txBody>
      </p:sp>
      <p:sp useBgFill="1">
        <p:nvSpPr>
          <p:cNvPr id="121881" name="Rectangle 1049"/>
          <p:cNvSpPr>
            <a:spLocks noChangeArrowheads="1"/>
          </p:cNvSpPr>
          <p:nvPr/>
        </p:nvSpPr>
        <p:spPr bwMode="auto">
          <a:xfrm>
            <a:off x="2879725" y="1828800"/>
            <a:ext cx="381000" cy="838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zh-CN"/>
          </a:p>
        </p:txBody>
      </p:sp>
      <p:sp>
        <p:nvSpPr>
          <p:cNvPr id="121882" name="Line 1050"/>
          <p:cNvSpPr>
            <a:spLocks noChangeShapeType="1"/>
          </p:cNvSpPr>
          <p:nvPr/>
        </p:nvSpPr>
        <p:spPr bwMode="auto">
          <a:xfrm flipV="1">
            <a:off x="4540250" y="1828800"/>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83" name="Text Box 1051"/>
          <p:cNvSpPr txBox="1">
            <a:spLocks noChangeArrowheads="1"/>
          </p:cNvSpPr>
          <p:nvPr/>
        </p:nvSpPr>
        <p:spPr bwMode="auto">
          <a:xfrm>
            <a:off x="3914775"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FF6600"/>
                </a:solidFill>
              </a:rPr>
              <a:t>low</a:t>
            </a:r>
            <a:endParaRPr lang="en-US" altLang="zh-CN" sz="2800"/>
          </a:p>
        </p:txBody>
      </p:sp>
      <p:sp>
        <p:nvSpPr>
          <p:cNvPr id="121886" name="Text Box 1054"/>
          <p:cNvSpPr txBox="1">
            <a:spLocks noChangeArrowheads="1"/>
          </p:cNvSpPr>
          <p:nvPr/>
        </p:nvSpPr>
        <p:spPr bwMode="auto">
          <a:xfrm>
            <a:off x="2955925" y="19954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FF6600"/>
                </a:solidFill>
              </a:rPr>
              <a:t>low</a:t>
            </a:r>
            <a:endParaRPr lang="en-US" altLang="zh-CN" sz="2800"/>
          </a:p>
        </p:txBody>
      </p:sp>
      <p:sp useBgFill="1">
        <p:nvSpPr>
          <p:cNvPr id="121887" name="Rectangle 1055"/>
          <p:cNvSpPr>
            <a:spLocks noChangeArrowheads="1"/>
          </p:cNvSpPr>
          <p:nvPr/>
        </p:nvSpPr>
        <p:spPr bwMode="auto">
          <a:xfrm>
            <a:off x="2955925" y="1828800"/>
            <a:ext cx="7620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88" name="Line 1056"/>
          <p:cNvSpPr>
            <a:spLocks noChangeShapeType="1"/>
          </p:cNvSpPr>
          <p:nvPr/>
        </p:nvSpPr>
        <p:spPr bwMode="auto">
          <a:xfrm flipV="1">
            <a:off x="4632325" y="2514600"/>
            <a:ext cx="0" cy="533400"/>
          </a:xfrm>
          <a:prstGeom prst="line">
            <a:avLst/>
          </a:prstGeom>
          <a:noFill/>
          <a:ln w="1905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89" name="Text Box 1057"/>
          <p:cNvSpPr txBox="1">
            <a:spLocks noChangeArrowheads="1"/>
          </p:cNvSpPr>
          <p:nvPr/>
        </p:nvSpPr>
        <p:spPr bwMode="auto">
          <a:xfrm>
            <a:off x="4324350" y="29098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chemeClr val="accent1"/>
                </a:solidFill>
              </a:rPr>
              <a:t>m</a:t>
            </a:r>
            <a:endParaRPr lang="en-US" altLang="zh-CN" sz="2800"/>
          </a:p>
        </p:txBody>
      </p:sp>
      <p:sp useBgFill="1">
        <p:nvSpPr>
          <p:cNvPr id="121890" name="Rectangle 1058"/>
          <p:cNvSpPr>
            <a:spLocks noChangeArrowheads="1"/>
          </p:cNvSpPr>
          <p:nvPr/>
        </p:nvSpPr>
        <p:spPr bwMode="auto">
          <a:xfrm>
            <a:off x="3565525" y="1828800"/>
            <a:ext cx="3810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1" name="Line 1059"/>
          <p:cNvSpPr>
            <a:spLocks noChangeShapeType="1"/>
          </p:cNvSpPr>
          <p:nvPr/>
        </p:nvSpPr>
        <p:spPr bwMode="auto">
          <a:xfrm flipV="1">
            <a:off x="3702050" y="1828800"/>
            <a:ext cx="0" cy="5334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2" name="Text Box 1060"/>
          <p:cNvSpPr txBox="1">
            <a:spLocks noChangeArrowheads="1"/>
          </p:cNvSpPr>
          <p:nvPr/>
        </p:nvSpPr>
        <p:spPr bwMode="auto">
          <a:xfrm>
            <a:off x="2879725" y="19812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6600"/>
                </a:solidFill>
              </a:rPr>
              <a:t>high</a:t>
            </a:r>
            <a:endParaRPr lang="en-US" altLang="zh-CN" sz="2800"/>
          </a:p>
        </p:txBody>
      </p:sp>
      <p:sp useBgFill="1">
        <p:nvSpPr>
          <p:cNvPr id="121893" name="Rectangle 1061"/>
          <p:cNvSpPr>
            <a:spLocks noChangeArrowheads="1"/>
          </p:cNvSpPr>
          <p:nvPr/>
        </p:nvSpPr>
        <p:spPr bwMode="auto">
          <a:xfrm>
            <a:off x="4632325" y="1828800"/>
            <a:ext cx="9144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4" name="Text Box 1062"/>
          <p:cNvSpPr txBox="1">
            <a:spLocks noChangeArrowheads="1"/>
          </p:cNvSpPr>
          <p:nvPr/>
        </p:nvSpPr>
        <p:spPr bwMode="auto">
          <a:xfrm>
            <a:off x="1492250" y="3844925"/>
            <a:ext cx="4740275" cy="650875"/>
          </a:xfrm>
          <a:prstGeom prst="rect">
            <a:avLst/>
          </a:prstGeom>
          <a:solidFill>
            <a:srgbClr val="FFFF99">
              <a:alpha val="50000"/>
            </a:srgbClr>
          </a:solidFill>
          <a:ln w="9525">
            <a:solidFill>
              <a:srgbClr val="8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800000"/>
                </a:solidFill>
              </a:rPr>
              <a:t>14  36  49  52  58  61 80</a:t>
            </a:r>
            <a:endParaRPr lang="en-US" altLang="zh-CN" sz="3600"/>
          </a:p>
        </p:txBody>
      </p:sp>
      <p:sp>
        <p:nvSpPr>
          <p:cNvPr id="121895" name="Line 1063"/>
          <p:cNvSpPr>
            <a:spLocks noChangeShapeType="1"/>
          </p:cNvSpPr>
          <p:nvPr/>
        </p:nvSpPr>
        <p:spPr bwMode="auto">
          <a:xfrm>
            <a:off x="2117725" y="3800475"/>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6" name="Line 1064"/>
          <p:cNvSpPr>
            <a:spLocks noChangeShapeType="1"/>
          </p:cNvSpPr>
          <p:nvPr/>
        </p:nvSpPr>
        <p:spPr bwMode="auto">
          <a:xfrm>
            <a:off x="2803525" y="3800475"/>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7" name="Line 1065"/>
          <p:cNvSpPr>
            <a:spLocks noChangeShapeType="1"/>
          </p:cNvSpPr>
          <p:nvPr/>
        </p:nvSpPr>
        <p:spPr bwMode="auto">
          <a:xfrm>
            <a:off x="3489325" y="3800475"/>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8" name="Line 1066"/>
          <p:cNvSpPr>
            <a:spLocks noChangeShapeType="1"/>
          </p:cNvSpPr>
          <p:nvPr/>
        </p:nvSpPr>
        <p:spPr bwMode="auto">
          <a:xfrm>
            <a:off x="4175125" y="3800475"/>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899" name="Line 1067"/>
          <p:cNvSpPr>
            <a:spLocks noChangeShapeType="1"/>
          </p:cNvSpPr>
          <p:nvPr/>
        </p:nvSpPr>
        <p:spPr bwMode="auto">
          <a:xfrm>
            <a:off x="4860925" y="38100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0" name="Line 1068"/>
          <p:cNvSpPr>
            <a:spLocks noChangeShapeType="1"/>
          </p:cNvSpPr>
          <p:nvPr/>
        </p:nvSpPr>
        <p:spPr bwMode="auto">
          <a:xfrm>
            <a:off x="5546725" y="3810000"/>
            <a:ext cx="0" cy="685800"/>
          </a:xfrm>
          <a:prstGeom prst="line">
            <a:avLst/>
          </a:prstGeom>
          <a:noFill/>
          <a:ln w="952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1" name="Text Box 1069"/>
          <p:cNvSpPr txBox="1">
            <a:spLocks noChangeArrowheads="1"/>
          </p:cNvSpPr>
          <p:nvPr/>
        </p:nvSpPr>
        <p:spPr bwMode="auto">
          <a:xfrm>
            <a:off x="6232525" y="3844925"/>
            <a:ext cx="2225675" cy="650875"/>
          </a:xfrm>
          <a:prstGeom prst="rect">
            <a:avLst/>
          </a:prstGeom>
          <a:solidFill>
            <a:srgbClr val="CCFFFF">
              <a:alpha val="50000"/>
            </a:srgbClr>
          </a:solidFill>
          <a:ln w="9525">
            <a:solidFill>
              <a:srgbClr val="000099"/>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a:solidFill>
                  <a:srgbClr val="000099"/>
                </a:solidFill>
              </a:rPr>
              <a:t> 23  97  75</a:t>
            </a:r>
            <a:endParaRPr lang="en-US" altLang="zh-CN" sz="3600"/>
          </a:p>
        </p:txBody>
      </p:sp>
      <p:sp>
        <p:nvSpPr>
          <p:cNvPr id="121902" name="Line 1070"/>
          <p:cNvSpPr>
            <a:spLocks noChangeShapeType="1"/>
          </p:cNvSpPr>
          <p:nvPr/>
        </p:nvSpPr>
        <p:spPr bwMode="auto">
          <a:xfrm>
            <a:off x="6994525" y="38100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3" name="Line 1071"/>
          <p:cNvSpPr>
            <a:spLocks noChangeShapeType="1"/>
          </p:cNvSpPr>
          <p:nvPr/>
        </p:nvSpPr>
        <p:spPr bwMode="auto">
          <a:xfrm>
            <a:off x="7680325" y="3810000"/>
            <a:ext cx="0" cy="685800"/>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4" name="Line 1072"/>
          <p:cNvSpPr>
            <a:spLocks noChangeShapeType="1"/>
          </p:cNvSpPr>
          <p:nvPr/>
        </p:nvSpPr>
        <p:spPr bwMode="auto">
          <a:xfrm>
            <a:off x="6537325" y="3352800"/>
            <a:ext cx="0" cy="457200"/>
          </a:xfrm>
          <a:prstGeom prst="line">
            <a:avLst/>
          </a:prstGeom>
          <a:noFill/>
          <a:ln w="127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5" name="Text Box 1073"/>
          <p:cNvSpPr txBox="1">
            <a:spLocks noChangeArrowheads="1"/>
          </p:cNvSpPr>
          <p:nvPr/>
        </p:nvSpPr>
        <p:spPr bwMode="auto">
          <a:xfrm>
            <a:off x="6521450" y="3114675"/>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0099"/>
                </a:solidFill>
              </a:rPr>
              <a:t>i</a:t>
            </a:r>
            <a:endParaRPr lang="en-US" altLang="zh-CN" sz="2800"/>
          </a:p>
        </p:txBody>
      </p:sp>
      <p:sp>
        <p:nvSpPr>
          <p:cNvPr id="121906" name="Line 1074"/>
          <p:cNvSpPr>
            <a:spLocks noChangeShapeType="1"/>
          </p:cNvSpPr>
          <p:nvPr/>
        </p:nvSpPr>
        <p:spPr bwMode="auto">
          <a:xfrm flipV="1">
            <a:off x="1600200" y="4557713"/>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7" name="Text Box 1075"/>
          <p:cNvSpPr txBox="1">
            <a:spLocks noChangeArrowheads="1"/>
          </p:cNvSpPr>
          <p:nvPr/>
        </p:nvSpPr>
        <p:spPr bwMode="auto">
          <a:xfrm>
            <a:off x="958850" y="4724400"/>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FF6600"/>
                </a:solidFill>
              </a:rPr>
              <a:t>low</a:t>
            </a:r>
            <a:endParaRPr lang="en-US" altLang="zh-CN" sz="2800"/>
          </a:p>
        </p:txBody>
      </p:sp>
      <p:sp>
        <p:nvSpPr>
          <p:cNvPr id="121908" name="Line 1076"/>
          <p:cNvSpPr>
            <a:spLocks noChangeShapeType="1"/>
          </p:cNvSpPr>
          <p:nvPr/>
        </p:nvSpPr>
        <p:spPr bwMode="auto">
          <a:xfrm flipV="1">
            <a:off x="5759450" y="4572000"/>
            <a:ext cx="0" cy="5334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09" name="Text Box 1077"/>
          <p:cNvSpPr txBox="1">
            <a:spLocks noChangeArrowheads="1"/>
          </p:cNvSpPr>
          <p:nvPr/>
        </p:nvSpPr>
        <p:spPr bwMode="auto">
          <a:xfrm>
            <a:off x="5797550"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6600"/>
                </a:solidFill>
              </a:rPr>
              <a:t>high</a:t>
            </a:r>
            <a:endParaRPr lang="en-US" altLang="zh-CN" sz="2800"/>
          </a:p>
        </p:txBody>
      </p:sp>
      <p:sp>
        <p:nvSpPr>
          <p:cNvPr id="121910" name="Line 1078"/>
          <p:cNvSpPr>
            <a:spLocks noChangeShapeType="1"/>
          </p:cNvSpPr>
          <p:nvPr/>
        </p:nvSpPr>
        <p:spPr bwMode="auto">
          <a:xfrm flipV="1">
            <a:off x="3870325" y="4724400"/>
            <a:ext cx="0" cy="609600"/>
          </a:xfrm>
          <a:prstGeom prst="line">
            <a:avLst/>
          </a:prstGeom>
          <a:noFill/>
          <a:ln w="9525">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11" name="Text Box 1079"/>
          <p:cNvSpPr txBox="1">
            <a:spLocks noChangeArrowheads="1"/>
          </p:cNvSpPr>
          <p:nvPr/>
        </p:nvSpPr>
        <p:spPr bwMode="auto">
          <a:xfrm>
            <a:off x="3641725" y="51816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3366"/>
                </a:solidFill>
              </a:rPr>
              <a:t>m</a:t>
            </a:r>
            <a:endParaRPr lang="en-US" altLang="zh-CN" sz="2800"/>
          </a:p>
        </p:txBody>
      </p:sp>
      <p:sp>
        <p:nvSpPr>
          <p:cNvPr id="121912" name="Line 1080"/>
          <p:cNvSpPr>
            <a:spLocks noChangeShapeType="1"/>
          </p:cNvSpPr>
          <p:nvPr/>
        </p:nvSpPr>
        <p:spPr bwMode="auto">
          <a:xfrm flipV="1">
            <a:off x="3016250" y="4572000"/>
            <a:ext cx="0" cy="5334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13" name="Text Box 1081"/>
          <p:cNvSpPr txBox="1">
            <a:spLocks noChangeArrowheads="1"/>
          </p:cNvSpPr>
          <p:nvPr/>
        </p:nvSpPr>
        <p:spPr bwMode="auto">
          <a:xfrm>
            <a:off x="2955925"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6600"/>
                </a:solidFill>
              </a:rPr>
              <a:t>high</a:t>
            </a:r>
            <a:endParaRPr lang="en-US" altLang="zh-CN" sz="2800"/>
          </a:p>
        </p:txBody>
      </p:sp>
      <p:sp useBgFill="1">
        <p:nvSpPr>
          <p:cNvPr id="121914" name="Rectangle 1082"/>
          <p:cNvSpPr>
            <a:spLocks noChangeArrowheads="1"/>
          </p:cNvSpPr>
          <p:nvPr/>
        </p:nvSpPr>
        <p:spPr bwMode="auto">
          <a:xfrm>
            <a:off x="5622925" y="4572000"/>
            <a:ext cx="9906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15" name="Line 1083"/>
          <p:cNvSpPr>
            <a:spLocks noChangeShapeType="1"/>
          </p:cNvSpPr>
          <p:nvPr/>
        </p:nvSpPr>
        <p:spPr bwMode="auto">
          <a:xfrm flipV="1">
            <a:off x="2574925" y="4800600"/>
            <a:ext cx="0" cy="609600"/>
          </a:xfrm>
          <a:prstGeom prst="line">
            <a:avLst/>
          </a:prstGeom>
          <a:noFill/>
          <a:ln w="9525">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16" name="Text Box 1084"/>
          <p:cNvSpPr txBox="1">
            <a:spLocks noChangeArrowheads="1"/>
          </p:cNvSpPr>
          <p:nvPr/>
        </p:nvSpPr>
        <p:spPr bwMode="auto">
          <a:xfrm>
            <a:off x="2419350" y="52578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3366"/>
                </a:solidFill>
              </a:rPr>
              <a:t>m</a:t>
            </a:r>
            <a:endParaRPr lang="en-US" altLang="zh-CN" sz="2800"/>
          </a:p>
        </p:txBody>
      </p:sp>
      <p:sp>
        <p:nvSpPr>
          <p:cNvPr id="121917" name="Line 1085"/>
          <p:cNvSpPr>
            <a:spLocks noChangeShapeType="1"/>
          </p:cNvSpPr>
          <p:nvPr/>
        </p:nvSpPr>
        <p:spPr bwMode="auto">
          <a:xfrm flipV="1">
            <a:off x="1797050" y="4572000"/>
            <a:ext cx="0" cy="5334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18" name="Text Box 1086"/>
          <p:cNvSpPr txBox="1">
            <a:spLocks noChangeArrowheads="1"/>
          </p:cNvSpPr>
          <p:nvPr/>
        </p:nvSpPr>
        <p:spPr bwMode="auto">
          <a:xfrm>
            <a:off x="1736725" y="4724400"/>
            <a:ext cx="815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6600"/>
                </a:solidFill>
              </a:rPr>
              <a:t>high</a:t>
            </a:r>
            <a:endParaRPr lang="en-US" altLang="zh-CN" sz="2800"/>
          </a:p>
        </p:txBody>
      </p:sp>
      <p:sp useBgFill="1">
        <p:nvSpPr>
          <p:cNvPr id="121919" name="Rectangle 1087"/>
          <p:cNvSpPr>
            <a:spLocks noChangeArrowheads="1"/>
          </p:cNvSpPr>
          <p:nvPr/>
        </p:nvSpPr>
        <p:spPr bwMode="auto">
          <a:xfrm>
            <a:off x="3717925" y="4648200"/>
            <a:ext cx="3048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21920" name="Rectangle 1088"/>
          <p:cNvSpPr>
            <a:spLocks noChangeArrowheads="1"/>
          </p:cNvSpPr>
          <p:nvPr/>
        </p:nvSpPr>
        <p:spPr bwMode="auto">
          <a:xfrm>
            <a:off x="2879725" y="4572000"/>
            <a:ext cx="9144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21" name="Line 1089"/>
          <p:cNvSpPr>
            <a:spLocks noChangeShapeType="1"/>
          </p:cNvSpPr>
          <p:nvPr/>
        </p:nvSpPr>
        <p:spPr bwMode="auto">
          <a:xfrm flipV="1">
            <a:off x="1739900" y="4800600"/>
            <a:ext cx="0" cy="609600"/>
          </a:xfrm>
          <a:prstGeom prst="line">
            <a:avLst/>
          </a:prstGeom>
          <a:noFill/>
          <a:ln w="9525">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22" name="Text Box 1090"/>
          <p:cNvSpPr txBox="1">
            <a:spLocks noChangeArrowheads="1"/>
          </p:cNvSpPr>
          <p:nvPr/>
        </p:nvSpPr>
        <p:spPr bwMode="auto">
          <a:xfrm>
            <a:off x="1508125" y="5257800"/>
            <a:ext cx="46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3366"/>
                </a:solidFill>
              </a:rPr>
              <a:t>m</a:t>
            </a:r>
            <a:endParaRPr lang="en-US" altLang="zh-CN" sz="2800"/>
          </a:p>
        </p:txBody>
      </p:sp>
      <p:sp useBgFill="1">
        <p:nvSpPr>
          <p:cNvPr id="121923" name="Rectangle 1091"/>
          <p:cNvSpPr>
            <a:spLocks noChangeArrowheads="1"/>
          </p:cNvSpPr>
          <p:nvPr/>
        </p:nvSpPr>
        <p:spPr bwMode="auto">
          <a:xfrm>
            <a:off x="2498725" y="4800600"/>
            <a:ext cx="3048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24" name="Line 1092"/>
          <p:cNvSpPr>
            <a:spLocks noChangeShapeType="1"/>
          </p:cNvSpPr>
          <p:nvPr/>
        </p:nvSpPr>
        <p:spPr bwMode="auto">
          <a:xfrm flipV="1">
            <a:off x="2559050" y="4572000"/>
            <a:ext cx="0" cy="533400"/>
          </a:xfrm>
          <a:prstGeom prst="line">
            <a:avLst/>
          </a:prstGeom>
          <a:noFill/>
          <a:ln w="190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25" name="Text Box 1093"/>
          <p:cNvSpPr txBox="1">
            <a:spLocks noChangeArrowheads="1"/>
          </p:cNvSpPr>
          <p:nvPr/>
        </p:nvSpPr>
        <p:spPr bwMode="auto">
          <a:xfrm>
            <a:off x="2543175" y="4738688"/>
            <a:ext cx="717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FF6600"/>
                </a:solidFill>
              </a:rPr>
              <a:t>low</a:t>
            </a:r>
            <a:endParaRPr lang="en-US" altLang="zh-CN" sz="2800"/>
          </a:p>
        </p:txBody>
      </p:sp>
      <p:sp useBgFill="1">
        <p:nvSpPr>
          <p:cNvPr id="121926" name="Rectangle 1094"/>
          <p:cNvSpPr>
            <a:spLocks noChangeArrowheads="1"/>
          </p:cNvSpPr>
          <p:nvPr/>
        </p:nvSpPr>
        <p:spPr bwMode="auto">
          <a:xfrm>
            <a:off x="990600" y="4572000"/>
            <a:ext cx="685800" cy="685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27" name="Text Box 1095"/>
          <p:cNvSpPr txBox="1">
            <a:spLocks noChangeArrowheads="1"/>
          </p:cNvSpPr>
          <p:nvPr/>
        </p:nvSpPr>
        <p:spPr bwMode="auto">
          <a:xfrm>
            <a:off x="212725" y="19685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0099"/>
                </a:solidFill>
                <a:ea typeface="楷体_GB2312" charset="0"/>
              </a:rPr>
              <a:t>例如</a:t>
            </a:r>
            <a:r>
              <a:rPr lang="en-US" altLang="zh-CN" sz="3600">
                <a:solidFill>
                  <a:srgbClr val="000099"/>
                </a:solidFill>
                <a:ea typeface="楷体_GB2312" charset="0"/>
              </a:rPr>
              <a:t>:</a:t>
            </a:r>
            <a:endParaRPr lang="en-US" altLang="zh-CN" sz="3600">
              <a:ea typeface="楷体_GB2312" charset="0"/>
            </a:endParaRPr>
          </a:p>
        </p:txBody>
      </p:sp>
      <p:sp>
        <p:nvSpPr>
          <p:cNvPr id="121928" name="Text Box 1096"/>
          <p:cNvSpPr txBox="1">
            <a:spLocks noChangeArrowheads="1"/>
          </p:cNvSpPr>
          <p:nvPr/>
        </p:nvSpPr>
        <p:spPr bwMode="auto">
          <a:xfrm>
            <a:off x="228600" y="301625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0099"/>
                </a:solidFill>
                <a:ea typeface="楷体_GB2312" charset="0"/>
              </a:rPr>
              <a:t>再如</a:t>
            </a:r>
            <a:r>
              <a:rPr lang="en-US" altLang="zh-CN" sz="3600">
                <a:solidFill>
                  <a:srgbClr val="000099"/>
                </a:solidFill>
                <a:ea typeface="楷体_GB2312" charset="0"/>
              </a:rPr>
              <a:t>:</a:t>
            </a:r>
            <a:endParaRPr lang="en-US" altLang="zh-CN" sz="3600">
              <a:ea typeface="楷体_GB2312" charset="0"/>
            </a:endParaRPr>
          </a:p>
        </p:txBody>
      </p:sp>
      <p:pic>
        <p:nvPicPr>
          <p:cNvPr id="121929" name="Picture 1097" descr="Neighborhood">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6248400"/>
            <a:ext cx="8458200" cy="381000"/>
          </a:xfrm>
          <a:prstGeom prst="rect">
            <a:avLst/>
          </a:prstGeom>
          <a:noFill/>
          <a:extLst>
            <a:ext uri="{909E8E84-426E-40DD-AFC4-6F175D3DCCD1}">
              <a14:hiddenFill xmlns:a14="http://schemas.microsoft.com/office/drawing/2010/main">
                <a:solidFill>
                  <a:srgbClr val="FFFFFF"/>
                </a:solidFill>
              </a14:hiddenFill>
            </a:ext>
          </a:extLst>
        </p:spPr>
      </p:pic>
      <p:sp>
        <p:nvSpPr>
          <p:cNvPr id="121930" name="Line 1098"/>
          <p:cNvSpPr>
            <a:spLocks noChangeShapeType="1"/>
          </p:cNvSpPr>
          <p:nvPr/>
        </p:nvSpPr>
        <p:spPr bwMode="auto">
          <a:xfrm>
            <a:off x="4479925" y="228600"/>
            <a:ext cx="0" cy="838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31" name="Text Box 1099"/>
          <p:cNvSpPr txBox="1">
            <a:spLocks noChangeArrowheads="1"/>
          </p:cNvSpPr>
          <p:nvPr/>
        </p:nvSpPr>
        <p:spPr bwMode="auto">
          <a:xfrm>
            <a:off x="3489325" y="68263"/>
            <a:ext cx="996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a:solidFill>
                  <a:srgbClr val="FF0000"/>
                </a:solidFill>
                <a:ea typeface="隶书" charset="0"/>
              </a:rPr>
              <a:t>插入</a:t>
            </a:r>
          </a:p>
          <a:p>
            <a:pPr algn="l"/>
            <a:r>
              <a:rPr lang="zh-CN" altLang="en-US" sz="3200">
                <a:solidFill>
                  <a:srgbClr val="FF0000"/>
                </a:solidFill>
                <a:ea typeface="隶书" charset="0"/>
              </a:rPr>
              <a:t>位置</a:t>
            </a:r>
            <a:endParaRPr lang="zh-CN" altLang="en-US" sz="3200"/>
          </a:p>
        </p:txBody>
      </p:sp>
      <p:sp>
        <p:nvSpPr>
          <p:cNvPr id="121932" name="Line 1100"/>
          <p:cNvSpPr>
            <a:spLocks noChangeShapeType="1"/>
          </p:cNvSpPr>
          <p:nvPr/>
        </p:nvSpPr>
        <p:spPr bwMode="auto">
          <a:xfrm>
            <a:off x="2422525" y="2979738"/>
            <a:ext cx="0" cy="8382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1933" name="Text Box 1101"/>
          <p:cNvSpPr txBox="1">
            <a:spLocks noChangeArrowheads="1"/>
          </p:cNvSpPr>
          <p:nvPr/>
        </p:nvSpPr>
        <p:spPr bwMode="auto">
          <a:xfrm>
            <a:off x="2416175" y="2819400"/>
            <a:ext cx="996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a:solidFill>
                  <a:srgbClr val="FF0000"/>
                </a:solidFill>
                <a:ea typeface="隶书" charset="0"/>
              </a:rPr>
              <a:t>插入</a:t>
            </a:r>
          </a:p>
          <a:p>
            <a:pPr algn="l"/>
            <a:r>
              <a:rPr lang="zh-CN" altLang="en-US" sz="3200">
                <a:solidFill>
                  <a:srgbClr val="FF0000"/>
                </a:solidFill>
                <a:ea typeface="隶书" charset="0"/>
              </a:rPr>
              <a:t>位置</a:t>
            </a:r>
            <a:endParaRPr lang="zh-CN" altLang="en-US" sz="3200"/>
          </a:p>
        </p:txBody>
      </p:sp>
      <p:sp>
        <p:nvSpPr>
          <p:cNvPr id="121934" name="Text Box 1102"/>
          <p:cNvSpPr txBox="1">
            <a:spLocks noChangeArrowheads="1"/>
          </p:cNvSpPr>
          <p:nvPr/>
        </p:nvSpPr>
        <p:spPr bwMode="auto">
          <a:xfrm>
            <a:off x="609600" y="1111250"/>
            <a:ext cx="730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5042"/>
                </a:solidFill>
              </a:rPr>
              <a:t>L.r</a:t>
            </a:r>
            <a:endParaRPr lang="en-US" altLang="zh-CN" sz="3600"/>
          </a:p>
        </p:txBody>
      </p:sp>
      <p:sp>
        <p:nvSpPr>
          <p:cNvPr id="121935" name="Text Box 1103"/>
          <p:cNvSpPr txBox="1">
            <a:spLocks noChangeArrowheads="1"/>
          </p:cNvSpPr>
          <p:nvPr/>
        </p:nvSpPr>
        <p:spPr bwMode="auto">
          <a:xfrm>
            <a:off x="609600" y="3854450"/>
            <a:ext cx="730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5042"/>
                </a:solidFill>
              </a:rPr>
              <a:t>L.r</a:t>
            </a:r>
            <a:endParaRPr lang="en-US" altLang="zh-CN" sz="3600"/>
          </a:p>
        </p:txBody>
      </p:sp>
    </p:spTree>
    <p:extLst>
      <p:ext uri="{BB962C8B-B14F-4D97-AF65-F5344CB8AC3E}">
        <p14:creationId xmlns:p14="http://schemas.microsoft.com/office/powerpoint/2010/main" val="19678221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1927"/>
                                        </p:tgtEl>
                                        <p:attrNameLst>
                                          <p:attrName>style.visibility</p:attrName>
                                        </p:attrNameLst>
                                      </p:cBhvr>
                                      <p:to>
                                        <p:strVal val="visible"/>
                                      </p:to>
                                    </p:set>
                                    <p:anim calcmode="lin" valueType="num">
                                      <p:cBhvr additive="base">
                                        <p:cTn id="7" dur="500" fill="hold"/>
                                        <p:tgtEl>
                                          <p:spTgt spid="121927"/>
                                        </p:tgtEl>
                                        <p:attrNameLst>
                                          <p:attrName>ppt_x</p:attrName>
                                        </p:attrNameLst>
                                      </p:cBhvr>
                                      <p:tavLst>
                                        <p:tav tm="0">
                                          <p:val>
                                            <p:strVal val="0-#ppt_w/2"/>
                                          </p:val>
                                        </p:tav>
                                        <p:tav tm="100000">
                                          <p:val>
                                            <p:strVal val="#ppt_x"/>
                                          </p:val>
                                        </p:tav>
                                      </p:tavLst>
                                    </p:anim>
                                    <p:anim calcmode="lin" valueType="num">
                                      <p:cBhvr additive="base">
                                        <p:cTn id="8" dur="500" fill="hold"/>
                                        <p:tgtEl>
                                          <p:spTgt spid="1219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1934"/>
                                        </p:tgtEl>
                                        <p:attrNameLst>
                                          <p:attrName>style.visibility</p:attrName>
                                        </p:attrNameLst>
                                      </p:cBhvr>
                                      <p:to>
                                        <p:strVal val="visible"/>
                                      </p:to>
                                    </p:set>
                                    <p:anim calcmode="lin" valueType="num">
                                      <p:cBhvr additive="base">
                                        <p:cTn id="13" dur="500" fill="hold"/>
                                        <p:tgtEl>
                                          <p:spTgt spid="121934"/>
                                        </p:tgtEl>
                                        <p:attrNameLst>
                                          <p:attrName>ppt_x</p:attrName>
                                        </p:attrNameLst>
                                      </p:cBhvr>
                                      <p:tavLst>
                                        <p:tav tm="0">
                                          <p:val>
                                            <p:strVal val="0-#ppt_w/2"/>
                                          </p:val>
                                        </p:tav>
                                        <p:tav tm="100000">
                                          <p:val>
                                            <p:strVal val="#ppt_x"/>
                                          </p:val>
                                        </p:tav>
                                      </p:tavLst>
                                    </p:anim>
                                    <p:anim calcmode="lin" valueType="num">
                                      <p:cBhvr additive="base">
                                        <p:cTn id="14" dur="500" fill="hold"/>
                                        <p:tgtEl>
                                          <p:spTgt spid="121934"/>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21858"/>
                                        </p:tgtEl>
                                        <p:attrNameLst>
                                          <p:attrName>style.visibility</p:attrName>
                                        </p:attrNameLst>
                                      </p:cBhvr>
                                      <p:to>
                                        <p:strVal val="visible"/>
                                      </p:to>
                                    </p:set>
                                    <p:animEffect transition="in" filter="wipe(left)">
                                      <p:cBhvr>
                                        <p:cTn id="18" dur="500"/>
                                        <p:tgtEl>
                                          <p:spTgt spid="121858"/>
                                        </p:tgtEl>
                                      </p:cBhvr>
                                    </p:animEffect>
                                  </p:childTnLst>
                                </p:cTn>
                              </p:par>
                            </p:childTnLst>
                          </p:cTn>
                        </p:par>
                        <p:par>
                          <p:cTn id="19" fill="hold" nodeType="afterGroup">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121863"/>
                                        </p:tgtEl>
                                        <p:attrNameLst>
                                          <p:attrName>style.visibility</p:attrName>
                                        </p:attrNameLst>
                                      </p:cBhvr>
                                      <p:to>
                                        <p:strVal val="visible"/>
                                      </p:to>
                                    </p:set>
                                    <p:animEffect transition="in" filter="wipe(left)">
                                      <p:cBhvr>
                                        <p:cTn id="22" dur="500"/>
                                        <p:tgtEl>
                                          <p:spTgt spid="121863"/>
                                        </p:tgtEl>
                                      </p:cBhvr>
                                    </p:animEffect>
                                  </p:childTnLst>
                                </p:cTn>
                              </p:par>
                            </p:childTnLst>
                          </p:cTn>
                        </p:par>
                        <p:par>
                          <p:cTn id="23" fill="hold" nodeType="afterGroup">
                            <p:stCondLst>
                              <p:cond delay="1500"/>
                            </p:stCondLst>
                            <p:childTnLst>
                              <p:par>
                                <p:cTn id="24" presetID="1" presetClass="entr" presetSubtype="0" fill="hold" grpId="0" nodeType="afterEffect">
                                  <p:stCondLst>
                                    <p:cond delay="0"/>
                                  </p:stCondLst>
                                  <p:childTnLst>
                                    <p:set>
                                      <p:cBhvr>
                                        <p:cTn id="25" dur="1" fill="hold">
                                          <p:stCondLst>
                                            <p:cond delay="499"/>
                                          </p:stCondLst>
                                        </p:cTn>
                                        <p:tgtEl>
                                          <p:spTgt spid="121859"/>
                                        </p:tgtEl>
                                        <p:attrNameLst>
                                          <p:attrName>style.visibility</p:attrName>
                                        </p:attrNameLst>
                                      </p:cBhvr>
                                      <p:to>
                                        <p:strVal val="visible"/>
                                      </p:to>
                                    </p:set>
                                  </p:childTnLst>
                                </p:cTn>
                              </p:par>
                            </p:childTnLst>
                          </p:cTn>
                        </p:par>
                        <p:par>
                          <p:cTn id="26" fill="hold" nodeType="afterGroup">
                            <p:stCondLst>
                              <p:cond delay="2000"/>
                            </p:stCondLst>
                            <p:childTnLst>
                              <p:par>
                                <p:cTn id="27" presetID="1" presetClass="entr" presetSubtype="0" fill="hold" grpId="0" nodeType="afterEffect">
                                  <p:stCondLst>
                                    <p:cond delay="0"/>
                                  </p:stCondLst>
                                  <p:childTnLst>
                                    <p:set>
                                      <p:cBhvr>
                                        <p:cTn id="28" dur="1" fill="hold">
                                          <p:stCondLst>
                                            <p:cond delay="499"/>
                                          </p:stCondLst>
                                        </p:cTn>
                                        <p:tgtEl>
                                          <p:spTgt spid="121860"/>
                                        </p:tgtEl>
                                        <p:attrNameLst>
                                          <p:attrName>style.visibility</p:attrName>
                                        </p:attrNameLst>
                                      </p:cBhvr>
                                      <p:to>
                                        <p:strVal val="visible"/>
                                      </p:to>
                                    </p:set>
                                  </p:childTnLst>
                                </p:cTn>
                              </p:par>
                            </p:childTnLst>
                          </p:cTn>
                        </p:par>
                        <p:par>
                          <p:cTn id="29" fill="hold" nodeType="afterGroup">
                            <p:stCondLst>
                              <p:cond delay="2500"/>
                            </p:stCondLst>
                            <p:childTnLst>
                              <p:par>
                                <p:cTn id="30" presetID="1" presetClass="entr" presetSubtype="0" fill="hold" grpId="0" nodeType="afterEffect">
                                  <p:stCondLst>
                                    <p:cond delay="0"/>
                                  </p:stCondLst>
                                  <p:childTnLst>
                                    <p:set>
                                      <p:cBhvr>
                                        <p:cTn id="31" dur="1" fill="hold">
                                          <p:stCondLst>
                                            <p:cond delay="499"/>
                                          </p:stCondLst>
                                        </p:cTn>
                                        <p:tgtEl>
                                          <p:spTgt spid="121861"/>
                                        </p:tgtEl>
                                        <p:attrNameLst>
                                          <p:attrName>style.visibility</p:attrName>
                                        </p:attrNameLst>
                                      </p:cBhvr>
                                      <p:to>
                                        <p:strVal val="visible"/>
                                      </p:to>
                                    </p:set>
                                  </p:childTnLst>
                                </p:cTn>
                              </p:par>
                            </p:childTnLst>
                          </p:cTn>
                        </p:par>
                        <p:par>
                          <p:cTn id="32" fill="hold" nodeType="afterGroup">
                            <p:stCondLst>
                              <p:cond delay="3000"/>
                            </p:stCondLst>
                            <p:childTnLst>
                              <p:par>
                                <p:cTn id="33" presetID="1" presetClass="entr" presetSubtype="0" fill="hold" grpId="0" nodeType="afterEffect">
                                  <p:stCondLst>
                                    <p:cond delay="0"/>
                                  </p:stCondLst>
                                  <p:childTnLst>
                                    <p:set>
                                      <p:cBhvr>
                                        <p:cTn id="34" dur="1" fill="hold">
                                          <p:stCondLst>
                                            <p:cond delay="499"/>
                                          </p:stCondLst>
                                        </p:cTn>
                                        <p:tgtEl>
                                          <p:spTgt spid="121862"/>
                                        </p:tgtEl>
                                        <p:attrNameLst>
                                          <p:attrName>style.visibility</p:attrName>
                                        </p:attrNameLst>
                                      </p:cBhvr>
                                      <p:to>
                                        <p:strVal val="visible"/>
                                      </p:to>
                                    </p:set>
                                  </p:childTnLst>
                                </p:cTn>
                              </p:par>
                            </p:childTnLst>
                          </p:cTn>
                        </p:par>
                        <p:par>
                          <p:cTn id="35" fill="hold" nodeType="afterGroup">
                            <p:stCondLst>
                              <p:cond delay="3500"/>
                            </p:stCondLst>
                            <p:childTnLst>
                              <p:par>
                                <p:cTn id="36" presetID="1" presetClass="entr" presetSubtype="0" fill="hold" grpId="0" nodeType="afterEffect">
                                  <p:stCondLst>
                                    <p:cond delay="0"/>
                                  </p:stCondLst>
                                  <p:childTnLst>
                                    <p:set>
                                      <p:cBhvr>
                                        <p:cTn id="37" dur="1" fill="hold">
                                          <p:stCondLst>
                                            <p:cond delay="499"/>
                                          </p:stCondLst>
                                        </p:cTn>
                                        <p:tgtEl>
                                          <p:spTgt spid="121864"/>
                                        </p:tgtEl>
                                        <p:attrNameLst>
                                          <p:attrName>style.visibility</p:attrName>
                                        </p:attrNameLst>
                                      </p:cBhvr>
                                      <p:to>
                                        <p:strVal val="visible"/>
                                      </p:to>
                                    </p:set>
                                  </p:childTnLst>
                                </p:cTn>
                              </p:par>
                            </p:childTnLst>
                          </p:cTn>
                        </p:par>
                        <p:par>
                          <p:cTn id="38" fill="hold" nodeType="afterGroup">
                            <p:stCondLst>
                              <p:cond delay="4000"/>
                            </p:stCondLst>
                            <p:childTnLst>
                              <p:par>
                                <p:cTn id="39" presetID="1" presetClass="entr" presetSubtype="0" fill="hold" grpId="0" nodeType="afterEffect">
                                  <p:stCondLst>
                                    <p:cond delay="0"/>
                                  </p:stCondLst>
                                  <p:childTnLst>
                                    <p:set>
                                      <p:cBhvr>
                                        <p:cTn id="40" dur="1" fill="hold">
                                          <p:stCondLst>
                                            <p:cond delay="499"/>
                                          </p:stCondLst>
                                        </p:cTn>
                                        <p:tgtEl>
                                          <p:spTgt spid="121865"/>
                                        </p:tgtEl>
                                        <p:attrNameLst>
                                          <p:attrName>style.visibility</p:attrName>
                                        </p:attrNameLst>
                                      </p:cBhvr>
                                      <p:to>
                                        <p:strVal val="visible"/>
                                      </p:to>
                                    </p:set>
                                  </p:childTnLst>
                                </p:cTn>
                              </p:par>
                            </p:childTnLst>
                          </p:cTn>
                        </p:par>
                        <p:par>
                          <p:cTn id="41" fill="hold" nodeType="afterGroup">
                            <p:stCondLst>
                              <p:cond delay="4500"/>
                            </p:stCondLst>
                            <p:childTnLst>
                              <p:par>
                                <p:cTn id="42" presetID="1" presetClass="entr" presetSubtype="0" fill="hold" grpId="0" nodeType="afterEffect">
                                  <p:stCondLst>
                                    <p:cond delay="0"/>
                                  </p:stCondLst>
                                  <p:childTnLst>
                                    <p:set>
                                      <p:cBhvr>
                                        <p:cTn id="43" dur="1" fill="hold">
                                          <p:stCondLst>
                                            <p:cond delay="499"/>
                                          </p:stCondLst>
                                        </p:cTn>
                                        <p:tgtEl>
                                          <p:spTgt spid="121866"/>
                                        </p:tgtEl>
                                        <p:attrNameLst>
                                          <p:attrName>style.visibility</p:attrName>
                                        </p:attrNameLst>
                                      </p:cBhvr>
                                      <p:to>
                                        <p:strVal val="visible"/>
                                      </p:to>
                                    </p:set>
                                  </p:childTnLst>
                                </p:cTn>
                              </p:par>
                            </p:childTnLst>
                          </p:cTn>
                        </p:par>
                        <p:par>
                          <p:cTn id="44" fill="hold" nodeType="afterGroup">
                            <p:stCondLst>
                              <p:cond delay="5000"/>
                            </p:stCondLst>
                            <p:childTnLst>
                              <p:par>
                                <p:cTn id="45" presetID="1" presetClass="entr" presetSubtype="0" fill="hold" grpId="0" nodeType="afterEffect">
                                  <p:stCondLst>
                                    <p:cond delay="0"/>
                                  </p:stCondLst>
                                  <p:childTnLst>
                                    <p:set>
                                      <p:cBhvr>
                                        <p:cTn id="46" dur="1" fill="hold">
                                          <p:stCondLst>
                                            <p:cond delay="499"/>
                                          </p:stCondLst>
                                        </p:cTn>
                                        <p:tgtEl>
                                          <p:spTgt spid="12186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21868"/>
                                        </p:tgtEl>
                                        <p:attrNameLst>
                                          <p:attrName>style.visibility</p:attrName>
                                        </p:attrNameLst>
                                      </p:cBhvr>
                                      <p:to>
                                        <p:strVal val="visible"/>
                                      </p:to>
                                    </p:set>
                                    <p:animEffect transition="in" filter="wipe(up)">
                                      <p:cBhvr>
                                        <p:cTn id="51" dur="500"/>
                                        <p:tgtEl>
                                          <p:spTgt spid="121868"/>
                                        </p:tgtEl>
                                      </p:cBhvr>
                                    </p:animEffect>
                                  </p:childTnLst>
                                </p:cTn>
                              </p:par>
                            </p:childTnLst>
                          </p:cTn>
                        </p:par>
                        <p:par>
                          <p:cTn id="52" fill="hold" nodeType="afterGroup">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121869"/>
                                        </p:tgtEl>
                                        <p:attrNameLst>
                                          <p:attrName>style.visibility</p:attrName>
                                        </p:attrNameLst>
                                      </p:cBhvr>
                                      <p:to>
                                        <p:strVal val="visible"/>
                                      </p:to>
                                    </p:set>
                                    <p:animEffect transition="in" filter="wipe(up)">
                                      <p:cBhvr>
                                        <p:cTn id="55" dur="500"/>
                                        <p:tgtEl>
                                          <p:spTgt spid="12186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21870"/>
                                        </p:tgtEl>
                                        <p:attrNameLst>
                                          <p:attrName>style.visibility</p:attrName>
                                        </p:attrNameLst>
                                      </p:cBhvr>
                                      <p:to>
                                        <p:strVal val="visible"/>
                                      </p:to>
                                    </p:set>
                                    <p:animEffect transition="in" filter="wipe(up)">
                                      <p:cBhvr>
                                        <p:cTn id="60" dur="500"/>
                                        <p:tgtEl>
                                          <p:spTgt spid="121870"/>
                                        </p:tgtEl>
                                      </p:cBhvr>
                                    </p:animEffect>
                                  </p:childTnLst>
                                </p:cTn>
                              </p:par>
                            </p:childTnLst>
                          </p:cTn>
                        </p:par>
                        <p:par>
                          <p:cTn id="61" fill="hold" nodeType="afterGroup">
                            <p:stCondLst>
                              <p:cond delay="500"/>
                            </p:stCondLst>
                            <p:childTnLst>
                              <p:par>
                                <p:cTn id="62" presetID="22" presetClass="entr" presetSubtype="1" fill="hold" grpId="0" nodeType="afterEffect">
                                  <p:stCondLst>
                                    <p:cond delay="0"/>
                                  </p:stCondLst>
                                  <p:childTnLst>
                                    <p:set>
                                      <p:cBhvr>
                                        <p:cTn id="63" dur="1" fill="hold">
                                          <p:stCondLst>
                                            <p:cond delay="0"/>
                                          </p:stCondLst>
                                        </p:cTn>
                                        <p:tgtEl>
                                          <p:spTgt spid="121871"/>
                                        </p:tgtEl>
                                        <p:attrNameLst>
                                          <p:attrName>style.visibility</p:attrName>
                                        </p:attrNameLst>
                                      </p:cBhvr>
                                      <p:to>
                                        <p:strVal val="visible"/>
                                      </p:to>
                                    </p:set>
                                    <p:animEffect transition="in" filter="wipe(up)">
                                      <p:cBhvr>
                                        <p:cTn id="64" dur="500"/>
                                        <p:tgtEl>
                                          <p:spTgt spid="12187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121872"/>
                                        </p:tgtEl>
                                        <p:attrNameLst>
                                          <p:attrName>style.visibility</p:attrName>
                                        </p:attrNameLst>
                                      </p:cBhvr>
                                      <p:to>
                                        <p:strVal val="visible"/>
                                      </p:to>
                                    </p:set>
                                    <p:animEffect transition="in" filter="wipe(up)">
                                      <p:cBhvr>
                                        <p:cTn id="69" dur="500"/>
                                        <p:tgtEl>
                                          <p:spTgt spid="121872"/>
                                        </p:tgtEl>
                                      </p:cBhvr>
                                    </p:animEffect>
                                  </p:childTnLst>
                                </p:cTn>
                              </p:par>
                            </p:childTnLst>
                          </p:cTn>
                        </p:par>
                        <p:par>
                          <p:cTn id="70" fill="hold" nodeType="afterGroup">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121873"/>
                                        </p:tgtEl>
                                        <p:attrNameLst>
                                          <p:attrName>style.visibility</p:attrName>
                                        </p:attrNameLst>
                                      </p:cBhvr>
                                      <p:to>
                                        <p:strVal val="visible"/>
                                      </p:to>
                                    </p:set>
                                    <p:animEffect transition="in" filter="wipe(up)">
                                      <p:cBhvr>
                                        <p:cTn id="73" dur="500"/>
                                        <p:tgtEl>
                                          <p:spTgt spid="12187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121874"/>
                                        </p:tgtEl>
                                        <p:attrNameLst>
                                          <p:attrName>style.visibility</p:attrName>
                                        </p:attrNameLst>
                                      </p:cBhvr>
                                      <p:to>
                                        <p:strVal val="visible"/>
                                      </p:to>
                                    </p:set>
                                    <p:animEffect transition="in" filter="wipe(up)">
                                      <p:cBhvr>
                                        <p:cTn id="78" dur="500"/>
                                        <p:tgtEl>
                                          <p:spTgt spid="121874"/>
                                        </p:tgtEl>
                                      </p:cBhvr>
                                    </p:animEffect>
                                  </p:childTnLst>
                                </p:cTn>
                              </p:par>
                            </p:childTnLst>
                          </p:cTn>
                        </p:par>
                        <p:par>
                          <p:cTn id="79" fill="hold" nodeType="afterGroup">
                            <p:stCondLst>
                              <p:cond delay="500"/>
                            </p:stCondLst>
                            <p:childTnLst>
                              <p:par>
                                <p:cTn id="80" presetID="22" presetClass="entr" presetSubtype="1" fill="hold" grpId="0" nodeType="afterEffect">
                                  <p:stCondLst>
                                    <p:cond delay="0"/>
                                  </p:stCondLst>
                                  <p:childTnLst>
                                    <p:set>
                                      <p:cBhvr>
                                        <p:cTn id="81" dur="1" fill="hold">
                                          <p:stCondLst>
                                            <p:cond delay="0"/>
                                          </p:stCondLst>
                                        </p:cTn>
                                        <p:tgtEl>
                                          <p:spTgt spid="121875"/>
                                        </p:tgtEl>
                                        <p:attrNameLst>
                                          <p:attrName>style.visibility</p:attrName>
                                        </p:attrNameLst>
                                      </p:cBhvr>
                                      <p:to>
                                        <p:strVal val="visible"/>
                                      </p:to>
                                    </p:set>
                                    <p:animEffect transition="in" filter="wipe(up)">
                                      <p:cBhvr>
                                        <p:cTn id="82" dur="500"/>
                                        <p:tgtEl>
                                          <p:spTgt spid="12187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21878"/>
                                        </p:tgtEl>
                                        <p:attrNameLst>
                                          <p:attrName>style.visibility</p:attrName>
                                        </p:attrNameLst>
                                      </p:cBhvr>
                                      <p:to>
                                        <p:strVal val="visible"/>
                                      </p:to>
                                    </p:set>
                                    <p:animEffect transition="in" filter="wipe(up)">
                                      <p:cBhvr>
                                        <p:cTn id="87" dur="500"/>
                                        <p:tgtEl>
                                          <p:spTgt spid="121878"/>
                                        </p:tgtEl>
                                      </p:cBhvr>
                                    </p:animEffect>
                                  </p:childTnLst>
                                </p:cTn>
                              </p:par>
                            </p:childTnLst>
                          </p:cTn>
                        </p:par>
                        <p:par>
                          <p:cTn id="88" fill="hold" nodeType="afterGroup">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121876"/>
                                        </p:tgtEl>
                                        <p:attrNameLst>
                                          <p:attrName>style.visibility</p:attrName>
                                        </p:attrNameLst>
                                      </p:cBhvr>
                                      <p:to>
                                        <p:strVal val="visible"/>
                                      </p:to>
                                    </p:set>
                                    <p:animEffect transition="in" filter="wipe(up)">
                                      <p:cBhvr>
                                        <p:cTn id="91" dur="500"/>
                                        <p:tgtEl>
                                          <p:spTgt spid="121876"/>
                                        </p:tgtEl>
                                      </p:cBhvr>
                                    </p:animEffect>
                                  </p:childTnLst>
                                </p:cTn>
                              </p:par>
                            </p:childTnLst>
                          </p:cTn>
                        </p:par>
                        <p:par>
                          <p:cTn id="92" fill="hold" nodeType="afterGroup">
                            <p:stCondLst>
                              <p:cond delay="1000"/>
                            </p:stCondLst>
                            <p:childTnLst>
                              <p:par>
                                <p:cTn id="93" presetID="22" presetClass="entr" presetSubtype="1" fill="hold" grpId="0" nodeType="afterEffect">
                                  <p:stCondLst>
                                    <p:cond delay="0"/>
                                  </p:stCondLst>
                                  <p:childTnLst>
                                    <p:set>
                                      <p:cBhvr>
                                        <p:cTn id="94" dur="1" fill="hold">
                                          <p:stCondLst>
                                            <p:cond delay="0"/>
                                          </p:stCondLst>
                                        </p:cTn>
                                        <p:tgtEl>
                                          <p:spTgt spid="121886"/>
                                        </p:tgtEl>
                                        <p:attrNameLst>
                                          <p:attrName>style.visibility</p:attrName>
                                        </p:attrNameLst>
                                      </p:cBhvr>
                                      <p:to>
                                        <p:strVal val="visible"/>
                                      </p:to>
                                    </p:set>
                                    <p:animEffect transition="in" filter="wipe(up)">
                                      <p:cBhvr>
                                        <p:cTn id="95" dur="500"/>
                                        <p:tgtEl>
                                          <p:spTgt spid="121886"/>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121881"/>
                                        </p:tgtEl>
                                        <p:attrNameLst>
                                          <p:attrName>style.visibility</p:attrName>
                                        </p:attrNameLst>
                                      </p:cBhvr>
                                      <p:to>
                                        <p:strVal val="visible"/>
                                      </p:to>
                                    </p:set>
                                    <p:animEffect transition="in" filter="wipe(up)">
                                      <p:cBhvr>
                                        <p:cTn id="100" dur="500"/>
                                        <p:tgtEl>
                                          <p:spTgt spid="121881"/>
                                        </p:tgtEl>
                                      </p:cBhvr>
                                    </p:animEffect>
                                  </p:childTnLst>
                                </p:cTn>
                              </p:par>
                            </p:childTnLst>
                          </p:cTn>
                        </p:par>
                        <p:par>
                          <p:cTn id="101" fill="hold" nodeType="afterGroup">
                            <p:stCondLst>
                              <p:cond delay="500"/>
                            </p:stCondLst>
                            <p:childTnLst>
                              <p:par>
                                <p:cTn id="102" presetID="22" presetClass="entr" presetSubtype="1" fill="hold" grpId="0" nodeType="afterEffect">
                                  <p:stCondLst>
                                    <p:cond delay="0"/>
                                  </p:stCondLst>
                                  <p:childTnLst>
                                    <p:set>
                                      <p:cBhvr>
                                        <p:cTn id="103" dur="1" fill="hold">
                                          <p:stCondLst>
                                            <p:cond delay="0"/>
                                          </p:stCondLst>
                                        </p:cTn>
                                        <p:tgtEl>
                                          <p:spTgt spid="121879"/>
                                        </p:tgtEl>
                                        <p:attrNameLst>
                                          <p:attrName>style.visibility</p:attrName>
                                        </p:attrNameLst>
                                      </p:cBhvr>
                                      <p:to>
                                        <p:strVal val="visible"/>
                                      </p:to>
                                    </p:set>
                                    <p:animEffect transition="in" filter="wipe(up)">
                                      <p:cBhvr>
                                        <p:cTn id="104" dur="500"/>
                                        <p:tgtEl>
                                          <p:spTgt spid="121879"/>
                                        </p:tgtEl>
                                      </p:cBhvr>
                                    </p:animEffect>
                                  </p:childTnLst>
                                </p:cTn>
                              </p:par>
                            </p:childTnLst>
                          </p:cTn>
                        </p:par>
                        <p:par>
                          <p:cTn id="105" fill="hold" nodeType="afterGroup">
                            <p:stCondLst>
                              <p:cond delay="1000"/>
                            </p:stCondLst>
                            <p:childTnLst>
                              <p:par>
                                <p:cTn id="106" presetID="22" presetClass="entr" presetSubtype="1" fill="hold" grpId="0" nodeType="afterEffect">
                                  <p:stCondLst>
                                    <p:cond delay="0"/>
                                  </p:stCondLst>
                                  <p:childTnLst>
                                    <p:set>
                                      <p:cBhvr>
                                        <p:cTn id="107" dur="1" fill="hold">
                                          <p:stCondLst>
                                            <p:cond delay="0"/>
                                          </p:stCondLst>
                                        </p:cTn>
                                        <p:tgtEl>
                                          <p:spTgt spid="121880"/>
                                        </p:tgtEl>
                                        <p:attrNameLst>
                                          <p:attrName>style.visibility</p:attrName>
                                        </p:attrNameLst>
                                      </p:cBhvr>
                                      <p:to>
                                        <p:strVal val="visible"/>
                                      </p:to>
                                    </p:set>
                                    <p:animEffect transition="in" filter="wipe(up)">
                                      <p:cBhvr>
                                        <p:cTn id="108" dur="500"/>
                                        <p:tgtEl>
                                          <p:spTgt spid="12188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121887"/>
                                        </p:tgtEl>
                                        <p:attrNameLst>
                                          <p:attrName>style.visibility</p:attrName>
                                        </p:attrNameLst>
                                      </p:cBhvr>
                                      <p:to>
                                        <p:strVal val="visible"/>
                                      </p:to>
                                    </p:set>
                                    <p:animEffect transition="in" filter="wipe(up)">
                                      <p:cBhvr>
                                        <p:cTn id="113" dur="500"/>
                                        <p:tgtEl>
                                          <p:spTgt spid="121887"/>
                                        </p:tgtEl>
                                      </p:cBhvr>
                                    </p:animEffect>
                                  </p:childTnLst>
                                </p:cTn>
                              </p:par>
                            </p:childTnLst>
                          </p:cTn>
                        </p:par>
                        <p:par>
                          <p:cTn id="114" fill="hold" nodeType="afterGroup">
                            <p:stCondLst>
                              <p:cond delay="500"/>
                            </p:stCondLst>
                            <p:childTnLst>
                              <p:par>
                                <p:cTn id="115" presetID="22" presetClass="entr" presetSubtype="1" fill="hold" grpId="0" nodeType="afterEffect">
                                  <p:stCondLst>
                                    <p:cond delay="0"/>
                                  </p:stCondLst>
                                  <p:childTnLst>
                                    <p:set>
                                      <p:cBhvr>
                                        <p:cTn id="116" dur="1" fill="hold">
                                          <p:stCondLst>
                                            <p:cond delay="0"/>
                                          </p:stCondLst>
                                        </p:cTn>
                                        <p:tgtEl>
                                          <p:spTgt spid="121882"/>
                                        </p:tgtEl>
                                        <p:attrNameLst>
                                          <p:attrName>style.visibility</p:attrName>
                                        </p:attrNameLst>
                                      </p:cBhvr>
                                      <p:to>
                                        <p:strVal val="visible"/>
                                      </p:to>
                                    </p:set>
                                    <p:animEffect transition="in" filter="wipe(up)">
                                      <p:cBhvr>
                                        <p:cTn id="117" dur="500"/>
                                        <p:tgtEl>
                                          <p:spTgt spid="121882"/>
                                        </p:tgtEl>
                                      </p:cBhvr>
                                    </p:animEffect>
                                  </p:childTnLst>
                                </p:cTn>
                              </p:par>
                            </p:childTnLst>
                          </p:cTn>
                        </p:par>
                        <p:par>
                          <p:cTn id="118" fill="hold" nodeType="afterGroup">
                            <p:stCondLst>
                              <p:cond delay="1000"/>
                            </p:stCondLst>
                            <p:childTnLst>
                              <p:par>
                                <p:cTn id="119" presetID="22" presetClass="entr" presetSubtype="1" fill="hold" grpId="0" nodeType="afterEffect">
                                  <p:stCondLst>
                                    <p:cond delay="0"/>
                                  </p:stCondLst>
                                  <p:childTnLst>
                                    <p:set>
                                      <p:cBhvr>
                                        <p:cTn id="120" dur="1" fill="hold">
                                          <p:stCondLst>
                                            <p:cond delay="0"/>
                                          </p:stCondLst>
                                        </p:cTn>
                                        <p:tgtEl>
                                          <p:spTgt spid="121883"/>
                                        </p:tgtEl>
                                        <p:attrNameLst>
                                          <p:attrName>style.visibility</p:attrName>
                                        </p:attrNameLst>
                                      </p:cBhvr>
                                      <p:to>
                                        <p:strVal val="visible"/>
                                      </p:to>
                                    </p:set>
                                    <p:animEffect transition="in" filter="wipe(up)">
                                      <p:cBhvr>
                                        <p:cTn id="121" dur="500"/>
                                        <p:tgtEl>
                                          <p:spTgt spid="121883"/>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121890"/>
                                        </p:tgtEl>
                                        <p:attrNameLst>
                                          <p:attrName>style.visibility</p:attrName>
                                        </p:attrNameLst>
                                      </p:cBhvr>
                                      <p:to>
                                        <p:strVal val="visible"/>
                                      </p:to>
                                    </p:set>
                                    <p:animEffect transition="in" filter="wipe(up)">
                                      <p:cBhvr>
                                        <p:cTn id="126" dur="500"/>
                                        <p:tgtEl>
                                          <p:spTgt spid="121890"/>
                                        </p:tgtEl>
                                      </p:cBhvr>
                                    </p:animEffect>
                                  </p:childTnLst>
                                </p:cTn>
                              </p:par>
                            </p:childTnLst>
                          </p:cTn>
                        </p:par>
                        <p:par>
                          <p:cTn id="127" fill="hold" nodeType="afterGroup">
                            <p:stCondLst>
                              <p:cond delay="500"/>
                            </p:stCondLst>
                            <p:childTnLst>
                              <p:par>
                                <p:cTn id="128" presetID="22" presetClass="entr" presetSubtype="1" fill="hold" grpId="0" nodeType="afterEffect">
                                  <p:stCondLst>
                                    <p:cond delay="0"/>
                                  </p:stCondLst>
                                  <p:childTnLst>
                                    <p:set>
                                      <p:cBhvr>
                                        <p:cTn id="129" dur="1" fill="hold">
                                          <p:stCondLst>
                                            <p:cond delay="0"/>
                                          </p:stCondLst>
                                        </p:cTn>
                                        <p:tgtEl>
                                          <p:spTgt spid="121888"/>
                                        </p:tgtEl>
                                        <p:attrNameLst>
                                          <p:attrName>style.visibility</p:attrName>
                                        </p:attrNameLst>
                                      </p:cBhvr>
                                      <p:to>
                                        <p:strVal val="visible"/>
                                      </p:to>
                                    </p:set>
                                    <p:animEffect transition="in" filter="wipe(up)">
                                      <p:cBhvr>
                                        <p:cTn id="130" dur="500"/>
                                        <p:tgtEl>
                                          <p:spTgt spid="121888"/>
                                        </p:tgtEl>
                                      </p:cBhvr>
                                    </p:animEffect>
                                  </p:childTnLst>
                                </p:cTn>
                              </p:par>
                            </p:childTnLst>
                          </p:cTn>
                        </p:par>
                        <p:par>
                          <p:cTn id="131" fill="hold" nodeType="afterGroup">
                            <p:stCondLst>
                              <p:cond delay="1000"/>
                            </p:stCondLst>
                            <p:childTnLst>
                              <p:par>
                                <p:cTn id="132" presetID="22" presetClass="entr" presetSubtype="1" fill="hold" grpId="0" nodeType="afterEffect">
                                  <p:stCondLst>
                                    <p:cond delay="0"/>
                                  </p:stCondLst>
                                  <p:childTnLst>
                                    <p:set>
                                      <p:cBhvr>
                                        <p:cTn id="133" dur="1" fill="hold">
                                          <p:stCondLst>
                                            <p:cond delay="0"/>
                                          </p:stCondLst>
                                        </p:cTn>
                                        <p:tgtEl>
                                          <p:spTgt spid="121889"/>
                                        </p:tgtEl>
                                        <p:attrNameLst>
                                          <p:attrName>style.visibility</p:attrName>
                                        </p:attrNameLst>
                                      </p:cBhvr>
                                      <p:to>
                                        <p:strVal val="visible"/>
                                      </p:to>
                                    </p:set>
                                    <p:animEffect transition="in" filter="wipe(up)">
                                      <p:cBhvr>
                                        <p:cTn id="134" dur="500"/>
                                        <p:tgtEl>
                                          <p:spTgt spid="121889"/>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1" fill="hold" grpId="0" nodeType="clickEffect">
                                  <p:stCondLst>
                                    <p:cond delay="0"/>
                                  </p:stCondLst>
                                  <p:childTnLst>
                                    <p:set>
                                      <p:cBhvr>
                                        <p:cTn id="138" dur="1" fill="hold">
                                          <p:stCondLst>
                                            <p:cond delay="0"/>
                                          </p:stCondLst>
                                        </p:cTn>
                                        <p:tgtEl>
                                          <p:spTgt spid="121893"/>
                                        </p:tgtEl>
                                        <p:attrNameLst>
                                          <p:attrName>style.visibility</p:attrName>
                                        </p:attrNameLst>
                                      </p:cBhvr>
                                      <p:to>
                                        <p:strVal val="visible"/>
                                      </p:to>
                                    </p:set>
                                    <p:animEffect transition="in" filter="wipe(up)">
                                      <p:cBhvr>
                                        <p:cTn id="139" dur="500"/>
                                        <p:tgtEl>
                                          <p:spTgt spid="121893"/>
                                        </p:tgtEl>
                                      </p:cBhvr>
                                    </p:animEffect>
                                  </p:childTnLst>
                                </p:cTn>
                              </p:par>
                            </p:childTnLst>
                          </p:cTn>
                        </p:par>
                        <p:par>
                          <p:cTn id="140" fill="hold" nodeType="afterGroup">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121891"/>
                                        </p:tgtEl>
                                        <p:attrNameLst>
                                          <p:attrName>style.visibility</p:attrName>
                                        </p:attrNameLst>
                                      </p:cBhvr>
                                      <p:to>
                                        <p:strVal val="visible"/>
                                      </p:to>
                                    </p:set>
                                    <p:animEffect transition="in" filter="wipe(up)">
                                      <p:cBhvr>
                                        <p:cTn id="143" dur="500"/>
                                        <p:tgtEl>
                                          <p:spTgt spid="121891"/>
                                        </p:tgtEl>
                                      </p:cBhvr>
                                    </p:animEffect>
                                  </p:childTnLst>
                                </p:cTn>
                              </p:par>
                            </p:childTnLst>
                          </p:cTn>
                        </p:par>
                        <p:par>
                          <p:cTn id="144" fill="hold" nodeType="afterGroup">
                            <p:stCondLst>
                              <p:cond delay="1000"/>
                            </p:stCondLst>
                            <p:childTnLst>
                              <p:par>
                                <p:cTn id="145" presetID="22" presetClass="entr" presetSubtype="1" fill="hold" grpId="0" nodeType="afterEffect">
                                  <p:stCondLst>
                                    <p:cond delay="0"/>
                                  </p:stCondLst>
                                  <p:childTnLst>
                                    <p:set>
                                      <p:cBhvr>
                                        <p:cTn id="146" dur="1" fill="hold">
                                          <p:stCondLst>
                                            <p:cond delay="0"/>
                                          </p:stCondLst>
                                        </p:cTn>
                                        <p:tgtEl>
                                          <p:spTgt spid="121892"/>
                                        </p:tgtEl>
                                        <p:attrNameLst>
                                          <p:attrName>style.visibility</p:attrName>
                                        </p:attrNameLst>
                                      </p:cBhvr>
                                      <p:to>
                                        <p:strVal val="visible"/>
                                      </p:to>
                                    </p:set>
                                    <p:animEffect transition="in" filter="wipe(up)">
                                      <p:cBhvr>
                                        <p:cTn id="147" dur="500"/>
                                        <p:tgtEl>
                                          <p:spTgt spid="12189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21930"/>
                                        </p:tgtEl>
                                        <p:attrNameLst>
                                          <p:attrName>style.visibility</p:attrName>
                                        </p:attrNameLst>
                                      </p:cBhvr>
                                      <p:to>
                                        <p:strVal val="visible"/>
                                      </p:to>
                                    </p:set>
                                    <p:animEffect transition="in" filter="wipe(up)">
                                      <p:cBhvr>
                                        <p:cTn id="152" dur="500"/>
                                        <p:tgtEl>
                                          <p:spTgt spid="121930"/>
                                        </p:tgtEl>
                                      </p:cBhvr>
                                    </p:animEffect>
                                  </p:childTnLst>
                                </p:cTn>
                              </p:par>
                            </p:childTnLst>
                          </p:cTn>
                        </p:par>
                        <p:par>
                          <p:cTn id="153" fill="hold" nodeType="afterGroup">
                            <p:stCondLst>
                              <p:cond delay="500"/>
                            </p:stCondLst>
                            <p:childTnLst>
                              <p:par>
                                <p:cTn id="154" presetID="22" presetClass="entr" presetSubtype="1" fill="hold" grpId="0" nodeType="afterEffect">
                                  <p:stCondLst>
                                    <p:cond delay="0"/>
                                  </p:stCondLst>
                                  <p:childTnLst>
                                    <p:set>
                                      <p:cBhvr>
                                        <p:cTn id="155" dur="1" fill="hold">
                                          <p:stCondLst>
                                            <p:cond delay="0"/>
                                          </p:stCondLst>
                                        </p:cTn>
                                        <p:tgtEl>
                                          <p:spTgt spid="121931"/>
                                        </p:tgtEl>
                                        <p:attrNameLst>
                                          <p:attrName>style.visibility</p:attrName>
                                        </p:attrNameLst>
                                      </p:cBhvr>
                                      <p:to>
                                        <p:strVal val="visible"/>
                                      </p:to>
                                    </p:set>
                                    <p:animEffect transition="in" filter="wipe(up)">
                                      <p:cBhvr>
                                        <p:cTn id="156" dur="500"/>
                                        <p:tgtEl>
                                          <p:spTgt spid="121931"/>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 presetClass="entr" presetSubtype="8" fill="hold" grpId="0" nodeType="clickEffect">
                                  <p:stCondLst>
                                    <p:cond delay="0"/>
                                  </p:stCondLst>
                                  <p:childTnLst>
                                    <p:set>
                                      <p:cBhvr>
                                        <p:cTn id="160" dur="1" fill="hold">
                                          <p:stCondLst>
                                            <p:cond delay="0"/>
                                          </p:stCondLst>
                                        </p:cTn>
                                        <p:tgtEl>
                                          <p:spTgt spid="121928"/>
                                        </p:tgtEl>
                                        <p:attrNameLst>
                                          <p:attrName>style.visibility</p:attrName>
                                        </p:attrNameLst>
                                      </p:cBhvr>
                                      <p:to>
                                        <p:strVal val="visible"/>
                                      </p:to>
                                    </p:set>
                                    <p:anim calcmode="lin" valueType="num">
                                      <p:cBhvr additive="base">
                                        <p:cTn id="161" dur="500" fill="hold"/>
                                        <p:tgtEl>
                                          <p:spTgt spid="121928"/>
                                        </p:tgtEl>
                                        <p:attrNameLst>
                                          <p:attrName>ppt_x</p:attrName>
                                        </p:attrNameLst>
                                      </p:cBhvr>
                                      <p:tavLst>
                                        <p:tav tm="0">
                                          <p:val>
                                            <p:strVal val="0-#ppt_w/2"/>
                                          </p:val>
                                        </p:tav>
                                        <p:tav tm="100000">
                                          <p:val>
                                            <p:strVal val="#ppt_x"/>
                                          </p:val>
                                        </p:tav>
                                      </p:tavLst>
                                    </p:anim>
                                    <p:anim calcmode="lin" valueType="num">
                                      <p:cBhvr additive="base">
                                        <p:cTn id="162" dur="500" fill="hold"/>
                                        <p:tgtEl>
                                          <p:spTgt spid="121928"/>
                                        </p:tgtEl>
                                        <p:attrNameLst>
                                          <p:attrName>ppt_y</p:attrName>
                                        </p:attrNameLst>
                                      </p:cBhvr>
                                      <p:tavLst>
                                        <p:tav tm="0">
                                          <p:val>
                                            <p:strVal val="#ppt_y"/>
                                          </p:val>
                                        </p:tav>
                                        <p:tav tm="100000">
                                          <p:val>
                                            <p:strVal val="#ppt_y"/>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8" fill="hold" grpId="0" nodeType="clickEffect">
                                  <p:stCondLst>
                                    <p:cond delay="0"/>
                                  </p:stCondLst>
                                  <p:childTnLst>
                                    <p:set>
                                      <p:cBhvr>
                                        <p:cTn id="166" dur="1" fill="hold">
                                          <p:stCondLst>
                                            <p:cond delay="0"/>
                                          </p:stCondLst>
                                        </p:cTn>
                                        <p:tgtEl>
                                          <p:spTgt spid="121935"/>
                                        </p:tgtEl>
                                        <p:attrNameLst>
                                          <p:attrName>style.visibility</p:attrName>
                                        </p:attrNameLst>
                                      </p:cBhvr>
                                      <p:to>
                                        <p:strVal val="visible"/>
                                      </p:to>
                                    </p:set>
                                    <p:anim calcmode="lin" valueType="num">
                                      <p:cBhvr additive="base">
                                        <p:cTn id="167" dur="500" fill="hold"/>
                                        <p:tgtEl>
                                          <p:spTgt spid="121935"/>
                                        </p:tgtEl>
                                        <p:attrNameLst>
                                          <p:attrName>ppt_x</p:attrName>
                                        </p:attrNameLst>
                                      </p:cBhvr>
                                      <p:tavLst>
                                        <p:tav tm="0">
                                          <p:val>
                                            <p:strVal val="0-#ppt_w/2"/>
                                          </p:val>
                                        </p:tav>
                                        <p:tav tm="100000">
                                          <p:val>
                                            <p:strVal val="#ppt_x"/>
                                          </p:val>
                                        </p:tav>
                                      </p:tavLst>
                                    </p:anim>
                                    <p:anim calcmode="lin" valueType="num">
                                      <p:cBhvr additive="base">
                                        <p:cTn id="168" dur="500" fill="hold"/>
                                        <p:tgtEl>
                                          <p:spTgt spid="121935"/>
                                        </p:tgtEl>
                                        <p:attrNameLst>
                                          <p:attrName>ppt_y</p:attrName>
                                        </p:attrNameLst>
                                      </p:cBhvr>
                                      <p:tavLst>
                                        <p:tav tm="0">
                                          <p:val>
                                            <p:strVal val="#ppt_y"/>
                                          </p:val>
                                        </p:tav>
                                        <p:tav tm="100000">
                                          <p:val>
                                            <p:strVal val="#ppt_y"/>
                                          </p:val>
                                        </p:tav>
                                      </p:tavLst>
                                    </p:anim>
                                  </p:childTnLst>
                                </p:cTn>
                              </p:par>
                            </p:childTnLst>
                          </p:cTn>
                        </p:par>
                        <p:par>
                          <p:cTn id="169" fill="hold" nodeType="afterGroup">
                            <p:stCondLst>
                              <p:cond delay="500"/>
                            </p:stCondLst>
                            <p:childTnLst>
                              <p:par>
                                <p:cTn id="170" presetID="22" presetClass="entr" presetSubtype="8" fill="hold" grpId="0" nodeType="afterEffect">
                                  <p:stCondLst>
                                    <p:cond delay="0"/>
                                  </p:stCondLst>
                                  <p:childTnLst>
                                    <p:set>
                                      <p:cBhvr>
                                        <p:cTn id="171" dur="1" fill="hold">
                                          <p:stCondLst>
                                            <p:cond delay="0"/>
                                          </p:stCondLst>
                                        </p:cTn>
                                        <p:tgtEl>
                                          <p:spTgt spid="121894"/>
                                        </p:tgtEl>
                                        <p:attrNameLst>
                                          <p:attrName>style.visibility</p:attrName>
                                        </p:attrNameLst>
                                      </p:cBhvr>
                                      <p:to>
                                        <p:strVal val="visible"/>
                                      </p:to>
                                    </p:set>
                                    <p:animEffect transition="in" filter="wipe(left)">
                                      <p:cBhvr>
                                        <p:cTn id="172" dur="500"/>
                                        <p:tgtEl>
                                          <p:spTgt spid="121894"/>
                                        </p:tgtEl>
                                      </p:cBhvr>
                                    </p:animEffect>
                                  </p:childTnLst>
                                </p:cTn>
                              </p:par>
                            </p:childTnLst>
                          </p:cTn>
                        </p:par>
                        <p:par>
                          <p:cTn id="173" fill="hold" nodeType="afterGroup">
                            <p:stCondLst>
                              <p:cond delay="1000"/>
                            </p:stCondLst>
                            <p:childTnLst>
                              <p:par>
                                <p:cTn id="174" presetID="22" presetClass="entr" presetSubtype="8" fill="hold" grpId="0" nodeType="afterEffect">
                                  <p:stCondLst>
                                    <p:cond delay="0"/>
                                  </p:stCondLst>
                                  <p:childTnLst>
                                    <p:set>
                                      <p:cBhvr>
                                        <p:cTn id="175" dur="1" fill="hold">
                                          <p:stCondLst>
                                            <p:cond delay="0"/>
                                          </p:stCondLst>
                                        </p:cTn>
                                        <p:tgtEl>
                                          <p:spTgt spid="121901"/>
                                        </p:tgtEl>
                                        <p:attrNameLst>
                                          <p:attrName>style.visibility</p:attrName>
                                        </p:attrNameLst>
                                      </p:cBhvr>
                                      <p:to>
                                        <p:strVal val="visible"/>
                                      </p:to>
                                    </p:set>
                                    <p:animEffect transition="in" filter="wipe(left)">
                                      <p:cBhvr>
                                        <p:cTn id="176" dur="500"/>
                                        <p:tgtEl>
                                          <p:spTgt spid="121901"/>
                                        </p:tgtEl>
                                      </p:cBhvr>
                                    </p:animEffect>
                                  </p:childTnLst>
                                </p:cTn>
                              </p:par>
                            </p:childTnLst>
                          </p:cTn>
                        </p:par>
                        <p:par>
                          <p:cTn id="177" fill="hold" nodeType="afterGroup">
                            <p:stCondLst>
                              <p:cond delay="1500"/>
                            </p:stCondLst>
                            <p:childTnLst>
                              <p:par>
                                <p:cTn id="178" presetID="1" presetClass="entr" presetSubtype="0" fill="hold" grpId="0" nodeType="afterEffect">
                                  <p:stCondLst>
                                    <p:cond delay="0"/>
                                  </p:stCondLst>
                                  <p:childTnLst>
                                    <p:set>
                                      <p:cBhvr>
                                        <p:cTn id="179" dur="1" fill="hold">
                                          <p:stCondLst>
                                            <p:cond delay="499"/>
                                          </p:stCondLst>
                                        </p:cTn>
                                        <p:tgtEl>
                                          <p:spTgt spid="121895"/>
                                        </p:tgtEl>
                                        <p:attrNameLst>
                                          <p:attrName>style.visibility</p:attrName>
                                        </p:attrNameLst>
                                      </p:cBhvr>
                                      <p:to>
                                        <p:strVal val="visible"/>
                                      </p:to>
                                    </p:set>
                                  </p:childTnLst>
                                </p:cTn>
                              </p:par>
                            </p:childTnLst>
                          </p:cTn>
                        </p:par>
                        <p:par>
                          <p:cTn id="180" fill="hold" nodeType="afterGroup">
                            <p:stCondLst>
                              <p:cond delay="2000"/>
                            </p:stCondLst>
                            <p:childTnLst>
                              <p:par>
                                <p:cTn id="181" presetID="1" presetClass="entr" presetSubtype="0" fill="hold" grpId="0" nodeType="afterEffect">
                                  <p:stCondLst>
                                    <p:cond delay="0"/>
                                  </p:stCondLst>
                                  <p:childTnLst>
                                    <p:set>
                                      <p:cBhvr>
                                        <p:cTn id="182" dur="1" fill="hold">
                                          <p:stCondLst>
                                            <p:cond delay="499"/>
                                          </p:stCondLst>
                                        </p:cTn>
                                        <p:tgtEl>
                                          <p:spTgt spid="121896"/>
                                        </p:tgtEl>
                                        <p:attrNameLst>
                                          <p:attrName>style.visibility</p:attrName>
                                        </p:attrNameLst>
                                      </p:cBhvr>
                                      <p:to>
                                        <p:strVal val="visible"/>
                                      </p:to>
                                    </p:set>
                                  </p:childTnLst>
                                </p:cTn>
                              </p:par>
                            </p:childTnLst>
                          </p:cTn>
                        </p:par>
                        <p:par>
                          <p:cTn id="183" fill="hold" nodeType="afterGroup">
                            <p:stCondLst>
                              <p:cond delay="2500"/>
                            </p:stCondLst>
                            <p:childTnLst>
                              <p:par>
                                <p:cTn id="184" presetID="1" presetClass="entr" presetSubtype="0" fill="hold" grpId="0" nodeType="afterEffect">
                                  <p:stCondLst>
                                    <p:cond delay="0"/>
                                  </p:stCondLst>
                                  <p:childTnLst>
                                    <p:set>
                                      <p:cBhvr>
                                        <p:cTn id="185" dur="1" fill="hold">
                                          <p:stCondLst>
                                            <p:cond delay="499"/>
                                          </p:stCondLst>
                                        </p:cTn>
                                        <p:tgtEl>
                                          <p:spTgt spid="121897"/>
                                        </p:tgtEl>
                                        <p:attrNameLst>
                                          <p:attrName>style.visibility</p:attrName>
                                        </p:attrNameLst>
                                      </p:cBhvr>
                                      <p:to>
                                        <p:strVal val="visible"/>
                                      </p:to>
                                    </p:set>
                                  </p:childTnLst>
                                </p:cTn>
                              </p:par>
                            </p:childTnLst>
                          </p:cTn>
                        </p:par>
                        <p:par>
                          <p:cTn id="186" fill="hold" nodeType="afterGroup">
                            <p:stCondLst>
                              <p:cond delay="3000"/>
                            </p:stCondLst>
                            <p:childTnLst>
                              <p:par>
                                <p:cTn id="187" presetID="1" presetClass="entr" presetSubtype="0" fill="hold" grpId="0" nodeType="afterEffect">
                                  <p:stCondLst>
                                    <p:cond delay="0"/>
                                  </p:stCondLst>
                                  <p:childTnLst>
                                    <p:set>
                                      <p:cBhvr>
                                        <p:cTn id="188" dur="1" fill="hold">
                                          <p:stCondLst>
                                            <p:cond delay="499"/>
                                          </p:stCondLst>
                                        </p:cTn>
                                        <p:tgtEl>
                                          <p:spTgt spid="121898"/>
                                        </p:tgtEl>
                                        <p:attrNameLst>
                                          <p:attrName>style.visibility</p:attrName>
                                        </p:attrNameLst>
                                      </p:cBhvr>
                                      <p:to>
                                        <p:strVal val="visible"/>
                                      </p:to>
                                    </p:set>
                                  </p:childTnLst>
                                </p:cTn>
                              </p:par>
                            </p:childTnLst>
                          </p:cTn>
                        </p:par>
                        <p:par>
                          <p:cTn id="189" fill="hold" nodeType="afterGroup">
                            <p:stCondLst>
                              <p:cond delay="3500"/>
                            </p:stCondLst>
                            <p:childTnLst>
                              <p:par>
                                <p:cTn id="190" presetID="1" presetClass="entr" presetSubtype="0" fill="hold" grpId="0" nodeType="afterEffect">
                                  <p:stCondLst>
                                    <p:cond delay="0"/>
                                  </p:stCondLst>
                                  <p:childTnLst>
                                    <p:set>
                                      <p:cBhvr>
                                        <p:cTn id="191" dur="1" fill="hold">
                                          <p:stCondLst>
                                            <p:cond delay="499"/>
                                          </p:stCondLst>
                                        </p:cTn>
                                        <p:tgtEl>
                                          <p:spTgt spid="121899"/>
                                        </p:tgtEl>
                                        <p:attrNameLst>
                                          <p:attrName>style.visibility</p:attrName>
                                        </p:attrNameLst>
                                      </p:cBhvr>
                                      <p:to>
                                        <p:strVal val="visible"/>
                                      </p:to>
                                    </p:set>
                                  </p:childTnLst>
                                </p:cTn>
                              </p:par>
                            </p:childTnLst>
                          </p:cTn>
                        </p:par>
                        <p:par>
                          <p:cTn id="192" fill="hold" nodeType="afterGroup">
                            <p:stCondLst>
                              <p:cond delay="4000"/>
                            </p:stCondLst>
                            <p:childTnLst>
                              <p:par>
                                <p:cTn id="193" presetID="1" presetClass="entr" presetSubtype="0" fill="hold" grpId="0" nodeType="afterEffect">
                                  <p:stCondLst>
                                    <p:cond delay="0"/>
                                  </p:stCondLst>
                                  <p:childTnLst>
                                    <p:set>
                                      <p:cBhvr>
                                        <p:cTn id="194" dur="1" fill="hold">
                                          <p:stCondLst>
                                            <p:cond delay="499"/>
                                          </p:stCondLst>
                                        </p:cTn>
                                        <p:tgtEl>
                                          <p:spTgt spid="121900"/>
                                        </p:tgtEl>
                                        <p:attrNameLst>
                                          <p:attrName>style.visibility</p:attrName>
                                        </p:attrNameLst>
                                      </p:cBhvr>
                                      <p:to>
                                        <p:strVal val="visible"/>
                                      </p:to>
                                    </p:set>
                                  </p:childTnLst>
                                </p:cTn>
                              </p:par>
                            </p:childTnLst>
                          </p:cTn>
                        </p:par>
                        <p:par>
                          <p:cTn id="195" fill="hold" nodeType="afterGroup">
                            <p:stCondLst>
                              <p:cond delay="4500"/>
                            </p:stCondLst>
                            <p:childTnLst>
                              <p:par>
                                <p:cTn id="196" presetID="1" presetClass="entr" presetSubtype="0" fill="hold" grpId="0" nodeType="afterEffect">
                                  <p:stCondLst>
                                    <p:cond delay="0"/>
                                  </p:stCondLst>
                                  <p:childTnLst>
                                    <p:set>
                                      <p:cBhvr>
                                        <p:cTn id="197" dur="1" fill="hold">
                                          <p:stCondLst>
                                            <p:cond delay="499"/>
                                          </p:stCondLst>
                                        </p:cTn>
                                        <p:tgtEl>
                                          <p:spTgt spid="121902"/>
                                        </p:tgtEl>
                                        <p:attrNameLst>
                                          <p:attrName>style.visibility</p:attrName>
                                        </p:attrNameLst>
                                      </p:cBhvr>
                                      <p:to>
                                        <p:strVal val="visible"/>
                                      </p:to>
                                    </p:set>
                                  </p:childTnLst>
                                </p:cTn>
                              </p:par>
                            </p:childTnLst>
                          </p:cTn>
                        </p:par>
                        <p:par>
                          <p:cTn id="198" fill="hold" nodeType="afterGroup">
                            <p:stCondLst>
                              <p:cond delay="5000"/>
                            </p:stCondLst>
                            <p:childTnLst>
                              <p:par>
                                <p:cTn id="199" presetID="1" presetClass="entr" presetSubtype="0" fill="hold" grpId="0" nodeType="afterEffect">
                                  <p:stCondLst>
                                    <p:cond delay="0"/>
                                  </p:stCondLst>
                                  <p:childTnLst>
                                    <p:set>
                                      <p:cBhvr>
                                        <p:cTn id="200" dur="1" fill="hold">
                                          <p:stCondLst>
                                            <p:cond delay="499"/>
                                          </p:stCondLst>
                                        </p:cTn>
                                        <p:tgtEl>
                                          <p:spTgt spid="121903"/>
                                        </p:tgtEl>
                                        <p:attrNameLst>
                                          <p:attrName>style.visibility</p:attrName>
                                        </p:attrNameLst>
                                      </p:cBhvr>
                                      <p:to>
                                        <p:strVal val="visible"/>
                                      </p:to>
                                    </p:se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1" fill="hold" grpId="0" nodeType="clickEffect">
                                  <p:stCondLst>
                                    <p:cond delay="0"/>
                                  </p:stCondLst>
                                  <p:childTnLst>
                                    <p:set>
                                      <p:cBhvr>
                                        <p:cTn id="204" dur="1" fill="hold">
                                          <p:stCondLst>
                                            <p:cond delay="0"/>
                                          </p:stCondLst>
                                        </p:cTn>
                                        <p:tgtEl>
                                          <p:spTgt spid="121904"/>
                                        </p:tgtEl>
                                        <p:attrNameLst>
                                          <p:attrName>style.visibility</p:attrName>
                                        </p:attrNameLst>
                                      </p:cBhvr>
                                      <p:to>
                                        <p:strVal val="visible"/>
                                      </p:to>
                                    </p:set>
                                    <p:animEffect transition="in" filter="wipe(up)">
                                      <p:cBhvr>
                                        <p:cTn id="205" dur="500"/>
                                        <p:tgtEl>
                                          <p:spTgt spid="121904"/>
                                        </p:tgtEl>
                                      </p:cBhvr>
                                    </p:animEffect>
                                  </p:childTnLst>
                                </p:cTn>
                              </p:par>
                            </p:childTnLst>
                          </p:cTn>
                        </p:par>
                        <p:par>
                          <p:cTn id="206" fill="hold" nodeType="afterGroup">
                            <p:stCondLst>
                              <p:cond delay="500"/>
                            </p:stCondLst>
                            <p:childTnLst>
                              <p:par>
                                <p:cTn id="207" presetID="22" presetClass="entr" presetSubtype="1" fill="hold" grpId="0" nodeType="afterEffect">
                                  <p:stCondLst>
                                    <p:cond delay="0"/>
                                  </p:stCondLst>
                                  <p:childTnLst>
                                    <p:set>
                                      <p:cBhvr>
                                        <p:cTn id="208" dur="1" fill="hold">
                                          <p:stCondLst>
                                            <p:cond delay="0"/>
                                          </p:stCondLst>
                                        </p:cTn>
                                        <p:tgtEl>
                                          <p:spTgt spid="121905"/>
                                        </p:tgtEl>
                                        <p:attrNameLst>
                                          <p:attrName>style.visibility</p:attrName>
                                        </p:attrNameLst>
                                      </p:cBhvr>
                                      <p:to>
                                        <p:strVal val="visible"/>
                                      </p:to>
                                    </p:set>
                                    <p:animEffect transition="in" filter="wipe(up)">
                                      <p:cBhvr>
                                        <p:cTn id="209" dur="500"/>
                                        <p:tgtEl>
                                          <p:spTgt spid="121905"/>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22" presetClass="entr" presetSubtype="1" fill="hold" grpId="0" nodeType="clickEffect">
                                  <p:stCondLst>
                                    <p:cond delay="0"/>
                                  </p:stCondLst>
                                  <p:childTnLst>
                                    <p:set>
                                      <p:cBhvr>
                                        <p:cTn id="213" dur="1" fill="hold">
                                          <p:stCondLst>
                                            <p:cond delay="0"/>
                                          </p:stCondLst>
                                        </p:cTn>
                                        <p:tgtEl>
                                          <p:spTgt spid="121906"/>
                                        </p:tgtEl>
                                        <p:attrNameLst>
                                          <p:attrName>style.visibility</p:attrName>
                                        </p:attrNameLst>
                                      </p:cBhvr>
                                      <p:to>
                                        <p:strVal val="visible"/>
                                      </p:to>
                                    </p:set>
                                    <p:animEffect transition="in" filter="wipe(up)">
                                      <p:cBhvr>
                                        <p:cTn id="214" dur="500"/>
                                        <p:tgtEl>
                                          <p:spTgt spid="121906"/>
                                        </p:tgtEl>
                                      </p:cBhvr>
                                    </p:animEffect>
                                  </p:childTnLst>
                                </p:cTn>
                              </p:par>
                            </p:childTnLst>
                          </p:cTn>
                        </p:par>
                        <p:par>
                          <p:cTn id="215" fill="hold" nodeType="afterGroup">
                            <p:stCondLst>
                              <p:cond delay="500"/>
                            </p:stCondLst>
                            <p:childTnLst>
                              <p:par>
                                <p:cTn id="216" presetID="22" presetClass="entr" presetSubtype="1" fill="hold" grpId="0" nodeType="afterEffect">
                                  <p:stCondLst>
                                    <p:cond delay="0"/>
                                  </p:stCondLst>
                                  <p:childTnLst>
                                    <p:set>
                                      <p:cBhvr>
                                        <p:cTn id="217" dur="1" fill="hold">
                                          <p:stCondLst>
                                            <p:cond delay="0"/>
                                          </p:stCondLst>
                                        </p:cTn>
                                        <p:tgtEl>
                                          <p:spTgt spid="121907"/>
                                        </p:tgtEl>
                                        <p:attrNameLst>
                                          <p:attrName>style.visibility</p:attrName>
                                        </p:attrNameLst>
                                      </p:cBhvr>
                                      <p:to>
                                        <p:strVal val="visible"/>
                                      </p:to>
                                    </p:set>
                                    <p:animEffect transition="in" filter="wipe(up)">
                                      <p:cBhvr>
                                        <p:cTn id="218" dur="500"/>
                                        <p:tgtEl>
                                          <p:spTgt spid="121907"/>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2" presetClass="entr" presetSubtype="1" fill="hold" grpId="0" nodeType="clickEffect">
                                  <p:stCondLst>
                                    <p:cond delay="0"/>
                                  </p:stCondLst>
                                  <p:childTnLst>
                                    <p:set>
                                      <p:cBhvr>
                                        <p:cTn id="222" dur="1" fill="hold">
                                          <p:stCondLst>
                                            <p:cond delay="0"/>
                                          </p:stCondLst>
                                        </p:cTn>
                                        <p:tgtEl>
                                          <p:spTgt spid="121908"/>
                                        </p:tgtEl>
                                        <p:attrNameLst>
                                          <p:attrName>style.visibility</p:attrName>
                                        </p:attrNameLst>
                                      </p:cBhvr>
                                      <p:to>
                                        <p:strVal val="visible"/>
                                      </p:to>
                                    </p:set>
                                    <p:animEffect transition="in" filter="wipe(up)">
                                      <p:cBhvr>
                                        <p:cTn id="223" dur="500"/>
                                        <p:tgtEl>
                                          <p:spTgt spid="121908"/>
                                        </p:tgtEl>
                                      </p:cBhvr>
                                    </p:animEffect>
                                  </p:childTnLst>
                                </p:cTn>
                              </p:par>
                            </p:childTnLst>
                          </p:cTn>
                        </p:par>
                        <p:par>
                          <p:cTn id="224" fill="hold" nodeType="afterGroup">
                            <p:stCondLst>
                              <p:cond delay="500"/>
                            </p:stCondLst>
                            <p:childTnLst>
                              <p:par>
                                <p:cTn id="225" presetID="22" presetClass="entr" presetSubtype="1" fill="hold" grpId="0" nodeType="afterEffect">
                                  <p:stCondLst>
                                    <p:cond delay="0"/>
                                  </p:stCondLst>
                                  <p:childTnLst>
                                    <p:set>
                                      <p:cBhvr>
                                        <p:cTn id="226" dur="1" fill="hold">
                                          <p:stCondLst>
                                            <p:cond delay="0"/>
                                          </p:stCondLst>
                                        </p:cTn>
                                        <p:tgtEl>
                                          <p:spTgt spid="121909"/>
                                        </p:tgtEl>
                                        <p:attrNameLst>
                                          <p:attrName>style.visibility</p:attrName>
                                        </p:attrNameLst>
                                      </p:cBhvr>
                                      <p:to>
                                        <p:strVal val="visible"/>
                                      </p:to>
                                    </p:set>
                                    <p:animEffect transition="in" filter="wipe(up)">
                                      <p:cBhvr>
                                        <p:cTn id="227" dur="500"/>
                                        <p:tgtEl>
                                          <p:spTgt spid="121909"/>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2" presetClass="entr" presetSubtype="1" fill="hold" grpId="0" nodeType="clickEffect">
                                  <p:stCondLst>
                                    <p:cond delay="0"/>
                                  </p:stCondLst>
                                  <p:childTnLst>
                                    <p:set>
                                      <p:cBhvr>
                                        <p:cTn id="231" dur="1" fill="hold">
                                          <p:stCondLst>
                                            <p:cond delay="0"/>
                                          </p:stCondLst>
                                        </p:cTn>
                                        <p:tgtEl>
                                          <p:spTgt spid="121910"/>
                                        </p:tgtEl>
                                        <p:attrNameLst>
                                          <p:attrName>style.visibility</p:attrName>
                                        </p:attrNameLst>
                                      </p:cBhvr>
                                      <p:to>
                                        <p:strVal val="visible"/>
                                      </p:to>
                                    </p:set>
                                    <p:animEffect transition="in" filter="wipe(up)">
                                      <p:cBhvr>
                                        <p:cTn id="232" dur="500"/>
                                        <p:tgtEl>
                                          <p:spTgt spid="121910"/>
                                        </p:tgtEl>
                                      </p:cBhvr>
                                    </p:animEffect>
                                  </p:childTnLst>
                                </p:cTn>
                              </p:par>
                            </p:childTnLst>
                          </p:cTn>
                        </p:par>
                        <p:par>
                          <p:cTn id="233" fill="hold" nodeType="afterGroup">
                            <p:stCondLst>
                              <p:cond delay="500"/>
                            </p:stCondLst>
                            <p:childTnLst>
                              <p:par>
                                <p:cTn id="234" presetID="22" presetClass="entr" presetSubtype="1" fill="hold" grpId="0" nodeType="afterEffect">
                                  <p:stCondLst>
                                    <p:cond delay="0"/>
                                  </p:stCondLst>
                                  <p:childTnLst>
                                    <p:set>
                                      <p:cBhvr>
                                        <p:cTn id="235" dur="1" fill="hold">
                                          <p:stCondLst>
                                            <p:cond delay="0"/>
                                          </p:stCondLst>
                                        </p:cTn>
                                        <p:tgtEl>
                                          <p:spTgt spid="121911"/>
                                        </p:tgtEl>
                                        <p:attrNameLst>
                                          <p:attrName>style.visibility</p:attrName>
                                        </p:attrNameLst>
                                      </p:cBhvr>
                                      <p:to>
                                        <p:strVal val="visible"/>
                                      </p:to>
                                    </p:set>
                                    <p:animEffect transition="in" filter="wipe(up)">
                                      <p:cBhvr>
                                        <p:cTn id="236" dur="500"/>
                                        <p:tgtEl>
                                          <p:spTgt spid="121911"/>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2" presetClass="entr" presetSubtype="1" fill="hold" grpId="0" nodeType="clickEffect">
                                  <p:stCondLst>
                                    <p:cond delay="0"/>
                                  </p:stCondLst>
                                  <p:childTnLst>
                                    <p:set>
                                      <p:cBhvr>
                                        <p:cTn id="240" dur="1" fill="hold">
                                          <p:stCondLst>
                                            <p:cond delay="0"/>
                                          </p:stCondLst>
                                        </p:cTn>
                                        <p:tgtEl>
                                          <p:spTgt spid="121914"/>
                                        </p:tgtEl>
                                        <p:attrNameLst>
                                          <p:attrName>style.visibility</p:attrName>
                                        </p:attrNameLst>
                                      </p:cBhvr>
                                      <p:to>
                                        <p:strVal val="visible"/>
                                      </p:to>
                                    </p:set>
                                    <p:animEffect transition="in" filter="wipe(up)">
                                      <p:cBhvr>
                                        <p:cTn id="241" dur="500"/>
                                        <p:tgtEl>
                                          <p:spTgt spid="121914"/>
                                        </p:tgtEl>
                                      </p:cBhvr>
                                    </p:animEffect>
                                  </p:childTnLst>
                                </p:cTn>
                              </p:par>
                            </p:childTnLst>
                          </p:cTn>
                        </p:par>
                        <p:par>
                          <p:cTn id="242" fill="hold" nodeType="afterGroup">
                            <p:stCondLst>
                              <p:cond delay="500"/>
                            </p:stCondLst>
                            <p:childTnLst>
                              <p:par>
                                <p:cTn id="243" presetID="22" presetClass="entr" presetSubtype="1" fill="hold" grpId="0" nodeType="afterEffect">
                                  <p:stCondLst>
                                    <p:cond delay="0"/>
                                  </p:stCondLst>
                                  <p:childTnLst>
                                    <p:set>
                                      <p:cBhvr>
                                        <p:cTn id="244" dur="1" fill="hold">
                                          <p:stCondLst>
                                            <p:cond delay="0"/>
                                          </p:stCondLst>
                                        </p:cTn>
                                        <p:tgtEl>
                                          <p:spTgt spid="121912"/>
                                        </p:tgtEl>
                                        <p:attrNameLst>
                                          <p:attrName>style.visibility</p:attrName>
                                        </p:attrNameLst>
                                      </p:cBhvr>
                                      <p:to>
                                        <p:strVal val="visible"/>
                                      </p:to>
                                    </p:set>
                                    <p:animEffect transition="in" filter="wipe(up)">
                                      <p:cBhvr>
                                        <p:cTn id="245" dur="500"/>
                                        <p:tgtEl>
                                          <p:spTgt spid="121912"/>
                                        </p:tgtEl>
                                      </p:cBhvr>
                                    </p:animEffect>
                                  </p:childTnLst>
                                </p:cTn>
                              </p:par>
                            </p:childTnLst>
                          </p:cTn>
                        </p:par>
                        <p:par>
                          <p:cTn id="246" fill="hold" nodeType="afterGroup">
                            <p:stCondLst>
                              <p:cond delay="1000"/>
                            </p:stCondLst>
                            <p:childTnLst>
                              <p:par>
                                <p:cTn id="247" presetID="22" presetClass="entr" presetSubtype="1" fill="hold" grpId="0" nodeType="afterEffect">
                                  <p:stCondLst>
                                    <p:cond delay="0"/>
                                  </p:stCondLst>
                                  <p:childTnLst>
                                    <p:set>
                                      <p:cBhvr>
                                        <p:cTn id="248" dur="1" fill="hold">
                                          <p:stCondLst>
                                            <p:cond delay="0"/>
                                          </p:stCondLst>
                                        </p:cTn>
                                        <p:tgtEl>
                                          <p:spTgt spid="121913"/>
                                        </p:tgtEl>
                                        <p:attrNameLst>
                                          <p:attrName>style.visibility</p:attrName>
                                        </p:attrNameLst>
                                      </p:cBhvr>
                                      <p:to>
                                        <p:strVal val="visible"/>
                                      </p:to>
                                    </p:set>
                                    <p:animEffect transition="in" filter="wipe(up)">
                                      <p:cBhvr>
                                        <p:cTn id="249" dur="500"/>
                                        <p:tgtEl>
                                          <p:spTgt spid="121913"/>
                                        </p:tgtEl>
                                      </p:cBhvr>
                                    </p:animEffect>
                                  </p:childTnLst>
                                </p:cTn>
                              </p:par>
                            </p:childTnLst>
                          </p:cTn>
                        </p:par>
                      </p:childTnLst>
                    </p:cTn>
                  </p:par>
                  <p:par>
                    <p:cTn id="250" fill="hold" nodeType="clickPar">
                      <p:stCondLst>
                        <p:cond delay="indefinite"/>
                      </p:stCondLst>
                      <p:childTnLst>
                        <p:par>
                          <p:cTn id="251" fill="hold" nodeType="withGroup">
                            <p:stCondLst>
                              <p:cond delay="0"/>
                            </p:stCondLst>
                            <p:childTnLst>
                              <p:par>
                                <p:cTn id="252" presetID="22" presetClass="entr" presetSubtype="1" fill="hold" grpId="0" nodeType="clickEffect">
                                  <p:stCondLst>
                                    <p:cond delay="0"/>
                                  </p:stCondLst>
                                  <p:childTnLst>
                                    <p:set>
                                      <p:cBhvr>
                                        <p:cTn id="253" dur="1" fill="hold">
                                          <p:stCondLst>
                                            <p:cond delay="0"/>
                                          </p:stCondLst>
                                        </p:cTn>
                                        <p:tgtEl>
                                          <p:spTgt spid="121919"/>
                                        </p:tgtEl>
                                        <p:attrNameLst>
                                          <p:attrName>style.visibility</p:attrName>
                                        </p:attrNameLst>
                                      </p:cBhvr>
                                      <p:to>
                                        <p:strVal val="visible"/>
                                      </p:to>
                                    </p:set>
                                    <p:animEffect transition="in" filter="wipe(up)">
                                      <p:cBhvr>
                                        <p:cTn id="254" dur="500"/>
                                        <p:tgtEl>
                                          <p:spTgt spid="121919"/>
                                        </p:tgtEl>
                                      </p:cBhvr>
                                    </p:animEffect>
                                  </p:childTnLst>
                                </p:cTn>
                              </p:par>
                            </p:childTnLst>
                          </p:cTn>
                        </p:par>
                        <p:par>
                          <p:cTn id="255" fill="hold" nodeType="afterGroup">
                            <p:stCondLst>
                              <p:cond delay="500"/>
                            </p:stCondLst>
                            <p:childTnLst>
                              <p:par>
                                <p:cTn id="256" presetID="22" presetClass="entr" presetSubtype="1" fill="hold" grpId="0" nodeType="afterEffect">
                                  <p:stCondLst>
                                    <p:cond delay="0"/>
                                  </p:stCondLst>
                                  <p:childTnLst>
                                    <p:set>
                                      <p:cBhvr>
                                        <p:cTn id="257" dur="1" fill="hold">
                                          <p:stCondLst>
                                            <p:cond delay="0"/>
                                          </p:stCondLst>
                                        </p:cTn>
                                        <p:tgtEl>
                                          <p:spTgt spid="121915"/>
                                        </p:tgtEl>
                                        <p:attrNameLst>
                                          <p:attrName>style.visibility</p:attrName>
                                        </p:attrNameLst>
                                      </p:cBhvr>
                                      <p:to>
                                        <p:strVal val="visible"/>
                                      </p:to>
                                    </p:set>
                                    <p:animEffect transition="in" filter="wipe(up)">
                                      <p:cBhvr>
                                        <p:cTn id="258" dur="500"/>
                                        <p:tgtEl>
                                          <p:spTgt spid="121915"/>
                                        </p:tgtEl>
                                      </p:cBhvr>
                                    </p:animEffect>
                                  </p:childTnLst>
                                </p:cTn>
                              </p:par>
                            </p:childTnLst>
                          </p:cTn>
                        </p:par>
                        <p:par>
                          <p:cTn id="259" fill="hold" nodeType="afterGroup">
                            <p:stCondLst>
                              <p:cond delay="1000"/>
                            </p:stCondLst>
                            <p:childTnLst>
                              <p:par>
                                <p:cTn id="260" presetID="22" presetClass="entr" presetSubtype="1" fill="hold" grpId="0" nodeType="afterEffect">
                                  <p:stCondLst>
                                    <p:cond delay="0"/>
                                  </p:stCondLst>
                                  <p:childTnLst>
                                    <p:set>
                                      <p:cBhvr>
                                        <p:cTn id="261" dur="1" fill="hold">
                                          <p:stCondLst>
                                            <p:cond delay="0"/>
                                          </p:stCondLst>
                                        </p:cTn>
                                        <p:tgtEl>
                                          <p:spTgt spid="121916"/>
                                        </p:tgtEl>
                                        <p:attrNameLst>
                                          <p:attrName>style.visibility</p:attrName>
                                        </p:attrNameLst>
                                      </p:cBhvr>
                                      <p:to>
                                        <p:strVal val="visible"/>
                                      </p:to>
                                    </p:set>
                                    <p:animEffect transition="in" filter="wipe(up)">
                                      <p:cBhvr>
                                        <p:cTn id="262" dur="500"/>
                                        <p:tgtEl>
                                          <p:spTgt spid="121916"/>
                                        </p:tgtEl>
                                      </p:cBhvr>
                                    </p:animEffec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2" presetClass="entr" presetSubtype="1" fill="hold" grpId="0" nodeType="clickEffect">
                                  <p:stCondLst>
                                    <p:cond delay="0"/>
                                  </p:stCondLst>
                                  <p:childTnLst>
                                    <p:set>
                                      <p:cBhvr>
                                        <p:cTn id="266" dur="1" fill="hold">
                                          <p:stCondLst>
                                            <p:cond delay="0"/>
                                          </p:stCondLst>
                                        </p:cTn>
                                        <p:tgtEl>
                                          <p:spTgt spid="121920"/>
                                        </p:tgtEl>
                                        <p:attrNameLst>
                                          <p:attrName>style.visibility</p:attrName>
                                        </p:attrNameLst>
                                      </p:cBhvr>
                                      <p:to>
                                        <p:strVal val="visible"/>
                                      </p:to>
                                    </p:set>
                                    <p:animEffect transition="in" filter="wipe(up)">
                                      <p:cBhvr>
                                        <p:cTn id="267" dur="500"/>
                                        <p:tgtEl>
                                          <p:spTgt spid="121920"/>
                                        </p:tgtEl>
                                      </p:cBhvr>
                                    </p:animEffect>
                                  </p:childTnLst>
                                </p:cTn>
                              </p:par>
                            </p:childTnLst>
                          </p:cTn>
                        </p:par>
                        <p:par>
                          <p:cTn id="268" fill="hold" nodeType="afterGroup">
                            <p:stCondLst>
                              <p:cond delay="500"/>
                            </p:stCondLst>
                            <p:childTnLst>
                              <p:par>
                                <p:cTn id="269" presetID="22" presetClass="entr" presetSubtype="1" fill="hold" grpId="0" nodeType="afterEffect">
                                  <p:stCondLst>
                                    <p:cond delay="0"/>
                                  </p:stCondLst>
                                  <p:childTnLst>
                                    <p:set>
                                      <p:cBhvr>
                                        <p:cTn id="270" dur="1" fill="hold">
                                          <p:stCondLst>
                                            <p:cond delay="0"/>
                                          </p:stCondLst>
                                        </p:cTn>
                                        <p:tgtEl>
                                          <p:spTgt spid="121917"/>
                                        </p:tgtEl>
                                        <p:attrNameLst>
                                          <p:attrName>style.visibility</p:attrName>
                                        </p:attrNameLst>
                                      </p:cBhvr>
                                      <p:to>
                                        <p:strVal val="visible"/>
                                      </p:to>
                                    </p:set>
                                    <p:animEffect transition="in" filter="wipe(up)">
                                      <p:cBhvr>
                                        <p:cTn id="271" dur="500"/>
                                        <p:tgtEl>
                                          <p:spTgt spid="121917"/>
                                        </p:tgtEl>
                                      </p:cBhvr>
                                    </p:animEffect>
                                  </p:childTnLst>
                                </p:cTn>
                              </p:par>
                            </p:childTnLst>
                          </p:cTn>
                        </p:par>
                        <p:par>
                          <p:cTn id="272" fill="hold" nodeType="afterGroup">
                            <p:stCondLst>
                              <p:cond delay="1000"/>
                            </p:stCondLst>
                            <p:childTnLst>
                              <p:par>
                                <p:cTn id="273" presetID="22" presetClass="entr" presetSubtype="1" fill="hold" grpId="0" nodeType="afterEffect">
                                  <p:stCondLst>
                                    <p:cond delay="0"/>
                                  </p:stCondLst>
                                  <p:childTnLst>
                                    <p:set>
                                      <p:cBhvr>
                                        <p:cTn id="274" dur="1" fill="hold">
                                          <p:stCondLst>
                                            <p:cond delay="0"/>
                                          </p:stCondLst>
                                        </p:cTn>
                                        <p:tgtEl>
                                          <p:spTgt spid="121918"/>
                                        </p:tgtEl>
                                        <p:attrNameLst>
                                          <p:attrName>style.visibility</p:attrName>
                                        </p:attrNameLst>
                                      </p:cBhvr>
                                      <p:to>
                                        <p:strVal val="visible"/>
                                      </p:to>
                                    </p:set>
                                    <p:animEffect transition="in" filter="wipe(up)">
                                      <p:cBhvr>
                                        <p:cTn id="275" dur="500"/>
                                        <p:tgtEl>
                                          <p:spTgt spid="121918"/>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22" presetClass="entr" presetSubtype="1" fill="hold" grpId="0" nodeType="clickEffect">
                                  <p:stCondLst>
                                    <p:cond delay="0"/>
                                  </p:stCondLst>
                                  <p:childTnLst>
                                    <p:set>
                                      <p:cBhvr>
                                        <p:cTn id="279" dur="1" fill="hold">
                                          <p:stCondLst>
                                            <p:cond delay="0"/>
                                          </p:stCondLst>
                                        </p:cTn>
                                        <p:tgtEl>
                                          <p:spTgt spid="121923"/>
                                        </p:tgtEl>
                                        <p:attrNameLst>
                                          <p:attrName>style.visibility</p:attrName>
                                        </p:attrNameLst>
                                      </p:cBhvr>
                                      <p:to>
                                        <p:strVal val="visible"/>
                                      </p:to>
                                    </p:set>
                                    <p:animEffect transition="in" filter="wipe(up)">
                                      <p:cBhvr>
                                        <p:cTn id="280" dur="500"/>
                                        <p:tgtEl>
                                          <p:spTgt spid="121923"/>
                                        </p:tgtEl>
                                      </p:cBhvr>
                                    </p:animEffect>
                                  </p:childTnLst>
                                </p:cTn>
                              </p:par>
                            </p:childTnLst>
                          </p:cTn>
                        </p:par>
                        <p:par>
                          <p:cTn id="281" fill="hold" nodeType="afterGroup">
                            <p:stCondLst>
                              <p:cond delay="500"/>
                            </p:stCondLst>
                            <p:childTnLst>
                              <p:par>
                                <p:cTn id="282" presetID="22" presetClass="entr" presetSubtype="1" fill="hold" grpId="0" nodeType="afterEffect">
                                  <p:stCondLst>
                                    <p:cond delay="0"/>
                                  </p:stCondLst>
                                  <p:childTnLst>
                                    <p:set>
                                      <p:cBhvr>
                                        <p:cTn id="283" dur="1" fill="hold">
                                          <p:stCondLst>
                                            <p:cond delay="0"/>
                                          </p:stCondLst>
                                        </p:cTn>
                                        <p:tgtEl>
                                          <p:spTgt spid="121921"/>
                                        </p:tgtEl>
                                        <p:attrNameLst>
                                          <p:attrName>style.visibility</p:attrName>
                                        </p:attrNameLst>
                                      </p:cBhvr>
                                      <p:to>
                                        <p:strVal val="visible"/>
                                      </p:to>
                                    </p:set>
                                    <p:animEffect transition="in" filter="wipe(up)">
                                      <p:cBhvr>
                                        <p:cTn id="284" dur="500"/>
                                        <p:tgtEl>
                                          <p:spTgt spid="121921"/>
                                        </p:tgtEl>
                                      </p:cBhvr>
                                    </p:animEffect>
                                  </p:childTnLst>
                                </p:cTn>
                              </p:par>
                            </p:childTnLst>
                          </p:cTn>
                        </p:par>
                        <p:par>
                          <p:cTn id="285" fill="hold" nodeType="afterGroup">
                            <p:stCondLst>
                              <p:cond delay="1000"/>
                            </p:stCondLst>
                            <p:childTnLst>
                              <p:par>
                                <p:cTn id="286" presetID="22" presetClass="entr" presetSubtype="1" fill="hold" grpId="0" nodeType="afterEffect">
                                  <p:stCondLst>
                                    <p:cond delay="0"/>
                                  </p:stCondLst>
                                  <p:childTnLst>
                                    <p:set>
                                      <p:cBhvr>
                                        <p:cTn id="287" dur="1" fill="hold">
                                          <p:stCondLst>
                                            <p:cond delay="0"/>
                                          </p:stCondLst>
                                        </p:cTn>
                                        <p:tgtEl>
                                          <p:spTgt spid="121922"/>
                                        </p:tgtEl>
                                        <p:attrNameLst>
                                          <p:attrName>style.visibility</p:attrName>
                                        </p:attrNameLst>
                                      </p:cBhvr>
                                      <p:to>
                                        <p:strVal val="visible"/>
                                      </p:to>
                                    </p:set>
                                    <p:animEffect transition="in" filter="wipe(up)">
                                      <p:cBhvr>
                                        <p:cTn id="288" dur="500"/>
                                        <p:tgtEl>
                                          <p:spTgt spid="121922"/>
                                        </p:tgtEl>
                                      </p:cBhvr>
                                    </p:animEffect>
                                  </p:childTnLst>
                                </p:cTn>
                              </p:par>
                            </p:childTnLst>
                          </p:cTn>
                        </p:par>
                      </p:childTnLst>
                    </p:cTn>
                  </p:par>
                  <p:par>
                    <p:cTn id="289" fill="hold" nodeType="clickPar">
                      <p:stCondLst>
                        <p:cond delay="indefinite"/>
                      </p:stCondLst>
                      <p:childTnLst>
                        <p:par>
                          <p:cTn id="290" fill="hold" nodeType="withGroup">
                            <p:stCondLst>
                              <p:cond delay="0"/>
                            </p:stCondLst>
                            <p:childTnLst>
                              <p:par>
                                <p:cTn id="291" presetID="22" presetClass="entr" presetSubtype="1" fill="hold" grpId="0" nodeType="clickEffect">
                                  <p:stCondLst>
                                    <p:cond delay="0"/>
                                  </p:stCondLst>
                                  <p:childTnLst>
                                    <p:set>
                                      <p:cBhvr>
                                        <p:cTn id="292" dur="1" fill="hold">
                                          <p:stCondLst>
                                            <p:cond delay="0"/>
                                          </p:stCondLst>
                                        </p:cTn>
                                        <p:tgtEl>
                                          <p:spTgt spid="121926"/>
                                        </p:tgtEl>
                                        <p:attrNameLst>
                                          <p:attrName>style.visibility</p:attrName>
                                        </p:attrNameLst>
                                      </p:cBhvr>
                                      <p:to>
                                        <p:strVal val="visible"/>
                                      </p:to>
                                    </p:set>
                                    <p:animEffect transition="in" filter="wipe(up)">
                                      <p:cBhvr>
                                        <p:cTn id="293" dur="500"/>
                                        <p:tgtEl>
                                          <p:spTgt spid="121926"/>
                                        </p:tgtEl>
                                      </p:cBhvr>
                                    </p:animEffect>
                                  </p:childTnLst>
                                </p:cTn>
                              </p:par>
                            </p:childTnLst>
                          </p:cTn>
                        </p:par>
                        <p:par>
                          <p:cTn id="294" fill="hold" nodeType="afterGroup">
                            <p:stCondLst>
                              <p:cond delay="500"/>
                            </p:stCondLst>
                            <p:childTnLst>
                              <p:par>
                                <p:cTn id="295" presetID="22" presetClass="entr" presetSubtype="1" fill="hold" grpId="0" nodeType="afterEffect">
                                  <p:stCondLst>
                                    <p:cond delay="0"/>
                                  </p:stCondLst>
                                  <p:childTnLst>
                                    <p:set>
                                      <p:cBhvr>
                                        <p:cTn id="296" dur="1" fill="hold">
                                          <p:stCondLst>
                                            <p:cond delay="0"/>
                                          </p:stCondLst>
                                        </p:cTn>
                                        <p:tgtEl>
                                          <p:spTgt spid="121924"/>
                                        </p:tgtEl>
                                        <p:attrNameLst>
                                          <p:attrName>style.visibility</p:attrName>
                                        </p:attrNameLst>
                                      </p:cBhvr>
                                      <p:to>
                                        <p:strVal val="visible"/>
                                      </p:to>
                                    </p:set>
                                    <p:animEffect transition="in" filter="wipe(up)">
                                      <p:cBhvr>
                                        <p:cTn id="297" dur="500"/>
                                        <p:tgtEl>
                                          <p:spTgt spid="121924"/>
                                        </p:tgtEl>
                                      </p:cBhvr>
                                    </p:animEffect>
                                  </p:childTnLst>
                                </p:cTn>
                              </p:par>
                            </p:childTnLst>
                          </p:cTn>
                        </p:par>
                        <p:par>
                          <p:cTn id="298" fill="hold" nodeType="afterGroup">
                            <p:stCondLst>
                              <p:cond delay="1000"/>
                            </p:stCondLst>
                            <p:childTnLst>
                              <p:par>
                                <p:cTn id="299" presetID="22" presetClass="entr" presetSubtype="1" fill="hold" grpId="0" nodeType="afterEffect">
                                  <p:stCondLst>
                                    <p:cond delay="0"/>
                                  </p:stCondLst>
                                  <p:childTnLst>
                                    <p:set>
                                      <p:cBhvr>
                                        <p:cTn id="300" dur="1" fill="hold">
                                          <p:stCondLst>
                                            <p:cond delay="0"/>
                                          </p:stCondLst>
                                        </p:cTn>
                                        <p:tgtEl>
                                          <p:spTgt spid="121925"/>
                                        </p:tgtEl>
                                        <p:attrNameLst>
                                          <p:attrName>style.visibility</p:attrName>
                                        </p:attrNameLst>
                                      </p:cBhvr>
                                      <p:to>
                                        <p:strVal val="visible"/>
                                      </p:to>
                                    </p:set>
                                    <p:animEffect transition="in" filter="wipe(up)">
                                      <p:cBhvr>
                                        <p:cTn id="301" dur="500"/>
                                        <p:tgtEl>
                                          <p:spTgt spid="121925"/>
                                        </p:tgtEl>
                                      </p:cBhvr>
                                    </p:animEffect>
                                  </p:childTnLst>
                                </p:cTn>
                              </p:par>
                            </p:childTnLst>
                          </p:cTn>
                        </p:par>
                      </p:childTnLst>
                    </p:cTn>
                  </p:par>
                  <p:par>
                    <p:cTn id="302" fill="hold" nodeType="clickPar">
                      <p:stCondLst>
                        <p:cond delay="indefinite"/>
                      </p:stCondLst>
                      <p:childTnLst>
                        <p:par>
                          <p:cTn id="303" fill="hold" nodeType="withGroup">
                            <p:stCondLst>
                              <p:cond delay="0"/>
                            </p:stCondLst>
                            <p:childTnLst>
                              <p:par>
                                <p:cTn id="304" presetID="22" presetClass="entr" presetSubtype="1" fill="hold" grpId="0" nodeType="clickEffect">
                                  <p:stCondLst>
                                    <p:cond delay="0"/>
                                  </p:stCondLst>
                                  <p:childTnLst>
                                    <p:set>
                                      <p:cBhvr>
                                        <p:cTn id="305" dur="1" fill="hold">
                                          <p:stCondLst>
                                            <p:cond delay="0"/>
                                          </p:stCondLst>
                                        </p:cTn>
                                        <p:tgtEl>
                                          <p:spTgt spid="121932"/>
                                        </p:tgtEl>
                                        <p:attrNameLst>
                                          <p:attrName>style.visibility</p:attrName>
                                        </p:attrNameLst>
                                      </p:cBhvr>
                                      <p:to>
                                        <p:strVal val="visible"/>
                                      </p:to>
                                    </p:set>
                                    <p:animEffect transition="in" filter="wipe(up)">
                                      <p:cBhvr>
                                        <p:cTn id="306" dur="500"/>
                                        <p:tgtEl>
                                          <p:spTgt spid="121932"/>
                                        </p:tgtEl>
                                      </p:cBhvr>
                                    </p:animEffect>
                                  </p:childTnLst>
                                </p:cTn>
                              </p:par>
                            </p:childTnLst>
                          </p:cTn>
                        </p:par>
                        <p:par>
                          <p:cTn id="307" fill="hold" nodeType="afterGroup">
                            <p:stCondLst>
                              <p:cond delay="500"/>
                            </p:stCondLst>
                            <p:childTnLst>
                              <p:par>
                                <p:cTn id="308" presetID="22" presetClass="entr" presetSubtype="1" fill="hold" grpId="0" nodeType="afterEffect">
                                  <p:stCondLst>
                                    <p:cond delay="0"/>
                                  </p:stCondLst>
                                  <p:childTnLst>
                                    <p:set>
                                      <p:cBhvr>
                                        <p:cTn id="309" dur="1" fill="hold">
                                          <p:stCondLst>
                                            <p:cond delay="0"/>
                                          </p:stCondLst>
                                        </p:cTn>
                                        <p:tgtEl>
                                          <p:spTgt spid="121933"/>
                                        </p:tgtEl>
                                        <p:attrNameLst>
                                          <p:attrName>style.visibility</p:attrName>
                                        </p:attrNameLst>
                                      </p:cBhvr>
                                      <p:to>
                                        <p:strVal val="visible"/>
                                      </p:to>
                                    </p:set>
                                    <p:animEffect transition="in" filter="wipe(up)">
                                      <p:cBhvr>
                                        <p:cTn id="310" dur="500"/>
                                        <p:tgtEl>
                                          <p:spTgt spid="121933"/>
                                        </p:tgtEl>
                                      </p:cBhvr>
                                    </p:animEffect>
                                  </p:childTnLst>
                                </p:cTn>
                              </p:par>
                            </p:childTnLst>
                          </p:cTn>
                        </p:par>
                        <p:par>
                          <p:cTn id="311" fill="hold" nodeType="afterGroup">
                            <p:stCondLst>
                              <p:cond delay="1000"/>
                            </p:stCondLst>
                            <p:childTnLst>
                              <p:par>
                                <p:cTn id="312" presetID="2" presetClass="entr" presetSubtype="4" fill="hold" nodeType="afterEffect">
                                  <p:stCondLst>
                                    <p:cond delay="0"/>
                                  </p:stCondLst>
                                  <p:childTnLst>
                                    <p:set>
                                      <p:cBhvr>
                                        <p:cTn id="313" dur="1" fill="hold">
                                          <p:stCondLst>
                                            <p:cond delay="0"/>
                                          </p:stCondLst>
                                        </p:cTn>
                                        <p:tgtEl>
                                          <p:spTgt spid="121929"/>
                                        </p:tgtEl>
                                        <p:attrNameLst>
                                          <p:attrName>style.visibility</p:attrName>
                                        </p:attrNameLst>
                                      </p:cBhvr>
                                      <p:to>
                                        <p:strVal val="visible"/>
                                      </p:to>
                                    </p:set>
                                    <p:anim calcmode="lin" valueType="num">
                                      <p:cBhvr additive="base">
                                        <p:cTn id="314" dur="500" fill="hold"/>
                                        <p:tgtEl>
                                          <p:spTgt spid="121929"/>
                                        </p:tgtEl>
                                        <p:attrNameLst>
                                          <p:attrName>ppt_x</p:attrName>
                                        </p:attrNameLst>
                                      </p:cBhvr>
                                      <p:tavLst>
                                        <p:tav tm="0">
                                          <p:val>
                                            <p:strVal val="#ppt_x"/>
                                          </p:val>
                                        </p:tav>
                                        <p:tav tm="100000">
                                          <p:val>
                                            <p:strVal val="#ppt_x"/>
                                          </p:val>
                                        </p:tav>
                                      </p:tavLst>
                                    </p:anim>
                                    <p:anim calcmode="lin" valueType="num">
                                      <p:cBhvr additive="base">
                                        <p:cTn id="315" dur="500" fill="hold"/>
                                        <p:tgtEl>
                                          <p:spTgt spid="1219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animBg="1" autoUpdateAnimBg="0"/>
      <p:bldP spid="121859" grpId="0" animBg="1"/>
      <p:bldP spid="121860" grpId="0" animBg="1"/>
      <p:bldP spid="121861" grpId="0" animBg="1"/>
      <p:bldP spid="121862" grpId="0" animBg="1"/>
      <p:bldP spid="121863" grpId="0" animBg="1" autoUpdateAnimBg="0"/>
      <p:bldP spid="121864" grpId="0" animBg="1"/>
      <p:bldP spid="121865" grpId="0" animBg="1"/>
      <p:bldP spid="121866" grpId="0" animBg="1"/>
      <p:bldP spid="121867" grpId="0" animBg="1"/>
      <p:bldP spid="121868" grpId="0" animBg="1"/>
      <p:bldP spid="121869" grpId="0" autoUpdateAnimBg="0"/>
      <p:bldP spid="121870" grpId="0" animBg="1"/>
      <p:bldP spid="121871" grpId="0" autoUpdateAnimBg="0"/>
      <p:bldP spid="121872" grpId="0" animBg="1"/>
      <p:bldP spid="121873" grpId="0" autoUpdateAnimBg="0"/>
      <p:bldP spid="121874" grpId="0" animBg="1"/>
      <p:bldP spid="121875" grpId="0" autoUpdateAnimBg="0"/>
      <p:bldP spid="121876" grpId="0" animBg="1"/>
      <p:bldP spid="121878" grpId="0" animBg="1"/>
      <p:bldP spid="121879" grpId="0" animBg="1"/>
      <p:bldP spid="121880" grpId="0" autoUpdateAnimBg="0"/>
      <p:bldP spid="121881" grpId="0" animBg="1" autoUpdateAnimBg="0"/>
      <p:bldP spid="121882" grpId="0" animBg="1"/>
      <p:bldP spid="121883" grpId="0" autoUpdateAnimBg="0"/>
      <p:bldP spid="121886" grpId="0" autoUpdateAnimBg="0"/>
      <p:bldP spid="121887" grpId="0" animBg="1"/>
      <p:bldP spid="121888" grpId="0" animBg="1"/>
      <p:bldP spid="121889" grpId="0" autoUpdateAnimBg="0"/>
      <p:bldP spid="121890" grpId="0" animBg="1"/>
      <p:bldP spid="121891" grpId="0" animBg="1"/>
      <p:bldP spid="121892" grpId="0" autoUpdateAnimBg="0"/>
      <p:bldP spid="121893" grpId="0" animBg="1"/>
      <p:bldP spid="121894" grpId="0" animBg="1" autoUpdateAnimBg="0"/>
      <p:bldP spid="121895" grpId="0" animBg="1"/>
      <p:bldP spid="121896" grpId="0" animBg="1"/>
      <p:bldP spid="121897" grpId="0" animBg="1"/>
      <p:bldP spid="121898" grpId="0" animBg="1"/>
      <p:bldP spid="121899" grpId="0" animBg="1"/>
      <p:bldP spid="121900" grpId="0" animBg="1"/>
      <p:bldP spid="121901" grpId="0" animBg="1" autoUpdateAnimBg="0"/>
      <p:bldP spid="121902" grpId="0" animBg="1"/>
      <p:bldP spid="121903" grpId="0" animBg="1"/>
      <p:bldP spid="121904" grpId="0" animBg="1"/>
      <p:bldP spid="121905" grpId="0" autoUpdateAnimBg="0"/>
      <p:bldP spid="121906" grpId="0" animBg="1"/>
      <p:bldP spid="121907" grpId="0" autoUpdateAnimBg="0"/>
      <p:bldP spid="121908" grpId="0" animBg="1"/>
      <p:bldP spid="121909" grpId="0" autoUpdateAnimBg="0"/>
      <p:bldP spid="121910" grpId="0" animBg="1"/>
      <p:bldP spid="121911" grpId="0" autoUpdateAnimBg="0"/>
      <p:bldP spid="121912" grpId="0" animBg="1"/>
      <p:bldP spid="121913" grpId="0" autoUpdateAnimBg="0"/>
      <p:bldP spid="121914" grpId="0" animBg="1"/>
      <p:bldP spid="121915" grpId="0" animBg="1"/>
      <p:bldP spid="121916" grpId="0" autoUpdateAnimBg="0"/>
      <p:bldP spid="121917" grpId="0" animBg="1"/>
      <p:bldP spid="121918" grpId="0" autoUpdateAnimBg="0"/>
      <p:bldP spid="121919" grpId="0" animBg="1"/>
      <p:bldP spid="121920" grpId="0" animBg="1"/>
      <p:bldP spid="121921" grpId="0" animBg="1"/>
      <p:bldP spid="121922" grpId="0" autoUpdateAnimBg="0"/>
      <p:bldP spid="121923" grpId="0" animBg="1"/>
      <p:bldP spid="121924" grpId="0" animBg="1"/>
      <p:bldP spid="121925" grpId="0" autoUpdateAnimBg="0"/>
      <p:bldP spid="121926" grpId="0" animBg="1"/>
      <p:bldP spid="121927" grpId="0" autoUpdateAnimBg="0"/>
      <p:bldP spid="121928" grpId="0" autoUpdateAnimBg="0"/>
      <p:bldP spid="121930" grpId="0" animBg="1"/>
      <p:bldP spid="121931" grpId="0" autoUpdateAnimBg="0"/>
      <p:bldP spid="121932" grpId="0" animBg="1"/>
      <p:bldP spid="121933" grpId="0" autoUpdateAnimBg="0"/>
      <p:bldP spid="121934" grpId="0" autoUpdateAnimBg="0"/>
      <p:bldP spid="12193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533400" y="685800"/>
            <a:ext cx="4129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三、表插入排序</a:t>
            </a:r>
          </a:p>
        </p:txBody>
      </p:sp>
      <p:sp>
        <p:nvSpPr>
          <p:cNvPr id="17416" name="Text Box 8"/>
          <p:cNvSpPr txBox="1">
            <a:spLocks noChangeArrowheads="1"/>
          </p:cNvSpPr>
          <p:nvPr/>
        </p:nvSpPr>
        <p:spPr bwMode="auto">
          <a:xfrm>
            <a:off x="468313" y="1484313"/>
            <a:ext cx="831215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 </a:t>
            </a:r>
            <a:r>
              <a:rPr lang="zh-CN" altLang="en-US" sz="4000">
                <a:ea typeface="楷体_GB2312" charset="0"/>
              </a:rPr>
              <a:t>为了减少在排序过程中进行的</a:t>
            </a:r>
          </a:p>
          <a:p>
            <a:pPr algn="l"/>
            <a:r>
              <a:rPr lang="zh-CN" altLang="en-US" sz="4000">
                <a:ea typeface="楷体_GB2312" charset="0"/>
              </a:rPr>
              <a:t>“移动”记录的操作，必须改变排序过</a:t>
            </a:r>
          </a:p>
          <a:p>
            <a:pPr algn="l"/>
            <a:r>
              <a:rPr lang="zh-CN" altLang="en-US" sz="4000">
                <a:ea typeface="楷体_GB2312" charset="0"/>
              </a:rPr>
              <a:t>程中采用的存储结构。利用静态链表</a:t>
            </a:r>
          </a:p>
          <a:p>
            <a:pPr algn="l"/>
            <a:r>
              <a:rPr lang="zh-CN" altLang="en-US" sz="4000">
                <a:ea typeface="楷体_GB2312" charset="0"/>
              </a:rPr>
              <a:t>进行排序，并</a:t>
            </a:r>
            <a:r>
              <a:rPr lang="zh-CN" altLang="en-US" sz="4000">
                <a:solidFill>
                  <a:srgbClr val="0000FF"/>
                </a:solidFill>
                <a:ea typeface="楷体_GB2312" charset="0"/>
              </a:rPr>
              <a:t>在排序完成之后，一次</a:t>
            </a:r>
          </a:p>
          <a:p>
            <a:pPr algn="l"/>
            <a:r>
              <a:rPr lang="zh-CN" altLang="en-US" sz="4000">
                <a:solidFill>
                  <a:srgbClr val="0000FF"/>
                </a:solidFill>
                <a:ea typeface="楷体_GB2312" charset="0"/>
              </a:rPr>
              <a:t>性地调整各个记录相互之间的位置</a:t>
            </a:r>
            <a:r>
              <a:rPr lang="zh-CN" altLang="en-US" sz="4000">
                <a:ea typeface="楷体_GB2312" charset="0"/>
              </a:rPr>
              <a:t>，</a:t>
            </a:r>
          </a:p>
          <a:p>
            <a:pPr algn="l"/>
            <a:r>
              <a:rPr lang="zh-CN" altLang="en-US" sz="4000">
                <a:ea typeface="楷体_GB2312" charset="0"/>
              </a:rPr>
              <a:t>即将每个记录都调整到它们所应该在</a:t>
            </a:r>
          </a:p>
          <a:p>
            <a:pPr algn="l"/>
            <a:r>
              <a:rPr lang="zh-CN" altLang="en-US" sz="4000">
                <a:ea typeface="楷体_GB2312" charset="0"/>
              </a:rPr>
              <a:t>的位置上。</a:t>
            </a:r>
          </a:p>
          <a:p>
            <a:pPr algn="l"/>
            <a:endParaRPr lang="zh-CN" altLang="en-US"/>
          </a:p>
        </p:txBody>
      </p:sp>
    </p:spTree>
    <p:extLst>
      <p:ext uri="{BB962C8B-B14F-4D97-AF65-F5344CB8AC3E}">
        <p14:creationId xmlns:p14="http://schemas.microsoft.com/office/powerpoint/2010/main" val="9048235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randombar(vertical)">
                                      <p:cBhvr>
                                        <p:cTn id="7"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533400" y="217488"/>
            <a:ext cx="7924800"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b="1">
                <a:ea typeface="楷体_GB2312" charset="0"/>
              </a:rPr>
              <a:t>void</a:t>
            </a:r>
            <a:r>
              <a:rPr lang="en-US" altLang="zh-CN" sz="3600">
                <a:ea typeface="楷体_GB2312" charset="0"/>
              </a:rPr>
              <a:t> LInsertionSort (Elem SL[ ]</a:t>
            </a:r>
            <a:r>
              <a:rPr lang="zh-CN" altLang="en-US" sz="3600">
                <a:ea typeface="楷体_GB2312" charset="0"/>
              </a:rPr>
              <a:t>， </a:t>
            </a:r>
            <a:r>
              <a:rPr lang="en-US" altLang="zh-CN" sz="3600">
                <a:ea typeface="楷体_GB2312" charset="0"/>
              </a:rPr>
              <a:t>int n)</a:t>
            </a:r>
            <a:r>
              <a:rPr lang="en-US" altLang="zh-CN" sz="3600" b="1">
                <a:ea typeface="楷体_GB2312" charset="0"/>
              </a:rPr>
              <a:t>{</a:t>
            </a:r>
            <a:endParaRPr lang="en-US" altLang="zh-CN" sz="3600">
              <a:ea typeface="楷体_GB2312" charset="0"/>
            </a:endParaRPr>
          </a:p>
          <a:p>
            <a:pPr algn="l">
              <a:lnSpc>
                <a:spcPct val="120000"/>
              </a:lnSpc>
            </a:pPr>
            <a:r>
              <a:rPr lang="en-US" altLang="zh-CN" sz="3600">
                <a:ea typeface="楷体_GB2312" charset="0"/>
              </a:rPr>
              <a:t>  // </a:t>
            </a:r>
            <a:r>
              <a:rPr lang="zh-CN" altLang="en-US" sz="3600">
                <a:ea typeface="楷体_GB2312" charset="0"/>
              </a:rPr>
              <a:t>对记录序列</a:t>
            </a:r>
            <a:r>
              <a:rPr lang="en-US" altLang="zh-CN" sz="3600">
                <a:ea typeface="楷体_GB2312" charset="0"/>
              </a:rPr>
              <a:t>SL[1..n]</a:t>
            </a:r>
            <a:r>
              <a:rPr lang="zh-CN" altLang="en-US" sz="3600">
                <a:ea typeface="楷体_GB2312" charset="0"/>
              </a:rPr>
              <a:t>作表插入排序</a:t>
            </a:r>
          </a:p>
          <a:p>
            <a:pPr algn="l">
              <a:lnSpc>
                <a:spcPct val="120000"/>
              </a:lnSpc>
            </a:pPr>
            <a:r>
              <a:rPr lang="zh-CN" altLang="en-US" sz="3600">
                <a:ea typeface="楷体_GB2312" charset="0"/>
              </a:rPr>
              <a:t>  </a:t>
            </a:r>
            <a:r>
              <a:rPr lang="en-US" altLang="zh-CN" sz="3600">
                <a:ea typeface="楷体_GB2312" charset="0"/>
              </a:rPr>
              <a:t>SL[0].key = MAXINT ;</a:t>
            </a:r>
          </a:p>
          <a:p>
            <a:pPr algn="l">
              <a:lnSpc>
                <a:spcPct val="120000"/>
              </a:lnSpc>
            </a:pPr>
            <a:r>
              <a:rPr lang="en-US" altLang="zh-CN" sz="3600">
                <a:ea typeface="楷体_GB2312" charset="0"/>
              </a:rPr>
              <a:t>  SL[0].next = 1;  SL[1].next = 0;</a:t>
            </a:r>
          </a:p>
          <a:p>
            <a:pPr algn="l">
              <a:lnSpc>
                <a:spcPct val="120000"/>
              </a:lnSpc>
            </a:pPr>
            <a:r>
              <a:rPr lang="en-US" altLang="zh-CN" sz="3600">
                <a:ea typeface="楷体_GB2312" charset="0"/>
              </a:rPr>
              <a:t>  </a:t>
            </a:r>
            <a:r>
              <a:rPr lang="en-US" altLang="zh-CN" sz="3600" b="1">
                <a:solidFill>
                  <a:srgbClr val="0000FF"/>
                </a:solidFill>
                <a:ea typeface="楷体_GB2312" charset="0"/>
              </a:rPr>
              <a:t>for</a:t>
            </a:r>
            <a:r>
              <a:rPr lang="en-US" altLang="zh-CN" sz="3600">
                <a:solidFill>
                  <a:srgbClr val="0000FF"/>
                </a:solidFill>
                <a:ea typeface="楷体_GB2312" charset="0"/>
              </a:rPr>
              <a:t> ( i=2; i&lt;=n; </a:t>
            </a:r>
            <a:r>
              <a:rPr lang="en-US" altLang="zh-CN" sz="3600" b="1">
                <a:solidFill>
                  <a:srgbClr val="0000FF"/>
                </a:solidFill>
                <a:ea typeface="楷体_GB2312" charset="0"/>
              </a:rPr>
              <a:t>++</a:t>
            </a:r>
            <a:r>
              <a:rPr lang="en-US" altLang="zh-CN" sz="3600">
                <a:solidFill>
                  <a:srgbClr val="0000FF"/>
                </a:solidFill>
                <a:ea typeface="楷体_GB2312" charset="0"/>
              </a:rPr>
              <a:t>i )</a:t>
            </a:r>
            <a:endParaRPr lang="en-US" altLang="zh-CN" sz="3600">
              <a:ea typeface="楷体_GB2312" charset="0"/>
            </a:endParaRPr>
          </a:p>
          <a:p>
            <a:pPr algn="l">
              <a:lnSpc>
                <a:spcPct val="120000"/>
              </a:lnSpc>
            </a:pPr>
            <a:r>
              <a:rPr lang="en-US" altLang="zh-CN" sz="3600" b="1">
                <a:ea typeface="楷体_GB2312" charset="0"/>
              </a:rPr>
              <a:t>      for </a:t>
            </a:r>
            <a:r>
              <a:rPr lang="en-US" altLang="zh-CN" sz="3600">
                <a:ea typeface="楷体_GB2312" charset="0"/>
              </a:rPr>
              <a:t>( j=0, k = SL[0].next;</a:t>
            </a:r>
            <a:r>
              <a:rPr lang="en-US" altLang="zh-CN" sz="3600" b="1">
                <a:solidFill>
                  <a:srgbClr val="840C26"/>
                </a:solidFill>
                <a:ea typeface="楷体_GB2312" charset="0"/>
              </a:rPr>
              <a:t>SL[k].key&lt;=</a:t>
            </a:r>
            <a:endParaRPr lang="en-US" altLang="zh-CN" sz="3600">
              <a:ea typeface="楷体_GB2312" charset="0"/>
            </a:endParaRPr>
          </a:p>
          <a:p>
            <a:pPr algn="l">
              <a:lnSpc>
                <a:spcPct val="120000"/>
              </a:lnSpc>
            </a:pPr>
            <a:r>
              <a:rPr lang="en-US" altLang="zh-CN" sz="3600">
                <a:ea typeface="楷体_GB2312" charset="0"/>
              </a:rPr>
              <a:t>                </a:t>
            </a:r>
            <a:r>
              <a:rPr lang="en-US" altLang="zh-CN" sz="3600" b="1">
                <a:solidFill>
                  <a:srgbClr val="840C26"/>
                </a:solidFill>
                <a:ea typeface="楷体_GB2312" charset="0"/>
              </a:rPr>
              <a:t>SL[i].key</a:t>
            </a:r>
            <a:r>
              <a:rPr lang="en-US" altLang="zh-CN" sz="3600">
                <a:ea typeface="楷体_GB2312" charset="0"/>
              </a:rPr>
              <a:t> ; j=k, k=SL[k].next )</a:t>
            </a:r>
          </a:p>
          <a:p>
            <a:pPr algn="l">
              <a:lnSpc>
                <a:spcPct val="120000"/>
              </a:lnSpc>
            </a:pPr>
            <a:r>
              <a:rPr lang="en-US" altLang="zh-CN" sz="3600">
                <a:ea typeface="楷体_GB2312" charset="0"/>
              </a:rPr>
              <a:t>          </a:t>
            </a:r>
            <a:r>
              <a:rPr lang="en-US" altLang="zh-CN" sz="3600" b="1">
                <a:solidFill>
                  <a:srgbClr val="004644"/>
                </a:solidFill>
                <a:ea typeface="楷体_GB2312" charset="0"/>
              </a:rPr>
              <a:t>{ SL[j].next = i;  SL[i].next = k;</a:t>
            </a:r>
            <a:r>
              <a:rPr lang="en-US" altLang="zh-CN" sz="3600">
                <a:solidFill>
                  <a:srgbClr val="004644"/>
                </a:solidFill>
                <a:ea typeface="楷体_GB2312" charset="0"/>
              </a:rPr>
              <a:t> </a:t>
            </a:r>
            <a:r>
              <a:rPr lang="en-US" altLang="zh-CN" sz="3600" b="1">
                <a:solidFill>
                  <a:srgbClr val="004644"/>
                </a:solidFill>
                <a:ea typeface="楷体_GB2312" charset="0"/>
              </a:rPr>
              <a:t>}</a:t>
            </a:r>
            <a:endParaRPr lang="en-US" altLang="zh-CN" sz="3600" b="1">
              <a:ea typeface="楷体_GB2312" charset="0"/>
            </a:endParaRPr>
          </a:p>
          <a:p>
            <a:pPr algn="l">
              <a:lnSpc>
                <a:spcPct val="120000"/>
              </a:lnSpc>
            </a:pPr>
            <a:r>
              <a:rPr lang="en-US" altLang="zh-CN" sz="3600">
                <a:ea typeface="楷体_GB2312" charset="0"/>
              </a:rPr>
              <a:t>        // </a:t>
            </a:r>
            <a:r>
              <a:rPr lang="zh-CN" altLang="en-US" sz="3600">
                <a:ea typeface="楷体_GB2312" charset="0"/>
              </a:rPr>
              <a:t>结点</a:t>
            </a:r>
            <a:r>
              <a:rPr lang="en-US" altLang="zh-CN" sz="3600">
                <a:ea typeface="楷体_GB2312" charset="0"/>
              </a:rPr>
              <a:t>i</a:t>
            </a:r>
            <a:r>
              <a:rPr lang="zh-CN" altLang="en-US" sz="3600">
                <a:ea typeface="楷体_GB2312" charset="0"/>
              </a:rPr>
              <a:t>插入在结点</a:t>
            </a:r>
            <a:r>
              <a:rPr lang="en-US" altLang="zh-CN" sz="3600">
                <a:ea typeface="楷体_GB2312" charset="0"/>
              </a:rPr>
              <a:t>j</a:t>
            </a:r>
            <a:r>
              <a:rPr lang="zh-CN" altLang="en-US" sz="3600">
                <a:ea typeface="楷体_GB2312" charset="0"/>
              </a:rPr>
              <a:t>和结点</a:t>
            </a:r>
            <a:r>
              <a:rPr lang="en-US" altLang="zh-CN" sz="3600">
                <a:ea typeface="楷体_GB2312" charset="0"/>
              </a:rPr>
              <a:t>k</a:t>
            </a:r>
            <a:r>
              <a:rPr lang="zh-CN" altLang="en-US" sz="3600">
                <a:ea typeface="楷体_GB2312" charset="0"/>
              </a:rPr>
              <a:t>之间</a:t>
            </a:r>
          </a:p>
          <a:p>
            <a:pPr algn="l">
              <a:lnSpc>
                <a:spcPct val="120000"/>
              </a:lnSpc>
            </a:pPr>
            <a:r>
              <a:rPr lang="en-US" altLang="zh-CN" sz="3600" b="1">
                <a:ea typeface="楷体_GB2312" charset="0"/>
              </a:rPr>
              <a:t>}</a:t>
            </a:r>
            <a:r>
              <a:rPr lang="en-US" altLang="zh-CN" sz="3600">
                <a:ea typeface="楷体_GB2312" charset="0"/>
              </a:rPr>
              <a:t>// LinsertionSort</a:t>
            </a:r>
          </a:p>
        </p:txBody>
      </p:sp>
    </p:spTree>
    <p:extLst>
      <p:ext uri="{BB962C8B-B14F-4D97-AF65-F5344CB8AC3E}">
        <p14:creationId xmlns:p14="http://schemas.microsoft.com/office/powerpoint/2010/main" val="19287398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strips(downRight)">
                                      <p:cBhvr>
                                        <p:cTn id="7"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1026"/>
          <p:cNvSpPr txBox="1">
            <a:spLocks noChangeArrowheads="1"/>
          </p:cNvSpPr>
          <p:nvPr/>
        </p:nvSpPr>
        <p:spPr bwMode="auto">
          <a:xfrm>
            <a:off x="533400" y="2170113"/>
            <a:ext cx="8231188" cy="362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4000">
                <a:ea typeface="楷体_GB2312" charset="0"/>
              </a:rPr>
              <a:t>算法中使用了三个指针：</a:t>
            </a:r>
          </a:p>
          <a:p>
            <a:pPr algn="l">
              <a:lnSpc>
                <a:spcPct val="120000"/>
              </a:lnSpc>
            </a:pPr>
            <a:r>
              <a:rPr lang="zh-CN" altLang="en-US" sz="4000">
                <a:ea typeface="楷体_GB2312" charset="0"/>
              </a:rPr>
              <a:t>其中：</a:t>
            </a:r>
            <a:r>
              <a:rPr lang="en-US" altLang="zh-CN" sz="4000">
                <a:solidFill>
                  <a:srgbClr val="9933FF"/>
                </a:solidFill>
                <a:ea typeface="楷体_GB2312" charset="0"/>
              </a:rPr>
              <a:t>p</a:t>
            </a:r>
            <a:r>
              <a:rPr lang="zh-CN" altLang="en-US" sz="4000">
                <a:ea typeface="楷体_GB2312" charset="0"/>
              </a:rPr>
              <a:t>指示第</a:t>
            </a:r>
            <a:r>
              <a:rPr lang="en-US" altLang="zh-CN" sz="4000">
                <a:ea typeface="楷体_GB2312" charset="0"/>
              </a:rPr>
              <a:t>i</a:t>
            </a:r>
            <a:r>
              <a:rPr lang="zh-CN" altLang="en-US" sz="4000">
                <a:ea typeface="楷体_GB2312" charset="0"/>
              </a:rPr>
              <a:t>个记录的当前位置</a:t>
            </a:r>
          </a:p>
          <a:p>
            <a:pPr algn="l">
              <a:lnSpc>
                <a:spcPct val="120000"/>
              </a:lnSpc>
            </a:pPr>
            <a:r>
              <a:rPr lang="zh-CN" altLang="en-US" sz="4000">
                <a:ea typeface="楷体_GB2312" charset="0"/>
              </a:rPr>
              <a:t>            </a:t>
            </a:r>
            <a:r>
              <a:rPr lang="en-US" altLang="zh-CN" sz="4000">
                <a:solidFill>
                  <a:srgbClr val="FF6600"/>
                </a:solidFill>
                <a:ea typeface="楷体_GB2312" charset="0"/>
              </a:rPr>
              <a:t>i</a:t>
            </a:r>
            <a:r>
              <a:rPr lang="zh-CN" altLang="en-US" sz="4000">
                <a:ea typeface="楷体_GB2312" charset="0"/>
              </a:rPr>
              <a:t>指示第</a:t>
            </a:r>
            <a:r>
              <a:rPr lang="en-US" altLang="zh-CN" sz="4000">
                <a:ea typeface="楷体_GB2312" charset="0"/>
              </a:rPr>
              <a:t>i</a:t>
            </a:r>
            <a:r>
              <a:rPr lang="zh-CN" altLang="en-US" sz="4000">
                <a:ea typeface="楷体_GB2312" charset="0"/>
              </a:rPr>
              <a:t>个记录应在的位置</a:t>
            </a:r>
          </a:p>
          <a:p>
            <a:pPr algn="l">
              <a:lnSpc>
                <a:spcPct val="120000"/>
              </a:lnSpc>
            </a:pPr>
            <a:r>
              <a:rPr lang="zh-CN" altLang="en-US" sz="4000">
                <a:ea typeface="楷体_GB2312" charset="0"/>
              </a:rPr>
              <a:t>            </a:t>
            </a:r>
            <a:r>
              <a:rPr lang="en-US" altLang="zh-CN" sz="4000">
                <a:solidFill>
                  <a:srgbClr val="FF00FF"/>
                </a:solidFill>
                <a:ea typeface="楷体_GB2312" charset="0"/>
              </a:rPr>
              <a:t>q</a:t>
            </a:r>
            <a:r>
              <a:rPr lang="zh-CN" altLang="en-US" sz="4000">
                <a:ea typeface="楷体_GB2312" charset="0"/>
              </a:rPr>
              <a:t>指示第</a:t>
            </a:r>
            <a:r>
              <a:rPr lang="en-US" altLang="zh-CN" sz="4000">
                <a:ea typeface="楷体_GB2312" charset="0"/>
              </a:rPr>
              <a:t>i+1</a:t>
            </a:r>
            <a:r>
              <a:rPr lang="zh-CN" altLang="en-US" sz="4000">
                <a:ea typeface="楷体_GB2312" charset="0"/>
              </a:rPr>
              <a:t>个记录的当前位置</a:t>
            </a:r>
          </a:p>
          <a:p>
            <a:pPr algn="l"/>
            <a:endParaRPr lang="zh-CN" altLang="en-US" sz="4000"/>
          </a:p>
        </p:txBody>
      </p:sp>
      <p:sp>
        <p:nvSpPr>
          <p:cNvPr id="78851" name="Text Box 1027"/>
          <p:cNvSpPr txBox="1">
            <a:spLocks noChangeArrowheads="1"/>
          </p:cNvSpPr>
          <p:nvPr/>
        </p:nvSpPr>
        <p:spPr bwMode="auto">
          <a:xfrm>
            <a:off x="457200" y="1143000"/>
            <a:ext cx="73628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CC0000"/>
                </a:solidFill>
                <a:ea typeface="楷体_GB2312" charset="0"/>
              </a:rPr>
              <a:t>如何在排序之后调整记录序列？</a:t>
            </a:r>
            <a:endParaRPr lang="zh-CN" altLang="en-US" sz="4000">
              <a:ea typeface="楷体_GB2312" charset="0"/>
            </a:endParaRPr>
          </a:p>
        </p:txBody>
      </p:sp>
    </p:spTree>
    <p:extLst>
      <p:ext uri="{BB962C8B-B14F-4D97-AF65-F5344CB8AC3E}">
        <p14:creationId xmlns:p14="http://schemas.microsoft.com/office/powerpoint/2010/main" val="5836865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1"/>
                                        </p:tgtEl>
                                        <p:attrNameLst>
                                          <p:attrName>style.visibility</p:attrName>
                                        </p:attrNameLst>
                                      </p:cBhvr>
                                      <p:to>
                                        <p:strVal val="visible"/>
                                      </p:to>
                                    </p:set>
                                    <p:animEffect transition="in" filter="wipe(left)">
                                      <p:cBhvr>
                                        <p:cTn id="7" dur="500"/>
                                        <p:tgtEl>
                                          <p:spTgt spid="78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4" fill="hold" grpId="0" nodeType="clickEffect">
                                  <p:stCondLst>
                                    <p:cond delay="0"/>
                                  </p:stCondLst>
                                  <p:childTnLst>
                                    <p:set>
                                      <p:cBhvr>
                                        <p:cTn id="11" dur="1" fill="hold">
                                          <p:stCondLst>
                                            <p:cond delay="0"/>
                                          </p:stCondLst>
                                        </p:cTn>
                                        <p:tgtEl>
                                          <p:spTgt spid="78850"/>
                                        </p:tgtEl>
                                        <p:attrNameLst>
                                          <p:attrName>style.visibility</p:attrName>
                                        </p:attrNameLst>
                                      </p:cBhvr>
                                      <p:to>
                                        <p:strVal val="visible"/>
                                      </p:to>
                                    </p:set>
                                    <p:anim calcmode="lin" valueType="num">
                                      <p:cBhvr>
                                        <p:cTn id="12" dur="500" fill="hold"/>
                                        <p:tgtEl>
                                          <p:spTgt spid="78850"/>
                                        </p:tgtEl>
                                        <p:attrNameLst>
                                          <p:attrName>ppt_x</p:attrName>
                                        </p:attrNameLst>
                                      </p:cBhvr>
                                      <p:tavLst>
                                        <p:tav tm="0">
                                          <p:val>
                                            <p:strVal val="#ppt_x"/>
                                          </p:val>
                                        </p:tav>
                                        <p:tav tm="100000">
                                          <p:val>
                                            <p:strVal val="#ppt_x"/>
                                          </p:val>
                                        </p:tav>
                                      </p:tavLst>
                                    </p:anim>
                                    <p:anim calcmode="lin" valueType="num">
                                      <p:cBhvr>
                                        <p:cTn id="13" dur="500" fill="hold"/>
                                        <p:tgtEl>
                                          <p:spTgt spid="78850"/>
                                        </p:tgtEl>
                                        <p:attrNameLst>
                                          <p:attrName>ppt_y</p:attrName>
                                        </p:attrNameLst>
                                      </p:cBhvr>
                                      <p:tavLst>
                                        <p:tav tm="0">
                                          <p:val>
                                            <p:strVal val="#ppt_y+#ppt_h/2"/>
                                          </p:val>
                                        </p:tav>
                                        <p:tav tm="100000">
                                          <p:val>
                                            <p:strVal val="#ppt_y"/>
                                          </p:val>
                                        </p:tav>
                                      </p:tavLst>
                                    </p:anim>
                                    <p:anim calcmode="lin" valueType="num">
                                      <p:cBhvr>
                                        <p:cTn id="14" dur="500" fill="hold"/>
                                        <p:tgtEl>
                                          <p:spTgt spid="78850"/>
                                        </p:tgtEl>
                                        <p:attrNameLst>
                                          <p:attrName>ppt_w</p:attrName>
                                        </p:attrNameLst>
                                      </p:cBhvr>
                                      <p:tavLst>
                                        <p:tav tm="0">
                                          <p:val>
                                            <p:strVal val="#ppt_w"/>
                                          </p:val>
                                        </p:tav>
                                        <p:tav tm="100000">
                                          <p:val>
                                            <p:strVal val="#ppt_w"/>
                                          </p:val>
                                        </p:tav>
                                      </p:tavLst>
                                    </p:anim>
                                    <p:anim calcmode="lin" valueType="num">
                                      <p:cBhvr>
                                        <p:cTn id="15" dur="500" fill="hold"/>
                                        <p:tgtEl>
                                          <p:spTgt spid="788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utoUpdateAnimBg="0"/>
      <p:bldP spid="7885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00" y="228600"/>
            <a:ext cx="8855075" cy="645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90000"/>
              </a:lnSpc>
            </a:pPr>
            <a:r>
              <a:rPr lang="en-US" altLang="zh-CN" sz="3600" b="1">
                <a:ea typeface="楷体_GB2312" charset="0"/>
              </a:rPr>
              <a:t>void</a:t>
            </a:r>
            <a:r>
              <a:rPr lang="en-US" altLang="zh-CN" sz="3600">
                <a:ea typeface="楷体_GB2312" charset="0"/>
              </a:rPr>
              <a:t> Arrange ( Elem SL[ ], </a:t>
            </a:r>
            <a:r>
              <a:rPr lang="en-US" altLang="zh-CN" sz="3600" b="1">
                <a:ea typeface="楷体_GB2312" charset="0"/>
              </a:rPr>
              <a:t>int</a:t>
            </a:r>
            <a:r>
              <a:rPr lang="en-US" altLang="zh-CN" sz="3600">
                <a:ea typeface="楷体_GB2312" charset="0"/>
              </a:rPr>
              <a:t> n ) </a:t>
            </a:r>
            <a:r>
              <a:rPr lang="en-US" altLang="zh-CN" sz="3600" b="1">
                <a:ea typeface="楷体_GB2312" charset="0"/>
              </a:rPr>
              <a:t>{</a:t>
            </a:r>
            <a:endParaRPr lang="en-US" altLang="zh-CN" sz="3600">
              <a:ea typeface="楷体_GB2312" charset="0"/>
            </a:endParaRPr>
          </a:p>
          <a:p>
            <a:pPr algn="l">
              <a:lnSpc>
                <a:spcPct val="90000"/>
              </a:lnSpc>
            </a:pPr>
            <a:r>
              <a:rPr lang="en-US" altLang="zh-CN" sz="3600">
                <a:ea typeface="楷体_GB2312" charset="0"/>
              </a:rPr>
              <a:t>  p = SL[0].next;   </a:t>
            </a:r>
            <a:r>
              <a:rPr lang="en-US" altLang="zh-CN" sz="2800">
                <a:ea typeface="楷体_GB2312" charset="0"/>
              </a:rPr>
              <a:t>// p</a:t>
            </a:r>
            <a:r>
              <a:rPr lang="zh-CN" altLang="en-US" sz="2800">
                <a:ea typeface="楷体_GB2312" charset="0"/>
              </a:rPr>
              <a:t>指示第一个记录的当前位置</a:t>
            </a:r>
            <a:endParaRPr lang="zh-CN" altLang="en-US" sz="3600">
              <a:ea typeface="楷体_GB2312" charset="0"/>
            </a:endParaRPr>
          </a:p>
          <a:p>
            <a:pPr algn="l">
              <a:lnSpc>
                <a:spcPct val="90000"/>
              </a:lnSpc>
            </a:pPr>
            <a:r>
              <a:rPr lang="zh-CN" altLang="en-US" sz="3600">
                <a:ea typeface="楷体_GB2312" charset="0"/>
              </a:rPr>
              <a:t>  </a:t>
            </a:r>
            <a:r>
              <a:rPr lang="en-US" altLang="zh-CN" sz="3600" b="1">
                <a:ea typeface="楷体_GB2312" charset="0"/>
              </a:rPr>
              <a:t>for</a:t>
            </a:r>
            <a:r>
              <a:rPr lang="en-US" altLang="zh-CN" sz="3600">
                <a:ea typeface="楷体_GB2312" charset="0"/>
              </a:rPr>
              <a:t> ( i=1; i&lt;n; </a:t>
            </a:r>
            <a:r>
              <a:rPr lang="en-US" altLang="zh-CN" sz="3600" b="1">
                <a:ea typeface="楷体_GB2312" charset="0"/>
              </a:rPr>
              <a:t>++</a:t>
            </a:r>
            <a:r>
              <a:rPr lang="en-US" altLang="zh-CN" sz="3600">
                <a:ea typeface="楷体_GB2312" charset="0"/>
              </a:rPr>
              <a:t>i ) </a:t>
            </a:r>
            <a:r>
              <a:rPr lang="en-US" altLang="zh-CN" sz="3600" b="1">
                <a:ea typeface="楷体_GB2312" charset="0"/>
              </a:rPr>
              <a:t>{</a:t>
            </a:r>
            <a:r>
              <a:rPr lang="en-US" altLang="zh-CN" sz="3600">
                <a:ea typeface="楷体_GB2312" charset="0"/>
              </a:rPr>
              <a:t>      </a:t>
            </a:r>
          </a:p>
          <a:p>
            <a:pPr algn="l">
              <a:lnSpc>
                <a:spcPct val="90000"/>
              </a:lnSpc>
            </a:pPr>
            <a:r>
              <a:rPr lang="en-US" altLang="zh-CN" sz="3600">
                <a:ea typeface="楷体_GB2312" charset="0"/>
              </a:rPr>
              <a:t>    </a:t>
            </a:r>
            <a:r>
              <a:rPr lang="en-US" altLang="zh-CN" sz="3600" b="1">
                <a:solidFill>
                  <a:schemeClr val="accent2"/>
                </a:solidFill>
                <a:ea typeface="楷体_GB2312" charset="0"/>
              </a:rPr>
              <a:t>while</a:t>
            </a:r>
            <a:r>
              <a:rPr lang="en-US" altLang="zh-CN" sz="3600">
                <a:solidFill>
                  <a:schemeClr val="accent2"/>
                </a:solidFill>
                <a:ea typeface="楷体_GB2312" charset="0"/>
              </a:rPr>
              <a:t> (p&lt;i)  p = SL[p].next;</a:t>
            </a:r>
            <a:endParaRPr lang="en-US" altLang="zh-CN" sz="3600">
              <a:ea typeface="楷体_GB2312" charset="0"/>
            </a:endParaRPr>
          </a:p>
          <a:p>
            <a:pPr algn="l">
              <a:lnSpc>
                <a:spcPct val="90000"/>
              </a:lnSpc>
            </a:pPr>
            <a:r>
              <a:rPr lang="en-US" altLang="zh-CN" sz="3600">
                <a:ea typeface="楷体_GB2312" charset="0"/>
              </a:rPr>
              <a:t>    </a:t>
            </a:r>
            <a:r>
              <a:rPr lang="en-US" altLang="zh-CN" sz="3600" b="1">
                <a:solidFill>
                  <a:srgbClr val="FF6600"/>
                </a:solidFill>
                <a:ea typeface="楷体_GB2312" charset="0"/>
              </a:rPr>
              <a:t>q</a:t>
            </a:r>
            <a:r>
              <a:rPr lang="en-US" altLang="zh-CN" sz="3600">
                <a:solidFill>
                  <a:srgbClr val="FF6600"/>
                </a:solidFill>
                <a:ea typeface="楷体_GB2312" charset="0"/>
              </a:rPr>
              <a:t> = SL[</a:t>
            </a:r>
            <a:r>
              <a:rPr lang="en-US" altLang="zh-CN" sz="3600" b="1">
                <a:solidFill>
                  <a:srgbClr val="FF6600"/>
                </a:solidFill>
                <a:ea typeface="楷体_GB2312" charset="0"/>
              </a:rPr>
              <a:t>p</a:t>
            </a:r>
            <a:r>
              <a:rPr lang="en-US" altLang="zh-CN" sz="3600">
                <a:solidFill>
                  <a:srgbClr val="FF6600"/>
                </a:solidFill>
                <a:ea typeface="楷体_GB2312" charset="0"/>
              </a:rPr>
              <a:t>].next;</a:t>
            </a:r>
            <a:r>
              <a:rPr lang="en-US" altLang="zh-CN" sz="3600">
                <a:ea typeface="楷体_GB2312" charset="0"/>
              </a:rPr>
              <a:t>     // q</a:t>
            </a:r>
            <a:r>
              <a:rPr lang="zh-CN" altLang="en-US" sz="3600">
                <a:ea typeface="楷体_GB2312" charset="0"/>
              </a:rPr>
              <a:t>指示尚未调整的表尾</a:t>
            </a:r>
          </a:p>
          <a:p>
            <a:pPr algn="l">
              <a:lnSpc>
                <a:spcPct val="90000"/>
              </a:lnSpc>
            </a:pPr>
            <a:r>
              <a:rPr lang="zh-CN" altLang="en-US" sz="3600">
                <a:ea typeface="楷体_GB2312" charset="0"/>
              </a:rPr>
              <a:t>    </a:t>
            </a:r>
            <a:r>
              <a:rPr lang="en-US" altLang="zh-CN" sz="3600" b="1">
                <a:ea typeface="楷体_GB2312" charset="0"/>
              </a:rPr>
              <a:t>if</a:t>
            </a:r>
            <a:r>
              <a:rPr lang="en-US" altLang="zh-CN" sz="3600">
                <a:ea typeface="楷体_GB2312" charset="0"/>
              </a:rPr>
              <a:t> ( p</a:t>
            </a:r>
            <a:r>
              <a:rPr lang="en-US" altLang="zh-CN" sz="3600" b="1">
                <a:ea typeface="楷体_GB2312" charset="0"/>
              </a:rPr>
              <a:t>!=</a:t>
            </a:r>
            <a:r>
              <a:rPr lang="en-US" altLang="zh-CN" sz="3600">
                <a:ea typeface="楷体_GB2312" charset="0"/>
              </a:rPr>
              <a:t> i ) </a:t>
            </a:r>
            <a:r>
              <a:rPr lang="en-US" altLang="zh-CN" sz="3600" b="1">
                <a:ea typeface="楷体_GB2312" charset="0"/>
              </a:rPr>
              <a:t>{</a:t>
            </a:r>
            <a:endParaRPr lang="en-US" altLang="zh-CN" sz="3600">
              <a:ea typeface="楷体_GB2312" charset="0"/>
            </a:endParaRPr>
          </a:p>
          <a:p>
            <a:pPr algn="l">
              <a:lnSpc>
                <a:spcPct val="90000"/>
              </a:lnSpc>
            </a:pPr>
            <a:r>
              <a:rPr lang="en-US" altLang="zh-CN" sz="3600">
                <a:ea typeface="楷体_GB2312" charset="0"/>
              </a:rPr>
              <a:t>      </a:t>
            </a:r>
            <a:r>
              <a:rPr lang="en-US" altLang="zh-CN" sz="3600" b="1">
                <a:solidFill>
                  <a:srgbClr val="840C26"/>
                </a:solidFill>
                <a:ea typeface="楷体_GB2312" charset="0"/>
              </a:rPr>
              <a:t>SL[p]←→SL[i];</a:t>
            </a:r>
            <a:r>
              <a:rPr lang="en-US" altLang="zh-CN" sz="3600" b="1">
                <a:ea typeface="楷体_GB2312" charset="0"/>
              </a:rPr>
              <a:t> </a:t>
            </a:r>
            <a:r>
              <a:rPr lang="en-US" altLang="zh-CN" sz="2800" b="1">
                <a:ea typeface="楷体_GB2312" charset="0"/>
              </a:rPr>
              <a:t>// </a:t>
            </a:r>
            <a:r>
              <a:rPr lang="zh-CN" altLang="en-US" sz="2800" b="1">
                <a:ea typeface="楷体_GB2312" charset="0"/>
              </a:rPr>
              <a:t>交换记录，使第</a:t>
            </a:r>
            <a:r>
              <a:rPr lang="en-US" altLang="zh-CN" sz="2800" b="1">
                <a:ea typeface="楷体_GB2312" charset="0"/>
              </a:rPr>
              <a:t>i</a:t>
            </a:r>
            <a:r>
              <a:rPr lang="zh-CN" altLang="en-US" sz="2800" b="1">
                <a:ea typeface="楷体_GB2312" charset="0"/>
              </a:rPr>
              <a:t>个记录到位</a:t>
            </a:r>
          </a:p>
          <a:p>
            <a:pPr algn="l">
              <a:lnSpc>
                <a:spcPct val="90000"/>
              </a:lnSpc>
            </a:pPr>
            <a:r>
              <a:rPr lang="zh-CN" altLang="en-US" sz="3600" b="1">
                <a:ea typeface="楷体_GB2312" charset="0"/>
              </a:rPr>
              <a:t>      </a:t>
            </a:r>
            <a:r>
              <a:rPr lang="en-US" altLang="zh-CN" sz="3600" b="1">
                <a:solidFill>
                  <a:srgbClr val="840C26"/>
                </a:solidFill>
                <a:ea typeface="楷体_GB2312" charset="0"/>
              </a:rPr>
              <a:t>SL[i].next = p;</a:t>
            </a:r>
            <a:r>
              <a:rPr lang="en-US" altLang="zh-CN" sz="3600" b="1">
                <a:ea typeface="楷体_GB2312" charset="0"/>
              </a:rPr>
              <a:t>    // </a:t>
            </a:r>
            <a:r>
              <a:rPr lang="zh-CN" altLang="en-US" sz="3600" b="1">
                <a:ea typeface="楷体_GB2312" charset="0"/>
              </a:rPr>
              <a:t>指向被移走的记录</a:t>
            </a:r>
            <a:endParaRPr lang="zh-CN" altLang="en-US" sz="3600">
              <a:ea typeface="楷体_GB2312" charset="0"/>
            </a:endParaRPr>
          </a:p>
          <a:p>
            <a:pPr algn="l">
              <a:lnSpc>
                <a:spcPct val="90000"/>
              </a:lnSpc>
            </a:pPr>
            <a:r>
              <a:rPr lang="zh-CN" altLang="en-US" sz="3600" b="1">
                <a:ea typeface="楷体_GB2312" charset="0"/>
              </a:rPr>
              <a:t>    </a:t>
            </a:r>
            <a:r>
              <a:rPr lang="en-US" altLang="zh-CN" sz="3600" b="1">
                <a:ea typeface="楷体_GB2312" charset="0"/>
              </a:rPr>
              <a:t>}</a:t>
            </a:r>
            <a:endParaRPr lang="en-US" altLang="zh-CN" sz="3600">
              <a:ea typeface="楷体_GB2312" charset="0"/>
            </a:endParaRPr>
          </a:p>
          <a:p>
            <a:pPr algn="l">
              <a:lnSpc>
                <a:spcPct val="90000"/>
              </a:lnSpc>
            </a:pPr>
            <a:r>
              <a:rPr lang="en-US" altLang="zh-CN" sz="3600">
                <a:ea typeface="楷体_GB2312" charset="0"/>
              </a:rPr>
              <a:t>    </a:t>
            </a:r>
            <a:r>
              <a:rPr lang="en-US" altLang="zh-CN" sz="3600">
                <a:solidFill>
                  <a:srgbClr val="FF6600"/>
                </a:solidFill>
                <a:ea typeface="楷体_GB2312" charset="0"/>
              </a:rPr>
              <a:t>p = q;</a:t>
            </a:r>
            <a:r>
              <a:rPr lang="en-US" altLang="zh-CN" sz="3600">
                <a:ea typeface="楷体_GB2312" charset="0"/>
              </a:rPr>
              <a:t>         // p</a:t>
            </a:r>
            <a:r>
              <a:rPr lang="zh-CN" altLang="en-US" sz="3600">
                <a:ea typeface="楷体_GB2312" charset="0"/>
              </a:rPr>
              <a:t>指示尚未调整的表尾，</a:t>
            </a:r>
          </a:p>
          <a:p>
            <a:pPr algn="l">
              <a:lnSpc>
                <a:spcPct val="90000"/>
              </a:lnSpc>
            </a:pPr>
            <a:r>
              <a:rPr lang="zh-CN" altLang="en-US" sz="3600">
                <a:ea typeface="楷体_GB2312" charset="0"/>
              </a:rPr>
              <a:t>                     </a:t>
            </a:r>
            <a:r>
              <a:rPr lang="en-US" altLang="zh-CN" sz="3600">
                <a:ea typeface="楷体_GB2312" charset="0"/>
              </a:rPr>
              <a:t>// </a:t>
            </a:r>
            <a:r>
              <a:rPr lang="zh-CN" altLang="en-US" sz="3600">
                <a:ea typeface="楷体_GB2312" charset="0"/>
              </a:rPr>
              <a:t>为找第</a:t>
            </a:r>
            <a:r>
              <a:rPr lang="en-US" altLang="zh-CN" sz="3600">
                <a:ea typeface="楷体_GB2312" charset="0"/>
              </a:rPr>
              <a:t>i+1</a:t>
            </a:r>
            <a:r>
              <a:rPr lang="zh-CN" altLang="en-US" sz="3600">
                <a:ea typeface="楷体_GB2312" charset="0"/>
              </a:rPr>
              <a:t>个记录作准备</a:t>
            </a:r>
          </a:p>
          <a:p>
            <a:pPr algn="l">
              <a:lnSpc>
                <a:spcPct val="90000"/>
              </a:lnSpc>
            </a:pPr>
            <a:r>
              <a:rPr lang="zh-CN" altLang="en-US" sz="3600">
                <a:ea typeface="楷体_GB2312" charset="0"/>
              </a:rPr>
              <a:t>  </a:t>
            </a:r>
            <a:r>
              <a:rPr lang="en-US" altLang="zh-CN" sz="3600" b="1">
                <a:ea typeface="楷体_GB2312" charset="0"/>
              </a:rPr>
              <a:t>}</a:t>
            </a:r>
            <a:endParaRPr lang="en-US" altLang="zh-CN" sz="3600">
              <a:ea typeface="楷体_GB2312" charset="0"/>
            </a:endParaRPr>
          </a:p>
          <a:p>
            <a:pPr algn="l">
              <a:lnSpc>
                <a:spcPct val="90000"/>
              </a:lnSpc>
            </a:pPr>
            <a:r>
              <a:rPr lang="en-US" altLang="zh-CN" sz="3200" b="1">
                <a:ea typeface="楷体_GB2312" charset="0"/>
              </a:rPr>
              <a:t>}</a:t>
            </a:r>
            <a:r>
              <a:rPr lang="en-US" altLang="zh-CN" sz="3200">
                <a:ea typeface="楷体_GB2312" charset="0"/>
              </a:rPr>
              <a:t> // Arrange</a:t>
            </a:r>
            <a:endParaRPr lang="en-US" altLang="zh-CN" sz="3600">
              <a:ea typeface="楷体_GB2312" charset="0"/>
            </a:endParaRPr>
          </a:p>
        </p:txBody>
      </p:sp>
      <p:pic>
        <p:nvPicPr>
          <p:cNvPr id="19459" name="Picture 3" descr="Neighborhood">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590800" y="6477000"/>
            <a:ext cx="5943600" cy="163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7512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8"/>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4" fill="hold" nodeType="afterEffect">
                                  <p:stCondLst>
                                    <p:cond delay="0"/>
                                  </p:stCondLst>
                                  <p:childTnLst>
                                    <p:set>
                                      <p:cBhvr>
                                        <p:cTn id="9" dur="1" fill="hold">
                                          <p:stCondLst>
                                            <p:cond delay="0"/>
                                          </p:stCondLst>
                                        </p:cTn>
                                        <p:tgtEl>
                                          <p:spTgt spid="19459"/>
                                        </p:tgtEl>
                                        <p:attrNameLst>
                                          <p:attrName>style.visibility</p:attrName>
                                        </p:attrNameLst>
                                      </p:cBhvr>
                                      <p:to>
                                        <p:strVal val="visible"/>
                                      </p:to>
                                    </p:set>
                                    <p:anim calcmode="lin" valueType="num">
                                      <p:cBhvr additive="base">
                                        <p:cTn id="10" dur="500" fill="hold"/>
                                        <p:tgtEl>
                                          <p:spTgt spid="19459"/>
                                        </p:tgtEl>
                                        <p:attrNameLst>
                                          <p:attrName>ppt_x</p:attrName>
                                        </p:attrNameLst>
                                      </p:cBhvr>
                                      <p:tavLst>
                                        <p:tav tm="0">
                                          <p:val>
                                            <p:strVal val="#ppt_x"/>
                                          </p:val>
                                        </p:tav>
                                        <p:tav tm="100000">
                                          <p:val>
                                            <p:strVal val="#ppt_x"/>
                                          </p:val>
                                        </p:tav>
                                      </p:tavLst>
                                    </p:anim>
                                    <p:anim calcmode="lin" valueType="num">
                                      <p:cBhvr additive="base">
                                        <p:cTn id="11"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1026"/>
          <p:cNvSpPr txBox="1">
            <a:spLocks noChangeArrowheads="1"/>
          </p:cNvSpPr>
          <p:nvPr/>
        </p:nvSpPr>
        <p:spPr bwMode="auto">
          <a:xfrm>
            <a:off x="-152400" y="533400"/>
            <a:ext cx="9455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FF00FF"/>
                </a:solidFill>
                <a:ea typeface="楷体_GB2312" charset="0"/>
              </a:rPr>
              <a:t>  </a:t>
            </a:r>
            <a:r>
              <a:rPr lang="zh-CN" altLang="en-US" sz="4400" b="1">
                <a:solidFill>
                  <a:srgbClr val="FF00FF"/>
                </a:solidFill>
                <a:ea typeface="楷体_GB2312" charset="0"/>
              </a:rPr>
              <a:t>四、希尔排序（又称缩小增量排序）</a:t>
            </a:r>
            <a:endParaRPr lang="zh-CN" altLang="en-US" sz="4000" b="1">
              <a:solidFill>
                <a:srgbClr val="FF00FF"/>
              </a:solidFill>
              <a:ea typeface="楷体_GB2312" charset="0"/>
            </a:endParaRPr>
          </a:p>
        </p:txBody>
      </p:sp>
      <p:sp>
        <p:nvSpPr>
          <p:cNvPr id="79875" name="Text Box 1027"/>
          <p:cNvSpPr txBox="1">
            <a:spLocks noChangeArrowheads="1"/>
          </p:cNvSpPr>
          <p:nvPr/>
        </p:nvSpPr>
        <p:spPr bwMode="auto">
          <a:xfrm>
            <a:off x="228600" y="1524000"/>
            <a:ext cx="8915400"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15000"/>
              </a:lnSpc>
            </a:pPr>
            <a:r>
              <a:rPr lang="zh-CN" altLang="en-US" sz="4000">
                <a:ea typeface="楷体_GB2312" charset="0"/>
              </a:rPr>
              <a:t>　   </a:t>
            </a:r>
            <a:r>
              <a:rPr lang="zh-CN" altLang="en-US" sz="4000">
                <a:solidFill>
                  <a:srgbClr val="0000FF"/>
                </a:solidFill>
                <a:ea typeface="楷体_GB2312" charset="0"/>
              </a:rPr>
              <a:t>基本思想：对待排记录序列先作“宏观”调整，再作“微观”调整。</a:t>
            </a:r>
            <a:endParaRPr lang="zh-CN" altLang="en-US" sz="3600">
              <a:solidFill>
                <a:srgbClr val="0000FF"/>
              </a:solidFill>
              <a:ea typeface="楷体_GB2312" charset="0"/>
            </a:endParaRPr>
          </a:p>
        </p:txBody>
      </p:sp>
      <p:sp>
        <p:nvSpPr>
          <p:cNvPr id="79876" name="Text Box 1028"/>
          <p:cNvSpPr txBox="1">
            <a:spLocks noChangeArrowheads="1"/>
          </p:cNvSpPr>
          <p:nvPr/>
        </p:nvSpPr>
        <p:spPr bwMode="auto">
          <a:xfrm>
            <a:off x="152400" y="3162300"/>
            <a:ext cx="8832850"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4000">
                <a:ea typeface="楷体_GB2312" charset="0"/>
              </a:rPr>
              <a:t>     </a:t>
            </a:r>
            <a:r>
              <a:rPr lang="zh-CN" altLang="en-US" sz="4000">
                <a:ea typeface="楷体_GB2312" charset="0"/>
              </a:rPr>
              <a:t>所谓“宏观”调整，指的是，“跳跃式”</a:t>
            </a:r>
          </a:p>
          <a:p>
            <a:pPr algn="l">
              <a:lnSpc>
                <a:spcPct val="120000"/>
              </a:lnSpc>
            </a:pPr>
            <a:r>
              <a:rPr lang="zh-CN" altLang="en-US" sz="4000">
                <a:ea typeface="楷体_GB2312" charset="0"/>
              </a:rPr>
              <a:t>的插入排序。</a:t>
            </a:r>
          </a:p>
          <a:p>
            <a:pPr algn="l">
              <a:lnSpc>
                <a:spcPct val="120000"/>
              </a:lnSpc>
            </a:pPr>
            <a:r>
              <a:rPr lang="zh-CN" altLang="en-US" sz="4000">
                <a:ea typeface="楷体_GB2312" charset="0"/>
              </a:rPr>
              <a:t>    具体做法为：</a:t>
            </a:r>
            <a:endParaRPr lang="zh-CN" altLang="en-US" sz="3600">
              <a:ea typeface="楷体_GB2312" charset="0"/>
            </a:endParaRPr>
          </a:p>
        </p:txBody>
      </p:sp>
    </p:spTree>
    <p:extLst>
      <p:ext uri="{BB962C8B-B14F-4D97-AF65-F5344CB8AC3E}">
        <p14:creationId xmlns:p14="http://schemas.microsoft.com/office/powerpoint/2010/main" val="17272287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randombar(vertical)">
                                      <p:cBhvr>
                                        <p:cTn id="7" dur="500"/>
                                        <p:tgtEl>
                                          <p:spTgt spid="7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box(out)">
                                      <p:cBhvr>
                                        <p:cTn id="12" dur="500"/>
                                        <p:tgtEl>
                                          <p:spTgt spid="798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9876"/>
                                        </p:tgtEl>
                                        <p:attrNameLst>
                                          <p:attrName>style.visibility</p:attrName>
                                        </p:attrNameLst>
                                      </p:cBhvr>
                                      <p:to>
                                        <p:strVal val="visible"/>
                                      </p:to>
                                    </p:set>
                                    <p:animEffect transition="in" filter="box(in)">
                                      <p:cBhvr>
                                        <p:cTn id="17" dur="500"/>
                                        <p:tgtEl>
                                          <p:spTgt spid="7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75" grpId="0" autoUpdateAnimBg="0"/>
      <p:bldP spid="7987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28600" y="171450"/>
            <a:ext cx="89154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600">
                <a:solidFill>
                  <a:srgbClr val="9933FF"/>
                </a:solidFill>
                <a:ea typeface="楷体_GB2312" charset="0"/>
              </a:rPr>
              <a:t>将记录序列分成若干子序列，分别对每个子序列进行插入排序。</a:t>
            </a:r>
            <a:endParaRPr lang="zh-CN" altLang="en-US" sz="3600">
              <a:ea typeface="楷体_GB2312" charset="0"/>
            </a:endParaRPr>
          </a:p>
        </p:txBody>
      </p:sp>
      <p:sp>
        <p:nvSpPr>
          <p:cNvPr id="80899" name="Text Box 3"/>
          <p:cNvSpPr txBox="1">
            <a:spLocks noChangeArrowheads="1"/>
          </p:cNvSpPr>
          <p:nvPr/>
        </p:nvSpPr>
        <p:spPr bwMode="auto">
          <a:xfrm>
            <a:off x="136525" y="4905375"/>
            <a:ext cx="89312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90000"/>
              </a:lnSpc>
            </a:pPr>
            <a:r>
              <a:rPr lang="zh-CN" altLang="en-US" sz="4000">
                <a:solidFill>
                  <a:srgbClr val="005042"/>
                </a:solidFill>
                <a:latin typeface="隶书" charset="0"/>
                <a:ea typeface="隶书" charset="0"/>
              </a:rPr>
              <a:t>其中，</a:t>
            </a:r>
            <a:r>
              <a:rPr lang="en-US" altLang="zh-CN" sz="4000" b="1">
                <a:solidFill>
                  <a:srgbClr val="FF0000"/>
                </a:solidFill>
                <a:ea typeface="隶书" charset="0"/>
              </a:rPr>
              <a:t>d</a:t>
            </a:r>
            <a:r>
              <a:rPr lang="en-US" altLang="zh-CN" sz="4000">
                <a:latin typeface="隶书" charset="0"/>
                <a:ea typeface="隶书" charset="0"/>
              </a:rPr>
              <a:t> </a:t>
            </a:r>
            <a:r>
              <a:rPr lang="zh-CN" altLang="en-US" sz="4000">
                <a:solidFill>
                  <a:srgbClr val="005042"/>
                </a:solidFill>
                <a:latin typeface="隶书" charset="0"/>
                <a:ea typeface="隶书" charset="0"/>
              </a:rPr>
              <a:t>称为增量，它的值在排序过程中从大到小逐渐缩小，直至最后一趟排序</a:t>
            </a:r>
            <a:r>
              <a:rPr lang="zh-CN" altLang="en-US" sz="4000">
                <a:solidFill>
                  <a:srgbClr val="FF0000"/>
                </a:solidFill>
                <a:latin typeface="隶书" charset="0"/>
                <a:ea typeface="隶书" charset="0"/>
              </a:rPr>
              <a:t>减为 </a:t>
            </a:r>
            <a:r>
              <a:rPr lang="en-US" altLang="zh-CN" sz="4000">
                <a:solidFill>
                  <a:srgbClr val="FF0000"/>
                </a:solidFill>
                <a:ea typeface="隶书" charset="0"/>
              </a:rPr>
              <a:t>1</a:t>
            </a:r>
            <a:r>
              <a:rPr lang="zh-CN" altLang="en-US" sz="4000">
                <a:latin typeface="隶书" charset="0"/>
                <a:ea typeface="隶书" charset="0"/>
              </a:rPr>
              <a:t>。</a:t>
            </a:r>
            <a:endParaRPr lang="zh-CN" altLang="en-US"/>
          </a:p>
        </p:txBody>
      </p:sp>
      <p:sp>
        <p:nvSpPr>
          <p:cNvPr id="80900" name="Text Box 4"/>
          <p:cNvSpPr txBox="1">
            <a:spLocks noChangeArrowheads="1"/>
          </p:cNvSpPr>
          <p:nvPr/>
        </p:nvSpPr>
        <p:spPr bwMode="auto">
          <a:xfrm>
            <a:off x="212725" y="1541463"/>
            <a:ext cx="8656638"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3200">
                <a:solidFill>
                  <a:srgbClr val="005042"/>
                </a:solidFill>
                <a:ea typeface="楷体_GB2312" charset="0"/>
              </a:rPr>
              <a:t>例如：将 </a:t>
            </a:r>
            <a:r>
              <a:rPr lang="en-US" altLang="zh-CN" sz="3200">
                <a:solidFill>
                  <a:srgbClr val="005042"/>
                </a:solidFill>
                <a:ea typeface="楷体_GB2312" charset="0"/>
              </a:rPr>
              <a:t>n </a:t>
            </a:r>
            <a:r>
              <a:rPr lang="zh-CN" altLang="en-US" sz="3200">
                <a:solidFill>
                  <a:srgbClr val="005042"/>
                </a:solidFill>
                <a:ea typeface="楷体_GB2312" charset="0"/>
              </a:rPr>
              <a:t>个记录分成 </a:t>
            </a:r>
            <a:r>
              <a:rPr lang="en-US" altLang="zh-CN" sz="3200">
                <a:solidFill>
                  <a:srgbClr val="005042"/>
                </a:solidFill>
                <a:ea typeface="楷体_GB2312" charset="0"/>
              </a:rPr>
              <a:t>d </a:t>
            </a:r>
            <a:r>
              <a:rPr lang="zh-CN" altLang="en-US" sz="3200">
                <a:solidFill>
                  <a:srgbClr val="005042"/>
                </a:solidFill>
                <a:ea typeface="楷体_GB2312" charset="0"/>
              </a:rPr>
              <a:t>个子序列：</a:t>
            </a:r>
          </a:p>
          <a:p>
            <a:pPr algn="l">
              <a:lnSpc>
                <a:spcPct val="120000"/>
              </a:lnSpc>
            </a:pPr>
            <a:r>
              <a:rPr lang="zh-CN" altLang="en-US" sz="3200">
                <a:solidFill>
                  <a:srgbClr val="005042"/>
                </a:solidFill>
                <a:ea typeface="楷体_GB2312" charset="0"/>
              </a:rPr>
              <a:t>  </a:t>
            </a:r>
            <a:r>
              <a:rPr lang="en-US" altLang="zh-CN" sz="3200">
                <a:solidFill>
                  <a:srgbClr val="005042"/>
                </a:solidFill>
                <a:ea typeface="楷体_GB2312" charset="0"/>
              </a:rPr>
              <a:t>{ R[1]</a:t>
            </a:r>
            <a:r>
              <a:rPr lang="zh-CN" altLang="en-US" sz="3200">
                <a:solidFill>
                  <a:srgbClr val="005042"/>
                </a:solidFill>
                <a:ea typeface="楷体_GB2312" charset="0"/>
              </a:rPr>
              <a:t>，</a:t>
            </a:r>
            <a:r>
              <a:rPr lang="en-US" altLang="zh-CN" sz="3200">
                <a:solidFill>
                  <a:srgbClr val="005042"/>
                </a:solidFill>
                <a:ea typeface="楷体_GB2312" charset="0"/>
              </a:rPr>
              <a:t>R[1+d]</a:t>
            </a:r>
            <a:r>
              <a:rPr lang="zh-CN" altLang="en-US" sz="3200">
                <a:solidFill>
                  <a:srgbClr val="005042"/>
                </a:solidFill>
                <a:ea typeface="楷体_GB2312" charset="0"/>
              </a:rPr>
              <a:t>，</a:t>
            </a:r>
            <a:r>
              <a:rPr lang="en-US" altLang="zh-CN" sz="3200">
                <a:solidFill>
                  <a:srgbClr val="005042"/>
                </a:solidFill>
                <a:ea typeface="楷体_GB2312" charset="0"/>
              </a:rPr>
              <a:t>R[1+2d]</a:t>
            </a:r>
            <a:r>
              <a:rPr lang="zh-CN" altLang="en-US" sz="3200">
                <a:solidFill>
                  <a:srgbClr val="005042"/>
                </a:solidFill>
                <a:ea typeface="楷体_GB2312" charset="0"/>
              </a:rPr>
              <a:t>，</a:t>
            </a:r>
            <a:r>
              <a:rPr lang="en-US" altLang="zh-CN" sz="3200">
                <a:solidFill>
                  <a:srgbClr val="005042"/>
                </a:solidFill>
                <a:ea typeface="楷体_GB2312" charset="0"/>
              </a:rPr>
              <a:t>…</a:t>
            </a:r>
            <a:r>
              <a:rPr lang="zh-CN" altLang="en-US" sz="3200">
                <a:solidFill>
                  <a:srgbClr val="005042"/>
                </a:solidFill>
                <a:ea typeface="楷体_GB2312" charset="0"/>
              </a:rPr>
              <a:t>，</a:t>
            </a:r>
            <a:r>
              <a:rPr lang="en-US" altLang="zh-CN" sz="3200">
                <a:solidFill>
                  <a:srgbClr val="005042"/>
                </a:solidFill>
                <a:ea typeface="楷体_GB2312" charset="0"/>
              </a:rPr>
              <a:t>R[1+kd] }</a:t>
            </a:r>
          </a:p>
          <a:p>
            <a:pPr algn="l">
              <a:lnSpc>
                <a:spcPct val="120000"/>
              </a:lnSpc>
            </a:pPr>
            <a:r>
              <a:rPr lang="en-US" altLang="zh-CN" sz="3200">
                <a:solidFill>
                  <a:srgbClr val="005042"/>
                </a:solidFill>
                <a:ea typeface="楷体_GB2312" charset="0"/>
              </a:rPr>
              <a:t>  { R[2]</a:t>
            </a:r>
            <a:r>
              <a:rPr lang="zh-CN" altLang="en-US" sz="3200">
                <a:solidFill>
                  <a:srgbClr val="005042"/>
                </a:solidFill>
                <a:ea typeface="楷体_GB2312" charset="0"/>
              </a:rPr>
              <a:t>，</a:t>
            </a:r>
            <a:r>
              <a:rPr lang="en-US" altLang="zh-CN" sz="3200">
                <a:solidFill>
                  <a:srgbClr val="005042"/>
                </a:solidFill>
                <a:ea typeface="楷体_GB2312" charset="0"/>
              </a:rPr>
              <a:t>R[2+d]</a:t>
            </a:r>
            <a:r>
              <a:rPr lang="zh-CN" altLang="en-US" sz="3200">
                <a:solidFill>
                  <a:srgbClr val="005042"/>
                </a:solidFill>
                <a:ea typeface="楷体_GB2312" charset="0"/>
              </a:rPr>
              <a:t>，</a:t>
            </a:r>
            <a:r>
              <a:rPr lang="en-US" altLang="zh-CN" sz="3200">
                <a:solidFill>
                  <a:srgbClr val="005042"/>
                </a:solidFill>
                <a:ea typeface="楷体_GB2312" charset="0"/>
              </a:rPr>
              <a:t>R[2+2d]</a:t>
            </a:r>
            <a:r>
              <a:rPr lang="zh-CN" altLang="en-US" sz="3200">
                <a:solidFill>
                  <a:srgbClr val="005042"/>
                </a:solidFill>
                <a:ea typeface="楷体_GB2312" charset="0"/>
              </a:rPr>
              <a:t>，</a:t>
            </a:r>
            <a:r>
              <a:rPr lang="en-US" altLang="zh-CN" sz="3200">
                <a:solidFill>
                  <a:srgbClr val="005042"/>
                </a:solidFill>
                <a:ea typeface="楷体_GB2312" charset="0"/>
              </a:rPr>
              <a:t>…</a:t>
            </a:r>
            <a:r>
              <a:rPr lang="zh-CN" altLang="en-US" sz="3200">
                <a:solidFill>
                  <a:srgbClr val="005042"/>
                </a:solidFill>
                <a:ea typeface="楷体_GB2312" charset="0"/>
              </a:rPr>
              <a:t>，</a:t>
            </a:r>
            <a:r>
              <a:rPr lang="en-US" altLang="zh-CN" sz="3200">
                <a:solidFill>
                  <a:srgbClr val="005042"/>
                </a:solidFill>
                <a:ea typeface="楷体_GB2312" charset="0"/>
              </a:rPr>
              <a:t>R[2+kd] }</a:t>
            </a:r>
          </a:p>
          <a:p>
            <a:pPr algn="l">
              <a:lnSpc>
                <a:spcPct val="120000"/>
              </a:lnSpc>
            </a:pPr>
            <a:r>
              <a:rPr lang="en-US" altLang="zh-CN" sz="3200">
                <a:solidFill>
                  <a:srgbClr val="005042"/>
                </a:solidFill>
                <a:ea typeface="楷体_GB2312" charset="0"/>
              </a:rPr>
              <a:t>    …</a:t>
            </a:r>
          </a:p>
          <a:p>
            <a:pPr algn="l">
              <a:lnSpc>
                <a:spcPct val="120000"/>
              </a:lnSpc>
            </a:pPr>
            <a:r>
              <a:rPr lang="en-US" altLang="zh-CN" sz="3200">
                <a:solidFill>
                  <a:srgbClr val="005042"/>
                </a:solidFill>
                <a:ea typeface="楷体_GB2312" charset="0"/>
              </a:rPr>
              <a:t>  { R[d]</a:t>
            </a:r>
            <a:r>
              <a:rPr lang="zh-CN" altLang="en-US" sz="3200">
                <a:solidFill>
                  <a:srgbClr val="005042"/>
                </a:solidFill>
                <a:ea typeface="楷体_GB2312" charset="0"/>
              </a:rPr>
              <a:t>，</a:t>
            </a:r>
            <a:r>
              <a:rPr lang="en-US" altLang="zh-CN" sz="3200">
                <a:solidFill>
                  <a:srgbClr val="005042"/>
                </a:solidFill>
                <a:ea typeface="楷体_GB2312" charset="0"/>
              </a:rPr>
              <a:t>R[2d]</a:t>
            </a:r>
            <a:r>
              <a:rPr lang="zh-CN" altLang="en-US" sz="3200">
                <a:solidFill>
                  <a:srgbClr val="005042"/>
                </a:solidFill>
                <a:ea typeface="楷体_GB2312" charset="0"/>
              </a:rPr>
              <a:t>，</a:t>
            </a:r>
            <a:r>
              <a:rPr lang="en-US" altLang="zh-CN" sz="3200">
                <a:solidFill>
                  <a:srgbClr val="005042"/>
                </a:solidFill>
                <a:ea typeface="楷体_GB2312" charset="0"/>
              </a:rPr>
              <a:t>R[3d]</a:t>
            </a:r>
            <a:r>
              <a:rPr lang="zh-CN" altLang="en-US" sz="3200">
                <a:solidFill>
                  <a:srgbClr val="005042"/>
                </a:solidFill>
                <a:ea typeface="楷体_GB2312" charset="0"/>
              </a:rPr>
              <a:t>，</a:t>
            </a:r>
            <a:r>
              <a:rPr lang="en-US" altLang="zh-CN" sz="3200">
                <a:solidFill>
                  <a:srgbClr val="005042"/>
                </a:solidFill>
                <a:ea typeface="楷体_GB2312" charset="0"/>
              </a:rPr>
              <a:t>…</a:t>
            </a:r>
            <a:r>
              <a:rPr lang="zh-CN" altLang="en-US" sz="3200">
                <a:solidFill>
                  <a:srgbClr val="005042"/>
                </a:solidFill>
                <a:ea typeface="楷体_GB2312" charset="0"/>
              </a:rPr>
              <a:t>，</a:t>
            </a:r>
            <a:r>
              <a:rPr lang="en-US" altLang="zh-CN" sz="3200">
                <a:solidFill>
                  <a:srgbClr val="005042"/>
                </a:solidFill>
                <a:ea typeface="楷体_GB2312" charset="0"/>
              </a:rPr>
              <a:t>R[kd]</a:t>
            </a:r>
            <a:r>
              <a:rPr lang="zh-CN" altLang="en-US" sz="3200">
                <a:solidFill>
                  <a:srgbClr val="005042"/>
                </a:solidFill>
                <a:ea typeface="楷体_GB2312" charset="0"/>
              </a:rPr>
              <a:t>，</a:t>
            </a:r>
            <a:r>
              <a:rPr lang="en-US" altLang="zh-CN" sz="3200">
                <a:solidFill>
                  <a:srgbClr val="005042"/>
                </a:solidFill>
                <a:ea typeface="楷体_GB2312" charset="0"/>
              </a:rPr>
              <a:t>R[(k+1)d] }</a:t>
            </a:r>
            <a:endParaRPr lang="en-US" altLang="zh-CN"/>
          </a:p>
        </p:txBody>
      </p:sp>
    </p:spTree>
    <p:extLst>
      <p:ext uri="{BB962C8B-B14F-4D97-AF65-F5344CB8AC3E}">
        <p14:creationId xmlns:p14="http://schemas.microsoft.com/office/powerpoint/2010/main" val="2675141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Effect transition="in" filter="blinds(vertical)">
                                      <p:cBhvr>
                                        <p:cTn id="7" dur="500"/>
                                        <p:tgtEl>
                                          <p:spTgt spid="80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80899"/>
                                        </p:tgtEl>
                                        <p:attrNameLst>
                                          <p:attrName>style.visibility</p:attrName>
                                        </p:attrNameLst>
                                      </p:cBhvr>
                                      <p:to>
                                        <p:strVal val="visible"/>
                                      </p:to>
                                    </p:set>
                                    <p:animEffect transition="in" filter="blinds(vertical)">
                                      <p:cBhvr>
                                        <p:cTn id="12" dur="500"/>
                                        <p:tgtEl>
                                          <p:spTgt spid="8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8090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ChangeArrowheads="1"/>
          </p:cNvSpPr>
          <p:nvPr/>
        </p:nvSpPr>
        <p:spPr bwMode="auto">
          <a:xfrm>
            <a:off x="1295400" y="838200"/>
            <a:ext cx="6705600" cy="609600"/>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zh-CN">
              <a:solidFill>
                <a:srgbClr val="FF6600"/>
              </a:solidFill>
            </a:endParaRPr>
          </a:p>
        </p:txBody>
      </p:sp>
      <p:sp>
        <p:nvSpPr>
          <p:cNvPr id="21509" name="Line 5"/>
          <p:cNvSpPr>
            <a:spLocks noChangeShapeType="1"/>
          </p:cNvSpPr>
          <p:nvPr/>
        </p:nvSpPr>
        <p:spPr bwMode="auto">
          <a:xfrm>
            <a:off x="19050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1" name="Line 7"/>
          <p:cNvSpPr>
            <a:spLocks noChangeShapeType="1"/>
          </p:cNvSpPr>
          <p:nvPr/>
        </p:nvSpPr>
        <p:spPr bwMode="auto">
          <a:xfrm>
            <a:off x="25146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2" name="Line 8"/>
          <p:cNvSpPr>
            <a:spLocks noChangeShapeType="1"/>
          </p:cNvSpPr>
          <p:nvPr/>
        </p:nvSpPr>
        <p:spPr bwMode="auto">
          <a:xfrm>
            <a:off x="31242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3" name="Line 9"/>
          <p:cNvSpPr>
            <a:spLocks noChangeShapeType="1"/>
          </p:cNvSpPr>
          <p:nvPr/>
        </p:nvSpPr>
        <p:spPr bwMode="auto">
          <a:xfrm>
            <a:off x="37338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4" name="Line 10"/>
          <p:cNvSpPr>
            <a:spLocks noChangeShapeType="1"/>
          </p:cNvSpPr>
          <p:nvPr/>
        </p:nvSpPr>
        <p:spPr bwMode="auto">
          <a:xfrm>
            <a:off x="43434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5" name="Line 11"/>
          <p:cNvSpPr>
            <a:spLocks noChangeShapeType="1"/>
          </p:cNvSpPr>
          <p:nvPr/>
        </p:nvSpPr>
        <p:spPr bwMode="auto">
          <a:xfrm>
            <a:off x="49530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6" name="Line 12"/>
          <p:cNvSpPr>
            <a:spLocks noChangeShapeType="1"/>
          </p:cNvSpPr>
          <p:nvPr/>
        </p:nvSpPr>
        <p:spPr bwMode="auto">
          <a:xfrm>
            <a:off x="55626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7" name="Line 13"/>
          <p:cNvSpPr>
            <a:spLocks noChangeShapeType="1"/>
          </p:cNvSpPr>
          <p:nvPr/>
        </p:nvSpPr>
        <p:spPr bwMode="auto">
          <a:xfrm>
            <a:off x="61722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8" name="Line 14"/>
          <p:cNvSpPr>
            <a:spLocks noChangeShapeType="1"/>
          </p:cNvSpPr>
          <p:nvPr/>
        </p:nvSpPr>
        <p:spPr bwMode="auto">
          <a:xfrm>
            <a:off x="67818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19" name="Line 15"/>
          <p:cNvSpPr>
            <a:spLocks noChangeShapeType="1"/>
          </p:cNvSpPr>
          <p:nvPr/>
        </p:nvSpPr>
        <p:spPr bwMode="auto">
          <a:xfrm>
            <a:off x="7391400" y="8382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1" name="Rectangle 17"/>
          <p:cNvSpPr>
            <a:spLocks noChangeArrowheads="1"/>
          </p:cNvSpPr>
          <p:nvPr/>
        </p:nvSpPr>
        <p:spPr bwMode="auto">
          <a:xfrm>
            <a:off x="1295400" y="2438400"/>
            <a:ext cx="6705600" cy="609600"/>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2" name="Line 18"/>
          <p:cNvSpPr>
            <a:spLocks noChangeShapeType="1"/>
          </p:cNvSpPr>
          <p:nvPr/>
        </p:nvSpPr>
        <p:spPr bwMode="auto">
          <a:xfrm>
            <a:off x="19050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3" name="Line 19"/>
          <p:cNvSpPr>
            <a:spLocks noChangeShapeType="1"/>
          </p:cNvSpPr>
          <p:nvPr/>
        </p:nvSpPr>
        <p:spPr bwMode="auto">
          <a:xfrm>
            <a:off x="25146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4" name="Line 20"/>
          <p:cNvSpPr>
            <a:spLocks noChangeShapeType="1"/>
          </p:cNvSpPr>
          <p:nvPr/>
        </p:nvSpPr>
        <p:spPr bwMode="auto">
          <a:xfrm>
            <a:off x="31242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5" name="Line 21"/>
          <p:cNvSpPr>
            <a:spLocks noChangeShapeType="1"/>
          </p:cNvSpPr>
          <p:nvPr/>
        </p:nvSpPr>
        <p:spPr bwMode="auto">
          <a:xfrm>
            <a:off x="37338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6" name="Line 22"/>
          <p:cNvSpPr>
            <a:spLocks noChangeShapeType="1"/>
          </p:cNvSpPr>
          <p:nvPr/>
        </p:nvSpPr>
        <p:spPr bwMode="auto">
          <a:xfrm>
            <a:off x="43434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7" name="Line 23"/>
          <p:cNvSpPr>
            <a:spLocks noChangeShapeType="1"/>
          </p:cNvSpPr>
          <p:nvPr/>
        </p:nvSpPr>
        <p:spPr bwMode="auto">
          <a:xfrm>
            <a:off x="49530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8" name="Line 24"/>
          <p:cNvSpPr>
            <a:spLocks noChangeShapeType="1"/>
          </p:cNvSpPr>
          <p:nvPr/>
        </p:nvSpPr>
        <p:spPr bwMode="auto">
          <a:xfrm>
            <a:off x="55626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29" name="Line 25"/>
          <p:cNvSpPr>
            <a:spLocks noChangeShapeType="1"/>
          </p:cNvSpPr>
          <p:nvPr/>
        </p:nvSpPr>
        <p:spPr bwMode="auto">
          <a:xfrm>
            <a:off x="61722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0" name="Line 26"/>
          <p:cNvSpPr>
            <a:spLocks noChangeShapeType="1"/>
          </p:cNvSpPr>
          <p:nvPr/>
        </p:nvSpPr>
        <p:spPr bwMode="auto">
          <a:xfrm>
            <a:off x="67818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1" name="Line 27"/>
          <p:cNvSpPr>
            <a:spLocks noChangeShapeType="1"/>
          </p:cNvSpPr>
          <p:nvPr/>
        </p:nvSpPr>
        <p:spPr bwMode="auto">
          <a:xfrm>
            <a:off x="7391400" y="2438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2" name="Rectangle 28"/>
          <p:cNvSpPr>
            <a:spLocks noChangeArrowheads="1"/>
          </p:cNvSpPr>
          <p:nvPr/>
        </p:nvSpPr>
        <p:spPr bwMode="auto">
          <a:xfrm>
            <a:off x="1295400" y="4114800"/>
            <a:ext cx="6705600" cy="609600"/>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3" name="Line 29"/>
          <p:cNvSpPr>
            <a:spLocks noChangeShapeType="1"/>
          </p:cNvSpPr>
          <p:nvPr/>
        </p:nvSpPr>
        <p:spPr bwMode="auto">
          <a:xfrm>
            <a:off x="19050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4" name="Line 30"/>
          <p:cNvSpPr>
            <a:spLocks noChangeShapeType="1"/>
          </p:cNvSpPr>
          <p:nvPr/>
        </p:nvSpPr>
        <p:spPr bwMode="auto">
          <a:xfrm>
            <a:off x="25146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5" name="Line 31"/>
          <p:cNvSpPr>
            <a:spLocks noChangeShapeType="1"/>
          </p:cNvSpPr>
          <p:nvPr/>
        </p:nvSpPr>
        <p:spPr bwMode="auto">
          <a:xfrm>
            <a:off x="31242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6" name="Line 32"/>
          <p:cNvSpPr>
            <a:spLocks noChangeShapeType="1"/>
          </p:cNvSpPr>
          <p:nvPr/>
        </p:nvSpPr>
        <p:spPr bwMode="auto">
          <a:xfrm>
            <a:off x="37338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7" name="Line 33"/>
          <p:cNvSpPr>
            <a:spLocks noChangeShapeType="1"/>
          </p:cNvSpPr>
          <p:nvPr/>
        </p:nvSpPr>
        <p:spPr bwMode="auto">
          <a:xfrm>
            <a:off x="43434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8" name="Line 34"/>
          <p:cNvSpPr>
            <a:spLocks noChangeShapeType="1"/>
          </p:cNvSpPr>
          <p:nvPr/>
        </p:nvSpPr>
        <p:spPr bwMode="auto">
          <a:xfrm>
            <a:off x="49530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39" name="Line 35"/>
          <p:cNvSpPr>
            <a:spLocks noChangeShapeType="1"/>
          </p:cNvSpPr>
          <p:nvPr/>
        </p:nvSpPr>
        <p:spPr bwMode="auto">
          <a:xfrm>
            <a:off x="55626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0" name="Line 36"/>
          <p:cNvSpPr>
            <a:spLocks noChangeShapeType="1"/>
          </p:cNvSpPr>
          <p:nvPr/>
        </p:nvSpPr>
        <p:spPr bwMode="auto">
          <a:xfrm>
            <a:off x="61722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1" name="Line 37"/>
          <p:cNvSpPr>
            <a:spLocks noChangeShapeType="1"/>
          </p:cNvSpPr>
          <p:nvPr/>
        </p:nvSpPr>
        <p:spPr bwMode="auto">
          <a:xfrm>
            <a:off x="67818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2" name="Line 38"/>
          <p:cNvSpPr>
            <a:spLocks noChangeShapeType="1"/>
          </p:cNvSpPr>
          <p:nvPr/>
        </p:nvSpPr>
        <p:spPr bwMode="auto">
          <a:xfrm>
            <a:off x="7391400" y="41148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3" name="Rectangle 39"/>
          <p:cNvSpPr>
            <a:spLocks noChangeArrowheads="1"/>
          </p:cNvSpPr>
          <p:nvPr/>
        </p:nvSpPr>
        <p:spPr bwMode="auto">
          <a:xfrm>
            <a:off x="1295400" y="5867400"/>
            <a:ext cx="6705600" cy="609600"/>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4" name="Line 40"/>
          <p:cNvSpPr>
            <a:spLocks noChangeShapeType="1"/>
          </p:cNvSpPr>
          <p:nvPr/>
        </p:nvSpPr>
        <p:spPr bwMode="auto">
          <a:xfrm>
            <a:off x="19050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5" name="Line 41"/>
          <p:cNvSpPr>
            <a:spLocks noChangeShapeType="1"/>
          </p:cNvSpPr>
          <p:nvPr/>
        </p:nvSpPr>
        <p:spPr bwMode="auto">
          <a:xfrm>
            <a:off x="25146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6" name="Line 42"/>
          <p:cNvSpPr>
            <a:spLocks noChangeShapeType="1"/>
          </p:cNvSpPr>
          <p:nvPr/>
        </p:nvSpPr>
        <p:spPr bwMode="auto">
          <a:xfrm>
            <a:off x="31242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7" name="Line 43"/>
          <p:cNvSpPr>
            <a:spLocks noChangeShapeType="1"/>
          </p:cNvSpPr>
          <p:nvPr/>
        </p:nvSpPr>
        <p:spPr bwMode="auto">
          <a:xfrm>
            <a:off x="37338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8" name="Line 44"/>
          <p:cNvSpPr>
            <a:spLocks noChangeShapeType="1"/>
          </p:cNvSpPr>
          <p:nvPr/>
        </p:nvSpPr>
        <p:spPr bwMode="auto">
          <a:xfrm>
            <a:off x="43434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49" name="Line 45"/>
          <p:cNvSpPr>
            <a:spLocks noChangeShapeType="1"/>
          </p:cNvSpPr>
          <p:nvPr/>
        </p:nvSpPr>
        <p:spPr bwMode="auto">
          <a:xfrm>
            <a:off x="49530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50" name="Line 46"/>
          <p:cNvSpPr>
            <a:spLocks noChangeShapeType="1"/>
          </p:cNvSpPr>
          <p:nvPr/>
        </p:nvSpPr>
        <p:spPr bwMode="auto">
          <a:xfrm>
            <a:off x="55626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51" name="Line 47"/>
          <p:cNvSpPr>
            <a:spLocks noChangeShapeType="1"/>
          </p:cNvSpPr>
          <p:nvPr/>
        </p:nvSpPr>
        <p:spPr bwMode="auto">
          <a:xfrm>
            <a:off x="61722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52" name="Line 48"/>
          <p:cNvSpPr>
            <a:spLocks noChangeShapeType="1"/>
          </p:cNvSpPr>
          <p:nvPr/>
        </p:nvSpPr>
        <p:spPr bwMode="auto">
          <a:xfrm>
            <a:off x="67818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53" name="Line 49"/>
          <p:cNvSpPr>
            <a:spLocks noChangeShapeType="1"/>
          </p:cNvSpPr>
          <p:nvPr/>
        </p:nvSpPr>
        <p:spPr bwMode="auto">
          <a:xfrm>
            <a:off x="7391400" y="5867400"/>
            <a:ext cx="0" cy="60960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1554" name="Text Box 50"/>
          <p:cNvSpPr txBox="1">
            <a:spLocks noChangeArrowheads="1"/>
          </p:cNvSpPr>
          <p:nvPr/>
        </p:nvSpPr>
        <p:spPr bwMode="auto">
          <a:xfrm>
            <a:off x="533400" y="0"/>
            <a:ext cx="170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9933FF"/>
                </a:solidFill>
                <a:ea typeface="隶书" charset="0"/>
              </a:rPr>
              <a:t>例如：</a:t>
            </a:r>
            <a:endParaRPr lang="zh-CN" altLang="en-US" sz="4000">
              <a:ea typeface="楷体_GB2312" charset="0"/>
            </a:endParaRPr>
          </a:p>
        </p:txBody>
      </p:sp>
      <p:sp>
        <p:nvSpPr>
          <p:cNvPr id="21555" name="Text Box 51"/>
          <p:cNvSpPr txBox="1">
            <a:spLocks noChangeArrowheads="1"/>
          </p:cNvSpPr>
          <p:nvPr/>
        </p:nvSpPr>
        <p:spPr bwMode="auto">
          <a:xfrm>
            <a:off x="1219200" y="762000"/>
            <a:ext cx="7194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2"/>
                </a:solidFill>
              </a:rPr>
              <a:t>16  25 12  30 47 11  23 36  9   18 31</a:t>
            </a:r>
            <a:r>
              <a:rPr lang="en-US" altLang="zh-CN" sz="4000">
                <a:solidFill>
                  <a:srgbClr val="0000FF"/>
                </a:solidFill>
              </a:rPr>
              <a:t>   </a:t>
            </a:r>
          </a:p>
        </p:txBody>
      </p:sp>
      <p:sp>
        <p:nvSpPr>
          <p:cNvPr id="21556" name="Text Box 52"/>
          <p:cNvSpPr txBox="1">
            <a:spLocks noChangeArrowheads="1"/>
          </p:cNvSpPr>
          <p:nvPr/>
        </p:nvSpPr>
        <p:spPr bwMode="auto">
          <a:xfrm>
            <a:off x="381000" y="1600200"/>
            <a:ext cx="63119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solidFill>
                  <a:srgbClr val="0000FF"/>
                </a:solidFill>
                <a:ea typeface="楷体_GB2312" charset="0"/>
              </a:rPr>
              <a:t> </a:t>
            </a:r>
            <a:r>
              <a:rPr lang="zh-CN" altLang="en-US" sz="3600">
                <a:solidFill>
                  <a:srgbClr val="005042"/>
                </a:solidFill>
                <a:ea typeface="隶书" charset="0"/>
              </a:rPr>
              <a:t>第一趟希尔排序，设增量 </a:t>
            </a:r>
            <a:r>
              <a:rPr lang="en-US" altLang="zh-CN" sz="3600" b="1">
                <a:solidFill>
                  <a:srgbClr val="A50021"/>
                </a:solidFill>
                <a:ea typeface="楷体_GB2312" charset="0"/>
              </a:rPr>
              <a:t>d =5</a:t>
            </a:r>
            <a:endParaRPr lang="en-US" altLang="zh-CN" sz="4000" b="1">
              <a:solidFill>
                <a:schemeClr val="tx2"/>
              </a:solidFill>
              <a:ea typeface="楷体_GB2312" charset="0"/>
            </a:endParaRPr>
          </a:p>
        </p:txBody>
      </p:sp>
      <p:sp>
        <p:nvSpPr>
          <p:cNvPr id="21557" name="Text Box 53"/>
          <p:cNvSpPr txBox="1">
            <a:spLocks noChangeArrowheads="1"/>
          </p:cNvSpPr>
          <p:nvPr/>
        </p:nvSpPr>
        <p:spPr bwMode="auto">
          <a:xfrm>
            <a:off x="1219200" y="2422525"/>
            <a:ext cx="6940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rPr>
              <a:t>11  </a:t>
            </a:r>
            <a:r>
              <a:rPr lang="en-US" altLang="zh-CN" sz="3600">
                <a:solidFill>
                  <a:srgbClr val="FF6600"/>
                </a:solidFill>
              </a:rPr>
              <a:t>23</a:t>
            </a:r>
            <a:r>
              <a:rPr lang="en-US" altLang="zh-CN" sz="3600">
                <a:solidFill>
                  <a:srgbClr val="0000FF"/>
                </a:solidFill>
              </a:rPr>
              <a:t> </a:t>
            </a:r>
            <a:r>
              <a:rPr lang="en-US" altLang="zh-CN" sz="3600">
                <a:solidFill>
                  <a:srgbClr val="840C26"/>
                </a:solidFill>
              </a:rPr>
              <a:t>12</a:t>
            </a:r>
            <a:r>
              <a:rPr lang="en-US" altLang="zh-CN" sz="3600">
                <a:solidFill>
                  <a:srgbClr val="0000FF"/>
                </a:solidFill>
              </a:rPr>
              <a:t> </a:t>
            </a:r>
            <a:r>
              <a:rPr lang="en-US" altLang="zh-CN" sz="3600">
                <a:solidFill>
                  <a:srgbClr val="FF6600"/>
                </a:solidFill>
              </a:rPr>
              <a:t> </a:t>
            </a:r>
            <a:r>
              <a:rPr lang="en-US" altLang="zh-CN" sz="3600">
                <a:solidFill>
                  <a:srgbClr val="FF99FF"/>
                </a:solidFill>
              </a:rPr>
              <a:t>9 </a:t>
            </a:r>
            <a:r>
              <a:rPr lang="en-US" altLang="zh-CN" sz="3600">
                <a:solidFill>
                  <a:srgbClr val="0000FF"/>
                </a:solidFill>
              </a:rPr>
              <a:t>  </a:t>
            </a:r>
            <a:r>
              <a:rPr lang="en-US" altLang="zh-CN" sz="3600">
                <a:solidFill>
                  <a:schemeClr val="bg2"/>
                </a:solidFill>
              </a:rPr>
              <a:t>18</a:t>
            </a:r>
            <a:r>
              <a:rPr lang="en-US" altLang="zh-CN" sz="3600">
                <a:solidFill>
                  <a:srgbClr val="0000FF"/>
                </a:solidFill>
              </a:rPr>
              <a:t> 16  </a:t>
            </a:r>
            <a:r>
              <a:rPr lang="en-US" altLang="zh-CN" sz="3600">
                <a:solidFill>
                  <a:srgbClr val="FF6600"/>
                </a:solidFill>
              </a:rPr>
              <a:t>25</a:t>
            </a:r>
            <a:r>
              <a:rPr lang="en-US" altLang="zh-CN" sz="3600">
                <a:solidFill>
                  <a:srgbClr val="FF99FF"/>
                </a:solidFill>
              </a:rPr>
              <a:t> </a:t>
            </a:r>
            <a:r>
              <a:rPr lang="en-US" altLang="zh-CN" sz="3600">
                <a:solidFill>
                  <a:srgbClr val="840C26"/>
                </a:solidFill>
              </a:rPr>
              <a:t>36</a:t>
            </a:r>
            <a:r>
              <a:rPr lang="en-US" altLang="zh-CN" sz="3600">
                <a:solidFill>
                  <a:srgbClr val="0000FF"/>
                </a:solidFill>
              </a:rPr>
              <a:t> </a:t>
            </a:r>
            <a:r>
              <a:rPr lang="en-US" altLang="zh-CN" sz="3600">
                <a:solidFill>
                  <a:srgbClr val="FF99FF"/>
                </a:solidFill>
              </a:rPr>
              <a:t>30</a:t>
            </a:r>
            <a:r>
              <a:rPr lang="en-US" altLang="zh-CN" sz="3600">
                <a:solidFill>
                  <a:srgbClr val="0000FF"/>
                </a:solidFill>
              </a:rPr>
              <a:t>  </a:t>
            </a:r>
            <a:r>
              <a:rPr lang="en-US" altLang="zh-CN" sz="3600">
                <a:solidFill>
                  <a:schemeClr val="bg2"/>
                </a:solidFill>
              </a:rPr>
              <a:t>47</a:t>
            </a:r>
            <a:r>
              <a:rPr lang="en-US" altLang="zh-CN" sz="3600">
                <a:solidFill>
                  <a:srgbClr val="0000FF"/>
                </a:solidFill>
              </a:rPr>
              <a:t> 31</a:t>
            </a:r>
            <a:r>
              <a:rPr lang="en-US" altLang="zh-CN" sz="4000">
                <a:solidFill>
                  <a:srgbClr val="0000FF"/>
                </a:solidFill>
              </a:rPr>
              <a:t> </a:t>
            </a:r>
          </a:p>
        </p:txBody>
      </p:sp>
      <p:sp>
        <p:nvSpPr>
          <p:cNvPr id="21558" name="Text Box 54"/>
          <p:cNvSpPr txBox="1">
            <a:spLocks noChangeArrowheads="1"/>
          </p:cNvSpPr>
          <p:nvPr/>
        </p:nvSpPr>
        <p:spPr bwMode="auto">
          <a:xfrm>
            <a:off x="533400" y="3324225"/>
            <a:ext cx="6299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5042"/>
                </a:solidFill>
                <a:ea typeface="隶书" charset="0"/>
              </a:rPr>
              <a:t>第二趟希尔排序，设增量 </a:t>
            </a:r>
            <a:r>
              <a:rPr lang="en-US" altLang="zh-CN" sz="3600" b="1">
                <a:solidFill>
                  <a:srgbClr val="A50021"/>
                </a:solidFill>
                <a:ea typeface="楷体_GB2312" charset="0"/>
              </a:rPr>
              <a:t>d = 3</a:t>
            </a:r>
            <a:endParaRPr lang="en-US" altLang="zh-CN" sz="4000" b="1">
              <a:solidFill>
                <a:srgbClr val="A50021"/>
              </a:solidFill>
              <a:ea typeface="楷体_GB2312" charset="0"/>
            </a:endParaRPr>
          </a:p>
        </p:txBody>
      </p:sp>
      <p:sp>
        <p:nvSpPr>
          <p:cNvPr id="21559" name="Text Box 55"/>
          <p:cNvSpPr txBox="1">
            <a:spLocks noChangeArrowheads="1"/>
          </p:cNvSpPr>
          <p:nvPr/>
        </p:nvSpPr>
        <p:spPr bwMode="auto">
          <a:xfrm>
            <a:off x="1371600" y="411480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rPr>
              <a:t>9  </a:t>
            </a:r>
            <a:r>
              <a:rPr lang="en-US" altLang="zh-CN" sz="3600">
                <a:solidFill>
                  <a:srgbClr val="FF6600"/>
                </a:solidFill>
              </a:rPr>
              <a:t>18</a:t>
            </a:r>
            <a:r>
              <a:rPr lang="en-US" altLang="zh-CN" sz="3600">
                <a:solidFill>
                  <a:srgbClr val="0000FF"/>
                </a:solidFill>
              </a:rPr>
              <a:t>  </a:t>
            </a:r>
            <a:r>
              <a:rPr lang="en-US" altLang="zh-CN" sz="3600">
                <a:solidFill>
                  <a:srgbClr val="840C26"/>
                </a:solidFill>
              </a:rPr>
              <a:t>12</a:t>
            </a:r>
            <a:r>
              <a:rPr lang="en-US" altLang="zh-CN" sz="3600">
                <a:solidFill>
                  <a:srgbClr val="0000FF"/>
                </a:solidFill>
              </a:rPr>
              <a:t>  11 </a:t>
            </a:r>
            <a:r>
              <a:rPr lang="en-US" altLang="zh-CN" sz="3600">
                <a:solidFill>
                  <a:srgbClr val="FF6600"/>
                </a:solidFill>
              </a:rPr>
              <a:t>23</a:t>
            </a:r>
            <a:r>
              <a:rPr lang="en-US" altLang="zh-CN" sz="3600">
                <a:solidFill>
                  <a:srgbClr val="0000FF"/>
                </a:solidFill>
              </a:rPr>
              <a:t> </a:t>
            </a:r>
            <a:r>
              <a:rPr lang="en-US" altLang="zh-CN" sz="3600">
                <a:solidFill>
                  <a:srgbClr val="840C26"/>
                </a:solidFill>
              </a:rPr>
              <a:t>16</a:t>
            </a:r>
            <a:r>
              <a:rPr lang="en-US" altLang="zh-CN" sz="3600">
                <a:solidFill>
                  <a:srgbClr val="0000FF"/>
                </a:solidFill>
              </a:rPr>
              <a:t> 25  </a:t>
            </a:r>
            <a:r>
              <a:rPr lang="en-US" altLang="zh-CN" sz="3600">
                <a:solidFill>
                  <a:srgbClr val="FF6600"/>
                </a:solidFill>
              </a:rPr>
              <a:t>31</a:t>
            </a:r>
            <a:r>
              <a:rPr lang="en-US" altLang="zh-CN" sz="3600">
                <a:solidFill>
                  <a:srgbClr val="0000FF"/>
                </a:solidFill>
              </a:rPr>
              <a:t> </a:t>
            </a:r>
            <a:r>
              <a:rPr lang="en-US" altLang="zh-CN" sz="3600">
                <a:solidFill>
                  <a:srgbClr val="840C26"/>
                </a:solidFill>
              </a:rPr>
              <a:t>30</a:t>
            </a:r>
            <a:r>
              <a:rPr lang="en-US" altLang="zh-CN" sz="3600">
                <a:solidFill>
                  <a:srgbClr val="0000FF"/>
                </a:solidFill>
              </a:rPr>
              <a:t> 47 </a:t>
            </a:r>
            <a:r>
              <a:rPr lang="en-US" altLang="zh-CN" sz="3600">
                <a:solidFill>
                  <a:srgbClr val="FF6600"/>
                </a:solidFill>
              </a:rPr>
              <a:t>36</a:t>
            </a:r>
            <a:endParaRPr lang="en-US" altLang="zh-CN" sz="4000">
              <a:solidFill>
                <a:srgbClr val="0000FF"/>
              </a:solidFill>
            </a:endParaRPr>
          </a:p>
        </p:txBody>
      </p:sp>
      <p:sp>
        <p:nvSpPr>
          <p:cNvPr id="21560" name="Text Box 56"/>
          <p:cNvSpPr txBox="1">
            <a:spLocks noChangeArrowheads="1"/>
          </p:cNvSpPr>
          <p:nvPr/>
        </p:nvSpPr>
        <p:spPr bwMode="auto">
          <a:xfrm>
            <a:off x="609600" y="5000625"/>
            <a:ext cx="6299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5042"/>
                </a:solidFill>
                <a:ea typeface="隶书" charset="0"/>
              </a:rPr>
              <a:t>第三趟希尔排序，设增量 </a:t>
            </a:r>
            <a:r>
              <a:rPr lang="en-US" altLang="zh-CN" sz="3600" b="1">
                <a:solidFill>
                  <a:srgbClr val="A50021"/>
                </a:solidFill>
                <a:ea typeface="楷体_GB2312" charset="0"/>
              </a:rPr>
              <a:t>d = 1</a:t>
            </a:r>
            <a:endParaRPr lang="en-US" altLang="zh-CN" sz="4000" b="1">
              <a:solidFill>
                <a:srgbClr val="A50021"/>
              </a:solidFill>
              <a:ea typeface="楷体_GB2312" charset="0"/>
            </a:endParaRPr>
          </a:p>
        </p:txBody>
      </p:sp>
      <p:sp>
        <p:nvSpPr>
          <p:cNvPr id="21561" name="Text Box 57"/>
          <p:cNvSpPr txBox="1">
            <a:spLocks noChangeArrowheads="1"/>
          </p:cNvSpPr>
          <p:nvPr/>
        </p:nvSpPr>
        <p:spPr bwMode="auto">
          <a:xfrm>
            <a:off x="1219200" y="5791200"/>
            <a:ext cx="69405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solidFill>
                  <a:srgbClr val="0000FF"/>
                </a:solidFill>
              </a:rPr>
              <a:t> </a:t>
            </a:r>
            <a:r>
              <a:rPr lang="en-US" altLang="zh-CN" sz="3600">
                <a:solidFill>
                  <a:srgbClr val="0000FF"/>
                </a:solidFill>
              </a:rPr>
              <a:t>9   11 12 16  18 23  25 30 31 36  47 </a:t>
            </a:r>
          </a:p>
        </p:txBody>
      </p:sp>
    </p:spTree>
    <p:extLst>
      <p:ext uri="{BB962C8B-B14F-4D97-AF65-F5344CB8AC3E}">
        <p14:creationId xmlns:p14="http://schemas.microsoft.com/office/powerpoint/2010/main" val="14712148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554"/>
                                        </p:tgtEl>
                                        <p:attrNameLst>
                                          <p:attrName>style.visibility</p:attrName>
                                        </p:attrNameLst>
                                      </p:cBhvr>
                                      <p:to>
                                        <p:strVal val="visible"/>
                                      </p:to>
                                    </p:set>
                                    <p:anim calcmode="lin" valueType="num">
                                      <p:cBhvr additive="base">
                                        <p:cTn id="7" dur="500" fill="hold"/>
                                        <p:tgtEl>
                                          <p:spTgt spid="21554"/>
                                        </p:tgtEl>
                                        <p:attrNameLst>
                                          <p:attrName>ppt_x</p:attrName>
                                        </p:attrNameLst>
                                      </p:cBhvr>
                                      <p:tavLst>
                                        <p:tav tm="0">
                                          <p:val>
                                            <p:strVal val="#ppt_x"/>
                                          </p:val>
                                        </p:tav>
                                        <p:tav tm="100000">
                                          <p:val>
                                            <p:strVal val="#ppt_x"/>
                                          </p:val>
                                        </p:tav>
                                      </p:tavLst>
                                    </p:anim>
                                    <p:anim calcmode="lin" valueType="num">
                                      <p:cBhvr additive="base">
                                        <p:cTn id="8" dur="500" fill="hold"/>
                                        <p:tgtEl>
                                          <p:spTgt spid="21554"/>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21508"/>
                                        </p:tgtEl>
                                        <p:attrNameLst>
                                          <p:attrName>style.visibility</p:attrName>
                                        </p:attrNameLst>
                                      </p:cBhvr>
                                      <p:to>
                                        <p:strVal val="visible"/>
                                      </p:to>
                                    </p:se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21509"/>
                                        </p:tgtEl>
                                        <p:attrNameLst>
                                          <p:attrName>style.visibility</p:attrName>
                                        </p:attrNameLst>
                                      </p:cBhvr>
                                      <p:to>
                                        <p:strVal val="visible"/>
                                      </p:to>
                                    </p:set>
                                  </p:childTnLst>
                                </p:cTn>
                              </p:par>
                            </p:childTnLst>
                          </p:cTn>
                        </p:par>
                        <p:par>
                          <p:cTn id="15" fill="hold" nodeType="afterGroup">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21511"/>
                                        </p:tgtEl>
                                        <p:attrNameLst>
                                          <p:attrName>style.visibility</p:attrName>
                                        </p:attrNameLst>
                                      </p:cBhvr>
                                      <p:to>
                                        <p:strVal val="visible"/>
                                      </p:to>
                                    </p:set>
                                  </p:childTnLst>
                                </p:cTn>
                              </p:par>
                            </p:childTnLst>
                          </p:cTn>
                        </p:par>
                        <p:par>
                          <p:cTn id="18" fill="hold" nodeType="afterGroup">
                            <p:stCondLst>
                              <p:cond delay="2000"/>
                            </p:stCondLst>
                            <p:childTnLst>
                              <p:par>
                                <p:cTn id="19" presetID="1" presetClass="entr" presetSubtype="0" fill="hold" grpId="0" nodeType="afterEffect">
                                  <p:stCondLst>
                                    <p:cond delay="0"/>
                                  </p:stCondLst>
                                  <p:childTnLst>
                                    <p:set>
                                      <p:cBhvr>
                                        <p:cTn id="20" dur="1" fill="hold">
                                          <p:stCondLst>
                                            <p:cond delay="499"/>
                                          </p:stCondLst>
                                        </p:cTn>
                                        <p:tgtEl>
                                          <p:spTgt spid="21512"/>
                                        </p:tgtEl>
                                        <p:attrNameLst>
                                          <p:attrName>style.visibility</p:attrName>
                                        </p:attrNameLst>
                                      </p:cBhvr>
                                      <p:to>
                                        <p:strVal val="visible"/>
                                      </p:to>
                                    </p:set>
                                  </p:childTnLst>
                                </p:cTn>
                              </p:par>
                            </p:childTnLst>
                          </p:cTn>
                        </p:par>
                        <p:par>
                          <p:cTn id="21" fill="hold" nodeType="afterGroup">
                            <p:stCondLst>
                              <p:cond delay="2500"/>
                            </p:stCondLst>
                            <p:childTnLst>
                              <p:par>
                                <p:cTn id="22" presetID="1" presetClass="entr" presetSubtype="0" fill="hold" grpId="0" nodeType="afterEffect">
                                  <p:stCondLst>
                                    <p:cond delay="0"/>
                                  </p:stCondLst>
                                  <p:childTnLst>
                                    <p:set>
                                      <p:cBhvr>
                                        <p:cTn id="23" dur="1" fill="hold">
                                          <p:stCondLst>
                                            <p:cond delay="499"/>
                                          </p:stCondLst>
                                        </p:cTn>
                                        <p:tgtEl>
                                          <p:spTgt spid="21513"/>
                                        </p:tgtEl>
                                        <p:attrNameLst>
                                          <p:attrName>style.visibility</p:attrName>
                                        </p:attrNameLst>
                                      </p:cBhvr>
                                      <p:to>
                                        <p:strVal val="visible"/>
                                      </p:to>
                                    </p:set>
                                  </p:childTnLst>
                                </p:cTn>
                              </p:par>
                            </p:childTnLst>
                          </p:cTn>
                        </p:par>
                        <p:par>
                          <p:cTn id="24" fill="hold" nodeType="afterGroup">
                            <p:stCondLst>
                              <p:cond delay="3000"/>
                            </p:stCondLst>
                            <p:childTnLst>
                              <p:par>
                                <p:cTn id="25" presetID="1" presetClass="entr" presetSubtype="0" fill="hold" grpId="0" nodeType="afterEffect">
                                  <p:stCondLst>
                                    <p:cond delay="0"/>
                                  </p:stCondLst>
                                  <p:childTnLst>
                                    <p:set>
                                      <p:cBhvr>
                                        <p:cTn id="26" dur="1" fill="hold">
                                          <p:stCondLst>
                                            <p:cond delay="499"/>
                                          </p:stCondLst>
                                        </p:cTn>
                                        <p:tgtEl>
                                          <p:spTgt spid="21514"/>
                                        </p:tgtEl>
                                        <p:attrNameLst>
                                          <p:attrName>style.visibility</p:attrName>
                                        </p:attrNameLst>
                                      </p:cBhvr>
                                      <p:to>
                                        <p:strVal val="visible"/>
                                      </p:to>
                                    </p:set>
                                  </p:childTnLst>
                                </p:cTn>
                              </p:par>
                            </p:childTnLst>
                          </p:cTn>
                        </p:par>
                        <p:par>
                          <p:cTn id="27" fill="hold" nodeType="afterGroup">
                            <p:stCondLst>
                              <p:cond delay="3500"/>
                            </p:stCondLst>
                            <p:childTnLst>
                              <p:par>
                                <p:cTn id="28" presetID="1" presetClass="entr" presetSubtype="0" fill="hold" grpId="0" nodeType="afterEffect">
                                  <p:stCondLst>
                                    <p:cond delay="0"/>
                                  </p:stCondLst>
                                  <p:childTnLst>
                                    <p:set>
                                      <p:cBhvr>
                                        <p:cTn id="29" dur="1" fill="hold">
                                          <p:stCondLst>
                                            <p:cond delay="499"/>
                                          </p:stCondLst>
                                        </p:cTn>
                                        <p:tgtEl>
                                          <p:spTgt spid="21515"/>
                                        </p:tgtEl>
                                        <p:attrNameLst>
                                          <p:attrName>style.visibility</p:attrName>
                                        </p:attrNameLst>
                                      </p:cBhvr>
                                      <p:to>
                                        <p:strVal val="visible"/>
                                      </p:to>
                                    </p:set>
                                  </p:childTnLst>
                                </p:cTn>
                              </p:par>
                            </p:childTnLst>
                          </p:cTn>
                        </p:par>
                        <p:par>
                          <p:cTn id="30" fill="hold" nodeType="afterGroup">
                            <p:stCondLst>
                              <p:cond delay="4000"/>
                            </p:stCondLst>
                            <p:childTnLst>
                              <p:par>
                                <p:cTn id="31" presetID="1" presetClass="entr" presetSubtype="0" fill="hold" grpId="0" nodeType="afterEffect">
                                  <p:stCondLst>
                                    <p:cond delay="0"/>
                                  </p:stCondLst>
                                  <p:childTnLst>
                                    <p:set>
                                      <p:cBhvr>
                                        <p:cTn id="32" dur="1" fill="hold">
                                          <p:stCondLst>
                                            <p:cond delay="499"/>
                                          </p:stCondLst>
                                        </p:cTn>
                                        <p:tgtEl>
                                          <p:spTgt spid="21516"/>
                                        </p:tgtEl>
                                        <p:attrNameLst>
                                          <p:attrName>style.visibility</p:attrName>
                                        </p:attrNameLst>
                                      </p:cBhvr>
                                      <p:to>
                                        <p:strVal val="visible"/>
                                      </p:to>
                                    </p:set>
                                  </p:childTnLst>
                                </p:cTn>
                              </p:par>
                            </p:childTnLst>
                          </p:cTn>
                        </p:par>
                        <p:par>
                          <p:cTn id="33" fill="hold" nodeType="afterGroup">
                            <p:stCondLst>
                              <p:cond delay="4500"/>
                            </p:stCondLst>
                            <p:childTnLst>
                              <p:par>
                                <p:cTn id="34" presetID="1" presetClass="entr" presetSubtype="0" fill="hold" grpId="0" nodeType="afterEffect">
                                  <p:stCondLst>
                                    <p:cond delay="0"/>
                                  </p:stCondLst>
                                  <p:childTnLst>
                                    <p:set>
                                      <p:cBhvr>
                                        <p:cTn id="35" dur="1" fill="hold">
                                          <p:stCondLst>
                                            <p:cond delay="499"/>
                                          </p:stCondLst>
                                        </p:cTn>
                                        <p:tgtEl>
                                          <p:spTgt spid="21517"/>
                                        </p:tgtEl>
                                        <p:attrNameLst>
                                          <p:attrName>style.visibility</p:attrName>
                                        </p:attrNameLst>
                                      </p:cBhvr>
                                      <p:to>
                                        <p:strVal val="visible"/>
                                      </p:to>
                                    </p:set>
                                  </p:childTnLst>
                                </p:cTn>
                              </p:par>
                            </p:childTnLst>
                          </p:cTn>
                        </p:par>
                        <p:par>
                          <p:cTn id="36" fill="hold" nodeType="afterGroup">
                            <p:stCondLst>
                              <p:cond delay="5000"/>
                            </p:stCondLst>
                            <p:childTnLst>
                              <p:par>
                                <p:cTn id="37" presetID="1" presetClass="entr" presetSubtype="0" fill="hold" grpId="0" nodeType="afterEffect">
                                  <p:stCondLst>
                                    <p:cond delay="0"/>
                                  </p:stCondLst>
                                  <p:childTnLst>
                                    <p:set>
                                      <p:cBhvr>
                                        <p:cTn id="38" dur="1" fill="hold">
                                          <p:stCondLst>
                                            <p:cond delay="499"/>
                                          </p:stCondLst>
                                        </p:cTn>
                                        <p:tgtEl>
                                          <p:spTgt spid="21518"/>
                                        </p:tgtEl>
                                        <p:attrNameLst>
                                          <p:attrName>style.visibility</p:attrName>
                                        </p:attrNameLst>
                                      </p:cBhvr>
                                      <p:to>
                                        <p:strVal val="visible"/>
                                      </p:to>
                                    </p:set>
                                  </p:childTnLst>
                                </p:cTn>
                              </p:par>
                            </p:childTnLst>
                          </p:cTn>
                        </p:par>
                        <p:par>
                          <p:cTn id="39" fill="hold" nodeType="afterGroup">
                            <p:stCondLst>
                              <p:cond delay="5500"/>
                            </p:stCondLst>
                            <p:childTnLst>
                              <p:par>
                                <p:cTn id="40" presetID="1" presetClass="entr" presetSubtype="0" fill="hold" grpId="0" nodeType="afterEffect">
                                  <p:stCondLst>
                                    <p:cond delay="0"/>
                                  </p:stCondLst>
                                  <p:childTnLst>
                                    <p:set>
                                      <p:cBhvr>
                                        <p:cTn id="41" dur="1" fill="hold">
                                          <p:stCondLst>
                                            <p:cond delay="499"/>
                                          </p:stCondLst>
                                        </p:cTn>
                                        <p:tgtEl>
                                          <p:spTgt spid="21519"/>
                                        </p:tgtEl>
                                        <p:attrNameLst>
                                          <p:attrName>style.visibility</p:attrName>
                                        </p:attrNameLst>
                                      </p:cBhvr>
                                      <p:to>
                                        <p:strVal val="visible"/>
                                      </p:to>
                                    </p:set>
                                  </p:childTnLst>
                                </p:cTn>
                              </p:par>
                            </p:childTnLst>
                          </p:cTn>
                        </p:par>
                        <p:par>
                          <p:cTn id="42" fill="hold" nodeType="afterGroup">
                            <p:stCondLst>
                              <p:cond delay="6000"/>
                            </p:stCondLst>
                            <p:childTnLst>
                              <p:par>
                                <p:cTn id="43" presetID="1" presetClass="entr" presetSubtype="0" fill="hold" grpId="0" nodeType="afterEffect">
                                  <p:stCondLst>
                                    <p:cond delay="0"/>
                                  </p:stCondLst>
                                  <p:childTnLst>
                                    <p:set>
                                      <p:cBhvr>
                                        <p:cTn id="44" dur="1" fill="hold">
                                          <p:stCondLst>
                                            <p:cond delay="499"/>
                                          </p:stCondLst>
                                        </p:cTn>
                                        <p:tgtEl>
                                          <p:spTgt spid="21555"/>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1556"/>
                                        </p:tgtEl>
                                        <p:attrNameLst>
                                          <p:attrName>style.visibility</p:attrName>
                                        </p:attrNameLst>
                                      </p:cBhvr>
                                      <p:to>
                                        <p:strVal val="visible"/>
                                      </p:to>
                                    </p:set>
                                    <p:animEffect transition="in" filter="wipe(left)">
                                      <p:cBhvr>
                                        <p:cTn id="49" dur="500"/>
                                        <p:tgtEl>
                                          <p:spTgt spid="21556"/>
                                        </p:tgtEl>
                                      </p:cBhvr>
                                    </p:animEffect>
                                  </p:childTnLst>
                                </p:cTn>
                              </p:par>
                            </p:childTnLst>
                          </p:cTn>
                        </p:par>
                        <p:par>
                          <p:cTn id="50" fill="hold" nodeType="afterGroup">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21521"/>
                                        </p:tgtEl>
                                        <p:attrNameLst>
                                          <p:attrName>style.visibility</p:attrName>
                                        </p:attrNameLst>
                                      </p:cBhvr>
                                      <p:to>
                                        <p:strVal val="visible"/>
                                      </p:to>
                                    </p:set>
                                  </p:childTnLst>
                                </p:cTn>
                              </p:par>
                            </p:childTnLst>
                          </p:cTn>
                        </p:par>
                        <p:par>
                          <p:cTn id="53" fill="hold" nodeType="afterGroup">
                            <p:stCondLst>
                              <p:cond delay="1000"/>
                            </p:stCondLst>
                            <p:childTnLst>
                              <p:par>
                                <p:cTn id="54" presetID="1" presetClass="entr" presetSubtype="0" fill="hold" grpId="0" nodeType="afterEffect">
                                  <p:stCondLst>
                                    <p:cond delay="0"/>
                                  </p:stCondLst>
                                  <p:childTnLst>
                                    <p:set>
                                      <p:cBhvr>
                                        <p:cTn id="55" dur="1" fill="hold">
                                          <p:stCondLst>
                                            <p:cond delay="499"/>
                                          </p:stCondLst>
                                        </p:cTn>
                                        <p:tgtEl>
                                          <p:spTgt spid="21522"/>
                                        </p:tgtEl>
                                        <p:attrNameLst>
                                          <p:attrName>style.visibility</p:attrName>
                                        </p:attrNameLst>
                                      </p:cBhvr>
                                      <p:to>
                                        <p:strVal val="visible"/>
                                      </p:to>
                                    </p:set>
                                  </p:childTnLst>
                                </p:cTn>
                              </p:par>
                            </p:childTnLst>
                          </p:cTn>
                        </p:par>
                        <p:par>
                          <p:cTn id="56" fill="hold" nodeType="afterGroup">
                            <p:stCondLst>
                              <p:cond delay="1500"/>
                            </p:stCondLst>
                            <p:childTnLst>
                              <p:par>
                                <p:cTn id="57" presetID="1" presetClass="entr" presetSubtype="0" fill="hold" grpId="0" nodeType="afterEffect">
                                  <p:stCondLst>
                                    <p:cond delay="0"/>
                                  </p:stCondLst>
                                  <p:childTnLst>
                                    <p:set>
                                      <p:cBhvr>
                                        <p:cTn id="58" dur="1" fill="hold">
                                          <p:stCondLst>
                                            <p:cond delay="499"/>
                                          </p:stCondLst>
                                        </p:cTn>
                                        <p:tgtEl>
                                          <p:spTgt spid="21523"/>
                                        </p:tgtEl>
                                        <p:attrNameLst>
                                          <p:attrName>style.visibility</p:attrName>
                                        </p:attrNameLst>
                                      </p:cBhvr>
                                      <p:to>
                                        <p:strVal val="visible"/>
                                      </p:to>
                                    </p:set>
                                  </p:childTnLst>
                                </p:cTn>
                              </p:par>
                            </p:childTnLst>
                          </p:cTn>
                        </p:par>
                        <p:par>
                          <p:cTn id="59" fill="hold" nodeType="afterGroup">
                            <p:stCondLst>
                              <p:cond delay="2000"/>
                            </p:stCondLst>
                            <p:childTnLst>
                              <p:par>
                                <p:cTn id="60" presetID="1" presetClass="entr" presetSubtype="0" fill="hold" grpId="0" nodeType="afterEffect">
                                  <p:stCondLst>
                                    <p:cond delay="0"/>
                                  </p:stCondLst>
                                  <p:childTnLst>
                                    <p:set>
                                      <p:cBhvr>
                                        <p:cTn id="61" dur="1" fill="hold">
                                          <p:stCondLst>
                                            <p:cond delay="499"/>
                                          </p:stCondLst>
                                        </p:cTn>
                                        <p:tgtEl>
                                          <p:spTgt spid="21524"/>
                                        </p:tgtEl>
                                        <p:attrNameLst>
                                          <p:attrName>style.visibility</p:attrName>
                                        </p:attrNameLst>
                                      </p:cBhvr>
                                      <p:to>
                                        <p:strVal val="visible"/>
                                      </p:to>
                                    </p:set>
                                  </p:childTnLst>
                                </p:cTn>
                              </p:par>
                            </p:childTnLst>
                          </p:cTn>
                        </p:par>
                        <p:par>
                          <p:cTn id="62" fill="hold" nodeType="afterGroup">
                            <p:stCondLst>
                              <p:cond delay="2500"/>
                            </p:stCondLst>
                            <p:childTnLst>
                              <p:par>
                                <p:cTn id="63" presetID="1" presetClass="entr" presetSubtype="0" fill="hold" grpId="0" nodeType="afterEffect">
                                  <p:stCondLst>
                                    <p:cond delay="0"/>
                                  </p:stCondLst>
                                  <p:childTnLst>
                                    <p:set>
                                      <p:cBhvr>
                                        <p:cTn id="64" dur="1" fill="hold">
                                          <p:stCondLst>
                                            <p:cond delay="499"/>
                                          </p:stCondLst>
                                        </p:cTn>
                                        <p:tgtEl>
                                          <p:spTgt spid="21525"/>
                                        </p:tgtEl>
                                        <p:attrNameLst>
                                          <p:attrName>style.visibility</p:attrName>
                                        </p:attrNameLst>
                                      </p:cBhvr>
                                      <p:to>
                                        <p:strVal val="visible"/>
                                      </p:to>
                                    </p:set>
                                  </p:childTnLst>
                                </p:cTn>
                              </p:par>
                            </p:childTnLst>
                          </p:cTn>
                        </p:par>
                        <p:par>
                          <p:cTn id="65" fill="hold" nodeType="afterGroup">
                            <p:stCondLst>
                              <p:cond delay="3000"/>
                            </p:stCondLst>
                            <p:childTnLst>
                              <p:par>
                                <p:cTn id="66" presetID="1" presetClass="entr" presetSubtype="0" fill="hold" grpId="0" nodeType="afterEffect">
                                  <p:stCondLst>
                                    <p:cond delay="0"/>
                                  </p:stCondLst>
                                  <p:childTnLst>
                                    <p:set>
                                      <p:cBhvr>
                                        <p:cTn id="67" dur="1" fill="hold">
                                          <p:stCondLst>
                                            <p:cond delay="499"/>
                                          </p:stCondLst>
                                        </p:cTn>
                                        <p:tgtEl>
                                          <p:spTgt spid="21526"/>
                                        </p:tgtEl>
                                        <p:attrNameLst>
                                          <p:attrName>style.visibility</p:attrName>
                                        </p:attrNameLst>
                                      </p:cBhvr>
                                      <p:to>
                                        <p:strVal val="visible"/>
                                      </p:to>
                                    </p:set>
                                  </p:childTnLst>
                                </p:cTn>
                              </p:par>
                            </p:childTnLst>
                          </p:cTn>
                        </p:par>
                        <p:par>
                          <p:cTn id="68" fill="hold" nodeType="afterGroup">
                            <p:stCondLst>
                              <p:cond delay="3500"/>
                            </p:stCondLst>
                            <p:childTnLst>
                              <p:par>
                                <p:cTn id="69" presetID="1" presetClass="entr" presetSubtype="0" fill="hold" grpId="0" nodeType="afterEffect">
                                  <p:stCondLst>
                                    <p:cond delay="0"/>
                                  </p:stCondLst>
                                  <p:childTnLst>
                                    <p:set>
                                      <p:cBhvr>
                                        <p:cTn id="70" dur="1" fill="hold">
                                          <p:stCondLst>
                                            <p:cond delay="499"/>
                                          </p:stCondLst>
                                        </p:cTn>
                                        <p:tgtEl>
                                          <p:spTgt spid="21527"/>
                                        </p:tgtEl>
                                        <p:attrNameLst>
                                          <p:attrName>style.visibility</p:attrName>
                                        </p:attrNameLst>
                                      </p:cBhvr>
                                      <p:to>
                                        <p:strVal val="visible"/>
                                      </p:to>
                                    </p:set>
                                  </p:childTnLst>
                                </p:cTn>
                              </p:par>
                            </p:childTnLst>
                          </p:cTn>
                        </p:par>
                        <p:par>
                          <p:cTn id="71" fill="hold" nodeType="afterGroup">
                            <p:stCondLst>
                              <p:cond delay="4000"/>
                            </p:stCondLst>
                            <p:childTnLst>
                              <p:par>
                                <p:cTn id="72" presetID="1" presetClass="entr" presetSubtype="0" fill="hold" grpId="0" nodeType="afterEffect">
                                  <p:stCondLst>
                                    <p:cond delay="0"/>
                                  </p:stCondLst>
                                  <p:childTnLst>
                                    <p:set>
                                      <p:cBhvr>
                                        <p:cTn id="73" dur="1" fill="hold">
                                          <p:stCondLst>
                                            <p:cond delay="499"/>
                                          </p:stCondLst>
                                        </p:cTn>
                                        <p:tgtEl>
                                          <p:spTgt spid="21528"/>
                                        </p:tgtEl>
                                        <p:attrNameLst>
                                          <p:attrName>style.visibility</p:attrName>
                                        </p:attrNameLst>
                                      </p:cBhvr>
                                      <p:to>
                                        <p:strVal val="visible"/>
                                      </p:to>
                                    </p:set>
                                  </p:childTnLst>
                                </p:cTn>
                              </p:par>
                            </p:childTnLst>
                          </p:cTn>
                        </p:par>
                        <p:par>
                          <p:cTn id="74" fill="hold" nodeType="afterGroup">
                            <p:stCondLst>
                              <p:cond delay="4500"/>
                            </p:stCondLst>
                            <p:childTnLst>
                              <p:par>
                                <p:cTn id="75" presetID="1" presetClass="entr" presetSubtype="0" fill="hold" grpId="0" nodeType="afterEffect">
                                  <p:stCondLst>
                                    <p:cond delay="0"/>
                                  </p:stCondLst>
                                  <p:childTnLst>
                                    <p:set>
                                      <p:cBhvr>
                                        <p:cTn id="76" dur="1" fill="hold">
                                          <p:stCondLst>
                                            <p:cond delay="499"/>
                                          </p:stCondLst>
                                        </p:cTn>
                                        <p:tgtEl>
                                          <p:spTgt spid="21529"/>
                                        </p:tgtEl>
                                        <p:attrNameLst>
                                          <p:attrName>style.visibility</p:attrName>
                                        </p:attrNameLst>
                                      </p:cBhvr>
                                      <p:to>
                                        <p:strVal val="visible"/>
                                      </p:to>
                                    </p:set>
                                  </p:childTnLst>
                                </p:cTn>
                              </p:par>
                            </p:childTnLst>
                          </p:cTn>
                        </p:par>
                        <p:par>
                          <p:cTn id="77" fill="hold" nodeType="afterGroup">
                            <p:stCondLst>
                              <p:cond delay="5000"/>
                            </p:stCondLst>
                            <p:childTnLst>
                              <p:par>
                                <p:cTn id="78" presetID="1" presetClass="entr" presetSubtype="0" fill="hold" grpId="0" nodeType="afterEffect">
                                  <p:stCondLst>
                                    <p:cond delay="0"/>
                                  </p:stCondLst>
                                  <p:childTnLst>
                                    <p:set>
                                      <p:cBhvr>
                                        <p:cTn id="79" dur="1" fill="hold">
                                          <p:stCondLst>
                                            <p:cond delay="499"/>
                                          </p:stCondLst>
                                        </p:cTn>
                                        <p:tgtEl>
                                          <p:spTgt spid="21530"/>
                                        </p:tgtEl>
                                        <p:attrNameLst>
                                          <p:attrName>style.visibility</p:attrName>
                                        </p:attrNameLst>
                                      </p:cBhvr>
                                      <p:to>
                                        <p:strVal val="visible"/>
                                      </p:to>
                                    </p:set>
                                  </p:childTnLst>
                                </p:cTn>
                              </p:par>
                            </p:childTnLst>
                          </p:cTn>
                        </p:par>
                        <p:par>
                          <p:cTn id="80" fill="hold" nodeType="afterGroup">
                            <p:stCondLst>
                              <p:cond delay="5500"/>
                            </p:stCondLst>
                            <p:childTnLst>
                              <p:par>
                                <p:cTn id="81" presetID="1" presetClass="entr" presetSubtype="0" fill="hold" grpId="0" nodeType="afterEffect">
                                  <p:stCondLst>
                                    <p:cond delay="0"/>
                                  </p:stCondLst>
                                  <p:childTnLst>
                                    <p:set>
                                      <p:cBhvr>
                                        <p:cTn id="82" dur="1" fill="hold">
                                          <p:stCondLst>
                                            <p:cond delay="499"/>
                                          </p:stCondLst>
                                        </p:cTn>
                                        <p:tgtEl>
                                          <p:spTgt spid="21531"/>
                                        </p:tgtEl>
                                        <p:attrNameLst>
                                          <p:attrName>style.visibility</p:attrName>
                                        </p:attrNameLst>
                                      </p:cBhvr>
                                      <p:to>
                                        <p:strVal val="visible"/>
                                      </p:to>
                                    </p:set>
                                  </p:childTnLst>
                                </p:cTn>
                              </p:par>
                            </p:childTnLst>
                          </p:cTn>
                        </p:par>
                        <p:par>
                          <p:cTn id="83" fill="hold" nodeType="afterGroup">
                            <p:stCondLst>
                              <p:cond delay="6000"/>
                            </p:stCondLst>
                            <p:childTnLst>
                              <p:par>
                                <p:cTn id="84" presetID="1" presetClass="entr" presetSubtype="0" fill="hold" grpId="0" nodeType="afterEffect">
                                  <p:stCondLst>
                                    <p:cond delay="0"/>
                                  </p:stCondLst>
                                  <p:childTnLst>
                                    <p:set>
                                      <p:cBhvr>
                                        <p:cTn id="85" dur="1" fill="hold">
                                          <p:stCondLst>
                                            <p:cond delay="499"/>
                                          </p:stCondLst>
                                        </p:cTn>
                                        <p:tgtEl>
                                          <p:spTgt spid="21557"/>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1558"/>
                                        </p:tgtEl>
                                        <p:attrNameLst>
                                          <p:attrName>style.visibility</p:attrName>
                                        </p:attrNameLst>
                                      </p:cBhvr>
                                      <p:to>
                                        <p:strVal val="visible"/>
                                      </p:to>
                                    </p:set>
                                    <p:animEffect transition="in" filter="wipe(left)">
                                      <p:cBhvr>
                                        <p:cTn id="90" dur="500"/>
                                        <p:tgtEl>
                                          <p:spTgt spid="21558"/>
                                        </p:tgtEl>
                                      </p:cBhvr>
                                    </p:animEffect>
                                  </p:childTnLst>
                                </p:cTn>
                              </p:par>
                            </p:childTnLst>
                          </p:cTn>
                        </p:par>
                        <p:par>
                          <p:cTn id="91" fill="hold" nodeType="afterGroup">
                            <p:stCondLst>
                              <p:cond delay="500"/>
                            </p:stCondLst>
                            <p:childTnLst>
                              <p:par>
                                <p:cTn id="92" presetID="1" presetClass="entr" presetSubtype="0" fill="hold" grpId="0" nodeType="afterEffect">
                                  <p:stCondLst>
                                    <p:cond delay="0"/>
                                  </p:stCondLst>
                                  <p:childTnLst>
                                    <p:set>
                                      <p:cBhvr>
                                        <p:cTn id="93" dur="1" fill="hold">
                                          <p:stCondLst>
                                            <p:cond delay="499"/>
                                          </p:stCondLst>
                                        </p:cTn>
                                        <p:tgtEl>
                                          <p:spTgt spid="21532"/>
                                        </p:tgtEl>
                                        <p:attrNameLst>
                                          <p:attrName>style.visibility</p:attrName>
                                        </p:attrNameLst>
                                      </p:cBhvr>
                                      <p:to>
                                        <p:strVal val="visible"/>
                                      </p:to>
                                    </p:set>
                                  </p:childTnLst>
                                </p:cTn>
                              </p:par>
                            </p:childTnLst>
                          </p:cTn>
                        </p:par>
                        <p:par>
                          <p:cTn id="94" fill="hold" nodeType="afterGroup">
                            <p:stCondLst>
                              <p:cond delay="1000"/>
                            </p:stCondLst>
                            <p:childTnLst>
                              <p:par>
                                <p:cTn id="95" presetID="1" presetClass="entr" presetSubtype="0" fill="hold" grpId="0" nodeType="afterEffect">
                                  <p:stCondLst>
                                    <p:cond delay="0"/>
                                  </p:stCondLst>
                                  <p:childTnLst>
                                    <p:set>
                                      <p:cBhvr>
                                        <p:cTn id="96" dur="1" fill="hold">
                                          <p:stCondLst>
                                            <p:cond delay="499"/>
                                          </p:stCondLst>
                                        </p:cTn>
                                        <p:tgtEl>
                                          <p:spTgt spid="21533"/>
                                        </p:tgtEl>
                                        <p:attrNameLst>
                                          <p:attrName>style.visibility</p:attrName>
                                        </p:attrNameLst>
                                      </p:cBhvr>
                                      <p:to>
                                        <p:strVal val="visible"/>
                                      </p:to>
                                    </p:set>
                                  </p:childTnLst>
                                </p:cTn>
                              </p:par>
                            </p:childTnLst>
                          </p:cTn>
                        </p:par>
                        <p:par>
                          <p:cTn id="97" fill="hold" nodeType="afterGroup">
                            <p:stCondLst>
                              <p:cond delay="1500"/>
                            </p:stCondLst>
                            <p:childTnLst>
                              <p:par>
                                <p:cTn id="98" presetID="1" presetClass="entr" presetSubtype="0" fill="hold" grpId="0" nodeType="afterEffect">
                                  <p:stCondLst>
                                    <p:cond delay="0"/>
                                  </p:stCondLst>
                                  <p:childTnLst>
                                    <p:set>
                                      <p:cBhvr>
                                        <p:cTn id="99" dur="1" fill="hold">
                                          <p:stCondLst>
                                            <p:cond delay="499"/>
                                          </p:stCondLst>
                                        </p:cTn>
                                        <p:tgtEl>
                                          <p:spTgt spid="21534"/>
                                        </p:tgtEl>
                                        <p:attrNameLst>
                                          <p:attrName>style.visibility</p:attrName>
                                        </p:attrNameLst>
                                      </p:cBhvr>
                                      <p:to>
                                        <p:strVal val="visible"/>
                                      </p:to>
                                    </p:set>
                                  </p:childTnLst>
                                </p:cTn>
                              </p:par>
                            </p:childTnLst>
                          </p:cTn>
                        </p:par>
                        <p:par>
                          <p:cTn id="100" fill="hold" nodeType="afterGroup">
                            <p:stCondLst>
                              <p:cond delay="2000"/>
                            </p:stCondLst>
                            <p:childTnLst>
                              <p:par>
                                <p:cTn id="101" presetID="1" presetClass="entr" presetSubtype="0" fill="hold" grpId="0" nodeType="afterEffect">
                                  <p:stCondLst>
                                    <p:cond delay="0"/>
                                  </p:stCondLst>
                                  <p:childTnLst>
                                    <p:set>
                                      <p:cBhvr>
                                        <p:cTn id="102" dur="1" fill="hold">
                                          <p:stCondLst>
                                            <p:cond delay="499"/>
                                          </p:stCondLst>
                                        </p:cTn>
                                        <p:tgtEl>
                                          <p:spTgt spid="21535"/>
                                        </p:tgtEl>
                                        <p:attrNameLst>
                                          <p:attrName>style.visibility</p:attrName>
                                        </p:attrNameLst>
                                      </p:cBhvr>
                                      <p:to>
                                        <p:strVal val="visible"/>
                                      </p:to>
                                    </p:set>
                                  </p:childTnLst>
                                </p:cTn>
                              </p:par>
                            </p:childTnLst>
                          </p:cTn>
                        </p:par>
                        <p:par>
                          <p:cTn id="103" fill="hold" nodeType="afterGroup">
                            <p:stCondLst>
                              <p:cond delay="2500"/>
                            </p:stCondLst>
                            <p:childTnLst>
                              <p:par>
                                <p:cTn id="104" presetID="1" presetClass="entr" presetSubtype="0" fill="hold" grpId="0" nodeType="afterEffect">
                                  <p:stCondLst>
                                    <p:cond delay="0"/>
                                  </p:stCondLst>
                                  <p:childTnLst>
                                    <p:set>
                                      <p:cBhvr>
                                        <p:cTn id="105" dur="1" fill="hold">
                                          <p:stCondLst>
                                            <p:cond delay="499"/>
                                          </p:stCondLst>
                                        </p:cTn>
                                        <p:tgtEl>
                                          <p:spTgt spid="21536"/>
                                        </p:tgtEl>
                                        <p:attrNameLst>
                                          <p:attrName>style.visibility</p:attrName>
                                        </p:attrNameLst>
                                      </p:cBhvr>
                                      <p:to>
                                        <p:strVal val="visible"/>
                                      </p:to>
                                    </p:set>
                                  </p:childTnLst>
                                </p:cTn>
                              </p:par>
                            </p:childTnLst>
                          </p:cTn>
                        </p:par>
                        <p:par>
                          <p:cTn id="106" fill="hold" nodeType="afterGroup">
                            <p:stCondLst>
                              <p:cond delay="3000"/>
                            </p:stCondLst>
                            <p:childTnLst>
                              <p:par>
                                <p:cTn id="107" presetID="1" presetClass="entr" presetSubtype="0" fill="hold" grpId="0" nodeType="afterEffect">
                                  <p:stCondLst>
                                    <p:cond delay="0"/>
                                  </p:stCondLst>
                                  <p:childTnLst>
                                    <p:set>
                                      <p:cBhvr>
                                        <p:cTn id="108" dur="1" fill="hold">
                                          <p:stCondLst>
                                            <p:cond delay="499"/>
                                          </p:stCondLst>
                                        </p:cTn>
                                        <p:tgtEl>
                                          <p:spTgt spid="21537"/>
                                        </p:tgtEl>
                                        <p:attrNameLst>
                                          <p:attrName>style.visibility</p:attrName>
                                        </p:attrNameLst>
                                      </p:cBhvr>
                                      <p:to>
                                        <p:strVal val="visible"/>
                                      </p:to>
                                    </p:set>
                                  </p:childTnLst>
                                </p:cTn>
                              </p:par>
                            </p:childTnLst>
                          </p:cTn>
                        </p:par>
                        <p:par>
                          <p:cTn id="109" fill="hold" nodeType="afterGroup">
                            <p:stCondLst>
                              <p:cond delay="3500"/>
                            </p:stCondLst>
                            <p:childTnLst>
                              <p:par>
                                <p:cTn id="110" presetID="1" presetClass="entr" presetSubtype="0" fill="hold" grpId="0" nodeType="afterEffect">
                                  <p:stCondLst>
                                    <p:cond delay="0"/>
                                  </p:stCondLst>
                                  <p:childTnLst>
                                    <p:set>
                                      <p:cBhvr>
                                        <p:cTn id="111" dur="1" fill="hold">
                                          <p:stCondLst>
                                            <p:cond delay="499"/>
                                          </p:stCondLst>
                                        </p:cTn>
                                        <p:tgtEl>
                                          <p:spTgt spid="21538"/>
                                        </p:tgtEl>
                                        <p:attrNameLst>
                                          <p:attrName>style.visibility</p:attrName>
                                        </p:attrNameLst>
                                      </p:cBhvr>
                                      <p:to>
                                        <p:strVal val="visible"/>
                                      </p:to>
                                    </p:set>
                                  </p:childTnLst>
                                </p:cTn>
                              </p:par>
                            </p:childTnLst>
                          </p:cTn>
                        </p:par>
                        <p:par>
                          <p:cTn id="112" fill="hold" nodeType="afterGroup">
                            <p:stCondLst>
                              <p:cond delay="4000"/>
                            </p:stCondLst>
                            <p:childTnLst>
                              <p:par>
                                <p:cTn id="113" presetID="1" presetClass="entr" presetSubtype="0" fill="hold" grpId="0" nodeType="afterEffect">
                                  <p:stCondLst>
                                    <p:cond delay="0"/>
                                  </p:stCondLst>
                                  <p:childTnLst>
                                    <p:set>
                                      <p:cBhvr>
                                        <p:cTn id="114" dur="1" fill="hold">
                                          <p:stCondLst>
                                            <p:cond delay="499"/>
                                          </p:stCondLst>
                                        </p:cTn>
                                        <p:tgtEl>
                                          <p:spTgt spid="21539"/>
                                        </p:tgtEl>
                                        <p:attrNameLst>
                                          <p:attrName>style.visibility</p:attrName>
                                        </p:attrNameLst>
                                      </p:cBhvr>
                                      <p:to>
                                        <p:strVal val="visible"/>
                                      </p:to>
                                    </p:set>
                                  </p:childTnLst>
                                </p:cTn>
                              </p:par>
                            </p:childTnLst>
                          </p:cTn>
                        </p:par>
                        <p:par>
                          <p:cTn id="115" fill="hold" nodeType="afterGroup">
                            <p:stCondLst>
                              <p:cond delay="4500"/>
                            </p:stCondLst>
                            <p:childTnLst>
                              <p:par>
                                <p:cTn id="116" presetID="1" presetClass="entr" presetSubtype="0" fill="hold" grpId="0" nodeType="afterEffect">
                                  <p:stCondLst>
                                    <p:cond delay="0"/>
                                  </p:stCondLst>
                                  <p:childTnLst>
                                    <p:set>
                                      <p:cBhvr>
                                        <p:cTn id="117" dur="1" fill="hold">
                                          <p:stCondLst>
                                            <p:cond delay="499"/>
                                          </p:stCondLst>
                                        </p:cTn>
                                        <p:tgtEl>
                                          <p:spTgt spid="21540"/>
                                        </p:tgtEl>
                                        <p:attrNameLst>
                                          <p:attrName>style.visibility</p:attrName>
                                        </p:attrNameLst>
                                      </p:cBhvr>
                                      <p:to>
                                        <p:strVal val="visible"/>
                                      </p:to>
                                    </p:set>
                                  </p:childTnLst>
                                </p:cTn>
                              </p:par>
                            </p:childTnLst>
                          </p:cTn>
                        </p:par>
                        <p:par>
                          <p:cTn id="118" fill="hold" nodeType="afterGroup">
                            <p:stCondLst>
                              <p:cond delay="5000"/>
                            </p:stCondLst>
                            <p:childTnLst>
                              <p:par>
                                <p:cTn id="119" presetID="1" presetClass="entr" presetSubtype="0" fill="hold" grpId="0" nodeType="afterEffect">
                                  <p:stCondLst>
                                    <p:cond delay="0"/>
                                  </p:stCondLst>
                                  <p:childTnLst>
                                    <p:set>
                                      <p:cBhvr>
                                        <p:cTn id="120" dur="1" fill="hold">
                                          <p:stCondLst>
                                            <p:cond delay="499"/>
                                          </p:stCondLst>
                                        </p:cTn>
                                        <p:tgtEl>
                                          <p:spTgt spid="21541"/>
                                        </p:tgtEl>
                                        <p:attrNameLst>
                                          <p:attrName>style.visibility</p:attrName>
                                        </p:attrNameLst>
                                      </p:cBhvr>
                                      <p:to>
                                        <p:strVal val="visible"/>
                                      </p:to>
                                    </p:set>
                                  </p:childTnLst>
                                </p:cTn>
                              </p:par>
                            </p:childTnLst>
                          </p:cTn>
                        </p:par>
                        <p:par>
                          <p:cTn id="121" fill="hold" nodeType="afterGroup">
                            <p:stCondLst>
                              <p:cond delay="5500"/>
                            </p:stCondLst>
                            <p:childTnLst>
                              <p:par>
                                <p:cTn id="122" presetID="1" presetClass="entr" presetSubtype="0" fill="hold" grpId="0" nodeType="afterEffect">
                                  <p:stCondLst>
                                    <p:cond delay="0"/>
                                  </p:stCondLst>
                                  <p:childTnLst>
                                    <p:set>
                                      <p:cBhvr>
                                        <p:cTn id="123" dur="1" fill="hold">
                                          <p:stCondLst>
                                            <p:cond delay="499"/>
                                          </p:stCondLst>
                                        </p:cTn>
                                        <p:tgtEl>
                                          <p:spTgt spid="21542"/>
                                        </p:tgtEl>
                                        <p:attrNameLst>
                                          <p:attrName>style.visibility</p:attrName>
                                        </p:attrNameLst>
                                      </p:cBhvr>
                                      <p:to>
                                        <p:strVal val="visible"/>
                                      </p:to>
                                    </p:set>
                                  </p:childTnLst>
                                </p:cTn>
                              </p:par>
                            </p:childTnLst>
                          </p:cTn>
                        </p:par>
                        <p:par>
                          <p:cTn id="124" fill="hold" nodeType="afterGroup">
                            <p:stCondLst>
                              <p:cond delay="6000"/>
                            </p:stCondLst>
                            <p:childTnLst>
                              <p:par>
                                <p:cTn id="125" presetID="1" presetClass="entr" presetSubtype="0" fill="hold" grpId="0" nodeType="afterEffect">
                                  <p:stCondLst>
                                    <p:cond delay="0"/>
                                  </p:stCondLst>
                                  <p:childTnLst>
                                    <p:set>
                                      <p:cBhvr>
                                        <p:cTn id="126" dur="1" fill="hold">
                                          <p:stCondLst>
                                            <p:cond delay="499"/>
                                          </p:stCondLst>
                                        </p:cTn>
                                        <p:tgtEl>
                                          <p:spTgt spid="21559"/>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1560"/>
                                        </p:tgtEl>
                                        <p:attrNameLst>
                                          <p:attrName>style.visibility</p:attrName>
                                        </p:attrNameLst>
                                      </p:cBhvr>
                                      <p:to>
                                        <p:strVal val="visible"/>
                                      </p:to>
                                    </p:set>
                                    <p:animEffect transition="in" filter="wipe(left)">
                                      <p:cBhvr>
                                        <p:cTn id="131" dur="500"/>
                                        <p:tgtEl>
                                          <p:spTgt spid="21560"/>
                                        </p:tgtEl>
                                      </p:cBhvr>
                                    </p:animEffect>
                                  </p:childTnLst>
                                </p:cTn>
                              </p:par>
                            </p:childTnLst>
                          </p:cTn>
                        </p:par>
                        <p:par>
                          <p:cTn id="132" fill="hold" nodeType="afterGroup">
                            <p:stCondLst>
                              <p:cond delay="500"/>
                            </p:stCondLst>
                            <p:childTnLst>
                              <p:par>
                                <p:cTn id="133" presetID="1" presetClass="entr" presetSubtype="0" fill="hold" grpId="0" nodeType="afterEffect">
                                  <p:stCondLst>
                                    <p:cond delay="0"/>
                                  </p:stCondLst>
                                  <p:childTnLst>
                                    <p:set>
                                      <p:cBhvr>
                                        <p:cTn id="134" dur="1" fill="hold">
                                          <p:stCondLst>
                                            <p:cond delay="499"/>
                                          </p:stCondLst>
                                        </p:cTn>
                                        <p:tgtEl>
                                          <p:spTgt spid="21543"/>
                                        </p:tgtEl>
                                        <p:attrNameLst>
                                          <p:attrName>style.visibility</p:attrName>
                                        </p:attrNameLst>
                                      </p:cBhvr>
                                      <p:to>
                                        <p:strVal val="visible"/>
                                      </p:to>
                                    </p:set>
                                  </p:childTnLst>
                                </p:cTn>
                              </p:par>
                            </p:childTnLst>
                          </p:cTn>
                        </p:par>
                        <p:par>
                          <p:cTn id="135" fill="hold" nodeType="afterGroup">
                            <p:stCondLst>
                              <p:cond delay="1000"/>
                            </p:stCondLst>
                            <p:childTnLst>
                              <p:par>
                                <p:cTn id="136" presetID="1" presetClass="entr" presetSubtype="0" fill="hold" grpId="0" nodeType="afterEffect">
                                  <p:stCondLst>
                                    <p:cond delay="0"/>
                                  </p:stCondLst>
                                  <p:childTnLst>
                                    <p:set>
                                      <p:cBhvr>
                                        <p:cTn id="137" dur="1" fill="hold">
                                          <p:stCondLst>
                                            <p:cond delay="499"/>
                                          </p:stCondLst>
                                        </p:cTn>
                                        <p:tgtEl>
                                          <p:spTgt spid="21544"/>
                                        </p:tgtEl>
                                        <p:attrNameLst>
                                          <p:attrName>style.visibility</p:attrName>
                                        </p:attrNameLst>
                                      </p:cBhvr>
                                      <p:to>
                                        <p:strVal val="visible"/>
                                      </p:to>
                                    </p:set>
                                  </p:childTnLst>
                                </p:cTn>
                              </p:par>
                            </p:childTnLst>
                          </p:cTn>
                        </p:par>
                        <p:par>
                          <p:cTn id="138" fill="hold" nodeType="afterGroup">
                            <p:stCondLst>
                              <p:cond delay="1500"/>
                            </p:stCondLst>
                            <p:childTnLst>
                              <p:par>
                                <p:cTn id="139" presetID="1" presetClass="entr" presetSubtype="0" fill="hold" grpId="0" nodeType="afterEffect">
                                  <p:stCondLst>
                                    <p:cond delay="0"/>
                                  </p:stCondLst>
                                  <p:childTnLst>
                                    <p:set>
                                      <p:cBhvr>
                                        <p:cTn id="140" dur="1" fill="hold">
                                          <p:stCondLst>
                                            <p:cond delay="499"/>
                                          </p:stCondLst>
                                        </p:cTn>
                                        <p:tgtEl>
                                          <p:spTgt spid="21545"/>
                                        </p:tgtEl>
                                        <p:attrNameLst>
                                          <p:attrName>style.visibility</p:attrName>
                                        </p:attrNameLst>
                                      </p:cBhvr>
                                      <p:to>
                                        <p:strVal val="visible"/>
                                      </p:to>
                                    </p:set>
                                  </p:childTnLst>
                                </p:cTn>
                              </p:par>
                            </p:childTnLst>
                          </p:cTn>
                        </p:par>
                        <p:par>
                          <p:cTn id="141" fill="hold" nodeType="afterGroup">
                            <p:stCondLst>
                              <p:cond delay="2000"/>
                            </p:stCondLst>
                            <p:childTnLst>
                              <p:par>
                                <p:cTn id="142" presetID="1" presetClass="entr" presetSubtype="0" fill="hold" grpId="0" nodeType="afterEffect">
                                  <p:stCondLst>
                                    <p:cond delay="0"/>
                                  </p:stCondLst>
                                  <p:childTnLst>
                                    <p:set>
                                      <p:cBhvr>
                                        <p:cTn id="143" dur="1" fill="hold">
                                          <p:stCondLst>
                                            <p:cond delay="499"/>
                                          </p:stCondLst>
                                        </p:cTn>
                                        <p:tgtEl>
                                          <p:spTgt spid="21546"/>
                                        </p:tgtEl>
                                        <p:attrNameLst>
                                          <p:attrName>style.visibility</p:attrName>
                                        </p:attrNameLst>
                                      </p:cBhvr>
                                      <p:to>
                                        <p:strVal val="visible"/>
                                      </p:to>
                                    </p:set>
                                  </p:childTnLst>
                                </p:cTn>
                              </p:par>
                            </p:childTnLst>
                          </p:cTn>
                        </p:par>
                        <p:par>
                          <p:cTn id="144" fill="hold" nodeType="afterGroup">
                            <p:stCondLst>
                              <p:cond delay="2500"/>
                            </p:stCondLst>
                            <p:childTnLst>
                              <p:par>
                                <p:cTn id="145" presetID="1" presetClass="entr" presetSubtype="0" fill="hold" grpId="0" nodeType="afterEffect">
                                  <p:stCondLst>
                                    <p:cond delay="0"/>
                                  </p:stCondLst>
                                  <p:childTnLst>
                                    <p:set>
                                      <p:cBhvr>
                                        <p:cTn id="146" dur="1" fill="hold">
                                          <p:stCondLst>
                                            <p:cond delay="499"/>
                                          </p:stCondLst>
                                        </p:cTn>
                                        <p:tgtEl>
                                          <p:spTgt spid="21547"/>
                                        </p:tgtEl>
                                        <p:attrNameLst>
                                          <p:attrName>style.visibility</p:attrName>
                                        </p:attrNameLst>
                                      </p:cBhvr>
                                      <p:to>
                                        <p:strVal val="visible"/>
                                      </p:to>
                                    </p:set>
                                  </p:childTnLst>
                                </p:cTn>
                              </p:par>
                            </p:childTnLst>
                          </p:cTn>
                        </p:par>
                        <p:par>
                          <p:cTn id="147" fill="hold" nodeType="afterGroup">
                            <p:stCondLst>
                              <p:cond delay="3000"/>
                            </p:stCondLst>
                            <p:childTnLst>
                              <p:par>
                                <p:cTn id="148" presetID="1" presetClass="entr" presetSubtype="0" fill="hold" grpId="0" nodeType="afterEffect">
                                  <p:stCondLst>
                                    <p:cond delay="0"/>
                                  </p:stCondLst>
                                  <p:childTnLst>
                                    <p:set>
                                      <p:cBhvr>
                                        <p:cTn id="149" dur="1" fill="hold">
                                          <p:stCondLst>
                                            <p:cond delay="499"/>
                                          </p:stCondLst>
                                        </p:cTn>
                                        <p:tgtEl>
                                          <p:spTgt spid="21548"/>
                                        </p:tgtEl>
                                        <p:attrNameLst>
                                          <p:attrName>style.visibility</p:attrName>
                                        </p:attrNameLst>
                                      </p:cBhvr>
                                      <p:to>
                                        <p:strVal val="visible"/>
                                      </p:to>
                                    </p:set>
                                  </p:childTnLst>
                                </p:cTn>
                              </p:par>
                            </p:childTnLst>
                          </p:cTn>
                        </p:par>
                        <p:par>
                          <p:cTn id="150" fill="hold" nodeType="afterGroup">
                            <p:stCondLst>
                              <p:cond delay="3500"/>
                            </p:stCondLst>
                            <p:childTnLst>
                              <p:par>
                                <p:cTn id="151" presetID="1" presetClass="entr" presetSubtype="0" fill="hold" grpId="0" nodeType="afterEffect">
                                  <p:stCondLst>
                                    <p:cond delay="0"/>
                                  </p:stCondLst>
                                  <p:childTnLst>
                                    <p:set>
                                      <p:cBhvr>
                                        <p:cTn id="152" dur="1" fill="hold">
                                          <p:stCondLst>
                                            <p:cond delay="499"/>
                                          </p:stCondLst>
                                        </p:cTn>
                                        <p:tgtEl>
                                          <p:spTgt spid="21549"/>
                                        </p:tgtEl>
                                        <p:attrNameLst>
                                          <p:attrName>style.visibility</p:attrName>
                                        </p:attrNameLst>
                                      </p:cBhvr>
                                      <p:to>
                                        <p:strVal val="visible"/>
                                      </p:to>
                                    </p:set>
                                  </p:childTnLst>
                                </p:cTn>
                              </p:par>
                            </p:childTnLst>
                          </p:cTn>
                        </p:par>
                        <p:par>
                          <p:cTn id="153" fill="hold" nodeType="afterGroup">
                            <p:stCondLst>
                              <p:cond delay="4000"/>
                            </p:stCondLst>
                            <p:childTnLst>
                              <p:par>
                                <p:cTn id="154" presetID="1" presetClass="entr" presetSubtype="0" fill="hold" grpId="0" nodeType="afterEffect">
                                  <p:stCondLst>
                                    <p:cond delay="0"/>
                                  </p:stCondLst>
                                  <p:childTnLst>
                                    <p:set>
                                      <p:cBhvr>
                                        <p:cTn id="155" dur="1" fill="hold">
                                          <p:stCondLst>
                                            <p:cond delay="499"/>
                                          </p:stCondLst>
                                        </p:cTn>
                                        <p:tgtEl>
                                          <p:spTgt spid="21550"/>
                                        </p:tgtEl>
                                        <p:attrNameLst>
                                          <p:attrName>style.visibility</p:attrName>
                                        </p:attrNameLst>
                                      </p:cBhvr>
                                      <p:to>
                                        <p:strVal val="visible"/>
                                      </p:to>
                                    </p:set>
                                  </p:childTnLst>
                                </p:cTn>
                              </p:par>
                            </p:childTnLst>
                          </p:cTn>
                        </p:par>
                        <p:par>
                          <p:cTn id="156" fill="hold" nodeType="afterGroup">
                            <p:stCondLst>
                              <p:cond delay="4500"/>
                            </p:stCondLst>
                            <p:childTnLst>
                              <p:par>
                                <p:cTn id="157" presetID="1" presetClass="entr" presetSubtype="0" fill="hold" grpId="0" nodeType="afterEffect">
                                  <p:stCondLst>
                                    <p:cond delay="0"/>
                                  </p:stCondLst>
                                  <p:childTnLst>
                                    <p:set>
                                      <p:cBhvr>
                                        <p:cTn id="158" dur="1" fill="hold">
                                          <p:stCondLst>
                                            <p:cond delay="499"/>
                                          </p:stCondLst>
                                        </p:cTn>
                                        <p:tgtEl>
                                          <p:spTgt spid="21551"/>
                                        </p:tgtEl>
                                        <p:attrNameLst>
                                          <p:attrName>style.visibility</p:attrName>
                                        </p:attrNameLst>
                                      </p:cBhvr>
                                      <p:to>
                                        <p:strVal val="visible"/>
                                      </p:to>
                                    </p:set>
                                  </p:childTnLst>
                                </p:cTn>
                              </p:par>
                            </p:childTnLst>
                          </p:cTn>
                        </p:par>
                        <p:par>
                          <p:cTn id="159" fill="hold" nodeType="afterGroup">
                            <p:stCondLst>
                              <p:cond delay="5000"/>
                            </p:stCondLst>
                            <p:childTnLst>
                              <p:par>
                                <p:cTn id="160" presetID="1" presetClass="entr" presetSubtype="0" fill="hold" grpId="0" nodeType="afterEffect">
                                  <p:stCondLst>
                                    <p:cond delay="0"/>
                                  </p:stCondLst>
                                  <p:childTnLst>
                                    <p:set>
                                      <p:cBhvr>
                                        <p:cTn id="161" dur="1" fill="hold">
                                          <p:stCondLst>
                                            <p:cond delay="499"/>
                                          </p:stCondLst>
                                        </p:cTn>
                                        <p:tgtEl>
                                          <p:spTgt spid="21552"/>
                                        </p:tgtEl>
                                        <p:attrNameLst>
                                          <p:attrName>style.visibility</p:attrName>
                                        </p:attrNameLst>
                                      </p:cBhvr>
                                      <p:to>
                                        <p:strVal val="visible"/>
                                      </p:to>
                                    </p:set>
                                  </p:childTnLst>
                                </p:cTn>
                              </p:par>
                            </p:childTnLst>
                          </p:cTn>
                        </p:par>
                        <p:par>
                          <p:cTn id="162" fill="hold" nodeType="afterGroup">
                            <p:stCondLst>
                              <p:cond delay="5500"/>
                            </p:stCondLst>
                            <p:childTnLst>
                              <p:par>
                                <p:cTn id="163" presetID="1" presetClass="entr" presetSubtype="0" fill="hold" grpId="0" nodeType="afterEffect">
                                  <p:stCondLst>
                                    <p:cond delay="0"/>
                                  </p:stCondLst>
                                  <p:childTnLst>
                                    <p:set>
                                      <p:cBhvr>
                                        <p:cTn id="164" dur="1" fill="hold">
                                          <p:stCondLst>
                                            <p:cond delay="499"/>
                                          </p:stCondLst>
                                        </p:cTn>
                                        <p:tgtEl>
                                          <p:spTgt spid="21553"/>
                                        </p:tgtEl>
                                        <p:attrNameLst>
                                          <p:attrName>style.visibility</p:attrName>
                                        </p:attrNameLst>
                                      </p:cBhvr>
                                      <p:to>
                                        <p:strVal val="visible"/>
                                      </p:to>
                                    </p:set>
                                  </p:childTnLst>
                                </p:cTn>
                              </p:par>
                            </p:childTnLst>
                          </p:cTn>
                        </p:par>
                        <p:par>
                          <p:cTn id="165" fill="hold" nodeType="afterGroup">
                            <p:stCondLst>
                              <p:cond delay="6000"/>
                            </p:stCondLst>
                            <p:childTnLst>
                              <p:par>
                                <p:cTn id="166" presetID="1" presetClass="entr" presetSubtype="0" fill="hold" grpId="0" nodeType="afterEffect">
                                  <p:stCondLst>
                                    <p:cond delay="0"/>
                                  </p:stCondLst>
                                  <p:childTnLst>
                                    <p:set>
                                      <p:cBhvr>
                                        <p:cTn id="167" dur="1" fill="hold">
                                          <p:stCondLst>
                                            <p:cond delay="499"/>
                                          </p:stCondLst>
                                        </p:cTn>
                                        <p:tgtEl>
                                          <p:spTgt spid="21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autoUpdateAnimBg="0"/>
      <p:bldP spid="21509" grpId="0" animBg="1"/>
      <p:bldP spid="21511" grpId="0" animBg="1"/>
      <p:bldP spid="21512" grpId="0" animBg="1"/>
      <p:bldP spid="21513" grpId="0" animBg="1"/>
      <p:bldP spid="21514" grpId="0" animBg="1"/>
      <p:bldP spid="21515" grpId="0" animBg="1"/>
      <p:bldP spid="21516" grpId="0" animBg="1"/>
      <p:bldP spid="21517" grpId="0" animBg="1"/>
      <p:bldP spid="21518" grpId="0" animBg="1"/>
      <p:bldP spid="21519" grpId="0" animBg="1"/>
      <p:bldP spid="21521" grpId="0" animBg="1"/>
      <p:bldP spid="21522" grpId="0" animBg="1"/>
      <p:bldP spid="21523" grpId="0" animBg="1"/>
      <p:bldP spid="21524" grpId="0" animBg="1"/>
      <p:bldP spid="21525" grpId="0" animBg="1"/>
      <p:bldP spid="21526" grpId="0" animBg="1"/>
      <p:bldP spid="21527" grpId="0" animBg="1"/>
      <p:bldP spid="21528" grpId="0" animBg="1"/>
      <p:bldP spid="21529" grpId="0" animBg="1"/>
      <p:bldP spid="21530" grpId="0" animBg="1"/>
      <p:bldP spid="21531" grpId="0" animBg="1"/>
      <p:bldP spid="21532" grpId="0" animBg="1"/>
      <p:bldP spid="21533" grpId="0" animBg="1"/>
      <p:bldP spid="21534" grpId="0" animBg="1"/>
      <p:bldP spid="21535" grpId="0" animBg="1"/>
      <p:bldP spid="21536" grpId="0" animBg="1"/>
      <p:bldP spid="21537" grpId="0" animBg="1"/>
      <p:bldP spid="21538" grpId="0" animBg="1"/>
      <p:bldP spid="21539" grpId="0" animBg="1"/>
      <p:bldP spid="21540" grpId="0" animBg="1"/>
      <p:bldP spid="21541" grpId="0" animBg="1"/>
      <p:bldP spid="21542" grpId="0" animBg="1"/>
      <p:bldP spid="21543" grpId="0" animBg="1"/>
      <p:bldP spid="21544" grpId="0" animBg="1"/>
      <p:bldP spid="21545" grpId="0" animBg="1"/>
      <p:bldP spid="21546" grpId="0" animBg="1"/>
      <p:bldP spid="21547" grpId="0" animBg="1"/>
      <p:bldP spid="21548" grpId="0" animBg="1"/>
      <p:bldP spid="21549" grpId="0" animBg="1"/>
      <p:bldP spid="21550" grpId="0" animBg="1"/>
      <p:bldP spid="21551" grpId="0" animBg="1"/>
      <p:bldP spid="21552" grpId="0" animBg="1"/>
      <p:bldP spid="21553" grpId="0" animBg="1"/>
      <p:bldP spid="21554" grpId="0" autoUpdateAnimBg="0"/>
      <p:bldP spid="21555" grpId="0" autoUpdateAnimBg="0"/>
      <p:bldP spid="21556" grpId="0" autoUpdateAnimBg="0"/>
      <p:bldP spid="21557" grpId="0" autoUpdateAnimBg="0"/>
      <p:bldP spid="21558" grpId="0" autoUpdateAnimBg="0"/>
      <p:bldP spid="21559" grpId="0" autoUpdateAnimBg="0"/>
      <p:bldP spid="21560" grpId="0" autoUpdateAnimBg="0"/>
      <p:bldP spid="2156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p:cNvSpPr txBox="1">
            <a:spLocks noChangeArrowheads="1"/>
          </p:cNvSpPr>
          <p:nvPr/>
        </p:nvSpPr>
        <p:spPr bwMode="auto">
          <a:xfrm>
            <a:off x="152400" y="152400"/>
            <a:ext cx="9150350" cy="668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b="1">
                <a:solidFill>
                  <a:srgbClr val="005042"/>
                </a:solidFill>
                <a:ea typeface="楷体_GB2312" charset="0"/>
              </a:rPr>
              <a:t>void</a:t>
            </a:r>
            <a:r>
              <a:rPr lang="en-US" altLang="zh-CN" sz="3600">
                <a:solidFill>
                  <a:srgbClr val="005042"/>
                </a:solidFill>
                <a:ea typeface="楷体_GB2312" charset="0"/>
              </a:rPr>
              <a:t> ShellInsert ( SqList </a:t>
            </a:r>
            <a:r>
              <a:rPr lang="en-US" altLang="zh-CN" sz="3600" b="1">
                <a:solidFill>
                  <a:srgbClr val="005042"/>
                </a:solidFill>
                <a:ea typeface="楷体_GB2312" charset="0"/>
              </a:rPr>
              <a:t>&amp;</a:t>
            </a:r>
            <a:r>
              <a:rPr lang="en-US" altLang="zh-CN" sz="3600">
                <a:solidFill>
                  <a:srgbClr val="005042"/>
                </a:solidFill>
                <a:ea typeface="楷体_GB2312" charset="0"/>
              </a:rPr>
              <a:t>L, </a:t>
            </a:r>
            <a:r>
              <a:rPr lang="en-US" altLang="zh-CN" sz="3600" b="1">
                <a:solidFill>
                  <a:srgbClr val="005042"/>
                </a:solidFill>
                <a:ea typeface="楷体_GB2312" charset="0"/>
              </a:rPr>
              <a:t>int</a:t>
            </a:r>
            <a:r>
              <a:rPr lang="en-US" altLang="zh-CN" sz="3600">
                <a:solidFill>
                  <a:srgbClr val="005042"/>
                </a:solidFill>
                <a:ea typeface="楷体_GB2312" charset="0"/>
              </a:rPr>
              <a:t> dk ) </a:t>
            </a:r>
            <a:r>
              <a:rPr lang="en-US" altLang="zh-CN" sz="3600" b="1">
                <a:solidFill>
                  <a:srgbClr val="005042"/>
                </a:solidFill>
                <a:ea typeface="楷体_GB2312" charset="0"/>
              </a:rPr>
              <a:t>{</a:t>
            </a:r>
            <a:endParaRPr lang="en-US" altLang="zh-CN" sz="3600">
              <a:solidFill>
                <a:srgbClr val="005042"/>
              </a:solidFill>
              <a:ea typeface="楷体_GB2312" charset="0"/>
            </a:endParaRPr>
          </a:p>
          <a:p>
            <a:pPr algn="l">
              <a:lnSpc>
                <a:spcPct val="120000"/>
              </a:lnSpc>
            </a:pPr>
            <a:r>
              <a:rPr lang="en-US" altLang="zh-CN" sz="3600">
                <a:ea typeface="楷体_GB2312" charset="0"/>
              </a:rPr>
              <a:t>   </a:t>
            </a:r>
            <a:r>
              <a:rPr lang="en-US" altLang="zh-CN" sz="3600" b="1">
                <a:ea typeface="楷体_GB2312" charset="0"/>
              </a:rPr>
              <a:t>for</a:t>
            </a:r>
            <a:r>
              <a:rPr lang="en-US" altLang="zh-CN" sz="3600">
                <a:ea typeface="楷体_GB2312" charset="0"/>
              </a:rPr>
              <a:t> ( </a:t>
            </a:r>
            <a:r>
              <a:rPr lang="en-US" altLang="zh-CN" sz="3600">
                <a:solidFill>
                  <a:srgbClr val="840C26"/>
                </a:solidFill>
                <a:ea typeface="楷体_GB2312" charset="0"/>
              </a:rPr>
              <a:t>i=dk+1</a:t>
            </a:r>
            <a:r>
              <a:rPr lang="en-US" altLang="zh-CN" sz="3600">
                <a:ea typeface="楷体_GB2312" charset="0"/>
              </a:rPr>
              <a:t>; i&lt;=n; </a:t>
            </a:r>
            <a:r>
              <a:rPr lang="en-US" altLang="zh-CN" sz="3600" b="1">
                <a:ea typeface="楷体_GB2312" charset="0"/>
              </a:rPr>
              <a:t>++</a:t>
            </a:r>
            <a:r>
              <a:rPr lang="en-US" altLang="zh-CN" sz="3600">
                <a:ea typeface="楷体_GB2312" charset="0"/>
              </a:rPr>
              <a:t>i )</a:t>
            </a:r>
          </a:p>
          <a:p>
            <a:pPr algn="l">
              <a:lnSpc>
                <a:spcPct val="120000"/>
              </a:lnSpc>
            </a:pPr>
            <a:r>
              <a:rPr lang="en-US" altLang="zh-CN" sz="3600">
                <a:ea typeface="楷体_GB2312" charset="0"/>
              </a:rPr>
              <a:t>      </a:t>
            </a:r>
            <a:r>
              <a:rPr lang="en-US" altLang="zh-CN" sz="3600" b="1">
                <a:solidFill>
                  <a:schemeClr val="accent2"/>
                </a:solidFill>
                <a:ea typeface="楷体_GB2312" charset="0"/>
              </a:rPr>
              <a:t>if</a:t>
            </a:r>
            <a:r>
              <a:rPr lang="en-US" altLang="zh-CN" sz="3600">
                <a:solidFill>
                  <a:schemeClr val="accent2"/>
                </a:solidFill>
                <a:ea typeface="楷体_GB2312" charset="0"/>
              </a:rPr>
              <a:t> ( L.r[i].key&lt; L.r[</a:t>
            </a:r>
            <a:r>
              <a:rPr lang="en-US" altLang="zh-CN" sz="3600">
                <a:solidFill>
                  <a:srgbClr val="840C26"/>
                </a:solidFill>
                <a:ea typeface="楷体_GB2312" charset="0"/>
              </a:rPr>
              <a:t>i-dk</a:t>
            </a:r>
            <a:r>
              <a:rPr lang="en-US" altLang="zh-CN" sz="3600">
                <a:solidFill>
                  <a:schemeClr val="accent2"/>
                </a:solidFill>
                <a:ea typeface="楷体_GB2312" charset="0"/>
              </a:rPr>
              <a:t>].key) </a:t>
            </a:r>
            <a:r>
              <a:rPr lang="en-US" altLang="zh-CN" sz="3600" b="1">
                <a:solidFill>
                  <a:schemeClr val="accent2"/>
                </a:solidFill>
                <a:ea typeface="楷体_GB2312" charset="0"/>
              </a:rPr>
              <a:t>{</a:t>
            </a:r>
            <a:endParaRPr lang="en-US" altLang="zh-CN" sz="3600" b="1">
              <a:ea typeface="楷体_GB2312" charset="0"/>
            </a:endParaRPr>
          </a:p>
          <a:p>
            <a:pPr algn="l">
              <a:lnSpc>
                <a:spcPct val="120000"/>
              </a:lnSpc>
            </a:pPr>
            <a:r>
              <a:rPr lang="en-US" altLang="zh-CN" sz="3600" b="1">
                <a:ea typeface="楷体_GB2312" charset="0"/>
              </a:rPr>
              <a:t>        </a:t>
            </a:r>
            <a:r>
              <a:rPr lang="en-US" altLang="zh-CN" sz="3600">
                <a:ea typeface="楷体_GB2312" charset="0"/>
              </a:rPr>
              <a:t>L.r[0] = L.r[i];            // </a:t>
            </a:r>
            <a:r>
              <a:rPr lang="zh-CN" altLang="en-US" sz="3600">
                <a:ea typeface="楷体_GB2312" charset="0"/>
              </a:rPr>
              <a:t>暂存在</a:t>
            </a:r>
            <a:r>
              <a:rPr lang="en-US" altLang="zh-CN" sz="3600">
                <a:ea typeface="楷体_GB2312" charset="0"/>
              </a:rPr>
              <a:t>R[0]</a:t>
            </a:r>
          </a:p>
          <a:p>
            <a:pPr algn="l">
              <a:lnSpc>
                <a:spcPct val="120000"/>
              </a:lnSpc>
            </a:pPr>
            <a:r>
              <a:rPr lang="en-US" altLang="zh-CN" sz="3600">
                <a:ea typeface="楷体_GB2312" charset="0"/>
              </a:rPr>
              <a:t>        </a:t>
            </a:r>
            <a:r>
              <a:rPr lang="en-US" altLang="zh-CN" sz="3600" b="1">
                <a:ea typeface="楷体_GB2312" charset="0"/>
              </a:rPr>
              <a:t>for</a:t>
            </a:r>
            <a:r>
              <a:rPr lang="en-US" altLang="zh-CN" sz="3600">
                <a:ea typeface="楷体_GB2312" charset="0"/>
              </a:rPr>
              <a:t> (</a:t>
            </a:r>
            <a:r>
              <a:rPr lang="en-US" altLang="zh-CN" sz="3600">
                <a:solidFill>
                  <a:srgbClr val="840C26"/>
                </a:solidFill>
                <a:ea typeface="楷体_GB2312" charset="0"/>
              </a:rPr>
              <a:t>j=i-dk</a:t>
            </a:r>
            <a:r>
              <a:rPr lang="en-US" altLang="zh-CN" sz="3600">
                <a:ea typeface="楷体_GB2312" charset="0"/>
              </a:rPr>
              <a:t>;  j&gt;0</a:t>
            </a:r>
            <a:r>
              <a:rPr lang="en-US" altLang="zh-CN" sz="3600" b="1">
                <a:ea typeface="楷体_GB2312" charset="0"/>
              </a:rPr>
              <a:t>&amp;&amp;</a:t>
            </a:r>
            <a:r>
              <a:rPr lang="en-US" altLang="zh-CN" sz="3600">
                <a:ea typeface="楷体_GB2312" charset="0"/>
              </a:rPr>
              <a:t>(L.r[0].key&lt;L.r[j].key);</a:t>
            </a:r>
          </a:p>
          <a:p>
            <a:pPr algn="l">
              <a:lnSpc>
                <a:spcPct val="120000"/>
              </a:lnSpc>
            </a:pPr>
            <a:r>
              <a:rPr lang="en-US" altLang="zh-CN" sz="3600">
                <a:ea typeface="楷体_GB2312" charset="0"/>
              </a:rPr>
              <a:t>                </a:t>
            </a:r>
            <a:r>
              <a:rPr lang="en-US" altLang="zh-CN" sz="3600">
                <a:solidFill>
                  <a:srgbClr val="840C26"/>
                </a:solidFill>
                <a:ea typeface="楷体_GB2312" charset="0"/>
              </a:rPr>
              <a:t>j-=dk</a:t>
            </a:r>
            <a:r>
              <a:rPr lang="en-US" altLang="zh-CN" sz="3600">
                <a:ea typeface="楷体_GB2312" charset="0"/>
              </a:rPr>
              <a:t>)</a:t>
            </a:r>
          </a:p>
          <a:p>
            <a:pPr algn="l">
              <a:lnSpc>
                <a:spcPct val="120000"/>
              </a:lnSpc>
            </a:pPr>
            <a:r>
              <a:rPr lang="en-US" altLang="zh-CN" sz="3600">
                <a:ea typeface="楷体_GB2312" charset="0"/>
              </a:rPr>
              <a:t>           L.r[</a:t>
            </a:r>
            <a:r>
              <a:rPr lang="en-US" altLang="zh-CN" sz="3600">
                <a:solidFill>
                  <a:srgbClr val="840C26"/>
                </a:solidFill>
                <a:ea typeface="楷体_GB2312" charset="0"/>
              </a:rPr>
              <a:t>j+dk</a:t>
            </a:r>
            <a:r>
              <a:rPr lang="en-US" altLang="zh-CN" sz="3600">
                <a:ea typeface="楷体_GB2312" charset="0"/>
              </a:rPr>
              <a:t>] = L.r[j];  </a:t>
            </a:r>
            <a:r>
              <a:rPr lang="en-US" altLang="zh-CN" sz="2800">
                <a:ea typeface="楷体_GB2312" charset="0"/>
              </a:rPr>
              <a:t>// </a:t>
            </a:r>
            <a:r>
              <a:rPr lang="zh-CN" altLang="en-US" sz="2800">
                <a:ea typeface="楷体_GB2312" charset="0"/>
              </a:rPr>
              <a:t>记录后移，查找插入位置</a:t>
            </a:r>
            <a:endParaRPr lang="zh-CN" altLang="en-US" sz="3600">
              <a:ea typeface="楷体_GB2312" charset="0"/>
            </a:endParaRPr>
          </a:p>
          <a:p>
            <a:pPr algn="l">
              <a:lnSpc>
                <a:spcPct val="120000"/>
              </a:lnSpc>
            </a:pPr>
            <a:r>
              <a:rPr lang="zh-CN" altLang="en-US" sz="3600">
                <a:ea typeface="楷体_GB2312" charset="0"/>
              </a:rPr>
              <a:t>        </a:t>
            </a:r>
            <a:r>
              <a:rPr lang="en-US" altLang="zh-CN" sz="3600">
                <a:ea typeface="楷体_GB2312" charset="0"/>
              </a:rPr>
              <a:t>L.r[</a:t>
            </a:r>
            <a:r>
              <a:rPr lang="en-US" altLang="zh-CN" sz="3600">
                <a:solidFill>
                  <a:srgbClr val="840C26"/>
                </a:solidFill>
                <a:ea typeface="楷体_GB2312" charset="0"/>
              </a:rPr>
              <a:t>j+dk</a:t>
            </a:r>
            <a:r>
              <a:rPr lang="en-US" altLang="zh-CN" sz="3600">
                <a:ea typeface="楷体_GB2312" charset="0"/>
              </a:rPr>
              <a:t>] = L.r[0];                // </a:t>
            </a:r>
            <a:r>
              <a:rPr lang="zh-CN" altLang="en-US" sz="3600">
                <a:ea typeface="楷体_GB2312" charset="0"/>
              </a:rPr>
              <a:t>插入</a:t>
            </a:r>
          </a:p>
          <a:p>
            <a:pPr algn="l">
              <a:lnSpc>
                <a:spcPct val="120000"/>
              </a:lnSpc>
            </a:pPr>
            <a:r>
              <a:rPr lang="zh-CN" altLang="en-US" sz="3600">
                <a:ea typeface="楷体_GB2312" charset="0"/>
              </a:rPr>
              <a:t>      </a:t>
            </a:r>
            <a:r>
              <a:rPr lang="en-US" altLang="zh-CN" sz="3600" b="1">
                <a:solidFill>
                  <a:schemeClr val="accent2"/>
                </a:solidFill>
                <a:ea typeface="楷体_GB2312" charset="0"/>
              </a:rPr>
              <a:t>} </a:t>
            </a:r>
            <a:r>
              <a:rPr lang="en-US" altLang="zh-CN" sz="3600">
                <a:solidFill>
                  <a:schemeClr val="accent2"/>
                </a:solidFill>
                <a:ea typeface="楷体_GB2312" charset="0"/>
              </a:rPr>
              <a:t>// if</a:t>
            </a:r>
          </a:p>
          <a:p>
            <a:pPr algn="l">
              <a:lnSpc>
                <a:spcPct val="120000"/>
              </a:lnSpc>
            </a:pPr>
            <a:r>
              <a:rPr lang="en-US" altLang="zh-CN" sz="3600" b="1">
                <a:solidFill>
                  <a:srgbClr val="005042"/>
                </a:solidFill>
                <a:ea typeface="楷体_GB2312" charset="0"/>
              </a:rPr>
              <a:t>}</a:t>
            </a:r>
            <a:r>
              <a:rPr lang="en-US" altLang="zh-CN" sz="3600">
                <a:solidFill>
                  <a:srgbClr val="005042"/>
                </a:solidFill>
                <a:ea typeface="楷体_GB2312" charset="0"/>
              </a:rPr>
              <a:t> // ShellInsert</a:t>
            </a:r>
            <a:endParaRPr lang="en-US" altLang="zh-CN" sz="3600">
              <a:ea typeface="楷体_GB2312" charset="0"/>
            </a:endParaRPr>
          </a:p>
        </p:txBody>
      </p:sp>
    </p:spTree>
    <p:extLst>
      <p:ext uri="{BB962C8B-B14F-4D97-AF65-F5344CB8AC3E}">
        <p14:creationId xmlns:p14="http://schemas.microsoft.com/office/powerpoint/2010/main" val="20490410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strips(downRight)">
                                      <p:cBhvr>
                                        <p:cTn id="7" dur="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026"/>
          <p:cNvSpPr txBox="1">
            <a:spLocks noChangeArrowheads="1"/>
          </p:cNvSpPr>
          <p:nvPr/>
        </p:nvSpPr>
        <p:spPr bwMode="auto">
          <a:xfrm>
            <a:off x="514350" y="533400"/>
            <a:ext cx="8096250"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en-US" altLang="zh-CN" sz="3600" b="1">
                <a:solidFill>
                  <a:srgbClr val="005042"/>
                </a:solidFill>
                <a:ea typeface="楷体_GB2312" charset="0"/>
              </a:rPr>
              <a:t>void</a:t>
            </a:r>
            <a:r>
              <a:rPr lang="en-US" altLang="zh-CN" sz="3600">
                <a:solidFill>
                  <a:srgbClr val="005042"/>
                </a:solidFill>
                <a:ea typeface="楷体_GB2312" charset="0"/>
              </a:rPr>
              <a:t> ShellSort (SqList </a:t>
            </a:r>
            <a:r>
              <a:rPr lang="en-US" altLang="zh-CN" sz="3600" b="1">
                <a:solidFill>
                  <a:srgbClr val="005042"/>
                </a:solidFill>
                <a:ea typeface="楷体_GB2312" charset="0"/>
              </a:rPr>
              <a:t>&amp;</a:t>
            </a:r>
            <a:r>
              <a:rPr lang="en-US" altLang="zh-CN" sz="3600">
                <a:solidFill>
                  <a:srgbClr val="005042"/>
                </a:solidFill>
                <a:ea typeface="楷体_GB2312" charset="0"/>
              </a:rPr>
              <a:t>L, </a:t>
            </a:r>
            <a:r>
              <a:rPr lang="en-US" altLang="zh-CN" sz="3600" b="1">
                <a:solidFill>
                  <a:srgbClr val="005042"/>
                </a:solidFill>
                <a:ea typeface="楷体_GB2312" charset="0"/>
              </a:rPr>
              <a:t>int</a:t>
            </a:r>
            <a:r>
              <a:rPr lang="en-US" altLang="zh-CN" sz="3600">
                <a:solidFill>
                  <a:srgbClr val="005042"/>
                </a:solidFill>
                <a:ea typeface="楷体_GB2312" charset="0"/>
              </a:rPr>
              <a:t> dlta[], </a:t>
            </a:r>
            <a:r>
              <a:rPr lang="en-US" altLang="zh-CN" sz="3600" b="1">
                <a:solidFill>
                  <a:srgbClr val="005042"/>
                </a:solidFill>
                <a:ea typeface="楷体_GB2312" charset="0"/>
              </a:rPr>
              <a:t>int</a:t>
            </a:r>
            <a:r>
              <a:rPr lang="en-US" altLang="zh-CN" sz="3600">
                <a:solidFill>
                  <a:srgbClr val="005042"/>
                </a:solidFill>
                <a:ea typeface="楷体_GB2312" charset="0"/>
              </a:rPr>
              <a:t> t)</a:t>
            </a:r>
          </a:p>
          <a:p>
            <a:pPr algn="l">
              <a:lnSpc>
                <a:spcPct val="150000"/>
              </a:lnSpc>
            </a:pPr>
            <a:r>
              <a:rPr lang="en-US" altLang="zh-CN" sz="3600" b="1">
                <a:solidFill>
                  <a:srgbClr val="005042"/>
                </a:solidFill>
                <a:ea typeface="楷体_GB2312" charset="0"/>
              </a:rPr>
              <a:t>{    </a:t>
            </a:r>
            <a:r>
              <a:rPr lang="en-US" altLang="zh-CN" sz="3600">
                <a:solidFill>
                  <a:srgbClr val="005042"/>
                </a:solidFill>
                <a:ea typeface="楷体_GB2312" charset="0"/>
              </a:rPr>
              <a:t>// </a:t>
            </a:r>
            <a:r>
              <a:rPr lang="zh-CN" altLang="en-US" sz="3600">
                <a:solidFill>
                  <a:srgbClr val="005042"/>
                </a:solidFill>
                <a:ea typeface="楷体_GB2312" charset="0"/>
              </a:rPr>
              <a:t>增量为</a:t>
            </a:r>
            <a:r>
              <a:rPr lang="en-US" altLang="zh-CN" sz="3600">
                <a:solidFill>
                  <a:srgbClr val="005042"/>
                </a:solidFill>
                <a:ea typeface="楷体_GB2312" charset="0"/>
              </a:rPr>
              <a:t>dlta[]</a:t>
            </a:r>
            <a:r>
              <a:rPr lang="zh-CN" altLang="en-US" sz="3600">
                <a:solidFill>
                  <a:srgbClr val="005042"/>
                </a:solidFill>
                <a:ea typeface="楷体_GB2312" charset="0"/>
              </a:rPr>
              <a:t>的希尔排序</a:t>
            </a:r>
          </a:p>
          <a:p>
            <a:pPr algn="l">
              <a:lnSpc>
                <a:spcPct val="150000"/>
              </a:lnSpc>
            </a:pPr>
            <a:r>
              <a:rPr lang="zh-CN" altLang="en-US" sz="3600">
                <a:solidFill>
                  <a:srgbClr val="005042"/>
                </a:solidFill>
                <a:ea typeface="楷体_GB2312" charset="0"/>
              </a:rPr>
              <a:t>     </a:t>
            </a:r>
            <a:r>
              <a:rPr lang="en-US" altLang="zh-CN" sz="3600" b="1">
                <a:solidFill>
                  <a:srgbClr val="005042"/>
                </a:solidFill>
                <a:ea typeface="楷体_GB2312" charset="0"/>
              </a:rPr>
              <a:t>for</a:t>
            </a:r>
            <a:r>
              <a:rPr lang="en-US" altLang="zh-CN" sz="3600">
                <a:solidFill>
                  <a:srgbClr val="005042"/>
                </a:solidFill>
                <a:ea typeface="楷体_GB2312" charset="0"/>
              </a:rPr>
              <a:t> (k=0; k&lt;t; ++t)</a:t>
            </a:r>
          </a:p>
          <a:p>
            <a:pPr algn="l">
              <a:lnSpc>
                <a:spcPct val="150000"/>
              </a:lnSpc>
            </a:pPr>
            <a:r>
              <a:rPr lang="en-US" altLang="zh-CN" sz="3600">
                <a:solidFill>
                  <a:srgbClr val="005042"/>
                </a:solidFill>
                <a:ea typeface="楷体_GB2312" charset="0"/>
              </a:rPr>
              <a:t>         ShellInsert(L, dlta[k]);</a:t>
            </a:r>
          </a:p>
          <a:p>
            <a:pPr algn="l">
              <a:lnSpc>
                <a:spcPct val="150000"/>
              </a:lnSpc>
            </a:pPr>
            <a:r>
              <a:rPr lang="en-US" altLang="zh-CN" sz="3600">
                <a:solidFill>
                  <a:srgbClr val="005042"/>
                </a:solidFill>
                <a:ea typeface="楷体_GB2312" charset="0"/>
              </a:rPr>
              <a:t>             //</a:t>
            </a:r>
            <a:r>
              <a:rPr lang="zh-CN" altLang="en-US" sz="3600">
                <a:solidFill>
                  <a:srgbClr val="005042"/>
                </a:solidFill>
                <a:ea typeface="楷体_GB2312" charset="0"/>
              </a:rPr>
              <a:t>一趟增量为</a:t>
            </a:r>
            <a:r>
              <a:rPr lang="en-US" altLang="zh-CN" sz="3600">
                <a:solidFill>
                  <a:srgbClr val="005042"/>
                </a:solidFill>
                <a:ea typeface="楷体_GB2312" charset="0"/>
              </a:rPr>
              <a:t>dlta[k]</a:t>
            </a:r>
            <a:r>
              <a:rPr lang="zh-CN" altLang="en-US" sz="3600">
                <a:solidFill>
                  <a:srgbClr val="005042"/>
                </a:solidFill>
                <a:ea typeface="楷体_GB2312" charset="0"/>
              </a:rPr>
              <a:t>的插入排序</a:t>
            </a:r>
          </a:p>
          <a:p>
            <a:pPr algn="l">
              <a:lnSpc>
                <a:spcPct val="150000"/>
              </a:lnSpc>
            </a:pPr>
            <a:r>
              <a:rPr lang="en-US" altLang="zh-CN" sz="3600" b="1">
                <a:solidFill>
                  <a:srgbClr val="005042"/>
                </a:solidFill>
                <a:ea typeface="楷体_GB2312" charset="0"/>
              </a:rPr>
              <a:t>}</a:t>
            </a:r>
            <a:r>
              <a:rPr lang="en-US" altLang="zh-CN" sz="3600">
                <a:solidFill>
                  <a:srgbClr val="005042"/>
                </a:solidFill>
                <a:ea typeface="楷体_GB2312" charset="0"/>
              </a:rPr>
              <a:t> // ShellSort</a:t>
            </a:r>
          </a:p>
        </p:txBody>
      </p:sp>
      <p:pic>
        <p:nvPicPr>
          <p:cNvPr id="81926" name="Picture 1030" descr="Neighborhood">
            <a:hlinkClick r:id="rId2" action="ppaction://hlinksldjump" highlightClick="1"/>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838200" y="5943600"/>
            <a:ext cx="7620000"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66319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81922"/>
                                        </p:tgtEl>
                                        <p:attrNameLst>
                                          <p:attrName>style.visibility</p:attrName>
                                        </p:attrNameLst>
                                      </p:cBhvr>
                                      <p:to>
                                        <p:strVal val="visible"/>
                                      </p:to>
                                    </p:set>
                                    <p:animEffect transition="in" filter="strips(upLeft)">
                                      <p:cBhvr>
                                        <p:cTn id="7" dur="500"/>
                                        <p:tgtEl>
                                          <p:spTgt spid="81922"/>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81926"/>
                                        </p:tgtEl>
                                        <p:attrNameLst>
                                          <p:attrName>style.visibility</p:attrName>
                                        </p:attrNameLst>
                                      </p:cBhvr>
                                      <p:to>
                                        <p:strVal val="visible"/>
                                      </p:to>
                                    </p:set>
                                    <p:anim calcmode="lin" valueType="num">
                                      <p:cBhvr additive="base">
                                        <p:cTn id="11" dur="500" fill="hold"/>
                                        <p:tgtEl>
                                          <p:spTgt spid="81926"/>
                                        </p:tgtEl>
                                        <p:attrNameLst>
                                          <p:attrName>ppt_x</p:attrName>
                                        </p:attrNameLst>
                                      </p:cBhvr>
                                      <p:tavLst>
                                        <p:tav tm="0">
                                          <p:val>
                                            <p:strVal val="#ppt_x"/>
                                          </p:val>
                                        </p:tav>
                                        <p:tav tm="100000">
                                          <p:val>
                                            <p:strVal val="#ppt_x"/>
                                          </p:val>
                                        </p:tav>
                                      </p:tavLst>
                                    </p:anim>
                                    <p:anim calcmode="lin" valueType="num">
                                      <p:cBhvr additive="base">
                                        <p:cTn id="12" dur="500" fill="hold"/>
                                        <p:tgtEl>
                                          <p:spTgt spid="81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250825" y="593725"/>
            <a:ext cx="8515350" cy="4419600"/>
          </a:xfrm>
        </p:spPr>
        <p:txBody>
          <a:bodyPr/>
          <a:lstStyle/>
          <a:p>
            <a:pPr>
              <a:lnSpc>
                <a:spcPct val="90000"/>
              </a:lnSpc>
              <a:buFontTx/>
              <a:buNone/>
            </a:pPr>
            <a:r>
              <a:rPr lang="en-US" altLang="zh-CN" sz="4000" b="1" i="1">
                <a:effectLst>
                  <a:outerShdw blurRad="38100" dist="38100" dir="2700000" algn="tl">
                    <a:srgbClr val="FFFFFF"/>
                  </a:outerShdw>
                </a:effectLst>
                <a:ea typeface="仿宋_GB2312" charset="0"/>
              </a:rPr>
              <a:t>         </a:t>
            </a:r>
          </a:p>
          <a:p>
            <a:pPr>
              <a:lnSpc>
                <a:spcPct val="90000"/>
              </a:lnSpc>
              <a:buFontTx/>
              <a:buNone/>
            </a:pPr>
            <a:r>
              <a:rPr lang="en-US" altLang="zh-CN" sz="4000" b="1" i="1">
                <a:effectLst>
                  <a:outerShdw blurRad="38100" dist="38100" dir="2700000" algn="tl">
                    <a:srgbClr val="FFFFFF"/>
                  </a:outerShdw>
                </a:effectLst>
                <a:ea typeface="仿宋_GB2312" charset="0"/>
              </a:rPr>
              <a:t>           </a:t>
            </a:r>
            <a:r>
              <a:rPr lang="en-US" altLang="zh-CN" sz="4000" b="1" i="1">
                <a:solidFill>
                  <a:srgbClr val="000099"/>
                </a:solidFill>
                <a:effectLst>
                  <a:outerShdw blurRad="38100" dist="38100" dir="2700000" algn="tl">
                    <a:srgbClr val="000000"/>
                  </a:outerShdw>
                </a:effectLst>
                <a:ea typeface="仿宋_GB2312" charset="0"/>
              </a:rPr>
              <a:t>Gap(</a:t>
            </a:r>
            <a:r>
              <a:rPr lang="zh-CN" altLang="en-US" sz="4000" b="1" i="1">
                <a:solidFill>
                  <a:srgbClr val="000099"/>
                </a:solidFill>
                <a:effectLst>
                  <a:outerShdw blurRad="38100" dist="38100" dir="2700000" algn="tl">
                    <a:srgbClr val="000000"/>
                  </a:outerShdw>
                </a:effectLst>
                <a:ea typeface="仿宋_GB2312" charset="0"/>
              </a:rPr>
              <a:t>间隔</a:t>
            </a:r>
            <a:r>
              <a:rPr lang="en-US" altLang="zh-CN" sz="4000" b="1" i="1">
                <a:solidFill>
                  <a:srgbClr val="000099"/>
                </a:solidFill>
                <a:effectLst>
                  <a:outerShdw blurRad="38100" dist="38100" dir="2700000" algn="tl">
                    <a:srgbClr val="000000"/>
                  </a:outerShdw>
                </a:effectLst>
                <a:ea typeface="仿宋_GB2312" charset="0"/>
              </a:rPr>
              <a:t>)</a:t>
            </a:r>
            <a:r>
              <a:rPr lang="zh-CN" altLang="en-US" sz="4000" b="1">
                <a:solidFill>
                  <a:srgbClr val="000099"/>
                </a:solidFill>
                <a:effectLst>
                  <a:outerShdw blurRad="38100" dist="38100" dir="2700000" algn="tl">
                    <a:srgbClr val="000000"/>
                  </a:outerShdw>
                </a:effectLst>
                <a:ea typeface="仿宋_GB2312" charset="0"/>
              </a:rPr>
              <a:t>的取法有多种。最初 </a:t>
            </a:r>
            <a:r>
              <a:rPr lang="en-US" altLang="zh-CN" sz="4000" b="1">
                <a:solidFill>
                  <a:srgbClr val="000099"/>
                </a:solidFill>
                <a:effectLst>
                  <a:outerShdw blurRad="38100" dist="38100" dir="2700000" algn="tl">
                    <a:srgbClr val="000000"/>
                  </a:outerShdw>
                </a:effectLst>
                <a:ea typeface="仿宋_GB2312" charset="0"/>
              </a:rPr>
              <a:t>shell </a:t>
            </a:r>
            <a:r>
              <a:rPr lang="zh-CN" altLang="en-US" sz="4000" b="1">
                <a:solidFill>
                  <a:srgbClr val="000099"/>
                </a:solidFill>
                <a:effectLst>
                  <a:outerShdw blurRad="38100" dist="38100" dir="2700000" algn="tl">
                    <a:srgbClr val="000000"/>
                  </a:outerShdw>
                </a:effectLst>
                <a:ea typeface="仿宋_GB2312" charset="0"/>
              </a:rPr>
              <a:t>提出取 </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 = </a:t>
            </a:r>
            <a:r>
              <a:rPr lang="en-US" altLang="zh-CN" sz="4000" b="1">
                <a:solidFill>
                  <a:srgbClr val="000099"/>
                </a:solidFill>
                <a:effectLst>
                  <a:outerShdw blurRad="38100" dist="38100" dir="2700000" algn="tl">
                    <a:srgbClr val="000000"/>
                  </a:outerShdw>
                </a:effectLst>
                <a:ea typeface="仿宋_GB2312" charset="0"/>
                <a:sym typeface="Symbol" charset="2"/>
              </a:rPr>
              <a:t></a:t>
            </a:r>
            <a:r>
              <a:rPr lang="en-US" altLang="zh-CN" sz="4000" b="1" i="1">
                <a:solidFill>
                  <a:srgbClr val="000099"/>
                </a:solidFill>
                <a:effectLst>
                  <a:outerShdw blurRad="38100" dist="38100" dir="2700000" algn="tl">
                    <a:srgbClr val="000000"/>
                  </a:outerShdw>
                </a:effectLst>
                <a:ea typeface="仿宋_GB2312" charset="0"/>
              </a:rPr>
              <a:t>n</a:t>
            </a:r>
            <a:r>
              <a:rPr lang="en-US" altLang="zh-CN" sz="4000" b="1">
                <a:solidFill>
                  <a:srgbClr val="000099"/>
                </a:solidFill>
                <a:effectLst>
                  <a:outerShdw blurRad="38100" dist="38100" dir="2700000" algn="tl">
                    <a:srgbClr val="000000"/>
                  </a:outerShdw>
                </a:effectLst>
                <a:ea typeface="仿宋_GB2312" charset="0"/>
              </a:rPr>
              <a:t>/2</a:t>
            </a:r>
            <a:r>
              <a:rPr lang="en-US" altLang="zh-CN" sz="4000" b="1">
                <a:solidFill>
                  <a:srgbClr val="000099"/>
                </a:solidFill>
                <a:effectLst>
                  <a:outerShdw blurRad="38100" dist="38100" dir="2700000" algn="tl">
                    <a:srgbClr val="000000"/>
                  </a:outerShdw>
                </a:effectLst>
                <a:ea typeface="仿宋_GB2312" charset="0"/>
                <a:sym typeface="Symbol" charset="2"/>
              </a:rPr>
              <a:t></a:t>
            </a:r>
            <a:r>
              <a:rPr lang="zh-CN" altLang="en-US" sz="4000" b="1">
                <a:solidFill>
                  <a:srgbClr val="000099"/>
                </a:solidFill>
                <a:effectLst>
                  <a:outerShdw blurRad="38100" dist="38100" dir="2700000" algn="tl">
                    <a:srgbClr val="000000"/>
                  </a:outerShdw>
                </a:effectLst>
                <a:ea typeface="仿宋_GB2312" charset="0"/>
              </a:rPr>
              <a:t>，</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 = </a:t>
            </a:r>
            <a:r>
              <a:rPr lang="en-US" altLang="zh-CN" sz="4000" b="1">
                <a:solidFill>
                  <a:srgbClr val="000099"/>
                </a:solidFill>
                <a:effectLst>
                  <a:outerShdw blurRad="38100" dist="38100" dir="2700000" algn="tl">
                    <a:srgbClr val="000000"/>
                  </a:outerShdw>
                </a:effectLst>
                <a:ea typeface="仿宋_GB2312" charset="0"/>
                <a:sym typeface="Symbol" charset="2"/>
              </a:rPr>
              <a:t></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/2</a:t>
            </a:r>
            <a:r>
              <a:rPr lang="en-US" altLang="zh-CN" sz="4000" b="1">
                <a:solidFill>
                  <a:srgbClr val="000099"/>
                </a:solidFill>
                <a:effectLst>
                  <a:outerShdw blurRad="38100" dist="38100" dir="2700000" algn="tl">
                    <a:srgbClr val="000000"/>
                  </a:outerShdw>
                </a:effectLst>
                <a:ea typeface="仿宋_GB2312" charset="0"/>
                <a:sym typeface="Symbol" charset="2"/>
              </a:rPr>
              <a:t></a:t>
            </a:r>
            <a:r>
              <a:rPr lang="zh-CN" altLang="en-US" sz="4000" b="1">
                <a:solidFill>
                  <a:srgbClr val="000099"/>
                </a:solidFill>
                <a:effectLst>
                  <a:outerShdw blurRad="38100" dist="38100" dir="2700000" algn="tl">
                    <a:srgbClr val="000000"/>
                  </a:outerShdw>
                </a:effectLst>
                <a:ea typeface="仿宋_GB2312" charset="0"/>
              </a:rPr>
              <a:t>，直到</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 = 1</a:t>
            </a:r>
            <a:r>
              <a:rPr lang="zh-CN" altLang="en-US" sz="4000" b="1">
                <a:solidFill>
                  <a:srgbClr val="000099"/>
                </a:solidFill>
                <a:effectLst>
                  <a:outerShdw blurRad="38100" dist="38100" dir="2700000" algn="tl">
                    <a:srgbClr val="000000"/>
                  </a:outerShdw>
                </a:effectLst>
                <a:ea typeface="仿宋_GB2312" charset="0"/>
              </a:rPr>
              <a:t>。后来</a:t>
            </a:r>
            <a:r>
              <a:rPr lang="en-US" altLang="zh-CN" sz="4000" b="1">
                <a:solidFill>
                  <a:srgbClr val="000099"/>
                </a:solidFill>
                <a:effectLst>
                  <a:outerShdw blurRad="38100" dist="38100" dir="2700000" algn="tl">
                    <a:srgbClr val="000000"/>
                  </a:outerShdw>
                </a:effectLst>
                <a:ea typeface="仿宋_GB2312" charset="0"/>
              </a:rPr>
              <a:t>knuth </a:t>
            </a:r>
            <a:r>
              <a:rPr lang="zh-CN" altLang="en-US" sz="4000" b="1">
                <a:solidFill>
                  <a:srgbClr val="000099"/>
                </a:solidFill>
                <a:effectLst>
                  <a:outerShdw blurRad="38100" dist="38100" dir="2700000" algn="tl">
                    <a:srgbClr val="000000"/>
                  </a:outerShdw>
                </a:effectLst>
                <a:ea typeface="仿宋_GB2312" charset="0"/>
              </a:rPr>
              <a:t>提出取</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 = </a:t>
            </a:r>
            <a:r>
              <a:rPr lang="en-US" altLang="zh-CN" sz="4000" b="1">
                <a:solidFill>
                  <a:srgbClr val="000099"/>
                </a:solidFill>
                <a:effectLst>
                  <a:outerShdw blurRad="38100" dist="38100" dir="2700000" algn="tl">
                    <a:srgbClr val="000000"/>
                  </a:outerShdw>
                </a:effectLst>
                <a:ea typeface="仿宋_GB2312" charset="0"/>
                <a:sym typeface="Symbol" charset="2"/>
              </a:rPr>
              <a:t></a:t>
            </a:r>
            <a:r>
              <a:rPr lang="en-US" altLang="zh-CN" sz="4000" b="1" i="1">
                <a:solidFill>
                  <a:srgbClr val="000099"/>
                </a:solidFill>
                <a:effectLst>
                  <a:outerShdw blurRad="38100" dist="38100" dir="2700000" algn="tl">
                    <a:srgbClr val="000000"/>
                  </a:outerShdw>
                </a:effectLst>
                <a:ea typeface="仿宋_GB2312" charset="0"/>
              </a:rPr>
              <a:t>gap</a:t>
            </a:r>
            <a:r>
              <a:rPr lang="en-US" altLang="zh-CN" sz="4000" b="1">
                <a:solidFill>
                  <a:srgbClr val="000099"/>
                </a:solidFill>
                <a:effectLst>
                  <a:outerShdw blurRad="38100" dist="38100" dir="2700000" algn="tl">
                    <a:srgbClr val="000000"/>
                  </a:outerShdw>
                </a:effectLst>
                <a:ea typeface="仿宋_GB2312" charset="0"/>
              </a:rPr>
              <a:t>/3</a:t>
            </a:r>
            <a:r>
              <a:rPr lang="en-US" altLang="zh-CN" sz="4000" b="1">
                <a:solidFill>
                  <a:srgbClr val="000099"/>
                </a:solidFill>
                <a:effectLst>
                  <a:outerShdw blurRad="38100" dist="38100" dir="2700000" algn="tl">
                    <a:srgbClr val="000000"/>
                  </a:outerShdw>
                </a:effectLst>
                <a:ea typeface="仿宋_GB2312" charset="0"/>
                <a:sym typeface="Symbol" charset="2"/>
              </a:rPr>
              <a:t></a:t>
            </a:r>
            <a:r>
              <a:rPr lang="en-US" altLang="zh-CN" sz="4000" b="1">
                <a:solidFill>
                  <a:srgbClr val="000099"/>
                </a:solidFill>
                <a:effectLst>
                  <a:outerShdw blurRad="38100" dist="38100" dir="2700000" algn="tl">
                    <a:srgbClr val="000000"/>
                  </a:outerShdw>
                </a:effectLst>
                <a:ea typeface="仿宋_GB2312" charset="0"/>
              </a:rPr>
              <a:t> +1</a:t>
            </a:r>
            <a:r>
              <a:rPr lang="zh-CN" altLang="en-US" sz="4000" b="1">
                <a:solidFill>
                  <a:srgbClr val="000099"/>
                </a:solidFill>
                <a:effectLst>
                  <a:outerShdw blurRad="38100" dist="38100" dir="2700000" algn="tl">
                    <a:srgbClr val="000000"/>
                  </a:outerShdw>
                </a:effectLst>
                <a:ea typeface="仿宋_GB2312" charset="0"/>
              </a:rPr>
              <a:t>。还有人提出都取奇数为好，也有人提出各</a:t>
            </a:r>
            <a:r>
              <a:rPr lang="en-US" altLang="zh-CN" sz="4000" b="1" i="1">
                <a:solidFill>
                  <a:srgbClr val="000099"/>
                </a:solidFill>
                <a:effectLst>
                  <a:outerShdw blurRad="38100" dist="38100" dir="2700000" algn="tl">
                    <a:srgbClr val="000000"/>
                  </a:outerShdw>
                </a:effectLst>
                <a:ea typeface="仿宋_GB2312" charset="0"/>
              </a:rPr>
              <a:t>gap</a:t>
            </a:r>
            <a:r>
              <a:rPr lang="zh-CN" altLang="en-US" sz="4000" b="1">
                <a:solidFill>
                  <a:srgbClr val="000099"/>
                </a:solidFill>
                <a:effectLst>
                  <a:outerShdw blurRad="38100" dist="38100" dir="2700000" algn="tl">
                    <a:srgbClr val="000000"/>
                  </a:outerShdw>
                </a:effectLst>
                <a:ea typeface="仿宋_GB2312" charset="0"/>
              </a:rPr>
              <a:t>互质为好</a:t>
            </a:r>
            <a:endParaRPr lang="zh-CN" altLang="en-US" sz="4000">
              <a:solidFill>
                <a:srgbClr val="000099"/>
              </a:solidFill>
              <a:ea typeface="仿宋_GB2312" charset="0"/>
            </a:endParaRPr>
          </a:p>
        </p:txBody>
      </p:sp>
      <p:sp>
        <p:nvSpPr>
          <p:cNvPr id="154627" name="Rectangle 3"/>
          <p:cNvSpPr>
            <a:spLocks noChangeArrowheads="1"/>
          </p:cNvSpPr>
          <p:nvPr/>
        </p:nvSpPr>
        <p:spPr bwMode="auto">
          <a:xfrm>
            <a:off x="173038" y="152400"/>
            <a:ext cx="88185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0" hangingPunct="0"/>
            <a:endParaRPr lang="zh-CN" altLang="zh-CN"/>
          </a:p>
        </p:txBody>
      </p:sp>
    </p:spTree>
    <p:extLst>
      <p:ext uri="{BB962C8B-B14F-4D97-AF65-F5344CB8AC3E}">
        <p14:creationId xmlns:p14="http://schemas.microsoft.com/office/powerpoint/2010/main" val="744306180"/>
      </p:ext>
    </p:extLst>
  </p:cSld>
  <p:clrMapOvr>
    <a:masterClrMapping/>
  </p:clrMapOvr>
  <p:transition>
    <p:cover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body" idx="1"/>
          </p:nvPr>
        </p:nvSpPr>
        <p:spPr>
          <a:xfrm>
            <a:off x="-36513" y="1028700"/>
            <a:ext cx="8839201" cy="4271963"/>
          </a:xfrm>
        </p:spPr>
        <p:txBody>
          <a:bodyPr/>
          <a:lstStyle/>
          <a:p>
            <a:pPr algn="just">
              <a:lnSpc>
                <a:spcPct val="110000"/>
              </a:lnSpc>
              <a:buFontTx/>
              <a:buNone/>
            </a:pPr>
            <a:r>
              <a:rPr lang="en-US" altLang="zh-CN" sz="4000" b="1">
                <a:effectLst>
                  <a:outerShdw blurRad="38100" dist="38100" dir="2700000" algn="tl">
                    <a:srgbClr val="FFFFFF"/>
                  </a:outerShdw>
                </a:effectLst>
                <a:ea typeface="仿宋_GB2312" charset="0"/>
              </a:rPr>
              <a:t>           </a:t>
            </a:r>
            <a:r>
              <a:rPr lang="en-US" altLang="zh-CN" sz="4000" b="1">
                <a:solidFill>
                  <a:srgbClr val="000099"/>
                </a:solidFill>
                <a:effectLst>
                  <a:outerShdw blurRad="38100" dist="38100" dir="2700000" algn="tl">
                    <a:srgbClr val="000000"/>
                  </a:outerShdw>
                </a:effectLst>
                <a:ea typeface="仿宋_GB2312" charset="0"/>
              </a:rPr>
              <a:t>Knuth</a:t>
            </a:r>
            <a:r>
              <a:rPr lang="zh-CN" altLang="en-US" sz="4000" b="1">
                <a:solidFill>
                  <a:srgbClr val="000099"/>
                </a:solidFill>
                <a:effectLst>
                  <a:outerShdw blurRad="38100" dist="38100" dir="2700000" algn="tl">
                    <a:srgbClr val="000000"/>
                  </a:outerShdw>
                </a:effectLst>
                <a:ea typeface="仿宋_GB2312" charset="0"/>
              </a:rPr>
              <a:t>利用大量的实验统计资料得出，当 </a:t>
            </a:r>
            <a:r>
              <a:rPr lang="en-US" altLang="zh-CN" sz="4000" b="1" i="1">
                <a:solidFill>
                  <a:srgbClr val="000099"/>
                </a:solidFill>
                <a:effectLst>
                  <a:outerShdw blurRad="38100" dist="38100" dir="2700000" algn="tl">
                    <a:srgbClr val="000000"/>
                  </a:outerShdw>
                </a:effectLst>
                <a:ea typeface="仿宋_GB2312" charset="0"/>
              </a:rPr>
              <a:t>n </a:t>
            </a:r>
            <a:r>
              <a:rPr lang="zh-CN" altLang="en-US" sz="4000" b="1">
                <a:solidFill>
                  <a:srgbClr val="000099"/>
                </a:solidFill>
                <a:effectLst>
                  <a:outerShdw blurRad="38100" dist="38100" dir="2700000" algn="tl">
                    <a:srgbClr val="000000"/>
                  </a:outerShdw>
                </a:effectLst>
                <a:ea typeface="仿宋_GB2312" charset="0"/>
              </a:rPr>
              <a:t>很大时，关键码平均比较次数和对象平均移动次数大约在 </a:t>
            </a:r>
            <a:r>
              <a:rPr lang="en-US" altLang="zh-CN" sz="4000" b="1" i="1">
                <a:solidFill>
                  <a:srgbClr val="000099"/>
                </a:solidFill>
                <a:effectLst>
                  <a:outerShdw blurRad="38100" dist="38100" dir="2700000" algn="tl">
                    <a:srgbClr val="000000"/>
                  </a:outerShdw>
                </a:effectLst>
                <a:ea typeface="仿宋_GB2312" charset="0"/>
              </a:rPr>
              <a:t>n</a:t>
            </a:r>
            <a:r>
              <a:rPr lang="en-US" altLang="zh-CN" sz="4000" b="1" baseline="30000">
                <a:solidFill>
                  <a:srgbClr val="000099"/>
                </a:solidFill>
                <a:effectLst>
                  <a:outerShdw blurRad="38100" dist="38100" dir="2700000" algn="tl">
                    <a:srgbClr val="000000"/>
                  </a:outerShdw>
                </a:effectLst>
                <a:ea typeface="仿宋_GB2312" charset="0"/>
              </a:rPr>
              <a:t>1.25 </a:t>
            </a:r>
            <a:r>
              <a:rPr lang="zh-CN" altLang="en-US" sz="4000" b="1">
                <a:solidFill>
                  <a:srgbClr val="000099"/>
                </a:solidFill>
                <a:effectLst>
                  <a:outerShdw blurRad="38100" dist="38100" dir="2700000" algn="tl">
                    <a:srgbClr val="000000"/>
                  </a:outerShdw>
                </a:effectLst>
                <a:ea typeface="仿宋_GB2312" charset="0"/>
              </a:rPr>
              <a:t>到 </a:t>
            </a:r>
            <a:r>
              <a:rPr lang="en-US" altLang="zh-CN" sz="4000" b="1">
                <a:solidFill>
                  <a:srgbClr val="000099"/>
                </a:solidFill>
                <a:effectLst>
                  <a:outerShdw blurRad="38100" dist="38100" dir="2700000" algn="tl">
                    <a:srgbClr val="000000"/>
                  </a:outerShdw>
                </a:effectLst>
                <a:ea typeface="仿宋_GB2312" charset="0"/>
              </a:rPr>
              <a:t>1.6</a:t>
            </a:r>
            <a:r>
              <a:rPr lang="en-US" altLang="zh-CN" sz="4000" b="1" i="1">
                <a:solidFill>
                  <a:srgbClr val="000099"/>
                </a:solidFill>
                <a:effectLst>
                  <a:outerShdw blurRad="38100" dist="38100" dir="2700000" algn="tl">
                    <a:srgbClr val="000000"/>
                  </a:outerShdw>
                </a:effectLst>
                <a:ea typeface="仿宋_GB2312" charset="0"/>
              </a:rPr>
              <a:t>n</a:t>
            </a:r>
            <a:r>
              <a:rPr lang="en-US" altLang="zh-CN" sz="4000" b="1" baseline="30000">
                <a:solidFill>
                  <a:srgbClr val="000099"/>
                </a:solidFill>
                <a:effectLst>
                  <a:outerShdw blurRad="38100" dist="38100" dir="2700000" algn="tl">
                    <a:srgbClr val="000000"/>
                  </a:outerShdw>
                </a:effectLst>
                <a:ea typeface="仿宋_GB2312" charset="0"/>
              </a:rPr>
              <a:t>1.25 </a:t>
            </a:r>
            <a:r>
              <a:rPr lang="zh-CN" altLang="en-US" sz="4000" b="1">
                <a:solidFill>
                  <a:srgbClr val="000099"/>
                </a:solidFill>
                <a:effectLst>
                  <a:outerShdw blurRad="38100" dist="38100" dir="2700000" algn="tl">
                    <a:srgbClr val="000000"/>
                  </a:outerShdw>
                </a:effectLst>
                <a:ea typeface="仿宋_GB2312" charset="0"/>
              </a:rPr>
              <a:t>的范围内。这是在利用直接插入排序作为子序列排序方法的情况下得到的</a:t>
            </a:r>
          </a:p>
        </p:txBody>
      </p:sp>
    </p:spTree>
    <p:extLst>
      <p:ext uri="{BB962C8B-B14F-4D97-AF65-F5344CB8AC3E}">
        <p14:creationId xmlns:p14="http://schemas.microsoft.com/office/powerpoint/2010/main" val="1392511271"/>
      </p:ext>
    </p:extLst>
  </p:cSld>
  <p:clrMapOvr>
    <a:masterClrMapping/>
  </p:clrMapOvr>
  <p:transition>
    <p:cove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56675"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希尔排序是一种不稳定的排序方法</a:t>
            </a:r>
          </a:p>
        </p:txBody>
      </p:sp>
      <p:sp>
        <p:nvSpPr>
          <p:cNvPr id="156676" name="Text Box 4"/>
          <p:cNvSpPr txBox="1">
            <a:spLocks noChangeArrowheads="1"/>
          </p:cNvSpPr>
          <p:nvPr/>
        </p:nvSpPr>
        <p:spPr bwMode="auto">
          <a:xfrm>
            <a:off x="0" y="2179638"/>
            <a:ext cx="873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初始序列的不同会影响算法的效率</a:t>
            </a:r>
          </a:p>
        </p:txBody>
      </p:sp>
      <p:sp>
        <p:nvSpPr>
          <p:cNvPr id="156677"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不是每趟排序后都将某个数据放置在它的最终位置</a:t>
            </a:r>
          </a:p>
        </p:txBody>
      </p:sp>
    </p:spTree>
    <p:extLst>
      <p:ext uri="{BB962C8B-B14F-4D97-AF65-F5344CB8AC3E}">
        <p14:creationId xmlns:p14="http://schemas.microsoft.com/office/powerpoint/2010/main" val="19670488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additive="base">
                                        <p:cTn id="7" dur="500" fill="hold"/>
                                        <p:tgtEl>
                                          <p:spTgt spid="156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6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6676"/>
                                        </p:tgtEl>
                                        <p:attrNameLst>
                                          <p:attrName>style.visibility</p:attrName>
                                        </p:attrNameLst>
                                      </p:cBhvr>
                                      <p:to>
                                        <p:strVal val="visible"/>
                                      </p:to>
                                    </p:set>
                                    <p:anim calcmode="lin" valueType="num">
                                      <p:cBhvr additive="base">
                                        <p:cTn id="13" dur="500" fill="hold"/>
                                        <p:tgtEl>
                                          <p:spTgt spid="156676"/>
                                        </p:tgtEl>
                                        <p:attrNameLst>
                                          <p:attrName>ppt_x</p:attrName>
                                        </p:attrNameLst>
                                      </p:cBhvr>
                                      <p:tavLst>
                                        <p:tav tm="0">
                                          <p:val>
                                            <p:strVal val="1+#ppt_w/2"/>
                                          </p:val>
                                        </p:tav>
                                        <p:tav tm="100000">
                                          <p:val>
                                            <p:strVal val="#ppt_x"/>
                                          </p:val>
                                        </p:tav>
                                      </p:tavLst>
                                    </p:anim>
                                    <p:anim calcmode="lin" valueType="num">
                                      <p:cBhvr additive="base">
                                        <p:cTn id="14" dur="500" fill="hold"/>
                                        <p:tgtEl>
                                          <p:spTgt spid="15667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7"/>
                                        </p:tgtEl>
                                        <p:attrNameLst>
                                          <p:attrName>style.visibility</p:attrName>
                                        </p:attrNameLst>
                                      </p:cBhvr>
                                      <p:to>
                                        <p:strVal val="visible"/>
                                      </p:to>
                                    </p:set>
                                    <p:anim calcmode="lin" valueType="num">
                                      <p:cBhvr additive="base">
                                        <p:cTn id="19" dur="500" fill="hold"/>
                                        <p:tgtEl>
                                          <p:spTgt spid="156677"/>
                                        </p:tgtEl>
                                        <p:attrNameLst>
                                          <p:attrName>ppt_x</p:attrName>
                                        </p:attrNameLst>
                                      </p:cBhvr>
                                      <p:tavLst>
                                        <p:tav tm="0">
                                          <p:val>
                                            <p:strVal val="#ppt_x"/>
                                          </p:val>
                                        </p:tav>
                                        <p:tav tm="100000">
                                          <p:val>
                                            <p:strVal val="#ppt_x"/>
                                          </p:val>
                                        </p:tav>
                                      </p:tavLst>
                                    </p:anim>
                                    <p:anim calcmode="lin" valueType="num">
                                      <p:cBhvr additive="base">
                                        <p:cTn id="20" dur="500" fill="hold"/>
                                        <p:tgtEl>
                                          <p:spTgt spid="1566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6" grpId="0"/>
      <p:bldP spid="15667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1633538" y="692150"/>
            <a:ext cx="5899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6000" b="1">
                <a:solidFill>
                  <a:srgbClr val="003366"/>
                </a:solidFill>
                <a:ea typeface="楷体_GB2312" charset="0"/>
              </a:rPr>
              <a:t>10.3     </a:t>
            </a:r>
            <a:r>
              <a:rPr lang="zh-CN" altLang="en-US" sz="6000" b="1">
                <a:solidFill>
                  <a:srgbClr val="003366"/>
                </a:solidFill>
                <a:ea typeface="楷体_GB2312" charset="0"/>
              </a:rPr>
              <a:t>交换 排 序</a:t>
            </a:r>
            <a:endParaRPr lang="zh-CN" altLang="en-US" sz="4800" b="1">
              <a:solidFill>
                <a:srgbClr val="0000FF"/>
              </a:solidFill>
              <a:ea typeface="楷体_GB2312" charset="0"/>
            </a:endParaRPr>
          </a:p>
        </p:txBody>
      </p:sp>
      <p:sp>
        <p:nvSpPr>
          <p:cNvPr id="82948" name="Text Box 4">
            <a:hlinkClick r:id="rId2" action="ppaction://hlinksldjump" highlightClick="1"/>
          </p:cNvPr>
          <p:cNvSpPr txBox="1">
            <a:spLocks noChangeArrowheads="1"/>
          </p:cNvSpPr>
          <p:nvPr/>
        </p:nvSpPr>
        <p:spPr bwMode="auto">
          <a:xfrm>
            <a:off x="1600200" y="2209800"/>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00FF"/>
                </a:solidFill>
                <a:ea typeface="隶书" charset="0"/>
              </a:rPr>
              <a:t>一、起泡排序</a:t>
            </a:r>
            <a:endParaRPr lang="zh-CN" altLang="en-US" sz="4000" b="1">
              <a:solidFill>
                <a:srgbClr val="FF00FF"/>
              </a:solidFill>
              <a:ea typeface="楷体_GB2312" charset="0"/>
            </a:endParaRPr>
          </a:p>
        </p:txBody>
      </p:sp>
      <p:sp>
        <p:nvSpPr>
          <p:cNvPr id="82949" name="Text Box 5">
            <a:hlinkClick r:id="rId3" action="ppaction://hlinksldjump" highlightClick="1"/>
          </p:cNvPr>
          <p:cNvSpPr txBox="1">
            <a:spLocks noChangeArrowheads="1"/>
          </p:cNvSpPr>
          <p:nvPr/>
        </p:nvSpPr>
        <p:spPr bwMode="auto">
          <a:xfrm>
            <a:off x="1524000" y="3200400"/>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00FF"/>
                </a:solidFill>
                <a:ea typeface="隶书" charset="0"/>
              </a:rPr>
              <a:t>二、一趟快速排序</a:t>
            </a:r>
            <a:endParaRPr lang="zh-CN" altLang="en-US" sz="4000" b="1">
              <a:solidFill>
                <a:srgbClr val="FF00FF"/>
              </a:solidFill>
              <a:ea typeface="隶书" charset="0"/>
            </a:endParaRPr>
          </a:p>
        </p:txBody>
      </p:sp>
      <p:sp>
        <p:nvSpPr>
          <p:cNvPr id="82950" name="Text Box 6">
            <a:hlinkClick r:id="rId4" action="ppaction://hlinksldjump"/>
          </p:cNvPr>
          <p:cNvSpPr txBox="1">
            <a:spLocks noChangeArrowheads="1"/>
          </p:cNvSpPr>
          <p:nvPr/>
        </p:nvSpPr>
        <p:spPr bwMode="auto">
          <a:xfrm>
            <a:off x="1524000" y="4191000"/>
            <a:ext cx="3565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0000FF"/>
                </a:solidFill>
                <a:ea typeface="隶书" charset="0"/>
              </a:rPr>
              <a:t>三、快速排序</a:t>
            </a:r>
            <a:endParaRPr lang="zh-CN" altLang="en-US" sz="4400" b="1">
              <a:solidFill>
                <a:srgbClr val="FF00FF"/>
              </a:solidFill>
              <a:ea typeface="楷体_GB2312" charset="0"/>
            </a:endParaRPr>
          </a:p>
        </p:txBody>
      </p:sp>
      <p:sp>
        <p:nvSpPr>
          <p:cNvPr id="82951" name="Text Box 7">
            <a:hlinkClick r:id="rId5" action="ppaction://hlinksldjump"/>
          </p:cNvPr>
          <p:cNvSpPr txBox="1">
            <a:spLocks noChangeArrowheads="1"/>
          </p:cNvSpPr>
          <p:nvPr/>
        </p:nvSpPr>
        <p:spPr bwMode="auto">
          <a:xfrm>
            <a:off x="1524000" y="5257800"/>
            <a:ext cx="58245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00FF"/>
                </a:solidFill>
                <a:ea typeface="隶书" charset="0"/>
              </a:rPr>
              <a:t>四、快速排序的时间分析</a:t>
            </a:r>
            <a:endParaRPr lang="zh-CN" altLang="en-US" sz="4000" b="1">
              <a:solidFill>
                <a:srgbClr val="FF00FF"/>
              </a:solidFill>
              <a:ea typeface="楷体_GB2312" charset="0"/>
            </a:endParaRPr>
          </a:p>
        </p:txBody>
      </p:sp>
      <p:sp>
        <p:nvSpPr>
          <p:cNvPr id="82953" name="AutoShape 9">
            <a:hlinkClick r:id="rId6"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8271970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checkerboard(across)">
                                      <p:cBhvr>
                                        <p:cTn id="7" dur="500"/>
                                        <p:tgtEl>
                                          <p:spTgt spid="82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88" fill="hold" grpId="0" nodeType="clickEffect">
                                  <p:stCondLst>
                                    <p:cond delay="0"/>
                                  </p:stCondLst>
                                  <p:childTnLst>
                                    <p:set>
                                      <p:cBhvr>
                                        <p:cTn id="11" dur="1" fill="hold">
                                          <p:stCondLst>
                                            <p:cond delay="0"/>
                                          </p:stCondLst>
                                        </p:cTn>
                                        <p:tgtEl>
                                          <p:spTgt spid="82948"/>
                                        </p:tgtEl>
                                        <p:attrNameLst>
                                          <p:attrName>style.visibility</p:attrName>
                                        </p:attrNameLst>
                                      </p:cBhvr>
                                      <p:to>
                                        <p:strVal val="visible"/>
                                      </p:to>
                                    </p:set>
                                    <p:anim calcmode="lin" valueType="num">
                                      <p:cBhvr>
                                        <p:cTn id="12" dur="500" fill="hold"/>
                                        <p:tgtEl>
                                          <p:spTgt spid="82948"/>
                                        </p:tgtEl>
                                        <p:attrNameLst>
                                          <p:attrName>ppt_w</p:attrName>
                                        </p:attrNameLst>
                                      </p:cBhvr>
                                      <p:tavLst>
                                        <p:tav tm="0">
                                          <p:val>
                                            <p:strVal val="4/3*#ppt_w"/>
                                          </p:val>
                                        </p:tav>
                                        <p:tav tm="100000">
                                          <p:val>
                                            <p:strVal val="#ppt_w"/>
                                          </p:val>
                                        </p:tav>
                                      </p:tavLst>
                                    </p:anim>
                                    <p:anim calcmode="lin" valueType="num">
                                      <p:cBhvr>
                                        <p:cTn id="13" dur="500" fill="hold"/>
                                        <p:tgtEl>
                                          <p:spTgt spid="82948"/>
                                        </p:tgtEl>
                                        <p:attrNameLst>
                                          <p:attrName>ppt_h</p:attrName>
                                        </p:attrNameLst>
                                      </p:cBhvr>
                                      <p:tavLst>
                                        <p:tav tm="0">
                                          <p:val>
                                            <p:strVal val="4/3*#ppt_h"/>
                                          </p:val>
                                        </p:tav>
                                        <p:tav tm="100000">
                                          <p:val>
                                            <p:strVal val="#ppt_h"/>
                                          </p:val>
                                        </p:tav>
                                      </p:tavLst>
                                    </p:anim>
                                  </p:childTnLst>
                                </p:cTn>
                              </p:par>
                            </p:childTnLst>
                          </p:cTn>
                        </p:par>
                        <p:par>
                          <p:cTn id="14" fill="hold" nodeType="afterGroup">
                            <p:stCondLst>
                              <p:cond delay="500"/>
                            </p:stCondLst>
                            <p:childTnLst>
                              <p:par>
                                <p:cTn id="15" presetID="23" presetClass="entr" presetSubtype="288" fill="hold" grpId="0" nodeType="afterEffect">
                                  <p:stCondLst>
                                    <p:cond delay="0"/>
                                  </p:stCondLst>
                                  <p:childTnLst>
                                    <p:set>
                                      <p:cBhvr>
                                        <p:cTn id="16" dur="1" fill="hold">
                                          <p:stCondLst>
                                            <p:cond delay="0"/>
                                          </p:stCondLst>
                                        </p:cTn>
                                        <p:tgtEl>
                                          <p:spTgt spid="82949"/>
                                        </p:tgtEl>
                                        <p:attrNameLst>
                                          <p:attrName>style.visibility</p:attrName>
                                        </p:attrNameLst>
                                      </p:cBhvr>
                                      <p:to>
                                        <p:strVal val="visible"/>
                                      </p:to>
                                    </p:set>
                                    <p:anim calcmode="lin" valueType="num">
                                      <p:cBhvr>
                                        <p:cTn id="17" dur="500" fill="hold"/>
                                        <p:tgtEl>
                                          <p:spTgt spid="82949"/>
                                        </p:tgtEl>
                                        <p:attrNameLst>
                                          <p:attrName>ppt_w</p:attrName>
                                        </p:attrNameLst>
                                      </p:cBhvr>
                                      <p:tavLst>
                                        <p:tav tm="0">
                                          <p:val>
                                            <p:strVal val="4/3*#ppt_w"/>
                                          </p:val>
                                        </p:tav>
                                        <p:tav tm="100000">
                                          <p:val>
                                            <p:strVal val="#ppt_w"/>
                                          </p:val>
                                        </p:tav>
                                      </p:tavLst>
                                    </p:anim>
                                    <p:anim calcmode="lin" valueType="num">
                                      <p:cBhvr>
                                        <p:cTn id="18" dur="500" fill="hold"/>
                                        <p:tgtEl>
                                          <p:spTgt spid="82949"/>
                                        </p:tgtEl>
                                        <p:attrNameLst>
                                          <p:attrName>ppt_h</p:attrName>
                                        </p:attrNameLst>
                                      </p:cBhvr>
                                      <p:tavLst>
                                        <p:tav tm="0">
                                          <p:val>
                                            <p:strVal val="4/3*#ppt_h"/>
                                          </p:val>
                                        </p:tav>
                                        <p:tav tm="100000">
                                          <p:val>
                                            <p:strVal val="#ppt_h"/>
                                          </p:val>
                                        </p:tav>
                                      </p:tavLst>
                                    </p:anim>
                                  </p:childTnLst>
                                </p:cTn>
                              </p:par>
                            </p:childTnLst>
                          </p:cTn>
                        </p:par>
                        <p:par>
                          <p:cTn id="19" fill="hold" nodeType="afterGroup">
                            <p:stCondLst>
                              <p:cond delay="1000"/>
                            </p:stCondLst>
                            <p:childTnLst>
                              <p:par>
                                <p:cTn id="20" presetID="23" presetClass="entr" presetSubtype="288" fill="hold" grpId="0" nodeType="afterEffect">
                                  <p:stCondLst>
                                    <p:cond delay="0"/>
                                  </p:stCondLst>
                                  <p:childTnLst>
                                    <p:set>
                                      <p:cBhvr>
                                        <p:cTn id="21" dur="1" fill="hold">
                                          <p:stCondLst>
                                            <p:cond delay="0"/>
                                          </p:stCondLst>
                                        </p:cTn>
                                        <p:tgtEl>
                                          <p:spTgt spid="82950"/>
                                        </p:tgtEl>
                                        <p:attrNameLst>
                                          <p:attrName>style.visibility</p:attrName>
                                        </p:attrNameLst>
                                      </p:cBhvr>
                                      <p:to>
                                        <p:strVal val="visible"/>
                                      </p:to>
                                    </p:set>
                                    <p:anim calcmode="lin" valueType="num">
                                      <p:cBhvr>
                                        <p:cTn id="22" dur="500" fill="hold"/>
                                        <p:tgtEl>
                                          <p:spTgt spid="82950"/>
                                        </p:tgtEl>
                                        <p:attrNameLst>
                                          <p:attrName>ppt_w</p:attrName>
                                        </p:attrNameLst>
                                      </p:cBhvr>
                                      <p:tavLst>
                                        <p:tav tm="0">
                                          <p:val>
                                            <p:strVal val="4/3*#ppt_w"/>
                                          </p:val>
                                        </p:tav>
                                        <p:tav tm="100000">
                                          <p:val>
                                            <p:strVal val="#ppt_w"/>
                                          </p:val>
                                        </p:tav>
                                      </p:tavLst>
                                    </p:anim>
                                    <p:anim calcmode="lin" valueType="num">
                                      <p:cBhvr>
                                        <p:cTn id="23" dur="500" fill="hold"/>
                                        <p:tgtEl>
                                          <p:spTgt spid="82950"/>
                                        </p:tgtEl>
                                        <p:attrNameLst>
                                          <p:attrName>ppt_h</p:attrName>
                                        </p:attrNameLst>
                                      </p:cBhvr>
                                      <p:tavLst>
                                        <p:tav tm="0">
                                          <p:val>
                                            <p:strVal val="4/3*#ppt_h"/>
                                          </p:val>
                                        </p:tav>
                                        <p:tav tm="100000">
                                          <p:val>
                                            <p:strVal val="#ppt_h"/>
                                          </p:val>
                                        </p:tav>
                                      </p:tavLst>
                                    </p:anim>
                                  </p:childTnLst>
                                </p:cTn>
                              </p:par>
                            </p:childTnLst>
                          </p:cTn>
                        </p:par>
                        <p:par>
                          <p:cTn id="24" fill="hold" nodeType="afterGroup">
                            <p:stCondLst>
                              <p:cond delay="1500"/>
                            </p:stCondLst>
                            <p:childTnLst>
                              <p:par>
                                <p:cTn id="25" presetID="2" presetClass="entr" presetSubtype="8" fill="hold" grpId="0" nodeType="afterEffect">
                                  <p:stCondLst>
                                    <p:cond delay="0"/>
                                  </p:stCondLst>
                                  <p:childTnLst>
                                    <p:set>
                                      <p:cBhvr>
                                        <p:cTn id="26" dur="1" fill="hold">
                                          <p:stCondLst>
                                            <p:cond delay="0"/>
                                          </p:stCondLst>
                                        </p:cTn>
                                        <p:tgtEl>
                                          <p:spTgt spid="82953"/>
                                        </p:tgtEl>
                                        <p:attrNameLst>
                                          <p:attrName>style.visibility</p:attrName>
                                        </p:attrNameLst>
                                      </p:cBhvr>
                                      <p:to>
                                        <p:strVal val="visible"/>
                                      </p:to>
                                    </p:set>
                                    <p:anim calcmode="lin" valueType="num">
                                      <p:cBhvr additive="base">
                                        <p:cTn id="27" dur="500" fill="hold"/>
                                        <p:tgtEl>
                                          <p:spTgt spid="82953"/>
                                        </p:tgtEl>
                                        <p:attrNameLst>
                                          <p:attrName>ppt_x</p:attrName>
                                        </p:attrNameLst>
                                      </p:cBhvr>
                                      <p:tavLst>
                                        <p:tav tm="0">
                                          <p:val>
                                            <p:strVal val="0-#ppt_w/2"/>
                                          </p:val>
                                        </p:tav>
                                        <p:tav tm="100000">
                                          <p:val>
                                            <p:strVal val="#ppt_x"/>
                                          </p:val>
                                        </p:tav>
                                      </p:tavLst>
                                    </p:anim>
                                    <p:anim calcmode="lin" valueType="num">
                                      <p:cBhvr additive="base">
                                        <p:cTn id="28" dur="500" fill="hold"/>
                                        <p:tgtEl>
                                          <p:spTgt spid="82953"/>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000"/>
                            </p:stCondLst>
                            <p:childTnLst>
                              <p:par>
                                <p:cTn id="30" presetID="23" presetClass="entr" presetSubtype="288" fill="hold" grpId="0" nodeType="afterEffect">
                                  <p:stCondLst>
                                    <p:cond delay="0"/>
                                  </p:stCondLst>
                                  <p:childTnLst>
                                    <p:set>
                                      <p:cBhvr>
                                        <p:cTn id="31" dur="1" fill="hold">
                                          <p:stCondLst>
                                            <p:cond delay="0"/>
                                          </p:stCondLst>
                                        </p:cTn>
                                        <p:tgtEl>
                                          <p:spTgt spid="82951"/>
                                        </p:tgtEl>
                                        <p:attrNameLst>
                                          <p:attrName>style.visibility</p:attrName>
                                        </p:attrNameLst>
                                      </p:cBhvr>
                                      <p:to>
                                        <p:strVal val="visible"/>
                                      </p:to>
                                    </p:set>
                                    <p:anim calcmode="lin" valueType="num">
                                      <p:cBhvr>
                                        <p:cTn id="32" dur="500" fill="hold"/>
                                        <p:tgtEl>
                                          <p:spTgt spid="82951"/>
                                        </p:tgtEl>
                                        <p:attrNameLst>
                                          <p:attrName>ppt_w</p:attrName>
                                        </p:attrNameLst>
                                      </p:cBhvr>
                                      <p:tavLst>
                                        <p:tav tm="0">
                                          <p:val>
                                            <p:strVal val="4/3*#ppt_w"/>
                                          </p:val>
                                        </p:tav>
                                        <p:tav tm="100000">
                                          <p:val>
                                            <p:strVal val="#ppt_w"/>
                                          </p:val>
                                        </p:tav>
                                      </p:tavLst>
                                    </p:anim>
                                    <p:anim calcmode="lin" valueType="num">
                                      <p:cBhvr>
                                        <p:cTn id="33" dur="500" fill="hold"/>
                                        <p:tgtEl>
                                          <p:spTgt spid="8295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48" grpId="0" autoUpdateAnimBg="0"/>
      <p:bldP spid="82949" grpId="0" autoUpdateAnimBg="0"/>
      <p:bldP spid="82950" grpId="0" autoUpdateAnimBg="0"/>
      <p:bldP spid="82951" grpId="0" autoUpdateAnimBg="0"/>
      <p:bldP spid="8295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304800" y="152400"/>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隶书" charset="0"/>
              </a:rPr>
              <a:t>一、起泡排序</a:t>
            </a:r>
            <a:endParaRPr lang="zh-CN" altLang="en-US" sz="4000" b="1">
              <a:solidFill>
                <a:srgbClr val="FF00FF"/>
              </a:solidFill>
              <a:ea typeface="楷体_GB2312" charset="0"/>
            </a:endParaRPr>
          </a:p>
        </p:txBody>
      </p:sp>
      <p:sp>
        <p:nvSpPr>
          <p:cNvPr id="26628" name="Text Box 4"/>
          <p:cNvSpPr txBox="1">
            <a:spLocks noChangeArrowheads="1"/>
          </p:cNvSpPr>
          <p:nvPr/>
        </p:nvSpPr>
        <p:spPr bwMode="auto">
          <a:xfrm>
            <a:off x="228600" y="762000"/>
            <a:ext cx="8558213"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4000">
                <a:ea typeface="楷体_GB2312" charset="0"/>
              </a:rPr>
              <a:t>　</a:t>
            </a:r>
            <a:r>
              <a:rPr lang="zh-CN" altLang="en-US" sz="3600">
                <a:ea typeface="楷体_GB2312" charset="0"/>
              </a:rPr>
              <a:t>　假设在排序过程中，记录序列</a:t>
            </a:r>
            <a:r>
              <a:rPr lang="en-US" altLang="zh-CN" sz="3600">
                <a:solidFill>
                  <a:srgbClr val="A50021"/>
                </a:solidFill>
                <a:ea typeface="楷体_GB2312" charset="0"/>
              </a:rPr>
              <a:t>R[1..n]</a:t>
            </a:r>
            <a:r>
              <a:rPr lang="zh-CN" altLang="en-US" sz="3600">
                <a:ea typeface="楷体_GB2312" charset="0"/>
              </a:rPr>
              <a:t>的状态为：</a:t>
            </a:r>
            <a:endParaRPr lang="zh-CN" altLang="en-US" sz="4000">
              <a:ea typeface="楷体_GB2312" charset="0"/>
            </a:endParaRPr>
          </a:p>
        </p:txBody>
      </p:sp>
      <p:sp>
        <p:nvSpPr>
          <p:cNvPr id="26629" name="Text Box 5"/>
          <p:cNvSpPr txBox="1">
            <a:spLocks noChangeArrowheads="1"/>
          </p:cNvSpPr>
          <p:nvPr/>
        </p:nvSpPr>
        <p:spPr bwMode="auto">
          <a:xfrm>
            <a:off x="5791200" y="3657600"/>
            <a:ext cx="33528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15000"/>
              </a:lnSpc>
            </a:pPr>
            <a:r>
              <a:rPr lang="zh-CN" altLang="en-US" sz="3600">
                <a:solidFill>
                  <a:srgbClr val="0000FF"/>
                </a:solidFill>
                <a:ea typeface="楷体_GB2312" charset="0"/>
              </a:rPr>
              <a:t>第 </a:t>
            </a:r>
            <a:r>
              <a:rPr lang="en-US" altLang="zh-CN" sz="3600">
                <a:solidFill>
                  <a:srgbClr val="0000FF"/>
                </a:solidFill>
                <a:ea typeface="楷体_GB2312" charset="0"/>
              </a:rPr>
              <a:t>i </a:t>
            </a:r>
            <a:r>
              <a:rPr lang="zh-CN" altLang="en-US" sz="3600">
                <a:solidFill>
                  <a:srgbClr val="0000FF"/>
                </a:solidFill>
                <a:ea typeface="楷体_GB2312" charset="0"/>
              </a:rPr>
              <a:t>趟起泡排序</a:t>
            </a:r>
            <a:endParaRPr lang="zh-CN" altLang="en-US" sz="4000">
              <a:solidFill>
                <a:srgbClr val="000080"/>
              </a:solidFill>
              <a:ea typeface="楷体_GB2312" charset="0"/>
            </a:endParaRPr>
          </a:p>
        </p:txBody>
      </p:sp>
      <p:sp>
        <p:nvSpPr>
          <p:cNvPr id="26630" name="Rectangle 6"/>
          <p:cNvSpPr>
            <a:spLocks noChangeArrowheads="1"/>
          </p:cNvSpPr>
          <p:nvPr/>
        </p:nvSpPr>
        <p:spPr bwMode="auto">
          <a:xfrm>
            <a:off x="762000" y="2514600"/>
            <a:ext cx="4191000" cy="533400"/>
          </a:xfrm>
          <a:prstGeom prst="rect">
            <a:avLst/>
          </a:prstGeom>
          <a:solidFill>
            <a:srgbClr val="CCFFFF"/>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000"/>
              <a:t>无序序列</a:t>
            </a:r>
            <a:r>
              <a:rPr lang="en-US" altLang="zh-CN" sz="3000"/>
              <a:t>R[1..n-i+1]</a:t>
            </a:r>
          </a:p>
        </p:txBody>
      </p:sp>
      <p:sp>
        <p:nvSpPr>
          <p:cNvPr id="26635" name="Rectangle 11"/>
          <p:cNvSpPr>
            <a:spLocks noChangeArrowheads="1"/>
          </p:cNvSpPr>
          <p:nvPr/>
        </p:nvSpPr>
        <p:spPr bwMode="auto">
          <a:xfrm>
            <a:off x="4953000" y="2514600"/>
            <a:ext cx="3505200" cy="533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tLang="zh-CN" sz="3000"/>
          </a:p>
          <a:p>
            <a:r>
              <a:rPr lang="zh-CN" altLang="en-US" sz="3000"/>
              <a:t>有序序列 </a:t>
            </a:r>
            <a:r>
              <a:rPr lang="en-US" altLang="zh-CN" sz="3000"/>
              <a:t>R[n-i+2..n]</a:t>
            </a:r>
          </a:p>
          <a:p>
            <a:endParaRPr lang="en-US" altLang="zh-CN" sz="3000"/>
          </a:p>
        </p:txBody>
      </p:sp>
      <p:sp>
        <p:nvSpPr>
          <p:cNvPr id="26638" name="Line 14"/>
          <p:cNvSpPr>
            <a:spLocks noChangeShapeType="1"/>
          </p:cNvSpPr>
          <p:nvPr/>
        </p:nvSpPr>
        <p:spPr bwMode="auto">
          <a:xfrm>
            <a:off x="4800600" y="1981200"/>
            <a:ext cx="0" cy="533400"/>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39" name="Text Box 15"/>
          <p:cNvSpPr txBox="1">
            <a:spLocks noChangeArrowheads="1"/>
          </p:cNvSpPr>
          <p:nvPr/>
        </p:nvSpPr>
        <p:spPr bwMode="auto">
          <a:xfrm>
            <a:off x="4876800" y="1752600"/>
            <a:ext cx="106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ea typeface="楷体_GB2312" charset="0"/>
              </a:rPr>
              <a:t>n-i+1</a:t>
            </a:r>
          </a:p>
        </p:txBody>
      </p:sp>
      <p:sp>
        <p:nvSpPr>
          <p:cNvPr id="26640" name="Rectangle 16"/>
          <p:cNvSpPr>
            <a:spLocks noChangeArrowheads="1"/>
          </p:cNvSpPr>
          <p:nvPr/>
        </p:nvSpPr>
        <p:spPr bwMode="auto">
          <a:xfrm>
            <a:off x="762000" y="5486400"/>
            <a:ext cx="3810000" cy="533400"/>
          </a:xfrm>
          <a:prstGeom prst="rect">
            <a:avLst/>
          </a:prstGeom>
          <a:solidFill>
            <a:srgbClr val="CCFFFF"/>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000"/>
              <a:t>无序序列</a:t>
            </a:r>
            <a:r>
              <a:rPr lang="en-US" altLang="zh-CN" sz="3000"/>
              <a:t>R[1..n-i]</a:t>
            </a:r>
          </a:p>
        </p:txBody>
      </p:sp>
      <p:sp>
        <p:nvSpPr>
          <p:cNvPr id="26641" name="Rectangle 17"/>
          <p:cNvSpPr>
            <a:spLocks noChangeArrowheads="1"/>
          </p:cNvSpPr>
          <p:nvPr/>
        </p:nvSpPr>
        <p:spPr bwMode="auto">
          <a:xfrm>
            <a:off x="4572000" y="5486400"/>
            <a:ext cx="3886200" cy="533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ltLang="zh-CN" sz="3000"/>
          </a:p>
          <a:p>
            <a:r>
              <a:rPr lang="zh-CN" altLang="en-US" sz="3000"/>
              <a:t>有序序列 </a:t>
            </a:r>
            <a:r>
              <a:rPr lang="en-US" altLang="zh-CN" sz="3000"/>
              <a:t>R[n-i+1..n]</a:t>
            </a:r>
          </a:p>
          <a:p>
            <a:endParaRPr lang="en-US" altLang="zh-CN" sz="3000"/>
          </a:p>
        </p:txBody>
      </p:sp>
      <p:sp>
        <p:nvSpPr>
          <p:cNvPr id="26644" name="AutoShape 20"/>
          <p:cNvSpPr>
            <a:spLocks noChangeArrowheads="1"/>
          </p:cNvSpPr>
          <p:nvPr/>
        </p:nvSpPr>
        <p:spPr bwMode="auto">
          <a:xfrm>
            <a:off x="5105400" y="3429000"/>
            <a:ext cx="914400" cy="1828800"/>
          </a:xfrm>
          <a:prstGeom prst="downArrow">
            <a:avLst>
              <a:gd name="adj1" fmla="val 50000"/>
              <a:gd name="adj2" fmla="val 50000"/>
            </a:avLst>
          </a:prstGeom>
          <a:solidFill>
            <a:srgbClr val="00CC99"/>
          </a:solidFill>
          <a:ln w="9525">
            <a:solidFill>
              <a:srgbClr val="006666"/>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26645" name="Text Box 21"/>
          <p:cNvSpPr txBox="1">
            <a:spLocks noChangeArrowheads="1"/>
          </p:cNvSpPr>
          <p:nvPr/>
        </p:nvSpPr>
        <p:spPr bwMode="auto">
          <a:xfrm>
            <a:off x="212725" y="3581400"/>
            <a:ext cx="4206875"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10000"/>
              </a:lnSpc>
            </a:pPr>
            <a:r>
              <a:rPr lang="zh-CN" altLang="en-US" sz="3200">
                <a:solidFill>
                  <a:srgbClr val="800000"/>
                </a:solidFill>
                <a:ea typeface="楷体_GB2312" charset="0"/>
              </a:rPr>
              <a:t>比较相邻记录，将</a:t>
            </a:r>
            <a:r>
              <a:rPr lang="zh-CN" altLang="en-US" sz="3200" b="1">
                <a:solidFill>
                  <a:srgbClr val="800000"/>
                </a:solidFill>
                <a:ea typeface="楷体_GB2312" charset="0"/>
              </a:rPr>
              <a:t>关键字最大的记录</a:t>
            </a:r>
            <a:r>
              <a:rPr lang="zh-CN" altLang="zh-CN" sz="3200" b="1">
                <a:solidFill>
                  <a:srgbClr val="800000"/>
                </a:solidFill>
                <a:ea typeface="楷体_GB2312" charset="0"/>
              </a:rPr>
              <a:t>交换</a:t>
            </a:r>
            <a:r>
              <a:rPr lang="zh-CN" altLang="zh-CN" sz="3200">
                <a:solidFill>
                  <a:srgbClr val="800000"/>
                </a:solidFill>
                <a:ea typeface="楷体_GB2312" charset="0"/>
              </a:rPr>
              <a:t>到</a:t>
            </a:r>
            <a:r>
              <a:rPr lang="zh-CN" altLang="zh-CN" sz="3200" b="1">
                <a:solidFill>
                  <a:srgbClr val="800000"/>
                </a:solidFill>
                <a:ea typeface="楷体_GB2312" charset="0"/>
              </a:rPr>
              <a:t> </a:t>
            </a:r>
            <a:r>
              <a:rPr lang="en-US" altLang="zh-CN" sz="3200" b="1">
                <a:solidFill>
                  <a:srgbClr val="800000"/>
                </a:solidFill>
                <a:ea typeface="楷体_GB2312" charset="0"/>
              </a:rPr>
              <a:t>n-i+1 </a:t>
            </a:r>
            <a:r>
              <a:rPr lang="zh-CN" altLang="zh-CN" sz="3200">
                <a:solidFill>
                  <a:srgbClr val="800000"/>
                </a:solidFill>
                <a:ea typeface="楷体_GB2312" charset="0"/>
              </a:rPr>
              <a:t>的位置上</a:t>
            </a:r>
            <a:endParaRPr lang="zh-CN" altLang="en-US" sz="3600" b="1">
              <a:solidFill>
                <a:srgbClr val="800000"/>
              </a:solidFill>
              <a:ea typeface="楷体_GB2312" charset="0"/>
            </a:endParaRPr>
          </a:p>
        </p:txBody>
      </p:sp>
      <p:sp>
        <p:nvSpPr>
          <p:cNvPr id="26646" name="AutoShape 22"/>
          <p:cNvSpPr>
            <a:spLocks noChangeArrowheads="1"/>
          </p:cNvSpPr>
          <p:nvPr/>
        </p:nvSpPr>
        <p:spPr bwMode="auto">
          <a:xfrm>
            <a:off x="27432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47" name="AutoShape 23"/>
          <p:cNvSpPr>
            <a:spLocks noChangeArrowheads="1"/>
          </p:cNvSpPr>
          <p:nvPr/>
        </p:nvSpPr>
        <p:spPr bwMode="auto">
          <a:xfrm>
            <a:off x="43434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48" name="AutoShape 24"/>
          <p:cNvSpPr>
            <a:spLocks noChangeArrowheads="1"/>
          </p:cNvSpPr>
          <p:nvPr/>
        </p:nvSpPr>
        <p:spPr bwMode="auto">
          <a:xfrm>
            <a:off x="38100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49" name="AutoShape 25"/>
          <p:cNvSpPr>
            <a:spLocks noChangeArrowheads="1"/>
          </p:cNvSpPr>
          <p:nvPr/>
        </p:nvSpPr>
        <p:spPr bwMode="auto">
          <a:xfrm>
            <a:off x="32766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0" name="AutoShape 26"/>
          <p:cNvSpPr>
            <a:spLocks noChangeArrowheads="1"/>
          </p:cNvSpPr>
          <p:nvPr/>
        </p:nvSpPr>
        <p:spPr bwMode="auto">
          <a:xfrm>
            <a:off x="22860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1" name="AutoShape 27"/>
          <p:cNvSpPr>
            <a:spLocks noChangeArrowheads="1"/>
          </p:cNvSpPr>
          <p:nvPr/>
        </p:nvSpPr>
        <p:spPr bwMode="auto">
          <a:xfrm>
            <a:off x="18288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2" name="AutoShape 28"/>
          <p:cNvSpPr>
            <a:spLocks noChangeArrowheads="1"/>
          </p:cNvSpPr>
          <p:nvPr/>
        </p:nvSpPr>
        <p:spPr bwMode="auto">
          <a:xfrm>
            <a:off x="13716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3" name="AutoShape 29"/>
          <p:cNvSpPr>
            <a:spLocks noChangeArrowheads="1"/>
          </p:cNvSpPr>
          <p:nvPr/>
        </p:nvSpPr>
        <p:spPr bwMode="auto">
          <a:xfrm>
            <a:off x="838200" y="3048000"/>
            <a:ext cx="533400" cy="304800"/>
          </a:xfrm>
          <a:prstGeom prst="curvedUpArrow">
            <a:avLst>
              <a:gd name="adj1" fmla="val 22288"/>
              <a:gd name="adj2" fmla="val 57288"/>
              <a:gd name="adj3" fmla="val 33333"/>
            </a:avLst>
          </a:prstGeom>
          <a:solidFill>
            <a:schemeClr val="accent1"/>
          </a:solidFill>
          <a:ln w="9525">
            <a:solidFill>
              <a:srgbClr val="00FFFF"/>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4" name="Line 30"/>
          <p:cNvSpPr>
            <a:spLocks noChangeShapeType="1"/>
          </p:cNvSpPr>
          <p:nvPr/>
        </p:nvSpPr>
        <p:spPr bwMode="auto">
          <a:xfrm>
            <a:off x="4953000" y="3048000"/>
            <a:ext cx="0" cy="2971800"/>
          </a:xfrm>
          <a:prstGeom prst="line">
            <a:avLst/>
          </a:prstGeom>
          <a:noFill/>
          <a:ln w="9525" cap="rnd">
            <a:solidFill>
              <a:srgbClr val="FF66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6655" name="Line 31"/>
          <p:cNvSpPr>
            <a:spLocks noChangeShapeType="1"/>
          </p:cNvSpPr>
          <p:nvPr/>
        </p:nvSpPr>
        <p:spPr bwMode="auto">
          <a:xfrm>
            <a:off x="4572000" y="2514600"/>
            <a:ext cx="0" cy="2971800"/>
          </a:xfrm>
          <a:prstGeom prst="line">
            <a:avLst/>
          </a:prstGeom>
          <a:noFill/>
          <a:ln w="9525" cap="rnd">
            <a:solidFill>
              <a:srgbClr val="FF66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0249351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randombar(vertical)">
                                      <p:cBhvr>
                                        <p:cTn id="7" dur="500"/>
                                        <p:tgtEl>
                                          <p:spTgt spid="26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gtEl>
                                        <p:attrNameLst>
                                          <p:attrName>style.visibility</p:attrName>
                                        </p:attrNameLst>
                                      </p:cBhvr>
                                      <p:to>
                                        <p:strVal val="visible"/>
                                      </p:to>
                                    </p:set>
                                    <p:animEffect transition="in" filter="wipe(left)">
                                      <p:cBhvr>
                                        <p:cTn id="12" dur="500"/>
                                        <p:tgtEl>
                                          <p:spTgt spid="26628"/>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6630"/>
                                        </p:tgtEl>
                                        <p:attrNameLst>
                                          <p:attrName>style.visibility</p:attrName>
                                        </p:attrNameLst>
                                      </p:cBhvr>
                                      <p:to>
                                        <p:strVal val="visible"/>
                                      </p:to>
                                    </p:set>
                                    <p:animEffect transition="in" filter="wipe(left)">
                                      <p:cBhvr>
                                        <p:cTn id="16" dur="500"/>
                                        <p:tgtEl>
                                          <p:spTgt spid="26630"/>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6635"/>
                                        </p:tgtEl>
                                        <p:attrNameLst>
                                          <p:attrName>style.visibility</p:attrName>
                                        </p:attrNameLst>
                                      </p:cBhvr>
                                      <p:to>
                                        <p:strVal val="visible"/>
                                      </p:to>
                                    </p:set>
                                    <p:animEffect transition="in" filter="wipe(left)">
                                      <p:cBhvr>
                                        <p:cTn id="20" dur="500"/>
                                        <p:tgtEl>
                                          <p:spTgt spid="26635"/>
                                        </p:tgtEl>
                                      </p:cBhvr>
                                    </p:animEffect>
                                  </p:childTnLst>
                                </p:cTn>
                              </p:par>
                            </p:childTnLst>
                          </p:cTn>
                        </p:par>
                        <p:par>
                          <p:cTn id="21" fill="hold" nodeType="afterGroup">
                            <p:stCondLst>
                              <p:cond delay="1500"/>
                            </p:stCondLst>
                            <p:childTnLst>
                              <p:par>
                                <p:cTn id="22" presetID="1" presetClass="entr" presetSubtype="0" fill="hold" grpId="0" nodeType="afterEffect">
                                  <p:stCondLst>
                                    <p:cond delay="0"/>
                                  </p:stCondLst>
                                  <p:childTnLst>
                                    <p:set>
                                      <p:cBhvr>
                                        <p:cTn id="23" dur="1" fill="hold">
                                          <p:stCondLst>
                                            <p:cond delay="499"/>
                                          </p:stCondLst>
                                        </p:cTn>
                                        <p:tgtEl>
                                          <p:spTgt spid="26638"/>
                                        </p:tgtEl>
                                        <p:attrNameLst>
                                          <p:attrName>style.visibility</p:attrName>
                                        </p:attrNameLst>
                                      </p:cBhvr>
                                      <p:to>
                                        <p:strVal val="visible"/>
                                      </p:to>
                                    </p:set>
                                  </p:childTnLst>
                                </p:cTn>
                              </p:par>
                            </p:childTnLst>
                          </p:cTn>
                        </p:par>
                        <p:par>
                          <p:cTn id="24" fill="hold" nodeType="afterGroup">
                            <p:stCondLst>
                              <p:cond delay="2000"/>
                            </p:stCondLst>
                            <p:childTnLst>
                              <p:par>
                                <p:cTn id="25" presetID="1" presetClass="entr" presetSubtype="0" fill="hold" grpId="0" nodeType="afterEffect">
                                  <p:stCondLst>
                                    <p:cond delay="0"/>
                                  </p:stCondLst>
                                  <p:childTnLst>
                                    <p:set>
                                      <p:cBhvr>
                                        <p:cTn id="26" dur="1" fill="hold">
                                          <p:stCondLst>
                                            <p:cond delay="499"/>
                                          </p:stCondLst>
                                        </p:cTn>
                                        <p:tgtEl>
                                          <p:spTgt spid="2663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6629"/>
                                        </p:tgtEl>
                                        <p:attrNameLst>
                                          <p:attrName>style.visibility</p:attrName>
                                        </p:attrNameLst>
                                      </p:cBhvr>
                                      <p:to>
                                        <p:strVal val="visible"/>
                                      </p:to>
                                    </p:set>
                                    <p:anim calcmode="lin" valueType="num">
                                      <p:cBhvr additive="base">
                                        <p:cTn id="31" dur="500" fill="hold"/>
                                        <p:tgtEl>
                                          <p:spTgt spid="26629"/>
                                        </p:tgtEl>
                                        <p:attrNameLst>
                                          <p:attrName>ppt_x</p:attrName>
                                        </p:attrNameLst>
                                      </p:cBhvr>
                                      <p:tavLst>
                                        <p:tav tm="0">
                                          <p:val>
                                            <p:strVal val="1+#ppt_w/2"/>
                                          </p:val>
                                        </p:tav>
                                        <p:tav tm="100000">
                                          <p:val>
                                            <p:strVal val="#ppt_x"/>
                                          </p:val>
                                        </p:tav>
                                      </p:tavLst>
                                    </p:anim>
                                    <p:anim calcmode="lin" valueType="num">
                                      <p:cBhvr additive="base">
                                        <p:cTn id="32" dur="500" fill="hold"/>
                                        <p:tgtEl>
                                          <p:spTgt spid="26629"/>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17" presetClass="entr" presetSubtype="1" fill="hold" grpId="0" nodeType="afterEffect">
                                  <p:stCondLst>
                                    <p:cond delay="0"/>
                                  </p:stCondLst>
                                  <p:childTnLst>
                                    <p:set>
                                      <p:cBhvr>
                                        <p:cTn id="35" dur="1" fill="hold">
                                          <p:stCondLst>
                                            <p:cond delay="0"/>
                                          </p:stCondLst>
                                        </p:cTn>
                                        <p:tgtEl>
                                          <p:spTgt spid="26644"/>
                                        </p:tgtEl>
                                        <p:attrNameLst>
                                          <p:attrName>style.visibility</p:attrName>
                                        </p:attrNameLst>
                                      </p:cBhvr>
                                      <p:to>
                                        <p:strVal val="visible"/>
                                      </p:to>
                                    </p:set>
                                    <p:anim calcmode="lin" valueType="num">
                                      <p:cBhvr>
                                        <p:cTn id="36" dur="500" fill="hold"/>
                                        <p:tgtEl>
                                          <p:spTgt spid="26644"/>
                                        </p:tgtEl>
                                        <p:attrNameLst>
                                          <p:attrName>ppt_x</p:attrName>
                                        </p:attrNameLst>
                                      </p:cBhvr>
                                      <p:tavLst>
                                        <p:tav tm="0">
                                          <p:val>
                                            <p:strVal val="#ppt_x"/>
                                          </p:val>
                                        </p:tav>
                                        <p:tav tm="100000">
                                          <p:val>
                                            <p:strVal val="#ppt_x"/>
                                          </p:val>
                                        </p:tav>
                                      </p:tavLst>
                                    </p:anim>
                                    <p:anim calcmode="lin" valueType="num">
                                      <p:cBhvr>
                                        <p:cTn id="37" dur="500" fill="hold"/>
                                        <p:tgtEl>
                                          <p:spTgt spid="26644"/>
                                        </p:tgtEl>
                                        <p:attrNameLst>
                                          <p:attrName>ppt_y</p:attrName>
                                        </p:attrNameLst>
                                      </p:cBhvr>
                                      <p:tavLst>
                                        <p:tav tm="0">
                                          <p:val>
                                            <p:strVal val="#ppt_y-#ppt_h/2"/>
                                          </p:val>
                                        </p:tav>
                                        <p:tav tm="100000">
                                          <p:val>
                                            <p:strVal val="#ppt_y"/>
                                          </p:val>
                                        </p:tav>
                                      </p:tavLst>
                                    </p:anim>
                                    <p:anim calcmode="lin" valueType="num">
                                      <p:cBhvr>
                                        <p:cTn id="38" dur="500" fill="hold"/>
                                        <p:tgtEl>
                                          <p:spTgt spid="26644"/>
                                        </p:tgtEl>
                                        <p:attrNameLst>
                                          <p:attrName>ppt_w</p:attrName>
                                        </p:attrNameLst>
                                      </p:cBhvr>
                                      <p:tavLst>
                                        <p:tav tm="0">
                                          <p:val>
                                            <p:strVal val="#ppt_w"/>
                                          </p:val>
                                        </p:tav>
                                        <p:tav tm="100000">
                                          <p:val>
                                            <p:strVal val="#ppt_w"/>
                                          </p:val>
                                        </p:tav>
                                      </p:tavLst>
                                    </p:anim>
                                    <p:anim calcmode="lin" valueType="num">
                                      <p:cBhvr>
                                        <p:cTn id="39" dur="500" fill="hold"/>
                                        <p:tgtEl>
                                          <p:spTgt spid="26644"/>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26645"/>
                                        </p:tgtEl>
                                        <p:attrNameLst>
                                          <p:attrName>style.visibility</p:attrName>
                                        </p:attrNameLst>
                                      </p:cBhvr>
                                      <p:to>
                                        <p:strVal val="visible"/>
                                      </p:to>
                                    </p:set>
                                    <p:animEffect transition="in" filter="strips(downRight)">
                                      <p:cBhvr>
                                        <p:cTn id="44" dur="500"/>
                                        <p:tgtEl>
                                          <p:spTgt spid="2664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6653"/>
                                        </p:tgtEl>
                                        <p:attrNameLst>
                                          <p:attrName>style.visibility</p:attrName>
                                        </p:attrNameLst>
                                      </p:cBhvr>
                                      <p:to>
                                        <p:strVal val="visible"/>
                                      </p:to>
                                    </p:set>
                                    <p:animEffect transition="in" filter="wipe(left)">
                                      <p:cBhvr>
                                        <p:cTn id="49" dur="500"/>
                                        <p:tgtEl>
                                          <p:spTgt spid="26653"/>
                                        </p:tgtEl>
                                      </p:cBhvr>
                                    </p:animEffect>
                                  </p:childTnLst>
                                  <p:subTnLst>
                                    <p:set>
                                      <p:cBhvr override="childStyle">
                                        <p:cTn dur="1" fill="hold" display="0" masterRel="nextClick" afterEffect="1"/>
                                        <p:tgtEl>
                                          <p:spTgt spid="26653"/>
                                        </p:tgtEl>
                                        <p:attrNameLst>
                                          <p:attrName>style.visibility</p:attrName>
                                        </p:attrNameLst>
                                      </p:cBhvr>
                                      <p:to>
                                        <p:strVal val="hidden"/>
                                      </p:to>
                                    </p:set>
                                  </p:sub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6652"/>
                                        </p:tgtEl>
                                        <p:attrNameLst>
                                          <p:attrName>style.visibility</p:attrName>
                                        </p:attrNameLst>
                                      </p:cBhvr>
                                      <p:to>
                                        <p:strVal val="visible"/>
                                      </p:to>
                                    </p:set>
                                    <p:animEffect transition="in" filter="wipe(left)">
                                      <p:cBhvr>
                                        <p:cTn id="54" dur="500"/>
                                        <p:tgtEl>
                                          <p:spTgt spid="26652"/>
                                        </p:tgtEl>
                                      </p:cBhvr>
                                    </p:animEffect>
                                  </p:childTnLst>
                                  <p:subTnLst>
                                    <p:set>
                                      <p:cBhvr override="childStyle">
                                        <p:cTn dur="1" fill="hold" display="0" masterRel="nextClick" afterEffect="1"/>
                                        <p:tgtEl>
                                          <p:spTgt spid="26652"/>
                                        </p:tgtEl>
                                        <p:attrNameLst>
                                          <p:attrName>style.visibility</p:attrName>
                                        </p:attrNameLst>
                                      </p:cBhvr>
                                      <p:to>
                                        <p:strVal val="hidden"/>
                                      </p:to>
                                    </p:set>
                                  </p:sub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6651"/>
                                        </p:tgtEl>
                                        <p:attrNameLst>
                                          <p:attrName>style.visibility</p:attrName>
                                        </p:attrNameLst>
                                      </p:cBhvr>
                                      <p:to>
                                        <p:strVal val="visible"/>
                                      </p:to>
                                    </p:set>
                                    <p:animEffect transition="in" filter="wipe(left)">
                                      <p:cBhvr>
                                        <p:cTn id="59" dur="500"/>
                                        <p:tgtEl>
                                          <p:spTgt spid="26651"/>
                                        </p:tgtEl>
                                      </p:cBhvr>
                                    </p:animEffect>
                                  </p:childTnLst>
                                  <p:subTnLst>
                                    <p:set>
                                      <p:cBhvr override="childStyle">
                                        <p:cTn dur="1" fill="hold" display="0" masterRel="nextClick" afterEffect="1"/>
                                        <p:tgtEl>
                                          <p:spTgt spid="26651"/>
                                        </p:tgtEl>
                                        <p:attrNameLst>
                                          <p:attrName>style.visibility</p:attrName>
                                        </p:attrNameLst>
                                      </p:cBhvr>
                                      <p:to>
                                        <p:strVal val="hidden"/>
                                      </p:to>
                                    </p:set>
                                  </p:sub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6650"/>
                                        </p:tgtEl>
                                        <p:attrNameLst>
                                          <p:attrName>style.visibility</p:attrName>
                                        </p:attrNameLst>
                                      </p:cBhvr>
                                      <p:to>
                                        <p:strVal val="visible"/>
                                      </p:to>
                                    </p:set>
                                    <p:animEffect transition="in" filter="wipe(left)">
                                      <p:cBhvr>
                                        <p:cTn id="64" dur="500"/>
                                        <p:tgtEl>
                                          <p:spTgt spid="26650"/>
                                        </p:tgtEl>
                                      </p:cBhvr>
                                    </p:animEffect>
                                  </p:childTnLst>
                                  <p:subTnLst>
                                    <p:set>
                                      <p:cBhvr override="childStyle">
                                        <p:cTn dur="1" fill="hold" display="0" masterRel="nextClick" afterEffect="1"/>
                                        <p:tgtEl>
                                          <p:spTgt spid="26650"/>
                                        </p:tgtEl>
                                        <p:attrNameLst>
                                          <p:attrName>style.visibility</p:attrName>
                                        </p:attrNameLst>
                                      </p:cBhvr>
                                      <p:to>
                                        <p:strVal val="hidden"/>
                                      </p:to>
                                    </p:set>
                                  </p:sub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6646"/>
                                        </p:tgtEl>
                                        <p:attrNameLst>
                                          <p:attrName>style.visibility</p:attrName>
                                        </p:attrNameLst>
                                      </p:cBhvr>
                                      <p:to>
                                        <p:strVal val="visible"/>
                                      </p:to>
                                    </p:set>
                                    <p:animEffect transition="in" filter="wipe(left)">
                                      <p:cBhvr>
                                        <p:cTn id="69" dur="500"/>
                                        <p:tgtEl>
                                          <p:spTgt spid="26646"/>
                                        </p:tgtEl>
                                      </p:cBhvr>
                                    </p:animEffect>
                                  </p:childTnLst>
                                  <p:subTnLst>
                                    <p:set>
                                      <p:cBhvr override="childStyle">
                                        <p:cTn dur="1" fill="hold" display="0" masterRel="nextClick" afterEffect="1"/>
                                        <p:tgtEl>
                                          <p:spTgt spid="26646"/>
                                        </p:tgtEl>
                                        <p:attrNameLst>
                                          <p:attrName>style.visibility</p:attrName>
                                        </p:attrNameLst>
                                      </p:cBhvr>
                                      <p:to>
                                        <p:strVal val="hidden"/>
                                      </p:to>
                                    </p:set>
                                  </p:sub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6649"/>
                                        </p:tgtEl>
                                        <p:attrNameLst>
                                          <p:attrName>style.visibility</p:attrName>
                                        </p:attrNameLst>
                                      </p:cBhvr>
                                      <p:to>
                                        <p:strVal val="visible"/>
                                      </p:to>
                                    </p:set>
                                    <p:animEffect transition="in" filter="wipe(left)">
                                      <p:cBhvr>
                                        <p:cTn id="74" dur="500"/>
                                        <p:tgtEl>
                                          <p:spTgt spid="26649"/>
                                        </p:tgtEl>
                                      </p:cBhvr>
                                    </p:animEffect>
                                  </p:childTnLst>
                                  <p:subTnLst>
                                    <p:set>
                                      <p:cBhvr override="childStyle">
                                        <p:cTn dur="1" fill="hold" display="0" masterRel="nextClick" afterEffect="1"/>
                                        <p:tgtEl>
                                          <p:spTgt spid="26649"/>
                                        </p:tgtEl>
                                        <p:attrNameLst>
                                          <p:attrName>style.visibility</p:attrName>
                                        </p:attrNameLst>
                                      </p:cBhvr>
                                      <p:to>
                                        <p:strVal val="hidden"/>
                                      </p:to>
                                    </p:set>
                                  </p:sub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6648"/>
                                        </p:tgtEl>
                                        <p:attrNameLst>
                                          <p:attrName>style.visibility</p:attrName>
                                        </p:attrNameLst>
                                      </p:cBhvr>
                                      <p:to>
                                        <p:strVal val="visible"/>
                                      </p:to>
                                    </p:set>
                                    <p:animEffect transition="in" filter="wipe(left)">
                                      <p:cBhvr>
                                        <p:cTn id="79" dur="500"/>
                                        <p:tgtEl>
                                          <p:spTgt spid="26648"/>
                                        </p:tgtEl>
                                      </p:cBhvr>
                                    </p:animEffect>
                                  </p:childTnLst>
                                  <p:subTnLst>
                                    <p:set>
                                      <p:cBhvr override="childStyle">
                                        <p:cTn dur="1" fill="hold" display="0" masterRel="nextClick" afterEffect="1"/>
                                        <p:tgtEl>
                                          <p:spTgt spid="26648"/>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6647"/>
                                        </p:tgtEl>
                                        <p:attrNameLst>
                                          <p:attrName>style.visibility</p:attrName>
                                        </p:attrNameLst>
                                      </p:cBhvr>
                                      <p:to>
                                        <p:strVal val="visible"/>
                                      </p:to>
                                    </p:set>
                                    <p:animEffect transition="in" filter="wipe(left)">
                                      <p:cBhvr>
                                        <p:cTn id="84" dur="500"/>
                                        <p:tgtEl>
                                          <p:spTgt spid="26647"/>
                                        </p:tgtEl>
                                      </p:cBhvr>
                                    </p:animEffect>
                                  </p:childTnLst>
                                </p:cTn>
                              </p:par>
                            </p:childTnLst>
                          </p:cTn>
                        </p:par>
                        <p:par>
                          <p:cTn id="85" fill="hold" nodeType="afterGroup">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26640"/>
                                        </p:tgtEl>
                                        <p:attrNameLst>
                                          <p:attrName>style.visibility</p:attrName>
                                        </p:attrNameLst>
                                      </p:cBhvr>
                                      <p:to>
                                        <p:strVal val="visible"/>
                                      </p:to>
                                    </p:set>
                                    <p:animEffect transition="in" filter="wipe(left)">
                                      <p:cBhvr>
                                        <p:cTn id="88" dur="500"/>
                                        <p:tgtEl>
                                          <p:spTgt spid="26640"/>
                                        </p:tgtEl>
                                      </p:cBhvr>
                                    </p:animEffect>
                                  </p:childTnLst>
                                </p:cTn>
                              </p:par>
                            </p:childTnLst>
                          </p:cTn>
                        </p:par>
                        <p:par>
                          <p:cTn id="89" fill="hold" nodeType="afterGroup">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26641"/>
                                        </p:tgtEl>
                                        <p:attrNameLst>
                                          <p:attrName>style.visibility</p:attrName>
                                        </p:attrNameLst>
                                      </p:cBhvr>
                                      <p:to>
                                        <p:strVal val="visible"/>
                                      </p:to>
                                    </p:set>
                                    <p:animEffect transition="in" filter="wipe(left)">
                                      <p:cBhvr>
                                        <p:cTn id="92" dur="500"/>
                                        <p:tgtEl>
                                          <p:spTgt spid="26641"/>
                                        </p:tgtEl>
                                      </p:cBhvr>
                                    </p:animEffect>
                                  </p:childTnLst>
                                </p:cTn>
                              </p:par>
                            </p:childTnLst>
                          </p:cTn>
                        </p:par>
                        <p:par>
                          <p:cTn id="93" fill="hold" nodeType="afterGroup">
                            <p:stCondLst>
                              <p:cond delay="1500"/>
                            </p:stCondLst>
                            <p:childTnLst>
                              <p:par>
                                <p:cTn id="94" presetID="17" presetClass="entr" presetSubtype="1" fill="hold" grpId="0" nodeType="afterEffect">
                                  <p:stCondLst>
                                    <p:cond delay="0"/>
                                  </p:stCondLst>
                                  <p:childTnLst>
                                    <p:set>
                                      <p:cBhvr>
                                        <p:cTn id="95" dur="1" fill="hold">
                                          <p:stCondLst>
                                            <p:cond delay="0"/>
                                          </p:stCondLst>
                                        </p:cTn>
                                        <p:tgtEl>
                                          <p:spTgt spid="26654"/>
                                        </p:tgtEl>
                                        <p:attrNameLst>
                                          <p:attrName>style.visibility</p:attrName>
                                        </p:attrNameLst>
                                      </p:cBhvr>
                                      <p:to>
                                        <p:strVal val="visible"/>
                                      </p:to>
                                    </p:set>
                                    <p:anim calcmode="lin" valueType="num">
                                      <p:cBhvr>
                                        <p:cTn id="96" dur="500" fill="hold"/>
                                        <p:tgtEl>
                                          <p:spTgt spid="26654"/>
                                        </p:tgtEl>
                                        <p:attrNameLst>
                                          <p:attrName>ppt_x</p:attrName>
                                        </p:attrNameLst>
                                      </p:cBhvr>
                                      <p:tavLst>
                                        <p:tav tm="0">
                                          <p:val>
                                            <p:strVal val="#ppt_x"/>
                                          </p:val>
                                        </p:tav>
                                        <p:tav tm="100000">
                                          <p:val>
                                            <p:strVal val="#ppt_x"/>
                                          </p:val>
                                        </p:tav>
                                      </p:tavLst>
                                    </p:anim>
                                    <p:anim calcmode="lin" valueType="num">
                                      <p:cBhvr>
                                        <p:cTn id="97" dur="500" fill="hold"/>
                                        <p:tgtEl>
                                          <p:spTgt spid="26654"/>
                                        </p:tgtEl>
                                        <p:attrNameLst>
                                          <p:attrName>ppt_y</p:attrName>
                                        </p:attrNameLst>
                                      </p:cBhvr>
                                      <p:tavLst>
                                        <p:tav tm="0">
                                          <p:val>
                                            <p:strVal val="#ppt_y-#ppt_h/2"/>
                                          </p:val>
                                        </p:tav>
                                        <p:tav tm="100000">
                                          <p:val>
                                            <p:strVal val="#ppt_y"/>
                                          </p:val>
                                        </p:tav>
                                      </p:tavLst>
                                    </p:anim>
                                    <p:anim calcmode="lin" valueType="num">
                                      <p:cBhvr>
                                        <p:cTn id="98" dur="500" fill="hold"/>
                                        <p:tgtEl>
                                          <p:spTgt spid="26654"/>
                                        </p:tgtEl>
                                        <p:attrNameLst>
                                          <p:attrName>ppt_w</p:attrName>
                                        </p:attrNameLst>
                                      </p:cBhvr>
                                      <p:tavLst>
                                        <p:tav tm="0">
                                          <p:val>
                                            <p:strVal val="#ppt_w"/>
                                          </p:val>
                                        </p:tav>
                                        <p:tav tm="100000">
                                          <p:val>
                                            <p:strVal val="#ppt_w"/>
                                          </p:val>
                                        </p:tav>
                                      </p:tavLst>
                                    </p:anim>
                                    <p:anim calcmode="lin" valueType="num">
                                      <p:cBhvr>
                                        <p:cTn id="99" dur="500" fill="hold"/>
                                        <p:tgtEl>
                                          <p:spTgt spid="26654"/>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2000"/>
                            </p:stCondLst>
                            <p:childTnLst>
                              <p:par>
                                <p:cTn id="101" presetID="17" presetClass="entr" presetSubtype="1" fill="hold" grpId="0" nodeType="afterEffect">
                                  <p:stCondLst>
                                    <p:cond delay="0"/>
                                  </p:stCondLst>
                                  <p:childTnLst>
                                    <p:set>
                                      <p:cBhvr>
                                        <p:cTn id="102" dur="1" fill="hold">
                                          <p:stCondLst>
                                            <p:cond delay="0"/>
                                          </p:stCondLst>
                                        </p:cTn>
                                        <p:tgtEl>
                                          <p:spTgt spid="26655"/>
                                        </p:tgtEl>
                                        <p:attrNameLst>
                                          <p:attrName>style.visibility</p:attrName>
                                        </p:attrNameLst>
                                      </p:cBhvr>
                                      <p:to>
                                        <p:strVal val="visible"/>
                                      </p:to>
                                    </p:set>
                                    <p:anim calcmode="lin" valueType="num">
                                      <p:cBhvr>
                                        <p:cTn id="103" dur="500" fill="hold"/>
                                        <p:tgtEl>
                                          <p:spTgt spid="26655"/>
                                        </p:tgtEl>
                                        <p:attrNameLst>
                                          <p:attrName>ppt_x</p:attrName>
                                        </p:attrNameLst>
                                      </p:cBhvr>
                                      <p:tavLst>
                                        <p:tav tm="0">
                                          <p:val>
                                            <p:strVal val="#ppt_x"/>
                                          </p:val>
                                        </p:tav>
                                        <p:tav tm="100000">
                                          <p:val>
                                            <p:strVal val="#ppt_x"/>
                                          </p:val>
                                        </p:tav>
                                      </p:tavLst>
                                    </p:anim>
                                    <p:anim calcmode="lin" valueType="num">
                                      <p:cBhvr>
                                        <p:cTn id="104" dur="500" fill="hold"/>
                                        <p:tgtEl>
                                          <p:spTgt spid="26655"/>
                                        </p:tgtEl>
                                        <p:attrNameLst>
                                          <p:attrName>ppt_y</p:attrName>
                                        </p:attrNameLst>
                                      </p:cBhvr>
                                      <p:tavLst>
                                        <p:tav tm="0">
                                          <p:val>
                                            <p:strVal val="#ppt_y-#ppt_h/2"/>
                                          </p:val>
                                        </p:tav>
                                        <p:tav tm="100000">
                                          <p:val>
                                            <p:strVal val="#ppt_y"/>
                                          </p:val>
                                        </p:tav>
                                      </p:tavLst>
                                    </p:anim>
                                    <p:anim calcmode="lin" valueType="num">
                                      <p:cBhvr>
                                        <p:cTn id="105" dur="500" fill="hold"/>
                                        <p:tgtEl>
                                          <p:spTgt spid="26655"/>
                                        </p:tgtEl>
                                        <p:attrNameLst>
                                          <p:attrName>ppt_w</p:attrName>
                                        </p:attrNameLst>
                                      </p:cBhvr>
                                      <p:tavLst>
                                        <p:tav tm="0">
                                          <p:val>
                                            <p:strVal val="#ppt_w"/>
                                          </p:val>
                                        </p:tav>
                                        <p:tav tm="100000">
                                          <p:val>
                                            <p:strVal val="#ppt_w"/>
                                          </p:val>
                                        </p:tav>
                                      </p:tavLst>
                                    </p:anim>
                                    <p:anim calcmode="lin" valueType="num">
                                      <p:cBhvr>
                                        <p:cTn id="106" dur="500" fill="hold"/>
                                        <p:tgtEl>
                                          <p:spTgt spid="2665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28" grpId="0" autoUpdateAnimBg="0"/>
      <p:bldP spid="26629" grpId="0" autoUpdateAnimBg="0"/>
      <p:bldP spid="26630" grpId="0" animBg="1" autoUpdateAnimBg="0"/>
      <p:bldP spid="26635" grpId="0" animBg="1" autoUpdateAnimBg="0"/>
      <p:bldP spid="26638" grpId="0" animBg="1"/>
      <p:bldP spid="26639" grpId="0" autoUpdateAnimBg="0"/>
      <p:bldP spid="26640" grpId="0" animBg="1" autoUpdateAnimBg="0"/>
      <p:bldP spid="26641" grpId="0" animBg="1" autoUpdateAnimBg="0"/>
      <p:bldP spid="26644" grpId="0" animBg="1"/>
      <p:bldP spid="26645" grpId="0" autoUpdateAnimBg="0"/>
      <p:bldP spid="26646" grpId="0" animBg="1"/>
      <p:bldP spid="26647" grpId="0" animBg="1"/>
      <p:bldP spid="26648" grpId="0" animBg="1"/>
      <p:bldP spid="26649" grpId="0" animBg="1"/>
      <p:bldP spid="26650" grpId="0" animBg="1"/>
      <p:bldP spid="26651" grpId="0" animBg="1"/>
      <p:bldP spid="26652" grpId="0" animBg="1"/>
      <p:bldP spid="26653" grpId="0" animBg="1"/>
      <p:bldP spid="26654" grpId="0" animBg="1"/>
      <p:bldP spid="2665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152400" y="77788"/>
            <a:ext cx="6038850" cy="681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t>void</a:t>
            </a:r>
            <a:r>
              <a:rPr lang="en-US" altLang="zh-CN" sz="3200"/>
              <a:t> BubbleSort(Elem R[ ], </a:t>
            </a:r>
            <a:r>
              <a:rPr lang="en-US" altLang="zh-CN" sz="3200" b="1"/>
              <a:t>int</a:t>
            </a:r>
            <a:r>
              <a:rPr lang="en-US" altLang="zh-CN" sz="3200"/>
              <a:t> n) </a:t>
            </a:r>
            <a:r>
              <a:rPr lang="en-US" altLang="zh-CN" sz="3200" b="1">
                <a:latin typeface="宋体" charset="-122"/>
              </a:rPr>
              <a:t>{</a:t>
            </a:r>
          </a:p>
          <a:p>
            <a:pPr algn="l">
              <a:lnSpc>
                <a:spcPct val="115000"/>
              </a:lnSpc>
            </a:pPr>
            <a:r>
              <a:rPr lang="en-US" altLang="zh-CN" sz="3200"/>
              <a:t>   </a:t>
            </a:r>
          </a:p>
          <a:p>
            <a:pPr algn="l">
              <a:lnSpc>
                <a:spcPct val="115000"/>
              </a:lnSpc>
            </a:pPr>
            <a:r>
              <a:rPr lang="en-US" altLang="zh-CN" sz="3200"/>
              <a:t>   </a:t>
            </a:r>
            <a:r>
              <a:rPr lang="en-US" altLang="zh-CN" sz="3200" b="1">
                <a:solidFill>
                  <a:srgbClr val="FF0000"/>
                </a:solidFill>
              </a:rPr>
              <a:t>while</a:t>
            </a:r>
            <a:r>
              <a:rPr lang="en-US" altLang="zh-CN" sz="3200">
                <a:solidFill>
                  <a:srgbClr val="FF0000"/>
                </a:solidFill>
              </a:rPr>
              <a:t> (i &gt;1) </a:t>
            </a:r>
            <a:r>
              <a:rPr lang="en-US" altLang="zh-CN" sz="3200" b="1">
                <a:solidFill>
                  <a:srgbClr val="FF0000"/>
                </a:solidFill>
                <a:latin typeface="宋体" charset="-122"/>
              </a:rPr>
              <a:t>{ </a:t>
            </a:r>
          </a:p>
          <a:p>
            <a:pPr algn="l">
              <a:lnSpc>
                <a:spcPct val="115000"/>
              </a:lnSpc>
            </a:pPr>
            <a:r>
              <a:rPr lang="en-US" altLang="zh-CN" sz="3200"/>
              <a:t>       </a:t>
            </a:r>
          </a:p>
          <a:p>
            <a:pPr algn="l">
              <a:lnSpc>
                <a:spcPct val="115000"/>
              </a:lnSpc>
            </a:pPr>
            <a:endParaRPr lang="en-US" altLang="zh-CN" sz="3200"/>
          </a:p>
          <a:p>
            <a:pPr algn="l">
              <a:lnSpc>
                <a:spcPct val="115000"/>
              </a:lnSpc>
            </a:pPr>
            <a:endParaRPr lang="en-US" altLang="zh-CN" sz="3200"/>
          </a:p>
          <a:p>
            <a:pPr algn="l">
              <a:lnSpc>
                <a:spcPct val="115000"/>
              </a:lnSpc>
            </a:pPr>
            <a:endParaRPr lang="en-US" altLang="zh-CN" sz="3200"/>
          </a:p>
          <a:p>
            <a:pPr algn="l">
              <a:lnSpc>
                <a:spcPct val="115000"/>
              </a:lnSpc>
            </a:pPr>
            <a:endParaRPr lang="en-US" altLang="zh-CN" sz="3200"/>
          </a:p>
          <a:p>
            <a:pPr algn="l">
              <a:lnSpc>
                <a:spcPct val="115000"/>
              </a:lnSpc>
            </a:pPr>
            <a:endParaRPr lang="en-US" altLang="zh-CN" sz="3200"/>
          </a:p>
          <a:p>
            <a:pPr algn="l">
              <a:lnSpc>
                <a:spcPct val="115000"/>
              </a:lnSpc>
            </a:pPr>
            <a:r>
              <a:rPr lang="en-US" altLang="zh-CN" sz="3200"/>
              <a:t>          </a:t>
            </a:r>
            <a:endParaRPr lang="en-US" altLang="zh-CN" sz="3200" b="1"/>
          </a:p>
          <a:p>
            <a:pPr algn="l">
              <a:lnSpc>
                <a:spcPct val="115000"/>
              </a:lnSpc>
            </a:pPr>
            <a:r>
              <a:rPr lang="en-US" altLang="zh-CN" sz="3200" b="1"/>
              <a:t>   </a:t>
            </a:r>
            <a:r>
              <a:rPr lang="en-US" altLang="zh-CN" sz="3200" b="1">
                <a:solidFill>
                  <a:srgbClr val="FF0000"/>
                </a:solidFill>
              </a:rPr>
              <a:t>}</a:t>
            </a:r>
            <a:r>
              <a:rPr lang="en-US" altLang="zh-CN" sz="3200">
                <a:solidFill>
                  <a:srgbClr val="FF0000"/>
                </a:solidFill>
              </a:rPr>
              <a:t> </a:t>
            </a:r>
            <a:r>
              <a:rPr lang="en-US" altLang="zh-CN" sz="3200">
                <a:solidFill>
                  <a:srgbClr val="FF9900"/>
                </a:solidFill>
              </a:rPr>
              <a:t>// while</a:t>
            </a:r>
            <a:endParaRPr lang="en-US" altLang="zh-CN" sz="3200"/>
          </a:p>
          <a:p>
            <a:pPr algn="l">
              <a:lnSpc>
                <a:spcPct val="115000"/>
              </a:lnSpc>
            </a:pPr>
            <a:r>
              <a:rPr lang="en-US" altLang="zh-CN" sz="3200" b="1"/>
              <a:t>} // </a:t>
            </a:r>
            <a:r>
              <a:rPr lang="en-US" altLang="zh-CN" sz="3200"/>
              <a:t>BubbleSort</a:t>
            </a:r>
          </a:p>
        </p:txBody>
      </p:sp>
      <p:sp>
        <p:nvSpPr>
          <p:cNvPr id="27653" name="Rectangle 5"/>
          <p:cNvSpPr>
            <a:spLocks noChangeArrowheads="1"/>
          </p:cNvSpPr>
          <p:nvPr/>
        </p:nvSpPr>
        <p:spPr bwMode="auto">
          <a:xfrm>
            <a:off x="533400" y="685800"/>
            <a:ext cx="1044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FF0000"/>
                </a:solidFill>
              </a:rPr>
              <a:t>i = n;</a:t>
            </a:r>
            <a:endParaRPr lang="en-US" altLang="zh-CN" sz="3200"/>
          </a:p>
        </p:txBody>
      </p:sp>
      <p:sp>
        <p:nvSpPr>
          <p:cNvPr id="27654" name="Rectangle 6"/>
          <p:cNvSpPr>
            <a:spLocks noChangeArrowheads="1"/>
          </p:cNvSpPr>
          <p:nvPr/>
        </p:nvSpPr>
        <p:spPr bwMode="auto">
          <a:xfrm>
            <a:off x="838200" y="5181600"/>
            <a:ext cx="79279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FF0000"/>
                </a:solidFill>
              </a:rPr>
              <a:t>i = lastExchangeIndex; </a:t>
            </a:r>
            <a:r>
              <a:rPr lang="en-US" altLang="zh-CN" sz="3200" b="1">
                <a:solidFill>
                  <a:srgbClr val="0000FF"/>
                </a:solidFill>
              </a:rPr>
              <a:t>// </a:t>
            </a:r>
            <a:r>
              <a:rPr lang="zh-CN" altLang="en-US" sz="3200">
                <a:solidFill>
                  <a:srgbClr val="0000FF"/>
                </a:solidFill>
                <a:ea typeface="楷体_GB2312" charset="0"/>
              </a:rPr>
              <a:t>本趟进行过交换的</a:t>
            </a:r>
          </a:p>
          <a:p>
            <a:pPr algn="l"/>
            <a:r>
              <a:rPr lang="zh-CN" altLang="en-US" sz="3200">
                <a:solidFill>
                  <a:srgbClr val="0000FF"/>
                </a:solidFill>
                <a:ea typeface="楷体_GB2312" charset="0"/>
              </a:rPr>
              <a:t>                                     </a:t>
            </a:r>
            <a:r>
              <a:rPr lang="en-US" altLang="zh-CN" sz="3200">
                <a:solidFill>
                  <a:srgbClr val="0000FF"/>
                </a:solidFill>
                <a:ea typeface="楷体_GB2312" charset="0"/>
              </a:rPr>
              <a:t>// </a:t>
            </a:r>
            <a:r>
              <a:rPr lang="zh-CN" altLang="en-US" sz="3200">
                <a:solidFill>
                  <a:srgbClr val="0000FF"/>
                </a:solidFill>
                <a:ea typeface="楷体_GB2312" charset="0"/>
              </a:rPr>
              <a:t>最后一个记录的位置</a:t>
            </a:r>
          </a:p>
        </p:txBody>
      </p:sp>
      <p:sp>
        <p:nvSpPr>
          <p:cNvPr id="27655" name="Rectangle 7"/>
          <p:cNvSpPr>
            <a:spLocks noChangeArrowheads="1"/>
          </p:cNvSpPr>
          <p:nvPr/>
        </p:nvSpPr>
        <p:spPr bwMode="auto">
          <a:xfrm>
            <a:off x="838200" y="1722438"/>
            <a:ext cx="8370888" cy="345440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endParaRPr lang="en-US" altLang="zh-CN" sz="3200"/>
          </a:p>
          <a:p>
            <a:pPr algn="l">
              <a:lnSpc>
                <a:spcPct val="115000"/>
              </a:lnSpc>
            </a:pPr>
            <a:endParaRPr lang="en-US" altLang="zh-CN" sz="3200" b="1">
              <a:solidFill>
                <a:srgbClr val="840C26"/>
              </a:solidFill>
            </a:endParaRPr>
          </a:p>
          <a:p>
            <a:pPr algn="l">
              <a:lnSpc>
                <a:spcPct val="115000"/>
              </a:lnSpc>
            </a:pPr>
            <a:r>
              <a:rPr lang="en-US" altLang="zh-CN" sz="3200" b="1">
                <a:solidFill>
                  <a:srgbClr val="840C26"/>
                </a:solidFill>
              </a:rPr>
              <a:t>    if</a:t>
            </a:r>
            <a:r>
              <a:rPr lang="en-US" altLang="zh-CN" sz="3200">
                <a:solidFill>
                  <a:srgbClr val="840C26"/>
                </a:solidFill>
              </a:rPr>
              <a:t> (R[j+1].key &lt; R[j].key)</a:t>
            </a:r>
            <a:r>
              <a:rPr lang="en-US" altLang="zh-CN" sz="3200"/>
              <a:t> </a:t>
            </a:r>
            <a:r>
              <a:rPr lang="en-US" altLang="zh-CN" sz="3200" b="1">
                <a:solidFill>
                  <a:srgbClr val="840C26"/>
                </a:solidFill>
                <a:latin typeface="宋体" charset="-122"/>
              </a:rPr>
              <a:t>{</a:t>
            </a:r>
            <a:r>
              <a:rPr lang="en-US" altLang="zh-CN" sz="3200" b="1">
                <a:solidFill>
                  <a:srgbClr val="840C26"/>
                </a:solidFill>
              </a:rPr>
              <a:t> </a:t>
            </a:r>
            <a:endParaRPr lang="en-US" altLang="zh-CN" sz="3200" b="1"/>
          </a:p>
          <a:p>
            <a:pPr algn="l">
              <a:lnSpc>
                <a:spcPct val="115000"/>
              </a:lnSpc>
            </a:pPr>
            <a:r>
              <a:rPr lang="en-US" altLang="zh-CN" sz="3200"/>
              <a:t>       </a:t>
            </a:r>
            <a:r>
              <a:rPr lang="en-US" altLang="zh-CN" sz="3200">
                <a:solidFill>
                  <a:srgbClr val="840C26"/>
                </a:solidFill>
              </a:rPr>
              <a:t>Swap(R[j], R[j+1]);</a:t>
            </a:r>
            <a:endParaRPr lang="en-US" altLang="zh-CN" sz="3200"/>
          </a:p>
          <a:p>
            <a:pPr algn="l">
              <a:lnSpc>
                <a:spcPct val="115000"/>
              </a:lnSpc>
            </a:pPr>
            <a:r>
              <a:rPr lang="en-US" altLang="zh-CN" sz="3200"/>
              <a:t>       </a:t>
            </a:r>
            <a:r>
              <a:rPr lang="en-US" altLang="zh-CN" sz="3200">
                <a:solidFill>
                  <a:srgbClr val="006600"/>
                </a:solidFill>
              </a:rPr>
              <a:t>lastExchangeIndex = j;  </a:t>
            </a:r>
            <a:r>
              <a:rPr lang="en-US" altLang="zh-CN">
                <a:solidFill>
                  <a:srgbClr val="006600"/>
                </a:solidFill>
              </a:rPr>
              <a:t>//</a:t>
            </a:r>
            <a:r>
              <a:rPr lang="zh-CN" altLang="en-US">
                <a:solidFill>
                  <a:srgbClr val="006600"/>
                </a:solidFill>
                <a:ea typeface="楷体_GB2312" charset="0"/>
              </a:rPr>
              <a:t>记下</a:t>
            </a:r>
            <a:r>
              <a:rPr lang="zh-CN" altLang="en-US">
                <a:solidFill>
                  <a:srgbClr val="006600"/>
                </a:solidFill>
                <a:latin typeface="楷体_GB2312" charset="0"/>
                <a:ea typeface="楷体_GB2312" charset="0"/>
              </a:rPr>
              <a:t>进行交换的记录位置</a:t>
            </a:r>
            <a:endParaRPr lang="zh-CN" altLang="en-US" sz="3200"/>
          </a:p>
          <a:p>
            <a:pPr algn="l">
              <a:lnSpc>
                <a:spcPct val="115000"/>
              </a:lnSpc>
            </a:pPr>
            <a:r>
              <a:rPr lang="zh-CN" altLang="en-US" sz="3200"/>
              <a:t>    </a:t>
            </a:r>
            <a:r>
              <a:rPr lang="en-US" altLang="zh-CN" sz="3200" b="1">
                <a:solidFill>
                  <a:srgbClr val="840C26"/>
                </a:solidFill>
                <a:latin typeface="宋体" charset="-122"/>
              </a:rPr>
              <a:t>}</a:t>
            </a:r>
            <a:r>
              <a:rPr lang="en-US" altLang="zh-CN" sz="3200" b="1"/>
              <a:t> </a:t>
            </a:r>
            <a:r>
              <a:rPr lang="en-US" altLang="zh-CN" sz="3200" b="1">
                <a:solidFill>
                  <a:srgbClr val="FF6600"/>
                </a:solidFill>
              </a:rPr>
              <a:t>//</a:t>
            </a:r>
            <a:r>
              <a:rPr lang="en-US" altLang="zh-CN" sz="3200">
                <a:solidFill>
                  <a:srgbClr val="FF6600"/>
                </a:solidFill>
              </a:rPr>
              <a:t>if</a:t>
            </a:r>
            <a:endParaRPr lang="en-US" altLang="zh-CN" sz="3200"/>
          </a:p>
        </p:txBody>
      </p:sp>
      <p:sp>
        <p:nvSpPr>
          <p:cNvPr id="27656" name="Rectangle 8"/>
          <p:cNvSpPr>
            <a:spLocks noChangeArrowheads="1"/>
          </p:cNvSpPr>
          <p:nvPr/>
        </p:nvSpPr>
        <p:spPr bwMode="auto">
          <a:xfrm>
            <a:off x="838200" y="2362200"/>
            <a:ext cx="3681413" cy="652463"/>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000099"/>
                </a:solidFill>
              </a:rPr>
              <a:t>for</a:t>
            </a:r>
            <a:r>
              <a:rPr lang="en-US" altLang="zh-CN" sz="3200">
                <a:solidFill>
                  <a:srgbClr val="000099"/>
                </a:solidFill>
              </a:rPr>
              <a:t> (j = 1</a:t>
            </a:r>
            <a:r>
              <a:rPr lang="en-US" altLang="zh-CN" sz="3200">
                <a:solidFill>
                  <a:srgbClr val="0000FF"/>
                </a:solidFill>
              </a:rPr>
              <a:t>;  j &lt; i;</a:t>
            </a:r>
            <a:r>
              <a:rPr lang="en-US" altLang="zh-CN" sz="3200">
                <a:solidFill>
                  <a:srgbClr val="000099"/>
                </a:solidFill>
              </a:rPr>
              <a:t>  j++)</a:t>
            </a:r>
            <a:endParaRPr lang="en-US" altLang="zh-CN" sz="3200"/>
          </a:p>
        </p:txBody>
      </p:sp>
      <p:sp>
        <p:nvSpPr>
          <p:cNvPr id="27658" name="Rectangle 10"/>
          <p:cNvSpPr>
            <a:spLocks noChangeArrowheads="1"/>
          </p:cNvSpPr>
          <p:nvPr/>
        </p:nvSpPr>
        <p:spPr bwMode="auto">
          <a:xfrm>
            <a:off x="838200" y="1752600"/>
            <a:ext cx="4025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006600"/>
                </a:solidFill>
              </a:rPr>
              <a:t>lastExchangeIndex = 1;</a:t>
            </a:r>
            <a:endParaRPr lang="en-US" altLang="zh-CN" sz="3200"/>
          </a:p>
        </p:txBody>
      </p:sp>
      <p:sp>
        <p:nvSpPr>
          <p:cNvPr id="27659" name="AutoShape 11">
            <a:hlinkClick r:id="rId2" action="ppaction://hlinksldjump" highlightClick="1"/>
          </p:cNvPr>
          <p:cNvSpPr>
            <a:spLocks noChangeArrowheads="1"/>
          </p:cNvSpPr>
          <p:nvPr/>
        </p:nvSpPr>
        <p:spPr bwMode="auto">
          <a:xfrm>
            <a:off x="85344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838686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strips(downRight)">
                                      <p:cBhvr>
                                        <p:cTn id="7" dur="500"/>
                                        <p:tgtEl>
                                          <p:spTgt spid="2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7655"/>
                                        </p:tgtEl>
                                        <p:attrNameLst>
                                          <p:attrName>style.visibility</p:attrName>
                                        </p:attrNameLst>
                                      </p:cBhvr>
                                      <p:to>
                                        <p:strVal val="visible"/>
                                      </p:to>
                                    </p:set>
                                    <p:animEffect transition="in" filter="strips(downRight)">
                                      <p:cBhvr>
                                        <p:cTn id="12" dur="500"/>
                                        <p:tgtEl>
                                          <p:spTgt spid="276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strips(downRight)">
                                      <p:cBhvr>
                                        <p:cTn id="17" dur="500"/>
                                        <p:tgtEl>
                                          <p:spTgt spid="276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iterate type="wd">
                                    <p:tmPct val="100000"/>
                                  </p:iterate>
                                  <p:childTnLst>
                                    <p:set>
                                      <p:cBhvr>
                                        <p:cTn id="21" dur="1" fill="hold">
                                          <p:stCondLst>
                                            <p:cond delay="0"/>
                                          </p:stCondLst>
                                        </p:cTn>
                                        <p:tgtEl>
                                          <p:spTgt spid="27658"/>
                                        </p:tgtEl>
                                        <p:attrNameLst>
                                          <p:attrName>style.visibility</p:attrName>
                                        </p:attrNameLst>
                                      </p:cBhvr>
                                      <p:to>
                                        <p:strVal val="visible"/>
                                      </p:to>
                                    </p:set>
                                    <p:animEffect transition="in" filter="strips(downRight)">
                                      <p:cBhvr>
                                        <p:cTn id="22" dur="300"/>
                                        <p:tgtEl>
                                          <p:spTgt spid="276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iterate type="wd">
                                    <p:tmPct val="100000"/>
                                  </p:iterate>
                                  <p:childTnLst>
                                    <p:set>
                                      <p:cBhvr>
                                        <p:cTn id="26" dur="1" fill="hold">
                                          <p:stCondLst>
                                            <p:cond delay="0"/>
                                          </p:stCondLst>
                                        </p:cTn>
                                        <p:tgtEl>
                                          <p:spTgt spid="27654"/>
                                        </p:tgtEl>
                                        <p:attrNameLst>
                                          <p:attrName>style.visibility</p:attrName>
                                        </p:attrNameLst>
                                      </p:cBhvr>
                                      <p:to>
                                        <p:strVal val="visible"/>
                                      </p:to>
                                    </p:set>
                                    <p:animEffect transition="in" filter="strips(downRight)">
                                      <p:cBhvr>
                                        <p:cTn id="27" dur="300"/>
                                        <p:tgtEl>
                                          <p:spTgt spid="276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iterate type="wd">
                                    <p:tmPct val="100000"/>
                                  </p:iterate>
                                  <p:childTnLst>
                                    <p:set>
                                      <p:cBhvr>
                                        <p:cTn id="31" dur="1" fill="hold">
                                          <p:stCondLst>
                                            <p:cond delay="0"/>
                                          </p:stCondLst>
                                        </p:cTn>
                                        <p:tgtEl>
                                          <p:spTgt spid="27653"/>
                                        </p:tgtEl>
                                        <p:attrNameLst>
                                          <p:attrName>style.visibility</p:attrName>
                                        </p:attrNameLst>
                                      </p:cBhvr>
                                      <p:to>
                                        <p:strVal val="visible"/>
                                      </p:to>
                                    </p:set>
                                    <p:animEffect transition="in" filter="strips(downRight)">
                                      <p:cBhvr>
                                        <p:cTn id="32" dur="300"/>
                                        <p:tgtEl>
                                          <p:spTgt spid="27653"/>
                                        </p:tgtEl>
                                      </p:cBhvr>
                                    </p:animEffect>
                                  </p:childTnLst>
                                </p:cTn>
                              </p:par>
                            </p:childTnLst>
                          </p:cTn>
                        </p:par>
                        <p:par>
                          <p:cTn id="33" fill="hold" nodeType="afterGroup">
                            <p:stCondLst>
                              <p:cond delay="1200"/>
                            </p:stCondLst>
                            <p:childTnLst>
                              <p:par>
                                <p:cTn id="34" presetID="2" presetClass="entr" presetSubtype="6" fill="hold" grpId="0" nodeType="afterEffect">
                                  <p:stCondLst>
                                    <p:cond delay="0"/>
                                  </p:stCondLst>
                                  <p:childTnLst>
                                    <p:set>
                                      <p:cBhvr>
                                        <p:cTn id="35" dur="1" fill="hold">
                                          <p:stCondLst>
                                            <p:cond delay="0"/>
                                          </p:stCondLst>
                                        </p:cTn>
                                        <p:tgtEl>
                                          <p:spTgt spid="27659"/>
                                        </p:tgtEl>
                                        <p:attrNameLst>
                                          <p:attrName>style.visibility</p:attrName>
                                        </p:attrNameLst>
                                      </p:cBhvr>
                                      <p:to>
                                        <p:strVal val="visible"/>
                                      </p:to>
                                    </p:set>
                                    <p:anim calcmode="lin" valueType="num">
                                      <p:cBhvr additive="base">
                                        <p:cTn id="36" dur="500" fill="hold"/>
                                        <p:tgtEl>
                                          <p:spTgt spid="27659"/>
                                        </p:tgtEl>
                                        <p:attrNameLst>
                                          <p:attrName>ppt_x</p:attrName>
                                        </p:attrNameLst>
                                      </p:cBhvr>
                                      <p:tavLst>
                                        <p:tav tm="0">
                                          <p:val>
                                            <p:strVal val="1+#ppt_w/2"/>
                                          </p:val>
                                        </p:tav>
                                        <p:tav tm="100000">
                                          <p:val>
                                            <p:strVal val="#ppt_x"/>
                                          </p:val>
                                        </p:tav>
                                      </p:tavLst>
                                    </p:anim>
                                    <p:anim calcmode="lin" valueType="num">
                                      <p:cBhvr additive="base">
                                        <p:cTn id="37" dur="500" fill="hold"/>
                                        <p:tgtEl>
                                          <p:spTgt spid="276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P spid="27653" grpId="0" autoUpdateAnimBg="0"/>
      <p:bldP spid="27654" grpId="0" autoUpdateAnimBg="0"/>
      <p:bldP spid="27655" grpId="0" animBg="1" autoUpdateAnimBg="0"/>
      <p:bldP spid="27656" grpId="0" animBg="1" autoUpdateAnimBg="0"/>
      <p:bldP spid="27658" grpId="0" autoUpdateAnimBg="0"/>
      <p:bldP spid="2765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Text Box 1027"/>
          <p:cNvSpPr txBox="1">
            <a:spLocks noChangeArrowheads="1"/>
          </p:cNvSpPr>
          <p:nvPr/>
        </p:nvSpPr>
        <p:spPr bwMode="auto">
          <a:xfrm>
            <a:off x="381000" y="120650"/>
            <a:ext cx="1447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600" b="1">
                <a:solidFill>
                  <a:srgbClr val="800000"/>
                </a:solidFill>
                <a:latin typeface="楷体_GB2312" charset="0"/>
                <a:ea typeface="楷体_GB2312" charset="0"/>
              </a:rPr>
              <a:t>注意</a:t>
            </a:r>
            <a:r>
              <a:rPr lang="en-US" altLang="zh-CN" sz="3600" b="1">
                <a:solidFill>
                  <a:srgbClr val="800000"/>
                </a:solidFill>
                <a:latin typeface="楷体_GB2312" charset="0"/>
                <a:ea typeface="楷体_GB2312" charset="0"/>
              </a:rPr>
              <a:t>:</a:t>
            </a:r>
            <a:endParaRPr lang="en-US" altLang="zh-CN" sz="3600" b="1">
              <a:solidFill>
                <a:srgbClr val="000080"/>
              </a:solidFill>
              <a:ea typeface="楷体_GB2312" charset="0"/>
            </a:endParaRPr>
          </a:p>
        </p:txBody>
      </p:sp>
      <p:sp>
        <p:nvSpPr>
          <p:cNvPr id="122884" name="Text Box 1028"/>
          <p:cNvSpPr txBox="1">
            <a:spLocks noChangeArrowheads="1"/>
          </p:cNvSpPr>
          <p:nvPr/>
        </p:nvSpPr>
        <p:spPr bwMode="auto">
          <a:xfrm>
            <a:off x="539750" y="2162175"/>
            <a:ext cx="83153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a:solidFill>
                  <a:srgbClr val="0000FF"/>
                </a:solidFill>
                <a:ea typeface="楷体_GB2312" charset="0"/>
              </a:rPr>
              <a:t>2.    </a:t>
            </a:r>
            <a:r>
              <a:rPr lang="zh-CN" altLang="en-US" sz="3600">
                <a:solidFill>
                  <a:srgbClr val="0000FF"/>
                </a:solidFill>
                <a:latin typeface="隶书" charset="0"/>
                <a:ea typeface="隶书" charset="0"/>
              </a:rPr>
              <a:t>一般情况下，每经过一趟</a:t>
            </a:r>
            <a:r>
              <a:rPr lang="zh-CN" altLang="en-US" sz="3600">
                <a:solidFill>
                  <a:srgbClr val="0000FF"/>
                </a:solidFill>
                <a:ea typeface="隶书" charset="0"/>
              </a:rPr>
              <a:t>“</a:t>
            </a:r>
            <a:r>
              <a:rPr lang="zh-CN" altLang="en-US" sz="3600">
                <a:solidFill>
                  <a:srgbClr val="0000FF"/>
                </a:solidFill>
                <a:latin typeface="隶书" charset="0"/>
                <a:ea typeface="隶书" charset="0"/>
              </a:rPr>
              <a:t>起泡</a:t>
            </a:r>
            <a:r>
              <a:rPr lang="zh-CN" altLang="en-US" sz="3600">
                <a:solidFill>
                  <a:srgbClr val="0000FF"/>
                </a:solidFill>
                <a:ea typeface="隶书" charset="0"/>
              </a:rPr>
              <a:t>”</a:t>
            </a:r>
            <a:r>
              <a:rPr lang="zh-CN" altLang="en-US" sz="3600">
                <a:solidFill>
                  <a:srgbClr val="0000FF"/>
                </a:solidFill>
                <a:latin typeface="隶书" charset="0"/>
                <a:ea typeface="隶书" charset="0"/>
              </a:rPr>
              <a:t>，</a:t>
            </a:r>
            <a:r>
              <a:rPr lang="zh-CN" altLang="en-US" sz="3600">
                <a:solidFill>
                  <a:srgbClr val="0000FF"/>
                </a:solidFill>
                <a:ea typeface="隶书" charset="0"/>
              </a:rPr>
              <a:t>“</a:t>
            </a:r>
            <a:r>
              <a:rPr lang="en-US" altLang="zh-CN" sz="3600">
                <a:solidFill>
                  <a:srgbClr val="0000FF"/>
                </a:solidFill>
                <a:latin typeface="隶书" charset="0"/>
                <a:ea typeface="隶书" charset="0"/>
              </a:rPr>
              <a:t>i </a:t>
            </a:r>
            <a:r>
              <a:rPr lang="zh-CN" altLang="en-US" sz="3600">
                <a:solidFill>
                  <a:srgbClr val="0000FF"/>
                </a:solidFill>
                <a:latin typeface="隶书" charset="0"/>
                <a:ea typeface="隶书" charset="0"/>
              </a:rPr>
              <a:t>减一</a:t>
            </a:r>
            <a:r>
              <a:rPr lang="zh-CN" altLang="en-US" sz="3600">
                <a:solidFill>
                  <a:srgbClr val="0000FF"/>
                </a:solidFill>
                <a:ea typeface="隶书" charset="0"/>
              </a:rPr>
              <a:t>”</a:t>
            </a:r>
            <a:r>
              <a:rPr lang="zh-CN" altLang="en-US" sz="3600">
                <a:solidFill>
                  <a:srgbClr val="0000FF"/>
                </a:solidFill>
                <a:latin typeface="隶书" charset="0"/>
                <a:ea typeface="隶书" charset="0"/>
              </a:rPr>
              <a:t>，</a:t>
            </a:r>
            <a:r>
              <a:rPr lang="zh-CN" altLang="en-US" sz="3600">
                <a:solidFill>
                  <a:srgbClr val="000099"/>
                </a:solidFill>
                <a:latin typeface="隶书" charset="0"/>
                <a:ea typeface="隶书" charset="0"/>
              </a:rPr>
              <a:t>但并不是每趟都如此。</a:t>
            </a:r>
            <a:endParaRPr lang="zh-CN" altLang="en-US" sz="3600">
              <a:latin typeface="隶书" charset="0"/>
              <a:ea typeface="隶书" charset="0"/>
            </a:endParaRPr>
          </a:p>
        </p:txBody>
      </p:sp>
      <p:sp>
        <p:nvSpPr>
          <p:cNvPr id="122885" name="Rectangle 1029"/>
          <p:cNvSpPr>
            <a:spLocks noChangeArrowheads="1"/>
          </p:cNvSpPr>
          <p:nvPr/>
        </p:nvSpPr>
        <p:spPr bwMode="auto">
          <a:xfrm>
            <a:off x="381000" y="335280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800000"/>
                </a:solidFill>
                <a:ea typeface="楷体_GB2312" charset="0"/>
              </a:rPr>
              <a:t>例如</a:t>
            </a:r>
            <a:r>
              <a:rPr lang="en-US" altLang="zh-CN" sz="3600" b="1">
                <a:solidFill>
                  <a:srgbClr val="800000"/>
                </a:solidFill>
                <a:ea typeface="楷体_GB2312" charset="0"/>
              </a:rPr>
              <a:t>:</a:t>
            </a:r>
            <a:endParaRPr lang="en-US" altLang="zh-CN" sz="3600">
              <a:ea typeface="楷体_GB2312" charset="0"/>
            </a:endParaRPr>
          </a:p>
        </p:txBody>
      </p:sp>
      <p:graphicFrame>
        <p:nvGraphicFramePr>
          <p:cNvPr id="122886" name="Object 1030"/>
          <p:cNvGraphicFramePr>
            <a:graphicFrameLocks noChangeAspect="1"/>
          </p:cNvGraphicFramePr>
          <p:nvPr/>
        </p:nvGraphicFramePr>
        <p:xfrm>
          <a:off x="838200" y="4114800"/>
          <a:ext cx="7391400" cy="914400"/>
        </p:xfrm>
        <a:graphic>
          <a:graphicData uri="http://schemas.openxmlformats.org/presentationml/2006/ole">
            <mc:AlternateContent xmlns:mc="http://schemas.openxmlformats.org/markup-compatibility/2006">
              <mc:Choice xmlns:v="urn:schemas-microsoft-com:vml" Requires="v">
                <p:oleObj spid="_x0000_s1689603" name="文档" r:id="rId3" imgW="5417640" imgH="736200" progId="Word.Document.8">
                  <p:embed/>
                </p:oleObj>
              </mc:Choice>
              <mc:Fallback>
                <p:oleObj name="文档" r:id="rId3" imgW="5417640" imgH="73620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114800"/>
                        <a:ext cx="7391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22887" name="Text Box 1031"/>
          <p:cNvSpPr txBox="1">
            <a:spLocks noChangeArrowheads="1"/>
          </p:cNvSpPr>
          <p:nvPr/>
        </p:nvSpPr>
        <p:spPr bwMode="auto">
          <a:xfrm>
            <a:off x="914400" y="41275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2</a:t>
            </a:r>
            <a:endParaRPr lang="en-US" altLang="zh-CN" sz="3600"/>
          </a:p>
        </p:txBody>
      </p:sp>
      <p:sp>
        <p:nvSpPr>
          <p:cNvPr id="122888" name="Text Box 1032"/>
          <p:cNvSpPr txBox="1">
            <a:spLocks noChangeArrowheads="1"/>
          </p:cNvSpPr>
          <p:nvPr/>
        </p:nvSpPr>
        <p:spPr bwMode="auto">
          <a:xfrm>
            <a:off x="1828800" y="41148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5</a:t>
            </a:r>
            <a:endParaRPr lang="en-US" altLang="zh-CN" sz="3600"/>
          </a:p>
        </p:txBody>
      </p:sp>
      <p:sp>
        <p:nvSpPr>
          <p:cNvPr id="122890" name="Text Box 1034"/>
          <p:cNvSpPr txBox="1">
            <a:spLocks noChangeArrowheads="1"/>
          </p:cNvSpPr>
          <p:nvPr/>
        </p:nvSpPr>
        <p:spPr bwMode="auto">
          <a:xfrm>
            <a:off x="2743200" y="41148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5</a:t>
            </a:r>
            <a:endParaRPr lang="en-US" altLang="zh-CN" sz="3600"/>
          </a:p>
        </p:txBody>
      </p:sp>
      <p:sp>
        <p:nvSpPr>
          <p:cNvPr id="122891" name="Text Box 1035"/>
          <p:cNvSpPr txBox="1">
            <a:spLocks noChangeArrowheads="1"/>
          </p:cNvSpPr>
          <p:nvPr/>
        </p:nvSpPr>
        <p:spPr bwMode="auto">
          <a:xfrm>
            <a:off x="1828800" y="41148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3</a:t>
            </a:r>
            <a:endParaRPr lang="en-US" altLang="zh-CN" sz="3600"/>
          </a:p>
        </p:txBody>
      </p:sp>
      <p:sp>
        <p:nvSpPr>
          <p:cNvPr id="122892" name="Text Box 1036"/>
          <p:cNvSpPr txBox="1">
            <a:spLocks noChangeArrowheads="1"/>
          </p:cNvSpPr>
          <p:nvPr/>
        </p:nvSpPr>
        <p:spPr bwMode="auto">
          <a:xfrm>
            <a:off x="2743200" y="415925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1</a:t>
            </a:r>
            <a:endParaRPr lang="en-US" altLang="zh-CN" sz="3600"/>
          </a:p>
        </p:txBody>
      </p:sp>
      <p:sp>
        <p:nvSpPr>
          <p:cNvPr id="122893" name="Text Box 1037"/>
          <p:cNvSpPr txBox="1">
            <a:spLocks noChangeArrowheads="1"/>
          </p:cNvSpPr>
          <p:nvPr/>
        </p:nvSpPr>
        <p:spPr bwMode="auto">
          <a:xfrm>
            <a:off x="3733800" y="41275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5</a:t>
            </a:r>
            <a:endParaRPr lang="en-US" altLang="zh-CN" sz="3600"/>
          </a:p>
        </p:txBody>
      </p:sp>
      <p:sp>
        <p:nvSpPr>
          <p:cNvPr id="122894" name="Text Box 1038"/>
          <p:cNvSpPr txBox="1">
            <a:spLocks noChangeArrowheads="1"/>
          </p:cNvSpPr>
          <p:nvPr/>
        </p:nvSpPr>
        <p:spPr bwMode="auto">
          <a:xfrm>
            <a:off x="4724400" y="41275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7</a:t>
            </a:r>
            <a:endParaRPr lang="en-US" altLang="zh-CN" sz="3600"/>
          </a:p>
        </p:txBody>
      </p:sp>
      <p:sp>
        <p:nvSpPr>
          <p:cNvPr id="122895" name="Text Box 1039"/>
          <p:cNvSpPr txBox="1">
            <a:spLocks noChangeArrowheads="1"/>
          </p:cNvSpPr>
          <p:nvPr/>
        </p:nvSpPr>
        <p:spPr bwMode="auto">
          <a:xfrm>
            <a:off x="5638800" y="41148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9</a:t>
            </a:r>
            <a:endParaRPr lang="en-US" altLang="zh-CN" sz="3600"/>
          </a:p>
        </p:txBody>
      </p:sp>
      <p:sp>
        <p:nvSpPr>
          <p:cNvPr id="122896" name="Text Box 1040"/>
          <p:cNvSpPr txBox="1">
            <a:spLocks noChangeArrowheads="1"/>
          </p:cNvSpPr>
          <p:nvPr/>
        </p:nvSpPr>
        <p:spPr bwMode="auto">
          <a:xfrm>
            <a:off x="5638800" y="41275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8</a:t>
            </a:r>
            <a:endParaRPr lang="en-US" altLang="zh-CN" sz="3600"/>
          </a:p>
        </p:txBody>
      </p:sp>
      <p:sp>
        <p:nvSpPr>
          <p:cNvPr id="122897" name="Text Box 1041"/>
          <p:cNvSpPr txBox="1">
            <a:spLocks noChangeArrowheads="1"/>
          </p:cNvSpPr>
          <p:nvPr/>
        </p:nvSpPr>
        <p:spPr bwMode="auto">
          <a:xfrm>
            <a:off x="6553200" y="4127500"/>
            <a:ext cx="838200" cy="641350"/>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chemeClr val="accent2"/>
                </a:solidFill>
              </a:rPr>
              <a:t>9</a:t>
            </a:r>
            <a:endParaRPr lang="en-US" altLang="zh-CN" sz="3600"/>
          </a:p>
        </p:txBody>
      </p:sp>
      <p:sp>
        <p:nvSpPr>
          <p:cNvPr id="122898" name="Line 1042"/>
          <p:cNvSpPr>
            <a:spLocks noChangeShapeType="1"/>
          </p:cNvSpPr>
          <p:nvPr/>
        </p:nvSpPr>
        <p:spPr bwMode="auto">
          <a:xfrm flipV="1">
            <a:off x="7010400" y="5029200"/>
            <a:ext cx="0" cy="7620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2899" name="Text Box 1043"/>
          <p:cNvSpPr txBox="1">
            <a:spLocks noChangeArrowheads="1"/>
          </p:cNvSpPr>
          <p:nvPr/>
        </p:nvSpPr>
        <p:spPr bwMode="auto">
          <a:xfrm>
            <a:off x="7032625" y="5478463"/>
            <a:ext cx="8159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200">
                <a:solidFill>
                  <a:schemeClr val="accent2"/>
                </a:solidFill>
              </a:rPr>
              <a:t>i=7</a:t>
            </a:r>
            <a:endParaRPr lang="en-US" altLang="zh-CN" sz="2800"/>
          </a:p>
        </p:txBody>
      </p:sp>
      <p:sp>
        <p:nvSpPr>
          <p:cNvPr id="122900" name="Line 1044"/>
          <p:cNvSpPr>
            <a:spLocks noChangeShapeType="1"/>
          </p:cNvSpPr>
          <p:nvPr/>
        </p:nvSpPr>
        <p:spPr bwMode="auto">
          <a:xfrm flipV="1">
            <a:off x="6019800" y="4876800"/>
            <a:ext cx="0" cy="76200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2901" name="Text Box 1045"/>
          <p:cNvSpPr txBox="1">
            <a:spLocks noChangeArrowheads="1"/>
          </p:cNvSpPr>
          <p:nvPr/>
        </p:nvSpPr>
        <p:spPr bwMode="auto">
          <a:xfrm>
            <a:off x="6042025" y="5334000"/>
            <a:ext cx="815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200">
                <a:solidFill>
                  <a:schemeClr val="accent2"/>
                </a:solidFill>
              </a:rPr>
              <a:t>i=6</a:t>
            </a:r>
            <a:endParaRPr lang="en-US" altLang="zh-CN" sz="2800"/>
          </a:p>
        </p:txBody>
      </p:sp>
      <p:sp>
        <p:nvSpPr>
          <p:cNvPr id="122902" name="Rectangle 1046"/>
          <p:cNvSpPr>
            <a:spLocks noChangeArrowheads="1"/>
          </p:cNvSpPr>
          <p:nvPr/>
        </p:nvSpPr>
        <p:spPr bwMode="auto">
          <a:xfrm>
            <a:off x="381000" y="6019800"/>
            <a:ext cx="8609013" cy="652463"/>
          </a:xfrm>
          <a:prstGeom prst="rect">
            <a:avLst/>
          </a:prstGeom>
          <a:solidFill>
            <a:srgbClr val="CCFF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000099"/>
                </a:solidFill>
              </a:rPr>
              <a:t>for</a:t>
            </a:r>
            <a:r>
              <a:rPr lang="en-US" altLang="zh-CN" sz="3200">
                <a:solidFill>
                  <a:srgbClr val="000099"/>
                </a:solidFill>
              </a:rPr>
              <a:t> (j = 1</a:t>
            </a:r>
            <a:r>
              <a:rPr lang="en-US" altLang="zh-CN" sz="3200">
                <a:solidFill>
                  <a:srgbClr val="0000FF"/>
                </a:solidFill>
              </a:rPr>
              <a:t>;  </a:t>
            </a:r>
            <a:r>
              <a:rPr lang="en-US" altLang="zh-CN" sz="3200" b="1">
                <a:solidFill>
                  <a:srgbClr val="0000FF"/>
                </a:solidFill>
              </a:rPr>
              <a:t>j &lt; i;</a:t>
            </a:r>
            <a:r>
              <a:rPr lang="en-US" altLang="zh-CN" sz="3200">
                <a:solidFill>
                  <a:srgbClr val="000099"/>
                </a:solidFill>
              </a:rPr>
              <a:t>  j++)  </a:t>
            </a:r>
            <a:r>
              <a:rPr lang="en-US" altLang="zh-CN" sz="3200" b="1">
                <a:solidFill>
                  <a:srgbClr val="0000FF"/>
                </a:solidFill>
              </a:rPr>
              <a:t>if</a:t>
            </a:r>
            <a:r>
              <a:rPr lang="en-US" altLang="zh-CN" sz="3200">
                <a:solidFill>
                  <a:srgbClr val="0000FF"/>
                </a:solidFill>
              </a:rPr>
              <a:t> (R[j+1].key &lt; R[j].key)</a:t>
            </a:r>
            <a:r>
              <a:rPr lang="en-US" altLang="zh-CN" sz="3200">
                <a:solidFill>
                  <a:srgbClr val="000099"/>
                </a:solidFill>
              </a:rPr>
              <a:t> …</a:t>
            </a:r>
            <a:endParaRPr lang="en-US" altLang="zh-CN" sz="3200"/>
          </a:p>
        </p:txBody>
      </p:sp>
      <p:sp useBgFill="1">
        <p:nvSpPr>
          <p:cNvPr id="122903" name="Rectangle 1047"/>
          <p:cNvSpPr>
            <a:spLocks noChangeArrowheads="1"/>
          </p:cNvSpPr>
          <p:nvPr/>
        </p:nvSpPr>
        <p:spPr bwMode="auto">
          <a:xfrm>
            <a:off x="6858000" y="4876800"/>
            <a:ext cx="1066800" cy="1066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2904" name="Text Box 1048"/>
          <p:cNvSpPr txBox="1">
            <a:spLocks noChangeArrowheads="1"/>
          </p:cNvSpPr>
          <p:nvPr/>
        </p:nvSpPr>
        <p:spPr bwMode="auto">
          <a:xfrm>
            <a:off x="1828800" y="4127500"/>
            <a:ext cx="838200" cy="64135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rgbClr val="800000"/>
                </a:solidFill>
              </a:rPr>
              <a:t>1</a:t>
            </a:r>
            <a:endParaRPr lang="en-US" altLang="zh-CN" sz="3600"/>
          </a:p>
        </p:txBody>
      </p:sp>
      <p:sp>
        <p:nvSpPr>
          <p:cNvPr id="122905" name="Text Box 1049"/>
          <p:cNvSpPr txBox="1">
            <a:spLocks noChangeArrowheads="1"/>
          </p:cNvSpPr>
          <p:nvPr/>
        </p:nvSpPr>
        <p:spPr bwMode="auto">
          <a:xfrm>
            <a:off x="2743200" y="4114800"/>
            <a:ext cx="838200" cy="64135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US" altLang="zh-CN" sz="3600" b="1">
                <a:solidFill>
                  <a:srgbClr val="800000"/>
                </a:solidFill>
              </a:rPr>
              <a:t>3</a:t>
            </a:r>
            <a:endParaRPr lang="en-US" altLang="zh-CN" sz="3600"/>
          </a:p>
        </p:txBody>
      </p:sp>
      <p:sp>
        <p:nvSpPr>
          <p:cNvPr id="122906" name="Line 1050"/>
          <p:cNvSpPr>
            <a:spLocks noChangeShapeType="1"/>
          </p:cNvSpPr>
          <p:nvPr/>
        </p:nvSpPr>
        <p:spPr bwMode="auto">
          <a:xfrm flipV="1">
            <a:off x="2209800" y="4800600"/>
            <a:ext cx="0" cy="7620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2907" name="Text Box 1051"/>
          <p:cNvSpPr txBox="1">
            <a:spLocks noChangeArrowheads="1"/>
          </p:cNvSpPr>
          <p:nvPr/>
        </p:nvSpPr>
        <p:spPr bwMode="auto">
          <a:xfrm>
            <a:off x="2232025" y="5249863"/>
            <a:ext cx="8159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200">
                <a:solidFill>
                  <a:srgbClr val="800000"/>
                </a:solidFill>
              </a:rPr>
              <a:t>i=2</a:t>
            </a:r>
            <a:endParaRPr lang="en-US" altLang="zh-CN" sz="2800"/>
          </a:p>
        </p:txBody>
      </p:sp>
      <p:sp useBgFill="1">
        <p:nvSpPr>
          <p:cNvPr id="122908" name="Rectangle 1052"/>
          <p:cNvSpPr>
            <a:spLocks noChangeArrowheads="1"/>
          </p:cNvSpPr>
          <p:nvPr/>
        </p:nvSpPr>
        <p:spPr bwMode="auto">
          <a:xfrm>
            <a:off x="5867400" y="4876800"/>
            <a:ext cx="8382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2910" name="Rectangle 1054"/>
          <p:cNvSpPr>
            <a:spLocks noChangeArrowheads="1"/>
          </p:cNvSpPr>
          <p:nvPr/>
        </p:nvSpPr>
        <p:spPr bwMode="auto">
          <a:xfrm>
            <a:off x="838200" y="866775"/>
            <a:ext cx="76549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ea typeface="隶书" charset="0"/>
              </a:rPr>
              <a:t>1. </a:t>
            </a:r>
            <a:r>
              <a:rPr lang="zh-CN" altLang="en-US" sz="3600">
                <a:solidFill>
                  <a:srgbClr val="0000FF"/>
                </a:solidFill>
                <a:ea typeface="隶书" charset="0"/>
              </a:rPr>
              <a:t>起泡排序的结束条件为，</a:t>
            </a:r>
          </a:p>
          <a:p>
            <a:pPr algn="l"/>
            <a:r>
              <a:rPr lang="zh-CN" altLang="en-US" sz="3600">
                <a:solidFill>
                  <a:srgbClr val="0000FF"/>
                </a:solidFill>
                <a:ea typeface="隶书" charset="0"/>
              </a:rPr>
              <a:t>         </a:t>
            </a:r>
            <a:r>
              <a:rPr lang="zh-CN" altLang="en-US" sz="3600" b="1">
                <a:solidFill>
                  <a:srgbClr val="000080"/>
                </a:solidFill>
                <a:ea typeface="隶书" charset="0"/>
              </a:rPr>
              <a:t>最后一趟没有进行“交换记录”。</a:t>
            </a:r>
          </a:p>
        </p:txBody>
      </p:sp>
      <p:sp>
        <p:nvSpPr>
          <p:cNvPr id="122911" name="AutoShape 1055">
            <a:hlinkClick r:id="" action="ppaction://hlinkshowjump?jump=previousslide" highlightClick="1"/>
          </p:cNvPr>
          <p:cNvSpPr>
            <a:spLocks noChangeArrowheads="1"/>
          </p:cNvSpPr>
          <p:nvPr/>
        </p:nvSpPr>
        <p:spPr bwMode="auto">
          <a:xfrm>
            <a:off x="8305800" y="50292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302312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883"/>
                                        </p:tgtEl>
                                        <p:attrNameLst>
                                          <p:attrName>style.visibility</p:attrName>
                                        </p:attrNameLst>
                                      </p:cBhvr>
                                      <p:to>
                                        <p:strVal val="visible"/>
                                      </p:to>
                                    </p:set>
                                    <p:animEffect transition="in" filter="wipe(left)">
                                      <p:cBhvr>
                                        <p:cTn id="7" dur="500"/>
                                        <p:tgtEl>
                                          <p:spTgt spid="1228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0"/>
                                        </p:tgtEl>
                                        <p:attrNameLst>
                                          <p:attrName>style.visibility</p:attrName>
                                        </p:attrNameLst>
                                      </p:cBhvr>
                                      <p:to>
                                        <p:strVal val="visible"/>
                                      </p:to>
                                    </p:set>
                                    <p:animEffect transition="in" filter="wipe(left)">
                                      <p:cBhvr>
                                        <p:cTn id="12" dur="500"/>
                                        <p:tgtEl>
                                          <p:spTgt spid="1229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884"/>
                                        </p:tgtEl>
                                        <p:attrNameLst>
                                          <p:attrName>style.visibility</p:attrName>
                                        </p:attrNameLst>
                                      </p:cBhvr>
                                      <p:to>
                                        <p:strVal val="visible"/>
                                      </p:to>
                                    </p:set>
                                    <p:animEffect transition="in" filter="wipe(left)">
                                      <p:cBhvr>
                                        <p:cTn id="17" dur="500"/>
                                        <p:tgtEl>
                                          <p:spTgt spid="1228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885"/>
                                        </p:tgtEl>
                                        <p:attrNameLst>
                                          <p:attrName>style.visibility</p:attrName>
                                        </p:attrNameLst>
                                      </p:cBhvr>
                                      <p:to>
                                        <p:strVal val="visible"/>
                                      </p:to>
                                    </p:set>
                                    <p:animEffect transition="in" filter="wipe(left)">
                                      <p:cBhvr>
                                        <p:cTn id="22" dur="500"/>
                                        <p:tgtEl>
                                          <p:spTgt spid="122885"/>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22886"/>
                                        </p:tgtEl>
                                        <p:attrNameLst>
                                          <p:attrName>style.visibility</p:attrName>
                                        </p:attrNameLst>
                                      </p:cBhvr>
                                      <p:to>
                                        <p:strVal val="visible"/>
                                      </p:to>
                                    </p:set>
                                    <p:animEffect transition="in" filter="wipe(left)">
                                      <p:cBhvr>
                                        <p:cTn id="26" dur="500"/>
                                        <p:tgtEl>
                                          <p:spTgt spid="1228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2902"/>
                                        </p:tgtEl>
                                        <p:attrNameLst>
                                          <p:attrName>style.visibility</p:attrName>
                                        </p:attrNameLst>
                                      </p:cBhvr>
                                      <p:to>
                                        <p:strVal val="visible"/>
                                      </p:to>
                                    </p:set>
                                    <p:animEffect transition="in" filter="wipe(left)">
                                      <p:cBhvr>
                                        <p:cTn id="31" dur="500"/>
                                        <p:tgtEl>
                                          <p:spTgt spid="12290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22898"/>
                                        </p:tgtEl>
                                        <p:attrNameLst>
                                          <p:attrName>style.visibility</p:attrName>
                                        </p:attrNameLst>
                                      </p:cBhvr>
                                      <p:to>
                                        <p:strVal val="visible"/>
                                      </p:to>
                                    </p:set>
                                    <p:animEffect transition="in" filter="wipe(up)">
                                      <p:cBhvr>
                                        <p:cTn id="36" dur="500"/>
                                        <p:tgtEl>
                                          <p:spTgt spid="122898"/>
                                        </p:tgtEl>
                                      </p:cBhvr>
                                    </p:animEffect>
                                  </p:childTnLst>
                                </p:cTn>
                              </p:par>
                            </p:childTnLst>
                          </p:cTn>
                        </p:par>
                        <p:par>
                          <p:cTn id="37" fill="hold" nodeType="afterGroup">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122899"/>
                                        </p:tgtEl>
                                        <p:attrNameLst>
                                          <p:attrName>style.visibility</p:attrName>
                                        </p:attrNameLst>
                                      </p:cBhvr>
                                      <p:to>
                                        <p:strVal val="visible"/>
                                      </p:to>
                                    </p:set>
                                    <p:animEffect transition="in" filter="wipe(up)">
                                      <p:cBhvr>
                                        <p:cTn id="40" dur="500"/>
                                        <p:tgtEl>
                                          <p:spTgt spid="12289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2887"/>
                                        </p:tgtEl>
                                        <p:attrNameLst>
                                          <p:attrName>style.visibility</p:attrName>
                                        </p:attrNameLst>
                                      </p:cBhvr>
                                      <p:to>
                                        <p:strVal val="visible"/>
                                      </p:to>
                                    </p:set>
                                    <p:animEffect transition="in" filter="wipe(left)">
                                      <p:cBhvr>
                                        <p:cTn id="45" dur="500"/>
                                        <p:tgtEl>
                                          <p:spTgt spid="122887"/>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22888"/>
                                        </p:tgtEl>
                                        <p:attrNameLst>
                                          <p:attrName>style.visibility</p:attrName>
                                        </p:attrNameLst>
                                      </p:cBhvr>
                                      <p:to>
                                        <p:strVal val="visible"/>
                                      </p:to>
                                    </p:set>
                                    <p:animEffect transition="in" filter="wipe(left)">
                                      <p:cBhvr>
                                        <p:cTn id="49" dur="500"/>
                                        <p:tgtEl>
                                          <p:spTgt spid="12288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22891"/>
                                        </p:tgtEl>
                                        <p:attrNameLst>
                                          <p:attrName>style.visibility</p:attrName>
                                        </p:attrNameLst>
                                      </p:cBhvr>
                                      <p:to>
                                        <p:strVal val="visible"/>
                                      </p:to>
                                    </p:set>
                                    <p:animEffect transition="in" filter="wipe(left)">
                                      <p:cBhvr>
                                        <p:cTn id="54" dur="500"/>
                                        <p:tgtEl>
                                          <p:spTgt spid="122891"/>
                                        </p:tgtEl>
                                      </p:cBhvr>
                                    </p:animEffect>
                                  </p:childTnLst>
                                </p:cTn>
                              </p:par>
                            </p:childTnLst>
                          </p:cTn>
                        </p:par>
                        <p:par>
                          <p:cTn id="55" fill="hold" nodeType="afterGroup">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122890"/>
                                        </p:tgtEl>
                                        <p:attrNameLst>
                                          <p:attrName>style.visibility</p:attrName>
                                        </p:attrNameLst>
                                      </p:cBhvr>
                                      <p:to>
                                        <p:strVal val="visible"/>
                                      </p:to>
                                    </p:set>
                                    <p:animEffect transition="in" filter="wipe(left)">
                                      <p:cBhvr>
                                        <p:cTn id="58" dur="500"/>
                                        <p:tgtEl>
                                          <p:spTgt spid="12289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22892"/>
                                        </p:tgtEl>
                                        <p:attrNameLst>
                                          <p:attrName>style.visibility</p:attrName>
                                        </p:attrNameLst>
                                      </p:cBhvr>
                                      <p:to>
                                        <p:strVal val="visible"/>
                                      </p:to>
                                    </p:set>
                                    <p:animEffect transition="in" filter="wipe(left)">
                                      <p:cBhvr>
                                        <p:cTn id="63" dur="500"/>
                                        <p:tgtEl>
                                          <p:spTgt spid="122892"/>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122893"/>
                                        </p:tgtEl>
                                        <p:attrNameLst>
                                          <p:attrName>style.visibility</p:attrName>
                                        </p:attrNameLst>
                                      </p:cBhvr>
                                      <p:to>
                                        <p:strVal val="visible"/>
                                      </p:to>
                                    </p:set>
                                    <p:animEffect transition="in" filter="wipe(left)">
                                      <p:cBhvr>
                                        <p:cTn id="67" dur="500"/>
                                        <p:tgtEl>
                                          <p:spTgt spid="12289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22894"/>
                                        </p:tgtEl>
                                        <p:attrNameLst>
                                          <p:attrName>style.visibility</p:attrName>
                                        </p:attrNameLst>
                                      </p:cBhvr>
                                      <p:to>
                                        <p:strVal val="visible"/>
                                      </p:to>
                                    </p:set>
                                    <p:animEffect transition="in" filter="wipe(left)">
                                      <p:cBhvr>
                                        <p:cTn id="72" dur="500"/>
                                        <p:tgtEl>
                                          <p:spTgt spid="122894"/>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122895"/>
                                        </p:tgtEl>
                                        <p:attrNameLst>
                                          <p:attrName>style.visibility</p:attrName>
                                        </p:attrNameLst>
                                      </p:cBhvr>
                                      <p:to>
                                        <p:strVal val="visible"/>
                                      </p:to>
                                    </p:set>
                                    <p:animEffect transition="in" filter="wipe(left)">
                                      <p:cBhvr>
                                        <p:cTn id="76" dur="500"/>
                                        <p:tgtEl>
                                          <p:spTgt spid="122895"/>
                                        </p:tgtEl>
                                      </p:cBhvr>
                                    </p:animEffect>
                                  </p:childTnLst>
                                </p:cTn>
                              </p:par>
                            </p:childTnLst>
                          </p:cTn>
                        </p:par>
                        <p:par>
                          <p:cTn id="77" fill="hold" nodeType="afterGroup">
                            <p:stCondLst>
                              <p:cond delay="1000"/>
                            </p:stCondLst>
                            <p:childTnLst>
                              <p:par>
                                <p:cTn id="78" presetID="2" presetClass="entr" presetSubtype="6" fill="hold" grpId="0" nodeType="afterEffect">
                                  <p:stCondLst>
                                    <p:cond delay="0"/>
                                  </p:stCondLst>
                                  <p:childTnLst>
                                    <p:set>
                                      <p:cBhvr>
                                        <p:cTn id="79" dur="1" fill="hold">
                                          <p:stCondLst>
                                            <p:cond delay="0"/>
                                          </p:stCondLst>
                                        </p:cTn>
                                        <p:tgtEl>
                                          <p:spTgt spid="122911"/>
                                        </p:tgtEl>
                                        <p:attrNameLst>
                                          <p:attrName>style.visibility</p:attrName>
                                        </p:attrNameLst>
                                      </p:cBhvr>
                                      <p:to>
                                        <p:strVal val="visible"/>
                                      </p:to>
                                    </p:set>
                                    <p:anim calcmode="lin" valueType="num">
                                      <p:cBhvr additive="base">
                                        <p:cTn id="80" dur="500" fill="hold"/>
                                        <p:tgtEl>
                                          <p:spTgt spid="122911"/>
                                        </p:tgtEl>
                                        <p:attrNameLst>
                                          <p:attrName>ppt_x</p:attrName>
                                        </p:attrNameLst>
                                      </p:cBhvr>
                                      <p:tavLst>
                                        <p:tav tm="0">
                                          <p:val>
                                            <p:strVal val="1+#ppt_w/2"/>
                                          </p:val>
                                        </p:tav>
                                        <p:tav tm="100000">
                                          <p:val>
                                            <p:strVal val="#ppt_x"/>
                                          </p:val>
                                        </p:tav>
                                      </p:tavLst>
                                    </p:anim>
                                    <p:anim calcmode="lin" valueType="num">
                                      <p:cBhvr additive="base">
                                        <p:cTn id="81" dur="500" fill="hold"/>
                                        <p:tgtEl>
                                          <p:spTgt spid="122911"/>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22896"/>
                                        </p:tgtEl>
                                        <p:attrNameLst>
                                          <p:attrName>style.visibility</p:attrName>
                                        </p:attrNameLst>
                                      </p:cBhvr>
                                      <p:to>
                                        <p:strVal val="visible"/>
                                      </p:to>
                                    </p:set>
                                    <p:animEffect transition="in" filter="wipe(left)">
                                      <p:cBhvr>
                                        <p:cTn id="86" dur="500"/>
                                        <p:tgtEl>
                                          <p:spTgt spid="122896"/>
                                        </p:tgtEl>
                                      </p:cBhvr>
                                    </p:animEffect>
                                  </p:childTnLst>
                                </p:cTn>
                              </p:par>
                            </p:childTnLst>
                          </p:cTn>
                        </p:par>
                        <p:par>
                          <p:cTn id="87" fill="hold" nodeType="afterGroup">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122897"/>
                                        </p:tgtEl>
                                        <p:attrNameLst>
                                          <p:attrName>style.visibility</p:attrName>
                                        </p:attrNameLst>
                                      </p:cBhvr>
                                      <p:to>
                                        <p:strVal val="visible"/>
                                      </p:to>
                                    </p:set>
                                    <p:animEffect transition="in" filter="wipe(left)">
                                      <p:cBhvr>
                                        <p:cTn id="90" dur="500"/>
                                        <p:tgtEl>
                                          <p:spTgt spid="122897"/>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22903"/>
                                        </p:tgtEl>
                                        <p:attrNameLst>
                                          <p:attrName>style.visibility</p:attrName>
                                        </p:attrNameLst>
                                      </p:cBhvr>
                                      <p:to>
                                        <p:strVal val="visible"/>
                                      </p:to>
                                    </p:set>
                                    <p:animEffect transition="in" filter="wipe(up)">
                                      <p:cBhvr>
                                        <p:cTn id="95" dur="500"/>
                                        <p:tgtEl>
                                          <p:spTgt spid="122903"/>
                                        </p:tgtEl>
                                      </p:cBhvr>
                                    </p:animEffect>
                                  </p:childTnLst>
                                </p:cTn>
                              </p:par>
                            </p:childTnLst>
                          </p:cTn>
                        </p:par>
                        <p:par>
                          <p:cTn id="96" fill="hold" nodeType="afterGroup">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122900"/>
                                        </p:tgtEl>
                                        <p:attrNameLst>
                                          <p:attrName>style.visibility</p:attrName>
                                        </p:attrNameLst>
                                      </p:cBhvr>
                                      <p:to>
                                        <p:strVal val="visible"/>
                                      </p:to>
                                    </p:set>
                                    <p:animEffect transition="in" filter="wipe(up)">
                                      <p:cBhvr>
                                        <p:cTn id="99" dur="500"/>
                                        <p:tgtEl>
                                          <p:spTgt spid="122900"/>
                                        </p:tgtEl>
                                      </p:cBhvr>
                                    </p:animEffect>
                                  </p:childTnLst>
                                </p:cTn>
                              </p:par>
                            </p:childTnLst>
                          </p:cTn>
                        </p:par>
                        <p:par>
                          <p:cTn id="100" fill="hold" nodeType="afterGroup">
                            <p:stCondLst>
                              <p:cond delay="1000"/>
                            </p:stCondLst>
                            <p:childTnLst>
                              <p:par>
                                <p:cTn id="101" presetID="22" presetClass="entr" presetSubtype="1" fill="hold" grpId="0" nodeType="afterEffect">
                                  <p:stCondLst>
                                    <p:cond delay="0"/>
                                  </p:stCondLst>
                                  <p:childTnLst>
                                    <p:set>
                                      <p:cBhvr>
                                        <p:cTn id="102" dur="1" fill="hold">
                                          <p:stCondLst>
                                            <p:cond delay="0"/>
                                          </p:stCondLst>
                                        </p:cTn>
                                        <p:tgtEl>
                                          <p:spTgt spid="122901"/>
                                        </p:tgtEl>
                                        <p:attrNameLst>
                                          <p:attrName>style.visibility</p:attrName>
                                        </p:attrNameLst>
                                      </p:cBhvr>
                                      <p:to>
                                        <p:strVal val="visible"/>
                                      </p:to>
                                    </p:set>
                                    <p:animEffect transition="in" filter="wipe(up)">
                                      <p:cBhvr>
                                        <p:cTn id="103" dur="500"/>
                                        <p:tgtEl>
                                          <p:spTgt spid="12290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22904"/>
                                        </p:tgtEl>
                                        <p:attrNameLst>
                                          <p:attrName>style.visibility</p:attrName>
                                        </p:attrNameLst>
                                      </p:cBhvr>
                                      <p:to>
                                        <p:strVal val="visible"/>
                                      </p:to>
                                    </p:set>
                                    <p:animEffect transition="in" filter="wipe(left)">
                                      <p:cBhvr>
                                        <p:cTn id="108" dur="500"/>
                                        <p:tgtEl>
                                          <p:spTgt spid="122904"/>
                                        </p:tgtEl>
                                      </p:cBhvr>
                                    </p:animEffect>
                                  </p:childTnLst>
                                </p:cTn>
                              </p:par>
                            </p:childTnLst>
                          </p:cTn>
                        </p:par>
                        <p:par>
                          <p:cTn id="109" fill="hold" nodeType="afterGroup">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122905"/>
                                        </p:tgtEl>
                                        <p:attrNameLst>
                                          <p:attrName>style.visibility</p:attrName>
                                        </p:attrNameLst>
                                      </p:cBhvr>
                                      <p:to>
                                        <p:strVal val="visible"/>
                                      </p:to>
                                    </p:set>
                                    <p:animEffect transition="in" filter="wipe(left)">
                                      <p:cBhvr>
                                        <p:cTn id="112" dur="500"/>
                                        <p:tgtEl>
                                          <p:spTgt spid="122905"/>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122908"/>
                                        </p:tgtEl>
                                        <p:attrNameLst>
                                          <p:attrName>style.visibility</p:attrName>
                                        </p:attrNameLst>
                                      </p:cBhvr>
                                      <p:to>
                                        <p:strVal val="visible"/>
                                      </p:to>
                                    </p:set>
                                    <p:animEffect transition="in" filter="wipe(up)">
                                      <p:cBhvr>
                                        <p:cTn id="117" dur="500"/>
                                        <p:tgtEl>
                                          <p:spTgt spid="122908"/>
                                        </p:tgtEl>
                                      </p:cBhvr>
                                    </p:animEffect>
                                  </p:childTnLst>
                                </p:cTn>
                              </p:par>
                            </p:childTnLst>
                          </p:cTn>
                        </p:par>
                        <p:par>
                          <p:cTn id="118" fill="hold" nodeType="afterGroup">
                            <p:stCondLst>
                              <p:cond delay="500"/>
                            </p:stCondLst>
                            <p:childTnLst>
                              <p:par>
                                <p:cTn id="119" presetID="22" presetClass="entr" presetSubtype="1" fill="hold" grpId="0" nodeType="afterEffect">
                                  <p:stCondLst>
                                    <p:cond delay="0"/>
                                  </p:stCondLst>
                                  <p:childTnLst>
                                    <p:set>
                                      <p:cBhvr>
                                        <p:cTn id="120" dur="1" fill="hold">
                                          <p:stCondLst>
                                            <p:cond delay="0"/>
                                          </p:stCondLst>
                                        </p:cTn>
                                        <p:tgtEl>
                                          <p:spTgt spid="122906"/>
                                        </p:tgtEl>
                                        <p:attrNameLst>
                                          <p:attrName>style.visibility</p:attrName>
                                        </p:attrNameLst>
                                      </p:cBhvr>
                                      <p:to>
                                        <p:strVal val="visible"/>
                                      </p:to>
                                    </p:set>
                                    <p:animEffect transition="in" filter="wipe(up)">
                                      <p:cBhvr>
                                        <p:cTn id="121" dur="500"/>
                                        <p:tgtEl>
                                          <p:spTgt spid="122906"/>
                                        </p:tgtEl>
                                      </p:cBhvr>
                                    </p:animEffect>
                                  </p:childTnLst>
                                </p:cTn>
                              </p:par>
                            </p:childTnLst>
                          </p:cTn>
                        </p:par>
                        <p:par>
                          <p:cTn id="122" fill="hold" nodeType="afterGroup">
                            <p:stCondLst>
                              <p:cond delay="1000"/>
                            </p:stCondLst>
                            <p:childTnLst>
                              <p:par>
                                <p:cTn id="123" presetID="22" presetClass="entr" presetSubtype="1" fill="hold" grpId="0" nodeType="afterEffect">
                                  <p:stCondLst>
                                    <p:cond delay="0"/>
                                  </p:stCondLst>
                                  <p:childTnLst>
                                    <p:set>
                                      <p:cBhvr>
                                        <p:cTn id="124" dur="1" fill="hold">
                                          <p:stCondLst>
                                            <p:cond delay="0"/>
                                          </p:stCondLst>
                                        </p:cTn>
                                        <p:tgtEl>
                                          <p:spTgt spid="122907"/>
                                        </p:tgtEl>
                                        <p:attrNameLst>
                                          <p:attrName>style.visibility</p:attrName>
                                        </p:attrNameLst>
                                      </p:cBhvr>
                                      <p:to>
                                        <p:strVal val="visible"/>
                                      </p:to>
                                    </p:set>
                                    <p:animEffect transition="in" filter="wipe(up)">
                                      <p:cBhvr>
                                        <p:cTn id="125" dur="500"/>
                                        <p:tgtEl>
                                          <p:spTgt spid="122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utoUpdateAnimBg="0"/>
      <p:bldP spid="122884" grpId="0" autoUpdateAnimBg="0"/>
      <p:bldP spid="122885" grpId="0" autoUpdateAnimBg="0"/>
      <p:bldP spid="122887" grpId="0" animBg="1" autoUpdateAnimBg="0"/>
      <p:bldP spid="122888" grpId="0" animBg="1" autoUpdateAnimBg="0"/>
      <p:bldP spid="122890" grpId="0" animBg="1" autoUpdateAnimBg="0"/>
      <p:bldP spid="122891" grpId="0" animBg="1" autoUpdateAnimBg="0"/>
      <p:bldP spid="122892" grpId="0" animBg="1" autoUpdateAnimBg="0"/>
      <p:bldP spid="122893" grpId="0" animBg="1" autoUpdateAnimBg="0"/>
      <p:bldP spid="122894" grpId="0" animBg="1" autoUpdateAnimBg="0"/>
      <p:bldP spid="122895" grpId="0" animBg="1" autoUpdateAnimBg="0"/>
      <p:bldP spid="122896" grpId="0" animBg="1" autoUpdateAnimBg="0"/>
      <p:bldP spid="122897" grpId="0" animBg="1" autoUpdateAnimBg="0"/>
      <p:bldP spid="122898" grpId="0" animBg="1"/>
      <p:bldP spid="122899" grpId="0" autoUpdateAnimBg="0"/>
      <p:bldP spid="122900" grpId="0" animBg="1"/>
      <p:bldP spid="122901" grpId="0" autoUpdateAnimBg="0"/>
      <p:bldP spid="122902" grpId="0" animBg="1" autoUpdateAnimBg="0"/>
      <p:bldP spid="122903" grpId="0" animBg="1"/>
      <p:bldP spid="122904" grpId="0" animBg="1" autoUpdateAnimBg="0"/>
      <p:bldP spid="122905" grpId="0" animBg="1" autoUpdateAnimBg="0"/>
      <p:bldP spid="122906" grpId="0" animBg="1"/>
      <p:bldP spid="122907" grpId="0" autoUpdateAnimBg="0"/>
      <p:bldP spid="122908" grpId="0" animBg="1"/>
      <p:bldP spid="122910" grpId="0" autoUpdateAnimBg="0"/>
      <p:bldP spid="1229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1026"/>
          <p:cNvSpPr txBox="1">
            <a:spLocks noChangeArrowheads="1"/>
          </p:cNvSpPr>
          <p:nvPr/>
        </p:nvSpPr>
        <p:spPr bwMode="auto">
          <a:xfrm>
            <a:off x="358775" y="152400"/>
            <a:ext cx="2254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latin typeface="宋体" charset="-122"/>
              </a:rPr>
              <a:t>时间分析</a:t>
            </a:r>
            <a:r>
              <a:rPr lang="en-US" altLang="zh-CN" sz="3600" b="1">
                <a:solidFill>
                  <a:srgbClr val="990000"/>
                </a:solidFill>
                <a:latin typeface="宋体" charset="-122"/>
              </a:rPr>
              <a:t>:</a:t>
            </a:r>
            <a:endParaRPr lang="en-US" altLang="zh-CN" sz="4000">
              <a:ea typeface="楷体_GB2312" charset="0"/>
            </a:endParaRPr>
          </a:p>
        </p:txBody>
      </p:sp>
      <p:sp>
        <p:nvSpPr>
          <p:cNvPr id="83971" name="Text Box 1027"/>
          <p:cNvSpPr txBox="1">
            <a:spLocks noChangeArrowheads="1"/>
          </p:cNvSpPr>
          <p:nvPr/>
        </p:nvSpPr>
        <p:spPr bwMode="auto">
          <a:xfrm>
            <a:off x="342900" y="823913"/>
            <a:ext cx="878522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3200" b="1">
                <a:solidFill>
                  <a:srgbClr val="000099"/>
                </a:solidFill>
                <a:ea typeface="楷体_GB2312" charset="0"/>
              </a:rPr>
              <a:t>最好的情况（关键字在记录序列中顺序有序）：</a:t>
            </a:r>
          </a:p>
          <a:p>
            <a:pPr algn="l">
              <a:lnSpc>
                <a:spcPct val="120000"/>
              </a:lnSpc>
            </a:pPr>
            <a:r>
              <a:rPr lang="zh-CN" altLang="en-US" sz="3200" b="1">
                <a:solidFill>
                  <a:srgbClr val="000099"/>
                </a:solidFill>
                <a:ea typeface="楷体_GB2312" charset="0"/>
              </a:rPr>
              <a:t>    只需进行一趟起泡</a:t>
            </a:r>
            <a:endParaRPr lang="zh-CN" altLang="en-US" sz="3200" b="1">
              <a:solidFill>
                <a:srgbClr val="000080"/>
              </a:solidFill>
              <a:ea typeface="楷体_GB2312" charset="0"/>
            </a:endParaRPr>
          </a:p>
        </p:txBody>
      </p:sp>
      <p:sp>
        <p:nvSpPr>
          <p:cNvPr id="83972" name="Text Box 1028"/>
          <p:cNvSpPr txBox="1">
            <a:spLocks noChangeArrowheads="1"/>
          </p:cNvSpPr>
          <p:nvPr/>
        </p:nvSpPr>
        <p:spPr bwMode="auto">
          <a:xfrm>
            <a:off x="609600" y="2165350"/>
            <a:ext cx="340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5042"/>
                </a:solidFill>
                <a:ea typeface="隶书" charset="0"/>
              </a:rPr>
              <a:t>“</a:t>
            </a:r>
            <a:r>
              <a:rPr lang="zh-CN" altLang="en-US" sz="3600" b="1">
                <a:solidFill>
                  <a:srgbClr val="005042"/>
                </a:solidFill>
                <a:ea typeface="隶书" charset="0"/>
              </a:rPr>
              <a:t>比较”的次数：</a:t>
            </a:r>
            <a:endParaRPr lang="zh-CN" altLang="en-US" sz="4000"/>
          </a:p>
        </p:txBody>
      </p:sp>
      <p:sp>
        <p:nvSpPr>
          <p:cNvPr id="83973" name="Text Box 1029"/>
          <p:cNvSpPr txBox="1">
            <a:spLocks noChangeArrowheads="1"/>
          </p:cNvSpPr>
          <p:nvPr/>
        </p:nvSpPr>
        <p:spPr bwMode="auto">
          <a:xfrm>
            <a:off x="358775" y="3346450"/>
            <a:ext cx="878522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3200" b="1">
                <a:solidFill>
                  <a:srgbClr val="333399"/>
                </a:solidFill>
                <a:ea typeface="楷体_GB2312" charset="0"/>
              </a:rPr>
              <a:t>最坏的情况（关键字在记录序列中逆序有序）：</a:t>
            </a:r>
          </a:p>
          <a:p>
            <a:pPr algn="l">
              <a:lnSpc>
                <a:spcPct val="120000"/>
              </a:lnSpc>
            </a:pPr>
            <a:r>
              <a:rPr lang="zh-CN" altLang="en-US" sz="3200" b="1">
                <a:solidFill>
                  <a:srgbClr val="333399"/>
                </a:solidFill>
                <a:ea typeface="楷体_GB2312" charset="0"/>
              </a:rPr>
              <a:t>    需进行</a:t>
            </a:r>
            <a:r>
              <a:rPr lang="en-US" altLang="zh-CN" sz="3200" b="1">
                <a:solidFill>
                  <a:srgbClr val="333399"/>
                </a:solidFill>
                <a:ea typeface="楷体_GB2312" charset="0"/>
              </a:rPr>
              <a:t>n-1</a:t>
            </a:r>
            <a:r>
              <a:rPr lang="zh-CN" altLang="en-US" sz="3200" b="1">
                <a:solidFill>
                  <a:srgbClr val="333399"/>
                </a:solidFill>
                <a:ea typeface="楷体_GB2312" charset="0"/>
              </a:rPr>
              <a:t>趟起泡</a:t>
            </a:r>
          </a:p>
        </p:txBody>
      </p:sp>
      <p:sp>
        <p:nvSpPr>
          <p:cNvPr id="83974" name="Text Box 1030"/>
          <p:cNvSpPr txBox="1">
            <a:spLocks noChangeArrowheads="1"/>
          </p:cNvSpPr>
          <p:nvPr/>
        </p:nvSpPr>
        <p:spPr bwMode="auto">
          <a:xfrm>
            <a:off x="609600" y="4619625"/>
            <a:ext cx="340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5042"/>
                </a:solidFill>
                <a:ea typeface="隶书" charset="0"/>
              </a:rPr>
              <a:t>“</a:t>
            </a:r>
            <a:r>
              <a:rPr lang="zh-CN" altLang="en-US" sz="3600" b="1">
                <a:solidFill>
                  <a:srgbClr val="005042"/>
                </a:solidFill>
                <a:ea typeface="隶书" charset="0"/>
              </a:rPr>
              <a:t>比较”的次数：</a:t>
            </a:r>
            <a:endParaRPr lang="zh-CN" altLang="en-US" sz="4000">
              <a:ea typeface="楷体_GB2312" charset="0"/>
            </a:endParaRPr>
          </a:p>
        </p:txBody>
      </p:sp>
      <p:sp>
        <p:nvSpPr>
          <p:cNvPr id="83976" name="Text Box 1032"/>
          <p:cNvSpPr txBox="1">
            <a:spLocks noChangeArrowheads="1"/>
          </p:cNvSpPr>
          <p:nvPr/>
        </p:nvSpPr>
        <p:spPr bwMode="auto">
          <a:xfrm>
            <a:off x="6019800" y="2743200"/>
            <a:ext cx="4635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400" b="1">
                <a:solidFill>
                  <a:srgbClr val="FF0000"/>
                </a:solidFill>
              </a:rPr>
              <a:t>0</a:t>
            </a:r>
            <a:endParaRPr lang="en-US" altLang="zh-CN"/>
          </a:p>
        </p:txBody>
      </p:sp>
      <p:sp>
        <p:nvSpPr>
          <p:cNvPr id="83979" name="Rectangle 1035"/>
          <p:cNvSpPr>
            <a:spLocks noChangeArrowheads="1"/>
          </p:cNvSpPr>
          <p:nvPr/>
        </p:nvSpPr>
        <p:spPr bwMode="auto">
          <a:xfrm>
            <a:off x="4876800" y="2181225"/>
            <a:ext cx="340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5042"/>
                </a:solidFill>
                <a:ea typeface="隶书" charset="0"/>
              </a:rPr>
              <a:t>“</a:t>
            </a:r>
            <a:r>
              <a:rPr lang="zh-CN" altLang="en-US" sz="3600" b="1">
                <a:solidFill>
                  <a:srgbClr val="005042"/>
                </a:solidFill>
                <a:ea typeface="隶书" charset="0"/>
              </a:rPr>
              <a:t>移动”的次数：</a:t>
            </a:r>
            <a:endParaRPr lang="zh-CN" altLang="en-US" sz="4000">
              <a:ea typeface="楷体_GB2312" charset="0"/>
            </a:endParaRPr>
          </a:p>
        </p:txBody>
      </p:sp>
      <p:sp>
        <p:nvSpPr>
          <p:cNvPr id="83980" name="Rectangle 1036"/>
          <p:cNvSpPr>
            <a:spLocks noChangeArrowheads="1"/>
          </p:cNvSpPr>
          <p:nvPr/>
        </p:nvSpPr>
        <p:spPr bwMode="auto">
          <a:xfrm>
            <a:off x="4876800" y="4619625"/>
            <a:ext cx="3403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5042"/>
                </a:solidFill>
                <a:ea typeface="隶书" charset="0"/>
              </a:rPr>
              <a:t>“</a:t>
            </a:r>
            <a:r>
              <a:rPr lang="zh-CN" altLang="en-US" sz="3600" b="1">
                <a:solidFill>
                  <a:srgbClr val="005042"/>
                </a:solidFill>
                <a:ea typeface="隶书" charset="0"/>
              </a:rPr>
              <a:t>移动”的次数：</a:t>
            </a:r>
            <a:endParaRPr lang="zh-CN" altLang="en-US" sz="4000">
              <a:ea typeface="楷体_GB2312" charset="0"/>
            </a:endParaRPr>
          </a:p>
        </p:txBody>
      </p:sp>
      <p:sp>
        <p:nvSpPr>
          <p:cNvPr id="83981" name="Text Box 1037"/>
          <p:cNvSpPr txBox="1">
            <a:spLocks noChangeArrowheads="1"/>
          </p:cNvSpPr>
          <p:nvPr/>
        </p:nvSpPr>
        <p:spPr bwMode="auto">
          <a:xfrm>
            <a:off x="1676400" y="2727325"/>
            <a:ext cx="8905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FF0000"/>
                </a:solidFill>
              </a:rPr>
              <a:t>n-1</a:t>
            </a:r>
          </a:p>
        </p:txBody>
      </p:sp>
      <p:graphicFrame>
        <p:nvGraphicFramePr>
          <p:cNvPr id="83982" name="Object 1038"/>
          <p:cNvGraphicFramePr>
            <a:graphicFrameLocks noChangeAspect="1"/>
          </p:cNvGraphicFramePr>
          <p:nvPr/>
        </p:nvGraphicFramePr>
        <p:xfrm>
          <a:off x="914400" y="5257800"/>
          <a:ext cx="3048000" cy="1087438"/>
        </p:xfrm>
        <a:graphic>
          <a:graphicData uri="http://schemas.openxmlformats.org/presentationml/2006/ole">
            <mc:AlternateContent xmlns:mc="http://schemas.openxmlformats.org/markup-compatibility/2006">
              <mc:Choice xmlns:v="urn:schemas-microsoft-com:vml" Requires="v">
                <p:oleObj spid="_x0000_s1690629" name="公式" r:id="rId4" imgW="1206360" imgH="431640" progId="Equation.3">
                  <p:embed/>
                </p:oleObj>
              </mc:Choice>
              <mc:Fallback>
                <p:oleObj name="公式" r:id="rId4" imgW="120636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257800"/>
                        <a:ext cx="3048000" cy="108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3983" name="Object 1039"/>
          <p:cNvGraphicFramePr>
            <a:graphicFrameLocks noChangeAspect="1"/>
          </p:cNvGraphicFramePr>
          <p:nvPr/>
        </p:nvGraphicFramePr>
        <p:xfrm>
          <a:off x="5029200" y="5257800"/>
          <a:ext cx="3429000" cy="1096963"/>
        </p:xfrm>
        <a:graphic>
          <a:graphicData uri="http://schemas.openxmlformats.org/presentationml/2006/ole">
            <mc:AlternateContent xmlns:mc="http://schemas.openxmlformats.org/markup-compatibility/2006">
              <mc:Choice xmlns:v="urn:schemas-microsoft-com:vml" Requires="v">
                <p:oleObj spid="_x0000_s1690630" name="公式" r:id="rId6" imgW="1346040" imgH="431640" progId="Equation.3">
                  <p:embed/>
                </p:oleObj>
              </mc:Choice>
              <mc:Fallback>
                <p:oleObj name="公式" r:id="rId6" imgW="134604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5257800"/>
                        <a:ext cx="34290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3986" name="AutoShape 1042">
            <a:hlinkClick r:id="rId8"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9690582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additive="base">
                                        <p:cTn id="7" dur="500" fill="hold"/>
                                        <p:tgtEl>
                                          <p:spTgt spid="83970"/>
                                        </p:tgtEl>
                                        <p:attrNameLst>
                                          <p:attrName>ppt_x</p:attrName>
                                        </p:attrNameLst>
                                      </p:cBhvr>
                                      <p:tavLst>
                                        <p:tav tm="0">
                                          <p:val>
                                            <p:strVal val="0-#ppt_w/2"/>
                                          </p:val>
                                        </p:tav>
                                        <p:tav tm="100000">
                                          <p:val>
                                            <p:strVal val="#ppt_x"/>
                                          </p:val>
                                        </p:tav>
                                      </p:tavLst>
                                    </p:anim>
                                    <p:anim calcmode="lin" valueType="num">
                                      <p:cBhvr additive="base">
                                        <p:cTn id="8" dur="500" fill="hold"/>
                                        <p:tgtEl>
                                          <p:spTgt spid="8397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83971"/>
                                        </p:tgtEl>
                                        <p:attrNameLst>
                                          <p:attrName>style.visibility</p:attrName>
                                        </p:attrNameLst>
                                      </p:cBhvr>
                                      <p:to>
                                        <p:strVal val="visible"/>
                                      </p:to>
                                    </p:set>
                                    <p:animEffect transition="in" filter="strips(downRight)">
                                      <p:cBhvr>
                                        <p:cTn id="13" dur="500"/>
                                        <p:tgtEl>
                                          <p:spTgt spid="8397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3972"/>
                                        </p:tgtEl>
                                        <p:attrNameLst>
                                          <p:attrName>style.visibility</p:attrName>
                                        </p:attrNameLst>
                                      </p:cBhvr>
                                      <p:to>
                                        <p:strVal val="visible"/>
                                      </p:to>
                                    </p:set>
                                    <p:animEffect transition="in" filter="wipe(left)">
                                      <p:cBhvr>
                                        <p:cTn id="18" dur="500"/>
                                        <p:tgtEl>
                                          <p:spTgt spid="8397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3981"/>
                                        </p:tgtEl>
                                        <p:attrNameLst>
                                          <p:attrName>style.visibility</p:attrName>
                                        </p:attrNameLst>
                                      </p:cBhvr>
                                      <p:to>
                                        <p:strVal val="visible"/>
                                      </p:to>
                                    </p:set>
                                    <p:animEffect transition="in" filter="wipe(left)">
                                      <p:cBhvr>
                                        <p:cTn id="23" dur="500"/>
                                        <p:tgtEl>
                                          <p:spTgt spid="839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3979"/>
                                        </p:tgtEl>
                                        <p:attrNameLst>
                                          <p:attrName>style.visibility</p:attrName>
                                        </p:attrNameLst>
                                      </p:cBhvr>
                                      <p:to>
                                        <p:strVal val="visible"/>
                                      </p:to>
                                    </p:set>
                                    <p:animEffect transition="in" filter="wipe(left)">
                                      <p:cBhvr>
                                        <p:cTn id="28" dur="500"/>
                                        <p:tgtEl>
                                          <p:spTgt spid="839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3976"/>
                                        </p:tgtEl>
                                        <p:attrNameLst>
                                          <p:attrName>style.visibility</p:attrName>
                                        </p:attrNameLst>
                                      </p:cBhvr>
                                      <p:to>
                                        <p:strVal val="visible"/>
                                      </p:to>
                                    </p:set>
                                    <p:animEffect transition="in" filter="wipe(left)">
                                      <p:cBhvr>
                                        <p:cTn id="33" dur="500"/>
                                        <p:tgtEl>
                                          <p:spTgt spid="8397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3973"/>
                                        </p:tgtEl>
                                        <p:attrNameLst>
                                          <p:attrName>style.visibility</p:attrName>
                                        </p:attrNameLst>
                                      </p:cBhvr>
                                      <p:to>
                                        <p:strVal val="visible"/>
                                      </p:to>
                                    </p:set>
                                    <p:animEffect transition="in" filter="wipe(left)">
                                      <p:cBhvr>
                                        <p:cTn id="38" dur="500"/>
                                        <p:tgtEl>
                                          <p:spTgt spid="8397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3974"/>
                                        </p:tgtEl>
                                        <p:attrNameLst>
                                          <p:attrName>style.visibility</p:attrName>
                                        </p:attrNameLst>
                                      </p:cBhvr>
                                      <p:to>
                                        <p:strVal val="visible"/>
                                      </p:to>
                                    </p:set>
                                    <p:animEffect transition="in" filter="wipe(left)">
                                      <p:cBhvr>
                                        <p:cTn id="43" dur="500"/>
                                        <p:tgtEl>
                                          <p:spTgt spid="8397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83982"/>
                                        </p:tgtEl>
                                        <p:attrNameLst>
                                          <p:attrName>style.visibility</p:attrName>
                                        </p:attrNameLst>
                                      </p:cBhvr>
                                      <p:to>
                                        <p:strVal val="visible"/>
                                      </p:to>
                                    </p:set>
                                    <p:animEffect transition="in" filter="wipe(left)">
                                      <p:cBhvr>
                                        <p:cTn id="48" dur="500"/>
                                        <p:tgtEl>
                                          <p:spTgt spid="8398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3980"/>
                                        </p:tgtEl>
                                        <p:attrNameLst>
                                          <p:attrName>style.visibility</p:attrName>
                                        </p:attrNameLst>
                                      </p:cBhvr>
                                      <p:to>
                                        <p:strVal val="visible"/>
                                      </p:to>
                                    </p:set>
                                    <p:animEffect transition="in" filter="wipe(left)">
                                      <p:cBhvr>
                                        <p:cTn id="53" dur="500"/>
                                        <p:tgtEl>
                                          <p:spTgt spid="8398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83983"/>
                                        </p:tgtEl>
                                        <p:attrNameLst>
                                          <p:attrName>style.visibility</p:attrName>
                                        </p:attrNameLst>
                                      </p:cBhvr>
                                      <p:to>
                                        <p:strVal val="visible"/>
                                      </p:to>
                                    </p:set>
                                    <p:animEffect transition="in" filter="wipe(left)">
                                      <p:cBhvr>
                                        <p:cTn id="58" dur="500"/>
                                        <p:tgtEl>
                                          <p:spTgt spid="83983"/>
                                        </p:tgtEl>
                                      </p:cBhvr>
                                    </p:animEffect>
                                  </p:childTnLst>
                                </p:cTn>
                              </p:par>
                            </p:childTnLst>
                          </p:cTn>
                        </p:par>
                        <p:par>
                          <p:cTn id="59" fill="hold" nodeType="afterGroup">
                            <p:stCondLst>
                              <p:cond delay="500"/>
                            </p:stCondLst>
                            <p:childTnLst>
                              <p:par>
                                <p:cTn id="60" presetID="2" presetClass="entr" presetSubtype="6" fill="hold" grpId="0" nodeType="afterEffect">
                                  <p:stCondLst>
                                    <p:cond delay="0"/>
                                  </p:stCondLst>
                                  <p:childTnLst>
                                    <p:set>
                                      <p:cBhvr>
                                        <p:cTn id="61" dur="1" fill="hold">
                                          <p:stCondLst>
                                            <p:cond delay="0"/>
                                          </p:stCondLst>
                                        </p:cTn>
                                        <p:tgtEl>
                                          <p:spTgt spid="83986"/>
                                        </p:tgtEl>
                                        <p:attrNameLst>
                                          <p:attrName>style.visibility</p:attrName>
                                        </p:attrNameLst>
                                      </p:cBhvr>
                                      <p:to>
                                        <p:strVal val="visible"/>
                                      </p:to>
                                    </p:set>
                                    <p:anim calcmode="lin" valueType="num">
                                      <p:cBhvr additive="base">
                                        <p:cTn id="62" dur="500" fill="hold"/>
                                        <p:tgtEl>
                                          <p:spTgt spid="83986"/>
                                        </p:tgtEl>
                                        <p:attrNameLst>
                                          <p:attrName>ppt_x</p:attrName>
                                        </p:attrNameLst>
                                      </p:cBhvr>
                                      <p:tavLst>
                                        <p:tav tm="0">
                                          <p:val>
                                            <p:strVal val="1+#ppt_w/2"/>
                                          </p:val>
                                        </p:tav>
                                        <p:tav tm="100000">
                                          <p:val>
                                            <p:strVal val="#ppt_x"/>
                                          </p:val>
                                        </p:tav>
                                      </p:tavLst>
                                    </p:anim>
                                    <p:anim calcmode="lin" valueType="num">
                                      <p:cBhvr additive="base">
                                        <p:cTn id="63" dur="500" fill="hold"/>
                                        <p:tgtEl>
                                          <p:spTgt spid="839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1" grpId="0" autoUpdateAnimBg="0"/>
      <p:bldP spid="83972" grpId="0" autoUpdateAnimBg="0"/>
      <p:bldP spid="83973" grpId="0" autoUpdateAnimBg="0"/>
      <p:bldP spid="83974" grpId="0" autoUpdateAnimBg="0"/>
      <p:bldP spid="83976" grpId="0" autoUpdateAnimBg="0"/>
      <p:bldP spid="83979" grpId="0" autoUpdateAnimBg="0"/>
      <p:bldP spid="83980" grpId="0" autoUpdateAnimBg="0"/>
      <p:bldP spid="83981" grpId="0" autoUpdateAnimBg="0"/>
      <p:bldP spid="8398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819150" y="136525"/>
            <a:ext cx="73628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二、一趟快速排序（一次划分）</a:t>
            </a:r>
          </a:p>
        </p:txBody>
      </p:sp>
      <p:sp>
        <p:nvSpPr>
          <p:cNvPr id="29699" name="Text Box 3"/>
          <p:cNvSpPr txBox="1">
            <a:spLocks noChangeArrowheads="1"/>
          </p:cNvSpPr>
          <p:nvPr/>
        </p:nvSpPr>
        <p:spPr bwMode="auto">
          <a:xfrm>
            <a:off x="381000" y="990600"/>
            <a:ext cx="85217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b="1">
                <a:solidFill>
                  <a:srgbClr val="008080"/>
                </a:solidFill>
                <a:ea typeface="楷体_GB2312" charset="0"/>
              </a:rPr>
              <a:t>　</a:t>
            </a:r>
            <a:r>
              <a:rPr lang="zh-CN" altLang="en-US" sz="3600" b="1">
                <a:solidFill>
                  <a:srgbClr val="0000FF"/>
                </a:solidFill>
                <a:ea typeface="楷体_GB2312" charset="0"/>
              </a:rPr>
              <a:t>目标：</a:t>
            </a:r>
            <a:r>
              <a:rPr lang="zh-CN" altLang="en-US" sz="3600">
                <a:ea typeface="楷体_GB2312" charset="0"/>
              </a:rPr>
              <a:t>找一个记录，</a:t>
            </a:r>
            <a:r>
              <a:rPr lang="zh-CN" altLang="en-US" sz="3600">
                <a:solidFill>
                  <a:srgbClr val="008000"/>
                </a:solidFill>
                <a:ea typeface="楷体_GB2312" charset="0"/>
              </a:rPr>
              <a:t>以它的关键字作为</a:t>
            </a:r>
            <a:r>
              <a:rPr lang="zh-CN" altLang="en-US" sz="3600" b="1">
                <a:solidFill>
                  <a:srgbClr val="FF0000"/>
                </a:solidFill>
                <a:ea typeface="楷体_GB2312" charset="0"/>
              </a:rPr>
              <a:t>“枢轴”</a:t>
            </a:r>
            <a:r>
              <a:rPr lang="zh-CN" altLang="en-US" sz="3600">
                <a:ea typeface="楷体_GB2312" charset="0"/>
              </a:rPr>
              <a:t>，</a:t>
            </a:r>
            <a:r>
              <a:rPr lang="zh-CN" altLang="en-US" sz="3600">
                <a:solidFill>
                  <a:srgbClr val="008000"/>
                </a:solidFill>
                <a:ea typeface="楷体_GB2312" charset="0"/>
              </a:rPr>
              <a:t>凡其</a:t>
            </a:r>
            <a:r>
              <a:rPr lang="zh-CN" altLang="en-US" sz="3600" b="1">
                <a:solidFill>
                  <a:srgbClr val="0000FF"/>
                </a:solidFill>
                <a:ea typeface="楷体_GB2312" charset="0"/>
              </a:rPr>
              <a:t>关键字小于枢轴</a:t>
            </a:r>
            <a:r>
              <a:rPr lang="zh-CN" altLang="en-US" sz="3600">
                <a:solidFill>
                  <a:srgbClr val="008000"/>
                </a:solidFill>
                <a:ea typeface="楷体_GB2312" charset="0"/>
              </a:rPr>
              <a:t>的记录均</a:t>
            </a:r>
            <a:r>
              <a:rPr lang="zh-CN" altLang="en-US" sz="3600" b="1">
                <a:solidFill>
                  <a:srgbClr val="0000FF"/>
                </a:solidFill>
                <a:ea typeface="楷体_GB2312" charset="0"/>
              </a:rPr>
              <a:t>移动至该记录之前</a:t>
            </a:r>
            <a:r>
              <a:rPr lang="zh-CN" altLang="en-US" sz="3600">
                <a:solidFill>
                  <a:srgbClr val="0000FF"/>
                </a:solidFill>
                <a:ea typeface="楷体_GB2312" charset="0"/>
              </a:rPr>
              <a:t>，</a:t>
            </a:r>
            <a:r>
              <a:rPr lang="zh-CN" altLang="en-US" sz="3600">
                <a:solidFill>
                  <a:srgbClr val="008000"/>
                </a:solidFill>
                <a:ea typeface="楷体_GB2312" charset="0"/>
              </a:rPr>
              <a:t>反之，凡</a:t>
            </a:r>
            <a:r>
              <a:rPr lang="zh-CN" altLang="en-US" sz="3600" b="1">
                <a:solidFill>
                  <a:srgbClr val="0000FF"/>
                </a:solidFill>
                <a:ea typeface="楷体_GB2312" charset="0"/>
              </a:rPr>
              <a:t>关键字大于枢轴</a:t>
            </a:r>
            <a:r>
              <a:rPr lang="zh-CN" altLang="en-US" sz="3600">
                <a:solidFill>
                  <a:srgbClr val="008000"/>
                </a:solidFill>
                <a:ea typeface="楷体_GB2312" charset="0"/>
              </a:rPr>
              <a:t>的记录均</a:t>
            </a:r>
            <a:r>
              <a:rPr lang="zh-CN" altLang="en-US" sz="3600" b="1">
                <a:solidFill>
                  <a:srgbClr val="0000FF"/>
                </a:solidFill>
                <a:ea typeface="楷体_GB2312" charset="0"/>
              </a:rPr>
              <a:t>移动至该记录之后</a:t>
            </a:r>
            <a:r>
              <a:rPr lang="zh-CN" altLang="en-US" sz="3600">
                <a:solidFill>
                  <a:srgbClr val="008000"/>
                </a:solidFill>
                <a:ea typeface="楷体_GB2312" charset="0"/>
              </a:rPr>
              <a:t>。</a:t>
            </a:r>
            <a:endParaRPr lang="zh-CN" altLang="en-US" sz="3600">
              <a:solidFill>
                <a:srgbClr val="A50021"/>
              </a:solidFill>
              <a:ea typeface="楷体_GB2312" charset="0"/>
            </a:endParaRPr>
          </a:p>
        </p:txBody>
      </p:sp>
      <p:sp>
        <p:nvSpPr>
          <p:cNvPr id="29700" name="Rectangle 4"/>
          <p:cNvSpPr>
            <a:spLocks noChangeArrowheads="1"/>
          </p:cNvSpPr>
          <p:nvPr/>
        </p:nvSpPr>
        <p:spPr bwMode="auto">
          <a:xfrm>
            <a:off x="457200" y="3863975"/>
            <a:ext cx="86868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solidFill>
                  <a:srgbClr val="008000"/>
                </a:solidFill>
                <a:ea typeface="楷体_GB2312" charset="0"/>
              </a:rPr>
              <a:t>致使</a:t>
            </a:r>
            <a:r>
              <a:rPr lang="zh-CN" altLang="en-US" sz="3600" b="1">
                <a:solidFill>
                  <a:srgbClr val="0000FF"/>
                </a:solidFill>
                <a:ea typeface="楷体_GB2312" charset="0"/>
              </a:rPr>
              <a:t>一趟排序</a:t>
            </a:r>
            <a:r>
              <a:rPr lang="zh-CN" altLang="en-US" sz="3600">
                <a:solidFill>
                  <a:srgbClr val="008000"/>
                </a:solidFill>
                <a:ea typeface="楷体_GB2312" charset="0"/>
              </a:rPr>
              <a:t>之后，记录的无序序列</a:t>
            </a:r>
            <a:r>
              <a:rPr lang="en-US" altLang="zh-CN" sz="3600">
                <a:solidFill>
                  <a:srgbClr val="008000"/>
                </a:solidFill>
                <a:ea typeface="楷体_GB2312" charset="0"/>
              </a:rPr>
              <a:t>R[s..t]</a:t>
            </a:r>
            <a:r>
              <a:rPr lang="zh-CN" altLang="en-US" sz="3600">
                <a:solidFill>
                  <a:srgbClr val="008000"/>
                </a:solidFill>
                <a:ea typeface="楷体_GB2312" charset="0"/>
              </a:rPr>
              <a:t>将</a:t>
            </a:r>
            <a:r>
              <a:rPr lang="zh-CN" altLang="en-US" sz="3600" b="1">
                <a:solidFill>
                  <a:srgbClr val="0000FF"/>
                </a:solidFill>
                <a:ea typeface="楷体_GB2312" charset="0"/>
              </a:rPr>
              <a:t>分割成两部分</a:t>
            </a:r>
            <a:r>
              <a:rPr lang="zh-CN" altLang="en-US" sz="3600">
                <a:solidFill>
                  <a:srgbClr val="008000"/>
                </a:solidFill>
                <a:ea typeface="楷体_GB2312" charset="0"/>
              </a:rPr>
              <a:t>：</a:t>
            </a:r>
            <a:r>
              <a:rPr lang="en-US" altLang="zh-CN" sz="3600">
                <a:solidFill>
                  <a:srgbClr val="A50021"/>
                </a:solidFill>
                <a:ea typeface="楷体_GB2312" charset="0"/>
              </a:rPr>
              <a:t>R[s..i-1]</a:t>
            </a:r>
            <a:r>
              <a:rPr lang="zh-CN" altLang="en-US" sz="3600">
                <a:solidFill>
                  <a:srgbClr val="A50021"/>
                </a:solidFill>
                <a:ea typeface="楷体_GB2312" charset="0"/>
              </a:rPr>
              <a:t>和</a:t>
            </a:r>
            <a:r>
              <a:rPr lang="en-US" altLang="zh-CN" sz="3600">
                <a:solidFill>
                  <a:srgbClr val="A50021"/>
                </a:solidFill>
                <a:ea typeface="楷体_GB2312" charset="0"/>
              </a:rPr>
              <a:t>R[i+1..t]</a:t>
            </a:r>
            <a:r>
              <a:rPr lang="zh-CN" altLang="en-US" sz="3600">
                <a:solidFill>
                  <a:srgbClr val="A50021"/>
                </a:solidFill>
                <a:ea typeface="楷体_GB2312" charset="0"/>
              </a:rPr>
              <a:t>，</a:t>
            </a:r>
            <a:r>
              <a:rPr lang="zh-CN" altLang="en-US" sz="3600">
                <a:solidFill>
                  <a:schemeClr val="accent2"/>
                </a:solidFill>
                <a:ea typeface="楷体_GB2312" charset="0"/>
              </a:rPr>
              <a:t>且</a:t>
            </a:r>
            <a:r>
              <a:rPr lang="zh-CN" altLang="en-US" sz="3600">
                <a:solidFill>
                  <a:srgbClr val="A50021"/>
                </a:solidFill>
                <a:ea typeface="楷体_GB2312" charset="0"/>
              </a:rPr>
              <a:t>  </a:t>
            </a:r>
          </a:p>
          <a:p>
            <a:pPr algn="l">
              <a:lnSpc>
                <a:spcPct val="125000"/>
              </a:lnSpc>
            </a:pPr>
            <a:r>
              <a:rPr lang="zh-CN" altLang="en-US" sz="3600">
                <a:solidFill>
                  <a:srgbClr val="A50021"/>
                </a:solidFill>
                <a:ea typeface="楷体_GB2312" charset="0"/>
              </a:rPr>
              <a:t>       </a:t>
            </a:r>
            <a:r>
              <a:rPr lang="en-US" altLang="zh-CN" sz="3600">
                <a:solidFill>
                  <a:srgbClr val="A50021"/>
                </a:solidFill>
                <a:ea typeface="楷体_GB2312" charset="0"/>
              </a:rPr>
              <a:t>R[j].key≤ R[i].key ≤ R[j].key</a:t>
            </a:r>
          </a:p>
          <a:p>
            <a:pPr algn="l">
              <a:lnSpc>
                <a:spcPct val="125000"/>
              </a:lnSpc>
            </a:pPr>
            <a:r>
              <a:rPr lang="en-US" altLang="zh-CN" sz="3600" b="1">
                <a:solidFill>
                  <a:srgbClr val="A50021"/>
                </a:solidFill>
                <a:ea typeface="楷体_GB2312" charset="0"/>
              </a:rPr>
              <a:t>      (</a:t>
            </a:r>
            <a:r>
              <a:rPr lang="en-US" altLang="zh-CN" sz="3600">
                <a:solidFill>
                  <a:srgbClr val="A50021"/>
                </a:solidFill>
                <a:ea typeface="楷体_GB2312" charset="0"/>
              </a:rPr>
              <a:t>s≤j≤i-1)  </a:t>
            </a:r>
            <a:r>
              <a:rPr lang="en-US" altLang="zh-CN" sz="3600">
                <a:solidFill>
                  <a:schemeClr val="accent2"/>
                </a:solidFill>
                <a:ea typeface="楷体_GB2312" charset="0"/>
              </a:rPr>
              <a:t>  </a:t>
            </a:r>
            <a:r>
              <a:rPr lang="zh-CN" altLang="en-US" sz="3600" b="1">
                <a:solidFill>
                  <a:schemeClr val="accent2"/>
                </a:solidFill>
                <a:ea typeface="楷体_GB2312" charset="0"/>
              </a:rPr>
              <a:t>枢轴 </a:t>
            </a:r>
            <a:r>
              <a:rPr lang="zh-CN" altLang="en-US" sz="3600">
                <a:solidFill>
                  <a:srgbClr val="A50021"/>
                </a:solidFill>
                <a:ea typeface="楷体_GB2312" charset="0"/>
              </a:rPr>
              <a:t>    </a:t>
            </a:r>
            <a:r>
              <a:rPr lang="en-US" altLang="zh-CN" sz="3600">
                <a:solidFill>
                  <a:srgbClr val="A50021"/>
                </a:solidFill>
                <a:ea typeface="楷体_GB2312" charset="0"/>
              </a:rPr>
              <a:t>(i+1≤j≤t)</a:t>
            </a:r>
            <a:r>
              <a:rPr lang="zh-CN" altLang="en-US" sz="3600">
                <a:solidFill>
                  <a:srgbClr val="A50021"/>
                </a:solidFill>
                <a:ea typeface="楷体_GB2312" charset="0"/>
              </a:rPr>
              <a:t>。</a:t>
            </a:r>
          </a:p>
        </p:txBody>
      </p:sp>
    </p:spTree>
    <p:extLst>
      <p:ext uri="{BB962C8B-B14F-4D97-AF65-F5344CB8AC3E}">
        <p14:creationId xmlns:p14="http://schemas.microsoft.com/office/powerpoint/2010/main" val="3869997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strips(downRight)">
                                      <p:cBhvr>
                                        <p:cTn id="7" dur="500"/>
                                        <p:tgtEl>
                                          <p:spTgt spid="29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29699"/>
                                        </p:tgtEl>
                                        <p:attrNameLst>
                                          <p:attrName>style.visibility</p:attrName>
                                        </p:attrNameLst>
                                      </p:cBhvr>
                                      <p:to>
                                        <p:strVal val="visible"/>
                                      </p:to>
                                    </p:set>
                                    <p:animEffect transition="in" filter="strips(downRight)">
                                      <p:cBhvr>
                                        <p:cTn id="12" dur="300"/>
                                        <p:tgtEl>
                                          <p:spTgt spid="296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29700"/>
                                        </p:tgtEl>
                                        <p:attrNameLst>
                                          <p:attrName>style.visibility</p:attrName>
                                        </p:attrNameLst>
                                      </p:cBhvr>
                                      <p:to>
                                        <p:strVal val="visible"/>
                                      </p:to>
                                    </p:set>
                                    <p:animEffect transition="in" filter="strips(downRight)">
                                      <p:cBhvr>
                                        <p:cTn id="17" dur="3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utoUpdateAnimBg="0"/>
      <p:bldP spid="29699" grpId="0" autoUpdateAnimBg="0"/>
      <p:bldP spid="29700"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7" name="Object 3"/>
          <p:cNvGraphicFramePr>
            <a:graphicFrameLocks noChangeAspect="1"/>
          </p:cNvGraphicFramePr>
          <p:nvPr/>
        </p:nvGraphicFramePr>
        <p:xfrm>
          <a:off x="1066800" y="1066800"/>
          <a:ext cx="7848600" cy="838200"/>
        </p:xfrm>
        <a:graphic>
          <a:graphicData uri="http://schemas.openxmlformats.org/presentationml/2006/ole">
            <mc:AlternateContent xmlns:mc="http://schemas.openxmlformats.org/markup-compatibility/2006">
              <mc:Choice xmlns:v="urn:schemas-microsoft-com:vml" Requires="v">
                <p:oleObj spid="_x0000_s1693699" name="文档" r:id="rId3" imgW="5630040" imgH="574560" progId="Word.Document.8">
                  <p:embed/>
                </p:oleObj>
              </mc:Choice>
              <mc:Fallback>
                <p:oleObj name="文档" r:id="rId3" imgW="5630040" imgH="574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066800"/>
                        <a:ext cx="7848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23908" name="Line 4"/>
          <p:cNvSpPr>
            <a:spLocks noChangeShapeType="1"/>
          </p:cNvSpPr>
          <p:nvPr/>
        </p:nvSpPr>
        <p:spPr bwMode="auto">
          <a:xfrm>
            <a:off x="1447800" y="457200"/>
            <a:ext cx="0" cy="609600"/>
          </a:xfrm>
          <a:prstGeom prst="line">
            <a:avLst/>
          </a:prstGeom>
          <a:noFill/>
          <a:ln w="9525">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09" name="Line 5"/>
          <p:cNvSpPr>
            <a:spLocks noChangeShapeType="1"/>
          </p:cNvSpPr>
          <p:nvPr/>
        </p:nvSpPr>
        <p:spPr bwMode="auto">
          <a:xfrm>
            <a:off x="8153400" y="457200"/>
            <a:ext cx="0" cy="609600"/>
          </a:xfrm>
          <a:prstGeom prst="line">
            <a:avLst/>
          </a:prstGeom>
          <a:noFill/>
          <a:ln w="9525">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10" name="Text Box 6"/>
          <p:cNvSpPr txBox="1">
            <a:spLocks noChangeArrowheads="1"/>
          </p:cNvSpPr>
          <p:nvPr/>
        </p:nvSpPr>
        <p:spPr bwMode="auto">
          <a:xfrm>
            <a:off x="1485900" y="247650"/>
            <a:ext cx="342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003366"/>
                </a:solidFill>
              </a:rPr>
              <a:t>s</a:t>
            </a:r>
            <a:endParaRPr lang="en-US" altLang="zh-CN" sz="3200"/>
          </a:p>
        </p:txBody>
      </p:sp>
      <p:sp>
        <p:nvSpPr>
          <p:cNvPr id="123911" name="Text Box 7"/>
          <p:cNvSpPr txBox="1">
            <a:spLocks noChangeArrowheads="1"/>
          </p:cNvSpPr>
          <p:nvPr/>
        </p:nvSpPr>
        <p:spPr bwMode="auto">
          <a:xfrm>
            <a:off x="8237538" y="304800"/>
            <a:ext cx="296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003366"/>
                </a:solidFill>
              </a:rPr>
              <a:t>t</a:t>
            </a:r>
            <a:endParaRPr lang="en-US" altLang="zh-CN" sz="3200"/>
          </a:p>
        </p:txBody>
      </p:sp>
      <p:sp>
        <p:nvSpPr>
          <p:cNvPr id="123912" name="Line 8"/>
          <p:cNvSpPr>
            <a:spLocks noChangeShapeType="1"/>
          </p:cNvSpPr>
          <p:nvPr/>
        </p:nvSpPr>
        <p:spPr bwMode="auto">
          <a:xfrm flipV="1">
            <a:off x="1524000" y="1752600"/>
            <a:ext cx="0" cy="6096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13" name="Text Box 9"/>
          <p:cNvSpPr txBox="1">
            <a:spLocks noChangeArrowheads="1"/>
          </p:cNvSpPr>
          <p:nvPr/>
        </p:nvSpPr>
        <p:spPr bwMode="auto">
          <a:xfrm>
            <a:off x="1012825" y="2278063"/>
            <a:ext cx="739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006600"/>
                </a:solidFill>
              </a:rPr>
              <a:t>low</a:t>
            </a:r>
            <a:endParaRPr lang="en-US" altLang="zh-CN" sz="2800"/>
          </a:p>
        </p:txBody>
      </p:sp>
      <p:sp>
        <p:nvSpPr>
          <p:cNvPr id="123914" name="Line 10"/>
          <p:cNvSpPr>
            <a:spLocks noChangeShapeType="1"/>
          </p:cNvSpPr>
          <p:nvPr/>
        </p:nvSpPr>
        <p:spPr bwMode="auto">
          <a:xfrm flipV="1">
            <a:off x="8305800"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15" name="Text Box 11"/>
          <p:cNvSpPr txBox="1">
            <a:spLocks noChangeArrowheads="1"/>
          </p:cNvSpPr>
          <p:nvPr/>
        </p:nvSpPr>
        <p:spPr bwMode="auto">
          <a:xfrm>
            <a:off x="7947025"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p:nvSpPr>
          <p:cNvPr id="123916" name="Text Box 12"/>
          <p:cNvSpPr txBox="1">
            <a:spLocks noChangeArrowheads="1"/>
          </p:cNvSpPr>
          <p:nvPr/>
        </p:nvSpPr>
        <p:spPr bwMode="auto">
          <a:xfrm>
            <a:off x="762000" y="3048000"/>
            <a:ext cx="3962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b="1">
                <a:solidFill>
                  <a:srgbClr val="FF0000"/>
                </a:solidFill>
              </a:rPr>
              <a:t>设 </a:t>
            </a:r>
            <a:r>
              <a:rPr lang="en-US" altLang="zh-CN" sz="3600" b="1">
                <a:solidFill>
                  <a:srgbClr val="FF0000"/>
                </a:solidFill>
              </a:rPr>
              <a:t>R[s]=52 </a:t>
            </a:r>
            <a:r>
              <a:rPr lang="zh-CN" altLang="en-US" sz="3600" b="1">
                <a:solidFill>
                  <a:srgbClr val="FF0000"/>
                </a:solidFill>
              </a:rPr>
              <a:t>为枢轴</a:t>
            </a:r>
            <a:endParaRPr lang="zh-CN" altLang="en-US" sz="3600"/>
          </a:p>
        </p:txBody>
      </p:sp>
      <p:sp>
        <p:nvSpPr>
          <p:cNvPr id="123917" name="Text Box 13"/>
          <p:cNvSpPr txBox="1">
            <a:spLocks noChangeArrowheads="1"/>
          </p:cNvSpPr>
          <p:nvPr/>
        </p:nvSpPr>
        <p:spPr bwMode="auto">
          <a:xfrm>
            <a:off x="304800" y="3848100"/>
            <a:ext cx="88392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en-US" altLang="zh-CN" sz="3600">
                <a:solidFill>
                  <a:srgbClr val="800000"/>
                </a:solidFill>
                <a:ea typeface="楷体_GB2312" charset="0"/>
              </a:rPr>
              <a:t>   </a:t>
            </a:r>
            <a:r>
              <a:rPr lang="zh-CN" altLang="en-US" sz="3600">
                <a:solidFill>
                  <a:srgbClr val="003366"/>
                </a:solidFill>
                <a:ea typeface="楷体_GB2312" charset="0"/>
              </a:rPr>
              <a:t>将 </a:t>
            </a:r>
            <a:r>
              <a:rPr lang="en-US" altLang="zh-CN" sz="3600">
                <a:solidFill>
                  <a:srgbClr val="003366"/>
                </a:solidFill>
                <a:ea typeface="楷体_GB2312" charset="0"/>
              </a:rPr>
              <a:t>R[</a:t>
            </a:r>
            <a:r>
              <a:rPr lang="en-US" altLang="zh-CN" sz="3600">
                <a:solidFill>
                  <a:srgbClr val="800000"/>
                </a:solidFill>
                <a:ea typeface="楷体_GB2312" charset="0"/>
              </a:rPr>
              <a:t>high</a:t>
            </a:r>
            <a:r>
              <a:rPr lang="en-US" altLang="zh-CN" sz="3600">
                <a:solidFill>
                  <a:srgbClr val="003366"/>
                </a:solidFill>
                <a:ea typeface="楷体_GB2312" charset="0"/>
              </a:rPr>
              <a:t>].key </a:t>
            </a:r>
            <a:r>
              <a:rPr lang="zh-CN" altLang="en-US" sz="3600">
                <a:solidFill>
                  <a:srgbClr val="003366"/>
                </a:solidFill>
                <a:ea typeface="楷体_GB2312" charset="0"/>
              </a:rPr>
              <a:t>和 枢轴的关键字进行比较，要求</a:t>
            </a:r>
            <a:r>
              <a:rPr lang="en-US" altLang="zh-CN" sz="3600">
                <a:solidFill>
                  <a:srgbClr val="003366"/>
                </a:solidFill>
                <a:ea typeface="楷体_GB2312" charset="0"/>
              </a:rPr>
              <a:t>R[</a:t>
            </a:r>
            <a:r>
              <a:rPr lang="en-US" altLang="zh-CN" sz="3600">
                <a:solidFill>
                  <a:srgbClr val="800000"/>
                </a:solidFill>
                <a:ea typeface="楷体_GB2312" charset="0"/>
              </a:rPr>
              <a:t>high</a:t>
            </a:r>
            <a:r>
              <a:rPr lang="en-US" altLang="zh-CN" sz="3600">
                <a:solidFill>
                  <a:srgbClr val="003366"/>
                </a:solidFill>
                <a:ea typeface="楷体_GB2312" charset="0"/>
              </a:rPr>
              <a:t>].key </a:t>
            </a:r>
            <a:r>
              <a:rPr lang="en-US" altLang="zh-CN" sz="3600" b="1">
                <a:solidFill>
                  <a:srgbClr val="FF0000"/>
                </a:solidFill>
              </a:rPr>
              <a:t>≥</a:t>
            </a:r>
            <a:r>
              <a:rPr lang="en-US" altLang="zh-CN" sz="3600" b="1">
                <a:solidFill>
                  <a:srgbClr val="003366"/>
                </a:solidFill>
              </a:rPr>
              <a:t> </a:t>
            </a:r>
            <a:r>
              <a:rPr lang="zh-CN" altLang="en-US" sz="3600">
                <a:solidFill>
                  <a:srgbClr val="003366"/>
                </a:solidFill>
                <a:ea typeface="楷体_GB2312" charset="0"/>
              </a:rPr>
              <a:t>枢轴的关键字</a:t>
            </a:r>
            <a:endParaRPr lang="zh-CN" altLang="en-US" sz="3600">
              <a:ea typeface="楷体_GB2312" charset="0"/>
            </a:endParaRPr>
          </a:p>
        </p:txBody>
      </p:sp>
      <p:sp>
        <p:nvSpPr>
          <p:cNvPr id="123918" name="Text Box 14"/>
          <p:cNvSpPr txBox="1">
            <a:spLocks noChangeArrowheads="1"/>
          </p:cNvSpPr>
          <p:nvPr/>
        </p:nvSpPr>
        <p:spPr bwMode="auto">
          <a:xfrm>
            <a:off x="304800" y="5334000"/>
            <a:ext cx="88392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en-US" altLang="zh-CN" sz="3600">
                <a:solidFill>
                  <a:srgbClr val="800000"/>
                </a:solidFill>
                <a:ea typeface="楷体_GB2312" charset="0"/>
              </a:rPr>
              <a:t>   </a:t>
            </a:r>
            <a:r>
              <a:rPr lang="zh-CN" altLang="en-US" sz="3600">
                <a:solidFill>
                  <a:srgbClr val="003366"/>
                </a:solidFill>
                <a:ea typeface="楷体_GB2312" charset="0"/>
              </a:rPr>
              <a:t>将 </a:t>
            </a:r>
            <a:r>
              <a:rPr lang="en-US" altLang="zh-CN" sz="3600">
                <a:solidFill>
                  <a:srgbClr val="003366"/>
                </a:solidFill>
                <a:ea typeface="楷体_GB2312" charset="0"/>
              </a:rPr>
              <a:t>R[</a:t>
            </a:r>
            <a:r>
              <a:rPr lang="en-US" altLang="zh-CN" sz="3600">
                <a:solidFill>
                  <a:srgbClr val="006600"/>
                </a:solidFill>
                <a:ea typeface="楷体_GB2312" charset="0"/>
              </a:rPr>
              <a:t>low</a:t>
            </a:r>
            <a:r>
              <a:rPr lang="en-US" altLang="zh-CN" sz="3600">
                <a:solidFill>
                  <a:srgbClr val="003366"/>
                </a:solidFill>
                <a:ea typeface="楷体_GB2312" charset="0"/>
              </a:rPr>
              <a:t>].key </a:t>
            </a:r>
            <a:r>
              <a:rPr lang="zh-CN" altLang="en-US" sz="3600">
                <a:solidFill>
                  <a:srgbClr val="003366"/>
                </a:solidFill>
                <a:ea typeface="楷体_GB2312" charset="0"/>
              </a:rPr>
              <a:t>和 枢轴的关键字进行比较，要求</a:t>
            </a:r>
            <a:r>
              <a:rPr lang="en-US" altLang="zh-CN" sz="3600">
                <a:solidFill>
                  <a:srgbClr val="003366"/>
                </a:solidFill>
                <a:ea typeface="楷体_GB2312" charset="0"/>
              </a:rPr>
              <a:t>R[</a:t>
            </a:r>
            <a:r>
              <a:rPr lang="en-US" altLang="zh-CN" sz="3600">
                <a:solidFill>
                  <a:srgbClr val="006600"/>
                </a:solidFill>
                <a:ea typeface="楷体_GB2312" charset="0"/>
              </a:rPr>
              <a:t>low</a:t>
            </a:r>
            <a:r>
              <a:rPr lang="en-US" altLang="zh-CN" sz="3600">
                <a:solidFill>
                  <a:srgbClr val="003366"/>
                </a:solidFill>
                <a:ea typeface="楷体_GB2312" charset="0"/>
              </a:rPr>
              <a:t>].key </a:t>
            </a:r>
            <a:r>
              <a:rPr lang="en-US" altLang="zh-CN" sz="3600" b="1">
                <a:solidFill>
                  <a:srgbClr val="FF0000"/>
                </a:solidFill>
              </a:rPr>
              <a:t>≤</a:t>
            </a:r>
            <a:r>
              <a:rPr lang="en-US" altLang="zh-CN" sz="3600" b="1">
                <a:solidFill>
                  <a:srgbClr val="003366"/>
                </a:solidFill>
              </a:rPr>
              <a:t> </a:t>
            </a:r>
            <a:r>
              <a:rPr lang="zh-CN" altLang="en-US" sz="3600">
                <a:solidFill>
                  <a:srgbClr val="003366"/>
                </a:solidFill>
                <a:ea typeface="楷体_GB2312" charset="0"/>
              </a:rPr>
              <a:t>枢轴的关键字</a:t>
            </a:r>
          </a:p>
        </p:txBody>
      </p:sp>
      <p:sp>
        <p:nvSpPr>
          <p:cNvPr id="123919" name="Line 15"/>
          <p:cNvSpPr>
            <a:spLocks noChangeShapeType="1"/>
          </p:cNvSpPr>
          <p:nvPr/>
        </p:nvSpPr>
        <p:spPr bwMode="auto">
          <a:xfrm flipV="1">
            <a:off x="7445375"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20" name="Text Box 16"/>
          <p:cNvSpPr txBox="1">
            <a:spLocks noChangeArrowheads="1"/>
          </p:cNvSpPr>
          <p:nvPr/>
        </p:nvSpPr>
        <p:spPr bwMode="auto">
          <a:xfrm>
            <a:off x="7086600"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useBgFill="1">
        <p:nvSpPr>
          <p:cNvPr id="123921" name="Rectangle 17"/>
          <p:cNvSpPr>
            <a:spLocks noChangeArrowheads="1"/>
          </p:cNvSpPr>
          <p:nvPr/>
        </p:nvSpPr>
        <p:spPr bwMode="auto">
          <a:xfrm>
            <a:off x="7924800" y="1752600"/>
            <a:ext cx="8382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22" name="Text Box 18"/>
          <p:cNvSpPr txBox="1">
            <a:spLocks noChangeArrowheads="1"/>
          </p:cNvSpPr>
          <p:nvPr/>
        </p:nvSpPr>
        <p:spPr bwMode="auto">
          <a:xfrm>
            <a:off x="1089025" y="1096963"/>
            <a:ext cx="663575" cy="579437"/>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200" b="1">
                <a:solidFill>
                  <a:srgbClr val="009999"/>
                </a:solidFill>
              </a:rPr>
              <a:t>23</a:t>
            </a:r>
            <a:endParaRPr lang="en-US" altLang="zh-CN" sz="3600"/>
          </a:p>
        </p:txBody>
      </p:sp>
      <p:sp>
        <p:nvSpPr>
          <p:cNvPr id="123923" name="Line 19"/>
          <p:cNvSpPr>
            <a:spLocks noChangeShapeType="1"/>
          </p:cNvSpPr>
          <p:nvPr/>
        </p:nvSpPr>
        <p:spPr bwMode="auto">
          <a:xfrm flipV="1">
            <a:off x="2971800" y="1752600"/>
            <a:ext cx="0" cy="6096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24" name="Text Box 20"/>
          <p:cNvSpPr txBox="1">
            <a:spLocks noChangeArrowheads="1"/>
          </p:cNvSpPr>
          <p:nvPr/>
        </p:nvSpPr>
        <p:spPr bwMode="auto">
          <a:xfrm>
            <a:off x="2460625" y="2278063"/>
            <a:ext cx="739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006600"/>
                </a:solidFill>
              </a:rPr>
              <a:t>low</a:t>
            </a:r>
            <a:endParaRPr lang="en-US" altLang="zh-CN" sz="2800"/>
          </a:p>
        </p:txBody>
      </p:sp>
      <p:sp useBgFill="1">
        <p:nvSpPr>
          <p:cNvPr id="123925" name="Rectangle 21"/>
          <p:cNvSpPr>
            <a:spLocks noChangeArrowheads="1"/>
          </p:cNvSpPr>
          <p:nvPr/>
        </p:nvSpPr>
        <p:spPr bwMode="auto">
          <a:xfrm>
            <a:off x="1066800" y="1752600"/>
            <a:ext cx="6096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26" name="Text Box 22"/>
          <p:cNvSpPr txBox="1">
            <a:spLocks noChangeArrowheads="1"/>
          </p:cNvSpPr>
          <p:nvPr/>
        </p:nvSpPr>
        <p:spPr bwMode="auto">
          <a:xfrm>
            <a:off x="7162800" y="1066800"/>
            <a:ext cx="663575" cy="57943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200" b="1">
                <a:solidFill>
                  <a:srgbClr val="009999"/>
                </a:solidFill>
              </a:rPr>
              <a:t>80</a:t>
            </a:r>
            <a:endParaRPr lang="en-US" altLang="zh-CN" sz="3600"/>
          </a:p>
        </p:txBody>
      </p:sp>
      <p:sp>
        <p:nvSpPr>
          <p:cNvPr id="123927" name="Line 23"/>
          <p:cNvSpPr>
            <a:spLocks noChangeShapeType="1"/>
          </p:cNvSpPr>
          <p:nvPr/>
        </p:nvSpPr>
        <p:spPr bwMode="auto">
          <a:xfrm flipV="1">
            <a:off x="4625975"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28" name="Text Box 24"/>
          <p:cNvSpPr txBox="1">
            <a:spLocks noChangeArrowheads="1"/>
          </p:cNvSpPr>
          <p:nvPr/>
        </p:nvSpPr>
        <p:spPr bwMode="auto">
          <a:xfrm>
            <a:off x="4518025"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useBgFill="1">
        <p:nvSpPr>
          <p:cNvPr id="123929" name="Rectangle 25"/>
          <p:cNvSpPr>
            <a:spLocks noChangeArrowheads="1"/>
          </p:cNvSpPr>
          <p:nvPr/>
        </p:nvSpPr>
        <p:spPr bwMode="auto">
          <a:xfrm>
            <a:off x="7086600" y="1752600"/>
            <a:ext cx="762000" cy="12192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30" name="Text Box 26"/>
          <p:cNvSpPr txBox="1">
            <a:spLocks noChangeArrowheads="1"/>
          </p:cNvSpPr>
          <p:nvPr/>
        </p:nvSpPr>
        <p:spPr bwMode="auto">
          <a:xfrm>
            <a:off x="2590800" y="1066800"/>
            <a:ext cx="663575" cy="579438"/>
          </a:xfrm>
          <a:prstGeom prst="rect">
            <a:avLst/>
          </a:prstGeom>
          <a:solidFill>
            <a:srgbClr val="CC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200" b="1">
                <a:solidFill>
                  <a:srgbClr val="009999"/>
                </a:solidFill>
              </a:rPr>
              <a:t>14</a:t>
            </a:r>
            <a:endParaRPr lang="en-US" altLang="zh-CN" sz="3600"/>
          </a:p>
        </p:txBody>
      </p:sp>
      <p:sp>
        <p:nvSpPr>
          <p:cNvPr id="123931" name="Line 27"/>
          <p:cNvSpPr>
            <a:spLocks noChangeShapeType="1"/>
          </p:cNvSpPr>
          <p:nvPr/>
        </p:nvSpPr>
        <p:spPr bwMode="auto">
          <a:xfrm flipV="1">
            <a:off x="4419600" y="1752600"/>
            <a:ext cx="0" cy="6096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32" name="Text Box 28"/>
          <p:cNvSpPr txBox="1">
            <a:spLocks noChangeArrowheads="1"/>
          </p:cNvSpPr>
          <p:nvPr/>
        </p:nvSpPr>
        <p:spPr bwMode="auto">
          <a:xfrm>
            <a:off x="3908425" y="2278063"/>
            <a:ext cx="739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006600"/>
                </a:solidFill>
              </a:rPr>
              <a:t>low</a:t>
            </a:r>
            <a:endParaRPr lang="en-US" altLang="zh-CN" sz="2800"/>
          </a:p>
        </p:txBody>
      </p:sp>
      <p:sp useBgFill="1">
        <p:nvSpPr>
          <p:cNvPr id="123933" name="Rectangle 29"/>
          <p:cNvSpPr>
            <a:spLocks noChangeArrowheads="1"/>
          </p:cNvSpPr>
          <p:nvPr/>
        </p:nvSpPr>
        <p:spPr bwMode="auto">
          <a:xfrm>
            <a:off x="2438400" y="1752600"/>
            <a:ext cx="685800" cy="914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34" name="Text Box 30"/>
          <p:cNvSpPr txBox="1">
            <a:spLocks noChangeArrowheads="1"/>
          </p:cNvSpPr>
          <p:nvPr/>
        </p:nvSpPr>
        <p:spPr bwMode="auto">
          <a:xfrm>
            <a:off x="4137025" y="1066800"/>
            <a:ext cx="663575" cy="57943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ltLang="zh-CN" sz="3200" b="1">
                <a:solidFill>
                  <a:srgbClr val="FF0000"/>
                </a:solidFill>
              </a:rPr>
              <a:t>52</a:t>
            </a:r>
            <a:endParaRPr lang="en-US" altLang="zh-CN" sz="3600"/>
          </a:p>
        </p:txBody>
      </p:sp>
      <p:sp>
        <p:nvSpPr>
          <p:cNvPr id="123935" name="Rectangle 31"/>
          <p:cNvSpPr>
            <a:spLocks noChangeArrowheads="1"/>
          </p:cNvSpPr>
          <p:nvPr/>
        </p:nvSpPr>
        <p:spPr bwMode="auto">
          <a:xfrm>
            <a:off x="0" y="120650"/>
            <a:ext cx="110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FF6600"/>
                </a:solidFill>
                <a:ea typeface="楷体_GB2312" charset="0"/>
              </a:rPr>
              <a:t>例如</a:t>
            </a:r>
          </a:p>
        </p:txBody>
      </p:sp>
      <p:sp>
        <p:nvSpPr>
          <p:cNvPr id="123936" name="Text Box 32"/>
          <p:cNvSpPr txBox="1">
            <a:spLocks noChangeArrowheads="1"/>
          </p:cNvSpPr>
          <p:nvPr/>
        </p:nvSpPr>
        <p:spPr bwMode="auto">
          <a:xfrm>
            <a:off x="3108325" y="182563"/>
            <a:ext cx="928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rgbClr val="005042"/>
                </a:solidFill>
              </a:rPr>
              <a:t>R[0]</a:t>
            </a:r>
            <a:endParaRPr lang="en-US" altLang="zh-CN" sz="3200"/>
          </a:p>
        </p:txBody>
      </p:sp>
      <p:sp>
        <p:nvSpPr>
          <p:cNvPr id="123937" name="Rectangle 33"/>
          <p:cNvSpPr>
            <a:spLocks noChangeArrowheads="1"/>
          </p:cNvSpPr>
          <p:nvPr/>
        </p:nvSpPr>
        <p:spPr bwMode="auto">
          <a:xfrm>
            <a:off x="4038600" y="228600"/>
            <a:ext cx="650875" cy="650875"/>
          </a:xfrm>
          <a:prstGeom prst="rect">
            <a:avLst/>
          </a:prstGeom>
          <a:solidFill>
            <a:srgbClr val="99CCFF">
              <a:alpha val="50000"/>
            </a:srgbClr>
          </a:solidFill>
          <a:ln w="9525">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FF0000"/>
                </a:solidFill>
              </a:rPr>
              <a:t>52</a:t>
            </a:r>
          </a:p>
        </p:txBody>
      </p:sp>
      <p:sp>
        <p:nvSpPr>
          <p:cNvPr id="123938" name="Line 34"/>
          <p:cNvSpPr>
            <a:spLocks noChangeShapeType="1"/>
          </p:cNvSpPr>
          <p:nvPr/>
        </p:nvSpPr>
        <p:spPr bwMode="auto">
          <a:xfrm flipV="1">
            <a:off x="2209800" y="1752600"/>
            <a:ext cx="0" cy="6096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39" name="Text Box 35"/>
          <p:cNvSpPr txBox="1">
            <a:spLocks noChangeArrowheads="1"/>
          </p:cNvSpPr>
          <p:nvPr/>
        </p:nvSpPr>
        <p:spPr bwMode="auto">
          <a:xfrm>
            <a:off x="1698625" y="2278063"/>
            <a:ext cx="739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006600"/>
                </a:solidFill>
              </a:rPr>
              <a:t>low</a:t>
            </a:r>
            <a:endParaRPr lang="en-US" altLang="zh-CN" sz="2800"/>
          </a:p>
        </p:txBody>
      </p:sp>
      <p:sp>
        <p:nvSpPr>
          <p:cNvPr id="123940" name="Line 36"/>
          <p:cNvSpPr>
            <a:spLocks noChangeShapeType="1"/>
          </p:cNvSpPr>
          <p:nvPr/>
        </p:nvSpPr>
        <p:spPr bwMode="auto">
          <a:xfrm flipV="1">
            <a:off x="6759575"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41" name="Text Box 37"/>
          <p:cNvSpPr txBox="1">
            <a:spLocks noChangeArrowheads="1"/>
          </p:cNvSpPr>
          <p:nvPr/>
        </p:nvSpPr>
        <p:spPr bwMode="auto">
          <a:xfrm>
            <a:off x="6651625"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p:nvSpPr>
          <p:cNvPr id="123942" name="Line 38"/>
          <p:cNvSpPr>
            <a:spLocks noChangeShapeType="1"/>
          </p:cNvSpPr>
          <p:nvPr/>
        </p:nvSpPr>
        <p:spPr bwMode="auto">
          <a:xfrm flipV="1">
            <a:off x="5997575"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43" name="Text Box 39"/>
          <p:cNvSpPr txBox="1">
            <a:spLocks noChangeArrowheads="1"/>
          </p:cNvSpPr>
          <p:nvPr/>
        </p:nvSpPr>
        <p:spPr bwMode="auto">
          <a:xfrm>
            <a:off x="5889625"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p:nvSpPr>
          <p:cNvPr id="123944" name="Line 40"/>
          <p:cNvSpPr>
            <a:spLocks noChangeShapeType="1"/>
          </p:cNvSpPr>
          <p:nvPr/>
        </p:nvSpPr>
        <p:spPr bwMode="auto">
          <a:xfrm flipV="1">
            <a:off x="5235575" y="1752600"/>
            <a:ext cx="0" cy="609600"/>
          </a:xfrm>
          <a:prstGeom prst="line">
            <a:avLst/>
          </a:prstGeom>
          <a:noFill/>
          <a:ln w="19050">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45" name="Text Box 41"/>
          <p:cNvSpPr txBox="1">
            <a:spLocks noChangeArrowheads="1"/>
          </p:cNvSpPr>
          <p:nvPr/>
        </p:nvSpPr>
        <p:spPr bwMode="auto">
          <a:xfrm>
            <a:off x="5127625" y="2278063"/>
            <a:ext cx="892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800000"/>
                </a:solidFill>
              </a:rPr>
              <a:t>high</a:t>
            </a:r>
            <a:endParaRPr lang="en-US" altLang="zh-CN" sz="2800"/>
          </a:p>
        </p:txBody>
      </p:sp>
      <p:sp>
        <p:nvSpPr>
          <p:cNvPr id="123946" name="Line 42"/>
          <p:cNvSpPr>
            <a:spLocks noChangeShapeType="1"/>
          </p:cNvSpPr>
          <p:nvPr/>
        </p:nvSpPr>
        <p:spPr bwMode="auto">
          <a:xfrm flipV="1">
            <a:off x="3711575" y="1752600"/>
            <a:ext cx="0" cy="609600"/>
          </a:xfrm>
          <a:prstGeom prst="line">
            <a:avLst/>
          </a:prstGeom>
          <a:noFill/>
          <a:ln w="1905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3947" name="Text Box 43"/>
          <p:cNvSpPr txBox="1">
            <a:spLocks noChangeArrowheads="1"/>
          </p:cNvSpPr>
          <p:nvPr/>
        </p:nvSpPr>
        <p:spPr bwMode="auto">
          <a:xfrm>
            <a:off x="3200400" y="2278063"/>
            <a:ext cx="7397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2800">
                <a:solidFill>
                  <a:srgbClr val="006600"/>
                </a:solidFill>
              </a:rPr>
              <a:t>low</a:t>
            </a:r>
            <a:endParaRPr lang="en-US" altLang="zh-CN" sz="2800"/>
          </a:p>
        </p:txBody>
      </p:sp>
    </p:spTree>
    <p:extLst>
      <p:ext uri="{BB962C8B-B14F-4D97-AF65-F5344CB8AC3E}">
        <p14:creationId xmlns:p14="http://schemas.microsoft.com/office/powerpoint/2010/main" val="3086850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935"/>
                                        </p:tgtEl>
                                        <p:attrNameLst>
                                          <p:attrName>style.visibility</p:attrName>
                                        </p:attrNameLst>
                                      </p:cBhvr>
                                      <p:to>
                                        <p:strVal val="visible"/>
                                      </p:to>
                                    </p:set>
                                    <p:animEffect transition="in" filter="wipe(left)">
                                      <p:cBhvr>
                                        <p:cTn id="7" dur="500"/>
                                        <p:tgtEl>
                                          <p:spTgt spid="12393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23907"/>
                                        </p:tgtEl>
                                        <p:attrNameLst>
                                          <p:attrName>style.visibility</p:attrName>
                                        </p:attrNameLst>
                                      </p:cBhvr>
                                      <p:to>
                                        <p:strVal val="visible"/>
                                      </p:to>
                                    </p:set>
                                    <p:animEffect transition="in" filter="wipe(left)">
                                      <p:cBhvr>
                                        <p:cTn id="11" dur="500"/>
                                        <p:tgtEl>
                                          <p:spTgt spid="123907"/>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23908"/>
                                        </p:tgtEl>
                                        <p:attrNameLst>
                                          <p:attrName>style.visibility</p:attrName>
                                        </p:attrNameLst>
                                      </p:cBhvr>
                                      <p:to>
                                        <p:strVal val="visible"/>
                                      </p:to>
                                    </p:set>
                                    <p:animEffect transition="in" filter="wipe(up)">
                                      <p:cBhvr>
                                        <p:cTn id="15" dur="500"/>
                                        <p:tgtEl>
                                          <p:spTgt spid="123908"/>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23910"/>
                                        </p:tgtEl>
                                        <p:attrNameLst>
                                          <p:attrName>style.visibility</p:attrName>
                                        </p:attrNameLst>
                                      </p:cBhvr>
                                      <p:to>
                                        <p:strVal val="visible"/>
                                      </p:to>
                                    </p:set>
                                    <p:animEffect transition="in" filter="wipe(up)">
                                      <p:cBhvr>
                                        <p:cTn id="19" dur="500"/>
                                        <p:tgtEl>
                                          <p:spTgt spid="123910"/>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23909"/>
                                        </p:tgtEl>
                                        <p:attrNameLst>
                                          <p:attrName>style.visibility</p:attrName>
                                        </p:attrNameLst>
                                      </p:cBhvr>
                                      <p:to>
                                        <p:strVal val="visible"/>
                                      </p:to>
                                    </p:set>
                                    <p:animEffect transition="in" filter="wipe(up)">
                                      <p:cBhvr>
                                        <p:cTn id="23" dur="500"/>
                                        <p:tgtEl>
                                          <p:spTgt spid="123909"/>
                                        </p:tgtEl>
                                      </p:cBhvr>
                                    </p:animEffect>
                                  </p:childTnLst>
                                </p:cTn>
                              </p:par>
                            </p:childTnLst>
                          </p:cTn>
                        </p:par>
                        <p:par>
                          <p:cTn id="24" fill="hold" nodeType="afterGroup">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23911"/>
                                        </p:tgtEl>
                                        <p:attrNameLst>
                                          <p:attrName>style.visibility</p:attrName>
                                        </p:attrNameLst>
                                      </p:cBhvr>
                                      <p:to>
                                        <p:strVal val="visible"/>
                                      </p:to>
                                    </p:set>
                                    <p:animEffect transition="in" filter="wipe(up)">
                                      <p:cBhvr>
                                        <p:cTn id="27" dur="500"/>
                                        <p:tgtEl>
                                          <p:spTgt spid="1239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916"/>
                                        </p:tgtEl>
                                        <p:attrNameLst>
                                          <p:attrName>style.visibility</p:attrName>
                                        </p:attrNameLst>
                                      </p:cBhvr>
                                      <p:to>
                                        <p:strVal val="visible"/>
                                      </p:to>
                                    </p:set>
                                    <p:animEffect transition="in" filter="wipe(left)">
                                      <p:cBhvr>
                                        <p:cTn id="32" dur="500"/>
                                        <p:tgtEl>
                                          <p:spTgt spid="123916"/>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23936"/>
                                        </p:tgtEl>
                                        <p:attrNameLst>
                                          <p:attrName>style.visibility</p:attrName>
                                        </p:attrNameLst>
                                      </p:cBhvr>
                                      <p:to>
                                        <p:strVal val="visible"/>
                                      </p:to>
                                    </p:set>
                                    <p:animEffect transition="in" filter="wipe(left)">
                                      <p:cBhvr>
                                        <p:cTn id="36" dur="500"/>
                                        <p:tgtEl>
                                          <p:spTgt spid="123936"/>
                                        </p:tgtEl>
                                      </p:cBhvr>
                                    </p:animEffect>
                                  </p:childTnLst>
                                </p:cTn>
                              </p:par>
                            </p:childTnLst>
                          </p:cTn>
                        </p:par>
                        <p:par>
                          <p:cTn id="37" fill="hold" nodeType="afterGroup">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23937"/>
                                        </p:tgtEl>
                                        <p:attrNameLst>
                                          <p:attrName>style.visibility</p:attrName>
                                        </p:attrNameLst>
                                      </p:cBhvr>
                                      <p:to>
                                        <p:strVal val="visible"/>
                                      </p:to>
                                    </p:set>
                                    <p:animEffect transition="in" filter="wipe(left)">
                                      <p:cBhvr>
                                        <p:cTn id="40" dur="500"/>
                                        <p:tgtEl>
                                          <p:spTgt spid="12393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23912"/>
                                        </p:tgtEl>
                                        <p:attrNameLst>
                                          <p:attrName>style.visibility</p:attrName>
                                        </p:attrNameLst>
                                      </p:cBhvr>
                                      <p:to>
                                        <p:strVal val="visible"/>
                                      </p:to>
                                    </p:set>
                                    <p:animEffect transition="in" filter="wipe(down)">
                                      <p:cBhvr>
                                        <p:cTn id="45" dur="500"/>
                                        <p:tgtEl>
                                          <p:spTgt spid="123912"/>
                                        </p:tgtEl>
                                      </p:cBhvr>
                                    </p:animEffect>
                                  </p:childTnLst>
                                </p:cTn>
                              </p:par>
                            </p:childTnLst>
                          </p:cTn>
                        </p:par>
                        <p:par>
                          <p:cTn id="46" fill="hold" nodeType="afterGroup">
                            <p:stCondLst>
                              <p:cond delay="500"/>
                            </p:stCondLst>
                            <p:childTnLst>
                              <p:par>
                                <p:cTn id="47" presetID="22" presetClass="entr" presetSubtype="4" fill="hold" grpId="0" nodeType="afterEffect">
                                  <p:stCondLst>
                                    <p:cond delay="0"/>
                                  </p:stCondLst>
                                  <p:childTnLst>
                                    <p:set>
                                      <p:cBhvr>
                                        <p:cTn id="48" dur="1" fill="hold">
                                          <p:stCondLst>
                                            <p:cond delay="0"/>
                                          </p:stCondLst>
                                        </p:cTn>
                                        <p:tgtEl>
                                          <p:spTgt spid="123913"/>
                                        </p:tgtEl>
                                        <p:attrNameLst>
                                          <p:attrName>style.visibility</p:attrName>
                                        </p:attrNameLst>
                                      </p:cBhvr>
                                      <p:to>
                                        <p:strVal val="visible"/>
                                      </p:to>
                                    </p:set>
                                    <p:animEffect transition="in" filter="wipe(down)">
                                      <p:cBhvr>
                                        <p:cTn id="49" dur="500"/>
                                        <p:tgtEl>
                                          <p:spTgt spid="12391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23914"/>
                                        </p:tgtEl>
                                        <p:attrNameLst>
                                          <p:attrName>style.visibility</p:attrName>
                                        </p:attrNameLst>
                                      </p:cBhvr>
                                      <p:to>
                                        <p:strVal val="visible"/>
                                      </p:to>
                                    </p:set>
                                    <p:animEffect transition="in" filter="wipe(down)">
                                      <p:cBhvr>
                                        <p:cTn id="54" dur="500"/>
                                        <p:tgtEl>
                                          <p:spTgt spid="123914"/>
                                        </p:tgtEl>
                                      </p:cBhvr>
                                    </p:animEffect>
                                  </p:childTnLst>
                                </p:cTn>
                              </p:par>
                            </p:childTnLst>
                          </p:cTn>
                        </p:par>
                        <p:par>
                          <p:cTn id="55" fill="hold" nodeType="afterGroup">
                            <p:stCondLst>
                              <p:cond delay="500"/>
                            </p:stCondLst>
                            <p:childTnLst>
                              <p:par>
                                <p:cTn id="56" presetID="22" presetClass="entr" presetSubtype="4" fill="hold" grpId="0" nodeType="afterEffect">
                                  <p:stCondLst>
                                    <p:cond delay="0"/>
                                  </p:stCondLst>
                                  <p:childTnLst>
                                    <p:set>
                                      <p:cBhvr>
                                        <p:cTn id="57" dur="1" fill="hold">
                                          <p:stCondLst>
                                            <p:cond delay="0"/>
                                          </p:stCondLst>
                                        </p:cTn>
                                        <p:tgtEl>
                                          <p:spTgt spid="123915"/>
                                        </p:tgtEl>
                                        <p:attrNameLst>
                                          <p:attrName>style.visibility</p:attrName>
                                        </p:attrNameLst>
                                      </p:cBhvr>
                                      <p:to>
                                        <p:strVal val="visible"/>
                                      </p:to>
                                    </p:set>
                                    <p:animEffect transition="in" filter="wipe(down)">
                                      <p:cBhvr>
                                        <p:cTn id="58" dur="500"/>
                                        <p:tgtEl>
                                          <p:spTgt spid="12391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23917"/>
                                        </p:tgtEl>
                                        <p:attrNameLst>
                                          <p:attrName>style.visibility</p:attrName>
                                        </p:attrNameLst>
                                      </p:cBhvr>
                                      <p:to>
                                        <p:strVal val="visible"/>
                                      </p:to>
                                    </p:set>
                                    <p:animEffect transition="in" filter="wipe(left)">
                                      <p:cBhvr>
                                        <p:cTn id="63" dur="500"/>
                                        <p:tgtEl>
                                          <p:spTgt spid="12391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23921"/>
                                        </p:tgtEl>
                                        <p:attrNameLst>
                                          <p:attrName>style.visibility</p:attrName>
                                        </p:attrNameLst>
                                      </p:cBhvr>
                                      <p:to>
                                        <p:strVal val="visible"/>
                                      </p:to>
                                    </p:set>
                                    <p:animEffect transition="in" filter="wipe(up)">
                                      <p:cBhvr>
                                        <p:cTn id="68" dur="500"/>
                                        <p:tgtEl>
                                          <p:spTgt spid="123921"/>
                                        </p:tgtEl>
                                      </p:cBhvr>
                                    </p:animEffect>
                                  </p:childTnLst>
                                </p:cTn>
                              </p:par>
                            </p:childTnLst>
                          </p:cTn>
                        </p:par>
                        <p:par>
                          <p:cTn id="69" fill="hold" nodeType="afterGroup">
                            <p:stCondLst>
                              <p:cond delay="500"/>
                            </p:stCondLst>
                            <p:childTnLst>
                              <p:par>
                                <p:cTn id="70" presetID="22" presetClass="entr" presetSubtype="1" fill="hold" grpId="0" nodeType="afterEffect">
                                  <p:stCondLst>
                                    <p:cond delay="0"/>
                                  </p:stCondLst>
                                  <p:childTnLst>
                                    <p:set>
                                      <p:cBhvr>
                                        <p:cTn id="71" dur="1" fill="hold">
                                          <p:stCondLst>
                                            <p:cond delay="0"/>
                                          </p:stCondLst>
                                        </p:cTn>
                                        <p:tgtEl>
                                          <p:spTgt spid="123919"/>
                                        </p:tgtEl>
                                        <p:attrNameLst>
                                          <p:attrName>style.visibility</p:attrName>
                                        </p:attrNameLst>
                                      </p:cBhvr>
                                      <p:to>
                                        <p:strVal val="visible"/>
                                      </p:to>
                                    </p:set>
                                    <p:animEffect transition="in" filter="wipe(up)">
                                      <p:cBhvr>
                                        <p:cTn id="72" dur="500"/>
                                        <p:tgtEl>
                                          <p:spTgt spid="123919"/>
                                        </p:tgtEl>
                                      </p:cBhvr>
                                    </p:animEffect>
                                  </p:childTnLst>
                                </p:cTn>
                              </p:par>
                            </p:childTnLst>
                          </p:cTn>
                        </p:par>
                        <p:par>
                          <p:cTn id="73" fill="hold" nodeType="afterGroup">
                            <p:stCondLst>
                              <p:cond delay="1000"/>
                            </p:stCondLst>
                            <p:childTnLst>
                              <p:par>
                                <p:cTn id="74" presetID="22" presetClass="entr" presetSubtype="1" fill="hold" grpId="0" nodeType="afterEffect">
                                  <p:stCondLst>
                                    <p:cond delay="0"/>
                                  </p:stCondLst>
                                  <p:childTnLst>
                                    <p:set>
                                      <p:cBhvr>
                                        <p:cTn id="75" dur="1" fill="hold">
                                          <p:stCondLst>
                                            <p:cond delay="0"/>
                                          </p:stCondLst>
                                        </p:cTn>
                                        <p:tgtEl>
                                          <p:spTgt spid="123920"/>
                                        </p:tgtEl>
                                        <p:attrNameLst>
                                          <p:attrName>style.visibility</p:attrName>
                                        </p:attrNameLst>
                                      </p:cBhvr>
                                      <p:to>
                                        <p:strVal val="visible"/>
                                      </p:to>
                                    </p:set>
                                    <p:animEffect transition="in" filter="wipe(up)">
                                      <p:cBhvr>
                                        <p:cTn id="76" dur="500"/>
                                        <p:tgtEl>
                                          <p:spTgt spid="12392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23922"/>
                                        </p:tgtEl>
                                        <p:attrNameLst>
                                          <p:attrName>style.visibility</p:attrName>
                                        </p:attrNameLst>
                                      </p:cBhvr>
                                      <p:to>
                                        <p:strVal val="visible"/>
                                      </p:to>
                                    </p:set>
                                    <p:animEffect transition="in" filter="wipe(left)">
                                      <p:cBhvr>
                                        <p:cTn id="81" dur="500"/>
                                        <p:tgtEl>
                                          <p:spTgt spid="12392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8" fill="hold" grpId="0" nodeType="clickEffect">
                                  <p:stCondLst>
                                    <p:cond delay="0"/>
                                  </p:stCondLst>
                                  <p:childTnLst>
                                    <p:set>
                                      <p:cBhvr>
                                        <p:cTn id="85" dur="1" fill="hold">
                                          <p:stCondLst>
                                            <p:cond delay="0"/>
                                          </p:stCondLst>
                                        </p:cTn>
                                        <p:tgtEl>
                                          <p:spTgt spid="123918"/>
                                        </p:tgtEl>
                                        <p:attrNameLst>
                                          <p:attrName>style.visibility</p:attrName>
                                        </p:attrNameLst>
                                      </p:cBhvr>
                                      <p:to>
                                        <p:strVal val="visible"/>
                                      </p:to>
                                    </p:set>
                                    <p:anim calcmode="lin" valueType="num">
                                      <p:cBhvr additive="base">
                                        <p:cTn id="86" dur="500" fill="hold"/>
                                        <p:tgtEl>
                                          <p:spTgt spid="123918"/>
                                        </p:tgtEl>
                                        <p:attrNameLst>
                                          <p:attrName>ppt_x</p:attrName>
                                        </p:attrNameLst>
                                      </p:cBhvr>
                                      <p:tavLst>
                                        <p:tav tm="0">
                                          <p:val>
                                            <p:strVal val="0-#ppt_w/2"/>
                                          </p:val>
                                        </p:tav>
                                        <p:tav tm="100000">
                                          <p:val>
                                            <p:strVal val="#ppt_x"/>
                                          </p:val>
                                        </p:tav>
                                      </p:tavLst>
                                    </p:anim>
                                    <p:anim calcmode="lin" valueType="num">
                                      <p:cBhvr additive="base">
                                        <p:cTn id="87" dur="500" fill="hold"/>
                                        <p:tgtEl>
                                          <p:spTgt spid="123918"/>
                                        </p:tgtEl>
                                        <p:attrNameLst>
                                          <p:attrName>ppt_y</p:attrName>
                                        </p:attrNameLst>
                                      </p:cBhvr>
                                      <p:tavLst>
                                        <p:tav tm="0">
                                          <p:val>
                                            <p:strVal val="#ppt_y"/>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23925"/>
                                        </p:tgtEl>
                                        <p:attrNameLst>
                                          <p:attrName>style.visibility</p:attrName>
                                        </p:attrNameLst>
                                      </p:cBhvr>
                                      <p:to>
                                        <p:strVal val="visible"/>
                                      </p:to>
                                    </p:set>
                                    <p:animEffect transition="in" filter="wipe(up)">
                                      <p:cBhvr>
                                        <p:cTn id="92" dur="500"/>
                                        <p:tgtEl>
                                          <p:spTgt spid="123925"/>
                                        </p:tgtEl>
                                      </p:cBhvr>
                                    </p:animEffect>
                                  </p:childTnLst>
                                </p:cTn>
                              </p:par>
                            </p:childTnLst>
                          </p:cTn>
                        </p:par>
                        <p:par>
                          <p:cTn id="93" fill="hold" nodeType="afterGroup">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123938"/>
                                        </p:tgtEl>
                                        <p:attrNameLst>
                                          <p:attrName>style.visibility</p:attrName>
                                        </p:attrNameLst>
                                      </p:cBhvr>
                                      <p:to>
                                        <p:strVal val="visible"/>
                                      </p:to>
                                    </p:set>
                                    <p:animEffect transition="in" filter="wipe(up)">
                                      <p:cBhvr>
                                        <p:cTn id="96" dur="500"/>
                                        <p:tgtEl>
                                          <p:spTgt spid="123938"/>
                                        </p:tgtEl>
                                      </p:cBhvr>
                                    </p:animEffect>
                                  </p:childTnLst>
                                  <p:subTnLst>
                                    <p:set>
                                      <p:cBhvr override="childStyle">
                                        <p:cTn dur="1" fill="hold" display="0" masterRel="nextClick" afterEffect="1"/>
                                        <p:tgtEl>
                                          <p:spTgt spid="123938"/>
                                        </p:tgtEl>
                                        <p:attrNameLst>
                                          <p:attrName>style.visibility</p:attrName>
                                        </p:attrNameLst>
                                      </p:cBhvr>
                                      <p:to>
                                        <p:strVal val="hidden"/>
                                      </p:to>
                                    </p:set>
                                  </p:subTnLst>
                                </p:cTn>
                              </p:par>
                            </p:childTnLst>
                          </p:cTn>
                        </p:par>
                        <p:par>
                          <p:cTn id="97" fill="hold" nodeType="afterGroup">
                            <p:stCondLst>
                              <p:cond delay="1000"/>
                            </p:stCondLst>
                            <p:childTnLst>
                              <p:par>
                                <p:cTn id="98" presetID="22" presetClass="entr" presetSubtype="1" fill="hold" grpId="0" nodeType="afterEffect">
                                  <p:stCondLst>
                                    <p:cond delay="0"/>
                                  </p:stCondLst>
                                  <p:childTnLst>
                                    <p:set>
                                      <p:cBhvr>
                                        <p:cTn id="99" dur="1" fill="hold">
                                          <p:stCondLst>
                                            <p:cond delay="0"/>
                                          </p:stCondLst>
                                        </p:cTn>
                                        <p:tgtEl>
                                          <p:spTgt spid="123939"/>
                                        </p:tgtEl>
                                        <p:attrNameLst>
                                          <p:attrName>style.visibility</p:attrName>
                                        </p:attrNameLst>
                                      </p:cBhvr>
                                      <p:to>
                                        <p:strVal val="visible"/>
                                      </p:to>
                                    </p:set>
                                    <p:animEffect transition="in" filter="wipe(up)">
                                      <p:cBhvr>
                                        <p:cTn id="100" dur="500"/>
                                        <p:tgtEl>
                                          <p:spTgt spid="123939"/>
                                        </p:tgtEl>
                                      </p:cBhvr>
                                    </p:animEffect>
                                  </p:childTnLst>
                                  <p:subTnLst>
                                    <p:set>
                                      <p:cBhvr override="childStyle">
                                        <p:cTn dur="1" fill="hold" display="0" masterRel="nextClick" afterEffect="1"/>
                                        <p:tgtEl>
                                          <p:spTgt spid="123939"/>
                                        </p:tgtEl>
                                        <p:attrNameLst>
                                          <p:attrName>style.visibility</p:attrName>
                                        </p:attrNameLst>
                                      </p:cBhvr>
                                      <p:to>
                                        <p:strVal val="hidden"/>
                                      </p:to>
                                    </p:set>
                                  </p:sub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123923"/>
                                        </p:tgtEl>
                                        <p:attrNameLst>
                                          <p:attrName>style.visibility</p:attrName>
                                        </p:attrNameLst>
                                      </p:cBhvr>
                                      <p:to>
                                        <p:strVal val="visible"/>
                                      </p:to>
                                    </p:set>
                                    <p:animEffect transition="in" filter="wipe(up)">
                                      <p:cBhvr>
                                        <p:cTn id="105" dur="500"/>
                                        <p:tgtEl>
                                          <p:spTgt spid="123923"/>
                                        </p:tgtEl>
                                      </p:cBhvr>
                                    </p:animEffect>
                                  </p:childTnLst>
                                </p:cTn>
                              </p:par>
                            </p:childTnLst>
                          </p:cTn>
                        </p:par>
                        <p:par>
                          <p:cTn id="106" fill="hold" nodeType="afterGroup">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123924"/>
                                        </p:tgtEl>
                                        <p:attrNameLst>
                                          <p:attrName>style.visibility</p:attrName>
                                        </p:attrNameLst>
                                      </p:cBhvr>
                                      <p:to>
                                        <p:strVal val="visible"/>
                                      </p:to>
                                    </p:set>
                                    <p:animEffect transition="in" filter="wipe(up)">
                                      <p:cBhvr>
                                        <p:cTn id="109" dur="500"/>
                                        <p:tgtEl>
                                          <p:spTgt spid="12392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23926"/>
                                        </p:tgtEl>
                                        <p:attrNameLst>
                                          <p:attrName>style.visibility</p:attrName>
                                        </p:attrNameLst>
                                      </p:cBhvr>
                                      <p:to>
                                        <p:strVal val="visible"/>
                                      </p:to>
                                    </p:set>
                                    <p:animEffect transition="in" filter="wipe(left)">
                                      <p:cBhvr>
                                        <p:cTn id="114" dur="500"/>
                                        <p:tgtEl>
                                          <p:spTgt spid="123926"/>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123929"/>
                                        </p:tgtEl>
                                        <p:attrNameLst>
                                          <p:attrName>style.visibility</p:attrName>
                                        </p:attrNameLst>
                                      </p:cBhvr>
                                      <p:to>
                                        <p:strVal val="visible"/>
                                      </p:to>
                                    </p:set>
                                    <p:animEffect transition="in" filter="wipe(up)">
                                      <p:cBhvr>
                                        <p:cTn id="119" dur="500"/>
                                        <p:tgtEl>
                                          <p:spTgt spid="123929"/>
                                        </p:tgtEl>
                                      </p:cBhvr>
                                    </p:animEffect>
                                  </p:childTnLst>
                                </p:cTn>
                              </p:par>
                            </p:childTnLst>
                          </p:cTn>
                        </p:par>
                        <p:par>
                          <p:cTn id="120" fill="hold" nodeType="afterGroup">
                            <p:stCondLst>
                              <p:cond delay="500"/>
                            </p:stCondLst>
                            <p:childTnLst>
                              <p:par>
                                <p:cTn id="121" presetID="22" presetClass="entr" presetSubtype="1" fill="hold" grpId="0" nodeType="afterEffect">
                                  <p:stCondLst>
                                    <p:cond delay="0"/>
                                  </p:stCondLst>
                                  <p:childTnLst>
                                    <p:set>
                                      <p:cBhvr>
                                        <p:cTn id="122" dur="1" fill="hold">
                                          <p:stCondLst>
                                            <p:cond delay="0"/>
                                          </p:stCondLst>
                                        </p:cTn>
                                        <p:tgtEl>
                                          <p:spTgt spid="123940"/>
                                        </p:tgtEl>
                                        <p:attrNameLst>
                                          <p:attrName>style.visibility</p:attrName>
                                        </p:attrNameLst>
                                      </p:cBhvr>
                                      <p:to>
                                        <p:strVal val="visible"/>
                                      </p:to>
                                    </p:set>
                                    <p:animEffect transition="in" filter="wipe(up)">
                                      <p:cBhvr>
                                        <p:cTn id="123" dur="500"/>
                                        <p:tgtEl>
                                          <p:spTgt spid="123940"/>
                                        </p:tgtEl>
                                      </p:cBhvr>
                                    </p:animEffect>
                                  </p:childTnLst>
                                  <p:subTnLst>
                                    <p:set>
                                      <p:cBhvr override="childStyle">
                                        <p:cTn dur="1" fill="hold" display="0" masterRel="nextClick" afterEffect="1"/>
                                        <p:tgtEl>
                                          <p:spTgt spid="123940"/>
                                        </p:tgtEl>
                                        <p:attrNameLst>
                                          <p:attrName>style.visibility</p:attrName>
                                        </p:attrNameLst>
                                      </p:cBhvr>
                                      <p:to>
                                        <p:strVal val="hidden"/>
                                      </p:to>
                                    </p:set>
                                  </p:subTnLst>
                                </p:cTn>
                              </p:par>
                            </p:childTnLst>
                          </p:cTn>
                        </p:par>
                        <p:par>
                          <p:cTn id="124" fill="hold" nodeType="afterGroup">
                            <p:stCondLst>
                              <p:cond delay="1000"/>
                            </p:stCondLst>
                            <p:childTnLst>
                              <p:par>
                                <p:cTn id="125" presetID="22" presetClass="entr" presetSubtype="1" fill="hold" grpId="0" nodeType="afterEffect">
                                  <p:stCondLst>
                                    <p:cond delay="0"/>
                                  </p:stCondLst>
                                  <p:childTnLst>
                                    <p:set>
                                      <p:cBhvr>
                                        <p:cTn id="126" dur="1" fill="hold">
                                          <p:stCondLst>
                                            <p:cond delay="0"/>
                                          </p:stCondLst>
                                        </p:cTn>
                                        <p:tgtEl>
                                          <p:spTgt spid="123941"/>
                                        </p:tgtEl>
                                        <p:attrNameLst>
                                          <p:attrName>style.visibility</p:attrName>
                                        </p:attrNameLst>
                                      </p:cBhvr>
                                      <p:to>
                                        <p:strVal val="visible"/>
                                      </p:to>
                                    </p:set>
                                    <p:animEffect transition="in" filter="wipe(up)">
                                      <p:cBhvr>
                                        <p:cTn id="127" dur="500"/>
                                        <p:tgtEl>
                                          <p:spTgt spid="123941"/>
                                        </p:tgtEl>
                                      </p:cBhvr>
                                    </p:animEffect>
                                  </p:childTnLst>
                                  <p:subTnLst>
                                    <p:set>
                                      <p:cBhvr override="childStyle">
                                        <p:cTn dur="1" fill="hold" display="0" masterRel="nextClick" afterEffect="1"/>
                                        <p:tgtEl>
                                          <p:spTgt spid="123941"/>
                                        </p:tgtEl>
                                        <p:attrNameLst>
                                          <p:attrName>style.visibility</p:attrName>
                                        </p:attrNameLst>
                                      </p:cBhvr>
                                      <p:to>
                                        <p:strVal val="hidden"/>
                                      </p:to>
                                    </p:set>
                                  </p:sub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1" fill="hold" grpId="0" nodeType="clickEffect">
                                  <p:stCondLst>
                                    <p:cond delay="0"/>
                                  </p:stCondLst>
                                  <p:childTnLst>
                                    <p:set>
                                      <p:cBhvr>
                                        <p:cTn id="131" dur="1" fill="hold">
                                          <p:stCondLst>
                                            <p:cond delay="0"/>
                                          </p:stCondLst>
                                        </p:cTn>
                                        <p:tgtEl>
                                          <p:spTgt spid="123942"/>
                                        </p:tgtEl>
                                        <p:attrNameLst>
                                          <p:attrName>style.visibility</p:attrName>
                                        </p:attrNameLst>
                                      </p:cBhvr>
                                      <p:to>
                                        <p:strVal val="visible"/>
                                      </p:to>
                                    </p:set>
                                    <p:animEffect transition="in" filter="wipe(up)">
                                      <p:cBhvr>
                                        <p:cTn id="132" dur="500"/>
                                        <p:tgtEl>
                                          <p:spTgt spid="123942"/>
                                        </p:tgtEl>
                                      </p:cBhvr>
                                    </p:animEffect>
                                  </p:childTnLst>
                                  <p:subTnLst>
                                    <p:set>
                                      <p:cBhvr override="childStyle">
                                        <p:cTn dur="1" fill="hold" display="0" masterRel="nextClick" afterEffect="1"/>
                                        <p:tgtEl>
                                          <p:spTgt spid="123942"/>
                                        </p:tgtEl>
                                        <p:attrNameLst>
                                          <p:attrName>style.visibility</p:attrName>
                                        </p:attrNameLst>
                                      </p:cBhvr>
                                      <p:to>
                                        <p:strVal val="hidden"/>
                                      </p:to>
                                    </p:set>
                                  </p:subTnLst>
                                </p:cTn>
                              </p:par>
                            </p:childTnLst>
                          </p:cTn>
                        </p:par>
                        <p:par>
                          <p:cTn id="133" fill="hold" nodeType="afterGroup">
                            <p:stCondLst>
                              <p:cond delay="500"/>
                            </p:stCondLst>
                            <p:childTnLst>
                              <p:par>
                                <p:cTn id="134" presetID="22" presetClass="entr" presetSubtype="1" fill="hold" grpId="0" nodeType="afterEffect">
                                  <p:stCondLst>
                                    <p:cond delay="0"/>
                                  </p:stCondLst>
                                  <p:childTnLst>
                                    <p:set>
                                      <p:cBhvr>
                                        <p:cTn id="135" dur="1" fill="hold">
                                          <p:stCondLst>
                                            <p:cond delay="0"/>
                                          </p:stCondLst>
                                        </p:cTn>
                                        <p:tgtEl>
                                          <p:spTgt spid="123943"/>
                                        </p:tgtEl>
                                        <p:attrNameLst>
                                          <p:attrName>style.visibility</p:attrName>
                                        </p:attrNameLst>
                                      </p:cBhvr>
                                      <p:to>
                                        <p:strVal val="visible"/>
                                      </p:to>
                                    </p:set>
                                    <p:animEffect transition="in" filter="wipe(up)">
                                      <p:cBhvr>
                                        <p:cTn id="136" dur="500"/>
                                        <p:tgtEl>
                                          <p:spTgt spid="123943"/>
                                        </p:tgtEl>
                                      </p:cBhvr>
                                    </p:animEffect>
                                  </p:childTnLst>
                                  <p:subTnLst>
                                    <p:set>
                                      <p:cBhvr override="childStyle">
                                        <p:cTn dur="1" fill="hold" display="0" masterRel="nextClick" afterEffect="1"/>
                                        <p:tgtEl>
                                          <p:spTgt spid="123943"/>
                                        </p:tgtEl>
                                        <p:attrNameLst>
                                          <p:attrName>style.visibility</p:attrName>
                                        </p:attrNameLst>
                                      </p:cBhvr>
                                      <p:to>
                                        <p:strVal val="hidden"/>
                                      </p:to>
                                    </p:set>
                                  </p:sub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123944"/>
                                        </p:tgtEl>
                                        <p:attrNameLst>
                                          <p:attrName>style.visibility</p:attrName>
                                        </p:attrNameLst>
                                      </p:cBhvr>
                                      <p:to>
                                        <p:strVal val="visible"/>
                                      </p:to>
                                    </p:set>
                                    <p:animEffect transition="in" filter="wipe(up)">
                                      <p:cBhvr>
                                        <p:cTn id="141" dur="500"/>
                                        <p:tgtEl>
                                          <p:spTgt spid="123944"/>
                                        </p:tgtEl>
                                      </p:cBhvr>
                                    </p:animEffect>
                                  </p:childTnLst>
                                  <p:subTnLst>
                                    <p:set>
                                      <p:cBhvr override="childStyle">
                                        <p:cTn dur="1" fill="hold" display="0" masterRel="nextClick" afterEffect="1"/>
                                        <p:tgtEl>
                                          <p:spTgt spid="123944"/>
                                        </p:tgtEl>
                                        <p:attrNameLst>
                                          <p:attrName>style.visibility</p:attrName>
                                        </p:attrNameLst>
                                      </p:cBhvr>
                                      <p:to>
                                        <p:strVal val="hidden"/>
                                      </p:to>
                                    </p:set>
                                  </p:subTnLst>
                                </p:cTn>
                              </p:par>
                            </p:childTnLst>
                          </p:cTn>
                        </p:par>
                        <p:par>
                          <p:cTn id="142" fill="hold" nodeType="afterGroup">
                            <p:stCondLst>
                              <p:cond delay="500"/>
                            </p:stCondLst>
                            <p:childTnLst>
                              <p:par>
                                <p:cTn id="143" presetID="22" presetClass="entr" presetSubtype="1" fill="hold" grpId="0" nodeType="afterEffect">
                                  <p:stCondLst>
                                    <p:cond delay="0"/>
                                  </p:stCondLst>
                                  <p:childTnLst>
                                    <p:set>
                                      <p:cBhvr>
                                        <p:cTn id="144" dur="1" fill="hold">
                                          <p:stCondLst>
                                            <p:cond delay="0"/>
                                          </p:stCondLst>
                                        </p:cTn>
                                        <p:tgtEl>
                                          <p:spTgt spid="123945"/>
                                        </p:tgtEl>
                                        <p:attrNameLst>
                                          <p:attrName>style.visibility</p:attrName>
                                        </p:attrNameLst>
                                      </p:cBhvr>
                                      <p:to>
                                        <p:strVal val="visible"/>
                                      </p:to>
                                    </p:set>
                                    <p:animEffect transition="in" filter="wipe(up)">
                                      <p:cBhvr>
                                        <p:cTn id="145" dur="500"/>
                                        <p:tgtEl>
                                          <p:spTgt spid="123945"/>
                                        </p:tgtEl>
                                      </p:cBhvr>
                                    </p:animEffect>
                                  </p:childTnLst>
                                  <p:subTnLst>
                                    <p:set>
                                      <p:cBhvr override="childStyle">
                                        <p:cTn dur="1" fill="hold" display="0" masterRel="nextClick" afterEffect="1"/>
                                        <p:tgtEl>
                                          <p:spTgt spid="123945"/>
                                        </p:tgtEl>
                                        <p:attrNameLst>
                                          <p:attrName>style.visibility</p:attrName>
                                        </p:attrNameLst>
                                      </p:cBhvr>
                                      <p:to>
                                        <p:strVal val="hidden"/>
                                      </p:to>
                                    </p:set>
                                  </p:sub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123927"/>
                                        </p:tgtEl>
                                        <p:attrNameLst>
                                          <p:attrName>style.visibility</p:attrName>
                                        </p:attrNameLst>
                                      </p:cBhvr>
                                      <p:to>
                                        <p:strVal val="visible"/>
                                      </p:to>
                                    </p:set>
                                    <p:animEffect transition="in" filter="wipe(up)">
                                      <p:cBhvr>
                                        <p:cTn id="150" dur="500"/>
                                        <p:tgtEl>
                                          <p:spTgt spid="123927"/>
                                        </p:tgtEl>
                                      </p:cBhvr>
                                    </p:animEffect>
                                  </p:childTnLst>
                                </p:cTn>
                              </p:par>
                            </p:childTnLst>
                          </p:cTn>
                        </p:par>
                        <p:par>
                          <p:cTn id="151" fill="hold" nodeType="afterGroup">
                            <p:stCondLst>
                              <p:cond delay="500"/>
                            </p:stCondLst>
                            <p:childTnLst>
                              <p:par>
                                <p:cTn id="152" presetID="22" presetClass="entr" presetSubtype="1" fill="hold" grpId="0" nodeType="afterEffect">
                                  <p:stCondLst>
                                    <p:cond delay="0"/>
                                  </p:stCondLst>
                                  <p:childTnLst>
                                    <p:set>
                                      <p:cBhvr>
                                        <p:cTn id="153" dur="1" fill="hold">
                                          <p:stCondLst>
                                            <p:cond delay="0"/>
                                          </p:stCondLst>
                                        </p:cTn>
                                        <p:tgtEl>
                                          <p:spTgt spid="123928"/>
                                        </p:tgtEl>
                                        <p:attrNameLst>
                                          <p:attrName>style.visibility</p:attrName>
                                        </p:attrNameLst>
                                      </p:cBhvr>
                                      <p:to>
                                        <p:strVal val="visible"/>
                                      </p:to>
                                    </p:set>
                                    <p:animEffect transition="in" filter="wipe(up)">
                                      <p:cBhvr>
                                        <p:cTn id="154" dur="500"/>
                                        <p:tgtEl>
                                          <p:spTgt spid="12392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23930"/>
                                        </p:tgtEl>
                                        <p:attrNameLst>
                                          <p:attrName>style.visibility</p:attrName>
                                        </p:attrNameLst>
                                      </p:cBhvr>
                                      <p:to>
                                        <p:strVal val="visible"/>
                                      </p:to>
                                    </p:set>
                                    <p:animEffect transition="in" filter="wipe(left)">
                                      <p:cBhvr>
                                        <p:cTn id="159" dur="500"/>
                                        <p:tgtEl>
                                          <p:spTgt spid="123930"/>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1" fill="hold" grpId="0" nodeType="clickEffect">
                                  <p:stCondLst>
                                    <p:cond delay="0"/>
                                  </p:stCondLst>
                                  <p:childTnLst>
                                    <p:set>
                                      <p:cBhvr>
                                        <p:cTn id="163" dur="1" fill="hold">
                                          <p:stCondLst>
                                            <p:cond delay="0"/>
                                          </p:stCondLst>
                                        </p:cTn>
                                        <p:tgtEl>
                                          <p:spTgt spid="123933"/>
                                        </p:tgtEl>
                                        <p:attrNameLst>
                                          <p:attrName>style.visibility</p:attrName>
                                        </p:attrNameLst>
                                      </p:cBhvr>
                                      <p:to>
                                        <p:strVal val="visible"/>
                                      </p:to>
                                    </p:set>
                                    <p:animEffect transition="in" filter="wipe(up)">
                                      <p:cBhvr>
                                        <p:cTn id="164" dur="500"/>
                                        <p:tgtEl>
                                          <p:spTgt spid="123933"/>
                                        </p:tgtEl>
                                      </p:cBhvr>
                                    </p:animEffect>
                                  </p:childTnLst>
                                </p:cTn>
                              </p:par>
                            </p:childTnLst>
                          </p:cTn>
                        </p:par>
                        <p:par>
                          <p:cTn id="165" fill="hold" nodeType="afterGroup">
                            <p:stCondLst>
                              <p:cond delay="500"/>
                            </p:stCondLst>
                            <p:childTnLst>
                              <p:par>
                                <p:cTn id="166" presetID="22" presetClass="entr" presetSubtype="1" fill="hold" grpId="0" nodeType="afterEffect">
                                  <p:stCondLst>
                                    <p:cond delay="0"/>
                                  </p:stCondLst>
                                  <p:childTnLst>
                                    <p:set>
                                      <p:cBhvr>
                                        <p:cTn id="167" dur="1" fill="hold">
                                          <p:stCondLst>
                                            <p:cond delay="0"/>
                                          </p:stCondLst>
                                        </p:cTn>
                                        <p:tgtEl>
                                          <p:spTgt spid="123946"/>
                                        </p:tgtEl>
                                        <p:attrNameLst>
                                          <p:attrName>style.visibility</p:attrName>
                                        </p:attrNameLst>
                                      </p:cBhvr>
                                      <p:to>
                                        <p:strVal val="visible"/>
                                      </p:to>
                                    </p:set>
                                    <p:animEffect transition="in" filter="wipe(up)">
                                      <p:cBhvr>
                                        <p:cTn id="168" dur="500"/>
                                        <p:tgtEl>
                                          <p:spTgt spid="123946"/>
                                        </p:tgtEl>
                                      </p:cBhvr>
                                    </p:animEffect>
                                  </p:childTnLst>
                                  <p:subTnLst>
                                    <p:set>
                                      <p:cBhvr override="childStyle">
                                        <p:cTn dur="1" fill="hold" display="0" masterRel="nextClick" afterEffect="1"/>
                                        <p:tgtEl>
                                          <p:spTgt spid="123946"/>
                                        </p:tgtEl>
                                        <p:attrNameLst>
                                          <p:attrName>style.visibility</p:attrName>
                                        </p:attrNameLst>
                                      </p:cBhvr>
                                      <p:to>
                                        <p:strVal val="hidden"/>
                                      </p:to>
                                    </p:set>
                                  </p:subTnLst>
                                </p:cTn>
                              </p:par>
                            </p:childTnLst>
                          </p:cTn>
                        </p:par>
                        <p:par>
                          <p:cTn id="169" fill="hold" nodeType="afterGroup">
                            <p:stCondLst>
                              <p:cond delay="1000"/>
                            </p:stCondLst>
                            <p:childTnLst>
                              <p:par>
                                <p:cTn id="170" presetID="22" presetClass="entr" presetSubtype="1" fill="hold" grpId="0" nodeType="afterEffect">
                                  <p:stCondLst>
                                    <p:cond delay="0"/>
                                  </p:stCondLst>
                                  <p:childTnLst>
                                    <p:set>
                                      <p:cBhvr>
                                        <p:cTn id="171" dur="1" fill="hold">
                                          <p:stCondLst>
                                            <p:cond delay="0"/>
                                          </p:stCondLst>
                                        </p:cTn>
                                        <p:tgtEl>
                                          <p:spTgt spid="123947"/>
                                        </p:tgtEl>
                                        <p:attrNameLst>
                                          <p:attrName>style.visibility</p:attrName>
                                        </p:attrNameLst>
                                      </p:cBhvr>
                                      <p:to>
                                        <p:strVal val="visible"/>
                                      </p:to>
                                    </p:set>
                                    <p:animEffect transition="in" filter="wipe(up)">
                                      <p:cBhvr>
                                        <p:cTn id="172" dur="500"/>
                                        <p:tgtEl>
                                          <p:spTgt spid="123947"/>
                                        </p:tgtEl>
                                      </p:cBhvr>
                                    </p:animEffect>
                                  </p:childTnLst>
                                  <p:subTnLst>
                                    <p:set>
                                      <p:cBhvr override="childStyle">
                                        <p:cTn dur="1" fill="hold" display="0" masterRel="nextClick" afterEffect="1"/>
                                        <p:tgtEl>
                                          <p:spTgt spid="123947"/>
                                        </p:tgtEl>
                                        <p:attrNameLst>
                                          <p:attrName>style.visibility</p:attrName>
                                        </p:attrNameLst>
                                      </p:cBhvr>
                                      <p:to>
                                        <p:strVal val="hidden"/>
                                      </p:to>
                                    </p:set>
                                  </p:sub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1" fill="hold" grpId="0" nodeType="clickEffect">
                                  <p:stCondLst>
                                    <p:cond delay="0"/>
                                  </p:stCondLst>
                                  <p:childTnLst>
                                    <p:set>
                                      <p:cBhvr>
                                        <p:cTn id="176" dur="1" fill="hold">
                                          <p:stCondLst>
                                            <p:cond delay="0"/>
                                          </p:stCondLst>
                                        </p:cTn>
                                        <p:tgtEl>
                                          <p:spTgt spid="123931"/>
                                        </p:tgtEl>
                                        <p:attrNameLst>
                                          <p:attrName>style.visibility</p:attrName>
                                        </p:attrNameLst>
                                      </p:cBhvr>
                                      <p:to>
                                        <p:strVal val="visible"/>
                                      </p:to>
                                    </p:set>
                                    <p:animEffect transition="in" filter="wipe(up)">
                                      <p:cBhvr>
                                        <p:cTn id="177" dur="500"/>
                                        <p:tgtEl>
                                          <p:spTgt spid="123931"/>
                                        </p:tgtEl>
                                      </p:cBhvr>
                                    </p:animEffect>
                                  </p:childTnLst>
                                </p:cTn>
                              </p:par>
                            </p:childTnLst>
                          </p:cTn>
                        </p:par>
                        <p:par>
                          <p:cTn id="178" fill="hold" nodeType="afterGroup">
                            <p:stCondLst>
                              <p:cond delay="500"/>
                            </p:stCondLst>
                            <p:childTnLst>
                              <p:par>
                                <p:cTn id="179" presetID="22" presetClass="entr" presetSubtype="1" fill="hold" grpId="0" nodeType="afterEffect">
                                  <p:stCondLst>
                                    <p:cond delay="0"/>
                                  </p:stCondLst>
                                  <p:childTnLst>
                                    <p:set>
                                      <p:cBhvr>
                                        <p:cTn id="180" dur="1" fill="hold">
                                          <p:stCondLst>
                                            <p:cond delay="0"/>
                                          </p:stCondLst>
                                        </p:cTn>
                                        <p:tgtEl>
                                          <p:spTgt spid="123932"/>
                                        </p:tgtEl>
                                        <p:attrNameLst>
                                          <p:attrName>style.visibility</p:attrName>
                                        </p:attrNameLst>
                                      </p:cBhvr>
                                      <p:to>
                                        <p:strVal val="visible"/>
                                      </p:to>
                                    </p:set>
                                    <p:animEffect transition="in" filter="wipe(up)">
                                      <p:cBhvr>
                                        <p:cTn id="181" dur="500"/>
                                        <p:tgtEl>
                                          <p:spTgt spid="123932"/>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2" presetClass="entr" presetSubtype="1" fill="hold" grpId="0" nodeType="clickEffect">
                                  <p:stCondLst>
                                    <p:cond delay="0"/>
                                  </p:stCondLst>
                                  <p:childTnLst>
                                    <p:set>
                                      <p:cBhvr>
                                        <p:cTn id="185" dur="1" fill="hold">
                                          <p:stCondLst>
                                            <p:cond delay="0"/>
                                          </p:stCondLst>
                                        </p:cTn>
                                        <p:tgtEl>
                                          <p:spTgt spid="123934"/>
                                        </p:tgtEl>
                                        <p:attrNameLst>
                                          <p:attrName>style.visibility</p:attrName>
                                        </p:attrNameLst>
                                      </p:cBhvr>
                                      <p:to>
                                        <p:strVal val="visible"/>
                                      </p:to>
                                    </p:set>
                                    <p:animEffect transition="in" filter="slide(fromTop)">
                                      <p:cBhvr>
                                        <p:cTn id="186" dur="500"/>
                                        <p:tgtEl>
                                          <p:spTgt spid="123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nimBg="1"/>
      <p:bldP spid="123909" grpId="0" animBg="1"/>
      <p:bldP spid="123910" grpId="0" autoUpdateAnimBg="0"/>
      <p:bldP spid="123911" grpId="0" autoUpdateAnimBg="0"/>
      <p:bldP spid="123912" grpId="0" animBg="1"/>
      <p:bldP spid="123913" grpId="0" autoUpdateAnimBg="0"/>
      <p:bldP spid="123914" grpId="0" animBg="1"/>
      <p:bldP spid="123915" grpId="0" autoUpdateAnimBg="0"/>
      <p:bldP spid="123916" grpId="0" autoUpdateAnimBg="0"/>
      <p:bldP spid="123917" grpId="0" autoUpdateAnimBg="0"/>
      <p:bldP spid="123918" grpId="0" autoUpdateAnimBg="0"/>
      <p:bldP spid="123919" grpId="0" animBg="1"/>
      <p:bldP spid="123920" grpId="0" autoUpdateAnimBg="0"/>
      <p:bldP spid="123921" grpId="0" animBg="1"/>
      <p:bldP spid="123922" grpId="0" animBg="1" autoUpdateAnimBg="0"/>
      <p:bldP spid="123923" grpId="0" animBg="1"/>
      <p:bldP spid="123924" grpId="0" autoUpdateAnimBg="0"/>
      <p:bldP spid="123925" grpId="0" animBg="1"/>
      <p:bldP spid="123926" grpId="0" animBg="1" autoUpdateAnimBg="0"/>
      <p:bldP spid="123927" grpId="0" animBg="1"/>
      <p:bldP spid="123928" grpId="0" autoUpdateAnimBg="0"/>
      <p:bldP spid="123929" grpId="0" animBg="1"/>
      <p:bldP spid="123930" grpId="0" animBg="1" autoUpdateAnimBg="0"/>
      <p:bldP spid="123931" grpId="0" animBg="1"/>
      <p:bldP spid="123932" grpId="0" autoUpdateAnimBg="0"/>
      <p:bldP spid="123933" grpId="0" animBg="1"/>
      <p:bldP spid="123934" grpId="0" animBg="1" autoUpdateAnimBg="0"/>
      <p:bldP spid="123935" grpId="0" autoUpdateAnimBg="0"/>
      <p:bldP spid="123936" grpId="0" autoUpdateAnimBg="0"/>
      <p:bldP spid="123937" grpId="0" animBg="1" autoUpdateAnimBg="0"/>
      <p:bldP spid="123938" grpId="0" animBg="1"/>
      <p:bldP spid="123939" grpId="0" autoUpdateAnimBg="0"/>
      <p:bldP spid="123940" grpId="0" animBg="1"/>
      <p:bldP spid="123941" grpId="0" autoUpdateAnimBg="0"/>
      <p:bldP spid="123942" grpId="0" animBg="1"/>
      <p:bldP spid="123943" grpId="0" autoUpdateAnimBg="0"/>
      <p:bldP spid="123944" grpId="0" animBg="1"/>
      <p:bldP spid="123945" grpId="0" autoUpdateAnimBg="0"/>
      <p:bldP spid="123946" grpId="0" animBg="1"/>
      <p:bldP spid="12394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52400" y="139700"/>
            <a:ext cx="887095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a:ea typeface="楷体_GB2312" charset="0"/>
              </a:rPr>
              <a:t>  </a:t>
            </a:r>
            <a:r>
              <a:rPr lang="zh-CN" altLang="en-US" sz="3600">
                <a:ea typeface="楷体_GB2312" charset="0"/>
              </a:rPr>
              <a:t>可见，经过“</a:t>
            </a:r>
            <a:r>
              <a:rPr lang="zh-CN" altLang="en-US" sz="3600" b="1">
                <a:solidFill>
                  <a:srgbClr val="990000"/>
                </a:solidFill>
                <a:ea typeface="楷体_GB2312" charset="0"/>
              </a:rPr>
              <a:t>一次划分</a:t>
            </a:r>
            <a:r>
              <a:rPr lang="zh-CN" altLang="en-US" sz="3600">
                <a:ea typeface="楷体_GB2312" charset="0"/>
              </a:rPr>
              <a:t>” ，将关键字序列</a:t>
            </a:r>
          </a:p>
          <a:p>
            <a:pPr algn="l">
              <a:lnSpc>
                <a:spcPct val="140000"/>
              </a:lnSpc>
            </a:pPr>
            <a:r>
              <a:rPr lang="zh-CN" altLang="en-US" sz="3600" b="1">
                <a:ea typeface="楷体_GB2312" charset="0"/>
              </a:rPr>
              <a:t>               </a:t>
            </a:r>
            <a:r>
              <a:rPr lang="en-US" altLang="zh-CN" sz="3600">
                <a:ea typeface="楷体_GB2312" charset="0"/>
              </a:rPr>
              <a:t>52, 49, </a:t>
            </a:r>
            <a:r>
              <a:rPr lang="en-US" altLang="zh-CN" sz="3600" u="sng">
                <a:ea typeface="楷体_GB2312" charset="0"/>
              </a:rPr>
              <a:t>80</a:t>
            </a:r>
            <a:r>
              <a:rPr lang="en-US" altLang="zh-CN" sz="3600">
                <a:ea typeface="楷体_GB2312" charset="0"/>
              </a:rPr>
              <a:t>, 36, </a:t>
            </a:r>
            <a:r>
              <a:rPr lang="en-US" altLang="zh-CN" sz="3600" u="sng">
                <a:ea typeface="楷体_GB2312" charset="0"/>
              </a:rPr>
              <a:t>14</a:t>
            </a:r>
            <a:r>
              <a:rPr lang="en-US" altLang="zh-CN" sz="3600">
                <a:ea typeface="楷体_GB2312" charset="0"/>
              </a:rPr>
              <a:t>,  58, 61, 97, </a:t>
            </a:r>
            <a:r>
              <a:rPr lang="en-US" altLang="zh-CN" sz="3600" u="sng">
                <a:ea typeface="楷体_GB2312" charset="0"/>
              </a:rPr>
              <a:t>23</a:t>
            </a:r>
            <a:r>
              <a:rPr lang="en-US" altLang="zh-CN" sz="3600">
                <a:ea typeface="楷体_GB2312" charset="0"/>
              </a:rPr>
              <a:t>, 75  </a:t>
            </a:r>
          </a:p>
          <a:p>
            <a:pPr algn="l">
              <a:lnSpc>
                <a:spcPct val="140000"/>
              </a:lnSpc>
            </a:pPr>
            <a:r>
              <a:rPr lang="zh-CN" altLang="en-US" sz="3600">
                <a:ea typeface="楷体_GB2312" charset="0"/>
              </a:rPr>
              <a:t>调整为</a:t>
            </a:r>
            <a:r>
              <a:rPr lang="en-US" altLang="zh-CN" sz="3600">
                <a:ea typeface="楷体_GB2312" charset="0"/>
              </a:rPr>
              <a:t>:  </a:t>
            </a:r>
            <a:r>
              <a:rPr lang="en-US" altLang="zh-CN" sz="3600" b="1">
                <a:solidFill>
                  <a:srgbClr val="0000FF"/>
                </a:solidFill>
                <a:ea typeface="楷体_GB2312" charset="0"/>
              </a:rPr>
              <a:t>23</a:t>
            </a:r>
            <a:r>
              <a:rPr lang="en-US" altLang="zh-CN" sz="3600">
                <a:ea typeface="楷体_GB2312" charset="0"/>
              </a:rPr>
              <a:t>, 49, </a:t>
            </a:r>
            <a:r>
              <a:rPr lang="en-US" altLang="zh-CN" sz="3600" b="1">
                <a:solidFill>
                  <a:srgbClr val="0000FF"/>
                </a:solidFill>
                <a:ea typeface="楷体_GB2312" charset="0"/>
              </a:rPr>
              <a:t>14</a:t>
            </a:r>
            <a:r>
              <a:rPr lang="en-US" altLang="zh-CN" sz="3600">
                <a:ea typeface="楷体_GB2312" charset="0"/>
              </a:rPr>
              <a:t>, 36, </a:t>
            </a:r>
            <a:r>
              <a:rPr lang="en-US" altLang="zh-CN" sz="3600" b="1">
                <a:solidFill>
                  <a:srgbClr val="FF0000"/>
                </a:solidFill>
                <a:ea typeface="楷体_GB2312" charset="0"/>
              </a:rPr>
              <a:t>(52)</a:t>
            </a:r>
            <a:r>
              <a:rPr lang="en-US" altLang="zh-CN" sz="3600">
                <a:ea typeface="楷体_GB2312" charset="0"/>
              </a:rPr>
              <a:t> 58, 61, 97, </a:t>
            </a:r>
            <a:r>
              <a:rPr lang="en-US" altLang="zh-CN" sz="3600" b="1">
                <a:solidFill>
                  <a:srgbClr val="990000"/>
                </a:solidFill>
                <a:ea typeface="楷体_GB2312" charset="0"/>
              </a:rPr>
              <a:t>80</a:t>
            </a:r>
            <a:r>
              <a:rPr lang="en-US" altLang="zh-CN" sz="3600">
                <a:ea typeface="楷体_GB2312" charset="0"/>
              </a:rPr>
              <a:t>, 75</a:t>
            </a:r>
          </a:p>
        </p:txBody>
      </p:sp>
      <p:sp>
        <p:nvSpPr>
          <p:cNvPr id="30724" name="AutoShape 4">
            <a:hlinkClick r:id="rId2" action="ppaction://hlinksldjump" highlightClick="1"/>
          </p:cNvPr>
          <p:cNvSpPr>
            <a:spLocks noChangeArrowheads="1"/>
          </p:cNvSpPr>
          <p:nvPr/>
        </p:nvSpPr>
        <p:spPr bwMode="auto">
          <a:xfrm>
            <a:off x="8458200" y="6324600"/>
            <a:ext cx="304800" cy="304800"/>
          </a:xfrm>
          <a:prstGeom prst="actionButtonForwardNex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0725" name="Rectangle 5"/>
          <p:cNvSpPr>
            <a:spLocks noChangeArrowheads="1"/>
          </p:cNvSpPr>
          <p:nvPr/>
        </p:nvSpPr>
        <p:spPr bwMode="auto">
          <a:xfrm>
            <a:off x="381000" y="2667000"/>
            <a:ext cx="85344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3600">
                <a:ea typeface="楷体_GB2312" charset="0"/>
              </a:rPr>
              <a:t>在调整过程中，设立了两个指针： </a:t>
            </a:r>
            <a:r>
              <a:rPr lang="en-US" altLang="zh-CN" sz="3600" b="1">
                <a:solidFill>
                  <a:srgbClr val="009999"/>
                </a:solidFill>
                <a:ea typeface="楷体_GB2312" charset="0"/>
              </a:rPr>
              <a:t>low</a:t>
            </a:r>
            <a:r>
              <a:rPr lang="en-US" altLang="zh-CN" sz="3600">
                <a:ea typeface="楷体_GB2312" charset="0"/>
              </a:rPr>
              <a:t> </a:t>
            </a:r>
            <a:r>
              <a:rPr lang="zh-CN" altLang="en-US" sz="3600">
                <a:ea typeface="楷体_GB2312" charset="0"/>
              </a:rPr>
              <a:t>和</a:t>
            </a:r>
            <a:r>
              <a:rPr lang="en-US" altLang="zh-CN" sz="3600" b="1">
                <a:solidFill>
                  <a:srgbClr val="990000"/>
                </a:solidFill>
                <a:ea typeface="楷体_GB2312" charset="0"/>
              </a:rPr>
              <a:t>high</a:t>
            </a:r>
            <a:r>
              <a:rPr lang="zh-CN" altLang="en-US" sz="3600">
                <a:ea typeface="楷体_GB2312" charset="0"/>
              </a:rPr>
              <a:t>，它们的初值分别为： </a:t>
            </a:r>
            <a:r>
              <a:rPr lang="en-US" altLang="zh-CN" sz="3600">
                <a:ea typeface="楷体_GB2312" charset="0"/>
              </a:rPr>
              <a:t>s </a:t>
            </a:r>
            <a:r>
              <a:rPr lang="zh-CN" altLang="en-US" sz="3600">
                <a:ea typeface="楷体_GB2312" charset="0"/>
              </a:rPr>
              <a:t>和 </a:t>
            </a:r>
            <a:r>
              <a:rPr lang="en-US" altLang="zh-CN" sz="3600">
                <a:ea typeface="楷体_GB2312" charset="0"/>
              </a:rPr>
              <a:t>t</a:t>
            </a:r>
            <a:r>
              <a:rPr lang="zh-CN" altLang="en-US" sz="3600">
                <a:ea typeface="楷体_GB2312" charset="0"/>
              </a:rPr>
              <a:t>， </a:t>
            </a:r>
            <a:endParaRPr lang="zh-CN" altLang="en-US" sz="3600">
              <a:latin typeface="楷体_GB2312" charset="0"/>
              <a:ea typeface="楷体_GB2312" charset="0"/>
            </a:endParaRPr>
          </a:p>
        </p:txBody>
      </p:sp>
      <p:sp>
        <p:nvSpPr>
          <p:cNvPr id="30726" name="Rectangle 6"/>
          <p:cNvSpPr>
            <a:spLocks noChangeArrowheads="1"/>
          </p:cNvSpPr>
          <p:nvPr/>
        </p:nvSpPr>
        <p:spPr bwMode="auto">
          <a:xfrm>
            <a:off x="304800" y="4267200"/>
            <a:ext cx="86106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solidFill>
                  <a:srgbClr val="0000FF"/>
                </a:solidFill>
                <a:ea typeface="楷体_GB2312" charset="0"/>
              </a:rPr>
              <a:t>     </a:t>
            </a:r>
            <a:r>
              <a:rPr lang="zh-CN" altLang="en-US" sz="3600">
                <a:solidFill>
                  <a:srgbClr val="0000FF"/>
                </a:solidFill>
                <a:ea typeface="楷体_GB2312" charset="0"/>
              </a:rPr>
              <a:t>之后逐渐减小 </a:t>
            </a:r>
            <a:r>
              <a:rPr lang="en-US" altLang="zh-CN" sz="3600" b="1">
                <a:solidFill>
                  <a:srgbClr val="990000"/>
                </a:solidFill>
                <a:ea typeface="楷体_GB2312" charset="0"/>
              </a:rPr>
              <a:t>high</a:t>
            </a:r>
            <a:r>
              <a:rPr lang="zh-CN" altLang="en-US" sz="3600">
                <a:solidFill>
                  <a:srgbClr val="0000FF"/>
                </a:solidFill>
                <a:ea typeface="楷体_GB2312" charset="0"/>
              </a:rPr>
              <a:t>，增加 </a:t>
            </a:r>
            <a:r>
              <a:rPr lang="en-US" altLang="zh-CN" sz="3600" b="1">
                <a:solidFill>
                  <a:srgbClr val="009999"/>
                </a:solidFill>
                <a:ea typeface="楷体_GB2312" charset="0"/>
              </a:rPr>
              <a:t>low</a:t>
            </a:r>
            <a:r>
              <a:rPr lang="zh-CN" altLang="en-US" sz="3600">
                <a:solidFill>
                  <a:srgbClr val="0000FF"/>
                </a:solidFill>
                <a:ea typeface="楷体_GB2312" charset="0"/>
              </a:rPr>
              <a:t>，并保证 </a:t>
            </a:r>
          </a:p>
          <a:p>
            <a:pPr algn="l">
              <a:lnSpc>
                <a:spcPct val="125000"/>
              </a:lnSpc>
            </a:pPr>
            <a:r>
              <a:rPr lang="zh-CN" altLang="en-US" sz="3600">
                <a:solidFill>
                  <a:srgbClr val="0000FF"/>
                </a:solidFill>
                <a:ea typeface="楷体_GB2312" charset="0"/>
              </a:rPr>
              <a:t>     </a:t>
            </a:r>
            <a:r>
              <a:rPr lang="en-US" altLang="zh-CN" sz="3600">
                <a:solidFill>
                  <a:srgbClr val="FF0000"/>
                </a:solidFill>
                <a:ea typeface="楷体_GB2312" charset="0"/>
              </a:rPr>
              <a:t>R[</a:t>
            </a:r>
            <a:r>
              <a:rPr lang="en-US" altLang="zh-CN" sz="3600" b="1">
                <a:solidFill>
                  <a:srgbClr val="990000"/>
                </a:solidFill>
                <a:ea typeface="楷体_GB2312" charset="0"/>
              </a:rPr>
              <a:t>high</a:t>
            </a:r>
            <a:r>
              <a:rPr lang="en-US" altLang="zh-CN" sz="3600">
                <a:solidFill>
                  <a:srgbClr val="FF0000"/>
                </a:solidFill>
                <a:ea typeface="楷体_GB2312" charset="0"/>
              </a:rPr>
              <a:t>].key≥52</a:t>
            </a:r>
            <a:r>
              <a:rPr lang="zh-CN" altLang="en-US" sz="3600">
                <a:solidFill>
                  <a:srgbClr val="FF0000"/>
                </a:solidFill>
                <a:ea typeface="楷体_GB2312" charset="0"/>
              </a:rPr>
              <a:t>，和  </a:t>
            </a:r>
            <a:r>
              <a:rPr lang="en-US" altLang="zh-CN" sz="3600">
                <a:solidFill>
                  <a:srgbClr val="FF0000"/>
                </a:solidFill>
                <a:ea typeface="楷体_GB2312" charset="0"/>
              </a:rPr>
              <a:t>R[</a:t>
            </a:r>
            <a:r>
              <a:rPr lang="en-US" altLang="zh-CN" sz="3600" b="1">
                <a:solidFill>
                  <a:srgbClr val="009999"/>
                </a:solidFill>
                <a:ea typeface="楷体_GB2312" charset="0"/>
              </a:rPr>
              <a:t>low</a:t>
            </a:r>
            <a:r>
              <a:rPr lang="en-US" altLang="zh-CN" sz="3600">
                <a:solidFill>
                  <a:srgbClr val="FF0000"/>
                </a:solidFill>
                <a:ea typeface="楷体_GB2312" charset="0"/>
              </a:rPr>
              <a:t>].key≤52</a:t>
            </a:r>
            <a:r>
              <a:rPr lang="en-US" altLang="zh-CN" sz="3600">
                <a:solidFill>
                  <a:srgbClr val="FF0000"/>
                </a:solidFill>
                <a:latin typeface="楷体_GB2312" charset="0"/>
                <a:ea typeface="楷体_GB2312" charset="0"/>
              </a:rPr>
              <a:t>,</a:t>
            </a:r>
            <a:r>
              <a:rPr lang="zh-CN" altLang="en-US" sz="3600">
                <a:solidFill>
                  <a:srgbClr val="0000FF"/>
                </a:solidFill>
                <a:latin typeface="楷体_GB2312" charset="0"/>
                <a:ea typeface="楷体_GB2312" charset="0"/>
              </a:rPr>
              <a:t>否则进行记录的</a:t>
            </a:r>
            <a:r>
              <a:rPr lang="zh-CN" altLang="en-US" sz="3600">
                <a:solidFill>
                  <a:srgbClr val="0000FF"/>
                </a:solidFill>
                <a:ea typeface="楷体_GB2312" charset="0"/>
              </a:rPr>
              <a:t>“</a:t>
            </a:r>
            <a:r>
              <a:rPr lang="zh-CN" altLang="en-US" sz="3600">
                <a:solidFill>
                  <a:srgbClr val="0000FF"/>
                </a:solidFill>
                <a:latin typeface="楷体_GB2312" charset="0"/>
                <a:ea typeface="楷体_GB2312" charset="0"/>
              </a:rPr>
              <a:t>交换</a:t>
            </a:r>
            <a:r>
              <a:rPr lang="zh-CN" altLang="en-US" sz="3600">
                <a:solidFill>
                  <a:srgbClr val="0000FF"/>
                </a:solidFill>
                <a:ea typeface="楷体_GB2312" charset="0"/>
              </a:rPr>
              <a:t>”</a:t>
            </a:r>
            <a:r>
              <a:rPr lang="zh-CN" altLang="en-US" sz="3600">
                <a:latin typeface="楷体_GB2312" charset="0"/>
                <a:ea typeface="楷体_GB2312" charset="0"/>
              </a:rPr>
              <a:t>。</a:t>
            </a:r>
          </a:p>
        </p:txBody>
      </p:sp>
    </p:spTree>
    <p:extLst>
      <p:ext uri="{BB962C8B-B14F-4D97-AF65-F5344CB8AC3E}">
        <p14:creationId xmlns:p14="http://schemas.microsoft.com/office/powerpoint/2010/main" val="6666774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strips(downRight)">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5"/>
                                        </p:tgtEl>
                                        <p:attrNameLst>
                                          <p:attrName>style.visibility</p:attrName>
                                        </p:attrNameLst>
                                      </p:cBhvr>
                                      <p:to>
                                        <p:strVal val="visible"/>
                                      </p:to>
                                    </p:set>
                                    <p:animEffect transition="in" filter="wipe(left)">
                                      <p:cBhvr>
                                        <p:cTn id="12" dur="500"/>
                                        <p:tgtEl>
                                          <p:spTgt spid="30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6"/>
                                        </p:tgtEl>
                                        <p:attrNameLst>
                                          <p:attrName>style.visibility</p:attrName>
                                        </p:attrNameLst>
                                      </p:cBhvr>
                                      <p:to>
                                        <p:strVal val="visible"/>
                                      </p:to>
                                    </p:set>
                                    <p:animEffect transition="in" filter="wipe(left)">
                                      <p:cBhvr>
                                        <p:cTn id="17" dur="500"/>
                                        <p:tgtEl>
                                          <p:spTgt spid="30726"/>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30724"/>
                                        </p:tgtEl>
                                        <p:attrNameLst>
                                          <p:attrName>style.visibility</p:attrName>
                                        </p:attrNameLst>
                                      </p:cBhvr>
                                      <p:to>
                                        <p:strVal val="visible"/>
                                      </p:to>
                                    </p:set>
                                    <p:anim calcmode="lin" valueType="num">
                                      <p:cBhvr additive="base">
                                        <p:cTn id="21" dur="500" fill="hold"/>
                                        <p:tgtEl>
                                          <p:spTgt spid="30724"/>
                                        </p:tgtEl>
                                        <p:attrNameLst>
                                          <p:attrName>ppt_x</p:attrName>
                                        </p:attrNameLst>
                                      </p:cBhvr>
                                      <p:tavLst>
                                        <p:tav tm="0">
                                          <p:val>
                                            <p:strVal val="1+#ppt_w/2"/>
                                          </p:val>
                                        </p:tav>
                                        <p:tav tm="100000">
                                          <p:val>
                                            <p:strVal val="#ppt_x"/>
                                          </p:val>
                                        </p:tav>
                                      </p:tavLst>
                                    </p:anim>
                                    <p:anim calcmode="lin" valueType="num">
                                      <p:cBhvr additive="base">
                                        <p:cTn id="22"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4" grpId="0" animBg="1"/>
      <p:bldP spid="30725" grpId="0" autoUpdateAnimBg="0"/>
      <p:bldP spid="30726"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3"/>
          <p:cNvSpPr txBox="1">
            <a:spLocks noChangeArrowheads="1"/>
          </p:cNvSpPr>
          <p:nvPr/>
        </p:nvSpPr>
        <p:spPr bwMode="auto">
          <a:xfrm>
            <a:off x="76200" y="88900"/>
            <a:ext cx="8572500" cy="681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990000"/>
                </a:solidFill>
                <a:ea typeface="楷体_GB2312" charset="0"/>
              </a:rPr>
              <a:t>int</a:t>
            </a:r>
            <a:r>
              <a:rPr lang="en-US" altLang="zh-CN" sz="3200">
                <a:solidFill>
                  <a:srgbClr val="990000"/>
                </a:solidFill>
                <a:ea typeface="楷体_GB2312" charset="0"/>
              </a:rPr>
              <a:t> Partition (RedType</a:t>
            </a:r>
            <a:r>
              <a:rPr lang="en-US" altLang="zh-CN" sz="3200" b="1">
                <a:solidFill>
                  <a:srgbClr val="990000"/>
                </a:solidFill>
                <a:ea typeface="楷体_GB2312" charset="0"/>
              </a:rPr>
              <a:t>&amp;</a:t>
            </a:r>
            <a:r>
              <a:rPr lang="en-US" altLang="zh-CN" sz="3200">
                <a:solidFill>
                  <a:srgbClr val="990000"/>
                </a:solidFill>
                <a:ea typeface="楷体_GB2312" charset="0"/>
              </a:rPr>
              <a:t> R[], </a:t>
            </a:r>
            <a:r>
              <a:rPr lang="en-US" altLang="zh-CN" sz="3200" b="1">
                <a:solidFill>
                  <a:srgbClr val="990000"/>
                </a:solidFill>
                <a:ea typeface="楷体_GB2312" charset="0"/>
              </a:rPr>
              <a:t>int</a:t>
            </a:r>
            <a:r>
              <a:rPr lang="en-US" altLang="zh-CN" sz="3200">
                <a:solidFill>
                  <a:srgbClr val="990000"/>
                </a:solidFill>
                <a:ea typeface="楷体_GB2312" charset="0"/>
              </a:rPr>
              <a:t> low, </a:t>
            </a:r>
            <a:r>
              <a:rPr lang="en-US" altLang="zh-CN" sz="3200" b="1">
                <a:solidFill>
                  <a:srgbClr val="990000"/>
                </a:solidFill>
                <a:ea typeface="楷体_GB2312" charset="0"/>
              </a:rPr>
              <a:t>int</a:t>
            </a:r>
            <a:r>
              <a:rPr lang="en-US" altLang="zh-CN" sz="3200">
                <a:solidFill>
                  <a:srgbClr val="990000"/>
                </a:solidFill>
                <a:ea typeface="楷体_GB2312" charset="0"/>
              </a:rPr>
              <a:t> high)</a:t>
            </a:r>
            <a:r>
              <a:rPr lang="en-US" altLang="zh-CN" sz="3200">
                <a:ea typeface="楷体_GB2312" charset="0"/>
              </a:rPr>
              <a:t> </a:t>
            </a:r>
            <a:r>
              <a:rPr lang="en-US" altLang="zh-CN" sz="3200" b="1">
                <a:ea typeface="楷体_GB2312" charset="0"/>
              </a:rPr>
              <a:t>{</a:t>
            </a:r>
            <a:endParaRPr lang="en-US" altLang="zh-CN" sz="3200">
              <a:ea typeface="楷体_GB2312" charset="0"/>
            </a:endParaRPr>
          </a:p>
          <a:p>
            <a:pPr algn="l">
              <a:lnSpc>
                <a:spcPct val="115000"/>
              </a:lnSpc>
            </a:pPr>
            <a:r>
              <a:rPr lang="en-US" altLang="zh-CN" sz="3200">
                <a:ea typeface="楷体_GB2312" charset="0"/>
              </a:rPr>
              <a:t>  pivotkey = R[low].key;</a:t>
            </a:r>
          </a:p>
          <a:p>
            <a:pPr algn="l">
              <a:lnSpc>
                <a:spcPct val="115000"/>
              </a:lnSpc>
            </a:pPr>
            <a:r>
              <a:rPr lang="en-US" altLang="zh-CN" sz="3200">
                <a:ea typeface="楷体_GB2312" charset="0"/>
              </a:rPr>
              <a:t>  </a:t>
            </a:r>
            <a:r>
              <a:rPr lang="en-US" altLang="zh-CN" sz="3200" b="1">
                <a:ea typeface="楷体_GB2312" charset="0"/>
              </a:rPr>
              <a:t>while</a:t>
            </a:r>
            <a:r>
              <a:rPr lang="en-US" altLang="zh-CN" sz="3200">
                <a:ea typeface="楷体_GB2312" charset="0"/>
              </a:rPr>
              <a:t> (low&lt;high) </a:t>
            </a:r>
            <a:r>
              <a:rPr lang="en-US" altLang="zh-CN" sz="3200" b="1">
                <a:ea typeface="楷体_GB2312" charset="0"/>
              </a:rPr>
              <a:t>{</a:t>
            </a:r>
          </a:p>
          <a:p>
            <a:pPr algn="l">
              <a:lnSpc>
                <a:spcPct val="115000"/>
              </a:lnSpc>
            </a:pPr>
            <a:r>
              <a:rPr lang="en-US" altLang="zh-CN" sz="3200">
                <a:ea typeface="楷体_GB2312" charset="0"/>
              </a:rPr>
              <a:t>    </a:t>
            </a:r>
            <a:r>
              <a:rPr lang="en-US" altLang="zh-CN" sz="3200" b="1">
                <a:ea typeface="楷体_GB2312" charset="0"/>
              </a:rPr>
              <a:t>while</a:t>
            </a:r>
            <a:r>
              <a:rPr lang="en-US" altLang="zh-CN" sz="3200">
                <a:ea typeface="楷体_GB2312" charset="0"/>
              </a:rPr>
              <a:t> (low&lt;high </a:t>
            </a:r>
            <a:r>
              <a:rPr lang="en-US" altLang="zh-CN" sz="3200" b="1">
                <a:ea typeface="楷体_GB2312" charset="0"/>
              </a:rPr>
              <a:t>&amp;&amp;</a:t>
            </a:r>
            <a:r>
              <a:rPr lang="en-US" altLang="zh-CN" sz="3200">
                <a:ea typeface="楷体_GB2312" charset="0"/>
              </a:rPr>
              <a:t> </a:t>
            </a:r>
            <a:r>
              <a:rPr lang="en-US" altLang="zh-CN" sz="3200">
                <a:solidFill>
                  <a:srgbClr val="FF00FF"/>
                </a:solidFill>
                <a:ea typeface="楷体_GB2312" charset="0"/>
              </a:rPr>
              <a:t>R[high].key</a:t>
            </a:r>
            <a:r>
              <a:rPr lang="en-US" altLang="zh-CN" sz="3200" b="1">
                <a:solidFill>
                  <a:srgbClr val="FF00FF"/>
                </a:solidFill>
                <a:ea typeface="楷体_GB2312" charset="0"/>
              </a:rPr>
              <a:t>&gt;=</a:t>
            </a:r>
            <a:r>
              <a:rPr lang="en-US" altLang="zh-CN" sz="3200">
                <a:solidFill>
                  <a:srgbClr val="FF00FF"/>
                </a:solidFill>
                <a:ea typeface="楷体_GB2312" charset="0"/>
              </a:rPr>
              <a:t>pivotkey</a:t>
            </a:r>
            <a:r>
              <a:rPr lang="en-US" altLang="zh-CN" sz="3200">
                <a:ea typeface="楷体_GB2312" charset="0"/>
              </a:rPr>
              <a:t>)    </a:t>
            </a:r>
          </a:p>
          <a:p>
            <a:pPr algn="l">
              <a:lnSpc>
                <a:spcPct val="115000"/>
              </a:lnSpc>
            </a:pPr>
            <a:r>
              <a:rPr lang="en-US" altLang="zh-CN" sz="3200">
                <a:ea typeface="楷体_GB2312" charset="0"/>
              </a:rPr>
              <a:t>      </a:t>
            </a:r>
            <a:r>
              <a:rPr lang="en-US" altLang="zh-CN" sz="3200">
                <a:solidFill>
                  <a:srgbClr val="FF00FF"/>
                </a:solidFill>
                <a:ea typeface="楷体_GB2312" charset="0"/>
              </a:rPr>
              <a:t> --high</a:t>
            </a:r>
            <a:r>
              <a:rPr lang="en-US" altLang="zh-CN" sz="3200">
                <a:ea typeface="楷体_GB2312" charset="0"/>
              </a:rPr>
              <a:t>;</a:t>
            </a:r>
          </a:p>
          <a:p>
            <a:pPr algn="l">
              <a:lnSpc>
                <a:spcPct val="115000"/>
              </a:lnSpc>
            </a:pPr>
            <a:r>
              <a:rPr lang="en-US" altLang="zh-CN" sz="3200">
                <a:ea typeface="楷体_GB2312" charset="0"/>
              </a:rPr>
              <a:t>    </a:t>
            </a:r>
            <a:r>
              <a:rPr lang="en-US" altLang="zh-CN" sz="3200">
                <a:solidFill>
                  <a:srgbClr val="0000FF"/>
                </a:solidFill>
                <a:ea typeface="楷体_GB2312" charset="0"/>
              </a:rPr>
              <a:t>R[low]←→R[high]</a:t>
            </a:r>
            <a:r>
              <a:rPr lang="en-US" altLang="zh-CN" sz="3200">
                <a:ea typeface="楷体_GB2312" charset="0"/>
              </a:rPr>
              <a:t>;   </a:t>
            </a:r>
          </a:p>
          <a:p>
            <a:pPr algn="l">
              <a:lnSpc>
                <a:spcPct val="115000"/>
              </a:lnSpc>
            </a:pPr>
            <a:r>
              <a:rPr lang="en-US" altLang="zh-CN" sz="3200">
                <a:ea typeface="楷体_GB2312" charset="0"/>
              </a:rPr>
              <a:t>    </a:t>
            </a:r>
            <a:r>
              <a:rPr lang="en-US" altLang="zh-CN" sz="3200" b="1">
                <a:ea typeface="楷体_GB2312" charset="0"/>
              </a:rPr>
              <a:t>while</a:t>
            </a:r>
            <a:r>
              <a:rPr lang="en-US" altLang="zh-CN" sz="3200">
                <a:ea typeface="楷体_GB2312" charset="0"/>
              </a:rPr>
              <a:t> (low&lt;high </a:t>
            </a:r>
            <a:r>
              <a:rPr lang="en-US" altLang="zh-CN" sz="3200" b="1">
                <a:ea typeface="楷体_GB2312" charset="0"/>
              </a:rPr>
              <a:t>&amp;&amp;</a:t>
            </a:r>
            <a:r>
              <a:rPr lang="en-US" altLang="zh-CN" sz="3200">
                <a:ea typeface="楷体_GB2312" charset="0"/>
              </a:rPr>
              <a:t> </a:t>
            </a:r>
            <a:r>
              <a:rPr lang="en-US" altLang="zh-CN" sz="3200">
                <a:solidFill>
                  <a:srgbClr val="FF00FF"/>
                </a:solidFill>
                <a:ea typeface="楷体_GB2312" charset="0"/>
              </a:rPr>
              <a:t>R[low].key</a:t>
            </a:r>
            <a:r>
              <a:rPr lang="en-US" altLang="zh-CN" sz="3200" b="1">
                <a:solidFill>
                  <a:srgbClr val="FF00FF"/>
                </a:solidFill>
                <a:ea typeface="楷体_GB2312" charset="0"/>
              </a:rPr>
              <a:t>&lt;=</a:t>
            </a:r>
            <a:r>
              <a:rPr lang="en-US" altLang="zh-CN" sz="3200">
                <a:solidFill>
                  <a:srgbClr val="FF00FF"/>
                </a:solidFill>
                <a:ea typeface="楷体_GB2312" charset="0"/>
              </a:rPr>
              <a:t>pivotkey</a:t>
            </a:r>
            <a:r>
              <a:rPr lang="en-US" altLang="zh-CN" sz="3200">
                <a:ea typeface="楷体_GB2312" charset="0"/>
              </a:rPr>
              <a:t>) </a:t>
            </a:r>
          </a:p>
          <a:p>
            <a:pPr algn="l">
              <a:lnSpc>
                <a:spcPct val="115000"/>
              </a:lnSpc>
            </a:pPr>
            <a:r>
              <a:rPr lang="en-US" altLang="zh-CN" sz="3200">
                <a:ea typeface="楷体_GB2312" charset="0"/>
              </a:rPr>
              <a:t>       </a:t>
            </a:r>
            <a:r>
              <a:rPr lang="en-US" altLang="zh-CN" sz="3200">
                <a:solidFill>
                  <a:srgbClr val="FF00FF"/>
                </a:solidFill>
                <a:ea typeface="楷体_GB2312" charset="0"/>
              </a:rPr>
              <a:t>++low</a:t>
            </a:r>
            <a:r>
              <a:rPr lang="en-US" altLang="zh-CN" sz="3200">
                <a:ea typeface="楷体_GB2312" charset="0"/>
              </a:rPr>
              <a:t>;</a:t>
            </a:r>
          </a:p>
          <a:p>
            <a:pPr algn="l">
              <a:lnSpc>
                <a:spcPct val="115000"/>
              </a:lnSpc>
            </a:pPr>
            <a:r>
              <a:rPr lang="en-US" altLang="zh-CN" sz="3200">
                <a:ea typeface="楷体_GB2312" charset="0"/>
              </a:rPr>
              <a:t>    </a:t>
            </a:r>
            <a:r>
              <a:rPr lang="en-US" altLang="zh-CN" sz="3200">
                <a:solidFill>
                  <a:srgbClr val="0000FF"/>
                </a:solidFill>
                <a:ea typeface="楷体_GB2312" charset="0"/>
              </a:rPr>
              <a:t>R[low]←→R[high];</a:t>
            </a:r>
            <a:endParaRPr lang="en-US" altLang="zh-CN" sz="3200">
              <a:ea typeface="楷体_GB2312" charset="0"/>
            </a:endParaRPr>
          </a:p>
          <a:p>
            <a:pPr algn="l">
              <a:lnSpc>
                <a:spcPct val="115000"/>
              </a:lnSpc>
            </a:pPr>
            <a:r>
              <a:rPr lang="en-US" altLang="zh-CN" sz="3200">
                <a:ea typeface="楷体_GB2312" charset="0"/>
              </a:rPr>
              <a:t>  </a:t>
            </a:r>
            <a:r>
              <a:rPr lang="en-US" altLang="zh-CN" sz="3200" b="1">
                <a:ea typeface="楷体_GB2312" charset="0"/>
              </a:rPr>
              <a:t>}</a:t>
            </a:r>
            <a:endParaRPr lang="en-US" altLang="zh-CN" sz="3200">
              <a:ea typeface="楷体_GB2312" charset="0"/>
            </a:endParaRPr>
          </a:p>
          <a:p>
            <a:pPr algn="l">
              <a:lnSpc>
                <a:spcPct val="115000"/>
              </a:lnSpc>
            </a:pPr>
            <a:r>
              <a:rPr lang="en-US" altLang="zh-CN" sz="3200">
                <a:ea typeface="楷体_GB2312" charset="0"/>
              </a:rPr>
              <a:t> </a:t>
            </a:r>
            <a:r>
              <a:rPr lang="en-US" altLang="zh-CN" sz="3200">
                <a:solidFill>
                  <a:srgbClr val="FF0000"/>
                </a:solidFill>
                <a:ea typeface="楷体_GB2312" charset="0"/>
              </a:rPr>
              <a:t> </a:t>
            </a:r>
            <a:r>
              <a:rPr lang="en-US" altLang="zh-CN" sz="3200" b="1">
                <a:solidFill>
                  <a:srgbClr val="FF0000"/>
                </a:solidFill>
                <a:ea typeface="楷体_GB2312" charset="0"/>
              </a:rPr>
              <a:t>return</a:t>
            </a:r>
            <a:r>
              <a:rPr lang="en-US" altLang="zh-CN" sz="3200">
                <a:solidFill>
                  <a:srgbClr val="FF0000"/>
                </a:solidFill>
                <a:ea typeface="楷体_GB2312" charset="0"/>
              </a:rPr>
              <a:t> low</a:t>
            </a:r>
            <a:r>
              <a:rPr lang="en-US" altLang="zh-CN" sz="3200">
                <a:ea typeface="楷体_GB2312" charset="0"/>
              </a:rPr>
              <a:t>;          // </a:t>
            </a:r>
            <a:r>
              <a:rPr lang="zh-CN" altLang="en-US" sz="3200">
                <a:ea typeface="楷体_GB2312" charset="0"/>
              </a:rPr>
              <a:t>返回枢轴所在位置</a:t>
            </a:r>
          </a:p>
          <a:p>
            <a:pPr algn="l">
              <a:lnSpc>
                <a:spcPct val="115000"/>
              </a:lnSpc>
            </a:pPr>
            <a:r>
              <a:rPr lang="en-US" altLang="zh-CN" sz="3200" b="1">
                <a:ea typeface="楷体_GB2312" charset="0"/>
              </a:rPr>
              <a:t>}</a:t>
            </a:r>
            <a:r>
              <a:rPr lang="en-US" altLang="zh-CN" sz="3200">
                <a:ea typeface="楷体_GB2312" charset="0"/>
              </a:rPr>
              <a:t> // Partition</a:t>
            </a:r>
            <a:endParaRPr lang="en-US" altLang="zh-CN" sz="3600" b="1">
              <a:ea typeface="楷体_GB2312" charset="0"/>
            </a:endParaRPr>
          </a:p>
        </p:txBody>
      </p:sp>
    </p:spTree>
    <p:extLst>
      <p:ext uri="{BB962C8B-B14F-4D97-AF65-F5344CB8AC3E}">
        <p14:creationId xmlns:p14="http://schemas.microsoft.com/office/powerpoint/2010/main" val="15410177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strips(upLeft)">
                                      <p:cBhvr>
                                        <p:cTn id="7" dur="5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p:cNvSpPr txBox="1">
            <a:spLocks noChangeArrowheads="1"/>
          </p:cNvSpPr>
          <p:nvPr/>
        </p:nvSpPr>
        <p:spPr bwMode="auto">
          <a:xfrm>
            <a:off x="228600" y="100013"/>
            <a:ext cx="7812088" cy="688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990000"/>
                </a:solidFill>
                <a:ea typeface="楷体_GB2312" charset="0"/>
              </a:rPr>
              <a:t>int</a:t>
            </a:r>
            <a:r>
              <a:rPr lang="en-US" altLang="zh-CN" sz="3200">
                <a:solidFill>
                  <a:srgbClr val="990000"/>
                </a:solidFill>
                <a:ea typeface="楷体_GB2312" charset="0"/>
              </a:rPr>
              <a:t> Partition (RedType R[], </a:t>
            </a:r>
            <a:r>
              <a:rPr lang="en-US" altLang="zh-CN" sz="3200" b="1">
                <a:solidFill>
                  <a:srgbClr val="990000"/>
                </a:solidFill>
                <a:ea typeface="楷体_GB2312" charset="0"/>
              </a:rPr>
              <a:t>int</a:t>
            </a:r>
            <a:r>
              <a:rPr lang="en-US" altLang="zh-CN" sz="3200">
                <a:solidFill>
                  <a:srgbClr val="990000"/>
                </a:solidFill>
                <a:ea typeface="楷体_GB2312" charset="0"/>
              </a:rPr>
              <a:t> low, </a:t>
            </a:r>
            <a:r>
              <a:rPr lang="en-US" altLang="zh-CN" sz="3200" b="1">
                <a:solidFill>
                  <a:srgbClr val="990000"/>
                </a:solidFill>
                <a:ea typeface="楷体_GB2312" charset="0"/>
              </a:rPr>
              <a:t>int</a:t>
            </a:r>
            <a:r>
              <a:rPr lang="en-US" altLang="zh-CN" sz="3200">
                <a:solidFill>
                  <a:srgbClr val="990000"/>
                </a:solidFill>
                <a:ea typeface="楷体_GB2312" charset="0"/>
              </a:rPr>
              <a:t> high)</a:t>
            </a:r>
            <a:r>
              <a:rPr lang="en-US" altLang="zh-CN" sz="3200">
                <a:ea typeface="楷体_GB2312" charset="0"/>
              </a:rPr>
              <a:t> </a:t>
            </a:r>
            <a:r>
              <a:rPr lang="en-US" altLang="zh-CN" sz="3200" b="1">
                <a:ea typeface="楷体_GB2312" charset="0"/>
              </a:rPr>
              <a:t>{</a:t>
            </a: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a:ea typeface="楷体_GB2312" charset="0"/>
            </a:endParaRPr>
          </a:p>
          <a:p>
            <a:pPr algn="l">
              <a:lnSpc>
                <a:spcPct val="115000"/>
              </a:lnSpc>
            </a:pPr>
            <a:r>
              <a:rPr lang="en-US" altLang="zh-CN" sz="3200" b="1">
                <a:ea typeface="楷体_GB2312" charset="0"/>
              </a:rPr>
              <a:t>}</a:t>
            </a:r>
            <a:r>
              <a:rPr lang="en-US" altLang="zh-CN" sz="3200">
                <a:ea typeface="楷体_GB2312" charset="0"/>
              </a:rPr>
              <a:t>// Partition</a:t>
            </a:r>
            <a:r>
              <a:rPr lang="en-US" altLang="zh-CN" sz="3600">
                <a:ea typeface="楷体_GB2312" charset="0"/>
              </a:rPr>
              <a:t>         </a:t>
            </a:r>
            <a:endParaRPr lang="en-US" altLang="zh-CN" sz="3200">
              <a:ea typeface="楷体_GB2312" charset="0"/>
            </a:endParaRPr>
          </a:p>
        </p:txBody>
      </p:sp>
      <p:sp>
        <p:nvSpPr>
          <p:cNvPr id="32773" name="Rectangle 5"/>
          <p:cNvSpPr>
            <a:spLocks noChangeArrowheads="1"/>
          </p:cNvSpPr>
          <p:nvPr/>
        </p:nvSpPr>
        <p:spPr bwMode="auto">
          <a:xfrm>
            <a:off x="639763" y="762000"/>
            <a:ext cx="8316912"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a:ea typeface="楷体_GB2312" charset="0"/>
              </a:rPr>
              <a:t>R[0] = R[low];  </a:t>
            </a:r>
            <a:r>
              <a:rPr lang="en-US" altLang="zh-CN" sz="3200" b="1">
                <a:solidFill>
                  <a:srgbClr val="FF0000"/>
                </a:solidFill>
                <a:ea typeface="楷体_GB2312" charset="0"/>
              </a:rPr>
              <a:t>pivotkey = R[low].key;</a:t>
            </a:r>
            <a:r>
              <a:rPr lang="en-US" altLang="zh-CN" sz="3200">
                <a:ea typeface="楷体_GB2312" charset="0"/>
              </a:rPr>
              <a:t>  // </a:t>
            </a:r>
            <a:r>
              <a:rPr lang="zh-CN" altLang="en-US" sz="3200">
                <a:ea typeface="楷体_GB2312" charset="0"/>
              </a:rPr>
              <a:t>枢轴  </a:t>
            </a:r>
            <a:endParaRPr lang="zh-CN" altLang="en-US" sz="3200">
              <a:solidFill>
                <a:srgbClr val="990000"/>
              </a:solidFill>
              <a:ea typeface="楷体_GB2312" charset="0"/>
            </a:endParaRPr>
          </a:p>
        </p:txBody>
      </p:sp>
      <p:sp>
        <p:nvSpPr>
          <p:cNvPr id="32774" name="Rectangle 6"/>
          <p:cNvSpPr>
            <a:spLocks noChangeArrowheads="1"/>
          </p:cNvSpPr>
          <p:nvPr/>
        </p:nvSpPr>
        <p:spPr bwMode="auto">
          <a:xfrm>
            <a:off x="609600" y="1295400"/>
            <a:ext cx="3303588"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840C26"/>
                </a:solidFill>
                <a:ea typeface="楷体_GB2312" charset="0"/>
              </a:rPr>
              <a:t>while</a:t>
            </a:r>
            <a:r>
              <a:rPr lang="en-US" altLang="zh-CN" sz="3200">
                <a:solidFill>
                  <a:srgbClr val="840C26"/>
                </a:solidFill>
                <a:ea typeface="楷体_GB2312" charset="0"/>
              </a:rPr>
              <a:t> (low&lt;high) </a:t>
            </a:r>
            <a:r>
              <a:rPr lang="en-US" altLang="zh-CN" sz="3200" b="1">
                <a:solidFill>
                  <a:srgbClr val="840C26"/>
                </a:solidFill>
                <a:ea typeface="楷体_GB2312" charset="0"/>
              </a:rPr>
              <a:t>{</a:t>
            </a:r>
            <a:endParaRPr lang="en-US" altLang="zh-CN" sz="3200" b="1">
              <a:ea typeface="楷体_GB2312" charset="0"/>
            </a:endParaRPr>
          </a:p>
          <a:p>
            <a:pPr algn="l">
              <a:lnSpc>
                <a:spcPct val="115000"/>
              </a:lnSpc>
            </a:pPr>
            <a:endParaRPr lang="en-US" altLang="zh-CN" sz="3200">
              <a:ea typeface="楷体_GB2312" charset="0"/>
            </a:endParaRPr>
          </a:p>
          <a:p>
            <a:pPr algn="l">
              <a:lnSpc>
                <a:spcPct val="115000"/>
              </a:lnSpc>
            </a:pPr>
            <a:endParaRPr lang="en-US" altLang="zh-CN" sz="3200" b="1">
              <a:solidFill>
                <a:srgbClr val="840C26"/>
              </a:solidFill>
              <a:ea typeface="楷体_GB2312" charset="0"/>
            </a:endParaRPr>
          </a:p>
          <a:p>
            <a:pPr algn="l">
              <a:lnSpc>
                <a:spcPct val="115000"/>
              </a:lnSpc>
            </a:pPr>
            <a:endParaRPr lang="en-US" altLang="zh-CN" sz="3200" b="1">
              <a:solidFill>
                <a:srgbClr val="840C26"/>
              </a:solidFill>
              <a:ea typeface="楷体_GB2312" charset="0"/>
            </a:endParaRPr>
          </a:p>
          <a:p>
            <a:pPr algn="l">
              <a:lnSpc>
                <a:spcPct val="115000"/>
              </a:lnSpc>
            </a:pPr>
            <a:endParaRPr lang="en-US" altLang="zh-CN" sz="3200" b="1">
              <a:solidFill>
                <a:srgbClr val="840C26"/>
              </a:solidFill>
              <a:ea typeface="楷体_GB2312" charset="0"/>
            </a:endParaRPr>
          </a:p>
          <a:p>
            <a:pPr algn="l">
              <a:lnSpc>
                <a:spcPct val="115000"/>
              </a:lnSpc>
            </a:pPr>
            <a:endParaRPr lang="en-US" altLang="zh-CN" sz="3200" b="1">
              <a:solidFill>
                <a:srgbClr val="840C26"/>
              </a:solidFill>
              <a:ea typeface="楷体_GB2312" charset="0"/>
            </a:endParaRPr>
          </a:p>
          <a:p>
            <a:pPr algn="l">
              <a:lnSpc>
                <a:spcPct val="115000"/>
              </a:lnSpc>
            </a:pPr>
            <a:endParaRPr lang="en-US" altLang="zh-CN" sz="3200" b="1">
              <a:solidFill>
                <a:srgbClr val="840C26"/>
              </a:solidFill>
              <a:ea typeface="楷体_GB2312" charset="0"/>
            </a:endParaRPr>
          </a:p>
          <a:p>
            <a:pPr algn="l">
              <a:lnSpc>
                <a:spcPct val="115000"/>
              </a:lnSpc>
            </a:pPr>
            <a:r>
              <a:rPr lang="en-US" altLang="zh-CN" sz="3200" b="1">
                <a:solidFill>
                  <a:srgbClr val="840C26"/>
                </a:solidFill>
                <a:ea typeface="楷体_GB2312" charset="0"/>
              </a:rPr>
              <a:t>}</a:t>
            </a:r>
            <a:endParaRPr lang="en-US" altLang="zh-CN" sz="3200">
              <a:solidFill>
                <a:srgbClr val="990000"/>
              </a:solidFill>
              <a:ea typeface="楷体_GB2312" charset="0"/>
            </a:endParaRPr>
          </a:p>
        </p:txBody>
      </p:sp>
      <p:sp>
        <p:nvSpPr>
          <p:cNvPr id="32775" name="Rectangle 7"/>
          <p:cNvSpPr>
            <a:spLocks noChangeArrowheads="1"/>
          </p:cNvSpPr>
          <p:nvPr/>
        </p:nvSpPr>
        <p:spPr bwMode="auto">
          <a:xfrm>
            <a:off x="1066800" y="1905000"/>
            <a:ext cx="7556500"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ea typeface="楷体_GB2312" charset="0"/>
              </a:rPr>
              <a:t>while</a:t>
            </a:r>
            <a:r>
              <a:rPr lang="en-US" altLang="zh-CN" sz="3200">
                <a:ea typeface="楷体_GB2312" charset="0"/>
              </a:rPr>
              <a:t>(low&lt;high</a:t>
            </a:r>
            <a:r>
              <a:rPr lang="en-US" altLang="zh-CN" sz="3200" b="1">
                <a:ea typeface="楷体_GB2312" charset="0"/>
              </a:rPr>
              <a:t>&amp;&amp;</a:t>
            </a:r>
            <a:r>
              <a:rPr lang="en-US" altLang="zh-CN" sz="3200">
                <a:ea typeface="楷体_GB2312" charset="0"/>
              </a:rPr>
              <a:t> </a:t>
            </a:r>
            <a:r>
              <a:rPr lang="en-US" altLang="zh-CN" sz="3200">
                <a:solidFill>
                  <a:schemeClr val="accent2"/>
                </a:solidFill>
                <a:ea typeface="楷体_GB2312" charset="0"/>
              </a:rPr>
              <a:t>R[high].key</a:t>
            </a:r>
            <a:r>
              <a:rPr lang="en-US" altLang="zh-CN" sz="3200" b="1">
                <a:solidFill>
                  <a:schemeClr val="accent2"/>
                </a:solidFill>
                <a:ea typeface="楷体_GB2312" charset="0"/>
              </a:rPr>
              <a:t>&gt;=</a:t>
            </a:r>
            <a:r>
              <a:rPr lang="en-US" altLang="zh-CN" sz="3200">
                <a:solidFill>
                  <a:schemeClr val="accent2"/>
                </a:solidFill>
                <a:ea typeface="楷体_GB2312" charset="0"/>
              </a:rPr>
              <a:t>pivotkey</a:t>
            </a:r>
            <a:r>
              <a:rPr lang="en-US" altLang="zh-CN" sz="3200">
                <a:ea typeface="楷体_GB2312" charset="0"/>
              </a:rPr>
              <a:t>)</a:t>
            </a:r>
          </a:p>
          <a:p>
            <a:pPr algn="l">
              <a:lnSpc>
                <a:spcPct val="115000"/>
              </a:lnSpc>
            </a:pPr>
            <a:r>
              <a:rPr lang="en-US" altLang="zh-CN" sz="3200">
                <a:ea typeface="楷体_GB2312" charset="0"/>
              </a:rPr>
              <a:t>        -- high;      </a:t>
            </a:r>
            <a:r>
              <a:rPr lang="en-US" altLang="zh-CN" sz="3200">
                <a:solidFill>
                  <a:schemeClr val="accent2"/>
                </a:solidFill>
                <a:ea typeface="楷体_GB2312" charset="0"/>
              </a:rPr>
              <a:t>// </a:t>
            </a:r>
            <a:r>
              <a:rPr lang="zh-CN" altLang="en-US" sz="3200">
                <a:solidFill>
                  <a:schemeClr val="accent2"/>
                </a:solidFill>
                <a:ea typeface="楷体_GB2312" charset="0"/>
              </a:rPr>
              <a:t>从右向左搜索</a:t>
            </a:r>
            <a:endParaRPr lang="zh-CN" altLang="en-US" sz="3200">
              <a:ea typeface="楷体_GB2312" charset="0"/>
            </a:endParaRPr>
          </a:p>
        </p:txBody>
      </p:sp>
      <p:sp>
        <p:nvSpPr>
          <p:cNvPr id="32776" name="Rectangle 8"/>
          <p:cNvSpPr>
            <a:spLocks noChangeArrowheads="1"/>
          </p:cNvSpPr>
          <p:nvPr/>
        </p:nvSpPr>
        <p:spPr bwMode="auto">
          <a:xfrm>
            <a:off x="1066800" y="2971800"/>
            <a:ext cx="3143250"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a:solidFill>
                  <a:srgbClr val="0000FF"/>
                </a:solidFill>
                <a:ea typeface="楷体_GB2312" charset="0"/>
              </a:rPr>
              <a:t>R[low] = R[high]</a:t>
            </a:r>
            <a:r>
              <a:rPr lang="en-US" altLang="zh-CN" sz="3200">
                <a:ea typeface="楷体_GB2312" charset="0"/>
              </a:rPr>
              <a:t>;</a:t>
            </a:r>
          </a:p>
        </p:txBody>
      </p:sp>
      <p:sp>
        <p:nvSpPr>
          <p:cNvPr id="32777" name="Rectangle 9"/>
          <p:cNvSpPr>
            <a:spLocks noChangeArrowheads="1"/>
          </p:cNvSpPr>
          <p:nvPr/>
        </p:nvSpPr>
        <p:spPr bwMode="auto">
          <a:xfrm>
            <a:off x="1066800" y="3581400"/>
            <a:ext cx="7742238"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ea typeface="楷体_GB2312" charset="0"/>
              </a:rPr>
              <a:t>while</a:t>
            </a:r>
            <a:r>
              <a:rPr lang="en-US" altLang="zh-CN" sz="3200">
                <a:ea typeface="楷体_GB2312" charset="0"/>
              </a:rPr>
              <a:t> (low&lt;high </a:t>
            </a:r>
            <a:r>
              <a:rPr lang="en-US" altLang="zh-CN" sz="3200" b="1">
                <a:ea typeface="楷体_GB2312" charset="0"/>
              </a:rPr>
              <a:t>&amp;&amp;</a:t>
            </a:r>
            <a:r>
              <a:rPr lang="en-US" altLang="zh-CN" sz="3200">
                <a:ea typeface="楷体_GB2312" charset="0"/>
              </a:rPr>
              <a:t> </a:t>
            </a:r>
            <a:r>
              <a:rPr lang="en-US" altLang="zh-CN" sz="3200">
                <a:solidFill>
                  <a:srgbClr val="004644"/>
                </a:solidFill>
                <a:ea typeface="楷体_GB2312" charset="0"/>
              </a:rPr>
              <a:t>R[low].key&lt;=pivotkey</a:t>
            </a:r>
            <a:r>
              <a:rPr lang="en-US" altLang="zh-CN" sz="3200">
                <a:ea typeface="楷体_GB2312" charset="0"/>
              </a:rPr>
              <a:t>) </a:t>
            </a:r>
          </a:p>
          <a:p>
            <a:pPr algn="l">
              <a:lnSpc>
                <a:spcPct val="115000"/>
              </a:lnSpc>
            </a:pPr>
            <a:r>
              <a:rPr lang="en-US" altLang="zh-CN" sz="3200">
                <a:ea typeface="楷体_GB2312" charset="0"/>
              </a:rPr>
              <a:t>        ++ low;      </a:t>
            </a:r>
            <a:r>
              <a:rPr lang="en-US" altLang="zh-CN" sz="3200">
                <a:solidFill>
                  <a:srgbClr val="009999"/>
                </a:solidFill>
                <a:ea typeface="楷体_GB2312" charset="0"/>
              </a:rPr>
              <a:t>// </a:t>
            </a:r>
            <a:r>
              <a:rPr lang="zh-CN" altLang="en-US" sz="3200">
                <a:solidFill>
                  <a:srgbClr val="009999"/>
                </a:solidFill>
                <a:ea typeface="楷体_GB2312" charset="0"/>
              </a:rPr>
              <a:t>从左向右搜索</a:t>
            </a:r>
            <a:endParaRPr lang="zh-CN" altLang="en-US" sz="3200">
              <a:ea typeface="楷体_GB2312" charset="0"/>
            </a:endParaRPr>
          </a:p>
        </p:txBody>
      </p:sp>
      <p:sp>
        <p:nvSpPr>
          <p:cNvPr id="32778" name="Rectangle 10"/>
          <p:cNvSpPr>
            <a:spLocks noChangeArrowheads="1"/>
          </p:cNvSpPr>
          <p:nvPr/>
        </p:nvSpPr>
        <p:spPr bwMode="auto">
          <a:xfrm>
            <a:off x="1066800" y="4724400"/>
            <a:ext cx="3143250"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a:solidFill>
                  <a:srgbClr val="006666"/>
                </a:solidFill>
                <a:ea typeface="楷体_GB2312" charset="0"/>
              </a:rPr>
              <a:t>R[high] = R[low]</a:t>
            </a:r>
            <a:r>
              <a:rPr lang="en-US" altLang="zh-CN" sz="3200">
                <a:ea typeface="楷体_GB2312" charset="0"/>
              </a:rPr>
              <a:t>;</a:t>
            </a:r>
          </a:p>
        </p:txBody>
      </p:sp>
      <p:sp>
        <p:nvSpPr>
          <p:cNvPr id="32779" name="Rectangle 11"/>
          <p:cNvSpPr>
            <a:spLocks noChangeArrowheads="1"/>
          </p:cNvSpPr>
          <p:nvPr/>
        </p:nvSpPr>
        <p:spPr bwMode="auto">
          <a:xfrm>
            <a:off x="609600" y="5791200"/>
            <a:ext cx="5154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FF0000"/>
                </a:solidFill>
                <a:ea typeface="楷体_GB2312" charset="0"/>
              </a:rPr>
              <a:t>R[low] = R[0];</a:t>
            </a:r>
            <a:r>
              <a:rPr lang="en-US" altLang="zh-CN" sz="3200">
                <a:ea typeface="楷体_GB2312" charset="0"/>
              </a:rPr>
              <a:t>     </a:t>
            </a:r>
            <a:r>
              <a:rPr lang="en-US" altLang="zh-CN" sz="3200" b="1">
                <a:solidFill>
                  <a:srgbClr val="990000"/>
                </a:solidFill>
                <a:ea typeface="楷体_GB2312" charset="0"/>
              </a:rPr>
              <a:t>return</a:t>
            </a:r>
            <a:r>
              <a:rPr lang="en-US" altLang="zh-CN" sz="3200">
                <a:solidFill>
                  <a:srgbClr val="990000"/>
                </a:solidFill>
                <a:ea typeface="楷体_GB2312" charset="0"/>
              </a:rPr>
              <a:t> low;</a:t>
            </a:r>
          </a:p>
        </p:txBody>
      </p:sp>
      <p:sp>
        <p:nvSpPr>
          <p:cNvPr id="32780" name="AutoShape 12">
            <a:hlinkClick r:id="rId2" action="ppaction://hlinksldjump" highlightClick="1"/>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200333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strips(downRight)">
                                      <p:cBhvr>
                                        <p:cTn id="7" dur="500"/>
                                        <p:tgtEl>
                                          <p:spTgt spid="327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2773"/>
                                        </p:tgtEl>
                                        <p:attrNameLst>
                                          <p:attrName>style.visibility</p:attrName>
                                        </p:attrNameLst>
                                      </p:cBhvr>
                                      <p:to>
                                        <p:strVal val="visible"/>
                                      </p:to>
                                    </p:set>
                                    <p:animEffect transition="in" filter="wipe(left)">
                                      <p:cBhvr>
                                        <p:cTn id="12" dur="300"/>
                                        <p:tgtEl>
                                          <p:spTgt spid="327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32774"/>
                                        </p:tgtEl>
                                        <p:attrNameLst>
                                          <p:attrName>style.visibility</p:attrName>
                                        </p:attrNameLst>
                                      </p:cBhvr>
                                      <p:to>
                                        <p:strVal val="visible"/>
                                      </p:to>
                                    </p:set>
                                    <p:animEffect transition="in" filter="wipe(left)">
                                      <p:cBhvr>
                                        <p:cTn id="17" dur="300"/>
                                        <p:tgtEl>
                                          <p:spTgt spid="327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32775"/>
                                        </p:tgtEl>
                                        <p:attrNameLst>
                                          <p:attrName>style.visibility</p:attrName>
                                        </p:attrNameLst>
                                      </p:cBhvr>
                                      <p:to>
                                        <p:strVal val="visible"/>
                                      </p:to>
                                    </p:set>
                                    <p:animEffect transition="in" filter="wipe(left)">
                                      <p:cBhvr>
                                        <p:cTn id="22" dur="300"/>
                                        <p:tgtEl>
                                          <p:spTgt spid="327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32776"/>
                                        </p:tgtEl>
                                        <p:attrNameLst>
                                          <p:attrName>style.visibility</p:attrName>
                                        </p:attrNameLst>
                                      </p:cBhvr>
                                      <p:to>
                                        <p:strVal val="visible"/>
                                      </p:to>
                                    </p:set>
                                    <p:animEffect transition="in" filter="wipe(left)">
                                      <p:cBhvr>
                                        <p:cTn id="27" dur="300"/>
                                        <p:tgtEl>
                                          <p:spTgt spid="327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32777"/>
                                        </p:tgtEl>
                                        <p:attrNameLst>
                                          <p:attrName>style.visibility</p:attrName>
                                        </p:attrNameLst>
                                      </p:cBhvr>
                                      <p:to>
                                        <p:strVal val="visible"/>
                                      </p:to>
                                    </p:set>
                                    <p:animEffect transition="in" filter="wipe(left)">
                                      <p:cBhvr>
                                        <p:cTn id="32" dur="300"/>
                                        <p:tgtEl>
                                          <p:spTgt spid="327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32778"/>
                                        </p:tgtEl>
                                        <p:attrNameLst>
                                          <p:attrName>style.visibility</p:attrName>
                                        </p:attrNameLst>
                                      </p:cBhvr>
                                      <p:to>
                                        <p:strVal val="visible"/>
                                      </p:to>
                                    </p:set>
                                    <p:animEffect transition="in" filter="wipe(left)">
                                      <p:cBhvr>
                                        <p:cTn id="37" dur="300"/>
                                        <p:tgtEl>
                                          <p:spTgt spid="327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32779"/>
                                        </p:tgtEl>
                                        <p:attrNameLst>
                                          <p:attrName>style.visibility</p:attrName>
                                        </p:attrNameLst>
                                      </p:cBhvr>
                                      <p:to>
                                        <p:strVal val="visible"/>
                                      </p:to>
                                    </p:set>
                                    <p:animEffect transition="in" filter="wipe(left)">
                                      <p:cBhvr>
                                        <p:cTn id="42" dur="300"/>
                                        <p:tgtEl>
                                          <p:spTgt spid="32779"/>
                                        </p:tgtEl>
                                      </p:cBhvr>
                                    </p:animEffect>
                                  </p:childTnLst>
                                </p:cTn>
                              </p:par>
                            </p:childTnLst>
                          </p:cTn>
                        </p:par>
                        <p:par>
                          <p:cTn id="43" fill="hold" nodeType="afterGroup">
                            <p:stCondLst>
                              <p:cond delay="2400"/>
                            </p:stCondLst>
                            <p:childTnLst>
                              <p:par>
                                <p:cTn id="44" presetID="2" presetClass="entr" presetSubtype="6" fill="hold" grpId="0" nodeType="afterEffect">
                                  <p:stCondLst>
                                    <p:cond delay="0"/>
                                  </p:stCondLst>
                                  <p:childTnLst>
                                    <p:set>
                                      <p:cBhvr>
                                        <p:cTn id="45" dur="1" fill="hold">
                                          <p:stCondLst>
                                            <p:cond delay="0"/>
                                          </p:stCondLst>
                                        </p:cTn>
                                        <p:tgtEl>
                                          <p:spTgt spid="32780"/>
                                        </p:tgtEl>
                                        <p:attrNameLst>
                                          <p:attrName>style.visibility</p:attrName>
                                        </p:attrNameLst>
                                      </p:cBhvr>
                                      <p:to>
                                        <p:strVal val="visible"/>
                                      </p:to>
                                    </p:set>
                                    <p:anim calcmode="lin" valueType="num">
                                      <p:cBhvr additive="base">
                                        <p:cTn id="46" dur="500" fill="hold"/>
                                        <p:tgtEl>
                                          <p:spTgt spid="32780"/>
                                        </p:tgtEl>
                                        <p:attrNameLst>
                                          <p:attrName>ppt_x</p:attrName>
                                        </p:attrNameLst>
                                      </p:cBhvr>
                                      <p:tavLst>
                                        <p:tav tm="0">
                                          <p:val>
                                            <p:strVal val="1+#ppt_w/2"/>
                                          </p:val>
                                        </p:tav>
                                        <p:tav tm="100000">
                                          <p:val>
                                            <p:strVal val="#ppt_x"/>
                                          </p:val>
                                        </p:tav>
                                      </p:tavLst>
                                    </p:anim>
                                    <p:anim calcmode="lin" valueType="num">
                                      <p:cBhvr additive="base">
                                        <p:cTn id="47" dur="500" fill="hold"/>
                                        <p:tgtEl>
                                          <p:spTgt spid="327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3" grpId="0" autoUpdateAnimBg="0"/>
      <p:bldP spid="32774" grpId="0" autoUpdateAnimBg="0"/>
      <p:bldP spid="32775" grpId="0" autoUpdateAnimBg="0"/>
      <p:bldP spid="32776" grpId="0" autoUpdateAnimBg="0"/>
      <p:bldP spid="32777" grpId="0" autoUpdateAnimBg="0"/>
      <p:bldP spid="32778" grpId="0" autoUpdateAnimBg="0"/>
      <p:bldP spid="32779" grpId="0" autoUpdateAnimBg="0"/>
      <p:bldP spid="3278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Text Box 5"/>
          <p:cNvSpPr txBox="1">
            <a:spLocks noChangeArrowheads="1"/>
          </p:cNvSpPr>
          <p:nvPr/>
        </p:nvSpPr>
        <p:spPr bwMode="auto">
          <a:xfrm>
            <a:off x="777875" y="152400"/>
            <a:ext cx="3565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400" b="1">
                <a:solidFill>
                  <a:srgbClr val="FF00FF"/>
                </a:solidFill>
                <a:ea typeface="楷体_GB2312" charset="0"/>
              </a:rPr>
              <a:t>三、快速排序</a:t>
            </a:r>
          </a:p>
        </p:txBody>
      </p:sp>
      <p:sp>
        <p:nvSpPr>
          <p:cNvPr id="33798" name="Text Box 6"/>
          <p:cNvSpPr txBox="1">
            <a:spLocks noChangeArrowheads="1"/>
          </p:cNvSpPr>
          <p:nvPr/>
        </p:nvSpPr>
        <p:spPr bwMode="auto">
          <a:xfrm>
            <a:off x="228600" y="1082675"/>
            <a:ext cx="885507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3600">
                <a:solidFill>
                  <a:srgbClr val="990000"/>
                </a:solidFill>
                <a:ea typeface="楷体_GB2312" charset="0"/>
              </a:rPr>
              <a:t>首先对无序的记录序列进行“</a:t>
            </a:r>
            <a:r>
              <a:rPr lang="zh-CN" altLang="en-US" sz="3600" b="1">
                <a:solidFill>
                  <a:srgbClr val="990000"/>
                </a:solidFill>
                <a:ea typeface="楷体_GB2312" charset="0"/>
              </a:rPr>
              <a:t>一次划分</a:t>
            </a:r>
            <a:r>
              <a:rPr lang="zh-CN" altLang="en-US" sz="3600">
                <a:solidFill>
                  <a:srgbClr val="990000"/>
                </a:solidFill>
                <a:ea typeface="楷体_GB2312" charset="0"/>
              </a:rPr>
              <a:t>”，之后</a:t>
            </a:r>
            <a:r>
              <a:rPr lang="zh-CN" altLang="en-US" sz="3600" b="1">
                <a:solidFill>
                  <a:srgbClr val="FF0000"/>
                </a:solidFill>
                <a:ea typeface="楷体_GB2312" charset="0"/>
              </a:rPr>
              <a:t>分别</a:t>
            </a:r>
            <a:r>
              <a:rPr lang="zh-CN" altLang="en-US" sz="3600">
                <a:solidFill>
                  <a:srgbClr val="990000"/>
                </a:solidFill>
                <a:ea typeface="楷体_GB2312" charset="0"/>
              </a:rPr>
              <a:t>对分割所得两个子序列“</a:t>
            </a:r>
            <a:r>
              <a:rPr lang="zh-CN" altLang="en-US" sz="3600" b="1">
                <a:solidFill>
                  <a:srgbClr val="990000"/>
                </a:solidFill>
                <a:ea typeface="楷体_GB2312" charset="0"/>
              </a:rPr>
              <a:t>递归</a:t>
            </a:r>
            <a:r>
              <a:rPr lang="zh-CN" altLang="en-US" sz="3600">
                <a:solidFill>
                  <a:srgbClr val="990000"/>
                </a:solidFill>
                <a:ea typeface="楷体_GB2312" charset="0"/>
              </a:rPr>
              <a:t>”</a:t>
            </a:r>
            <a:r>
              <a:rPr lang="zh-CN" altLang="en-US" sz="3600" b="1">
                <a:solidFill>
                  <a:srgbClr val="FF0000"/>
                </a:solidFill>
                <a:ea typeface="楷体_GB2312" charset="0"/>
              </a:rPr>
              <a:t>进行快速排序</a:t>
            </a:r>
            <a:r>
              <a:rPr lang="zh-CN" altLang="en-US" sz="3600">
                <a:solidFill>
                  <a:srgbClr val="990000"/>
                </a:solidFill>
                <a:ea typeface="楷体_GB2312" charset="0"/>
              </a:rPr>
              <a:t>。</a:t>
            </a:r>
            <a:endParaRPr lang="zh-CN" altLang="en-US" sz="3600">
              <a:ea typeface="楷体_GB2312" charset="0"/>
            </a:endParaRPr>
          </a:p>
        </p:txBody>
      </p:sp>
      <p:sp>
        <p:nvSpPr>
          <p:cNvPr id="33801" name="Text Box 9"/>
          <p:cNvSpPr txBox="1">
            <a:spLocks noChangeArrowheads="1"/>
          </p:cNvSpPr>
          <p:nvPr/>
        </p:nvSpPr>
        <p:spPr bwMode="auto">
          <a:xfrm>
            <a:off x="1143000" y="3429000"/>
            <a:ext cx="6248400" cy="528638"/>
          </a:xfrm>
          <a:prstGeom prst="rect">
            <a:avLst/>
          </a:prstGeom>
          <a:solidFill>
            <a:srgbClr val="CCFFCC"/>
          </a:solidFill>
          <a:ln w="9525">
            <a:solidFill>
              <a:srgbClr val="00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zh-CN" altLang="en-US" sz="2800">
                <a:solidFill>
                  <a:srgbClr val="003366"/>
                </a:solidFill>
              </a:rPr>
              <a:t>无 序 的 记 录 序 列</a:t>
            </a:r>
          </a:p>
        </p:txBody>
      </p:sp>
      <p:sp>
        <p:nvSpPr>
          <p:cNvPr id="33802" name="Text Box 10"/>
          <p:cNvSpPr txBox="1">
            <a:spLocks noChangeArrowheads="1"/>
          </p:cNvSpPr>
          <p:nvPr/>
        </p:nvSpPr>
        <p:spPr bwMode="auto">
          <a:xfrm>
            <a:off x="1143000" y="4814888"/>
            <a:ext cx="3178175" cy="531812"/>
          </a:xfrm>
          <a:prstGeom prst="rect">
            <a:avLst/>
          </a:prstGeom>
          <a:solidFill>
            <a:srgbClr val="CCFFCC"/>
          </a:solidFill>
          <a:ln w="12700">
            <a:solidFill>
              <a:srgbClr val="00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2800">
                <a:solidFill>
                  <a:srgbClr val="003366"/>
                </a:solidFill>
              </a:rPr>
              <a:t>无序记录子序列</a:t>
            </a:r>
            <a:r>
              <a:rPr lang="en-US" altLang="zh-CN" sz="2800">
                <a:solidFill>
                  <a:srgbClr val="003366"/>
                </a:solidFill>
              </a:rPr>
              <a:t>(1)</a:t>
            </a:r>
            <a:endParaRPr lang="en-US" altLang="zh-CN" sz="2800"/>
          </a:p>
        </p:txBody>
      </p:sp>
      <p:sp>
        <p:nvSpPr>
          <p:cNvPr id="33803" name="Text Box 11"/>
          <p:cNvSpPr txBox="1">
            <a:spLocks noChangeArrowheads="1"/>
          </p:cNvSpPr>
          <p:nvPr/>
        </p:nvSpPr>
        <p:spPr bwMode="auto">
          <a:xfrm>
            <a:off x="4953000" y="4802188"/>
            <a:ext cx="2438400" cy="531812"/>
          </a:xfrm>
          <a:prstGeom prst="rect">
            <a:avLst/>
          </a:prstGeom>
          <a:solidFill>
            <a:srgbClr val="CCFFCC"/>
          </a:solidFill>
          <a:ln w="12700">
            <a:solidFill>
              <a:srgbClr val="00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2800">
                <a:solidFill>
                  <a:srgbClr val="003366"/>
                </a:solidFill>
              </a:rPr>
              <a:t>无序子序列</a:t>
            </a:r>
            <a:r>
              <a:rPr lang="en-US" altLang="zh-CN" sz="2800">
                <a:solidFill>
                  <a:srgbClr val="003366"/>
                </a:solidFill>
              </a:rPr>
              <a:t>(2)</a:t>
            </a:r>
            <a:endParaRPr lang="en-US" altLang="zh-CN" sz="2800"/>
          </a:p>
        </p:txBody>
      </p:sp>
      <p:sp>
        <p:nvSpPr>
          <p:cNvPr id="33806" name="Oval 14"/>
          <p:cNvSpPr>
            <a:spLocks noChangeArrowheads="1"/>
          </p:cNvSpPr>
          <p:nvPr/>
        </p:nvSpPr>
        <p:spPr bwMode="auto">
          <a:xfrm>
            <a:off x="4343400" y="4800600"/>
            <a:ext cx="609600" cy="533400"/>
          </a:xfrm>
          <a:prstGeom prst="ellipse">
            <a:avLst/>
          </a:prstGeom>
          <a:solidFill>
            <a:srgbClr val="FFCC99"/>
          </a:solidFill>
          <a:ln w="19050">
            <a:solidFill>
              <a:srgbClr val="FF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1800" b="1">
                <a:solidFill>
                  <a:srgbClr val="990000"/>
                </a:solidFill>
              </a:rPr>
              <a:t>枢轴</a:t>
            </a:r>
            <a:endParaRPr lang="zh-CN" altLang="en-US" sz="1800"/>
          </a:p>
        </p:txBody>
      </p:sp>
      <p:sp>
        <p:nvSpPr>
          <p:cNvPr id="33808" name="AutoShape 16"/>
          <p:cNvSpPr>
            <a:spLocks noChangeArrowheads="1"/>
          </p:cNvSpPr>
          <p:nvPr/>
        </p:nvSpPr>
        <p:spPr bwMode="auto">
          <a:xfrm>
            <a:off x="3505200" y="4038600"/>
            <a:ext cx="304800" cy="685800"/>
          </a:xfrm>
          <a:prstGeom prst="downArrow">
            <a:avLst>
              <a:gd name="adj1" fmla="val 50000"/>
              <a:gd name="adj2" fmla="val 56250"/>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33809" name="Text Box 17"/>
          <p:cNvSpPr txBox="1">
            <a:spLocks noChangeArrowheads="1"/>
          </p:cNvSpPr>
          <p:nvPr/>
        </p:nvSpPr>
        <p:spPr bwMode="auto">
          <a:xfrm>
            <a:off x="3946525" y="4030663"/>
            <a:ext cx="180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a:solidFill>
                  <a:srgbClr val="990000"/>
                </a:solidFill>
                <a:ea typeface="隶书" charset="0"/>
              </a:rPr>
              <a:t>一次划分</a:t>
            </a:r>
            <a:endParaRPr lang="zh-CN" altLang="en-US" sz="3200"/>
          </a:p>
        </p:txBody>
      </p:sp>
      <p:sp>
        <p:nvSpPr>
          <p:cNvPr id="33811" name="Line 19"/>
          <p:cNvSpPr>
            <a:spLocks noChangeShapeType="1"/>
          </p:cNvSpPr>
          <p:nvPr/>
        </p:nvSpPr>
        <p:spPr bwMode="auto">
          <a:xfrm flipH="1" flipV="1">
            <a:off x="3124200" y="5410200"/>
            <a:ext cx="609600" cy="609600"/>
          </a:xfrm>
          <a:prstGeom prst="line">
            <a:avLst/>
          </a:prstGeom>
          <a:noFill/>
          <a:ln w="3810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3812" name="Line 20"/>
          <p:cNvSpPr>
            <a:spLocks noChangeShapeType="1"/>
          </p:cNvSpPr>
          <p:nvPr/>
        </p:nvSpPr>
        <p:spPr bwMode="auto">
          <a:xfrm flipV="1">
            <a:off x="4724400" y="5410200"/>
            <a:ext cx="609600" cy="609600"/>
          </a:xfrm>
          <a:prstGeom prst="line">
            <a:avLst/>
          </a:prstGeom>
          <a:noFill/>
          <a:ln w="38100">
            <a:solidFill>
              <a:srgbClr val="99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3813" name="Text Box 21"/>
          <p:cNvSpPr txBox="1">
            <a:spLocks noChangeArrowheads="1"/>
          </p:cNvSpPr>
          <p:nvPr/>
        </p:nvSpPr>
        <p:spPr bwMode="auto">
          <a:xfrm>
            <a:off x="2362200" y="5911850"/>
            <a:ext cx="3841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FF0000"/>
                </a:solidFill>
                <a:ea typeface="隶书" charset="0"/>
              </a:rPr>
              <a:t>分别进行快速排序</a:t>
            </a:r>
            <a:endParaRPr lang="zh-CN" altLang="en-US" sz="3600"/>
          </a:p>
        </p:txBody>
      </p:sp>
    </p:spTree>
    <p:extLst>
      <p:ext uri="{BB962C8B-B14F-4D97-AF65-F5344CB8AC3E}">
        <p14:creationId xmlns:p14="http://schemas.microsoft.com/office/powerpoint/2010/main" val="1616884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wipe(left)">
                                      <p:cBhvr>
                                        <p:cTn id="7" dur="500"/>
                                        <p:tgtEl>
                                          <p:spTgt spid="33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798"/>
                                        </p:tgtEl>
                                        <p:attrNameLst>
                                          <p:attrName>style.visibility</p:attrName>
                                        </p:attrNameLst>
                                      </p:cBhvr>
                                      <p:to>
                                        <p:strVal val="visible"/>
                                      </p:to>
                                    </p:set>
                                    <p:animEffect transition="in" filter="wipe(left)">
                                      <p:cBhvr>
                                        <p:cTn id="12" dur="500"/>
                                        <p:tgtEl>
                                          <p:spTgt spid="337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801"/>
                                        </p:tgtEl>
                                        <p:attrNameLst>
                                          <p:attrName>style.visibility</p:attrName>
                                        </p:attrNameLst>
                                      </p:cBhvr>
                                      <p:to>
                                        <p:strVal val="visible"/>
                                      </p:to>
                                    </p:set>
                                    <p:animEffect transition="in" filter="wipe(left)">
                                      <p:cBhvr>
                                        <p:cTn id="17" dur="500"/>
                                        <p:tgtEl>
                                          <p:spTgt spid="338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3808"/>
                                        </p:tgtEl>
                                        <p:attrNameLst>
                                          <p:attrName>style.visibility</p:attrName>
                                        </p:attrNameLst>
                                      </p:cBhvr>
                                      <p:to>
                                        <p:strVal val="visible"/>
                                      </p:to>
                                    </p:set>
                                    <p:animEffect transition="in" filter="wipe(up)">
                                      <p:cBhvr>
                                        <p:cTn id="22" dur="500"/>
                                        <p:tgtEl>
                                          <p:spTgt spid="33808"/>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3809"/>
                                        </p:tgtEl>
                                        <p:attrNameLst>
                                          <p:attrName>style.visibility</p:attrName>
                                        </p:attrNameLst>
                                      </p:cBhvr>
                                      <p:to>
                                        <p:strVal val="visible"/>
                                      </p:to>
                                    </p:set>
                                    <p:animEffect transition="in" filter="wipe(left)">
                                      <p:cBhvr>
                                        <p:cTn id="26" dur="500"/>
                                        <p:tgtEl>
                                          <p:spTgt spid="338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3802"/>
                                        </p:tgtEl>
                                        <p:attrNameLst>
                                          <p:attrName>style.visibility</p:attrName>
                                        </p:attrNameLst>
                                      </p:cBhvr>
                                      <p:to>
                                        <p:strVal val="visible"/>
                                      </p:to>
                                    </p:set>
                                    <p:animEffect transition="in" filter="wipe(left)">
                                      <p:cBhvr>
                                        <p:cTn id="31" dur="500"/>
                                        <p:tgtEl>
                                          <p:spTgt spid="33802"/>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3806"/>
                                        </p:tgtEl>
                                        <p:attrNameLst>
                                          <p:attrName>style.visibility</p:attrName>
                                        </p:attrNameLst>
                                      </p:cBhvr>
                                      <p:to>
                                        <p:strVal val="visible"/>
                                      </p:to>
                                    </p:set>
                                    <p:animEffect transition="in" filter="wipe(left)">
                                      <p:cBhvr>
                                        <p:cTn id="35" dur="500"/>
                                        <p:tgtEl>
                                          <p:spTgt spid="33806"/>
                                        </p:tgtEl>
                                      </p:cBhvr>
                                    </p:animEffect>
                                  </p:childTnLst>
                                </p:cTn>
                              </p:par>
                            </p:childTnLst>
                          </p:cTn>
                        </p:par>
                        <p:par>
                          <p:cTn id="36" fill="hold" nodeType="afterGroup">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3803"/>
                                        </p:tgtEl>
                                        <p:attrNameLst>
                                          <p:attrName>style.visibility</p:attrName>
                                        </p:attrNameLst>
                                      </p:cBhvr>
                                      <p:to>
                                        <p:strVal val="visible"/>
                                      </p:to>
                                    </p:set>
                                    <p:animEffect transition="in" filter="wipe(left)">
                                      <p:cBhvr>
                                        <p:cTn id="39" dur="500"/>
                                        <p:tgtEl>
                                          <p:spTgt spid="33803"/>
                                        </p:tgtEl>
                                      </p:cBhvr>
                                    </p:animEffect>
                                  </p:childTnLst>
                                </p:cTn>
                              </p:par>
                            </p:childTnLst>
                          </p:cTn>
                        </p:par>
                        <p:par>
                          <p:cTn id="40" fill="hold" nodeType="afterGroup">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33813"/>
                                        </p:tgtEl>
                                        <p:attrNameLst>
                                          <p:attrName>style.visibility</p:attrName>
                                        </p:attrNameLst>
                                      </p:cBhvr>
                                      <p:to>
                                        <p:strVal val="visible"/>
                                      </p:to>
                                    </p:set>
                                    <p:animEffect transition="in" filter="wipe(left)">
                                      <p:cBhvr>
                                        <p:cTn id="43" dur="500"/>
                                        <p:tgtEl>
                                          <p:spTgt spid="33813"/>
                                        </p:tgtEl>
                                      </p:cBhvr>
                                    </p:animEffect>
                                  </p:childTnLst>
                                </p:cTn>
                              </p:par>
                            </p:childTnLst>
                          </p:cTn>
                        </p:par>
                        <p:par>
                          <p:cTn id="44" fill="hold" nodeType="afterGroup">
                            <p:stCondLst>
                              <p:cond delay="2000"/>
                            </p:stCondLst>
                            <p:childTnLst>
                              <p:par>
                                <p:cTn id="45" presetID="22" presetClass="entr" presetSubtype="4" fill="hold" grpId="0" nodeType="afterEffect">
                                  <p:stCondLst>
                                    <p:cond delay="0"/>
                                  </p:stCondLst>
                                  <p:childTnLst>
                                    <p:set>
                                      <p:cBhvr>
                                        <p:cTn id="46" dur="1" fill="hold">
                                          <p:stCondLst>
                                            <p:cond delay="0"/>
                                          </p:stCondLst>
                                        </p:cTn>
                                        <p:tgtEl>
                                          <p:spTgt spid="33811"/>
                                        </p:tgtEl>
                                        <p:attrNameLst>
                                          <p:attrName>style.visibility</p:attrName>
                                        </p:attrNameLst>
                                      </p:cBhvr>
                                      <p:to>
                                        <p:strVal val="visible"/>
                                      </p:to>
                                    </p:set>
                                    <p:animEffect transition="in" filter="wipe(down)">
                                      <p:cBhvr>
                                        <p:cTn id="47" dur="500"/>
                                        <p:tgtEl>
                                          <p:spTgt spid="33811"/>
                                        </p:tgtEl>
                                      </p:cBhvr>
                                    </p:animEffect>
                                  </p:childTnLst>
                                </p:cTn>
                              </p:par>
                            </p:childTnLst>
                          </p:cTn>
                        </p:par>
                        <p:par>
                          <p:cTn id="48" fill="hold" nodeType="afterGroup">
                            <p:stCondLst>
                              <p:cond delay="2500"/>
                            </p:stCondLst>
                            <p:childTnLst>
                              <p:par>
                                <p:cTn id="49" presetID="22" presetClass="entr" presetSubtype="4" fill="hold" grpId="0" nodeType="afterEffect">
                                  <p:stCondLst>
                                    <p:cond delay="0"/>
                                  </p:stCondLst>
                                  <p:childTnLst>
                                    <p:set>
                                      <p:cBhvr>
                                        <p:cTn id="50" dur="1" fill="hold">
                                          <p:stCondLst>
                                            <p:cond delay="0"/>
                                          </p:stCondLst>
                                        </p:cTn>
                                        <p:tgtEl>
                                          <p:spTgt spid="33812"/>
                                        </p:tgtEl>
                                        <p:attrNameLst>
                                          <p:attrName>style.visibility</p:attrName>
                                        </p:attrNameLst>
                                      </p:cBhvr>
                                      <p:to>
                                        <p:strVal val="visible"/>
                                      </p:to>
                                    </p:set>
                                    <p:animEffect transition="in" filter="wipe(down)">
                                      <p:cBhvr>
                                        <p:cTn id="51" dur="500"/>
                                        <p:tgtEl>
                                          <p:spTgt spid="33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utoUpdateAnimBg="0"/>
      <p:bldP spid="33798" grpId="0" autoUpdateAnimBg="0"/>
      <p:bldP spid="33801" grpId="0" animBg="1" autoUpdateAnimBg="0"/>
      <p:bldP spid="33802" grpId="0" animBg="1" autoUpdateAnimBg="0"/>
      <p:bldP spid="33803" grpId="0" animBg="1" autoUpdateAnimBg="0"/>
      <p:bldP spid="33806" grpId="0" animBg="1" autoUpdateAnimBg="0"/>
      <p:bldP spid="33808" grpId="0" animBg="1"/>
      <p:bldP spid="33809" grpId="0" autoUpdateAnimBg="0"/>
      <p:bldP spid="33811" grpId="0" animBg="1"/>
      <p:bldP spid="33812" grpId="0" animBg="1"/>
      <p:bldP spid="3381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152400" y="173038"/>
            <a:ext cx="8326438" cy="653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b="1">
                <a:solidFill>
                  <a:srgbClr val="990000"/>
                </a:solidFill>
                <a:ea typeface="楷体_GB2312" charset="0"/>
              </a:rPr>
              <a:t>void</a:t>
            </a:r>
            <a:r>
              <a:rPr lang="en-US" altLang="zh-CN" sz="3600">
                <a:ea typeface="楷体_GB2312" charset="0"/>
              </a:rPr>
              <a:t> </a:t>
            </a:r>
            <a:r>
              <a:rPr lang="en-US" altLang="zh-CN" sz="3600">
                <a:solidFill>
                  <a:srgbClr val="FF0000"/>
                </a:solidFill>
                <a:ea typeface="楷体_GB2312" charset="0"/>
              </a:rPr>
              <a:t>QSort (RedType &amp; R[],  </a:t>
            </a:r>
            <a:r>
              <a:rPr lang="en-US" altLang="zh-CN" sz="3600" b="1">
                <a:solidFill>
                  <a:srgbClr val="FF0000"/>
                </a:solidFill>
                <a:ea typeface="楷体_GB2312" charset="0"/>
              </a:rPr>
              <a:t>int</a:t>
            </a:r>
            <a:r>
              <a:rPr lang="en-US" altLang="zh-CN" sz="3600">
                <a:solidFill>
                  <a:srgbClr val="FF0000"/>
                </a:solidFill>
                <a:ea typeface="楷体_GB2312" charset="0"/>
              </a:rPr>
              <a:t> s,  </a:t>
            </a:r>
            <a:r>
              <a:rPr lang="en-US" altLang="zh-CN" sz="3600" b="1">
                <a:solidFill>
                  <a:srgbClr val="FF0000"/>
                </a:solidFill>
                <a:ea typeface="楷体_GB2312" charset="0"/>
              </a:rPr>
              <a:t>int</a:t>
            </a:r>
            <a:r>
              <a:rPr lang="en-US" altLang="zh-CN" sz="3600">
                <a:solidFill>
                  <a:srgbClr val="FF0000"/>
                </a:solidFill>
                <a:ea typeface="楷体_GB2312" charset="0"/>
              </a:rPr>
              <a:t>  t )</a:t>
            </a:r>
            <a:r>
              <a:rPr lang="en-US" altLang="zh-CN" sz="3600">
                <a:ea typeface="楷体_GB2312" charset="0"/>
              </a:rPr>
              <a:t> </a:t>
            </a:r>
            <a:r>
              <a:rPr lang="en-US" altLang="zh-CN" sz="3600" b="1">
                <a:solidFill>
                  <a:srgbClr val="990000"/>
                </a:solidFill>
                <a:ea typeface="楷体_GB2312" charset="0"/>
              </a:rPr>
              <a:t>{</a:t>
            </a:r>
            <a:endParaRPr lang="en-US" altLang="zh-CN" sz="3600">
              <a:ea typeface="楷体_GB2312" charset="0"/>
            </a:endParaRPr>
          </a:p>
          <a:p>
            <a:pPr algn="l">
              <a:lnSpc>
                <a:spcPct val="120000"/>
              </a:lnSpc>
            </a:pPr>
            <a:r>
              <a:rPr lang="en-US" altLang="zh-CN" sz="3600">
                <a:ea typeface="楷体_GB2312" charset="0"/>
              </a:rPr>
              <a:t>  </a:t>
            </a:r>
            <a:r>
              <a:rPr lang="en-US" altLang="zh-CN" sz="3200">
                <a:solidFill>
                  <a:schemeClr val="accent2"/>
                </a:solidFill>
                <a:ea typeface="楷体_GB2312" charset="0"/>
              </a:rPr>
              <a:t>// </a:t>
            </a:r>
            <a:r>
              <a:rPr lang="zh-CN" altLang="en-US" sz="3200">
                <a:solidFill>
                  <a:schemeClr val="accent2"/>
                </a:solidFill>
                <a:ea typeface="楷体_GB2312" charset="0"/>
              </a:rPr>
              <a:t>对记录序列</a:t>
            </a:r>
            <a:r>
              <a:rPr lang="en-US" altLang="zh-CN" sz="3200">
                <a:solidFill>
                  <a:schemeClr val="accent2"/>
                </a:solidFill>
                <a:ea typeface="楷体_GB2312" charset="0"/>
              </a:rPr>
              <a:t>R[s..t]</a:t>
            </a:r>
            <a:r>
              <a:rPr lang="zh-CN" altLang="en-US" sz="3200">
                <a:solidFill>
                  <a:schemeClr val="accent2"/>
                </a:solidFill>
                <a:ea typeface="楷体_GB2312" charset="0"/>
              </a:rPr>
              <a:t>进行快速排序</a:t>
            </a:r>
            <a:endParaRPr lang="zh-CN" altLang="en-US" sz="3600">
              <a:solidFill>
                <a:schemeClr val="accent2"/>
              </a:solidFill>
              <a:ea typeface="楷体_GB2312" charset="0"/>
            </a:endParaRPr>
          </a:p>
          <a:p>
            <a:pPr algn="l">
              <a:lnSpc>
                <a:spcPct val="120000"/>
              </a:lnSpc>
            </a:pPr>
            <a:r>
              <a:rPr lang="zh-CN" altLang="en-US" sz="3600">
                <a:ea typeface="楷体_GB2312" charset="0"/>
              </a:rPr>
              <a:t>  </a:t>
            </a:r>
            <a:r>
              <a:rPr lang="en-US" altLang="zh-CN" sz="3600" b="1">
                <a:solidFill>
                  <a:srgbClr val="990000"/>
                </a:solidFill>
                <a:ea typeface="楷体_GB2312" charset="0"/>
              </a:rPr>
              <a:t>if</a:t>
            </a:r>
            <a:r>
              <a:rPr lang="en-US" altLang="zh-CN" sz="3600">
                <a:solidFill>
                  <a:srgbClr val="990000"/>
                </a:solidFill>
                <a:ea typeface="楷体_GB2312" charset="0"/>
              </a:rPr>
              <a:t> (s </a:t>
            </a:r>
            <a:r>
              <a:rPr lang="en-US" altLang="zh-CN" sz="3600" b="1">
                <a:solidFill>
                  <a:srgbClr val="990000"/>
                </a:solidFill>
                <a:ea typeface="楷体_GB2312" charset="0"/>
              </a:rPr>
              <a:t>&lt;</a:t>
            </a:r>
            <a:r>
              <a:rPr lang="en-US" altLang="zh-CN" sz="3600">
                <a:solidFill>
                  <a:srgbClr val="990000"/>
                </a:solidFill>
                <a:ea typeface="楷体_GB2312" charset="0"/>
              </a:rPr>
              <a:t> t-1) </a:t>
            </a:r>
            <a:r>
              <a:rPr lang="en-US" altLang="zh-CN" sz="3600" b="1">
                <a:solidFill>
                  <a:srgbClr val="990000"/>
                </a:solidFill>
                <a:ea typeface="楷体_GB2312" charset="0"/>
              </a:rPr>
              <a:t>{</a:t>
            </a:r>
            <a:r>
              <a:rPr lang="en-US" altLang="zh-CN" sz="36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长度大于</a:t>
            </a:r>
            <a:r>
              <a:rPr lang="en-US" altLang="zh-CN" sz="3200">
                <a:solidFill>
                  <a:srgbClr val="990000"/>
                </a:solidFill>
                <a:ea typeface="楷体_GB2312" charset="0"/>
              </a:rPr>
              <a:t>1</a:t>
            </a:r>
          </a:p>
          <a:p>
            <a:pPr algn="l">
              <a:lnSpc>
                <a:spcPct val="120000"/>
              </a:lnSpc>
            </a:pPr>
            <a:r>
              <a:rPr lang="en-US" altLang="zh-CN" sz="3600">
                <a:solidFill>
                  <a:srgbClr val="990000"/>
                </a:solidFill>
                <a:ea typeface="楷体_GB2312" charset="0"/>
              </a:rPr>
              <a:t>    </a:t>
            </a:r>
          </a:p>
          <a:p>
            <a:pPr algn="l">
              <a:lnSpc>
                <a:spcPct val="120000"/>
              </a:lnSpc>
            </a:pPr>
            <a:endParaRPr lang="en-US" altLang="zh-CN" sz="3600">
              <a:solidFill>
                <a:srgbClr val="990000"/>
              </a:solidFill>
              <a:ea typeface="楷体_GB2312" charset="0"/>
            </a:endParaRPr>
          </a:p>
          <a:p>
            <a:pPr algn="l">
              <a:lnSpc>
                <a:spcPct val="120000"/>
              </a:lnSpc>
            </a:pPr>
            <a:endParaRPr lang="en-US" altLang="zh-CN" sz="3600">
              <a:solidFill>
                <a:srgbClr val="990000"/>
              </a:solidFill>
              <a:ea typeface="楷体_GB2312" charset="0"/>
            </a:endParaRPr>
          </a:p>
          <a:p>
            <a:pPr algn="l">
              <a:lnSpc>
                <a:spcPct val="120000"/>
              </a:lnSpc>
            </a:pPr>
            <a:endParaRPr lang="en-US" altLang="zh-CN" sz="3600">
              <a:solidFill>
                <a:srgbClr val="990000"/>
              </a:solidFill>
              <a:ea typeface="楷体_GB2312" charset="0"/>
            </a:endParaRPr>
          </a:p>
          <a:p>
            <a:pPr algn="l">
              <a:lnSpc>
                <a:spcPct val="120000"/>
              </a:lnSpc>
            </a:pPr>
            <a:endParaRPr lang="en-US" altLang="zh-CN" sz="3600">
              <a:ea typeface="楷体_GB2312" charset="0"/>
            </a:endParaRPr>
          </a:p>
          <a:p>
            <a:pPr algn="l">
              <a:lnSpc>
                <a:spcPct val="120000"/>
              </a:lnSpc>
            </a:pPr>
            <a:r>
              <a:rPr lang="en-US" altLang="zh-CN" sz="3200">
                <a:ea typeface="楷体_GB2312" charset="0"/>
              </a:rPr>
              <a:t>  </a:t>
            </a:r>
            <a:r>
              <a:rPr lang="en-US" altLang="zh-CN" sz="3200" b="1">
                <a:solidFill>
                  <a:srgbClr val="990000"/>
                </a:solidFill>
                <a:ea typeface="楷体_GB2312" charset="0"/>
              </a:rPr>
              <a:t>}</a:t>
            </a:r>
          </a:p>
          <a:p>
            <a:pPr algn="l">
              <a:lnSpc>
                <a:spcPct val="120000"/>
              </a:lnSpc>
            </a:pPr>
            <a:r>
              <a:rPr lang="en-US" altLang="zh-CN" sz="3200" b="1">
                <a:solidFill>
                  <a:srgbClr val="990000"/>
                </a:solidFill>
                <a:ea typeface="楷体_GB2312" charset="0"/>
              </a:rPr>
              <a:t>}</a:t>
            </a:r>
            <a:r>
              <a:rPr lang="en-US" altLang="zh-CN" sz="3200">
                <a:solidFill>
                  <a:srgbClr val="990000"/>
                </a:solidFill>
                <a:ea typeface="楷体_GB2312" charset="0"/>
              </a:rPr>
              <a:t> // QSort</a:t>
            </a:r>
            <a:endParaRPr lang="en-US" altLang="zh-CN" sz="3200">
              <a:ea typeface="楷体_GB2312" charset="0"/>
            </a:endParaRPr>
          </a:p>
        </p:txBody>
      </p:sp>
      <p:sp>
        <p:nvSpPr>
          <p:cNvPr id="124931" name="Rectangle 3"/>
          <p:cNvSpPr>
            <a:spLocks noChangeArrowheads="1"/>
          </p:cNvSpPr>
          <p:nvPr/>
        </p:nvSpPr>
        <p:spPr bwMode="auto">
          <a:xfrm>
            <a:off x="609600" y="2133600"/>
            <a:ext cx="73310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a:solidFill>
                  <a:srgbClr val="990000"/>
                </a:solidFill>
                <a:ea typeface="楷体_GB2312" charset="0"/>
              </a:rPr>
              <a:t>pivotloc = Partition(R, s, t);</a:t>
            </a:r>
          </a:p>
          <a:p>
            <a:pPr algn="l">
              <a:lnSpc>
                <a:spcPct val="120000"/>
              </a:lnSpc>
            </a:pPr>
            <a:r>
              <a:rPr lang="en-US" altLang="zh-CN" sz="36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对 </a:t>
            </a:r>
            <a:r>
              <a:rPr lang="en-US" altLang="zh-CN" sz="3200">
                <a:solidFill>
                  <a:srgbClr val="990000"/>
                </a:solidFill>
                <a:ea typeface="楷体_GB2312" charset="0"/>
              </a:rPr>
              <a:t>R[s..t] </a:t>
            </a:r>
            <a:r>
              <a:rPr lang="zh-CN" altLang="en-US" sz="3200">
                <a:solidFill>
                  <a:srgbClr val="990000"/>
                </a:solidFill>
                <a:ea typeface="楷体_GB2312" charset="0"/>
              </a:rPr>
              <a:t>进行</a:t>
            </a:r>
            <a:r>
              <a:rPr lang="zh-CN" altLang="en-US" sz="3200" b="1">
                <a:solidFill>
                  <a:srgbClr val="990000"/>
                </a:solidFill>
                <a:ea typeface="楷体_GB2312" charset="0"/>
              </a:rPr>
              <a:t>一次划分</a:t>
            </a:r>
            <a:endParaRPr lang="zh-CN" altLang="en-US" sz="3200">
              <a:solidFill>
                <a:srgbClr val="990000"/>
              </a:solidFill>
              <a:ea typeface="楷体_GB2312" charset="0"/>
            </a:endParaRPr>
          </a:p>
        </p:txBody>
      </p:sp>
      <p:sp>
        <p:nvSpPr>
          <p:cNvPr id="124932" name="Rectangle 4"/>
          <p:cNvSpPr>
            <a:spLocks noChangeArrowheads="1"/>
          </p:cNvSpPr>
          <p:nvPr/>
        </p:nvSpPr>
        <p:spPr bwMode="auto">
          <a:xfrm>
            <a:off x="609600" y="3429000"/>
            <a:ext cx="8609013"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a:solidFill>
                  <a:srgbClr val="FF0000"/>
                </a:solidFill>
                <a:ea typeface="楷体_GB2312" charset="0"/>
              </a:rPr>
              <a:t>QSort(R, s, pivotloc-1);</a:t>
            </a:r>
            <a:endParaRPr lang="en-US" altLang="zh-CN" sz="3600">
              <a:ea typeface="楷体_GB2312" charset="0"/>
            </a:endParaRPr>
          </a:p>
          <a:p>
            <a:pPr algn="l">
              <a:lnSpc>
                <a:spcPct val="120000"/>
              </a:lnSpc>
            </a:pPr>
            <a:r>
              <a:rPr lang="en-US" altLang="zh-CN" sz="3200">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对低子序列递归排序，</a:t>
            </a:r>
            <a:r>
              <a:rPr lang="en-US" altLang="zh-CN" sz="3200" b="1">
                <a:solidFill>
                  <a:srgbClr val="990000"/>
                </a:solidFill>
                <a:ea typeface="楷体_GB2312" charset="0"/>
              </a:rPr>
              <a:t>pivotloc</a:t>
            </a:r>
            <a:r>
              <a:rPr lang="zh-CN" altLang="en-US" sz="3200" b="1">
                <a:solidFill>
                  <a:srgbClr val="990000"/>
                </a:solidFill>
                <a:ea typeface="楷体_GB2312" charset="0"/>
              </a:rPr>
              <a:t>是枢轴位置</a:t>
            </a:r>
            <a:endParaRPr lang="zh-CN" altLang="en-US" sz="3200">
              <a:solidFill>
                <a:srgbClr val="990000"/>
              </a:solidFill>
              <a:ea typeface="楷体_GB2312" charset="0"/>
            </a:endParaRPr>
          </a:p>
        </p:txBody>
      </p:sp>
      <p:sp>
        <p:nvSpPr>
          <p:cNvPr id="124933" name="Rectangle 5"/>
          <p:cNvSpPr>
            <a:spLocks noChangeArrowheads="1"/>
          </p:cNvSpPr>
          <p:nvPr/>
        </p:nvSpPr>
        <p:spPr bwMode="auto">
          <a:xfrm>
            <a:off x="609600" y="4876800"/>
            <a:ext cx="8680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FF0000"/>
                </a:solidFill>
                <a:ea typeface="楷体_GB2312" charset="0"/>
              </a:rPr>
              <a:t>QSort(R, pivotloc+1, t);</a:t>
            </a:r>
            <a:r>
              <a:rPr lang="en-US" altLang="zh-CN" sz="3600">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对高子序列递归排序</a:t>
            </a:r>
          </a:p>
        </p:txBody>
      </p:sp>
    </p:spTree>
    <p:extLst>
      <p:ext uri="{BB962C8B-B14F-4D97-AF65-F5344CB8AC3E}">
        <p14:creationId xmlns:p14="http://schemas.microsoft.com/office/powerpoint/2010/main" val="12830929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24930"/>
                                        </p:tgtEl>
                                        <p:attrNameLst>
                                          <p:attrName>style.visibility</p:attrName>
                                        </p:attrNameLst>
                                      </p:cBhvr>
                                      <p:to>
                                        <p:strVal val="visible"/>
                                      </p:to>
                                    </p:set>
                                    <p:animEffect transition="in" filter="strips(downRight)">
                                      <p:cBhvr>
                                        <p:cTn id="7" dur="500"/>
                                        <p:tgtEl>
                                          <p:spTgt spid="124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24931"/>
                                        </p:tgtEl>
                                        <p:attrNameLst>
                                          <p:attrName>style.visibility</p:attrName>
                                        </p:attrNameLst>
                                      </p:cBhvr>
                                      <p:to>
                                        <p:strVal val="visible"/>
                                      </p:to>
                                    </p:set>
                                    <p:animEffect transition="in" filter="strips(downRight)">
                                      <p:cBhvr>
                                        <p:cTn id="12" dur="300"/>
                                        <p:tgtEl>
                                          <p:spTgt spid="1249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24932"/>
                                        </p:tgtEl>
                                        <p:attrNameLst>
                                          <p:attrName>style.visibility</p:attrName>
                                        </p:attrNameLst>
                                      </p:cBhvr>
                                      <p:to>
                                        <p:strVal val="visible"/>
                                      </p:to>
                                    </p:set>
                                    <p:animEffect transition="in" filter="strips(downRight)">
                                      <p:cBhvr>
                                        <p:cTn id="17" dur="300"/>
                                        <p:tgtEl>
                                          <p:spTgt spid="1249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iterate type="wd">
                                    <p:tmPct val="100000"/>
                                  </p:iterate>
                                  <p:childTnLst>
                                    <p:set>
                                      <p:cBhvr>
                                        <p:cTn id="21" dur="1" fill="hold">
                                          <p:stCondLst>
                                            <p:cond delay="0"/>
                                          </p:stCondLst>
                                        </p:cTn>
                                        <p:tgtEl>
                                          <p:spTgt spid="124933"/>
                                        </p:tgtEl>
                                        <p:attrNameLst>
                                          <p:attrName>style.visibility</p:attrName>
                                        </p:attrNameLst>
                                      </p:cBhvr>
                                      <p:to>
                                        <p:strVal val="visible"/>
                                      </p:to>
                                    </p:set>
                                    <p:animEffect transition="in" filter="strips(downRight)">
                                      <p:cBhvr>
                                        <p:cTn id="22" dur="300"/>
                                        <p:tgtEl>
                                          <p:spTgt spid="124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autoUpdateAnimBg="0"/>
      <p:bldP spid="124931" grpId="0" autoUpdateAnimBg="0"/>
      <p:bldP spid="124932" grpId="0" autoUpdateAnimBg="0"/>
      <p:bldP spid="12493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950913" y="1965325"/>
            <a:ext cx="6440487"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en-US" altLang="zh-CN" sz="4000" b="1">
                <a:solidFill>
                  <a:srgbClr val="990000"/>
                </a:solidFill>
                <a:ea typeface="楷体_GB2312" charset="0"/>
              </a:rPr>
              <a:t>void</a:t>
            </a:r>
            <a:r>
              <a:rPr lang="en-US" altLang="zh-CN" sz="4000">
                <a:solidFill>
                  <a:srgbClr val="990000"/>
                </a:solidFill>
                <a:ea typeface="楷体_GB2312" charset="0"/>
              </a:rPr>
              <a:t> QuickSort( SqList </a:t>
            </a:r>
            <a:r>
              <a:rPr lang="en-US" altLang="zh-CN" sz="4000" b="1">
                <a:solidFill>
                  <a:srgbClr val="990000"/>
                </a:solidFill>
                <a:ea typeface="楷体_GB2312" charset="0"/>
              </a:rPr>
              <a:t>&amp;</a:t>
            </a:r>
            <a:r>
              <a:rPr lang="en-US" altLang="zh-CN" sz="4000">
                <a:solidFill>
                  <a:srgbClr val="990000"/>
                </a:solidFill>
                <a:ea typeface="楷体_GB2312" charset="0"/>
              </a:rPr>
              <a:t> L) </a:t>
            </a:r>
            <a:r>
              <a:rPr lang="en-US" altLang="zh-CN" sz="4000" b="1">
                <a:solidFill>
                  <a:srgbClr val="990000"/>
                </a:solidFill>
                <a:ea typeface="楷体_GB2312" charset="0"/>
              </a:rPr>
              <a:t>{</a:t>
            </a:r>
            <a:endParaRPr lang="en-US" altLang="zh-CN" sz="4000">
              <a:ea typeface="楷体_GB2312" charset="0"/>
            </a:endParaRPr>
          </a:p>
          <a:p>
            <a:pPr algn="l">
              <a:lnSpc>
                <a:spcPct val="150000"/>
              </a:lnSpc>
            </a:pPr>
            <a:r>
              <a:rPr lang="en-US" altLang="zh-CN" sz="4000">
                <a:ea typeface="楷体_GB2312" charset="0"/>
              </a:rPr>
              <a:t>   </a:t>
            </a:r>
            <a:r>
              <a:rPr lang="en-US" altLang="zh-CN" sz="4000">
                <a:solidFill>
                  <a:schemeClr val="accent2"/>
                </a:solidFill>
                <a:ea typeface="楷体_GB2312" charset="0"/>
              </a:rPr>
              <a:t>// </a:t>
            </a:r>
            <a:r>
              <a:rPr lang="zh-CN" altLang="en-US" sz="4000">
                <a:solidFill>
                  <a:schemeClr val="accent2"/>
                </a:solidFill>
                <a:ea typeface="楷体_GB2312" charset="0"/>
              </a:rPr>
              <a:t>对顺序表进行快速排序</a:t>
            </a:r>
            <a:endParaRPr lang="zh-CN" altLang="en-US" sz="4000">
              <a:ea typeface="楷体_GB2312" charset="0"/>
            </a:endParaRPr>
          </a:p>
          <a:p>
            <a:pPr algn="l">
              <a:lnSpc>
                <a:spcPct val="150000"/>
              </a:lnSpc>
            </a:pPr>
            <a:r>
              <a:rPr lang="zh-CN" altLang="en-US" sz="4000">
                <a:ea typeface="楷体_GB2312" charset="0"/>
              </a:rPr>
              <a:t>     </a:t>
            </a:r>
            <a:r>
              <a:rPr lang="en-US" altLang="zh-CN" sz="4000">
                <a:solidFill>
                  <a:srgbClr val="FF0000"/>
                </a:solidFill>
                <a:ea typeface="楷体_GB2312" charset="0"/>
              </a:rPr>
              <a:t>QSort(L.r, 1, L.length);</a:t>
            </a:r>
          </a:p>
          <a:p>
            <a:pPr algn="l">
              <a:lnSpc>
                <a:spcPct val="150000"/>
              </a:lnSpc>
            </a:pPr>
            <a:r>
              <a:rPr lang="en-US" altLang="zh-CN" sz="4000" b="1">
                <a:solidFill>
                  <a:srgbClr val="990000"/>
                </a:solidFill>
                <a:ea typeface="楷体_GB2312" charset="0"/>
              </a:rPr>
              <a:t>}</a:t>
            </a:r>
            <a:r>
              <a:rPr lang="en-US" altLang="zh-CN" sz="4000">
                <a:solidFill>
                  <a:srgbClr val="990000"/>
                </a:solidFill>
                <a:ea typeface="楷体_GB2312" charset="0"/>
              </a:rPr>
              <a:t> // QuickSort</a:t>
            </a:r>
            <a:endParaRPr lang="en-US" altLang="zh-CN" sz="4000">
              <a:ea typeface="楷体_GB2312" charset="0"/>
            </a:endParaRPr>
          </a:p>
        </p:txBody>
      </p:sp>
      <p:sp>
        <p:nvSpPr>
          <p:cNvPr id="34820" name="Text Box 4"/>
          <p:cNvSpPr txBox="1">
            <a:spLocks noChangeArrowheads="1"/>
          </p:cNvSpPr>
          <p:nvPr/>
        </p:nvSpPr>
        <p:spPr bwMode="auto">
          <a:xfrm>
            <a:off x="517525" y="361950"/>
            <a:ext cx="8321675"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3600">
                <a:solidFill>
                  <a:srgbClr val="990000"/>
                </a:solidFill>
                <a:ea typeface="楷体_GB2312" charset="0"/>
              </a:rPr>
              <a:t>第一次调用函数 </a:t>
            </a:r>
            <a:r>
              <a:rPr lang="en-US" altLang="zh-CN" sz="3600">
                <a:solidFill>
                  <a:srgbClr val="990000"/>
                </a:solidFill>
                <a:ea typeface="楷体_GB2312" charset="0"/>
              </a:rPr>
              <a:t>Qsort </a:t>
            </a:r>
            <a:r>
              <a:rPr lang="zh-CN" altLang="en-US" sz="3600">
                <a:solidFill>
                  <a:srgbClr val="990000"/>
                </a:solidFill>
                <a:ea typeface="楷体_GB2312" charset="0"/>
              </a:rPr>
              <a:t>时，待排序记录序列的上、下界分别为 </a:t>
            </a:r>
            <a:r>
              <a:rPr lang="en-US" altLang="zh-CN" sz="3600">
                <a:solidFill>
                  <a:srgbClr val="990000"/>
                </a:solidFill>
                <a:ea typeface="楷体_GB2312" charset="0"/>
              </a:rPr>
              <a:t>1 </a:t>
            </a:r>
            <a:r>
              <a:rPr lang="zh-CN" altLang="en-US" sz="3600">
                <a:solidFill>
                  <a:srgbClr val="990000"/>
                </a:solidFill>
                <a:ea typeface="楷体_GB2312" charset="0"/>
              </a:rPr>
              <a:t>和 </a:t>
            </a:r>
            <a:r>
              <a:rPr lang="en-US" altLang="zh-CN" sz="3600">
                <a:solidFill>
                  <a:srgbClr val="990000"/>
                </a:solidFill>
                <a:ea typeface="楷体_GB2312" charset="0"/>
              </a:rPr>
              <a:t>L.length</a:t>
            </a:r>
            <a:r>
              <a:rPr lang="zh-CN" altLang="en-US" sz="3600">
                <a:solidFill>
                  <a:srgbClr val="990000"/>
                </a:solidFill>
                <a:ea typeface="楷体_GB2312" charset="0"/>
              </a:rPr>
              <a:t>。</a:t>
            </a:r>
            <a:endParaRPr lang="zh-CN" altLang="en-US" sz="3600">
              <a:ea typeface="楷体_GB2312" charset="0"/>
            </a:endParaRPr>
          </a:p>
        </p:txBody>
      </p:sp>
      <p:sp>
        <p:nvSpPr>
          <p:cNvPr id="34821" name="AutoShape 5">
            <a:hlinkClick r:id="rId2" action="ppaction://hlinksldjump" highlightClick="1"/>
          </p:cNvPr>
          <p:cNvSpPr>
            <a:spLocks noChangeArrowheads="1"/>
          </p:cNvSpPr>
          <p:nvPr/>
        </p:nvSpPr>
        <p:spPr bwMode="auto">
          <a:xfrm>
            <a:off x="84582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202410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strips(downRigh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34818"/>
                                        </p:tgtEl>
                                        <p:attrNameLst>
                                          <p:attrName>style.visibility</p:attrName>
                                        </p:attrNameLst>
                                      </p:cBhvr>
                                      <p:to>
                                        <p:strVal val="visible"/>
                                      </p:to>
                                    </p:set>
                                    <p:animEffect transition="in" filter="strips(downRight)">
                                      <p:cBhvr>
                                        <p:cTn id="12" dur="300"/>
                                        <p:tgtEl>
                                          <p:spTgt spid="34818"/>
                                        </p:tgtEl>
                                      </p:cBhvr>
                                    </p:animEffect>
                                  </p:childTnLst>
                                </p:cTn>
                              </p:par>
                            </p:childTnLst>
                          </p:cTn>
                        </p:par>
                        <p:par>
                          <p:cTn id="13" fill="hold" nodeType="afterGroup">
                            <p:stCondLst>
                              <p:cond delay="7200"/>
                            </p:stCondLst>
                            <p:childTnLst>
                              <p:par>
                                <p:cTn id="14" presetID="2" presetClass="entr" presetSubtype="6" fill="hold" grpId="0" nodeType="afterEffect">
                                  <p:stCondLst>
                                    <p:cond delay="0"/>
                                  </p:stCondLst>
                                  <p:childTnLst>
                                    <p:set>
                                      <p:cBhvr>
                                        <p:cTn id="15" dur="1" fill="hold">
                                          <p:stCondLst>
                                            <p:cond delay="0"/>
                                          </p:stCondLst>
                                        </p:cTn>
                                        <p:tgtEl>
                                          <p:spTgt spid="34821"/>
                                        </p:tgtEl>
                                        <p:attrNameLst>
                                          <p:attrName>style.visibility</p:attrName>
                                        </p:attrNameLst>
                                      </p:cBhvr>
                                      <p:to>
                                        <p:strVal val="visible"/>
                                      </p:to>
                                    </p:set>
                                    <p:anim calcmode="lin" valueType="num">
                                      <p:cBhvr additive="base">
                                        <p:cTn id="16" dur="500" fill="hold"/>
                                        <p:tgtEl>
                                          <p:spTgt spid="34821"/>
                                        </p:tgtEl>
                                        <p:attrNameLst>
                                          <p:attrName>ppt_x</p:attrName>
                                        </p:attrNameLst>
                                      </p:cBhvr>
                                      <p:tavLst>
                                        <p:tav tm="0">
                                          <p:val>
                                            <p:strVal val="1+#ppt_w/2"/>
                                          </p:val>
                                        </p:tav>
                                        <p:tav tm="100000">
                                          <p:val>
                                            <p:strVal val="#ppt_x"/>
                                          </p:val>
                                        </p:tav>
                                      </p:tavLst>
                                    </p:anim>
                                    <p:anim calcmode="lin" valueType="num">
                                      <p:cBhvr additive="base">
                                        <p:cTn id="17"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autoUpdateAnimBg="0"/>
      <p:bldP spid="34820" grpId="0" autoUpdateAnimBg="0"/>
      <p:bldP spid="3482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804863" y="152400"/>
            <a:ext cx="58245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四、快速排序的时间分析</a:t>
            </a:r>
          </a:p>
        </p:txBody>
      </p:sp>
      <p:sp>
        <p:nvSpPr>
          <p:cNvPr id="35843" name="Text Box 3"/>
          <p:cNvSpPr txBox="1">
            <a:spLocks noChangeArrowheads="1"/>
          </p:cNvSpPr>
          <p:nvPr/>
        </p:nvSpPr>
        <p:spPr bwMode="auto">
          <a:xfrm>
            <a:off x="304800" y="990600"/>
            <a:ext cx="8686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假设</a:t>
            </a:r>
            <a:r>
              <a:rPr lang="zh-CN" altLang="en-US" sz="3600">
                <a:solidFill>
                  <a:srgbClr val="0000FF"/>
                </a:solidFill>
                <a:ea typeface="楷体_GB2312" charset="0"/>
              </a:rPr>
              <a:t>一次划分所得枢轴位置 </a:t>
            </a:r>
            <a:r>
              <a:rPr lang="en-US" altLang="zh-CN" sz="3600" b="1" i="1">
                <a:solidFill>
                  <a:srgbClr val="0000FF"/>
                </a:solidFill>
                <a:ea typeface="楷体_GB2312" charset="0"/>
              </a:rPr>
              <a:t>i=k</a:t>
            </a:r>
            <a:r>
              <a:rPr lang="zh-CN" altLang="en-US" sz="3600">
                <a:ea typeface="楷体_GB2312" charset="0"/>
              </a:rPr>
              <a:t>，则对</a:t>
            </a:r>
            <a:r>
              <a:rPr lang="en-US" altLang="zh-CN" sz="3600" b="1" i="1">
                <a:ea typeface="楷体_GB2312" charset="0"/>
              </a:rPr>
              <a:t>n </a:t>
            </a:r>
            <a:r>
              <a:rPr lang="zh-CN" altLang="en-US" sz="3600">
                <a:ea typeface="楷体_GB2312" charset="0"/>
              </a:rPr>
              <a:t>个记录进行快排所需时间：</a:t>
            </a:r>
            <a:endParaRPr lang="zh-CN" altLang="en-US" sz="3600" b="1">
              <a:solidFill>
                <a:srgbClr val="000080"/>
              </a:solidFill>
              <a:ea typeface="楷体_GB2312" charset="0"/>
            </a:endParaRPr>
          </a:p>
        </p:txBody>
      </p:sp>
      <p:sp>
        <p:nvSpPr>
          <p:cNvPr id="35844" name="Rectangle 4"/>
          <p:cNvSpPr>
            <a:spLocks noChangeArrowheads="1"/>
          </p:cNvSpPr>
          <p:nvPr/>
        </p:nvSpPr>
        <p:spPr bwMode="auto">
          <a:xfrm>
            <a:off x="457200" y="3200400"/>
            <a:ext cx="8686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其中 </a:t>
            </a:r>
            <a:r>
              <a:rPr lang="en-US" altLang="zh-CN" sz="3600">
                <a:ea typeface="楷体_GB2312" charset="0"/>
              </a:rPr>
              <a:t>T</a:t>
            </a:r>
            <a:r>
              <a:rPr lang="en-US" altLang="zh-CN" sz="3600" baseline="-25000">
                <a:ea typeface="楷体_GB2312" charset="0"/>
              </a:rPr>
              <a:t>pass</a:t>
            </a:r>
            <a:r>
              <a:rPr lang="en-US" altLang="zh-CN" sz="3600">
                <a:ea typeface="楷体_GB2312" charset="0"/>
              </a:rPr>
              <a:t>(</a:t>
            </a:r>
            <a:r>
              <a:rPr lang="en-US" altLang="zh-CN" sz="3600" b="1" i="1">
                <a:ea typeface="楷体_GB2312" charset="0"/>
              </a:rPr>
              <a:t>n</a:t>
            </a:r>
            <a:r>
              <a:rPr lang="en-US" altLang="zh-CN" sz="3600">
                <a:ea typeface="楷体_GB2312" charset="0"/>
              </a:rPr>
              <a:t>)</a:t>
            </a:r>
            <a:r>
              <a:rPr lang="zh-CN" altLang="en-US" sz="3600">
                <a:ea typeface="楷体_GB2312" charset="0"/>
              </a:rPr>
              <a:t>为对 </a:t>
            </a:r>
            <a:r>
              <a:rPr lang="en-US" altLang="zh-CN" sz="3600" b="1" i="1">
                <a:ea typeface="楷体_GB2312" charset="0"/>
              </a:rPr>
              <a:t>n </a:t>
            </a:r>
            <a:r>
              <a:rPr lang="zh-CN" altLang="en-US" sz="3600">
                <a:ea typeface="楷体_GB2312" charset="0"/>
              </a:rPr>
              <a:t>个记录进行一次划分所需时间。</a:t>
            </a:r>
          </a:p>
        </p:txBody>
      </p:sp>
      <p:sp>
        <p:nvSpPr>
          <p:cNvPr id="35845" name="Rectangle 5"/>
          <p:cNvSpPr>
            <a:spLocks noChangeArrowheads="1"/>
          </p:cNvSpPr>
          <p:nvPr/>
        </p:nvSpPr>
        <p:spPr bwMode="auto">
          <a:xfrm>
            <a:off x="304800" y="4737100"/>
            <a:ext cx="88392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3600">
                <a:ea typeface="楷体_GB2312" charset="0"/>
              </a:rPr>
              <a:t>若待排序列中记录的关键字是随机分布的，则 </a:t>
            </a:r>
            <a:r>
              <a:rPr lang="en-US" altLang="zh-CN" sz="3600" b="1" i="1">
                <a:solidFill>
                  <a:srgbClr val="0000FF"/>
                </a:solidFill>
                <a:ea typeface="楷体_GB2312" charset="0"/>
              </a:rPr>
              <a:t>k</a:t>
            </a:r>
            <a:r>
              <a:rPr lang="en-US" altLang="zh-CN" sz="3600">
                <a:solidFill>
                  <a:srgbClr val="0000FF"/>
                </a:solidFill>
                <a:ea typeface="楷体_GB2312" charset="0"/>
              </a:rPr>
              <a:t> </a:t>
            </a:r>
            <a:r>
              <a:rPr lang="zh-CN" altLang="en-US" sz="3600">
                <a:solidFill>
                  <a:srgbClr val="0000FF"/>
                </a:solidFill>
                <a:ea typeface="楷体_GB2312" charset="0"/>
              </a:rPr>
              <a:t>取 </a:t>
            </a:r>
            <a:r>
              <a:rPr lang="en-US" altLang="zh-CN" sz="3600">
                <a:solidFill>
                  <a:srgbClr val="0000FF"/>
                </a:solidFill>
                <a:ea typeface="楷体_GB2312" charset="0"/>
              </a:rPr>
              <a:t>1 </a:t>
            </a:r>
            <a:r>
              <a:rPr lang="zh-CN" altLang="en-US" sz="3600">
                <a:solidFill>
                  <a:srgbClr val="0000FF"/>
                </a:solidFill>
                <a:ea typeface="楷体_GB2312" charset="0"/>
              </a:rPr>
              <a:t>至 </a:t>
            </a:r>
            <a:r>
              <a:rPr lang="en-US" altLang="zh-CN" sz="3600" b="1" i="1">
                <a:solidFill>
                  <a:srgbClr val="0000FF"/>
                </a:solidFill>
                <a:ea typeface="楷体_GB2312" charset="0"/>
              </a:rPr>
              <a:t>n</a:t>
            </a:r>
            <a:r>
              <a:rPr lang="en-US" altLang="zh-CN" sz="3600">
                <a:solidFill>
                  <a:srgbClr val="0000FF"/>
                </a:solidFill>
                <a:ea typeface="楷体_GB2312" charset="0"/>
              </a:rPr>
              <a:t> </a:t>
            </a:r>
            <a:r>
              <a:rPr lang="zh-CN" altLang="en-US" sz="3600">
                <a:solidFill>
                  <a:srgbClr val="0000FF"/>
                </a:solidFill>
                <a:ea typeface="楷体_GB2312" charset="0"/>
              </a:rPr>
              <a:t>中任意一值的可能性相同。</a:t>
            </a:r>
            <a:endParaRPr lang="zh-CN" altLang="en-US" sz="3600">
              <a:ea typeface="楷体_GB2312" charset="0"/>
            </a:endParaRPr>
          </a:p>
        </p:txBody>
      </p:sp>
      <p:sp>
        <p:nvSpPr>
          <p:cNvPr id="35846" name="Rectangle 6"/>
          <p:cNvSpPr>
            <a:spLocks noChangeArrowheads="1"/>
          </p:cNvSpPr>
          <p:nvPr/>
        </p:nvSpPr>
        <p:spPr bwMode="auto">
          <a:xfrm>
            <a:off x="1370013" y="2438400"/>
            <a:ext cx="6402387"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b="1">
                <a:solidFill>
                  <a:srgbClr val="000080"/>
                </a:solidFill>
                <a:ea typeface="楷体_GB2312" charset="0"/>
              </a:rPr>
              <a:t>T(</a:t>
            </a:r>
            <a:r>
              <a:rPr lang="en-US" altLang="zh-CN" sz="3600" b="1" i="1">
                <a:solidFill>
                  <a:srgbClr val="000080"/>
                </a:solidFill>
                <a:ea typeface="楷体_GB2312" charset="0"/>
              </a:rPr>
              <a:t>n</a:t>
            </a:r>
            <a:r>
              <a:rPr lang="en-US" altLang="zh-CN" sz="3600" b="1">
                <a:solidFill>
                  <a:srgbClr val="000080"/>
                </a:solidFill>
                <a:ea typeface="楷体_GB2312" charset="0"/>
              </a:rPr>
              <a:t>) = T</a:t>
            </a:r>
            <a:r>
              <a:rPr lang="en-US" altLang="zh-CN" sz="3600" b="1" baseline="-25000">
                <a:solidFill>
                  <a:srgbClr val="000080"/>
                </a:solidFill>
                <a:ea typeface="楷体_GB2312" charset="0"/>
              </a:rPr>
              <a:t>pass</a:t>
            </a:r>
            <a:r>
              <a:rPr lang="en-US" altLang="zh-CN" sz="3600" b="1">
                <a:solidFill>
                  <a:srgbClr val="000080"/>
                </a:solidFill>
                <a:ea typeface="楷体_GB2312" charset="0"/>
              </a:rPr>
              <a:t>(</a:t>
            </a:r>
            <a:r>
              <a:rPr lang="en-US" altLang="zh-CN" sz="3600" b="1" i="1">
                <a:solidFill>
                  <a:srgbClr val="000080"/>
                </a:solidFill>
                <a:ea typeface="楷体_GB2312" charset="0"/>
              </a:rPr>
              <a:t>n</a:t>
            </a:r>
            <a:r>
              <a:rPr lang="en-US" altLang="zh-CN" sz="3600" b="1">
                <a:solidFill>
                  <a:srgbClr val="000080"/>
                </a:solidFill>
                <a:ea typeface="楷体_GB2312" charset="0"/>
              </a:rPr>
              <a:t>) + T(</a:t>
            </a:r>
            <a:r>
              <a:rPr lang="en-US" altLang="zh-CN" sz="3600" b="1" i="1">
                <a:solidFill>
                  <a:srgbClr val="000080"/>
                </a:solidFill>
                <a:ea typeface="楷体_GB2312" charset="0"/>
              </a:rPr>
              <a:t>k-1</a:t>
            </a:r>
            <a:r>
              <a:rPr lang="en-US" altLang="zh-CN" sz="3600" b="1">
                <a:solidFill>
                  <a:srgbClr val="000080"/>
                </a:solidFill>
                <a:ea typeface="楷体_GB2312" charset="0"/>
              </a:rPr>
              <a:t>) + T(</a:t>
            </a:r>
            <a:r>
              <a:rPr lang="en-US" altLang="zh-CN" sz="3600" b="1" i="1">
                <a:solidFill>
                  <a:srgbClr val="000080"/>
                </a:solidFill>
                <a:ea typeface="楷体_GB2312" charset="0"/>
              </a:rPr>
              <a:t>n-k</a:t>
            </a:r>
            <a:r>
              <a:rPr lang="en-US" altLang="zh-CN" sz="3600" b="1">
                <a:solidFill>
                  <a:srgbClr val="000080"/>
                </a:solidFill>
                <a:ea typeface="楷体_GB2312" charset="0"/>
              </a:rPr>
              <a:t>)</a:t>
            </a:r>
          </a:p>
        </p:txBody>
      </p:sp>
    </p:spTree>
    <p:extLst>
      <p:ext uri="{BB962C8B-B14F-4D97-AF65-F5344CB8AC3E}">
        <p14:creationId xmlns:p14="http://schemas.microsoft.com/office/powerpoint/2010/main" val="4800093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dissolve">
                                      <p:cBhvr>
                                        <p:cTn id="7" dur="500"/>
                                        <p:tgtEl>
                                          <p:spTgt spid="35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strips(downRight)">
                                      <p:cBhvr>
                                        <p:cTn id="12" dur="500"/>
                                        <p:tgtEl>
                                          <p:spTgt spid="35843"/>
                                        </p:tgtEl>
                                      </p:cBhvr>
                                    </p:animEffect>
                                  </p:childTnLst>
                                </p:cTn>
                              </p:par>
                            </p:childTnLst>
                          </p:cTn>
                        </p:par>
                        <p:par>
                          <p:cTn id="13" fill="hold" nodeType="afterGroup">
                            <p:stCondLst>
                              <p:cond delay="500"/>
                            </p:stCondLst>
                            <p:childTnLst>
                              <p:par>
                                <p:cTn id="14" presetID="18" presetClass="entr" presetSubtype="6" fill="hold" grpId="0" nodeType="afterEffect">
                                  <p:stCondLst>
                                    <p:cond delay="0"/>
                                  </p:stCondLst>
                                  <p:iterate type="wd">
                                    <p:tmPct val="100000"/>
                                  </p:iterate>
                                  <p:childTnLst>
                                    <p:set>
                                      <p:cBhvr>
                                        <p:cTn id="15" dur="1" fill="hold">
                                          <p:stCondLst>
                                            <p:cond delay="0"/>
                                          </p:stCondLst>
                                        </p:cTn>
                                        <p:tgtEl>
                                          <p:spTgt spid="35846"/>
                                        </p:tgtEl>
                                        <p:attrNameLst>
                                          <p:attrName>style.visibility</p:attrName>
                                        </p:attrNameLst>
                                      </p:cBhvr>
                                      <p:to>
                                        <p:strVal val="visible"/>
                                      </p:to>
                                    </p:set>
                                    <p:animEffect transition="in" filter="strips(downRight)">
                                      <p:cBhvr>
                                        <p:cTn id="16" dur="300"/>
                                        <p:tgtEl>
                                          <p:spTgt spid="35846"/>
                                        </p:tgtEl>
                                      </p:cBhvr>
                                    </p:animEffect>
                                  </p:childTnLst>
                                </p:cTn>
                              </p:par>
                            </p:childTnLst>
                          </p:cTn>
                        </p:par>
                        <p:par>
                          <p:cTn id="17" fill="hold" nodeType="afterGroup">
                            <p:stCondLst>
                              <p:cond delay="3800"/>
                            </p:stCondLst>
                            <p:childTnLst>
                              <p:par>
                                <p:cTn id="18" presetID="18" presetClass="entr" presetSubtype="6" fill="hold" grpId="0" nodeType="afterEffect">
                                  <p:stCondLst>
                                    <p:cond delay="0"/>
                                  </p:stCondLst>
                                  <p:childTnLst>
                                    <p:set>
                                      <p:cBhvr>
                                        <p:cTn id="19" dur="1" fill="hold">
                                          <p:stCondLst>
                                            <p:cond delay="0"/>
                                          </p:stCondLst>
                                        </p:cTn>
                                        <p:tgtEl>
                                          <p:spTgt spid="35844"/>
                                        </p:tgtEl>
                                        <p:attrNameLst>
                                          <p:attrName>style.visibility</p:attrName>
                                        </p:attrNameLst>
                                      </p:cBhvr>
                                      <p:to>
                                        <p:strVal val="visible"/>
                                      </p:to>
                                    </p:set>
                                    <p:animEffect transition="in" filter="strips(downRight)">
                                      <p:cBhvr>
                                        <p:cTn id="20" dur="500"/>
                                        <p:tgtEl>
                                          <p:spTgt spid="35844"/>
                                        </p:tgtEl>
                                      </p:cBhvr>
                                    </p:animEffect>
                                  </p:childTnLst>
                                </p:cTn>
                              </p:par>
                            </p:childTnLst>
                          </p:cTn>
                        </p:par>
                        <p:par>
                          <p:cTn id="21" fill="hold" nodeType="afterGroup">
                            <p:stCondLst>
                              <p:cond delay="4300"/>
                            </p:stCondLst>
                            <p:childTnLst>
                              <p:par>
                                <p:cTn id="22" presetID="18" presetClass="entr" presetSubtype="6" fill="hold" grpId="0" nodeType="afterEffect">
                                  <p:stCondLst>
                                    <p:cond delay="0"/>
                                  </p:stCondLst>
                                  <p:childTnLst>
                                    <p:set>
                                      <p:cBhvr>
                                        <p:cTn id="23" dur="1" fill="hold">
                                          <p:stCondLst>
                                            <p:cond delay="0"/>
                                          </p:stCondLst>
                                        </p:cTn>
                                        <p:tgtEl>
                                          <p:spTgt spid="35845"/>
                                        </p:tgtEl>
                                        <p:attrNameLst>
                                          <p:attrName>style.visibility</p:attrName>
                                        </p:attrNameLst>
                                      </p:cBhvr>
                                      <p:to>
                                        <p:strVal val="visible"/>
                                      </p:to>
                                    </p:set>
                                    <p:animEffect transition="in" filter="strips(downRight)">
                                      <p:cBhvr>
                                        <p:cTn id="24"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p:bldP spid="35844" grpId="0" autoUpdateAnimBg="0"/>
      <p:bldP spid="35845" grpId="0" autoUpdateAnimBg="0"/>
      <p:bldP spid="35846"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8" name="Object 2"/>
          <p:cNvGraphicFramePr>
            <a:graphicFrameLocks noChangeAspect="1"/>
          </p:cNvGraphicFramePr>
          <p:nvPr/>
        </p:nvGraphicFramePr>
        <p:xfrm>
          <a:off x="609600" y="1143000"/>
          <a:ext cx="7924800" cy="1277938"/>
        </p:xfrm>
        <a:graphic>
          <a:graphicData uri="http://schemas.openxmlformats.org/presentationml/2006/ole">
            <mc:AlternateContent xmlns:mc="http://schemas.openxmlformats.org/markup-compatibility/2006">
              <mc:Choice xmlns:v="urn:schemas-microsoft-com:vml" Requires="v">
                <p:oleObj spid="_x0000_s1701893" name="公式" r:id="rId3" imgW="2666880" imgH="431640" progId="Equation.3">
                  <p:embed/>
                </p:oleObj>
              </mc:Choice>
              <mc:Fallback>
                <p:oleObj name="公式" r:id="rId3" imgW="26668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143000"/>
                        <a:ext cx="7924800" cy="127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6019" name="Text Box 3"/>
          <p:cNvSpPr txBox="1">
            <a:spLocks noChangeArrowheads="1"/>
          </p:cNvSpPr>
          <p:nvPr/>
        </p:nvSpPr>
        <p:spPr bwMode="auto">
          <a:xfrm>
            <a:off x="582613" y="2590800"/>
            <a:ext cx="26939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990000"/>
                </a:solidFill>
                <a:ea typeface="楷体_GB2312" charset="0"/>
              </a:rPr>
              <a:t>设 </a:t>
            </a:r>
            <a:r>
              <a:rPr lang="en-US" altLang="zh-CN" sz="3600">
                <a:solidFill>
                  <a:srgbClr val="990000"/>
                </a:solidFill>
                <a:ea typeface="楷体_GB2312" charset="0"/>
              </a:rPr>
              <a:t>T</a:t>
            </a:r>
            <a:r>
              <a:rPr lang="en-US" altLang="zh-CN" sz="3600" baseline="-25000">
                <a:solidFill>
                  <a:srgbClr val="990000"/>
                </a:solidFill>
                <a:ea typeface="楷体_GB2312" charset="0"/>
              </a:rPr>
              <a:t>avg</a:t>
            </a:r>
            <a:r>
              <a:rPr lang="en-US" altLang="zh-CN" sz="3600">
                <a:solidFill>
                  <a:srgbClr val="990000"/>
                </a:solidFill>
                <a:ea typeface="楷体_GB2312" charset="0"/>
              </a:rPr>
              <a:t>(1)</a:t>
            </a:r>
            <a:r>
              <a:rPr lang="en-US" altLang="zh-CN" sz="3600">
                <a:solidFill>
                  <a:srgbClr val="990000"/>
                </a:solidFill>
                <a:latin typeface="楷体_GB2312" charset="0"/>
                <a:ea typeface="楷体_GB2312" charset="0"/>
              </a:rPr>
              <a:t>≤</a:t>
            </a:r>
            <a:r>
              <a:rPr lang="en-US" altLang="zh-CN" sz="3600">
                <a:solidFill>
                  <a:srgbClr val="990000"/>
                </a:solidFill>
                <a:ea typeface="楷体_GB2312" charset="0"/>
              </a:rPr>
              <a:t>b</a:t>
            </a:r>
            <a:endParaRPr lang="en-US" altLang="zh-CN" sz="4800">
              <a:ea typeface="楷体_GB2312" charset="0"/>
            </a:endParaRPr>
          </a:p>
        </p:txBody>
      </p:sp>
      <p:sp>
        <p:nvSpPr>
          <p:cNvPr id="86020" name="Text Box 4"/>
          <p:cNvSpPr txBox="1">
            <a:spLocks noChangeArrowheads="1"/>
          </p:cNvSpPr>
          <p:nvPr/>
        </p:nvSpPr>
        <p:spPr bwMode="auto">
          <a:xfrm>
            <a:off x="603250" y="3476625"/>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990000"/>
                </a:solidFill>
                <a:ea typeface="楷体_GB2312" charset="0"/>
              </a:rPr>
              <a:t>则可得结果：</a:t>
            </a:r>
            <a:endParaRPr lang="zh-CN" altLang="en-US" sz="4000">
              <a:ea typeface="楷体_GB2312" charset="0"/>
            </a:endParaRPr>
          </a:p>
        </p:txBody>
      </p:sp>
      <p:graphicFrame>
        <p:nvGraphicFramePr>
          <p:cNvPr id="86021" name="Object 5"/>
          <p:cNvGraphicFramePr>
            <a:graphicFrameLocks noChangeAspect="1"/>
          </p:cNvGraphicFramePr>
          <p:nvPr/>
        </p:nvGraphicFramePr>
        <p:xfrm>
          <a:off x="1524000" y="4191000"/>
          <a:ext cx="6096000" cy="1192213"/>
        </p:xfrm>
        <a:graphic>
          <a:graphicData uri="http://schemas.openxmlformats.org/presentationml/2006/ole">
            <mc:AlternateContent xmlns:mc="http://schemas.openxmlformats.org/markup-compatibility/2006">
              <mc:Choice xmlns:v="urn:schemas-microsoft-com:vml" Requires="v">
                <p:oleObj spid="_x0000_s1701894" name="公式" r:id="rId5" imgW="2006280" imgH="393480" progId="Equation.3">
                  <p:embed/>
                </p:oleObj>
              </mc:Choice>
              <mc:Fallback>
                <p:oleObj name="公式" r:id="rId5" imgW="200628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191000"/>
                        <a:ext cx="6096000"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6022" name="Text Box 6"/>
          <p:cNvSpPr txBox="1">
            <a:spLocks noChangeArrowheads="1"/>
          </p:cNvSpPr>
          <p:nvPr/>
        </p:nvSpPr>
        <p:spPr bwMode="auto">
          <a:xfrm>
            <a:off x="654050" y="5683250"/>
            <a:ext cx="8188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楷体_GB2312" charset="0"/>
              </a:rPr>
              <a:t>结论</a:t>
            </a:r>
            <a:r>
              <a:rPr lang="en-US" altLang="zh-CN" sz="3600" b="1">
                <a:solidFill>
                  <a:srgbClr val="990000"/>
                </a:solidFill>
                <a:ea typeface="楷体_GB2312" charset="0"/>
              </a:rPr>
              <a:t>: </a:t>
            </a:r>
            <a:r>
              <a:rPr lang="zh-CN" altLang="en-US" sz="3600" b="1">
                <a:solidFill>
                  <a:srgbClr val="990000"/>
                </a:solidFill>
                <a:ea typeface="楷体_GB2312" charset="0"/>
              </a:rPr>
              <a:t>快速排序的时间复杂度为</a:t>
            </a:r>
            <a:r>
              <a:rPr lang="en-US" altLang="zh-CN" sz="3600" b="1">
                <a:solidFill>
                  <a:srgbClr val="990000"/>
                </a:solidFill>
                <a:ea typeface="楷体_GB2312" charset="0"/>
              </a:rPr>
              <a:t>O(nlogn)</a:t>
            </a:r>
            <a:endParaRPr lang="en-US" altLang="zh-CN" sz="3600">
              <a:ea typeface="楷体_GB2312" charset="0"/>
            </a:endParaRPr>
          </a:p>
        </p:txBody>
      </p:sp>
      <p:sp>
        <p:nvSpPr>
          <p:cNvPr id="86023" name="Rectangle 7"/>
          <p:cNvSpPr>
            <a:spLocks noChangeArrowheads="1"/>
          </p:cNvSpPr>
          <p:nvPr/>
        </p:nvSpPr>
        <p:spPr bwMode="auto">
          <a:xfrm>
            <a:off x="609600" y="304800"/>
            <a:ext cx="841375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zh-CN" altLang="en-US" sz="3600">
                <a:solidFill>
                  <a:srgbClr val="990000"/>
                </a:solidFill>
                <a:ea typeface="楷体_GB2312" charset="0"/>
              </a:rPr>
              <a:t>由此可得快速排序所需时间的平均值为：</a:t>
            </a:r>
            <a:endParaRPr lang="zh-CN" altLang="en-US" sz="3600">
              <a:ea typeface="楷体_GB2312" charset="0"/>
            </a:endParaRPr>
          </a:p>
        </p:txBody>
      </p:sp>
    </p:spTree>
    <p:extLst>
      <p:ext uri="{BB962C8B-B14F-4D97-AF65-F5344CB8AC3E}">
        <p14:creationId xmlns:p14="http://schemas.microsoft.com/office/powerpoint/2010/main" val="8344135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6023"/>
                                        </p:tgtEl>
                                        <p:attrNameLst>
                                          <p:attrName>style.visibility</p:attrName>
                                        </p:attrNameLst>
                                      </p:cBhvr>
                                      <p:to>
                                        <p:strVal val="visible"/>
                                      </p:to>
                                    </p:set>
                                    <p:animEffect transition="in" filter="wipe(left)">
                                      <p:cBhvr>
                                        <p:cTn id="7" dur="500"/>
                                        <p:tgtEl>
                                          <p:spTgt spid="860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6018"/>
                                        </p:tgtEl>
                                        <p:attrNameLst>
                                          <p:attrName>style.visibility</p:attrName>
                                        </p:attrNameLst>
                                      </p:cBhvr>
                                      <p:to>
                                        <p:strVal val="visible"/>
                                      </p:to>
                                    </p:set>
                                    <p:animEffect transition="in" filter="wipe(left)">
                                      <p:cBhvr>
                                        <p:cTn id="12" dur="500"/>
                                        <p:tgtEl>
                                          <p:spTgt spid="860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19"/>
                                        </p:tgtEl>
                                        <p:attrNameLst>
                                          <p:attrName>style.visibility</p:attrName>
                                        </p:attrNameLst>
                                      </p:cBhvr>
                                      <p:to>
                                        <p:strVal val="visible"/>
                                      </p:to>
                                    </p:set>
                                    <p:animEffect transition="in" filter="wipe(left)">
                                      <p:cBhvr>
                                        <p:cTn id="17" dur="500"/>
                                        <p:tgtEl>
                                          <p:spTgt spid="860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020"/>
                                        </p:tgtEl>
                                        <p:attrNameLst>
                                          <p:attrName>style.visibility</p:attrName>
                                        </p:attrNameLst>
                                      </p:cBhvr>
                                      <p:to>
                                        <p:strVal val="visible"/>
                                      </p:to>
                                    </p:set>
                                    <p:animEffect transition="in" filter="wipe(left)">
                                      <p:cBhvr>
                                        <p:cTn id="22" dur="500"/>
                                        <p:tgtEl>
                                          <p:spTgt spid="860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6021"/>
                                        </p:tgtEl>
                                        <p:attrNameLst>
                                          <p:attrName>style.visibility</p:attrName>
                                        </p:attrNameLst>
                                      </p:cBhvr>
                                      <p:to>
                                        <p:strVal val="visible"/>
                                      </p:to>
                                    </p:set>
                                    <p:animEffect transition="in" filter="wipe(left)">
                                      <p:cBhvr>
                                        <p:cTn id="27" dur="500"/>
                                        <p:tgtEl>
                                          <p:spTgt spid="860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6022"/>
                                        </p:tgtEl>
                                        <p:attrNameLst>
                                          <p:attrName>style.visibility</p:attrName>
                                        </p:attrNameLst>
                                      </p:cBhvr>
                                      <p:to>
                                        <p:strVal val="visible"/>
                                      </p:to>
                                    </p:set>
                                    <p:animEffect transition="in" filter="wipe(left)">
                                      <p:cBhvr>
                                        <p:cTn id="32" dur="500"/>
                                        <p:tgtEl>
                                          <p:spTgt spid="86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utoUpdateAnimBg="0"/>
      <p:bldP spid="86020" grpId="0" autoUpdateAnimBg="0"/>
      <p:bldP spid="86022" grpId="0" autoUpdateAnimBg="0"/>
      <p:bldP spid="8602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p:cNvSpPr txBox="1">
            <a:spLocks noChangeArrowheads="1"/>
          </p:cNvSpPr>
          <p:nvPr/>
        </p:nvSpPr>
        <p:spPr bwMode="auto">
          <a:xfrm>
            <a:off x="304800" y="228600"/>
            <a:ext cx="8702675"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b="1">
                <a:solidFill>
                  <a:srgbClr val="800000"/>
                </a:solidFill>
                <a:ea typeface="楷体_GB2312" charset="0"/>
              </a:rPr>
              <a:t>    </a:t>
            </a:r>
            <a:r>
              <a:rPr lang="zh-CN" altLang="en-US" sz="3600" b="1">
                <a:solidFill>
                  <a:srgbClr val="800000"/>
                </a:solidFill>
                <a:ea typeface="楷体_GB2312" charset="0"/>
              </a:rPr>
              <a:t>若待排记录的初始状态为按关键字有序时，快速排序将蜕化为起泡排序</a:t>
            </a:r>
            <a:r>
              <a:rPr lang="zh-CN" altLang="en-US" sz="3600">
                <a:ea typeface="楷体_GB2312" charset="0"/>
              </a:rPr>
              <a:t>，其时间复杂度为</a:t>
            </a:r>
            <a:r>
              <a:rPr lang="en-US" altLang="zh-CN" sz="3600">
                <a:ea typeface="楷体_GB2312" charset="0"/>
              </a:rPr>
              <a:t>O(n</a:t>
            </a:r>
            <a:r>
              <a:rPr lang="en-US" altLang="zh-CN" sz="3600" baseline="30000">
                <a:ea typeface="楷体_GB2312" charset="0"/>
              </a:rPr>
              <a:t>2</a:t>
            </a:r>
            <a:r>
              <a:rPr lang="en-US" altLang="zh-CN" sz="3600">
                <a:ea typeface="楷体_GB2312" charset="0"/>
              </a:rPr>
              <a:t>)</a:t>
            </a:r>
            <a:r>
              <a:rPr lang="zh-CN" altLang="en-US" sz="3600">
                <a:ea typeface="楷体_GB2312" charset="0"/>
              </a:rPr>
              <a:t>。</a:t>
            </a:r>
          </a:p>
        </p:txBody>
      </p:sp>
      <p:sp>
        <p:nvSpPr>
          <p:cNvPr id="36869" name="Text Box 5"/>
          <p:cNvSpPr txBox="1">
            <a:spLocks noChangeArrowheads="1"/>
          </p:cNvSpPr>
          <p:nvPr/>
        </p:nvSpPr>
        <p:spPr bwMode="auto">
          <a:xfrm>
            <a:off x="304800" y="2438400"/>
            <a:ext cx="8839200" cy="157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5000"/>
              </a:lnSpc>
            </a:pPr>
            <a:r>
              <a:rPr lang="en-US" altLang="zh-CN" sz="3600">
                <a:ea typeface="楷体_GB2312" charset="0"/>
              </a:rPr>
              <a:t>    </a:t>
            </a:r>
            <a:r>
              <a:rPr lang="zh-CN" altLang="en-US" sz="3600">
                <a:ea typeface="楷体_GB2312" charset="0"/>
              </a:rPr>
              <a:t>为避免出现这种情况，</a:t>
            </a:r>
            <a:r>
              <a:rPr lang="zh-CN" altLang="en-US" sz="3600">
                <a:solidFill>
                  <a:schemeClr val="accent2"/>
                </a:solidFill>
                <a:ea typeface="楷体_GB2312" charset="0"/>
              </a:rPr>
              <a:t>需在进行一次划分之前，进行“</a:t>
            </a:r>
            <a:r>
              <a:rPr lang="zh-CN" altLang="en-US" sz="3600" b="1">
                <a:solidFill>
                  <a:schemeClr val="accent2"/>
                </a:solidFill>
                <a:ea typeface="楷体_GB2312" charset="0"/>
              </a:rPr>
              <a:t>予处理</a:t>
            </a:r>
            <a:r>
              <a:rPr lang="zh-CN" altLang="en-US" sz="3600">
                <a:solidFill>
                  <a:schemeClr val="accent2"/>
                </a:solidFill>
                <a:ea typeface="楷体_GB2312" charset="0"/>
              </a:rPr>
              <a:t>”，</a:t>
            </a:r>
            <a:r>
              <a:rPr lang="zh-CN" altLang="en-US" sz="3600">
                <a:ea typeface="楷体_GB2312" charset="0"/>
              </a:rPr>
              <a:t>即：</a:t>
            </a:r>
          </a:p>
        </p:txBody>
      </p:sp>
      <p:sp>
        <p:nvSpPr>
          <p:cNvPr id="36873" name="Rectangle 9"/>
          <p:cNvSpPr>
            <a:spLocks noChangeArrowheads="1"/>
          </p:cNvSpPr>
          <p:nvPr/>
        </p:nvSpPr>
        <p:spPr bwMode="auto">
          <a:xfrm>
            <a:off x="304800" y="4084638"/>
            <a:ext cx="8839200" cy="231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5000"/>
              </a:lnSpc>
            </a:pPr>
            <a:r>
              <a:rPr lang="en-US" altLang="zh-CN" sz="3600">
                <a:ea typeface="楷体_GB2312" charset="0"/>
              </a:rPr>
              <a:t>   </a:t>
            </a:r>
            <a:r>
              <a:rPr lang="zh-CN" altLang="en-US" sz="3600">
                <a:ea typeface="楷体_GB2312" charset="0"/>
              </a:rPr>
              <a:t>先对 </a:t>
            </a:r>
            <a:r>
              <a:rPr lang="en-US" altLang="zh-CN" sz="3600">
                <a:ea typeface="楷体_GB2312" charset="0"/>
              </a:rPr>
              <a:t>R(s).key,  R(t).key </a:t>
            </a:r>
            <a:r>
              <a:rPr lang="zh-CN" altLang="en-US" sz="3600">
                <a:ea typeface="楷体_GB2312" charset="0"/>
              </a:rPr>
              <a:t>和 </a:t>
            </a:r>
            <a:r>
              <a:rPr lang="en-US" altLang="zh-CN" sz="3600">
                <a:ea typeface="楷体_GB2312" charset="0"/>
              </a:rPr>
              <a:t>R[</a:t>
            </a:r>
            <a:r>
              <a:rPr lang="en-US" altLang="zh-CN" sz="3600">
                <a:ea typeface="楷体_GB2312" charset="0"/>
                <a:sym typeface="Symbol" charset="2"/>
              </a:rPr>
              <a:t></a:t>
            </a:r>
            <a:r>
              <a:rPr lang="en-US" altLang="zh-CN" sz="3600">
                <a:ea typeface="楷体_GB2312" charset="0"/>
              </a:rPr>
              <a:t>(s+t)/2</a:t>
            </a:r>
            <a:r>
              <a:rPr lang="en-US" altLang="zh-CN" sz="3600">
                <a:ea typeface="楷体_GB2312" charset="0"/>
                <a:sym typeface="Symbol" charset="2"/>
              </a:rPr>
              <a:t>]</a:t>
            </a:r>
            <a:r>
              <a:rPr lang="en-US" altLang="zh-CN" sz="3600">
                <a:ea typeface="楷体_GB2312" charset="0"/>
              </a:rPr>
              <a:t>.key</a:t>
            </a:r>
            <a:r>
              <a:rPr lang="zh-CN" altLang="en-US" sz="3600">
                <a:ea typeface="楷体_GB2312" charset="0"/>
              </a:rPr>
              <a:t>，进行相互比较，然后</a:t>
            </a:r>
            <a:r>
              <a:rPr lang="zh-CN" altLang="en-US" sz="3600" b="1">
                <a:solidFill>
                  <a:schemeClr val="accent2"/>
                </a:solidFill>
                <a:ea typeface="楷体_GB2312" charset="0"/>
              </a:rPr>
              <a:t>取</a:t>
            </a:r>
            <a:r>
              <a:rPr lang="zh-CN" altLang="en-US" sz="3600">
                <a:ea typeface="楷体_GB2312" charset="0"/>
              </a:rPr>
              <a:t>关键字为   </a:t>
            </a:r>
            <a:r>
              <a:rPr lang="zh-CN" altLang="en-US" sz="3600" b="1">
                <a:solidFill>
                  <a:schemeClr val="accent2"/>
                </a:solidFill>
                <a:ea typeface="楷体_GB2312" charset="0"/>
              </a:rPr>
              <a:t>“三者之中”</a:t>
            </a:r>
            <a:r>
              <a:rPr lang="zh-CN" altLang="en-US" sz="3600">
                <a:ea typeface="楷体_GB2312" charset="0"/>
              </a:rPr>
              <a:t>的记录</a:t>
            </a:r>
            <a:r>
              <a:rPr lang="zh-CN" altLang="en-US" sz="3600" b="1">
                <a:solidFill>
                  <a:schemeClr val="accent2"/>
                </a:solidFill>
                <a:ea typeface="楷体_GB2312" charset="0"/>
              </a:rPr>
              <a:t>为枢轴</a:t>
            </a:r>
            <a:r>
              <a:rPr lang="zh-CN" altLang="en-US" sz="3600">
                <a:ea typeface="楷体_GB2312" charset="0"/>
              </a:rPr>
              <a:t>记录。</a:t>
            </a:r>
          </a:p>
        </p:txBody>
      </p:sp>
      <p:sp>
        <p:nvSpPr>
          <p:cNvPr id="36875" name="AutoShape 11">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557256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strips(downRight)">
                                      <p:cBhvr>
                                        <p:cTn id="7" dur="500"/>
                                        <p:tgtEl>
                                          <p:spTgt spid="36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869"/>
                                        </p:tgtEl>
                                        <p:attrNameLst>
                                          <p:attrName>style.visibility</p:attrName>
                                        </p:attrNameLst>
                                      </p:cBhvr>
                                      <p:to>
                                        <p:strVal val="visible"/>
                                      </p:to>
                                    </p:set>
                                    <p:animEffect transition="in" filter="strips(downRight)">
                                      <p:cBhvr>
                                        <p:cTn id="12" dur="500"/>
                                        <p:tgtEl>
                                          <p:spTgt spid="368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36873"/>
                                        </p:tgtEl>
                                        <p:attrNameLst>
                                          <p:attrName>style.visibility</p:attrName>
                                        </p:attrNameLst>
                                      </p:cBhvr>
                                      <p:to>
                                        <p:strVal val="visible"/>
                                      </p:to>
                                    </p:set>
                                    <p:animEffect transition="in" filter="wipe(left)">
                                      <p:cBhvr>
                                        <p:cTn id="17" dur="300"/>
                                        <p:tgtEl>
                                          <p:spTgt spid="36873"/>
                                        </p:tgtEl>
                                      </p:cBhvr>
                                    </p:animEffect>
                                  </p:childTnLst>
                                </p:cTn>
                              </p:par>
                            </p:childTnLst>
                          </p:cTn>
                        </p:par>
                        <p:par>
                          <p:cTn id="18" fill="hold" nodeType="afterGroup">
                            <p:stCondLst>
                              <p:cond delay="10800"/>
                            </p:stCondLst>
                            <p:childTnLst>
                              <p:par>
                                <p:cTn id="19" presetID="2" presetClass="entr" presetSubtype="6" fill="hold" grpId="0" nodeType="afterEffect">
                                  <p:stCondLst>
                                    <p:cond delay="0"/>
                                  </p:stCondLst>
                                  <p:childTnLst>
                                    <p:set>
                                      <p:cBhvr>
                                        <p:cTn id="20" dur="1" fill="hold">
                                          <p:stCondLst>
                                            <p:cond delay="0"/>
                                          </p:stCondLst>
                                        </p:cTn>
                                        <p:tgtEl>
                                          <p:spTgt spid="36875"/>
                                        </p:tgtEl>
                                        <p:attrNameLst>
                                          <p:attrName>style.visibility</p:attrName>
                                        </p:attrNameLst>
                                      </p:cBhvr>
                                      <p:to>
                                        <p:strVal val="visible"/>
                                      </p:to>
                                    </p:set>
                                    <p:anim calcmode="lin" valueType="num">
                                      <p:cBhvr additive="base">
                                        <p:cTn id="21" dur="500" fill="hold"/>
                                        <p:tgtEl>
                                          <p:spTgt spid="36875"/>
                                        </p:tgtEl>
                                        <p:attrNameLst>
                                          <p:attrName>ppt_x</p:attrName>
                                        </p:attrNameLst>
                                      </p:cBhvr>
                                      <p:tavLst>
                                        <p:tav tm="0">
                                          <p:val>
                                            <p:strVal val="1+#ppt_w/2"/>
                                          </p:val>
                                        </p:tav>
                                        <p:tav tm="100000">
                                          <p:val>
                                            <p:strVal val="#ppt_x"/>
                                          </p:val>
                                        </p:tav>
                                      </p:tavLst>
                                    </p:anim>
                                    <p:anim calcmode="lin" valueType="num">
                                      <p:cBhvr additive="base">
                                        <p:cTn id="22" dur="500" fill="hold"/>
                                        <p:tgtEl>
                                          <p:spTgt spid="368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69" grpId="0" autoUpdateAnimBg="0"/>
      <p:bldP spid="36873" grpId="0" autoUpdateAnimBg="0"/>
      <p:bldP spid="3687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58723"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快速排序是一种不稳定的排序方法</a:t>
            </a:r>
          </a:p>
        </p:txBody>
      </p:sp>
      <p:sp>
        <p:nvSpPr>
          <p:cNvPr id="158724" name="Text Box 4"/>
          <p:cNvSpPr txBox="1">
            <a:spLocks noChangeArrowheads="1"/>
          </p:cNvSpPr>
          <p:nvPr/>
        </p:nvSpPr>
        <p:spPr bwMode="auto">
          <a:xfrm>
            <a:off x="0" y="2179638"/>
            <a:ext cx="873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初始序列的不同会影响算法的效率</a:t>
            </a:r>
          </a:p>
        </p:txBody>
      </p:sp>
      <p:sp>
        <p:nvSpPr>
          <p:cNvPr id="158725"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每趟排序后都将某个数据放置在它的最终位置</a:t>
            </a:r>
          </a:p>
        </p:txBody>
      </p:sp>
    </p:spTree>
    <p:extLst>
      <p:ext uri="{BB962C8B-B14F-4D97-AF65-F5344CB8AC3E}">
        <p14:creationId xmlns:p14="http://schemas.microsoft.com/office/powerpoint/2010/main" val="20739867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8723">
                                            <p:txEl>
                                              <p:pRg st="0" end="0"/>
                                            </p:txEl>
                                          </p:spTgt>
                                        </p:tgtEl>
                                        <p:attrNameLst>
                                          <p:attrName>style.visibility</p:attrName>
                                        </p:attrNameLst>
                                      </p:cBhvr>
                                      <p:to>
                                        <p:strVal val="visible"/>
                                      </p:to>
                                    </p:set>
                                    <p:anim calcmode="lin" valueType="num">
                                      <p:cBhvr additive="base">
                                        <p:cTn id="7" dur="500" fill="hold"/>
                                        <p:tgtEl>
                                          <p:spTgt spid="158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8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8724"/>
                                        </p:tgtEl>
                                        <p:attrNameLst>
                                          <p:attrName>style.visibility</p:attrName>
                                        </p:attrNameLst>
                                      </p:cBhvr>
                                      <p:to>
                                        <p:strVal val="visible"/>
                                      </p:to>
                                    </p:set>
                                    <p:anim calcmode="lin" valueType="num">
                                      <p:cBhvr additive="base">
                                        <p:cTn id="13" dur="500" fill="hold"/>
                                        <p:tgtEl>
                                          <p:spTgt spid="158724"/>
                                        </p:tgtEl>
                                        <p:attrNameLst>
                                          <p:attrName>ppt_x</p:attrName>
                                        </p:attrNameLst>
                                      </p:cBhvr>
                                      <p:tavLst>
                                        <p:tav tm="0">
                                          <p:val>
                                            <p:strVal val="1+#ppt_w/2"/>
                                          </p:val>
                                        </p:tav>
                                        <p:tav tm="100000">
                                          <p:val>
                                            <p:strVal val="#ppt_x"/>
                                          </p:val>
                                        </p:tav>
                                      </p:tavLst>
                                    </p:anim>
                                    <p:anim calcmode="lin" valueType="num">
                                      <p:cBhvr additive="base">
                                        <p:cTn id="14" dur="500" fill="hold"/>
                                        <p:tgtEl>
                                          <p:spTgt spid="15872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8725"/>
                                        </p:tgtEl>
                                        <p:attrNameLst>
                                          <p:attrName>style.visibility</p:attrName>
                                        </p:attrNameLst>
                                      </p:cBhvr>
                                      <p:to>
                                        <p:strVal val="visible"/>
                                      </p:to>
                                    </p:set>
                                    <p:anim calcmode="lin" valueType="num">
                                      <p:cBhvr additive="base">
                                        <p:cTn id="19" dur="500" fill="hold"/>
                                        <p:tgtEl>
                                          <p:spTgt spid="158725"/>
                                        </p:tgtEl>
                                        <p:attrNameLst>
                                          <p:attrName>ppt_x</p:attrName>
                                        </p:attrNameLst>
                                      </p:cBhvr>
                                      <p:tavLst>
                                        <p:tav tm="0">
                                          <p:val>
                                            <p:strVal val="#ppt_x"/>
                                          </p:val>
                                        </p:tav>
                                        <p:tav tm="100000">
                                          <p:val>
                                            <p:strVal val="#ppt_x"/>
                                          </p:val>
                                        </p:tav>
                                      </p:tavLst>
                                    </p:anim>
                                    <p:anim calcmode="lin" valueType="num">
                                      <p:cBhvr additive="base">
                                        <p:cTn id="20" dur="500" fill="hold"/>
                                        <p:tgtEl>
                                          <p:spTgt spid="158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p:bldP spid="15872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1524000" y="685800"/>
            <a:ext cx="5943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6000" b="1">
                <a:solidFill>
                  <a:srgbClr val="0000FF"/>
                </a:solidFill>
                <a:ea typeface="楷体_GB2312" charset="0"/>
              </a:rPr>
              <a:t>10.4     </a:t>
            </a:r>
            <a:r>
              <a:rPr lang="zh-CN" altLang="en-US" sz="6000" b="1">
                <a:solidFill>
                  <a:srgbClr val="0000FF"/>
                </a:solidFill>
                <a:ea typeface="楷体_GB2312" charset="0"/>
              </a:rPr>
              <a:t>堆 排 序</a:t>
            </a:r>
            <a:endParaRPr lang="zh-CN" altLang="en-US" sz="4800" b="1">
              <a:solidFill>
                <a:srgbClr val="0000FF"/>
              </a:solidFill>
              <a:ea typeface="楷体_GB2312" charset="0"/>
            </a:endParaRPr>
          </a:p>
        </p:txBody>
      </p:sp>
      <p:sp>
        <p:nvSpPr>
          <p:cNvPr id="87045" name="Text Box 5">
            <a:hlinkClick r:id="" action="ppaction://hlinkshowjump?jump=nextslide"/>
          </p:cNvPr>
          <p:cNvSpPr txBox="1">
            <a:spLocks noChangeArrowheads="1"/>
          </p:cNvSpPr>
          <p:nvPr/>
        </p:nvSpPr>
        <p:spPr bwMode="auto">
          <a:xfrm>
            <a:off x="1981200" y="2994025"/>
            <a:ext cx="5394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800" b="1">
                <a:solidFill>
                  <a:srgbClr val="FF00FF"/>
                </a:solidFill>
                <a:latin typeface="隶书" charset="0"/>
                <a:ea typeface="隶书" charset="0"/>
              </a:rPr>
              <a:t>简 单 选 择 排 序</a:t>
            </a:r>
            <a:endParaRPr lang="zh-CN" altLang="en-US" sz="4000" b="1">
              <a:solidFill>
                <a:srgbClr val="FF00FF"/>
              </a:solidFill>
              <a:ea typeface="楷体_GB2312" charset="0"/>
            </a:endParaRPr>
          </a:p>
        </p:txBody>
      </p:sp>
      <p:sp>
        <p:nvSpPr>
          <p:cNvPr id="87046" name="Text Box 6">
            <a:hlinkClick r:id="rId2" action="ppaction://hlinksldjump" highlightClick="1"/>
          </p:cNvPr>
          <p:cNvSpPr txBox="1">
            <a:spLocks noChangeArrowheads="1"/>
          </p:cNvSpPr>
          <p:nvPr/>
        </p:nvSpPr>
        <p:spPr bwMode="auto">
          <a:xfrm>
            <a:off x="2057400" y="4314825"/>
            <a:ext cx="26463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800" b="1">
                <a:solidFill>
                  <a:srgbClr val="FF00FF"/>
                </a:solidFill>
                <a:latin typeface="隶书" charset="0"/>
                <a:ea typeface="隶书" charset="0"/>
              </a:rPr>
              <a:t>堆 排 序</a:t>
            </a:r>
            <a:endParaRPr lang="zh-CN" altLang="en-US" sz="4000" b="1">
              <a:solidFill>
                <a:srgbClr val="FF00FF"/>
              </a:solidFill>
              <a:ea typeface="楷体_GB2312" charset="0"/>
            </a:endParaRPr>
          </a:p>
        </p:txBody>
      </p:sp>
      <p:pic>
        <p:nvPicPr>
          <p:cNvPr id="87047" name="Picture 7" descr="Metallic Orb">
            <a:hlinkClick r:id="rId3" action="ppaction://hlinksldjump" highlightClick="1"/>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97180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87048" name="Picture 8" descr="Metallic Orb">
            <a:hlinkClick r:id="rId2" action="ppaction://hlinksldjump" highlightClick="1"/>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343400"/>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87051" name="AutoShape 11">
            <a:hlinkClick r:id="rId5" action="ppaction://hlinksldjump" highlightClick="1"/>
          </p:cNvPr>
          <p:cNvSpPr>
            <a:spLocks noChangeArrowheads="1"/>
          </p:cNvSpPr>
          <p:nvPr/>
        </p:nvSpPr>
        <p:spPr bwMode="auto">
          <a:xfrm>
            <a:off x="8077200" y="60198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0528274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blinds(vertical)">
                                      <p:cBhvr>
                                        <p:cTn id="7" dur="500"/>
                                        <p:tgtEl>
                                          <p:spTgt spid="87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87045"/>
                                        </p:tgtEl>
                                        <p:attrNameLst>
                                          <p:attrName>style.visibility</p:attrName>
                                        </p:attrNameLst>
                                      </p:cBhvr>
                                      <p:to>
                                        <p:strVal val="visible"/>
                                      </p:to>
                                    </p:set>
                                    <p:anim calcmode="lin" valueType="num">
                                      <p:cBhvr>
                                        <p:cTn id="12" dur="500" fill="hold"/>
                                        <p:tgtEl>
                                          <p:spTgt spid="87045"/>
                                        </p:tgtEl>
                                        <p:attrNameLst>
                                          <p:attrName>ppt_w</p:attrName>
                                        </p:attrNameLst>
                                      </p:cBhvr>
                                      <p:tavLst>
                                        <p:tav tm="0">
                                          <p:val>
                                            <p:fltVal val="0"/>
                                          </p:val>
                                        </p:tav>
                                        <p:tav tm="100000">
                                          <p:val>
                                            <p:strVal val="#ppt_w"/>
                                          </p:val>
                                        </p:tav>
                                      </p:tavLst>
                                    </p:anim>
                                    <p:anim calcmode="lin" valueType="num">
                                      <p:cBhvr>
                                        <p:cTn id="13" dur="500" fill="hold"/>
                                        <p:tgtEl>
                                          <p:spTgt spid="87045"/>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87047"/>
                                        </p:tgtEl>
                                        <p:attrNameLst>
                                          <p:attrName>style.visibility</p:attrName>
                                        </p:attrNameLst>
                                      </p:cBhvr>
                                      <p:to>
                                        <p:strVal val="visible"/>
                                      </p:to>
                                    </p:set>
                                  </p:childTnLst>
                                </p:cTn>
                              </p:par>
                            </p:childTnLst>
                          </p:cTn>
                        </p:par>
                        <p:par>
                          <p:cTn id="17" fill="hold" nodeType="afterGroup">
                            <p:stCondLst>
                              <p:cond delay="1000"/>
                            </p:stCondLst>
                            <p:childTnLst>
                              <p:par>
                                <p:cTn id="18" presetID="23" presetClass="entr" presetSubtype="16" fill="hold" grpId="0" nodeType="afterEffect">
                                  <p:stCondLst>
                                    <p:cond delay="0"/>
                                  </p:stCondLst>
                                  <p:childTnLst>
                                    <p:set>
                                      <p:cBhvr>
                                        <p:cTn id="19" dur="1" fill="hold">
                                          <p:stCondLst>
                                            <p:cond delay="0"/>
                                          </p:stCondLst>
                                        </p:cTn>
                                        <p:tgtEl>
                                          <p:spTgt spid="87046"/>
                                        </p:tgtEl>
                                        <p:attrNameLst>
                                          <p:attrName>style.visibility</p:attrName>
                                        </p:attrNameLst>
                                      </p:cBhvr>
                                      <p:to>
                                        <p:strVal val="visible"/>
                                      </p:to>
                                    </p:set>
                                    <p:anim calcmode="lin" valueType="num">
                                      <p:cBhvr>
                                        <p:cTn id="20" dur="500" fill="hold"/>
                                        <p:tgtEl>
                                          <p:spTgt spid="87046"/>
                                        </p:tgtEl>
                                        <p:attrNameLst>
                                          <p:attrName>ppt_w</p:attrName>
                                        </p:attrNameLst>
                                      </p:cBhvr>
                                      <p:tavLst>
                                        <p:tav tm="0">
                                          <p:val>
                                            <p:fltVal val="0"/>
                                          </p:val>
                                        </p:tav>
                                        <p:tav tm="100000">
                                          <p:val>
                                            <p:strVal val="#ppt_w"/>
                                          </p:val>
                                        </p:tav>
                                      </p:tavLst>
                                    </p:anim>
                                    <p:anim calcmode="lin" valueType="num">
                                      <p:cBhvr>
                                        <p:cTn id="21" dur="500" fill="hold"/>
                                        <p:tgtEl>
                                          <p:spTgt spid="87046"/>
                                        </p:tgtEl>
                                        <p:attrNameLst>
                                          <p:attrName>ppt_h</p:attrName>
                                        </p:attrNameLst>
                                      </p:cBhvr>
                                      <p:tavLst>
                                        <p:tav tm="0">
                                          <p:val>
                                            <p:fltVal val="0"/>
                                          </p:val>
                                        </p:tav>
                                        <p:tav tm="100000">
                                          <p:val>
                                            <p:strVal val="#ppt_h"/>
                                          </p:val>
                                        </p:tav>
                                      </p:tavLst>
                                    </p:anim>
                                  </p:childTnLst>
                                </p:cTn>
                              </p:par>
                            </p:childTnLst>
                          </p:cTn>
                        </p:par>
                        <p:par>
                          <p:cTn id="22" fill="hold" nodeType="afterGroup">
                            <p:stCondLst>
                              <p:cond delay="1500"/>
                            </p:stCondLst>
                            <p:childTnLst>
                              <p:par>
                                <p:cTn id="23" presetID="2" presetClass="entr" presetSubtype="8" fill="hold" grpId="0" nodeType="afterEffect">
                                  <p:stCondLst>
                                    <p:cond delay="0"/>
                                  </p:stCondLst>
                                  <p:childTnLst>
                                    <p:set>
                                      <p:cBhvr>
                                        <p:cTn id="24" dur="1" fill="hold">
                                          <p:stCondLst>
                                            <p:cond delay="0"/>
                                          </p:stCondLst>
                                        </p:cTn>
                                        <p:tgtEl>
                                          <p:spTgt spid="87051"/>
                                        </p:tgtEl>
                                        <p:attrNameLst>
                                          <p:attrName>style.visibility</p:attrName>
                                        </p:attrNameLst>
                                      </p:cBhvr>
                                      <p:to>
                                        <p:strVal val="visible"/>
                                      </p:to>
                                    </p:set>
                                    <p:anim calcmode="lin" valueType="num">
                                      <p:cBhvr additive="base">
                                        <p:cTn id="25" dur="500" fill="hold"/>
                                        <p:tgtEl>
                                          <p:spTgt spid="87051"/>
                                        </p:tgtEl>
                                        <p:attrNameLst>
                                          <p:attrName>ppt_x</p:attrName>
                                        </p:attrNameLst>
                                      </p:cBhvr>
                                      <p:tavLst>
                                        <p:tav tm="0">
                                          <p:val>
                                            <p:strVal val="0-#ppt_w/2"/>
                                          </p:val>
                                        </p:tav>
                                        <p:tav tm="100000">
                                          <p:val>
                                            <p:strVal val="#ppt_x"/>
                                          </p:val>
                                        </p:tav>
                                      </p:tavLst>
                                    </p:anim>
                                    <p:anim calcmode="lin" valueType="num">
                                      <p:cBhvr additive="base">
                                        <p:cTn id="26" dur="500" fill="hold"/>
                                        <p:tgtEl>
                                          <p:spTgt spid="87051"/>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000"/>
                            </p:stCondLst>
                            <p:childTnLst>
                              <p:par>
                                <p:cTn id="28" presetID="1" presetClass="entr" presetSubtype="0" fill="hold" nodeType="afterEffect">
                                  <p:stCondLst>
                                    <p:cond delay="0"/>
                                  </p:stCondLst>
                                  <p:childTnLst>
                                    <p:set>
                                      <p:cBhvr>
                                        <p:cTn id="29" dur="1" fill="hold">
                                          <p:stCondLst>
                                            <p:cond delay="499"/>
                                          </p:stCondLst>
                                        </p:cTn>
                                        <p:tgtEl>
                                          <p:spTgt spid="87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87045" grpId="0" autoUpdateAnimBg="0"/>
      <p:bldP spid="87046" grpId="0" autoUpdateAnimBg="0"/>
      <p:bldP spid="8705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p:cNvSpPr txBox="1">
            <a:spLocks noChangeArrowheads="1"/>
          </p:cNvSpPr>
          <p:nvPr/>
        </p:nvSpPr>
        <p:spPr bwMode="auto">
          <a:xfrm>
            <a:off x="742950" y="228600"/>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一、简单选择排序</a:t>
            </a:r>
          </a:p>
        </p:txBody>
      </p:sp>
      <p:sp>
        <p:nvSpPr>
          <p:cNvPr id="38916" name="Text Box 4"/>
          <p:cNvSpPr txBox="1">
            <a:spLocks noChangeArrowheads="1"/>
          </p:cNvSpPr>
          <p:nvPr/>
        </p:nvSpPr>
        <p:spPr bwMode="auto">
          <a:xfrm>
            <a:off x="273050" y="1158875"/>
            <a:ext cx="887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ea typeface="楷体_GB2312" charset="0"/>
              </a:rPr>
              <a:t>假设排序过程中，待排记录序列的状态为：</a:t>
            </a:r>
          </a:p>
        </p:txBody>
      </p:sp>
      <p:sp>
        <p:nvSpPr>
          <p:cNvPr id="38917" name="Rectangle 5" descr="60%"/>
          <p:cNvSpPr>
            <a:spLocks noChangeArrowheads="1"/>
          </p:cNvSpPr>
          <p:nvPr/>
        </p:nvSpPr>
        <p:spPr bwMode="auto">
          <a:xfrm>
            <a:off x="654050" y="2133600"/>
            <a:ext cx="3613150" cy="685800"/>
          </a:xfrm>
          <a:prstGeom prst="rect">
            <a:avLst/>
          </a:prstGeom>
          <a:pattFill prst="pct60">
            <a:fgClr>
              <a:schemeClr val="hlink"/>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t>有序序列</a:t>
            </a:r>
            <a:r>
              <a:rPr lang="en-US" altLang="zh-CN" sz="3600"/>
              <a:t>R[1..i-1]</a:t>
            </a:r>
          </a:p>
        </p:txBody>
      </p:sp>
      <p:sp>
        <p:nvSpPr>
          <p:cNvPr id="38918" name="Rectangle 6" descr="棚架"/>
          <p:cNvSpPr>
            <a:spLocks noChangeArrowheads="1"/>
          </p:cNvSpPr>
          <p:nvPr/>
        </p:nvSpPr>
        <p:spPr bwMode="auto">
          <a:xfrm>
            <a:off x="4267200" y="2133600"/>
            <a:ext cx="3854450" cy="685800"/>
          </a:xfrm>
          <a:prstGeom prst="rect">
            <a:avLst/>
          </a:prstGeom>
          <a:pattFill prst="trellis">
            <a:fgClr>
              <a:srgbClr val="CC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t>无序序列 </a:t>
            </a:r>
            <a:r>
              <a:rPr lang="en-US" altLang="zh-CN" sz="3600"/>
              <a:t>R[i..n]</a:t>
            </a:r>
          </a:p>
        </p:txBody>
      </p:sp>
      <p:sp>
        <p:nvSpPr>
          <p:cNvPr id="38922" name="Text Box 10"/>
          <p:cNvSpPr txBox="1">
            <a:spLocks noChangeArrowheads="1"/>
          </p:cNvSpPr>
          <p:nvPr/>
        </p:nvSpPr>
        <p:spPr bwMode="auto">
          <a:xfrm>
            <a:off x="1019175" y="3505200"/>
            <a:ext cx="3095625"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05000"/>
              </a:lnSpc>
            </a:pPr>
            <a:r>
              <a:rPr lang="en-US" altLang="zh-CN" sz="3600">
                <a:solidFill>
                  <a:srgbClr val="800000"/>
                </a:solidFill>
                <a:ea typeface="楷体_GB2312" charset="0"/>
              </a:rPr>
              <a:t>  </a:t>
            </a:r>
            <a:r>
              <a:rPr lang="zh-CN" altLang="en-US" sz="3600">
                <a:solidFill>
                  <a:srgbClr val="800000"/>
                </a:solidFill>
                <a:ea typeface="楷体_GB2312" charset="0"/>
              </a:rPr>
              <a:t>第 </a:t>
            </a:r>
            <a:r>
              <a:rPr lang="en-US" altLang="zh-CN" sz="3600">
                <a:solidFill>
                  <a:srgbClr val="800000"/>
                </a:solidFill>
                <a:ea typeface="楷体_GB2312" charset="0"/>
              </a:rPr>
              <a:t>i </a:t>
            </a:r>
            <a:r>
              <a:rPr lang="zh-CN" altLang="en-US" sz="3600">
                <a:solidFill>
                  <a:srgbClr val="800000"/>
                </a:solidFill>
                <a:ea typeface="楷体_GB2312" charset="0"/>
              </a:rPr>
              <a:t>趟</a:t>
            </a:r>
          </a:p>
          <a:p>
            <a:pPr algn="l">
              <a:lnSpc>
                <a:spcPct val="105000"/>
              </a:lnSpc>
            </a:pPr>
            <a:r>
              <a:rPr lang="zh-CN" altLang="en-US" sz="3600">
                <a:solidFill>
                  <a:srgbClr val="800000"/>
                </a:solidFill>
                <a:ea typeface="楷体_GB2312" charset="0"/>
              </a:rPr>
              <a:t>简单选择排序</a:t>
            </a:r>
            <a:endParaRPr lang="zh-CN" altLang="en-US" sz="3600">
              <a:ea typeface="楷体_GB2312" charset="0"/>
            </a:endParaRPr>
          </a:p>
        </p:txBody>
      </p:sp>
      <p:sp>
        <p:nvSpPr>
          <p:cNvPr id="38923" name="Text Box 11"/>
          <p:cNvSpPr txBox="1">
            <a:spLocks noChangeArrowheads="1"/>
          </p:cNvSpPr>
          <p:nvPr/>
        </p:nvSpPr>
        <p:spPr bwMode="auto">
          <a:xfrm>
            <a:off x="4419600" y="2895600"/>
            <a:ext cx="35052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105000"/>
              </a:lnSpc>
            </a:pPr>
            <a:r>
              <a:rPr lang="zh-CN" altLang="en-US" sz="3200">
                <a:solidFill>
                  <a:srgbClr val="0000FF"/>
                </a:solidFill>
                <a:ea typeface="楷体_GB2312" charset="0"/>
              </a:rPr>
              <a:t>从中选出</a:t>
            </a:r>
          </a:p>
          <a:p>
            <a:pPr algn="l">
              <a:lnSpc>
                <a:spcPct val="105000"/>
              </a:lnSpc>
            </a:pPr>
            <a:r>
              <a:rPr lang="zh-CN" altLang="en-US" sz="3200">
                <a:solidFill>
                  <a:srgbClr val="0000FF"/>
                </a:solidFill>
                <a:ea typeface="楷体_GB2312" charset="0"/>
              </a:rPr>
              <a:t>关键字最小的记录</a:t>
            </a:r>
            <a:endParaRPr lang="zh-CN" altLang="en-US"/>
          </a:p>
        </p:txBody>
      </p:sp>
      <p:sp>
        <p:nvSpPr>
          <p:cNvPr id="38924" name="AutoShape 12"/>
          <p:cNvSpPr>
            <a:spLocks noChangeArrowheads="1"/>
          </p:cNvSpPr>
          <p:nvPr/>
        </p:nvSpPr>
        <p:spPr bwMode="auto">
          <a:xfrm>
            <a:off x="4267200" y="2819400"/>
            <a:ext cx="3810000" cy="1981200"/>
          </a:xfrm>
          <a:prstGeom prst="downArrowCallout">
            <a:avLst>
              <a:gd name="adj1" fmla="val 26923"/>
              <a:gd name="adj2" fmla="val 48157"/>
              <a:gd name="adj3" fmla="val 14861"/>
              <a:gd name="adj4" fmla="val 67949"/>
            </a:avLst>
          </a:prstGeom>
          <a:noFill/>
          <a:ln w="9525">
            <a:solidFill>
              <a:srgbClr val="0099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8925" name="Rectangle 13" descr="60%"/>
          <p:cNvSpPr>
            <a:spLocks noChangeArrowheads="1"/>
          </p:cNvSpPr>
          <p:nvPr/>
        </p:nvSpPr>
        <p:spPr bwMode="auto">
          <a:xfrm>
            <a:off x="609600" y="5715000"/>
            <a:ext cx="4114800" cy="685800"/>
          </a:xfrm>
          <a:prstGeom prst="rect">
            <a:avLst/>
          </a:prstGeom>
          <a:pattFill prst="pct60">
            <a:fgClr>
              <a:schemeClr val="hlink"/>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a:latin typeface="楷体_GB2312" charset="0"/>
                <a:ea typeface="楷体_GB2312" charset="0"/>
              </a:rPr>
              <a:t>有序序列</a:t>
            </a:r>
            <a:r>
              <a:rPr lang="en-US" altLang="zh-CN" sz="3600">
                <a:ea typeface="楷体_GB2312" charset="0"/>
              </a:rPr>
              <a:t>R[1..i]</a:t>
            </a:r>
            <a:endParaRPr lang="en-US" altLang="zh-CN" sz="3600"/>
          </a:p>
        </p:txBody>
      </p:sp>
      <p:sp>
        <p:nvSpPr>
          <p:cNvPr id="38926" name="Rectangle 14" descr="棚架"/>
          <p:cNvSpPr>
            <a:spLocks noChangeArrowheads="1"/>
          </p:cNvSpPr>
          <p:nvPr/>
        </p:nvSpPr>
        <p:spPr bwMode="auto">
          <a:xfrm>
            <a:off x="4724400" y="5715000"/>
            <a:ext cx="3733800" cy="685800"/>
          </a:xfrm>
          <a:prstGeom prst="rect">
            <a:avLst/>
          </a:prstGeom>
          <a:pattFill prst="trellis">
            <a:fgClr>
              <a:srgbClr val="CCFFFF"/>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a:latin typeface="楷体_GB2312" charset="0"/>
                <a:ea typeface="楷体_GB2312" charset="0"/>
              </a:rPr>
              <a:t>无序序列</a:t>
            </a:r>
            <a:r>
              <a:rPr lang="zh-CN" altLang="en-US" sz="3200">
                <a:ea typeface="楷体_GB2312" charset="0"/>
              </a:rPr>
              <a:t> </a:t>
            </a:r>
            <a:r>
              <a:rPr lang="en-US" altLang="zh-CN" sz="3200">
                <a:ea typeface="楷体_GB2312" charset="0"/>
              </a:rPr>
              <a:t>R[i+1..n]</a:t>
            </a:r>
            <a:endParaRPr lang="en-US" altLang="zh-CN" sz="3600"/>
          </a:p>
        </p:txBody>
      </p:sp>
      <p:sp>
        <p:nvSpPr>
          <p:cNvPr id="38935" name="Line 23"/>
          <p:cNvSpPr>
            <a:spLocks noChangeShapeType="1"/>
          </p:cNvSpPr>
          <p:nvPr/>
        </p:nvSpPr>
        <p:spPr bwMode="auto">
          <a:xfrm flipH="1">
            <a:off x="4495800" y="4800600"/>
            <a:ext cx="1676400" cy="914400"/>
          </a:xfrm>
          <a:prstGeom prst="line">
            <a:avLst/>
          </a:prstGeom>
          <a:noFill/>
          <a:ln w="38100">
            <a:solidFill>
              <a:srgbClr val="990000"/>
            </a:solidFill>
            <a:round/>
            <a:headEnd/>
            <a:tailEnd type="diamond"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8936" name="Line 24"/>
          <p:cNvSpPr>
            <a:spLocks noChangeShapeType="1"/>
          </p:cNvSpPr>
          <p:nvPr/>
        </p:nvSpPr>
        <p:spPr bwMode="auto">
          <a:xfrm>
            <a:off x="4267200" y="4191000"/>
            <a:ext cx="0" cy="2209800"/>
          </a:xfrm>
          <a:prstGeom prst="line">
            <a:avLst/>
          </a:prstGeom>
          <a:noFill/>
          <a:ln w="9525" cap="rnd">
            <a:solidFill>
              <a:srgbClr val="009999"/>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070098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wipe(left)">
                                      <p:cBhvr>
                                        <p:cTn id="7" dur="500"/>
                                        <p:tgtEl>
                                          <p:spTgt spid="38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6"/>
                                        </p:tgtEl>
                                        <p:attrNameLst>
                                          <p:attrName>style.visibility</p:attrName>
                                        </p:attrNameLst>
                                      </p:cBhvr>
                                      <p:to>
                                        <p:strVal val="visible"/>
                                      </p:to>
                                    </p:set>
                                    <p:animEffect transition="in" filter="wipe(left)">
                                      <p:cBhvr>
                                        <p:cTn id="12" dur="500"/>
                                        <p:tgtEl>
                                          <p:spTgt spid="389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7"/>
                                        </p:tgtEl>
                                        <p:attrNameLst>
                                          <p:attrName>style.visibility</p:attrName>
                                        </p:attrNameLst>
                                      </p:cBhvr>
                                      <p:to>
                                        <p:strVal val="visible"/>
                                      </p:to>
                                    </p:set>
                                    <p:animEffect transition="in" filter="wipe(left)">
                                      <p:cBhvr>
                                        <p:cTn id="17" dur="500"/>
                                        <p:tgtEl>
                                          <p:spTgt spid="38917"/>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8918"/>
                                        </p:tgtEl>
                                        <p:attrNameLst>
                                          <p:attrName>style.visibility</p:attrName>
                                        </p:attrNameLst>
                                      </p:cBhvr>
                                      <p:to>
                                        <p:strVal val="visible"/>
                                      </p:to>
                                    </p:set>
                                    <p:animEffect transition="in" filter="wipe(left)">
                                      <p:cBhvr>
                                        <p:cTn id="21" dur="500"/>
                                        <p:tgtEl>
                                          <p:spTgt spid="389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9" fill="hold" grpId="0" nodeType="clickEffect">
                                  <p:stCondLst>
                                    <p:cond delay="0"/>
                                  </p:stCondLst>
                                  <p:childTnLst>
                                    <p:set>
                                      <p:cBhvr>
                                        <p:cTn id="25" dur="1" fill="hold">
                                          <p:stCondLst>
                                            <p:cond delay="0"/>
                                          </p:stCondLst>
                                        </p:cTn>
                                        <p:tgtEl>
                                          <p:spTgt spid="38922"/>
                                        </p:tgtEl>
                                        <p:attrNameLst>
                                          <p:attrName>style.visibility</p:attrName>
                                        </p:attrNameLst>
                                      </p:cBhvr>
                                      <p:to>
                                        <p:strVal val="visible"/>
                                      </p:to>
                                    </p:set>
                                    <p:animEffect transition="in" filter="strips(upLeft)">
                                      <p:cBhvr>
                                        <p:cTn id="26" dur="500"/>
                                        <p:tgtEl>
                                          <p:spTgt spid="389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38924"/>
                                        </p:tgtEl>
                                        <p:attrNameLst>
                                          <p:attrName>style.visibility</p:attrName>
                                        </p:attrNameLst>
                                      </p:cBhvr>
                                      <p:to>
                                        <p:strVal val="visible"/>
                                      </p:to>
                                    </p:set>
                                    <p:anim calcmode="lin" valueType="num">
                                      <p:cBhvr>
                                        <p:cTn id="31" dur="500" fill="hold"/>
                                        <p:tgtEl>
                                          <p:spTgt spid="38924"/>
                                        </p:tgtEl>
                                        <p:attrNameLst>
                                          <p:attrName>ppt_x</p:attrName>
                                        </p:attrNameLst>
                                      </p:cBhvr>
                                      <p:tavLst>
                                        <p:tav tm="0">
                                          <p:val>
                                            <p:strVal val="#ppt_x"/>
                                          </p:val>
                                        </p:tav>
                                        <p:tav tm="100000">
                                          <p:val>
                                            <p:strVal val="#ppt_x"/>
                                          </p:val>
                                        </p:tav>
                                      </p:tavLst>
                                    </p:anim>
                                    <p:anim calcmode="lin" valueType="num">
                                      <p:cBhvr>
                                        <p:cTn id="32" dur="500" fill="hold"/>
                                        <p:tgtEl>
                                          <p:spTgt spid="38924"/>
                                        </p:tgtEl>
                                        <p:attrNameLst>
                                          <p:attrName>ppt_y</p:attrName>
                                        </p:attrNameLst>
                                      </p:cBhvr>
                                      <p:tavLst>
                                        <p:tav tm="0">
                                          <p:val>
                                            <p:strVal val="#ppt_y-#ppt_h/2"/>
                                          </p:val>
                                        </p:tav>
                                        <p:tav tm="100000">
                                          <p:val>
                                            <p:strVal val="#ppt_y"/>
                                          </p:val>
                                        </p:tav>
                                      </p:tavLst>
                                    </p:anim>
                                    <p:anim calcmode="lin" valueType="num">
                                      <p:cBhvr>
                                        <p:cTn id="33" dur="500" fill="hold"/>
                                        <p:tgtEl>
                                          <p:spTgt spid="38924"/>
                                        </p:tgtEl>
                                        <p:attrNameLst>
                                          <p:attrName>ppt_w</p:attrName>
                                        </p:attrNameLst>
                                      </p:cBhvr>
                                      <p:tavLst>
                                        <p:tav tm="0">
                                          <p:val>
                                            <p:strVal val="#ppt_w"/>
                                          </p:val>
                                        </p:tav>
                                        <p:tav tm="100000">
                                          <p:val>
                                            <p:strVal val="#ppt_w"/>
                                          </p:val>
                                        </p:tav>
                                      </p:tavLst>
                                    </p:anim>
                                    <p:anim calcmode="lin" valueType="num">
                                      <p:cBhvr>
                                        <p:cTn id="34" dur="500" fill="hold"/>
                                        <p:tgtEl>
                                          <p:spTgt spid="38924"/>
                                        </p:tgtEl>
                                        <p:attrNameLst>
                                          <p:attrName>ppt_h</p:attrName>
                                        </p:attrNameLst>
                                      </p:cBhvr>
                                      <p:tavLst>
                                        <p:tav tm="0">
                                          <p:val>
                                            <p:fltVal val="0"/>
                                          </p:val>
                                        </p:tav>
                                        <p:tav tm="100000">
                                          <p:val>
                                            <p:strVal val="#ppt_h"/>
                                          </p:val>
                                        </p:tav>
                                      </p:tavLst>
                                    </p:anim>
                                  </p:childTnLst>
                                </p:cTn>
                              </p:par>
                            </p:childTnLst>
                          </p:cTn>
                        </p:par>
                        <p:par>
                          <p:cTn id="35" fill="hold" nodeType="afterGroup">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38923"/>
                                        </p:tgtEl>
                                        <p:attrNameLst>
                                          <p:attrName>style.visibility</p:attrName>
                                        </p:attrNameLst>
                                      </p:cBhvr>
                                      <p:to>
                                        <p:strVal val="visible"/>
                                      </p:to>
                                    </p:set>
                                    <p:animEffect transition="in" filter="dissolve">
                                      <p:cBhvr>
                                        <p:cTn id="38" dur="500"/>
                                        <p:tgtEl>
                                          <p:spTgt spid="38923"/>
                                        </p:tgtEl>
                                      </p:cBhvr>
                                    </p:animEffect>
                                  </p:childTnLst>
                                </p:cTn>
                              </p:par>
                            </p:childTnLst>
                          </p:cTn>
                        </p:par>
                        <p:par>
                          <p:cTn id="39" fill="hold" nodeType="afterGroup">
                            <p:stCondLst>
                              <p:cond delay="1000"/>
                            </p:stCondLst>
                            <p:childTnLst>
                              <p:par>
                                <p:cTn id="40" presetID="22" presetClass="entr" presetSubtype="1" fill="hold" grpId="0" nodeType="afterEffect">
                                  <p:stCondLst>
                                    <p:cond delay="0"/>
                                  </p:stCondLst>
                                  <p:childTnLst>
                                    <p:set>
                                      <p:cBhvr>
                                        <p:cTn id="41" dur="1" fill="hold">
                                          <p:stCondLst>
                                            <p:cond delay="0"/>
                                          </p:stCondLst>
                                        </p:cTn>
                                        <p:tgtEl>
                                          <p:spTgt spid="38935"/>
                                        </p:tgtEl>
                                        <p:attrNameLst>
                                          <p:attrName>style.visibility</p:attrName>
                                        </p:attrNameLst>
                                      </p:cBhvr>
                                      <p:to>
                                        <p:strVal val="visible"/>
                                      </p:to>
                                    </p:set>
                                    <p:animEffect transition="in" filter="wipe(up)">
                                      <p:cBhvr>
                                        <p:cTn id="42" dur="500"/>
                                        <p:tgtEl>
                                          <p:spTgt spid="389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925"/>
                                        </p:tgtEl>
                                        <p:attrNameLst>
                                          <p:attrName>style.visibility</p:attrName>
                                        </p:attrNameLst>
                                      </p:cBhvr>
                                      <p:to>
                                        <p:strVal val="visible"/>
                                      </p:to>
                                    </p:set>
                                    <p:animEffect transition="in" filter="wipe(left)">
                                      <p:cBhvr>
                                        <p:cTn id="47" dur="500"/>
                                        <p:tgtEl>
                                          <p:spTgt spid="38925"/>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38926"/>
                                        </p:tgtEl>
                                        <p:attrNameLst>
                                          <p:attrName>style.visibility</p:attrName>
                                        </p:attrNameLst>
                                      </p:cBhvr>
                                      <p:to>
                                        <p:strVal val="visible"/>
                                      </p:to>
                                    </p:set>
                                    <p:animEffect transition="in" filter="wipe(left)">
                                      <p:cBhvr>
                                        <p:cTn id="51" dur="500"/>
                                        <p:tgtEl>
                                          <p:spTgt spid="38926"/>
                                        </p:tgtEl>
                                      </p:cBhvr>
                                    </p:animEffect>
                                  </p:childTnLst>
                                </p:cTn>
                              </p:par>
                            </p:childTnLst>
                          </p:cTn>
                        </p:par>
                        <p:par>
                          <p:cTn id="52" fill="hold" nodeType="afterGroup">
                            <p:stCondLst>
                              <p:cond delay="1000"/>
                            </p:stCondLst>
                            <p:childTnLst>
                              <p:par>
                                <p:cTn id="53" presetID="22" presetClass="entr" presetSubtype="1" fill="hold" grpId="0" nodeType="afterEffect">
                                  <p:stCondLst>
                                    <p:cond delay="0"/>
                                  </p:stCondLst>
                                  <p:childTnLst>
                                    <p:set>
                                      <p:cBhvr>
                                        <p:cTn id="54" dur="1" fill="hold">
                                          <p:stCondLst>
                                            <p:cond delay="0"/>
                                          </p:stCondLst>
                                        </p:cTn>
                                        <p:tgtEl>
                                          <p:spTgt spid="38936"/>
                                        </p:tgtEl>
                                        <p:attrNameLst>
                                          <p:attrName>style.visibility</p:attrName>
                                        </p:attrNameLst>
                                      </p:cBhvr>
                                      <p:to>
                                        <p:strVal val="visible"/>
                                      </p:to>
                                    </p:set>
                                    <p:animEffect transition="in" filter="wipe(up)">
                                      <p:cBhvr>
                                        <p:cTn id="55" dur="500"/>
                                        <p:tgtEl>
                                          <p:spTgt spid="38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utoUpdateAnimBg="0"/>
      <p:bldP spid="38916" grpId="0" autoUpdateAnimBg="0"/>
      <p:bldP spid="38917" grpId="0" animBg="1" autoUpdateAnimBg="0"/>
      <p:bldP spid="38918" grpId="0" animBg="1" autoUpdateAnimBg="0"/>
      <p:bldP spid="38922" grpId="0" autoUpdateAnimBg="0"/>
      <p:bldP spid="38923" grpId="0" autoUpdateAnimBg="0"/>
      <p:bldP spid="38924" grpId="0" animBg="1"/>
      <p:bldP spid="38925" grpId="0" animBg="1" autoUpdateAnimBg="0"/>
      <p:bldP spid="38926" grpId="0" animBg="1" autoUpdateAnimBg="0"/>
      <p:bldP spid="38935" grpId="0" animBg="1"/>
      <p:bldP spid="3893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2606675" y="714375"/>
            <a:ext cx="184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59747" name="Text Box 3"/>
          <p:cNvSpPr txBox="1">
            <a:spLocks noChangeArrowheads="1"/>
          </p:cNvSpPr>
          <p:nvPr/>
        </p:nvSpPr>
        <p:spPr bwMode="auto">
          <a:xfrm>
            <a:off x="1909763" y="904875"/>
            <a:ext cx="51149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初始：   </a:t>
            </a:r>
            <a:r>
              <a:rPr lang="en-US" altLang="zh-CN" sz="2000" b="1"/>
              <a:t>[ 49     38     65     97     76     13     27 ]</a:t>
            </a:r>
          </a:p>
        </p:txBody>
      </p:sp>
      <p:grpSp>
        <p:nvGrpSpPr>
          <p:cNvPr id="159748" name="Group 4"/>
          <p:cNvGrpSpPr>
            <a:grpSpLocks/>
          </p:cNvGrpSpPr>
          <p:nvPr/>
        </p:nvGrpSpPr>
        <p:grpSpPr bwMode="auto">
          <a:xfrm>
            <a:off x="3048000" y="327025"/>
            <a:ext cx="311150" cy="625475"/>
            <a:chOff x="1920" y="206"/>
            <a:chExt cx="196" cy="394"/>
          </a:xfrm>
        </p:grpSpPr>
        <p:sp>
          <p:nvSpPr>
            <p:cNvPr id="159749" name="Line 5"/>
            <p:cNvSpPr>
              <a:spLocks noChangeShapeType="1"/>
            </p:cNvSpPr>
            <p:nvPr/>
          </p:nvSpPr>
          <p:spPr bwMode="auto">
            <a:xfrm>
              <a:off x="2000" y="422"/>
              <a:ext cx="0" cy="1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50" name="Text Box 6"/>
            <p:cNvSpPr txBox="1">
              <a:spLocks noChangeArrowheads="1"/>
            </p:cNvSpPr>
            <p:nvPr/>
          </p:nvSpPr>
          <p:spPr bwMode="auto">
            <a:xfrm>
              <a:off x="1920" y="20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k</a:t>
              </a:r>
            </a:p>
          </p:txBody>
        </p:sp>
      </p:grpSp>
      <p:grpSp>
        <p:nvGrpSpPr>
          <p:cNvPr id="159751" name="Group 7"/>
          <p:cNvGrpSpPr>
            <a:grpSpLocks/>
          </p:cNvGrpSpPr>
          <p:nvPr/>
        </p:nvGrpSpPr>
        <p:grpSpPr bwMode="auto">
          <a:xfrm>
            <a:off x="3683000" y="1217613"/>
            <a:ext cx="254000" cy="598487"/>
            <a:chOff x="2320" y="767"/>
            <a:chExt cx="160" cy="377"/>
          </a:xfrm>
        </p:grpSpPr>
        <p:sp>
          <p:nvSpPr>
            <p:cNvPr id="159752" name="Line 8"/>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53" name="Text Box 9"/>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54" name="Group 10"/>
          <p:cNvGrpSpPr>
            <a:grpSpLocks/>
          </p:cNvGrpSpPr>
          <p:nvPr/>
        </p:nvGrpSpPr>
        <p:grpSpPr bwMode="auto">
          <a:xfrm>
            <a:off x="4248150" y="1217613"/>
            <a:ext cx="254000" cy="598487"/>
            <a:chOff x="2320" y="767"/>
            <a:chExt cx="160" cy="377"/>
          </a:xfrm>
        </p:grpSpPr>
        <p:sp>
          <p:nvSpPr>
            <p:cNvPr id="159755" name="Line 11"/>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56" name="Text Box 12"/>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57" name="Group 13"/>
          <p:cNvGrpSpPr>
            <a:grpSpLocks/>
          </p:cNvGrpSpPr>
          <p:nvPr/>
        </p:nvGrpSpPr>
        <p:grpSpPr bwMode="auto">
          <a:xfrm>
            <a:off x="4813300" y="1217613"/>
            <a:ext cx="254000" cy="598487"/>
            <a:chOff x="2320" y="767"/>
            <a:chExt cx="160" cy="377"/>
          </a:xfrm>
        </p:grpSpPr>
        <p:sp>
          <p:nvSpPr>
            <p:cNvPr id="159758" name="Line 14"/>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59" name="Text Box 15"/>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60" name="Group 16"/>
          <p:cNvGrpSpPr>
            <a:grpSpLocks/>
          </p:cNvGrpSpPr>
          <p:nvPr/>
        </p:nvGrpSpPr>
        <p:grpSpPr bwMode="auto">
          <a:xfrm>
            <a:off x="5378450" y="1217613"/>
            <a:ext cx="254000" cy="598487"/>
            <a:chOff x="2320" y="767"/>
            <a:chExt cx="160" cy="377"/>
          </a:xfrm>
        </p:grpSpPr>
        <p:sp>
          <p:nvSpPr>
            <p:cNvPr id="159761" name="Line 17"/>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62" name="Text Box 18"/>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63" name="Group 19"/>
          <p:cNvGrpSpPr>
            <a:grpSpLocks/>
          </p:cNvGrpSpPr>
          <p:nvPr/>
        </p:nvGrpSpPr>
        <p:grpSpPr bwMode="auto">
          <a:xfrm>
            <a:off x="5943600" y="1217613"/>
            <a:ext cx="254000" cy="598487"/>
            <a:chOff x="2320" y="767"/>
            <a:chExt cx="160" cy="377"/>
          </a:xfrm>
        </p:grpSpPr>
        <p:sp>
          <p:nvSpPr>
            <p:cNvPr id="159764" name="Line 20"/>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65" name="Text Box 21"/>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66" name="Group 22"/>
          <p:cNvGrpSpPr>
            <a:grpSpLocks/>
          </p:cNvGrpSpPr>
          <p:nvPr/>
        </p:nvGrpSpPr>
        <p:grpSpPr bwMode="auto">
          <a:xfrm>
            <a:off x="6510338" y="1217613"/>
            <a:ext cx="254000" cy="598487"/>
            <a:chOff x="2320" y="767"/>
            <a:chExt cx="160" cy="377"/>
          </a:xfrm>
        </p:grpSpPr>
        <p:sp>
          <p:nvSpPr>
            <p:cNvPr id="159767" name="Line 23"/>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68" name="Text Box 24"/>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69" name="Group 25"/>
          <p:cNvGrpSpPr>
            <a:grpSpLocks/>
          </p:cNvGrpSpPr>
          <p:nvPr/>
        </p:nvGrpSpPr>
        <p:grpSpPr bwMode="auto">
          <a:xfrm>
            <a:off x="3730625" y="327025"/>
            <a:ext cx="311150" cy="625475"/>
            <a:chOff x="1920" y="206"/>
            <a:chExt cx="196" cy="394"/>
          </a:xfrm>
        </p:grpSpPr>
        <p:sp>
          <p:nvSpPr>
            <p:cNvPr id="159770" name="Line 26"/>
            <p:cNvSpPr>
              <a:spLocks noChangeShapeType="1"/>
            </p:cNvSpPr>
            <p:nvPr/>
          </p:nvSpPr>
          <p:spPr bwMode="auto">
            <a:xfrm>
              <a:off x="2000" y="422"/>
              <a:ext cx="0" cy="1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71" name="Text Box 27"/>
            <p:cNvSpPr txBox="1">
              <a:spLocks noChangeArrowheads="1"/>
            </p:cNvSpPr>
            <p:nvPr/>
          </p:nvSpPr>
          <p:spPr bwMode="auto">
            <a:xfrm>
              <a:off x="1920" y="20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k</a:t>
              </a:r>
            </a:p>
          </p:txBody>
        </p:sp>
      </p:grpSp>
      <p:grpSp>
        <p:nvGrpSpPr>
          <p:cNvPr id="159772" name="Group 28"/>
          <p:cNvGrpSpPr>
            <a:grpSpLocks/>
          </p:cNvGrpSpPr>
          <p:nvPr/>
        </p:nvGrpSpPr>
        <p:grpSpPr bwMode="auto">
          <a:xfrm>
            <a:off x="5911850" y="327025"/>
            <a:ext cx="311150" cy="625475"/>
            <a:chOff x="1920" y="206"/>
            <a:chExt cx="196" cy="394"/>
          </a:xfrm>
        </p:grpSpPr>
        <p:sp>
          <p:nvSpPr>
            <p:cNvPr id="159773" name="Line 29"/>
            <p:cNvSpPr>
              <a:spLocks noChangeShapeType="1"/>
            </p:cNvSpPr>
            <p:nvPr/>
          </p:nvSpPr>
          <p:spPr bwMode="auto">
            <a:xfrm>
              <a:off x="2000" y="422"/>
              <a:ext cx="0" cy="1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74" name="Text Box 30"/>
            <p:cNvSpPr txBox="1">
              <a:spLocks noChangeArrowheads="1"/>
            </p:cNvSpPr>
            <p:nvPr/>
          </p:nvSpPr>
          <p:spPr bwMode="auto">
            <a:xfrm>
              <a:off x="1920" y="20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k</a:t>
              </a:r>
            </a:p>
          </p:txBody>
        </p:sp>
      </p:grpSp>
      <p:sp>
        <p:nvSpPr>
          <p:cNvPr id="159775" name="Text Box 31"/>
          <p:cNvSpPr txBox="1">
            <a:spLocks noChangeArrowheads="1"/>
          </p:cNvSpPr>
          <p:nvPr/>
        </p:nvSpPr>
        <p:spPr bwMode="auto">
          <a:xfrm>
            <a:off x="1336675" y="942975"/>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i=1</a:t>
            </a:r>
          </a:p>
        </p:txBody>
      </p:sp>
      <p:sp>
        <p:nvSpPr>
          <p:cNvPr id="159776" name="Text Box 32"/>
          <p:cNvSpPr txBox="1">
            <a:spLocks noChangeArrowheads="1"/>
          </p:cNvSpPr>
          <p:nvPr/>
        </p:nvSpPr>
        <p:spPr bwMode="auto">
          <a:xfrm>
            <a:off x="3059113" y="977900"/>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13</a:t>
            </a:r>
          </a:p>
        </p:txBody>
      </p:sp>
      <p:sp>
        <p:nvSpPr>
          <p:cNvPr id="159777" name="Text Box 33"/>
          <p:cNvSpPr txBox="1">
            <a:spLocks noChangeArrowheads="1"/>
          </p:cNvSpPr>
          <p:nvPr/>
        </p:nvSpPr>
        <p:spPr bwMode="auto">
          <a:xfrm>
            <a:off x="5870575" y="944563"/>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49</a:t>
            </a:r>
          </a:p>
        </p:txBody>
      </p:sp>
      <p:sp>
        <p:nvSpPr>
          <p:cNvPr id="159778" name="Text Box 34"/>
          <p:cNvSpPr txBox="1">
            <a:spLocks noChangeArrowheads="1"/>
          </p:cNvSpPr>
          <p:nvPr/>
        </p:nvSpPr>
        <p:spPr bwMode="auto">
          <a:xfrm>
            <a:off x="1868488" y="2205038"/>
            <a:ext cx="51149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一趟：    </a:t>
            </a:r>
            <a:r>
              <a:rPr lang="en-US" altLang="zh-CN" sz="2000" b="1">
                <a:solidFill>
                  <a:srgbClr val="0066FF"/>
                </a:solidFill>
              </a:rPr>
              <a:t>13</a:t>
            </a:r>
            <a:r>
              <a:rPr lang="en-US" altLang="zh-CN" sz="2000" b="1"/>
              <a:t>     [38     65     97     76     49     27 ]</a:t>
            </a:r>
          </a:p>
        </p:txBody>
      </p:sp>
      <p:sp>
        <p:nvSpPr>
          <p:cNvPr id="159779" name="Text Box 35"/>
          <p:cNvSpPr txBox="1">
            <a:spLocks noChangeArrowheads="1"/>
          </p:cNvSpPr>
          <p:nvPr/>
        </p:nvSpPr>
        <p:spPr bwMode="auto">
          <a:xfrm>
            <a:off x="1366838" y="2133600"/>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i=2</a:t>
            </a:r>
          </a:p>
        </p:txBody>
      </p:sp>
      <p:grpSp>
        <p:nvGrpSpPr>
          <p:cNvPr id="159780" name="Group 36"/>
          <p:cNvGrpSpPr>
            <a:grpSpLocks/>
          </p:cNvGrpSpPr>
          <p:nvPr/>
        </p:nvGrpSpPr>
        <p:grpSpPr bwMode="auto">
          <a:xfrm>
            <a:off x="3575050" y="1628775"/>
            <a:ext cx="311150" cy="625475"/>
            <a:chOff x="1920" y="206"/>
            <a:chExt cx="196" cy="394"/>
          </a:xfrm>
        </p:grpSpPr>
        <p:sp>
          <p:nvSpPr>
            <p:cNvPr id="159781" name="Line 37"/>
            <p:cNvSpPr>
              <a:spLocks noChangeShapeType="1"/>
            </p:cNvSpPr>
            <p:nvPr/>
          </p:nvSpPr>
          <p:spPr bwMode="auto">
            <a:xfrm>
              <a:off x="2000" y="422"/>
              <a:ext cx="0" cy="1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82" name="Text Box 38"/>
            <p:cNvSpPr txBox="1">
              <a:spLocks noChangeArrowheads="1"/>
            </p:cNvSpPr>
            <p:nvPr/>
          </p:nvSpPr>
          <p:spPr bwMode="auto">
            <a:xfrm>
              <a:off x="1920" y="20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k</a:t>
              </a:r>
            </a:p>
          </p:txBody>
        </p:sp>
      </p:grpSp>
      <p:grpSp>
        <p:nvGrpSpPr>
          <p:cNvPr id="159783" name="Group 39"/>
          <p:cNvGrpSpPr>
            <a:grpSpLocks/>
          </p:cNvGrpSpPr>
          <p:nvPr/>
        </p:nvGrpSpPr>
        <p:grpSpPr bwMode="auto">
          <a:xfrm>
            <a:off x="6497638" y="1628775"/>
            <a:ext cx="311150" cy="625475"/>
            <a:chOff x="1920" y="206"/>
            <a:chExt cx="196" cy="394"/>
          </a:xfrm>
        </p:grpSpPr>
        <p:sp>
          <p:nvSpPr>
            <p:cNvPr id="159784" name="Line 40"/>
            <p:cNvSpPr>
              <a:spLocks noChangeShapeType="1"/>
            </p:cNvSpPr>
            <p:nvPr/>
          </p:nvSpPr>
          <p:spPr bwMode="auto">
            <a:xfrm>
              <a:off x="2000" y="422"/>
              <a:ext cx="0" cy="1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85" name="Text Box 41"/>
            <p:cNvSpPr txBox="1">
              <a:spLocks noChangeArrowheads="1"/>
            </p:cNvSpPr>
            <p:nvPr/>
          </p:nvSpPr>
          <p:spPr bwMode="auto">
            <a:xfrm>
              <a:off x="1920" y="20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k</a:t>
              </a:r>
            </a:p>
          </p:txBody>
        </p:sp>
      </p:grpSp>
      <p:grpSp>
        <p:nvGrpSpPr>
          <p:cNvPr id="159786" name="Group 42"/>
          <p:cNvGrpSpPr>
            <a:grpSpLocks/>
          </p:cNvGrpSpPr>
          <p:nvPr/>
        </p:nvGrpSpPr>
        <p:grpSpPr bwMode="auto">
          <a:xfrm>
            <a:off x="4157663" y="2492375"/>
            <a:ext cx="254000" cy="598488"/>
            <a:chOff x="2320" y="767"/>
            <a:chExt cx="160" cy="377"/>
          </a:xfrm>
        </p:grpSpPr>
        <p:sp>
          <p:nvSpPr>
            <p:cNvPr id="159787" name="Line 43"/>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88" name="Text Box 44"/>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89" name="Group 45"/>
          <p:cNvGrpSpPr>
            <a:grpSpLocks/>
          </p:cNvGrpSpPr>
          <p:nvPr/>
        </p:nvGrpSpPr>
        <p:grpSpPr bwMode="auto">
          <a:xfrm>
            <a:off x="4730750" y="2492375"/>
            <a:ext cx="254000" cy="598488"/>
            <a:chOff x="2320" y="767"/>
            <a:chExt cx="160" cy="377"/>
          </a:xfrm>
        </p:grpSpPr>
        <p:sp>
          <p:nvSpPr>
            <p:cNvPr id="159790" name="Line 46"/>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91" name="Text Box 47"/>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92" name="Group 48"/>
          <p:cNvGrpSpPr>
            <a:grpSpLocks/>
          </p:cNvGrpSpPr>
          <p:nvPr/>
        </p:nvGrpSpPr>
        <p:grpSpPr bwMode="auto">
          <a:xfrm>
            <a:off x="5303838" y="2492375"/>
            <a:ext cx="254000" cy="598488"/>
            <a:chOff x="2320" y="767"/>
            <a:chExt cx="160" cy="377"/>
          </a:xfrm>
        </p:grpSpPr>
        <p:sp>
          <p:nvSpPr>
            <p:cNvPr id="159793" name="Line 49"/>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94" name="Text Box 50"/>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95" name="Group 51"/>
          <p:cNvGrpSpPr>
            <a:grpSpLocks/>
          </p:cNvGrpSpPr>
          <p:nvPr/>
        </p:nvGrpSpPr>
        <p:grpSpPr bwMode="auto">
          <a:xfrm>
            <a:off x="6450013" y="2492375"/>
            <a:ext cx="254000" cy="598488"/>
            <a:chOff x="2320" y="767"/>
            <a:chExt cx="160" cy="377"/>
          </a:xfrm>
        </p:grpSpPr>
        <p:sp>
          <p:nvSpPr>
            <p:cNvPr id="159796" name="Line 52"/>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797" name="Text Box 53"/>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grpSp>
        <p:nvGrpSpPr>
          <p:cNvPr id="159798" name="Group 54"/>
          <p:cNvGrpSpPr>
            <a:grpSpLocks/>
          </p:cNvGrpSpPr>
          <p:nvPr/>
        </p:nvGrpSpPr>
        <p:grpSpPr bwMode="auto">
          <a:xfrm>
            <a:off x="5876925" y="2492375"/>
            <a:ext cx="254000" cy="598488"/>
            <a:chOff x="2320" y="767"/>
            <a:chExt cx="160" cy="377"/>
          </a:xfrm>
        </p:grpSpPr>
        <p:sp>
          <p:nvSpPr>
            <p:cNvPr id="159799" name="Line 55"/>
            <p:cNvSpPr>
              <a:spLocks noChangeShapeType="1"/>
            </p:cNvSpPr>
            <p:nvPr/>
          </p:nvSpPr>
          <p:spPr bwMode="auto">
            <a:xfrm flipV="1">
              <a:off x="2400" y="767"/>
              <a:ext cx="0" cy="1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59800" name="Text Box 56"/>
            <p:cNvSpPr txBox="1">
              <a:spLocks noChangeArrowheads="1"/>
            </p:cNvSpPr>
            <p:nvPr/>
          </p:nvSpPr>
          <p:spPr bwMode="auto">
            <a:xfrm>
              <a:off x="2320" y="894"/>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j</a:t>
              </a:r>
            </a:p>
          </p:txBody>
        </p:sp>
      </p:grpSp>
      <p:sp>
        <p:nvSpPr>
          <p:cNvPr id="159801" name="Text Box 57"/>
          <p:cNvSpPr txBox="1">
            <a:spLocks noChangeArrowheads="1"/>
          </p:cNvSpPr>
          <p:nvPr/>
        </p:nvSpPr>
        <p:spPr bwMode="auto">
          <a:xfrm>
            <a:off x="3635375" y="2205038"/>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27</a:t>
            </a:r>
          </a:p>
        </p:txBody>
      </p:sp>
      <p:sp>
        <p:nvSpPr>
          <p:cNvPr id="159802" name="Text Box 58"/>
          <p:cNvSpPr txBox="1">
            <a:spLocks noChangeArrowheads="1"/>
          </p:cNvSpPr>
          <p:nvPr/>
        </p:nvSpPr>
        <p:spPr bwMode="auto">
          <a:xfrm>
            <a:off x="6365875" y="2205038"/>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b="1"/>
              <a:t>38</a:t>
            </a:r>
          </a:p>
        </p:txBody>
      </p:sp>
      <p:grpSp>
        <p:nvGrpSpPr>
          <p:cNvPr id="159803" name="Group 59"/>
          <p:cNvGrpSpPr>
            <a:grpSpLocks/>
          </p:cNvGrpSpPr>
          <p:nvPr/>
        </p:nvGrpSpPr>
        <p:grpSpPr bwMode="auto">
          <a:xfrm>
            <a:off x="1863725" y="3014663"/>
            <a:ext cx="5178425" cy="558800"/>
            <a:chOff x="1173" y="1506"/>
            <a:chExt cx="3262" cy="352"/>
          </a:xfrm>
        </p:grpSpPr>
        <p:sp>
          <p:nvSpPr>
            <p:cNvPr id="159804" name="Text Box 60"/>
            <p:cNvSpPr txBox="1">
              <a:spLocks noChangeArrowheads="1"/>
            </p:cNvSpPr>
            <p:nvPr/>
          </p:nvSpPr>
          <p:spPr bwMode="auto">
            <a:xfrm>
              <a:off x="1173" y="1506"/>
              <a:ext cx="326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二趟：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[65     97     76     49     38 ]</a:t>
              </a:r>
            </a:p>
          </p:txBody>
        </p:sp>
        <p:sp>
          <p:nvSpPr>
            <p:cNvPr id="159805" name="Line 61"/>
            <p:cNvSpPr>
              <a:spLocks noChangeShapeType="1"/>
            </p:cNvSpPr>
            <p:nvPr/>
          </p:nvSpPr>
          <p:spPr bwMode="auto">
            <a:xfrm>
              <a:off x="4193" y="1714"/>
              <a:ext cx="1"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06" name="Line 62"/>
            <p:cNvSpPr>
              <a:spLocks noChangeShapeType="1"/>
            </p:cNvSpPr>
            <p:nvPr/>
          </p:nvSpPr>
          <p:spPr bwMode="auto">
            <a:xfrm flipV="1">
              <a:off x="2774" y="1696"/>
              <a:ext cx="0"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07" name="Line 63"/>
            <p:cNvSpPr>
              <a:spLocks noChangeShapeType="1"/>
            </p:cNvSpPr>
            <p:nvPr/>
          </p:nvSpPr>
          <p:spPr bwMode="auto">
            <a:xfrm>
              <a:off x="2789" y="1822"/>
              <a:ext cx="13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59808" name="Group 64"/>
          <p:cNvGrpSpPr>
            <a:grpSpLocks/>
          </p:cNvGrpSpPr>
          <p:nvPr/>
        </p:nvGrpSpPr>
        <p:grpSpPr bwMode="auto">
          <a:xfrm>
            <a:off x="1863725" y="3716338"/>
            <a:ext cx="5178425" cy="504825"/>
            <a:chOff x="1169" y="1902"/>
            <a:chExt cx="3262" cy="318"/>
          </a:xfrm>
        </p:grpSpPr>
        <p:sp>
          <p:nvSpPr>
            <p:cNvPr id="159809" name="Text Box 65"/>
            <p:cNvSpPr txBox="1">
              <a:spLocks noChangeArrowheads="1"/>
            </p:cNvSpPr>
            <p:nvPr/>
          </p:nvSpPr>
          <p:spPr bwMode="auto">
            <a:xfrm>
              <a:off x="1169" y="1902"/>
              <a:ext cx="326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三趟：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a:t>
              </a:r>
              <a:r>
                <a:rPr lang="en-US" altLang="zh-CN" sz="2000" b="1">
                  <a:solidFill>
                    <a:srgbClr val="0066FF"/>
                  </a:solidFill>
                </a:rPr>
                <a:t>38</a:t>
              </a:r>
              <a:r>
                <a:rPr lang="en-US" altLang="zh-CN" sz="2000" b="1"/>
                <a:t>     [97     76     49     65 ]</a:t>
              </a:r>
            </a:p>
          </p:txBody>
        </p:sp>
        <p:sp>
          <p:nvSpPr>
            <p:cNvPr id="159810" name="Line 66"/>
            <p:cNvSpPr>
              <a:spLocks noChangeShapeType="1"/>
            </p:cNvSpPr>
            <p:nvPr/>
          </p:nvSpPr>
          <p:spPr bwMode="auto">
            <a:xfrm>
              <a:off x="3811" y="2076"/>
              <a:ext cx="1"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11" name="Line 67"/>
            <p:cNvSpPr>
              <a:spLocks noChangeShapeType="1"/>
            </p:cNvSpPr>
            <p:nvPr/>
          </p:nvSpPr>
          <p:spPr bwMode="auto">
            <a:xfrm flipV="1">
              <a:off x="3103" y="2081"/>
              <a:ext cx="0"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12" name="Line 68"/>
            <p:cNvSpPr>
              <a:spLocks noChangeShapeType="1"/>
            </p:cNvSpPr>
            <p:nvPr/>
          </p:nvSpPr>
          <p:spPr bwMode="auto">
            <a:xfrm>
              <a:off x="3112" y="2211"/>
              <a:ext cx="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59813" name="Group 69"/>
          <p:cNvGrpSpPr>
            <a:grpSpLocks/>
          </p:cNvGrpSpPr>
          <p:nvPr/>
        </p:nvGrpSpPr>
        <p:grpSpPr bwMode="auto">
          <a:xfrm>
            <a:off x="1863725" y="4365625"/>
            <a:ext cx="5178425" cy="539750"/>
            <a:chOff x="1154" y="2298"/>
            <a:chExt cx="3262" cy="340"/>
          </a:xfrm>
        </p:grpSpPr>
        <p:sp>
          <p:nvSpPr>
            <p:cNvPr id="159814" name="Text Box 70"/>
            <p:cNvSpPr txBox="1">
              <a:spLocks noChangeArrowheads="1"/>
            </p:cNvSpPr>
            <p:nvPr/>
          </p:nvSpPr>
          <p:spPr bwMode="auto">
            <a:xfrm>
              <a:off x="1154" y="2298"/>
              <a:ext cx="326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四趟：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a:t>
              </a:r>
              <a:r>
                <a:rPr lang="en-US" altLang="zh-CN" sz="2000" b="1">
                  <a:solidFill>
                    <a:srgbClr val="0066FF"/>
                  </a:solidFill>
                </a:rPr>
                <a:t>38</a:t>
              </a:r>
              <a:r>
                <a:rPr lang="en-US" altLang="zh-CN" sz="2000" b="1"/>
                <a:t>     </a:t>
              </a:r>
              <a:r>
                <a:rPr lang="en-US" altLang="zh-CN" sz="2000" b="1">
                  <a:solidFill>
                    <a:srgbClr val="0066FF"/>
                  </a:solidFill>
                </a:rPr>
                <a:t>49</a:t>
              </a:r>
              <a:r>
                <a:rPr lang="en-US" altLang="zh-CN" sz="2000" b="1"/>
                <a:t>     [76     97     65 ]</a:t>
              </a:r>
            </a:p>
          </p:txBody>
        </p:sp>
        <p:sp>
          <p:nvSpPr>
            <p:cNvPr id="159815" name="Line 71"/>
            <p:cNvSpPr>
              <a:spLocks noChangeShapeType="1"/>
            </p:cNvSpPr>
            <p:nvPr/>
          </p:nvSpPr>
          <p:spPr bwMode="auto">
            <a:xfrm>
              <a:off x="4140" y="2494"/>
              <a:ext cx="1"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16" name="Line 72"/>
            <p:cNvSpPr>
              <a:spLocks noChangeShapeType="1"/>
            </p:cNvSpPr>
            <p:nvPr/>
          </p:nvSpPr>
          <p:spPr bwMode="auto">
            <a:xfrm flipV="1">
              <a:off x="3432" y="2499"/>
              <a:ext cx="0"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17" name="Line 73"/>
            <p:cNvSpPr>
              <a:spLocks noChangeShapeType="1"/>
            </p:cNvSpPr>
            <p:nvPr/>
          </p:nvSpPr>
          <p:spPr bwMode="auto">
            <a:xfrm>
              <a:off x="3441" y="2629"/>
              <a:ext cx="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59818" name="Group 74"/>
          <p:cNvGrpSpPr>
            <a:grpSpLocks/>
          </p:cNvGrpSpPr>
          <p:nvPr/>
        </p:nvGrpSpPr>
        <p:grpSpPr bwMode="auto">
          <a:xfrm>
            <a:off x="1863725" y="4941888"/>
            <a:ext cx="5178425" cy="539750"/>
            <a:chOff x="1139" y="2683"/>
            <a:chExt cx="3262" cy="340"/>
          </a:xfrm>
        </p:grpSpPr>
        <p:sp>
          <p:nvSpPr>
            <p:cNvPr id="159819" name="Text Box 75"/>
            <p:cNvSpPr txBox="1">
              <a:spLocks noChangeArrowheads="1"/>
            </p:cNvSpPr>
            <p:nvPr/>
          </p:nvSpPr>
          <p:spPr bwMode="auto">
            <a:xfrm>
              <a:off x="1139" y="2683"/>
              <a:ext cx="326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五趟：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a:t>
              </a:r>
              <a:r>
                <a:rPr lang="en-US" altLang="zh-CN" sz="2000" b="1">
                  <a:solidFill>
                    <a:srgbClr val="0066FF"/>
                  </a:solidFill>
                </a:rPr>
                <a:t>38</a:t>
              </a:r>
              <a:r>
                <a:rPr lang="en-US" altLang="zh-CN" sz="2000" b="1"/>
                <a:t>     </a:t>
              </a:r>
              <a:r>
                <a:rPr lang="en-US" altLang="zh-CN" sz="2000" b="1">
                  <a:solidFill>
                    <a:srgbClr val="0066FF"/>
                  </a:solidFill>
                </a:rPr>
                <a:t>49</a:t>
              </a:r>
              <a:r>
                <a:rPr lang="en-US" altLang="zh-CN" sz="2000" b="1"/>
                <a:t>     </a:t>
              </a:r>
              <a:r>
                <a:rPr lang="en-US" altLang="zh-CN" sz="2000" b="1">
                  <a:solidFill>
                    <a:srgbClr val="0066FF"/>
                  </a:solidFill>
                </a:rPr>
                <a:t>65</a:t>
              </a:r>
              <a:r>
                <a:rPr lang="en-US" altLang="zh-CN" sz="2000" b="1"/>
                <a:t>     [97     76 ]</a:t>
              </a:r>
            </a:p>
          </p:txBody>
        </p:sp>
        <p:sp>
          <p:nvSpPr>
            <p:cNvPr id="159820" name="Line 76"/>
            <p:cNvSpPr>
              <a:spLocks noChangeShapeType="1"/>
            </p:cNvSpPr>
            <p:nvPr/>
          </p:nvSpPr>
          <p:spPr bwMode="auto">
            <a:xfrm>
              <a:off x="4125" y="2879"/>
              <a:ext cx="1"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21" name="Line 77"/>
            <p:cNvSpPr>
              <a:spLocks noChangeShapeType="1"/>
            </p:cNvSpPr>
            <p:nvPr/>
          </p:nvSpPr>
          <p:spPr bwMode="auto">
            <a:xfrm flipV="1">
              <a:off x="3817" y="2884"/>
              <a:ext cx="0"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59822" name="Line 78"/>
            <p:cNvSpPr>
              <a:spLocks noChangeShapeType="1"/>
            </p:cNvSpPr>
            <p:nvPr/>
          </p:nvSpPr>
          <p:spPr bwMode="auto">
            <a:xfrm>
              <a:off x="3812" y="3000"/>
              <a:ext cx="3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59823" name="Text Box 79"/>
          <p:cNvSpPr txBox="1">
            <a:spLocks noChangeArrowheads="1"/>
          </p:cNvSpPr>
          <p:nvPr/>
        </p:nvSpPr>
        <p:spPr bwMode="auto">
          <a:xfrm>
            <a:off x="1863725" y="5445125"/>
            <a:ext cx="51784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六趟：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a:t>
            </a:r>
            <a:r>
              <a:rPr lang="en-US" altLang="zh-CN" sz="2000" b="1">
                <a:solidFill>
                  <a:srgbClr val="0066FF"/>
                </a:solidFill>
              </a:rPr>
              <a:t>38</a:t>
            </a:r>
            <a:r>
              <a:rPr lang="en-US" altLang="zh-CN" sz="2000" b="1"/>
              <a:t>     </a:t>
            </a:r>
            <a:r>
              <a:rPr lang="en-US" altLang="zh-CN" sz="2000" b="1">
                <a:solidFill>
                  <a:srgbClr val="0066FF"/>
                </a:solidFill>
              </a:rPr>
              <a:t>49</a:t>
            </a:r>
            <a:r>
              <a:rPr lang="en-US" altLang="zh-CN" sz="2000" b="1"/>
              <a:t>     </a:t>
            </a:r>
            <a:r>
              <a:rPr lang="en-US" altLang="zh-CN" sz="2000" b="1">
                <a:solidFill>
                  <a:srgbClr val="0066FF"/>
                </a:solidFill>
              </a:rPr>
              <a:t>65</a:t>
            </a:r>
            <a:r>
              <a:rPr lang="en-US" altLang="zh-CN" sz="2000" b="1"/>
              <a:t>     </a:t>
            </a:r>
            <a:r>
              <a:rPr lang="en-US" altLang="zh-CN" sz="2000" b="1">
                <a:solidFill>
                  <a:srgbClr val="0066FF"/>
                </a:solidFill>
              </a:rPr>
              <a:t>76</a:t>
            </a:r>
            <a:r>
              <a:rPr lang="en-US" altLang="zh-CN" sz="2000" b="1"/>
              <a:t>     [97 ]</a:t>
            </a:r>
          </a:p>
        </p:txBody>
      </p:sp>
      <p:sp>
        <p:nvSpPr>
          <p:cNvPr id="159824" name="Text Box 80"/>
          <p:cNvSpPr txBox="1">
            <a:spLocks noChangeArrowheads="1"/>
          </p:cNvSpPr>
          <p:nvPr/>
        </p:nvSpPr>
        <p:spPr bwMode="auto">
          <a:xfrm>
            <a:off x="1347788" y="5876925"/>
            <a:ext cx="5518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b="1"/>
              <a:t>排序结束：    </a:t>
            </a:r>
            <a:r>
              <a:rPr lang="en-US" altLang="zh-CN" sz="2000" b="1">
                <a:solidFill>
                  <a:srgbClr val="0066FF"/>
                </a:solidFill>
              </a:rPr>
              <a:t>13</a:t>
            </a:r>
            <a:r>
              <a:rPr lang="en-US" altLang="zh-CN" sz="2000" b="1"/>
              <a:t>      </a:t>
            </a:r>
            <a:r>
              <a:rPr lang="en-US" altLang="zh-CN" sz="2000" b="1">
                <a:solidFill>
                  <a:srgbClr val="0066FF"/>
                </a:solidFill>
              </a:rPr>
              <a:t>27</a:t>
            </a:r>
            <a:r>
              <a:rPr lang="en-US" altLang="zh-CN" sz="2000" b="1"/>
              <a:t>     </a:t>
            </a:r>
            <a:r>
              <a:rPr lang="en-US" altLang="zh-CN" sz="2000" b="1">
                <a:solidFill>
                  <a:srgbClr val="0066FF"/>
                </a:solidFill>
              </a:rPr>
              <a:t>38</a:t>
            </a:r>
            <a:r>
              <a:rPr lang="en-US" altLang="zh-CN" sz="2000" b="1"/>
              <a:t>     </a:t>
            </a:r>
            <a:r>
              <a:rPr lang="en-US" altLang="zh-CN" sz="2000" b="1">
                <a:solidFill>
                  <a:srgbClr val="0066FF"/>
                </a:solidFill>
              </a:rPr>
              <a:t>49</a:t>
            </a:r>
            <a:r>
              <a:rPr lang="en-US" altLang="zh-CN" sz="2000" b="1"/>
              <a:t>     </a:t>
            </a:r>
            <a:r>
              <a:rPr lang="en-US" altLang="zh-CN" sz="2000" b="1">
                <a:solidFill>
                  <a:srgbClr val="0066FF"/>
                </a:solidFill>
              </a:rPr>
              <a:t>65</a:t>
            </a:r>
            <a:r>
              <a:rPr lang="en-US" altLang="zh-CN" sz="2000" b="1"/>
              <a:t>     </a:t>
            </a:r>
            <a:r>
              <a:rPr lang="en-US" altLang="zh-CN" sz="2000" b="1">
                <a:solidFill>
                  <a:srgbClr val="0066FF"/>
                </a:solidFill>
              </a:rPr>
              <a:t>76</a:t>
            </a:r>
            <a:r>
              <a:rPr lang="en-US" altLang="zh-CN" sz="2000" b="1"/>
              <a:t>      </a:t>
            </a:r>
            <a:r>
              <a:rPr lang="en-US" altLang="zh-CN" sz="2000" b="1">
                <a:solidFill>
                  <a:srgbClr val="0066FF"/>
                </a:solidFill>
              </a:rPr>
              <a:t>97</a:t>
            </a:r>
            <a:endParaRPr lang="en-US" altLang="zh-CN" sz="2000" b="1"/>
          </a:p>
        </p:txBody>
      </p:sp>
    </p:spTree>
    <p:extLst>
      <p:ext uri="{BB962C8B-B14F-4D97-AF65-F5344CB8AC3E}">
        <p14:creationId xmlns:p14="http://schemas.microsoft.com/office/powerpoint/2010/main" val="348687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box(out)">
                                      <p:cBhvr>
                                        <p:cTn id="7" dur="500"/>
                                        <p:tgtEl>
                                          <p:spTgt spid="15974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9775">
                                            <p:txEl>
                                              <p:pRg st="0" end="0"/>
                                            </p:txEl>
                                          </p:spTgt>
                                        </p:tgtEl>
                                        <p:attrNameLst>
                                          <p:attrName>style.visibility</p:attrName>
                                        </p:attrNameLst>
                                      </p:cBhvr>
                                      <p:to>
                                        <p:strVal val="visible"/>
                                      </p:to>
                                    </p:set>
                                    <p:animEffect transition="in" filter="box(out)">
                                      <p:cBhvr>
                                        <p:cTn id="12" dur="500"/>
                                        <p:tgtEl>
                                          <p:spTgt spid="159775">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159748"/>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59751"/>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159769"/>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159754"/>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159757"/>
                                        </p:tgtEl>
                                        <p:attrNameLst>
                                          <p:attrName>style.visibility</p:attrName>
                                        </p:attrNameLst>
                                      </p:cBhvr>
                                      <p:to>
                                        <p:strVal val="visible"/>
                                      </p:to>
                                    </p:se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159760"/>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159763"/>
                                        </p:tgtEl>
                                        <p:attrNameLst>
                                          <p:attrName>style.visibility</p:attrName>
                                        </p:attrNameLst>
                                      </p:cBhvr>
                                      <p:to>
                                        <p:strVal val="visible"/>
                                      </p:to>
                                    </p:se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159772"/>
                                        </p:tgtEl>
                                        <p:attrNameLst>
                                          <p:attrName>style.visibility</p:attrName>
                                        </p:attrNameLst>
                                      </p:cBhvr>
                                      <p:to>
                                        <p:strVal val="visible"/>
                                      </p:to>
                                    </p:se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159766"/>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159776"/>
                                        </p:tgtEl>
                                        <p:attrNameLst>
                                          <p:attrName>style.visibility</p:attrName>
                                        </p:attrNameLst>
                                      </p:cBhvr>
                                      <p:to>
                                        <p:strVal val="visible"/>
                                      </p:to>
                                    </p:set>
                                    <p:animEffect transition="in" filter="box(out)">
                                      <p:cBhvr>
                                        <p:cTn id="53" dur="500"/>
                                        <p:tgtEl>
                                          <p:spTgt spid="159776"/>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159777"/>
                                        </p:tgtEl>
                                        <p:attrNameLst>
                                          <p:attrName>style.visibility</p:attrName>
                                        </p:attrNameLst>
                                      </p:cBhvr>
                                      <p:to>
                                        <p:strVal val="visible"/>
                                      </p:to>
                                    </p:set>
                                    <p:animEffect transition="in" filter="box(out)">
                                      <p:cBhvr>
                                        <p:cTn id="58" dur="500"/>
                                        <p:tgtEl>
                                          <p:spTgt spid="159777"/>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159778">
                                            <p:txEl>
                                              <p:pRg st="0" end="0"/>
                                            </p:txEl>
                                          </p:spTgt>
                                        </p:tgtEl>
                                        <p:attrNameLst>
                                          <p:attrName>style.visibility</p:attrName>
                                        </p:attrNameLst>
                                      </p:cBhvr>
                                      <p:to>
                                        <p:strVal val="visible"/>
                                      </p:to>
                                    </p:set>
                                    <p:animEffect transition="in" filter="box(out)">
                                      <p:cBhvr>
                                        <p:cTn id="63" dur="500"/>
                                        <p:tgtEl>
                                          <p:spTgt spid="159778">
                                            <p:txEl>
                                              <p:pRg st="0" end="0"/>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nodeType="clickPar">
                      <p:stCondLst>
                        <p:cond delay="indefinite"/>
                      </p:stCondLst>
                      <p:childTnLst>
                        <p:par>
                          <p:cTn id="65" fill="hold" nodeType="withGroup">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159779">
                                            <p:txEl>
                                              <p:pRg st="0" end="0"/>
                                            </p:txEl>
                                          </p:spTgt>
                                        </p:tgtEl>
                                        <p:attrNameLst>
                                          <p:attrName>style.visibility</p:attrName>
                                        </p:attrNameLst>
                                      </p:cBhvr>
                                      <p:to>
                                        <p:strVal val="visible"/>
                                      </p:to>
                                    </p:set>
                                    <p:animEffect transition="in" filter="box(out)">
                                      <p:cBhvr>
                                        <p:cTn id="68" dur="500"/>
                                        <p:tgtEl>
                                          <p:spTgt spid="159779">
                                            <p:txEl>
                                              <p:pRg st="0" end="0"/>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499"/>
                                          </p:stCondLst>
                                        </p:cTn>
                                        <p:tgtEl>
                                          <p:spTgt spid="159780"/>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499"/>
                                          </p:stCondLst>
                                        </p:cTn>
                                        <p:tgtEl>
                                          <p:spTgt spid="159786"/>
                                        </p:tgtEl>
                                        <p:attrNameLst>
                                          <p:attrName>style.visibility</p:attrName>
                                        </p:attrNameLst>
                                      </p:cBhvr>
                                      <p:to>
                                        <p:strVal val="visible"/>
                                      </p:to>
                                    </p:se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159789"/>
                                        </p:tgtEl>
                                        <p:attrNameLst>
                                          <p:attrName>style.visibility</p:attrName>
                                        </p:attrNameLst>
                                      </p:cBhvr>
                                      <p:to>
                                        <p:strVal val="visible"/>
                                      </p:to>
                                    </p:set>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499"/>
                                          </p:stCondLst>
                                        </p:cTn>
                                        <p:tgtEl>
                                          <p:spTgt spid="159792"/>
                                        </p:tgtEl>
                                        <p:attrNameLst>
                                          <p:attrName>style.visibility</p:attrName>
                                        </p:attrNameLst>
                                      </p:cBhvr>
                                      <p:to>
                                        <p:strVal val="visible"/>
                                      </p:to>
                                    </p:se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499"/>
                                          </p:stCondLst>
                                        </p:cTn>
                                        <p:tgtEl>
                                          <p:spTgt spid="159798"/>
                                        </p:tgtEl>
                                        <p:attrNameLst>
                                          <p:attrName>style.visibility</p:attrName>
                                        </p:attrNameLst>
                                      </p:cBhvr>
                                      <p:to>
                                        <p:strVal val="visible"/>
                                      </p:to>
                                    </p:se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159795"/>
                                        </p:tgtEl>
                                        <p:attrNameLst>
                                          <p:attrName>style.visibility</p:attrName>
                                        </p:attrNameLst>
                                      </p:cBhvr>
                                      <p:to>
                                        <p:strVal val="visible"/>
                                      </p:to>
                                    </p:set>
                                  </p:childTnLst>
                                  <p:subTnLst>
                                    <p:audio>
                                      <p:cMediaNode>
                                        <p:cTn display="0" masterRel="sameClick">
                                          <p:stCondLst>
                                            <p:cond evt="begin" delay="0">
                                              <p:tn val="91"/>
                                            </p:cond>
                                          </p:stCondLst>
                                          <p:endCondLst>
                                            <p:cond evt="onStopAudio" delay="0">
                                              <p:tgtEl>
                                                <p:sldTgt/>
                                              </p:tgtEl>
                                            </p:cond>
                                          </p:endCondLst>
                                        </p:cTn>
                                        <p:tgtEl>
                                          <p:sndTgt r:embed="rId2" name="CAMERA.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159783"/>
                                        </p:tgtEl>
                                        <p:attrNameLst>
                                          <p:attrName>style.visibility</p:attrName>
                                        </p:attrNameLst>
                                      </p:cBhvr>
                                      <p:to>
                                        <p:strVal val="visible"/>
                                      </p:to>
                                    </p:se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7" fill="hold" nodeType="clickPar">
                      <p:stCondLst>
                        <p:cond delay="indefinite"/>
                      </p:stCondLst>
                      <p:childTnLst>
                        <p:par>
                          <p:cTn id="98" fill="hold" nodeType="withGroup">
                            <p:stCondLst>
                              <p:cond delay="0"/>
                            </p:stCondLst>
                            <p:childTnLst>
                              <p:par>
                                <p:cTn id="99" presetID="4" presetClass="entr" presetSubtype="32" fill="hold" grpId="0" nodeType="clickEffect">
                                  <p:stCondLst>
                                    <p:cond delay="0"/>
                                  </p:stCondLst>
                                  <p:childTnLst>
                                    <p:set>
                                      <p:cBhvr>
                                        <p:cTn id="100" dur="1" fill="hold">
                                          <p:stCondLst>
                                            <p:cond delay="0"/>
                                          </p:stCondLst>
                                        </p:cTn>
                                        <p:tgtEl>
                                          <p:spTgt spid="159801"/>
                                        </p:tgtEl>
                                        <p:attrNameLst>
                                          <p:attrName>style.visibility</p:attrName>
                                        </p:attrNameLst>
                                      </p:cBhvr>
                                      <p:to>
                                        <p:strVal val="visible"/>
                                      </p:to>
                                    </p:set>
                                    <p:animEffect transition="in" filter="box(out)">
                                      <p:cBhvr>
                                        <p:cTn id="101" dur="500"/>
                                        <p:tgtEl>
                                          <p:spTgt spid="159801"/>
                                        </p:tgtEl>
                                      </p:cBhvr>
                                    </p:animEffect>
                                  </p:childTnLst>
                                  <p:subTnLst>
                                    <p:audio>
                                      <p:cMediaNode>
                                        <p:cTn display="0" masterRel="sameClick">
                                          <p:stCondLst>
                                            <p:cond evt="begin" delay="0">
                                              <p:tn val="99"/>
                                            </p:cond>
                                          </p:stCondLst>
                                          <p:endCondLst>
                                            <p:cond evt="onStopAudio" delay="0">
                                              <p:tgtEl>
                                                <p:sldTgt/>
                                              </p:tgtEl>
                                            </p:cond>
                                          </p:endCondLst>
                                        </p:cTn>
                                        <p:tgtEl>
                                          <p:sndTgt r:embed="rId2" name="CAMERA.WAV"/>
                                        </p:tgtEl>
                                      </p:cMediaNode>
                                    </p:audio>
                                  </p:subTnLst>
                                </p:cTn>
                              </p:par>
                            </p:childTnLst>
                          </p:cTn>
                        </p:par>
                      </p:childTnLst>
                    </p:cTn>
                  </p:par>
                  <p:par>
                    <p:cTn id="102" fill="hold" nodeType="clickPar">
                      <p:stCondLst>
                        <p:cond delay="indefinite"/>
                      </p:stCondLst>
                      <p:childTnLst>
                        <p:par>
                          <p:cTn id="103" fill="hold" nodeType="withGroup">
                            <p:stCondLst>
                              <p:cond delay="0"/>
                            </p:stCondLst>
                            <p:childTnLst>
                              <p:par>
                                <p:cTn id="104" presetID="4" presetClass="entr" presetSubtype="32" fill="hold" grpId="0" nodeType="clickEffect">
                                  <p:stCondLst>
                                    <p:cond delay="0"/>
                                  </p:stCondLst>
                                  <p:childTnLst>
                                    <p:set>
                                      <p:cBhvr>
                                        <p:cTn id="105" dur="1" fill="hold">
                                          <p:stCondLst>
                                            <p:cond delay="0"/>
                                          </p:stCondLst>
                                        </p:cTn>
                                        <p:tgtEl>
                                          <p:spTgt spid="159802"/>
                                        </p:tgtEl>
                                        <p:attrNameLst>
                                          <p:attrName>style.visibility</p:attrName>
                                        </p:attrNameLst>
                                      </p:cBhvr>
                                      <p:to>
                                        <p:strVal val="visible"/>
                                      </p:to>
                                    </p:set>
                                    <p:animEffect transition="in" filter="box(out)">
                                      <p:cBhvr>
                                        <p:cTn id="106" dur="500"/>
                                        <p:tgtEl>
                                          <p:spTgt spid="159802"/>
                                        </p:tgtEl>
                                      </p:cBhvr>
                                    </p:animEffect>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childTnLst>
                    </p:cTn>
                  </p:par>
                  <p:par>
                    <p:cTn id="107" fill="hold" nodeType="clickPar">
                      <p:stCondLst>
                        <p:cond delay="indefinite"/>
                      </p:stCondLst>
                      <p:childTnLst>
                        <p:par>
                          <p:cTn id="108" fill="hold" nodeType="withGroup">
                            <p:stCondLst>
                              <p:cond delay="0"/>
                            </p:stCondLst>
                            <p:childTnLst>
                              <p:par>
                                <p:cTn id="109" presetID="4" presetClass="entr" presetSubtype="32" fill="hold" nodeType="clickEffect">
                                  <p:stCondLst>
                                    <p:cond delay="0"/>
                                  </p:stCondLst>
                                  <p:childTnLst>
                                    <p:set>
                                      <p:cBhvr>
                                        <p:cTn id="110" dur="1" fill="hold">
                                          <p:stCondLst>
                                            <p:cond delay="0"/>
                                          </p:stCondLst>
                                        </p:cTn>
                                        <p:tgtEl>
                                          <p:spTgt spid="159803"/>
                                        </p:tgtEl>
                                        <p:attrNameLst>
                                          <p:attrName>style.visibility</p:attrName>
                                        </p:attrNameLst>
                                      </p:cBhvr>
                                      <p:to>
                                        <p:strVal val="visible"/>
                                      </p:to>
                                    </p:set>
                                    <p:animEffect transition="in" filter="box(out)">
                                      <p:cBhvr>
                                        <p:cTn id="111" dur="500"/>
                                        <p:tgtEl>
                                          <p:spTgt spid="159803"/>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childTnLst>
                    </p:cTn>
                  </p:par>
                  <p:par>
                    <p:cTn id="112" fill="hold" nodeType="clickPar">
                      <p:stCondLst>
                        <p:cond delay="indefinite"/>
                      </p:stCondLst>
                      <p:childTnLst>
                        <p:par>
                          <p:cTn id="113" fill="hold" nodeType="withGroup">
                            <p:stCondLst>
                              <p:cond delay="0"/>
                            </p:stCondLst>
                            <p:childTnLst>
                              <p:par>
                                <p:cTn id="114" presetID="4" presetClass="entr" presetSubtype="32" fill="hold" nodeType="clickEffect">
                                  <p:stCondLst>
                                    <p:cond delay="0"/>
                                  </p:stCondLst>
                                  <p:childTnLst>
                                    <p:set>
                                      <p:cBhvr>
                                        <p:cTn id="115" dur="1" fill="hold">
                                          <p:stCondLst>
                                            <p:cond delay="0"/>
                                          </p:stCondLst>
                                        </p:cTn>
                                        <p:tgtEl>
                                          <p:spTgt spid="159808"/>
                                        </p:tgtEl>
                                        <p:attrNameLst>
                                          <p:attrName>style.visibility</p:attrName>
                                        </p:attrNameLst>
                                      </p:cBhvr>
                                      <p:to>
                                        <p:strVal val="visible"/>
                                      </p:to>
                                    </p:set>
                                    <p:animEffect transition="in" filter="box(out)">
                                      <p:cBhvr>
                                        <p:cTn id="116" dur="500"/>
                                        <p:tgtEl>
                                          <p:spTgt spid="159808"/>
                                        </p:tgtEl>
                                      </p:cBhvr>
                                    </p:animEffect>
                                  </p:childTnLst>
                                  <p:subTnLst>
                                    <p:audio>
                                      <p:cMediaNode>
                                        <p:cTn display="0" masterRel="sameClick">
                                          <p:stCondLst>
                                            <p:cond evt="begin" delay="0">
                                              <p:tn val="114"/>
                                            </p:cond>
                                          </p:stCondLst>
                                          <p:endCondLst>
                                            <p:cond evt="onStopAudio" delay="0">
                                              <p:tgtEl>
                                                <p:sldTgt/>
                                              </p:tgtEl>
                                            </p:cond>
                                          </p:endCondLst>
                                        </p:cTn>
                                        <p:tgtEl>
                                          <p:sndTgt r:embed="rId2" name="CAMERA.WAV"/>
                                        </p:tgtEl>
                                      </p:cMediaNode>
                                    </p:audio>
                                  </p:subTnLst>
                                </p:cTn>
                              </p:par>
                            </p:childTnLst>
                          </p:cTn>
                        </p:par>
                      </p:childTnLst>
                    </p:cTn>
                  </p:par>
                  <p:par>
                    <p:cTn id="117" fill="hold" nodeType="clickPar">
                      <p:stCondLst>
                        <p:cond delay="indefinite"/>
                      </p:stCondLst>
                      <p:childTnLst>
                        <p:par>
                          <p:cTn id="118" fill="hold" nodeType="withGroup">
                            <p:stCondLst>
                              <p:cond delay="0"/>
                            </p:stCondLst>
                            <p:childTnLst>
                              <p:par>
                                <p:cTn id="119" presetID="4" presetClass="entr" presetSubtype="32" fill="hold" nodeType="clickEffect">
                                  <p:stCondLst>
                                    <p:cond delay="0"/>
                                  </p:stCondLst>
                                  <p:childTnLst>
                                    <p:set>
                                      <p:cBhvr>
                                        <p:cTn id="120" dur="1" fill="hold">
                                          <p:stCondLst>
                                            <p:cond delay="0"/>
                                          </p:stCondLst>
                                        </p:cTn>
                                        <p:tgtEl>
                                          <p:spTgt spid="159813"/>
                                        </p:tgtEl>
                                        <p:attrNameLst>
                                          <p:attrName>style.visibility</p:attrName>
                                        </p:attrNameLst>
                                      </p:cBhvr>
                                      <p:to>
                                        <p:strVal val="visible"/>
                                      </p:to>
                                    </p:set>
                                    <p:animEffect transition="in" filter="box(out)">
                                      <p:cBhvr>
                                        <p:cTn id="121" dur="500"/>
                                        <p:tgtEl>
                                          <p:spTgt spid="159813"/>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childTnLst>
                          </p:cTn>
                        </p:par>
                      </p:childTnLst>
                    </p:cTn>
                  </p:par>
                  <p:par>
                    <p:cTn id="122" fill="hold" nodeType="clickPar">
                      <p:stCondLst>
                        <p:cond delay="indefinite"/>
                      </p:stCondLst>
                      <p:childTnLst>
                        <p:par>
                          <p:cTn id="123" fill="hold" nodeType="withGroup">
                            <p:stCondLst>
                              <p:cond delay="0"/>
                            </p:stCondLst>
                            <p:childTnLst>
                              <p:par>
                                <p:cTn id="124" presetID="4" presetClass="entr" presetSubtype="32" fill="hold" nodeType="clickEffect">
                                  <p:stCondLst>
                                    <p:cond delay="0"/>
                                  </p:stCondLst>
                                  <p:childTnLst>
                                    <p:set>
                                      <p:cBhvr>
                                        <p:cTn id="125" dur="1" fill="hold">
                                          <p:stCondLst>
                                            <p:cond delay="0"/>
                                          </p:stCondLst>
                                        </p:cTn>
                                        <p:tgtEl>
                                          <p:spTgt spid="159818"/>
                                        </p:tgtEl>
                                        <p:attrNameLst>
                                          <p:attrName>style.visibility</p:attrName>
                                        </p:attrNameLst>
                                      </p:cBhvr>
                                      <p:to>
                                        <p:strVal val="visible"/>
                                      </p:to>
                                    </p:set>
                                    <p:animEffect transition="in" filter="box(out)">
                                      <p:cBhvr>
                                        <p:cTn id="126" dur="500"/>
                                        <p:tgtEl>
                                          <p:spTgt spid="159818"/>
                                        </p:tgtEl>
                                      </p:cBhvr>
                                    </p:animEffect>
                                  </p:childTnLst>
                                  <p:subTnLst>
                                    <p:audio>
                                      <p:cMediaNode>
                                        <p:cTn display="0" masterRel="sameClick">
                                          <p:stCondLst>
                                            <p:cond evt="begin" delay="0">
                                              <p:tn val="124"/>
                                            </p:cond>
                                          </p:stCondLst>
                                          <p:endCondLst>
                                            <p:cond evt="onStopAudio" delay="0">
                                              <p:tgtEl>
                                                <p:sldTgt/>
                                              </p:tgtEl>
                                            </p:cond>
                                          </p:endCondLst>
                                        </p:cTn>
                                        <p:tgtEl>
                                          <p:sndTgt r:embed="rId2" name="CAMERA.WAV"/>
                                        </p:tgtEl>
                                      </p:cMediaNode>
                                    </p:audio>
                                  </p:subTnLst>
                                </p:cTn>
                              </p:par>
                            </p:childTnLst>
                          </p:cTn>
                        </p:par>
                      </p:childTnLst>
                    </p:cTn>
                  </p:par>
                  <p:par>
                    <p:cTn id="127" fill="hold" nodeType="clickPar">
                      <p:stCondLst>
                        <p:cond delay="indefinite"/>
                      </p:stCondLst>
                      <p:childTnLst>
                        <p:par>
                          <p:cTn id="128" fill="hold" nodeType="withGroup">
                            <p:stCondLst>
                              <p:cond delay="0"/>
                            </p:stCondLst>
                            <p:childTnLst>
                              <p:par>
                                <p:cTn id="129" presetID="4" presetClass="entr" presetSubtype="32" fill="hold" grpId="0" nodeType="clickEffect">
                                  <p:stCondLst>
                                    <p:cond delay="0"/>
                                  </p:stCondLst>
                                  <p:childTnLst>
                                    <p:set>
                                      <p:cBhvr>
                                        <p:cTn id="130" dur="1" fill="hold">
                                          <p:stCondLst>
                                            <p:cond delay="0"/>
                                          </p:stCondLst>
                                        </p:cTn>
                                        <p:tgtEl>
                                          <p:spTgt spid="159823">
                                            <p:txEl>
                                              <p:pRg st="0" end="0"/>
                                            </p:txEl>
                                          </p:spTgt>
                                        </p:tgtEl>
                                        <p:attrNameLst>
                                          <p:attrName>style.visibility</p:attrName>
                                        </p:attrNameLst>
                                      </p:cBhvr>
                                      <p:to>
                                        <p:strVal val="visible"/>
                                      </p:to>
                                    </p:set>
                                    <p:animEffect transition="in" filter="box(out)">
                                      <p:cBhvr>
                                        <p:cTn id="131" dur="500"/>
                                        <p:tgtEl>
                                          <p:spTgt spid="159823">
                                            <p:txEl>
                                              <p:pRg st="0" end="0"/>
                                            </p:txEl>
                                          </p:spTgt>
                                        </p:tgtEl>
                                      </p:cBhvr>
                                    </p:animEffect>
                                  </p:childTnLst>
                                  <p:subTnLst>
                                    <p:audio>
                                      <p:cMediaNode>
                                        <p:cTn display="0" masterRel="sameClick">
                                          <p:stCondLst>
                                            <p:cond evt="begin" delay="0">
                                              <p:tn val="129"/>
                                            </p:cond>
                                          </p:stCondLst>
                                          <p:endCondLst>
                                            <p:cond evt="onStopAudio" delay="0">
                                              <p:tgtEl>
                                                <p:sldTgt/>
                                              </p:tgtEl>
                                            </p:cond>
                                          </p:endCondLst>
                                        </p:cTn>
                                        <p:tgtEl>
                                          <p:sndTgt r:embed="rId2" name="CAMERA.WAV"/>
                                        </p:tgtEl>
                                      </p:cMediaNode>
                                    </p:audio>
                                  </p:subTnLst>
                                </p:cTn>
                              </p:par>
                            </p:childTnLst>
                          </p:cTn>
                        </p:par>
                      </p:childTnLst>
                    </p:cTn>
                  </p:par>
                  <p:par>
                    <p:cTn id="132" fill="hold" nodeType="clickPar">
                      <p:stCondLst>
                        <p:cond delay="indefinite"/>
                      </p:stCondLst>
                      <p:childTnLst>
                        <p:par>
                          <p:cTn id="133" fill="hold" nodeType="withGroup">
                            <p:stCondLst>
                              <p:cond delay="0"/>
                            </p:stCondLst>
                            <p:childTnLst>
                              <p:par>
                                <p:cTn id="134" presetID="4" presetClass="entr" presetSubtype="32" fill="hold" grpId="0" nodeType="clickEffect">
                                  <p:stCondLst>
                                    <p:cond delay="0"/>
                                  </p:stCondLst>
                                  <p:childTnLst>
                                    <p:set>
                                      <p:cBhvr>
                                        <p:cTn id="135" dur="1" fill="hold">
                                          <p:stCondLst>
                                            <p:cond delay="0"/>
                                          </p:stCondLst>
                                        </p:cTn>
                                        <p:tgtEl>
                                          <p:spTgt spid="159824">
                                            <p:txEl>
                                              <p:pRg st="0" end="0"/>
                                            </p:txEl>
                                          </p:spTgt>
                                        </p:tgtEl>
                                        <p:attrNameLst>
                                          <p:attrName>style.visibility</p:attrName>
                                        </p:attrNameLst>
                                      </p:cBhvr>
                                      <p:to>
                                        <p:strVal val="visible"/>
                                      </p:to>
                                    </p:set>
                                    <p:animEffect transition="in" filter="box(out)">
                                      <p:cBhvr>
                                        <p:cTn id="136" dur="500"/>
                                        <p:tgtEl>
                                          <p:spTgt spid="159824">
                                            <p:txEl>
                                              <p:pRg st="0" end="0"/>
                                            </p:txEl>
                                          </p:spTgt>
                                        </p:tgtEl>
                                      </p:cBhvr>
                                    </p:animEffect>
                                  </p:childTnLst>
                                  <p:subTnLst>
                                    <p:audio>
                                      <p:cMediaNode>
                                        <p:cTn display="0" masterRel="sameClick">
                                          <p:stCondLst>
                                            <p:cond evt="begin" delay="0">
                                              <p:tn val="13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p:bldP spid="159775" grpId="0" build="p" autoUpdateAnimBg="0"/>
      <p:bldP spid="159776" grpId="0" animBg="1" autoUpdateAnimBg="0"/>
      <p:bldP spid="159777" grpId="0" animBg="1" autoUpdateAnimBg="0"/>
      <p:bldP spid="159778" grpId="0" build="p" autoUpdateAnimBg="0"/>
      <p:bldP spid="159779" grpId="0" build="p" autoUpdateAnimBg="0"/>
      <p:bldP spid="159801" grpId="0" animBg="1" autoUpdateAnimBg="0"/>
      <p:bldP spid="159802" grpId="0" animBg="1" autoUpdateAnimBg="0"/>
      <p:bldP spid="159823" grpId="0" build="p" autoUpdateAnimBg="0"/>
      <p:bldP spid="159824"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AutoShape 2" descr="白色大理石"/>
          <p:cNvSpPr>
            <a:spLocks noChangeArrowheads="1"/>
          </p:cNvSpPr>
          <p:nvPr/>
        </p:nvSpPr>
        <p:spPr bwMode="auto">
          <a:xfrm>
            <a:off x="609600" y="5791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1795" name="AutoShape 3" descr="白色大理石"/>
          <p:cNvSpPr>
            <a:spLocks noChangeArrowheads="1"/>
          </p:cNvSpPr>
          <p:nvPr/>
        </p:nvSpPr>
        <p:spPr bwMode="auto">
          <a:xfrm>
            <a:off x="609600" y="43434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1796" name="AutoShape 4" descr="白色大理石"/>
          <p:cNvSpPr>
            <a:spLocks noChangeArrowheads="1"/>
          </p:cNvSpPr>
          <p:nvPr/>
        </p:nvSpPr>
        <p:spPr bwMode="auto">
          <a:xfrm>
            <a:off x="609600" y="28956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1797" name="AutoShape 5" descr="白色大理石"/>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1798" name="Rectangle 6"/>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0" hangingPunct="0"/>
            <a:endParaRPr lang="zh-CN" altLang="zh-CN" sz="3200" b="1">
              <a:solidFill>
                <a:schemeClr val="tx2"/>
              </a:solidFill>
            </a:endParaRPr>
          </a:p>
        </p:txBody>
      </p:sp>
      <p:sp>
        <p:nvSpPr>
          <p:cNvPr id="161799" name="AutoShape 7"/>
          <p:cNvSpPr>
            <a:spLocks noChangeArrowheads="1"/>
          </p:cNvSpPr>
          <p:nvPr/>
        </p:nvSpPr>
        <p:spPr bwMode="auto">
          <a:xfrm>
            <a:off x="1676400" y="8382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21</a:t>
            </a:r>
            <a:endParaRPr lang="en-US" altLang="zh-CN">
              <a:effectLst>
                <a:outerShdw blurRad="38100" dist="38100" dir="2700000" algn="tl">
                  <a:srgbClr val="FFFFFF"/>
                </a:outerShdw>
              </a:effectLst>
            </a:endParaRPr>
          </a:p>
        </p:txBody>
      </p:sp>
      <p:sp>
        <p:nvSpPr>
          <p:cNvPr id="161800" name="AutoShape 8"/>
          <p:cNvSpPr>
            <a:spLocks noChangeArrowheads="1"/>
          </p:cNvSpPr>
          <p:nvPr/>
        </p:nvSpPr>
        <p:spPr bwMode="auto">
          <a:xfrm>
            <a:off x="26670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01" name="AutoShape 9"/>
          <p:cNvSpPr>
            <a:spLocks noChangeArrowheads="1"/>
          </p:cNvSpPr>
          <p:nvPr/>
        </p:nvSpPr>
        <p:spPr bwMode="auto">
          <a:xfrm>
            <a:off x="36576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1802" name="AutoShape 10"/>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03" name="AutoShape 11"/>
          <p:cNvSpPr>
            <a:spLocks noChangeArrowheads="1"/>
          </p:cNvSpPr>
          <p:nvPr/>
        </p:nvSpPr>
        <p:spPr bwMode="auto">
          <a:xfrm>
            <a:off x="5638800" y="9144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16</a:t>
            </a:r>
            <a:endParaRPr lang="en-US" altLang="zh-CN">
              <a:solidFill>
                <a:schemeClr val="tx2"/>
              </a:solidFill>
              <a:effectLst>
                <a:outerShdw blurRad="38100" dist="38100" dir="2700000" algn="tl">
                  <a:srgbClr val="FFFFFF"/>
                </a:outerShdw>
              </a:effectLst>
            </a:endParaRPr>
          </a:p>
        </p:txBody>
      </p:sp>
      <p:sp>
        <p:nvSpPr>
          <p:cNvPr id="161804" name="AutoShape 12"/>
          <p:cNvSpPr>
            <a:spLocks noChangeArrowheads="1"/>
          </p:cNvSpPr>
          <p:nvPr/>
        </p:nvSpPr>
        <p:spPr bwMode="auto">
          <a:xfrm>
            <a:off x="6629400" y="12192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08</a:t>
            </a:r>
            <a:endParaRPr lang="en-US" altLang="zh-CN">
              <a:effectLst>
                <a:outerShdw blurRad="38100" dist="38100" dir="2700000" algn="tl">
                  <a:srgbClr val="FFFFFF"/>
                </a:outerShdw>
              </a:effectLst>
            </a:endParaRPr>
          </a:p>
        </p:txBody>
      </p:sp>
      <p:sp>
        <p:nvSpPr>
          <p:cNvPr id="161805" name="Text Box 13"/>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b="1">
                <a:solidFill>
                  <a:srgbClr val="000099"/>
                </a:solidFill>
              </a:rPr>
              <a:t>0           1           2           3           4           5</a:t>
            </a:r>
            <a:endParaRPr lang="en-US" altLang="zh-CN">
              <a:solidFill>
                <a:srgbClr val="000099"/>
              </a:solidFill>
            </a:endParaRPr>
          </a:p>
        </p:txBody>
      </p:sp>
      <p:sp>
        <p:nvSpPr>
          <p:cNvPr id="161806" name="AutoShape 14"/>
          <p:cNvSpPr>
            <a:spLocks noChangeArrowheads="1"/>
          </p:cNvSpPr>
          <p:nvPr/>
        </p:nvSpPr>
        <p:spPr bwMode="auto">
          <a:xfrm>
            <a:off x="1676400" y="25146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21</a:t>
            </a:r>
            <a:endParaRPr lang="en-US" altLang="zh-CN">
              <a:solidFill>
                <a:schemeClr val="bg2"/>
              </a:solidFill>
              <a:effectLst>
                <a:outerShdw blurRad="38100" dist="38100" dir="2700000" algn="tl">
                  <a:srgbClr val="000000"/>
                </a:outerShdw>
              </a:effectLst>
            </a:endParaRPr>
          </a:p>
        </p:txBody>
      </p:sp>
      <p:sp>
        <p:nvSpPr>
          <p:cNvPr id="161807" name="AutoShape 15"/>
          <p:cNvSpPr>
            <a:spLocks noChangeArrowheads="1"/>
          </p:cNvSpPr>
          <p:nvPr/>
        </p:nvSpPr>
        <p:spPr bwMode="auto">
          <a:xfrm>
            <a:off x="46482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08" name="Text Box 16"/>
          <p:cNvSpPr txBox="1">
            <a:spLocks noChangeArrowheads="1"/>
          </p:cNvSpPr>
          <p:nvPr/>
        </p:nvSpPr>
        <p:spPr bwMode="auto">
          <a:xfrm>
            <a:off x="436563" y="2468563"/>
            <a:ext cx="868362"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sz="3200" b="1" i="1">
                <a:solidFill>
                  <a:schemeClr val="hlink"/>
                </a:solidFill>
                <a:effectLst>
                  <a:outerShdw blurRad="38100" dist="38100" dir="2700000" algn="tl">
                    <a:srgbClr val="000000"/>
                  </a:outerShdw>
                </a:effectLst>
              </a:rPr>
              <a:t>i </a:t>
            </a:r>
            <a:r>
              <a:rPr lang="en-US" altLang="zh-CN" sz="2800" b="1">
                <a:solidFill>
                  <a:schemeClr val="hlink"/>
                </a:solidFill>
                <a:effectLst>
                  <a:outerShdw blurRad="38100" dist="38100" dir="2700000" algn="tl">
                    <a:srgbClr val="000000"/>
                  </a:outerShdw>
                </a:effectLst>
              </a:rPr>
              <a:t>= 0</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09" name="AutoShape 17"/>
          <p:cNvSpPr>
            <a:spLocks noChangeArrowheads="1"/>
          </p:cNvSpPr>
          <p:nvPr/>
        </p:nvSpPr>
        <p:spPr bwMode="auto">
          <a:xfrm>
            <a:off x="3657600" y="5029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1810" name="AutoShape 18"/>
          <p:cNvSpPr>
            <a:spLocks noChangeArrowheads="1"/>
          </p:cNvSpPr>
          <p:nvPr/>
        </p:nvSpPr>
        <p:spPr bwMode="auto">
          <a:xfrm>
            <a:off x="26670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b="1">
              <a:effectLst>
                <a:outerShdw blurRad="38100" dist="38100" dir="2700000" algn="tl">
                  <a:srgbClr val="FFFFFF"/>
                </a:outerShdw>
              </a:effectLst>
            </a:endParaRPr>
          </a:p>
        </p:txBody>
      </p:sp>
      <p:sp>
        <p:nvSpPr>
          <p:cNvPr id="161811" name="AutoShape 19"/>
          <p:cNvSpPr>
            <a:spLocks noChangeArrowheads="1"/>
          </p:cNvSpPr>
          <p:nvPr/>
        </p:nvSpPr>
        <p:spPr bwMode="auto">
          <a:xfrm>
            <a:off x="5638800" y="40386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effectLst>
                  <a:outerShdw blurRad="38100" dist="38100" dir="2700000" algn="tl">
                    <a:srgbClr val="FFFFFF"/>
                  </a:outerShdw>
                </a:effectLst>
                <a:latin typeface="Arial" charset="0"/>
              </a:rPr>
              <a:t>16</a:t>
            </a:r>
            <a:endParaRPr lang="en-US" altLang="zh-CN">
              <a:effectLst>
                <a:outerShdw blurRad="38100" dist="38100" dir="2700000" algn="tl">
                  <a:srgbClr val="FFFFFF"/>
                </a:outerShdw>
              </a:effectLst>
            </a:endParaRPr>
          </a:p>
        </p:txBody>
      </p:sp>
      <p:sp>
        <p:nvSpPr>
          <p:cNvPr id="161812" name="AutoShape 20"/>
          <p:cNvSpPr>
            <a:spLocks noChangeArrowheads="1"/>
          </p:cNvSpPr>
          <p:nvPr/>
        </p:nvSpPr>
        <p:spPr bwMode="auto">
          <a:xfrm>
            <a:off x="26670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13" name="AutoShape 21"/>
          <p:cNvSpPr>
            <a:spLocks noChangeArrowheads="1"/>
          </p:cNvSpPr>
          <p:nvPr/>
        </p:nvSpPr>
        <p:spPr bwMode="auto">
          <a:xfrm>
            <a:off x="5638800" y="2590800"/>
            <a:ext cx="533400" cy="685800"/>
          </a:xfrm>
          <a:prstGeom prst="can">
            <a:avLst>
              <a:gd name="adj" fmla="val 32143"/>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16</a:t>
            </a:r>
            <a:endParaRPr lang="en-US" altLang="zh-CN">
              <a:effectLst>
                <a:outerShdw blurRad="38100" dist="38100" dir="2700000" algn="tl">
                  <a:srgbClr val="FFFFFF"/>
                </a:outerShdw>
              </a:effectLst>
            </a:endParaRPr>
          </a:p>
        </p:txBody>
      </p:sp>
      <p:sp>
        <p:nvSpPr>
          <p:cNvPr id="161814" name="AutoShape 22"/>
          <p:cNvSpPr>
            <a:spLocks noChangeArrowheads="1"/>
          </p:cNvSpPr>
          <p:nvPr/>
        </p:nvSpPr>
        <p:spPr bwMode="auto">
          <a:xfrm>
            <a:off x="1676400" y="4343400"/>
            <a:ext cx="533400" cy="381000"/>
          </a:xfrm>
          <a:prstGeom prst="can">
            <a:avLst>
              <a:gd name="adj" fmla="val 25000"/>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08</a:t>
            </a:r>
            <a:endParaRPr lang="en-US" altLang="zh-CN">
              <a:solidFill>
                <a:schemeClr val="bg2"/>
              </a:solidFill>
              <a:effectLst>
                <a:outerShdw blurRad="38100" dist="38100" dir="2700000" algn="tl">
                  <a:srgbClr val="000000"/>
                </a:outerShdw>
              </a:effectLst>
            </a:endParaRPr>
          </a:p>
        </p:txBody>
      </p:sp>
      <p:sp>
        <p:nvSpPr>
          <p:cNvPr id="161815" name="AutoShape 23"/>
          <p:cNvSpPr>
            <a:spLocks noChangeArrowheads="1"/>
          </p:cNvSpPr>
          <p:nvPr/>
        </p:nvSpPr>
        <p:spPr bwMode="auto">
          <a:xfrm>
            <a:off x="36576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1816" name="AutoShape 24"/>
          <p:cNvSpPr>
            <a:spLocks noChangeArrowheads="1"/>
          </p:cNvSpPr>
          <p:nvPr/>
        </p:nvSpPr>
        <p:spPr bwMode="auto">
          <a:xfrm>
            <a:off x="6629400" y="2895600"/>
            <a:ext cx="533400" cy="381000"/>
          </a:xfrm>
          <a:prstGeom prst="can">
            <a:avLst>
              <a:gd name="adj" fmla="val 25000"/>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effectLst>
                  <a:outerShdw blurRad="38100" dist="38100" dir="2700000" algn="tl">
                    <a:srgbClr val="FFFFFF"/>
                  </a:outerShdw>
                </a:effectLst>
                <a:latin typeface="Arial" charset="0"/>
              </a:rPr>
              <a:t>08</a:t>
            </a:r>
            <a:endParaRPr lang="en-US" altLang="zh-CN">
              <a:effectLst>
                <a:outerShdw blurRad="38100" dist="38100" dir="2700000" algn="tl">
                  <a:srgbClr val="FFFFFF"/>
                </a:outerShdw>
              </a:effectLst>
            </a:endParaRPr>
          </a:p>
        </p:txBody>
      </p:sp>
      <p:sp>
        <p:nvSpPr>
          <p:cNvPr id="161817" name="AutoShape 25"/>
          <p:cNvSpPr>
            <a:spLocks noChangeArrowheads="1"/>
          </p:cNvSpPr>
          <p:nvPr/>
        </p:nvSpPr>
        <p:spPr bwMode="auto">
          <a:xfrm>
            <a:off x="4648200" y="38862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18" name="AutoShape 26"/>
          <p:cNvSpPr>
            <a:spLocks noChangeArrowheads="1"/>
          </p:cNvSpPr>
          <p:nvPr/>
        </p:nvSpPr>
        <p:spPr bwMode="auto">
          <a:xfrm>
            <a:off x="36576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1819" name="AutoShape 27"/>
          <p:cNvSpPr>
            <a:spLocks noChangeArrowheads="1"/>
          </p:cNvSpPr>
          <p:nvPr/>
        </p:nvSpPr>
        <p:spPr bwMode="auto">
          <a:xfrm>
            <a:off x="6629400" y="39624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21</a:t>
            </a:r>
            <a:endParaRPr lang="en-US" altLang="zh-CN">
              <a:effectLst>
                <a:outerShdw blurRad="38100" dist="38100" dir="2700000" algn="tl">
                  <a:srgbClr val="FFFFFF"/>
                </a:outerShdw>
              </a:effectLst>
            </a:endParaRPr>
          </a:p>
        </p:txBody>
      </p:sp>
      <p:sp>
        <p:nvSpPr>
          <p:cNvPr id="161820" name="Text Box 28"/>
          <p:cNvSpPr txBox="1">
            <a:spLocks noChangeArrowheads="1"/>
          </p:cNvSpPr>
          <p:nvPr/>
        </p:nvSpPr>
        <p:spPr bwMode="auto">
          <a:xfrm>
            <a:off x="457200" y="3886200"/>
            <a:ext cx="8683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sz="3200" b="1" i="1">
                <a:solidFill>
                  <a:schemeClr val="hlink"/>
                </a:solidFill>
                <a:effectLst>
                  <a:outerShdw blurRad="38100" dist="38100" dir="2700000" algn="tl">
                    <a:srgbClr val="000000"/>
                  </a:outerShdw>
                </a:effectLst>
              </a:rPr>
              <a:t>i </a:t>
            </a:r>
            <a:r>
              <a:rPr lang="en-US" altLang="zh-CN" sz="2800" b="1">
                <a:solidFill>
                  <a:schemeClr val="hlink"/>
                </a:solidFill>
                <a:effectLst>
                  <a:outerShdw blurRad="38100" dist="38100" dir="2700000" algn="tl">
                    <a:srgbClr val="000000"/>
                  </a:outerShdw>
                </a:effectLst>
              </a:rPr>
              <a:t>= 1</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21" name="Text Box 29"/>
          <p:cNvSpPr txBox="1">
            <a:spLocks noChangeArrowheads="1"/>
          </p:cNvSpPr>
          <p:nvPr/>
        </p:nvSpPr>
        <p:spPr bwMode="auto">
          <a:xfrm>
            <a:off x="457200" y="5334000"/>
            <a:ext cx="8683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sz="3200" b="1" i="1">
                <a:solidFill>
                  <a:schemeClr val="hlink"/>
                </a:solidFill>
                <a:effectLst>
                  <a:outerShdw blurRad="38100" dist="38100" dir="2700000" algn="tl">
                    <a:srgbClr val="000000"/>
                  </a:outerShdw>
                </a:effectLst>
              </a:rPr>
              <a:t>i </a:t>
            </a:r>
            <a:r>
              <a:rPr lang="en-US" altLang="zh-CN" sz="2800" b="1">
                <a:solidFill>
                  <a:schemeClr val="hlink"/>
                </a:solidFill>
                <a:effectLst>
                  <a:outerShdw blurRad="38100" dist="38100" dir="2700000" algn="tl">
                    <a:srgbClr val="000000"/>
                  </a:outerShdw>
                </a:effectLst>
              </a:rPr>
              <a:t>= 2</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22" name="AutoShape 30"/>
          <p:cNvSpPr>
            <a:spLocks noChangeArrowheads="1"/>
          </p:cNvSpPr>
          <p:nvPr/>
        </p:nvSpPr>
        <p:spPr bwMode="auto">
          <a:xfrm>
            <a:off x="1676400" y="5791200"/>
            <a:ext cx="533400" cy="381000"/>
          </a:xfrm>
          <a:prstGeom prst="can">
            <a:avLst>
              <a:gd name="adj" fmla="val 25000"/>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61823" name="AutoShape 31"/>
          <p:cNvSpPr>
            <a:spLocks noChangeArrowheads="1"/>
          </p:cNvSpPr>
          <p:nvPr/>
        </p:nvSpPr>
        <p:spPr bwMode="auto">
          <a:xfrm>
            <a:off x="2667000" y="5486400"/>
            <a:ext cx="533400" cy="685800"/>
          </a:xfrm>
          <a:prstGeom prst="can">
            <a:avLst>
              <a:gd name="adj" fmla="val 32143"/>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16</a:t>
            </a:r>
            <a:endParaRPr lang="en-US" altLang="zh-CN">
              <a:solidFill>
                <a:schemeClr val="bg2"/>
              </a:solidFill>
              <a:effectLst>
                <a:outerShdw blurRad="38100" dist="38100" dir="2700000" algn="tl">
                  <a:srgbClr val="000000"/>
                </a:outerShdw>
              </a:effectLst>
            </a:endParaRPr>
          </a:p>
        </p:txBody>
      </p:sp>
      <p:sp>
        <p:nvSpPr>
          <p:cNvPr id="161824" name="AutoShape 32"/>
          <p:cNvSpPr>
            <a:spLocks noChangeArrowheads="1"/>
          </p:cNvSpPr>
          <p:nvPr/>
        </p:nvSpPr>
        <p:spPr bwMode="auto">
          <a:xfrm>
            <a:off x="46482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a:effectLst>
                <a:outerShdw blurRad="38100" dist="38100" dir="2700000" algn="tl">
                  <a:srgbClr val="FFFFFF"/>
                </a:outerShdw>
              </a:effectLst>
            </a:endParaRPr>
          </a:p>
        </p:txBody>
      </p:sp>
      <p:sp>
        <p:nvSpPr>
          <p:cNvPr id="161825" name="AutoShape 33"/>
          <p:cNvSpPr>
            <a:spLocks noChangeArrowheads="1"/>
          </p:cNvSpPr>
          <p:nvPr/>
        </p:nvSpPr>
        <p:spPr bwMode="auto">
          <a:xfrm>
            <a:off x="5638800" y="52578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b="1">
              <a:effectLst>
                <a:outerShdw blurRad="38100" dist="38100" dir="2700000" algn="tl">
                  <a:srgbClr val="FFFFFF"/>
                </a:outerShdw>
              </a:effectLst>
            </a:endParaRPr>
          </a:p>
        </p:txBody>
      </p:sp>
      <p:sp>
        <p:nvSpPr>
          <p:cNvPr id="161826" name="AutoShape 34"/>
          <p:cNvSpPr>
            <a:spLocks noChangeArrowheads="1"/>
          </p:cNvSpPr>
          <p:nvPr/>
        </p:nvSpPr>
        <p:spPr bwMode="auto">
          <a:xfrm>
            <a:off x="6629400" y="5334000"/>
            <a:ext cx="533400" cy="762000"/>
          </a:xfrm>
          <a:prstGeom prst="can">
            <a:avLst>
              <a:gd name="adj" fmla="val 35714"/>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effectLst>
                  <a:outerShdw blurRad="38100" dist="38100" dir="2700000" algn="tl">
                    <a:srgbClr val="FFFFFF"/>
                  </a:outerShdw>
                </a:effectLst>
                <a:latin typeface="Arial" charset="0"/>
              </a:rPr>
              <a:t>21</a:t>
            </a:r>
            <a:endParaRPr lang="en-US" altLang="zh-CN">
              <a:effectLst>
                <a:outerShdw blurRad="38100" dist="38100" dir="2700000" algn="tl">
                  <a:srgbClr val="FFFFFF"/>
                </a:outerShdw>
              </a:effectLst>
            </a:endParaRPr>
          </a:p>
        </p:txBody>
      </p:sp>
      <p:sp>
        <p:nvSpPr>
          <p:cNvPr id="161827" name="Text Box 35"/>
          <p:cNvSpPr txBox="1">
            <a:spLocks noChangeArrowheads="1"/>
          </p:cNvSpPr>
          <p:nvPr/>
        </p:nvSpPr>
        <p:spPr bwMode="auto">
          <a:xfrm>
            <a:off x="441325" y="806450"/>
            <a:ext cx="9017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zh-CN" altLang="en-US" sz="2800" b="1">
                <a:solidFill>
                  <a:schemeClr val="tx2"/>
                </a:solidFill>
                <a:effectLst>
                  <a:outerShdw blurRad="38100" dist="38100" dir="2700000" algn="tl">
                    <a:srgbClr val="FFFFFF"/>
                  </a:outerShdw>
                </a:effectLst>
                <a:ea typeface="隶书" charset="0"/>
              </a:rPr>
              <a:t>初始</a:t>
            </a:r>
            <a:endParaRPr lang="zh-CN" altLang="en-US">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28" name="Text Box 36"/>
          <p:cNvSpPr txBox="1">
            <a:spLocks noChangeArrowheads="1"/>
          </p:cNvSpPr>
          <p:nvPr/>
        </p:nvSpPr>
        <p:spPr bwMode="auto">
          <a:xfrm>
            <a:off x="7239000" y="2111375"/>
            <a:ext cx="1695450"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lnSpc>
                <a:spcPct val="90000"/>
              </a:lnSpc>
            </a:pPr>
            <a:r>
              <a:rPr lang="zh-CN" altLang="en-US" sz="2800" b="1">
                <a:solidFill>
                  <a:srgbClr val="000099"/>
                </a:solidFill>
                <a:ea typeface="隶书" charset="0"/>
              </a:rPr>
              <a:t>最小者</a:t>
            </a:r>
            <a:r>
              <a:rPr lang="zh-CN" altLang="en-US" sz="2800" b="1">
                <a:solidFill>
                  <a:srgbClr val="000099"/>
                </a:solidFill>
                <a:effectLst>
                  <a:outerShdw blurRad="38100" dist="38100" dir="2700000" algn="tl">
                    <a:srgbClr val="000000"/>
                  </a:outerShdw>
                </a:effectLst>
                <a:ea typeface="仿宋_GB2312" charset="0"/>
              </a:rPr>
              <a:t> </a:t>
            </a:r>
            <a:r>
              <a:rPr lang="en-US" altLang="zh-CN" sz="2800" b="1">
                <a:solidFill>
                  <a:srgbClr val="000099"/>
                </a:solidFill>
                <a:effectLst>
                  <a:outerShdw blurRad="38100" dist="38100" dir="2700000" algn="tl">
                    <a:srgbClr val="000000"/>
                  </a:outerShdw>
                </a:effectLst>
                <a:ea typeface="仿宋_GB2312" charset="0"/>
              </a:rPr>
              <a:t>08</a:t>
            </a:r>
          </a:p>
          <a:p>
            <a:pPr algn="l">
              <a:lnSpc>
                <a:spcPct val="90000"/>
              </a:lnSpc>
            </a:pPr>
            <a:r>
              <a:rPr lang="zh-CN" altLang="en-US" sz="2800" b="1">
                <a:solidFill>
                  <a:srgbClr val="000099"/>
                </a:solidFill>
                <a:effectLst>
                  <a:outerShdw blurRad="38100" dist="38100" dir="2700000" algn="tl">
                    <a:srgbClr val="000000"/>
                  </a:outerShdw>
                </a:effectLst>
                <a:ea typeface="隶书" charset="0"/>
              </a:rPr>
              <a:t>交换</a:t>
            </a:r>
            <a:r>
              <a:rPr lang="en-US" altLang="zh-CN" sz="2800" b="1">
                <a:solidFill>
                  <a:srgbClr val="000099"/>
                </a:solidFill>
                <a:effectLst>
                  <a:outerShdw blurRad="38100" dist="38100" dir="2700000" algn="tl">
                    <a:srgbClr val="000000"/>
                  </a:outerShdw>
                </a:effectLst>
                <a:ea typeface="仿宋_GB2312" charset="0"/>
              </a:rPr>
              <a:t>21,08</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29" name="Text Box 37"/>
          <p:cNvSpPr txBox="1">
            <a:spLocks noChangeArrowheads="1"/>
          </p:cNvSpPr>
          <p:nvPr/>
        </p:nvSpPr>
        <p:spPr bwMode="auto">
          <a:xfrm>
            <a:off x="7210425" y="3559175"/>
            <a:ext cx="1695450"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lnSpc>
                <a:spcPct val="90000"/>
              </a:lnSpc>
            </a:pPr>
            <a:r>
              <a:rPr lang="zh-CN" altLang="en-US" sz="2800" b="1">
                <a:solidFill>
                  <a:srgbClr val="000099"/>
                </a:solidFill>
                <a:ea typeface="隶书" charset="0"/>
              </a:rPr>
              <a:t>最小者</a:t>
            </a:r>
            <a:r>
              <a:rPr lang="zh-CN" altLang="en-US" sz="2800" b="1">
                <a:solidFill>
                  <a:srgbClr val="000099"/>
                </a:solidFill>
                <a:effectLst>
                  <a:outerShdw blurRad="38100" dist="38100" dir="2700000" algn="tl">
                    <a:srgbClr val="000000"/>
                  </a:outerShdw>
                </a:effectLst>
                <a:ea typeface="仿宋_GB2312" charset="0"/>
              </a:rPr>
              <a:t> </a:t>
            </a:r>
            <a:r>
              <a:rPr lang="en-US" altLang="zh-CN" sz="2800" b="1">
                <a:solidFill>
                  <a:srgbClr val="000099"/>
                </a:solidFill>
                <a:effectLst>
                  <a:outerShdw blurRad="38100" dist="38100" dir="2700000" algn="tl">
                    <a:srgbClr val="000000"/>
                  </a:outerShdw>
                </a:effectLst>
                <a:ea typeface="仿宋_GB2312" charset="0"/>
              </a:rPr>
              <a:t>16</a:t>
            </a:r>
          </a:p>
          <a:p>
            <a:pPr algn="l">
              <a:lnSpc>
                <a:spcPct val="90000"/>
              </a:lnSpc>
            </a:pPr>
            <a:r>
              <a:rPr lang="zh-CN" altLang="en-US" sz="2800" b="1">
                <a:solidFill>
                  <a:srgbClr val="000099"/>
                </a:solidFill>
                <a:effectLst>
                  <a:outerShdw blurRad="38100" dist="38100" dir="2700000" algn="tl">
                    <a:srgbClr val="000000"/>
                  </a:outerShdw>
                </a:effectLst>
                <a:ea typeface="隶书" charset="0"/>
              </a:rPr>
              <a:t>交换</a:t>
            </a:r>
            <a:r>
              <a:rPr lang="en-US" altLang="zh-CN" sz="2800" b="1">
                <a:solidFill>
                  <a:srgbClr val="000099"/>
                </a:solidFill>
                <a:effectLst>
                  <a:outerShdw blurRad="38100" dist="38100" dir="2700000" algn="tl">
                    <a:srgbClr val="000000"/>
                  </a:outerShdw>
                </a:effectLst>
                <a:ea typeface="隶书" charset="0"/>
              </a:rPr>
              <a:t>25,16</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1830" name="Text Box 38"/>
          <p:cNvSpPr txBox="1">
            <a:spLocks noChangeArrowheads="1"/>
          </p:cNvSpPr>
          <p:nvPr/>
        </p:nvSpPr>
        <p:spPr bwMode="auto">
          <a:xfrm>
            <a:off x="7239000" y="5006975"/>
            <a:ext cx="1695450"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lnSpc>
                <a:spcPct val="90000"/>
              </a:lnSpc>
            </a:pPr>
            <a:r>
              <a:rPr lang="zh-CN" altLang="en-US" sz="2800" b="1">
                <a:solidFill>
                  <a:srgbClr val="000099"/>
                </a:solidFill>
                <a:ea typeface="隶书" charset="0"/>
              </a:rPr>
              <a:t>最小者</a:t>
            </a:r>
            <a:r>
              <a:rPr lang="zh-CN" altLang="en-US" sz="2800" b="1">
                <a:solidFill>
                  <a:srgbClr val="000099"/>
                </a:solidFill>
                <a:effectLst>
                  <a:outerShdw blurRad="38100" dist="38100" dir="2700000" algn="tl">
                    <a:srgbClr val="000000"/>
                  </a:outerShdw>
                </a:effectLst>
                <a:ea typeface="仿宋_GB2312" charset="0"/>
              </a:rPr>
              <a:t> </a:t>
            </a:r>
            <a:r>
              <a:rPr lang="en-US" altLang="zh-CN" sz="2800" b="1">
                <a:solidFill>
                  <a:srgbClr val="000099"/>
                </a:solidFill>
                <a:effectLst>
                  <a:outerShdw blurRad="38100" dist="38100" dir="2700000" algn="tl">
                    <a:srgbClr val="000000"/>
                  </a:outerShdw>
                </a:effectLst>
                <a:ea typeface="仿宋_GB2312" charset="0"/>
              </a:rPr>
              <a:t>21</a:t>
            </a:r>
          </a:p>
          <a:p>
            <a:pPr algn="l">
              <a:lnSpc>
                <a:spcPct val="90000"/>
              </a:lnSpc>
            </a:pPr>
            <a:r>
              <a:rPr lang="zh-CN" altLang="en-US" sz="2800" b="1">
                <a:solidFill>
                  <a:srgbClr val="000099"/>
                </a:solidFill>
                <a:effectLst>
                  <a:outerShdw blurRad="38100" dist="38100" dir="2700000" algn="tl">
                    <a:srgbClr val="000000"/>
                  </a:outerShdw>
                </a:effectLst>
                <a:ea typeface="隶书" charset="0"/>
              </a:rPr>
              <a:t>交换</a:t>
            </a:r>
            <a:r>
              <a:rPr lang="en-US" altLang="zh-CN" sz="2800" b="1">
                <a:solidFill>
                  <a:srgbClr val="000099"/>
                </a:solidFill>
                <a:effectLst>
                  <a:outerShdw blurRad="38100" dist="38100" dir="2700000" algn="tl">
                    <a:srgbClr val="000000"/>
                  </a:outerShdw>
                </a:effectLst>
                <a:ea typeface="隶书" charset="0"/>
              </a:rPr>
              <a:t>49,21</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Tree>
    <p:extLst>
      <p:ext uri="{BB962C8B-B14F-4D97-AF65-F5344CB8AC3E}">
        <p14:creationId xmlns:p14="http://schemas.microsoft.com/office/powerpoint/2010/main" val="1198430036"/>
      </p:ext>
    </p:extLst>
  </p:cSld>
  <p:clrMapOvr>
    <a:masterClrMapping/>
  </p:clrMapOvr>
  <p:transition>
    <p:wipe dir="d"/>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AutoShape 2" descr="白色大理石"/>
          <p:cNvSpPr>
            <a:spLocks noChangeArrowheads="1"/>
          </p:cNvSpPr>
          <p:nvPr/>
        </p:nvSpPr>
        <p:spPr bwMode="auto">
          <a:xfrm>
            <a:off x="609600" y="43434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2819" name="AutoShape 3" descr="白色大理石"/>
          <p:cNvSpPr>
            <a:spLocks noChangeArrowheads="1"/>
          </p:cNvSpPr>
          <p:nvPr/>
        </p:nvSpPr>
        <p:spPr bwMode="auto">
          <a:xfrm>
            <a:off x="609600" y="28956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2820" name="AutoShape 4" descr="白色大理石"/>
          <p:cNvSpPr>
            <a:spLocks noChangeArrowheads="1"/>
          </p:cNvSpPr>
          <p:nvPr/>
        </p:nvSpPr>
        <p:spPr bwMode="auto">
          <a:xfrm>
            <a:off x="609600" y="1219200"/>
            <a:ext cx="7696200" cy="457200"/>
          </a:xfrm>
          <a:prstGeom prst="parallelogram">
            <a:avLst>
              <a:gd name="adj" fmla="val 243616"/>
            </a:avLst>
          </a:prstGeom>
          <a:blipFill dpi="0" rotWithShape="0">
            <a:blip r:embed="rId2"/>
            <a:srcRect/>
            <a:tile tx="0" ty="0" sx="100000" sy="100000" flip="none" algn="tl"/>
          </a:blipFill>
          <a:ln w="9525">
            <a:solidFill>
              <a:schemeClr val="bg1"/>
            </a:solidFill>
            <a:miter lim="800000"/>
            <a:headEnd/>
            <a:tailEnd/>
          </a:ln>
          <a:effectLst>
            <a:outerShdw blurRad="63500" dist="107763" dir="2700000" algn="ctr" rotWithShape="0">
              <a:srgbClr val="000000">
                <a:alpha val="74998"/>
              </a:srgbClr>
            </a:outerShdw>
          </a:effectLst>
        </p:spPr>
        <p:txBody>
          <a:bodyPr wrap="none" anchor="ctr"/>
          <a:lstStyle/>
          <a:p>
            <a:endParaRPr lang="zh-CN" altLang="en-US"/>
          </a:p>
        </p:txBody>
      </p:sp>
      <p:sp>
        <p:nvSpPr>
          <p:cNvPr id="162821" name="Rectangle 5"/>
          <p:cNvSpPr>
            <a:spLocks noChangeArrowheads="1"/>
          </p:cNvSpPr>
          <p:nvPr/>
        </p:nvSpPr>
        <p:spPr bwMode="auto">
          <a:xfrm>
            <a:off x="152400" y="4679950"/>
            <a:ext cx="1841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eaLnBrk="0" hangingPunct="0"/>
            <a:endParaRPr lang="zh-CN" altLang="zh-CN" sz="3200" b="1">
              <a:solidFill>
                <a:schemeClr val="tx2"/>
              </a:solidFill>
            </a:endParaRPr>
          </a:p>
        </p:txBody>
      </p:sp>
      <p:sp>
        <p:nvSpPr>
          <p:cNvPr id="162822" name="AutoShape 6"/>
          <p:cNvSpPr>
            <a:spLocks noChangeArrowheads="1"/>
          </p:cNvSpPr>
          <p:nvPr/>
        </p:nvSpPr>
        <p:spPr bwMode="auto">
          <a:xfrm>
            <a:off x="6629400" y="4572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2823" name="AutoShape 7"/>
          <p:cNvSpPr>
            <a:spLocks noChangeArrowheads="1"/>
          </p:cNvSpPr>
          <p:nvPr/>
        </p:nvSpPr>
        <p:spPr bwMode="auto">
          <a:xfrm>
            <a:off x="46482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rgbClr val="0000FF"/>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62824" name="Text Box 8"/>
          <p:cNvSpPr txBox="1">
            <a:spLocks noChangeArrowheads="1"/>
          </p:cNvSpPr>
          <p:nvPr/>
        </p:nvSpPr>
        <p:spPr bwMode="auto">
          <a:xfrm>
            <a:off x="1752600" y="1676400"/>
            <a:ext cx="5289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b="1">
                <a:solidFill>
                  <a:srgbClr val="000099"/>
                </a:solidFill>
              </a:rPr>
              <a:t>0           1           2           3           4           5</a:t>
            </a:r>
            <a:endParaRPr lang="en-US" altLang="zh-CN">
              <a:solidFill>
                <a:srgbClr val="000099"/>
              </a:solidFill>
            </a:endParaRPr>
          </a:p>
        </p:txBody>
      </p:sp>
      <p:sp>
        <p:nvSpPr>
          <p:cNvPr id="162825" name="AutoShape 9"/>
          <p:cNvSpPr>
            <a:spLocks noChangeArrowheads="1"/>
          </p:cNvSpPr>
          <p:nvPr/>
        </p:nvSpPr>
        <p:spPr bwMode="auto">
          <a:xfrm>
            <a:off x="4648200" y="2438400"/>
            <a:ext cx="533400" cy="838200"/>
          </a:xfrm>
          <a:prstGeom prst="can">
            <a:avLst>
              <a:gd name="adj" fmla="val 39286"/>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62826" name="Text Box 10"/>
          <p:cNvSpPr txBox="1">
            <a:spLocks noChangeArrowheads="1"/>
          </p:cNvSpPr>
          <p:nvPr/>
        </p:nvSpPr>
        <p:spPr bwMode="auto">
          <a:xfrm>
            <a:off x="436563" y="2468563"/>
            <a:ext cx="868362"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sz="3200" b="1" i="1">
                <a:solidFill>
                  <a:schemeClr val="hlink"/>
                </a:solidFill>
                <a:effectLst>
                  <a:outerShdw blurRad="38100" dist="38100" dir="2700000" algn="tl">
                    <a:srgbClr val="000000"/>
                  </a:outerShdw>
                </a:effectLst>
              </a:rPr>
              <a:t>i </a:t>
            </a:r>
            <a:r>
              <a:rPr lang="en-US" altLang="zh-CN" sz="2800" b="1">
                <a:solidFill>
                  <a:schemeClr val="hlink"/>
                </a:solidFill>
                <a:effectLst>
                  <a:outerShdw blurRad="38100" dist="38100" dir="2700000" algn="tl">
                    <a:srgbClr val="000000"/>
                  </a:outerShdw>
                </a:effectLst>
              </a:rPr>
              <a:t>= 4</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2827" name="AutoShape 11"/>
          <p:cNvSpPr>
            <a:spLocks noChangeArrowheads="1"/>
          </p:cNvSpPr>
          <p:nvPr/>
        </p:nvSpPr>
        <p:spPr bwMode="auto">
          <a:xfrm>
            <a:off x="5638800" y="3886200"/>
            <a:ext cx="533400" cy="838200"/>
          </a:xfrm>
          <a:prstGeom prst="can">
            <a:avLst>
              <a:gd name="adj" fmla="val 39286"/>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162828" name="AutoShape 12"/>
          <p:cNvSpPr>
            <a:spLocks noChangeArrowheads="1"/>
          </p:cNvSpPr>
          <p:nvPr/>
        </p:nvSpPr>
        <p:spPr bwMode="auto">
          <a:xfrm>
            <a:off x="2667000" y="4038600"/>
            <a:ext cx="533400" cy="685800"/>
          </a:xfrm>
          <a:prstGeom prst="can">
            <a:avLst>
              <a:gd name="adj" fmla="val 32143"/>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16</a:t>
            </a:r>
            <a:endParaRPr lang="en-US" altLang="zh-CN">
              <a:effectLst>
                <a:outerShdw blurRad="38100" dist="38100" dir="2700000" algn="tl">
                  <a:srgbClr val="FFFFFF"/>
                </a:outerShdw>
              </a:effectLst>
            </a:endParaRPr>
          </a:p>
        </p:txBody>
      </p:sp>
      <p:sp>
        <p:nvSpPr>
          <p:cNvPr id="162829" name="AutoShape 13"/>
          <p:cNvSpPr>
            <a:spLocks noChangeArrowheads="1"/>
          </p:cNvSpPr>
          <p:nvPr/>
        </p:nvSpPr>
        <p:spPr bwMode="auto">
          <a:xfrm>
            <a:off x="1676400" y="4343400"/>
            <a:ext cx="533400" cy="381000"/>
          </a:xfrm>
          <a:prstGeom prst="can">
            <a:avLst>
              <a:gd name="adj" fmla="val 25000"/>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08</a:t>
            </a:r>
            <a:endParaRPr lang="en-US" altLang="zh-CN">
              <a:solidFill>
                <a:schemeClr val="bg2"/>
              </a:solidFill>
              <a:effectLst>
                <a:outerShdw blurRad="38100" dist="38100" dir="2700000" algn="tl">
                  <a:srgbClr val="000000"/>
                </a:outerShdw>
              </a:effectLst>
            </a:endParaRPr>
          </a:p>
        </p:txBody>
      </p:sp>
      <p:sp>
        <p:nvSpPr>
          <p:cNvPr id="162830" name="AutoShape 14"/>
          <p:cNvSpPr>
            <a:spLocks noChangeArrowheads="1"/>
          </p:cNvSpPr>
          <p:nvPr/>
        </p:nvSpPr>
        <p:spPr bwMode="auto">
          <a:xfrm>
            <a:off x="6629400" y="21336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2831" name="AutoShape 15"/>
          <p:cNvSpPr>
            <a:spLocks noChangeArrowheads="1"/>
          </p:cNvSpPr>
          <p:nvPr/>
        </p:nvSpPr>
        <p:spPr bwMode="auto">
          <a:xfrm>
            <a:off x="4648200" y="3886200"/>
            <a:ext cx="533400" cy="838200"/>
          </a:xfrm>
          <a:prstGeom prst="can">
            <a:avLst>
              <a:gd name="adj" fmla="val 39286"/>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25*</a:t>
            </a:r>
            <a:endParaRPr lang="en-US" altLang="zh-CN">
              <a:effectLst>
                <a:outerShdw blurRad="38100" dist="38100" dir="2700000" algn="tl">
                  <a:srgbClr val="FFFFFF"/>
                </a:outerShdw>
              </a:effectLst>
            </a:endParaRPr>
          </a:p>
        </p:txBody>
      </p:sp>
      <p:sp>
        <p:nvSpPr>
          <p:cNvPr id="162832" name="AutoShape 16"/>
          <p:cNvSpPr>
            <a:spLocks noChangeArrowheads="1"/>
          </p:cNvSpPr>
          <p:nvPr/>
        </p:nvSpPr>
        <p:spPr bwMode="auto">
          <a:xfrm>
            <a:off x="6629400" y="3581400"/>
            <a:ext cx="533400" cy="1143000"/>
          </a:xfrm>
          <a:prstGeom prst="can">
            <a:avLst>
              <a:gd name="adj" fmla="val 53571"/>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49</a:t>
            </a:r>
            <a:endParaRPr lang="en-US" altLang="zh-CN">
              <a:effectLst>
                <a:outerShdw blurRad="38100" dist="38100" dir="2700000" algn="tl">
                  <a:srgbClr val="FFFFFF"/>
                </a:outerShdw>
              </a:effectLst>
            </a:endParaRPr>
          </a:p>
        </p:txBody>
      </p:sp>
      <p:sp>
        <p:nvSpPr>
          <p:cNvPr id="162833" name="AutoShape 17"/>
          <p:cNvSpPr>
            <a:spLocks noChangeArrowheads="1"/>
          </p:cNvSpPr>
          <p:nvPr/>
        </p:nvSpPr>
        <p:spPr bwMode="auto">
          <a:xfrm>
            <a:off x="3657600" y="3962400"/>
            <a:ext cx="533400" cy="762000"/>
          </a:xfrm>
          <a:prstGeom prst="can">
            <a:avLst>
              <a:gd name="adj" fmla="val 35714"/>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162834" name="Text Box 18"/>
          <p:cNvSpPr txBox="1">
            <a:spLocks noChangeArrowheads="1"/>
          </p:cNvSpPr>
          <p:nvPr/>
        </p:nvSpPr>
        <p:spPr bwMode="auto">
          <a:xfrm>
            <a:off x="457200" y="3911600"/>
            <a:ext cx="9017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zh-CN" altLang="en-US" sz="2800" b="1">
                <a:solidFill>
                  <a:schemeClr val="hlink"/>
                </a:solidFill>
                <a:ea typeface="隶书" charset="0"/>
              </a:rPr>
              <a:t>结果</a:t>
            </a:r>
            <a:endParaRPr lang="zh-CN" altLang="en-US">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2835" name="Text Box 19"/>
          <p:cNvSpPr txBox="1">
            <a:spLocks noChangeArrowheads="1"/>
          </p:cNvSpPr>
          <p:nvPr/>
        </p:nvSpPr>
        <p:spPr bwMode="auto">
          <a:xfrm>
            <a:off x="457200" y="792163"/>
            <a:ext cx="868363"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en-US" altLang="zh-CN" sz="3200" b="1" i="1">
                <a:solidFill>
                  <a:schemeClr val="hlink"/>
                </a:solidFill>
                <a:effectLst>
                  <a:outerShdw blurRad="38100" dist="38100" dir="2700000" algn="tl">
                    <a:srgbClr val="000000"/>
                  </a:outerShdw>
                </a:effectLst>
              </a:rPr>
              <a:t>i </a:t>
            </a:r>
            <a:r>
              <a:rPr lang="en-US" altLang="zh-CN" sz="2800" b="1">
                <a:solidFill>
                  <a:schemeClr val="hlink"/>
                </a:solidFill>
                <a:effectLst>
                  <a:outerShdw blurRad="38100" dist="38100" dir="2700000" algn="tl">
                    <a:srgbClr val="000000"/>
                  </a:outerShdw>
                </a:effectLst>
              </a:rPr>
              <a:t>= 3</a:t>
            </a:r>
            <a:endParaRPr lang="en-US" altLang="zh-CN">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2836" name="AutoShape 20"/>
          <p:cNvSpPr>
            <a:spLocks noChangeArrowheads="1"/>
          </p:cNvSpPr>
          <p:nvPr/>
        </p:nvSpPr>
        <p:spPr bwMode="auto">
          <a:xfrm>
            <a:off x="1676400" y="1219200"/>
            <a:ext cx="533400" cy="381000"/>
          </a:xfrm>
          <a:prstGeom prst="can">
            <a:avLst>
              <a:gd name="adj" fmla="val 25000"/>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62837" name="AutoShape 21"/>
          <p:cNvSpPr>
            <a:spLocks noChangeArrowheads="1"/>
          </p:cNvSpPr>
          <p:nvPr/>
        </p:nvSpPr>
        <p:spPr bwMode="auto">
          <a:xfrm>
            <a:off x="2667000" y="914400"/>
            <a:ext cx="533400" cy="685800"/>
          </a:xfrm>
          <a:prstGeom prst="can">
            <a:avLst>
              <a:gd name="adj" fmla="val 32143"/>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16</a:t>
            </a:r>
            <a:endParaRPr lang="en-US" altLang="zh-CN">
              <a:solidFill>
                <a:schemeClr val="bg2"/>
              </a:solidFill>
              <a:effectLst>
                <a:outerShdw blurRad="38100" dist="38100" dir="2700000" algn="tl">
                  <a:srgbClr val="000000"/>
                </a:outerShdw>
              </a:effectLst>
            </a:endParaRPr>
          </a:p>
        </p:txBody>
      </p:sp>
      <p:sp>
        <p:nvSpPr>
          <p:cNvPr id="162838" name="AutoShape 22"/>
          <p:cNvSpPr>
            <a:spLocks noChangeArrowheads="1"/>
          </p:cNvSpPr>
          <p:nvPr/>
        </p:nvSpPr>
        <p:spPr bwMode="auto">
          <a:xfrm>
            <a:off x="5638800" y="7620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chemeClr val="tx2"/>
                </a:solidFill>
                <a:effectLst>
                  <a:outerShdw blurRad="38100" dist="38100" dir="2700000" algn="tl">
                    <a:srgbClr val="FFFFFF"/>
                  </a:outerShdw>
                </a:effectLst>
                <a:latin typeface="Arial" charset="0"/>
              </a:rPr>
              <a:t>25</a:t>
            </a:r>
            <a:endParaRPr lang="en-US" altLang="zh-CN" b="1">
              <a:effectLst>
                <a:outerShdw blurRad="38100" dist="38100" dir="2700000" algn="tl">
                  <a:srgbClr val="FFFFFF"/>
                </a:outerShdw>
              </a:effectLst>
            </a:endParaRPr>
          </a:p>
        </p:txBody>
      </p:sp>
      <p:sp>
        <p:nvSpPr>
          <p:cNvPr id="162839" name="AutoShape 23"/>
          <p:cNvSpPr>
            <a:spLocks noChangeArrowheads="1"/>
          </p:cNvSpPr>
          <p:nvPr/>
        </p:nvSpPr>
        <p:spPr bwMode="auto">
          <a:xfrm>
            <a:off x="3657600" y="838200"/>
            <a:ext cx="533400" cy="762000"/>
          </a:xfrm>
          <a:prstGeom prst="can">
            <a:avLst>
              <a:gd name="adj" fmla="val 35714"/>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162840" name="Text Box 24"/>
          <p:cNvSpPr txBox="1">
            <a:spLocks noChangeArrowheads="1"/>
          </p:cNvSpPr>
          <p:nvPr/>
        </p:nvSpPr>
        <p:spPr bwMode="auto">
          <a:xfrm>
            <a:off x="7239000" y="415925"/>
            <a:ext cx="1873250"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lnSpc>
                <a:spcPct val="90000"/>
              </a:lnSpc>
            </a:pPr>
            <a:r>
              <a:rPr lang="zh-CN" altLang="en-US" sz="2800" b="1">
                <a:solidFill>
                  <a:srgbClr val="000099"/>
                </a:solidFill>
                <a:ea typeface="隶书" charset="0"/>
              </a:rPr>
              <a:t>最小者</a:t>
            </a:r>
            <a:r>
              <a:rPr lang="zh-CN" altLang="en-US" sz="2800" b="1">
                <a:solidFill>
                  <a:srgbClr val="000099"/>
                </a:solidFill>
                <a:effectLst>
                  <a:outerShdw blurRad="38100" dist="38100" dir="2700000" algn="tl">
                    <a:srgbClr val="000000"/>
                  </a:outerShdw>
                </a:effectLst>
                <a:ea typeface="仿宋_GB2312" charset="0"/>
              </a:rPr>
              <a:t> </a:t>
            </a:r>
            <a:r>
              <a:rPr lang="en-US" altLang="zh-CN" sz="2800" b="1">
                <a:solidFill>
                  <a:srgbClr val="000099"/>
                </a:solidFill>
                <a:effectLst>
                  <a:outerShdw blurRad="38100" dist="38100" dir="2700000" algn="tl">
                    <a:srgbClr val="000000"/>
                  </a:outerShdw>
                </a:effectLst>
                <a:ea typeface="仿宋_GB2312" charset="0"/>
              </a:rPr>
              <a:t>25*</a:t>
            </a:r>
          </a:p>
          <a:p>
            <a:pPr algn="l">
              <a:lnSpc>
                <a:spcPct val="90000"/>
              </a:lnSpc>
            </a:pPr>
            <a:r>
              <a:rPr lang="zh-CN" altLang="en-US" sz="2800" b="1">
                <a:solidFill>
                  <a:srgbClr val="000099"/>
                </a:solidFill>
                <a:effectLst>
                  <a:outerShdw blurRad="38100" dist="38100" dir="2700000" algn="tl">
                    <a:srgbClr val="000000"/>
                  </a:outerShdw>
                </a:effectLst>
                <a:ea typeface="隶书" charset="0"/>
              </a:rPr>
              <a:t>无交换</a:t>
            </a:r>
            <a:endParaRPr lang="zh-CN" altLang="en-US">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2841" name="Text Box 25"/>
          <p:cNvSpPr txBox="1">
            <a:spLocks noChangeArrowheads="1"/>
          </p:cNvSpPr>
          <p:nvPr/>
        </p:nvSpPr>
        <p:spPr bwMode="auto">
          <a:xfrm>
            <a:off x="7210425" y="2111375"/>
            <a:ext cx="1695450" cy="86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lnSpc>
                <a:spcPct val="90000"/>
              </a:lnSpc>
            </a:pPr>
            <a:r>
              <a:rPr lang="zh-CN" altLang="en-US" sz="2800" b="1">
                <a:solidFill>
                  <a:srgbClr val="000099"/>
                </a:solidFill>
                <a:ea typeface="隶书" charset="0"/>
              </a:rPr>
              <a:t>最小者</a:t>
            </a:r>
            <a:r>
              <a:rPr lang="zh-CN" altLang="en-US" sz="2800" b="1">
                <a:solidFill>
                  <a:srgbClr val="000099"/>
                </a:solidFill>
                <a:effectLst>
                  <a:outerShdw blurRad="38100" dist="38100" dir="2700000" algn="tl">
                    <a:srgbClr val="000000"/>
                  </a:outerShdw>
                </a:effectLst>
                <a:ea typeface="仿宋_GB2312" charset="0"/>
              </a:rPr>
              <a:t> </a:t>
            </a:r>
            <a:r>
              <a:rPr lang="en-US" altLang="zh-CN" sz="2800" b="1">
                <a:solidFill>
                  <a:srgbClr val="000099"/>
                </a:solidFill>
                <a:effectLst>
                  <a:outerShdw blurRad="38100" dist="38100" dir="2700000" algn="tl">
                    <a:srgbClr val="000000"/>
                  </a:outerShdw>
                </a:effectLst>
                <a:ea typeface="仿宋_GB2312" charset="0"/>
              </a:rPr>
              <a:t>25</a:t>
            </a:r>
          </a:p>
          <a:p>
            <a:pPr algn="l">
              <a:lnSpc>
                <a:spcPct val="90000"/>
              </a:lnSpc>
            </a:pPr>
            <a:r>
              <a:rPr lang="zh-CN" altLang="en-US" sz="2800" b="1">
                <a:solidFill>
                  <a:srgbClr val="000099"/>
                </a:solidFill>
                <a:effectLst>
                  <a:outerShdw blurRad="38100" dist="38100" dir="2700000" algn="tl">
                    <a:srgbClr val="000000"/>
                  </a:outerShdw>
                </a:effectLst>
                <a:ea typeface="隶书" charset="0"/>
              </a:rPr>
              <a:t>无交换</a:t>
            </a:r>
            <a:endParaRPr lang="zh-CN" altLang="en-US">
              <a:solidFill>
                <a:schemeClr val="accent1"/>
              </a:solidFill>
              <a:effectDag name="">
                <a:cont type="tree" name="">
                  <a:effect ref="fillLine"/>
                  <a:outerShdw dist="38100" dir="13500000" algn="br">
                    <a:srgbClr val="55FED4"/>
                  </a:outerShdw>
                </a:cont>
                <a:cont type="tree" name="">
                  <a:effect ref="fillLine"/>
                  <a:outerShdw dist="38100" dir="2700000" algn="tl">
                    <a:srgbClr val="007A5B"/>
                  </a:outerShdw>
                </a:cont>
                <a:effect ref="fillLine"/>
              </a:effectDag>
            </a:endParaRPr>
          </a:p>
        </p:txBody>
      </p:sp>
      <p:sp>
        <p:nvSpPr>
          <p:cNvPr id="162842" name="AutoShape 26"/>
          <p:cNvSpPr>
            <a:spLocks noChangeArrowheads="1"/>
          </p:cNvSpPr>
          <p:nvPr/>
        </p:nvSpPr>
        <p:spPr bwMode="auto">
          <a:xfrm>
            <a:off x="5638800" y="2438400"/>
            <a:ext cx="533400" cy="838200"/>
          </a:xfrm>
          <a:prstGeom prst="can">
            <a:avLst>
              <a:gd name="adj" fmla="val 39286"/>
            </a:avLst>
          </a:prstGeom>
          <a:gradFill rotWithShape="0">
            <a:gsLst>
              <a:gs pos="0">
                <a:srgbClr val="CCECFF">
                  <a:gamma/>
                  <a:shade val="46275"/>
                  <a:invGamma/>
                </a:srgbClr>
              </a:gs>
              <a:gs pos="50000">
                <a:srgbClr val="CCECFF"/>
              </a:gs>
              <a:gs pos="100000">
                <a:srgbClr val="CCECFF">
                  <a:gamma/>
                  <a:shade val="46275"/>
                  <a:invGamma/>
                </a:srgbClr>
              </a:gs>
            </a:gsLst>
            <a:lin ang="0" scaled="1"/>
          </a:gradFill>
          <a:ln w="9525">
            <a:solidFill>
              <a:schemeClr val="tx1"/>
            </a:solidFill>
            <a:round/>
            <a:headEnd/>
            <a:tailEnd/>
          </a:ln>
        </p:spPr>
        <p:txBody>
          <a:bodyPr wrap="none" anchor="ctr"/>
          <a:lstStyle/>
          <a:p>
            <a:r>
              <a:rPr lang="en-US" altLang="zh-CN" b="1">
                <a:solidFill>
                  <a:srgbClr val="0000FF"/>
                </a:solidFill>
                <a:effectLst>
                  <a:outerShdw blurRad="38100" dist="38100" dir="2700000" algn="tl">
                    <a:srgbClr val="000000"/>
                  </a:outerShdw>
                </a:effectLst>
                <a:latin typeface="Arial" charset="0"/>
              </a:rPr>
              <a:t>25</a:t>
            </a:r>
            <a:endParaRPr lang="en-US" altLang="zh-CN" b="1">
              <a:effectLst>
                <a:outerShdw blurRad="38100" dist="38100" dir="2700000" algn="tl">
                  <a:srgbClr val="FFFFFF"/>
                </a:outerShdw>
              </a:effectLst>
            </a:endParaRPr>
          </a:p>
        </p:txBody>
      </p:sp>
      <p:sp>
        <p:nvSpPr>
          <p:cNvPr id="162843" name="AutoShape 27"/>
          <p:cNvSpPr>
            <a:spLocks noChangeArrowheads="1"/>
          </p:cNvSpPr>
          <p:nvPr/>
        </p:nvSpPr>
        <p:spPr bwMode="auto">
          <a:xfrm>
            <a:off x="3657600" y="2514600"/>
            <a:ext cx="533400" cy="762000"/>
          </a:xfrm>
          <a:prstGeom prst="can">
            <a:avLst>
              <a:gd name="adj" fmla="val 35714"/>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21</a:t>
            </a:r>
            <a:endParaRPr lang="en-US" altLang="zh-CN">
              <a:effectLst>
                <a:outerShdw blurRad="38100" dist="38100" dir="2700000" algn="tl">
                  <a:srgbClr val="FFFFFF"/>
                </a:outerShdw>
              </a:effectLst>
            </a:endParaRPr>
          </a:p>
        </p:txBody>
      </p:sp>
      <p:sp>
        <p:nvSpPr>
          <p:cNvPr id="162844" name="AutoShape 28"/>
          <p:cNvSpPr>
            <a:spLocks noChangeArrowheads="1"/>
          </p:cNvSpPr>
          <p:nvPr/>
        </p:nvSpPr>
        <p:spPr bwMode="auto">
          <a:xfrm>
            <a:off x="2667000" y="2590800"/>
            <a:ext cx="533400" cy="685800"/>
          </a:xfrm>
          <a:prstGeom prst="can">
            <a:avLst>
              <a:gd name="adj" fmla="val 32143"/>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16</a:t>
            </a:r>
            <a:endParaRPr lang="en-US" altLang="zh-CN">
              <a:solidFill>
                <a:schemeClr val="bg2"/>
              </a:solidFill>
              <a:effectLst>
                <a:outerShdw blurRad="38100" dist="38100" dir="2700000" algn="tl">
                  <a:srgbClr val="000000"/>
                </a:outerShdw>
              </a:effectLst>
            </a:endParaRPr>
          </a:p>
        </p:txBody>
      </p:sp>
      <p:sp>
        <p:nvSpPr>
          <p:cNvPr id="162845" name="AutoShape 29"/>
          <p:cNvSpPr>
            <a:spLocks noChangeArrowheads="1"/>
          </p:cNvSpPr>
          <p:nvPr/>
        </p:nvSpPr>
        <p:spPr bwMode="auto">
          <a:xfrm>
            <a:off x="1676400" y="2895600"/>
            <a:ext cx="533400" cy="381000"/>
          </a:xfrm>
          <a:prstGeom prst="can">
            <a:avLst>
              <a:gd name="adj" fmla="val 25000"/>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solidFill>
              <a:schemeClr val="tx1"/>
            </a:solidFill>
            <a:round/>
            <a:headEnd/>
            <a:tailEnd/>
          </a:ln>
        </p:spPr>
        <p:txBody>
          <a:bodyPr wrap="none" anchor="ctr"/>
          <a:lstStyle/>
          <a:p>
            <a:r>
              <a:rPr lang="en-US" altLang="zh-CN" b="1">
                <a:solidFill>
                  <a:schemeClr val="bg2"/>
                </a:solidFill>
                <a:effectLst>
                  <a:outerShdw blurRad="38100" dist="38100" dir="2700000" algn="tl">
                    <a:srgbClr val="000000"/>
                  </a:outerShdw>
                </a:effectLst>
                <a:latin typeface="Arial" charset="0"/>
              </a:rPr>
              <a:t>08</a:t>
            </a:r>
            <a:endParaRPr lang="en-US" altLang="zh-CN">
              <a:effectLst>
                <a:outerShdw blurRad="38100" dist="38100" dir="2700000" algn="tl">
                  <a:srgbClr val="FFFFFF"/>
                </a:outerShdw>
              </a:effectLst>
            </a:endParaRPr>
          </a:p>
        </p:txBody>
      </p:sp>
      <p:sp>
        <p:nvSpPr>
          <p:cNvPr id="162846" name="Text Box 30"/>
          <p:cNvSpPr txBox="1">
            <a:spLocks noChangeArrowheads="1"/>
          </p:cNvSpPr>
          <p:nvPr/>
        </p:nvSpPr>
        <p:spPr bwMode="auto">
          <a:xfrm>
            <a:off x="3041650" y="5043488"/>
            <a:ext cx="30289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r>
              <a:rPr lang="zh-CN" altLang="en-US" sz="2800" b="1">
                <a:solidFill>
                  <a:srgbClr val="000099"/>
                </a:solidFill>
                <a:ea typeface="仿宋_GB2312" charset="0"/>
              </a:rPr>
              <a:t>各趟排序后的结果</a:t>
            </a:r>
            <a:endParaRPr lang="zh-CN" altLang="en-US" sz="2800" b="1">
              <a:solidFill>
                <a:srgbClr val="000099"/>
              </a:solidFill>
              <a:effectLst>
                <a:outerShdw blurRad="38100" dist="38100" dir="2700000" algn="tl">
                  <a:srgbClr val="000000"/>
                </a:outerShdw>
              </a:effectLst>
              <a:ea typeface="隶书" charset="0"/>
            </a:endParaRPr>
          </a:p>
        </p:txBody>
      </p:sp>
    </p:spTree>
    <p:extLst>
      <p:ext uri="{BB962C8B-B14F-4D97-AF65-F5344CB8AC3E}">
        <p14:creationId xmlns:p14="http://schemas.microsoft.com/office/powerpoint/2010/main" val="1189070337"/>
      </p:ext>
    </p:extLst>
  </p:cSld>
  <p:clrMapOvr>
    <a:masterClrMapping/>
  </p:clrMapOvr>
  <p:transition>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806450" y="128588"/>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FF6600"/>
                </a:solidFill>
                <a:ea typeface="楷体_GB2312" charset="0"/>
              </a:rPr>
              <a:t>简单选择排序</a:t>
            </a:r>
            <a:r>
              <a:rPr lang="zh-CN" altLang="en-US" sz="3600">
                <a:ea typeface="楷体_GB2312" charset="0"/>
              </a:rPr>
              <a:t>的算法描述如下：</a:t>
            </a:r>
            <a:endParaRPr lang="zh-CN" altLang="en-US" sz="4000">
              <a:ea typeface="楷体_GB2312" charset="0"/>
            </a:endParaRPr>
          </a:p>
        </p:txBody>
      </p:sp>
      <p:sp>
        <p:nvSpPr>
          <p:cNvPr id="39939" name="Text Box 3"/>
          <p:cNvSpPr txBox="1">
            <a:spLocks noChangeArrowheads="1"/>
          </p:cNvSpPr>
          <p:nvPr/>
        </p:nvSpPr>
        <p:spPr bwMode="auto">
          <a:xfrm>
            <a:off x="381000" y="762000"/>
            <a:ext cx="7824788" cy="614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b="1">
                <a:ea typeface="楷体_GB2312" charset="0"/>
              </a:rPr>
              <a:t>void</a:t>
            </a:r>
            <a:r>
              <a:rPr lang="en-US" altLang="zh-CN" sz="3600">
                <a:ea typeface="楷体_GB2312" charset="0"/>
              </a:rPr>
              <a:t> SelectSort (Elem R[], </a:t>
            </a:r>
            <a:r>
              <a:rPr lang="en-US" altLang="zh-CN" sz="3600" b="1">
                <a:ea typeface="楷体_GB2312" charset="0"/>
              </a:rPr>
              <a:t>int</a:t>
            </a:r>
            <a:r>
              <a:rPr lang="en-US" altLang="zh-CN" sz="3600">
                <a:ea typeface="楷体_GB2312" charset="0"/>
              </a:rPr>
              <a:t> n ) </a:t>
            </a:r>
            <a:r>
              <a:rPr lang="en-US" altLang="zh-CN" sz="3600" b="1">
                <a:ea typeface="楷体_GB2312" charset="0"/>
              </a:rPr>
              <a:t>{</a:t>
            </a:r>
            <a:endParaRPr lang="en-US" altLang="zh-CN" sz="3600">
              <a:ea typeface="楷体_GB2312" charset="0"/>
            </a:endParaRPr>
          </a:p>
          <a:p>
            <a:pPr algn="l">
              <a:lnSpc>
                <a:spcPct val="110000"/>
              </a:lnSpc>
            </a:pPr>
            <a:r>
              <a:rPr lang="en-US" altLang="zh-CN" sz="3600">
                <a:ea typeface="楷体_GB2312" charset="0"/>
              </a:rPr>
              <a:t>   </a:t>
            </a:r>
            <a:r>
              <a:rPr lang="en-US" altLang="zh-CN" sz="3200">
                <a:ea typeface="楷体_GB2312" charset="0"/>
              </a:rPr>
              <a:t>// </a:t>
            </a:r>
            <a:r>
              <a:rPr lang="zh-CN" altLang="en-US" sz="3200">
                <a:ea typeface="楷体_GB2312" charset="0"/>
              </a:rPr>
              <a:t>对记录序列</a:t>
            </a:r>
            <a:r>
              <a:rPr lang="en-US" altLang="zh-CN" sz="3200">
                <a:ea typeface="楷体_GB2312" charset="0"/>
              </a:rPr>
              <a:t>R[1..n]</a:t>
            </a:r>
            <a:r>
              <a:rPr lang="zh-CN" altLang="en-US" sz="3200">
                <a:ea typeface="楷体_GB2312" charset="0"/>
              </a:rPr>
              <a:t>作简单选择排序。</a:t>
            </a:r>
            <a:endParaRPr lang="zh-CN" altLang="en-US" sz="3600">
              <a:ea typeface="楷体_GB2312" charset="0"/>
            </a:endParaRPr>
          </a:p>
          <a:p>
            <a:pPr algn="l">
              <a:lnSpc>
                <a:spcPct val="110000"/>
              </a:lnSpc>
            </a:pPr>
            <a:r>
              <a:rPr lang="zh-CN" altLang="en-US" sz="3600">
                <a:ea typeface="楷体_GB2312" charset="0"/>
              </a:rPr>
              <a:t>  </a:t>
            </a:r>
            <a:r>
              <a:rPr lang="en-US" altLang="zh-CN" sz="3600" b="1">
                <a:ea typeface="楷体_GB2312" charset="0"/>
              </a:rPr>
              <a:t>for</a:t>
            </a:r>
            <a:r>
              <a:rPr lang="en-US" altLang="zh-CN" sz="3600">
                <a:ea typeface="楷体_GB2312" charset="0"/>
              </a:rPr>
              <a:t> (i=1; i&lt;n; </a:t>
            </a:r>
            <a:r>
              <a:rPr lang="en-US" altLang="zh-CN" sz="3600" b="1">
                <a:ea typeface="楷体_GB2312" charset="0"/>
              </a:rPr>
              <a:t>++</a:t>
            </a:r>
            <a:r>
              <a:rPr lang="en-US" altLang="zh-CN" sz="3600">
                <a:ea typeface="楷体_GB2312" charset="0"/>
              </a:rPr>
              <a:t>i) </a:t>
            </a:r>
            <a:r>
              <a:rPr lang="en-US" altLang="zh-CN" sz="3600" b="1">
                <a:ea typeface="楷体_GB2312" charset="0"/>
              </a:rPr>
              <a:t>{</a:t>
            </a:r>
          </a:p>
          <a:p>
            <a:pPr algn="l">
              <a:lnSpc>
                <a:spcPct val="110000"/>
              </a:lnSpc>
            </a:pPr>
            <a:r>
              <a:rPr lang="en-US" altLang="zh-CN" sz="3600" b="1">
                <a:ea typeface="楷体_GB2312" charset="0"/>
              </a:rPr>
              <a:t>      </a:t>
            </a:r>
            <a:r>
              <a:rPr lang="en-US" altLang="zh-CN" sz="3600">
                <a:ea typeface="楷体_GB2312" charset="0"/>
              </a:rPr>
              <a:t>         </a:t>
            </a:r>
            <a:r>
              <a:rPr lang="en-US" altLang="zh-CN" sz="3200">
                <a:ea typeface="楷体_GB2312" charset="0"/>
              </a:rPr>
              <a:t>// </a:t>
            </a:r>
            <a:r>
              <a:rPr lang="zh-CN" altLang="en-US" sz="3200">
                <a:ea typeface="楷体_GB2312" charset="0"/>
              </a:rPr>
              <a:t>选择第 </a:t>
            </a:r>
            <a:r>
              <a:rPr lang="en-US" altLang="zh-CN" sz="3200">
                <a:ea typeface="楷体_GB2312" charset="0"/>
              </a:rPr>
              <a:t>i </a:t>
            </a:r>
            <a:r>
              <a:rPr lang="zh-CN" altLang="en-US" sz="3200">
                <a:ea typeface="楷体_GB2312" charset="0"/>
              </a:rPr>
              <a:t>小的记录，并交换到位</a:t>
            </a:r>
            <a:endParaRPr lang="zh-CN" altLang="en-US" sz="3600">
              <a:ea typeface="楷体_GB2312" charset="0"/>
            </a:endParaRPr>
          </a:p>
          <a:p>
            <a:pPr algn="l">
              <a:lnSpc>
                <a:spcPct val="110000"/>
              </a:lnSpc>
            </a:pPr>
            <a:endParaRPr lang="zh-CN" altLang="en-US" sz="3600">
              <a:ea typeface="楷体_GB2312" charset="0"/>
            </a:endParaRPr>
          </a:p>
          <a:p>
            <a:pPr algn="l">
              <a:lnSpc>
                <a:spcPct val="110000"/>
              </a:lnSpc>
            </a:pPr>
            <a:endParaRPr lang="zh-CN" altLang="en-US" sz="3600">
              <a:ea typeface="楷体_GB2312" charset="0"/>
            </a:endParaRPr>
          </a:p>
          <a:p>
            <a:pPr algn="l">
              <a:lnSpc>
                <a:spcPct val="110000"/>
              </a:lnSpc>
            </a:pPr>
            <a:endParaRPr lang="zh-CN" altLang="en-US" sz="3600">
              <a:ea typeface="楷体_GB2312" charset="0"/>
            </a:endParaRPr>
          </a:p>
          <a:p>
            <a:pPr algn="l">
              <a:lnSpc>
                <a:spcPct val="110000"/>
              </a:lnSpc>
            </a:pPr>
            <a:endParaRPr lang="zh-CN" altLang="en-US" sz="3600">
              <a:ea typeface="楷体_GB2312" charset="0"/>
            </a:endParaRPr>
          </a:p>
          <a:p>
            <a:pPr algn="l">
              <a:lnSpc>
                <a:spcPct val="110000"/>
              </a:lnSpc>
            </a:pPr>
            <a:r>
              <a:rPr lang="zh-CN" altLang="en-US" sz="3600">
                <a:ea typeface="楷体_GB2312" charset="0"/>
              </a:rPr>
              <a:t>  </a:t>
            </a:r>
            <a:r>
              <a:rPr lang="en-US" altLang="zh-CN" sz="3600" b="1">
                <a:ea typeface="楷体_GB2312" charset="0"/>
              </a:rPr>
              <a:t>}</a:t>
            </a:r>
          </a:p>
          <a:p>
            <a:pPr algn="l">
              <a:lnSpc>
                <a:spcPct val="110000"/>
              </a:lnSpc>
            </a:pPr>
            <a:r>
              <a:rPr lang="en-US" altLang="zh-CN" sz="3600" b="1">
                <a:ea typeface="楷体_GB2312" charset="0"/>
              </a:rPr>
              <a:t>}</a:t>
            </a:r>
            <a:r>
              <a:rPr lang="en-US" altLang="zh-CN" sz="3600">
                <a:ea typeface="楷体_GB2312" charset="0"/>
              </a:rPr>
              <a:t> // SelectSort</a:t>
            </a:r>
          </a:p>
        </p:txBody>
      </p:sp>
      <p:sp>
        <p:nvSpPr>
          <p:cNvPr id="39940" name="Rectangle 4"/>
          <p:cNvSpPr>
            <a:spLocks noChangeArrowheads="1"/>
          </p:cNvSpPr>
          <p:nvPr/>
        </p:nvSpPr>
        <p:spPr bwMode="auto">
          <a:xfrm>
            <a:off x="1082675" y="3200400"/>
            <a:ext cx="7680325"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a:solidFill>
                  <a:schemeClr val="accent2"/>
                </a:solidFill>
                <a:ea typeface="楷体_GB2312" charset="0"/>
              </a:rPr>
              <a:t>j = SelectMinKey(R, i);</a:t>
            </a:r>
            <a:r>
              <a:rPr lang="en-US" altLang="zh-CN" sz="3600">
                <a:ea typeface="楷体_GB2312" charset="0"/>
              </a:rPr>
              <a:t>       </a:t>
            </a:r>
          </a:p>
          <a:p>
            <a:pPr algn="l">
              <a:lnSpc>
                <a:spcPct val="110000"/>
              </a:lnSpc>
            </a:pPr>
            <a:r>
              <a:rPr lang="en-US" altLang="zh-CN" sz="3600">
                <a:ea typeface="楷体_GB2312" charset="0"/>
              </a:rPr>
              <a:t>         </a:t>
            </a:r>
            <a:r>
              <a:rPr lang="en-US" altLang="zh-CN" sz="3200">
                <a:ea typeface="楷体_GB2312" charset="0"/>
              </a:rPr>
              <a:t>// </a:t>
            </a:r>
            <a:r>
              <a:rPr lang="zh-CN" altLang="en-US" sz="3200">
                <a:ea typeface="楷体_GB2312" charset="0"/>
              </a:rPr>
              <a:t>在 </a:t>
            </a:r>
            <a:r>
              <a:rPr lang="en-US" altLang="zh-CN" sz="3200">
                <a:ea typeface="楷体_GB2312" charset="0"/>
              </a:rPr>
              <a:t>R[i..n] </a:t>
            </a:r>
            <a:r>
              <a:rPr lang="zh-CN" altLang="en-US" sz="3200">
                <a:ea typeface="楷体_GB2312" charset="0"/>
              </a:rPr>
              <a:t>中选择关键字最小的记录</a:t>
            </a:r>
          </a:p>
        </p:txBody>
      </p:sp>
      <p:sp>
        <p:nvSpPr>
          <p:cNvPr id="39941" name="Rectangle 5"/>
          <p:cNvSpPr>
            <a:spLocks noChangeArrowheads="1"/>
          </p:cNvSpPr>
          <p:nvPr/>
        </p:nvSpPr>
        <p:spPr bwMode="auto">
          <a:xfrm>
            <a:off x="1066800" y="4495800"/>
            <a:ext cx="5843588" cy="130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b="1">
                <a:solidFill>
                  <a:srgbClr val="840C26"/>
                </a:solidFill>
                <a:ea typeface="楷体_GB2312" charset="0"/>
              </a:rPr>
              <a:t>if</a:t>
            </a:r>
            <a:r>
              <a:rPr lang="en-US" altLang="zh-CN" sz="3600">
                <a:solidFill>
                  <a:srgbClr val="840C26"/>
                </a:solidFill>
                <a:ea typeface="楷体_GB2312" charset="0"/>
              </a:rPr>
              <a:t> (i</a:t>
            </a:r>
            <a:r>
              <a:rPr lang="en-US" altLang="zh-CN" sz="3600" b="1">
                <a:solidFill>
                  <a:srgbClr val="840C26"/>
                </a:solidFill>
                <a:ea typeface="楷体_GB2312" charset="0"/>
              </a:rPr>
              <a:t>!=</a:t>
            </a:r>
            <a:r>
              <a:rPr lang="en-US" altLang="zh-CN" sz="3600">
                <a:solidFill>
                  <a:srgbClr val="840C26"/>
                </a:solidFill>
                <a:ea typeface="楷体_GB2312" charset="0"/>
              </a:rPr>
              <a:t>j)  R[i]</a:t>
            </a:r>
            <a:r>
              <a:rPr lang="en-US" altLang="zh-CN" sz="3600" b="1">
                <a:solidFill>
                  <a:srgbClr val="840C26"/>
                </a:solidFill>
                <a:ea typeface="楷体_GB2312" charset="0"/>
              </a:rPr>
              <a:t>←→</a:t>
            </a:r>
            <a:r>
              <a:rPr lang="en-US" altLang="zh-CN" sz="3600">
                <a:solidFill>
                  <a:srgbClr val="840C26"/>
                </a:solidFill>
                <a:ea typeface="楷体_GB2312" charset="0"/>
              </a:rPr>
              <a:t>R[j];</a:t>
            </a:r>
            <a:endParaRPr lang="en-US" altLang="zh-CN" sz="3600">
              <a:ea typeface="楷体_GB2312" charset="0"/>
            </a:endParaRPr>
          </a:p>
          <a:p>
            <a:pPr algn="l">
              <a:lnSpc>
                <a:spcPct val="110000"/>
              </a:lnSpc>
            </a:pPr>
            <a:r>
              <a:rPr lang="en-US" altLang="zh-CN" sz="3600">
                <a:ea typeface="楷体_GB2312" charset="0"/>
              </a:rPr>
              <a:t>                   </a:t>
            </a:r>
            <a:r>
              <a:rPr lang="en-US" altLang="zh-CN" sz="3200">
                <a:ea typeface="楷体_GB2312" charset="0"/>
              </a:rPr>
              <a:t>// </a:t>
            </a:r>
            <a:r>
              <a:rPr lang="zh-CN" altLang="en-US" sz="3200">
                <a:ea typeface="楷体_GB2312" charset="0"/>
              </a:rPr>
              <a:t>与第 </a:t>
            </a:r>
            <a:r>
              <a:rPr lang="en-US" altLang="zh-CN" sz="3200">
                <a:ea typeface="楷体_GB2312" charset="0"/>
              </a:rPr>
              <a:t>i </a:t>
            </a:r>
            <a:r>
              <a:rPr lang="zh-CN" altLang="en-US" sz="3200">
                <a:ea typeface="楷体_GB2312" charset="0"/>
              </a:rPr>
              <a:t>个记录交换</a:t>
            </a:r>
          </a:p>
        </p:txBody>
      </p:sp>
    </p:spTree>
    <p:extLst>
      <p:ext uri="{BB962C8B-B14F-4D97-AF65-F5344CB8AC3E}">
        <p14:creationId xmlns:p14="http://schemas.microsoft.com/office/powerpoint/2010/main" val="19999736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ppt_x"/>
                                          </p:val>
                                        </p:tav>
                                        <p:tav tm="100000">
                                          <p:val>
                                            <p:strVal val="#ppt_x"/>
                                          </p:val>
                                        </p:tav>
                                      </p:tavLst>
                                    </p:anim>
                                    <p:anim calcmode="lin" valueType="num">
                                      <p:cBhvr additive="base">
                                        <p:cTn id="8" dur="500" fill="hold"/>
                                        <p:tgtEl>
                                          <p:spTgt spid="3993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39939"/>
                                        </p:tgtEl>
                                        <p:attrNameLst>
                                          <p:attrName>style.visibility</p:attrName>
                                        </p:attrNameLst>
                                      </p:cBhvr>
                                      <p:to>
                                        <p:strVal val="visible"/>
                                      </p:to>
                                    </p:set>
                                    <p:animEffect transition="in" filter="strips(downRight)">
                                      <p:cBhvr>
                                        <p:cTn id="13" dur="500"/>
                                        <p:tgtEl>
                                          <p:spTgt spid="399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39940"/>
                                        </p:tgtEl>
                                        <p:attrNameLst>
                                          <p:attrName>style.visibility</p:attrName>
                                        </p:attrNameLst>
                                      </p:cBhvr>
                                      <p:to>
                                        <p:strVal val="visible"/>
                                      </p:to>
                                    </p:set>
                                    <p:animEffect transition="in" filter="strips(downRight)">
                                      <p:cBhvr>
                                        <p:cTn id="18" dur="500"/>
                                        <p:tgtEl>
                                          <p:spTgt spid="399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iterate type="wd">
                                    <p:tmPct val="100000"/>
                                  </p:iterate>
                                  <p:childTnLst>
                                    <p:set>
                                      <p:cBhvr>
                                        <p:cTn id="22" dur="1" fill="hold">
                                          <p:stCondLst>
                                            <p:cond delay="0"/>
                                          </p:stCondLst>
                                        </p:cTn>
                                        <p:tgtEl>
                                          <p:spTgt spid="39941"/>
                                        </p:tgtEl>
                                        <p:attrNameLst>
                                          <p:attrName>style.visibility</p:attrName>
                                        </p:attrNameLst>
                                      </p:cBhvr>
                                      <p:to>
                                        <p:strVal val="visible"/>
                                      </p:to>
                                    </p:set>
                                    <p:animEffect transition="in" filter="strips(downRight)">
                                      <p:cBhvr>
                                        <p:cTn id="23" dur="3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39" grpId="0" autoUpdateAnimBg="0"/>
      <p:bldP spid="39940" grpId="0" autoUpdateAnimBg="0"/>
      <p:bldP spid="39941"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777875" y="304800"/>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chemeClr val="accent2"/>
                </a:solidFill>
                <a:ea typeface="楷体_GB2312" charset="0"/>
              </a:rPr>
              <a:t>时间性能分析</a:t>
            </a:r>
          </a:p>
        </p:txBody>
      </p:sp>
      <p:sp>
        <p:nvSpPr>
          <p:cNvPr id="40963" name="Text Box 3"/>
          <p:cNvSpPr txBox="1">
            <a:spLocks noChangeArrowheads="1"/>
          </p:cNvSpPr>
          <p:nvPr/>
        </p:nvSpPr>
        <p:spPr bwMode="auto">
          <a:xfrm>
            <a:off x="425450" y="1219200"/>
            <a:ext cx="803275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a:t>
            </a:r>
            <a:r>
              <a:rPr lang="zh-CN" altLang="en-US" sz="4000">
                <a:ea typeface="楷体_GB2312" charset="0"/>
              </a:rPr>
              <a:t>对 </a:t>
            </a:r>
            <a:r>
              <a:rPr lang="en-US" altLang="zh-CN" sz="4000">
                <a:ea typeface="楷体_GB2312" charset="0"/>
              </a:rPr>
              <a:t>n </a:t>
            </a:r>
            <a:r>
              <a:rPr lang="zh-CN" altLang="en-US" sz="4000">
                <a:ea typeface="楷体_GB2312" charset="0"/>
              </a:rPr>
              <a:t>个记录进行简单选择排序，所需进行的 </a:t>
            </a:r>
            <a:r>
              <a:rPr lang="zh-CN" altLang="en-US" sz="4000" b="1">
                <a:solidFill>
                  <a:srgbClr val="840C26"/>
                </a:solidFill>
                <a:ea typeface="楷体_GB2312" charset="0"/>
              </a:rPr>
              <a:t>关键字间的比较次数 </a:t>
            </a:r>
            <a:r>
              <a:rPr lang="zh-CN" altLang="en-US" sz="4000">
                <a:ea typeface="楷体_GB2312" charset="0"/>
              </a:rPr>
              <a:t>总计为：</a:t>
            </a:r>
          </a:p>
        </p:txBody>
      </p:sp>
      <p:sp>
        <p:nvSpPr>
          <p:cNvPr id="40964" name="Text Box 4"/>
          <p:cNvSpPr txBox="1">
            <a:spLocks noChangeArrowheads="1"/>
          </p:cNvSpPr>
          <p:nvPr/>
        </p:nvSpPr>
        <p:spPr bwMode="auto">
          <a:xfrm>
            <a:off x="533400" y="4572000"/>
            <a:ext cx="81692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4000">
                <a:ea typeface="楷体_GB2312" charset="0"/>
              </a:rPr>
              <a:t>　　</a:t>
            </a:r>
            <a:r>
              <a:rPr lang="zh-CN" altLang="en-US" sz="4000" b="1">
                <a:solidFill>
                  <a:srgbClr val="840C26"/>
                </a:solidFill>
                <a:ea typeface="楷体_GB2312" charset="0"/>
              </a:rPr>
              <a:t>移动记录的次数</a:t>
            </a:r>
            <a:r>
              <a:rPr lang="zh-CN" altLang="en-US" sz="4000">
                <a:ea typeface="楷体_GB2312" charset="0"/>
              </a:rPr>
              <a:t>，</a:t>
            </a:r>
            <a:r>
              <a:rPr lang="zh-CN" altLang="en-US" sz="4000">
                <a:solidFill>
                  <a:srgbClr val="003366"/>
                </a:solidFill>
                <a:ea typeface="楷体_GB2312" charset="0"/>
              </a:rPr>
              <a:t>最小值为 </a:t>
            </a:r>
            <a:r>
              <a:rPr lang="en-US" altLang="zh-CN" sz="4000">
                <a:solidFill>
                  <a:srgbClr val="003366"/>
                </a:solidFill>
                <a:ea typeface="楷体_GB2312" charset="0"/>
              </a:rPr>
              <a:t>0,</a:t>
            </a:r>
            <a:r>
              <a:rPr lang="en-US" altLang="zh-CN" sz="4000">
                <a:ea typeface="楷体_GB2312" charset="0"/>
              </a:rPr>
              <a:t> </a:t>
            </a:r>
            <a:r>
              <a:rPr lang="zh-CN" altLang="en-US" sz="4000">
                <a:solidFill>
                  <a:srgbClr val="FF0000"/>
                </a:solidFill>
                <a:ea typeface="楷体_GB2312" charset="0"/>
              </a:rPr>
              <a:t>最大值为</a:t>
            </a:r>
            <a:r>
              <a:rPr lang="en-US" altLang="zh-CN" sz="4000">
                <a:solidFill>
                  <a:srgbClr val="FF0000"/>
                </a:solidFill>
                <a:ea typeface="楷体_GB2312" charset="0"/>
              </a:rPr>
              <a:t>3(n-1) </a:t>
            </a:r>
            <a:r>
              <a:rPr lang="zh-CN" altLang="en-US" sz="4000">
                <a:solidFill>
                  <a:srgbClr val="FF0000"/>
                </a:solidFill>
                <a:ea typeface="楷体_GB2312" charset="0"/>
              </a:rPr>
              <a:t>。</a:t>
            </a:r>
            <a:endParaRPr lang="zh-CN" altLang="en-US" sz="4000">
              <a:solidFill>
                <a:srgbClr val="FF6600"/>
              </a:solidFill>
              <a:ea typeface="楷体_GB2312" charset="0"/>
            </a:endParaRPr>
          </a:p>
        </p:txBody>
      </p:sp>
      <p:graphicFrame>
        <p:nvGraphicFramePr>
          <p:cNvPr id="40965" name="Object 5"/>
          <p:cNvGraphicFramePr>
            <a:graphicFrameLocks noChangeAspect="1"/>
          </p:cNvGraphicFramePr>
          <p:nvPr/>
        </p:nvGraphicFramePr>
        <p:xfrm>
          <a:off x="3059113" y="3141663"/>
          <a:ext cx="3429000" cy="1185862"/>
        </p:xfrm>
        <a:graphic>
          <a:graphicData uri="http://schemas.openxmlformats.org/presentationml/2006/ole">
            <mc:AlternateContent xmlns:mc="http://schemas.openxmlformats.org/markup-compatibility/2006">
              <mc:Choice xmlns:v="urn:schemas-microsoft-com:vml" Requires="v">
                <p:oleObj spid="_x0000_s1711107" name="公式" r:id="rId3" imgW="1244520" imgH="431640" progId="Equation.3">
                  <p:embed/>
                </p:oleObj>
              </mc:Choice>
              <mc:Fallback>
                <p:oleObj name="公式" r:id="rId3" imgW="124452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3141663"/>
                        <a:ext cx="3429000" cy="11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0967" name="AutoShape 7">
            <a:hlinkClick r:id="rId5" action="ppaction://hlinksldjump" highlightClick="1"/>
          </p:cNvPr>
          <p:cNvSpPr>
            <a:spLocks noChangeArrowheads="1"/>
          </p:cNvSpPr>
          <p:nvPr/>
        </p:nvSpPr>
        <p:spPr bwMode="auto">
          <a:xfrm>
            <a:off x="83058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189835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0-#ppt_w/2"/>
                                          </p:val>
                                        </p:tav>
                                        <p:tav tm="100000">
                                          <p:val>
                                            <p:strVal val="#ppt_x"/>
                                          </p:val>
                                        </p:tav>
                                      </p:tavLst>
                                    </p:anim>
                                    <p:anim calcmode="lin" valueType="num">
                                      <p:cBhvr additive="base">
                                        <p:cTn id="8" dur="500" fill="hold"/>
                                        <p:tgtEl>
                                          <p:spTgt spid="409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0963"/>
                                        </p:tgtEl>
                                        <p:attrNameLst>
                                          <p:attrName>style.visibility</p:attrName>
                                        </p:attrNameLst>
                                      </p:cBhvr>
                                      <p:to>
                                        <p:strVal val="visible"/>
                                      </p:to>
                                    </p:set>
                                    <p:animEffect transition="in" filter="wipe(left)">
                                      <p:cBhvr>
                                        <p:cTn id="13" dur="500"/>
                                        <p:tgtEl>
                                          <p:spTgt spid="4096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0965"/>
                                        </p:tgtEl>
                                        <p:attrNameLst>
                                          <p:attrName>style.visibility</p:attrName>
                                        </p:attrNameLst>
                                      </p:cBhvr>
                                      <p:to>
                                        <p:strVal val="visible"/>
                                      </p:to>
                                    </p:set>
                                    <p:animEffect transition="in" filter="wipe(left)">
                                      <p:cBhvr>
                                        <p:cTn id="17" dur="500"/>
                                        <p:tgtEl>
                                          <p:spTgt spid="409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4"/>
                                        </p:tgtEl>
                                        <p:attrNameLst>
                                          <p:attrName>style.visibility</p:attrName>
                                        </p:attrNameLst>
                                      </p:cBhvr>
                                      <p:to>
                                        <p:strVal val="visible"/>
                                      </p:to>
                                    </p:set>
                                    <p:animEffect transition="in" filter="wipe(left)">
                                      <p:cBhvr>
                                        <p:cTn id="22" dur="500"/>
                                        <p:tgtEl>
                                          <p:spTgt spid="40964"/>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40967"/>
                                        </p:tgtEl>
                                        <p:attrNameLst>
                                          <p:attrName>style.visibility</p:attrName>
                                        </p:attrNameLst>
                                      </p:cBhvr>
                                      <p:to>
                                        <p:strVal val="visible"/>
                                      </p:to>
                                    </p:set>
                                    <p:anim calcmode="lin" valueType="num">
                                      <p:cBhvr additive="base">
                                        <p:cTn id="26" dur="500" fill="hold"/>
                                        <p:tgtEl>
                                          <p:spTgt spid="40967"/>
                                        </p:tgtEl>
                                        <p:attrNameLst>
                                          <p:attrName>ppt_x</p:attrName>
                                        </p:attrNameLst>
                                      </p:cBhvr>
                                      <p:tavLst>
                                        <p:tav tm="0">
                                          <p:val>
                                            <p:strVal val="1+#ppt_w/2"/>
                                          </p:val>
                                        </p:tav>
                                        <p:tav tm="100000">
                                          <p:val>
                                            <p:strVal val="#ppt_x"/>
                                          </p:val>
                                        </p:tav>
                                      </p:tavLst>
                                    </p:anim>
                                    <p:anim calcmode="lin" valueType="num">
                                      <p:cBhvr additive="base">
                                        <p:cTn id="27"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P spid="40963" grpId="0" autoUpdateAnimBg="0"/>
      <p:bldP spid="40964" grpId="0" autoUpdateAnimBg="0"/>
      <p:bldP spid="4096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63843"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简单选择排序是一种不稳定的排序方法</a:t>
            </a:r>
          </a:p>
        </p:txBody>
      </p:sp>
      <p:sp>
        <p:nvSpPr>
          <p:cNvPr id="163844" name="Text Box 4"/>
          <p:cNvSpPr txBox="1">
            <a:spLocks noChangeArrowheads="1"/>
          </p:cNvSpPr>
          <p:nvPr/>
        </p:nvSpPr>
        <p:spPr bwMode="auto">
          <a:xfrm>
            <a:off x="0" y="2179638"/>
            <a:ext cx="873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初始序列的不同不会影响算法的效率</a:t>
            </a:r>
          </a:p>
        </p:txBody>
      </p:sp>
      <p:sp>
        <p:nvSpPr>
          <p:cNvPr id="163845"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每趟排序后都将某个数据放置在它的最终位置</a:t>
            </a:r>
          </a:p>
        </p:txBody>
      </p:sp>
    </p:spTree>
    <p:extLst>
      <p:ext uri="{BB962C8B-B14F-4D97-AF65-F5344CB8AC3E}">
        <p14:creationId xmlns:p14="http://schemas.microsoft.com/office/powerpoint/2010/main" val="8547133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 calcmode="lin" valueType="num">
                                      <p:cBhvr additive="base">
                                        <p:cTn id="7" dur="500" fill="hold"/>
                                        <p:tgtEl>
                                          <p:spTgt spid="1638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3844"/>
                                        </p:tgtEl>
                                        <p:attrNameLst>
                                          <p:attrName>style.visibility</p:attrName>
                                        </p:attrNameLst>
                                      </p:cBhvr>
                                      <p:to>
                                        <p:strVal val="visible"/>
                                      </p:to>
                                    </p:set>
                                    <p:anim calcmode="lin" valueType="num">
                                      <p:cBhvr additive="base">
                                        <p:cTn id="13" dur="500" fill="hold"/>
                                        <p:tgtEl>
                                          <p:spTgt spid="163844"/>
                                        </p:tgtEl>
                                        <p:attrNameLst>
                                          <p:attrName>ppt_x</p:attrName>
                                        </p:attrNameLst>
                                      </p:cBhvr>
                                      <p:tavLst>
                                        <p:tav tm="0">
                                          <p:val>
                                            <p:strVal val="1+#ppt_w/2"/>
                                          </p:val>
                                        </p:tav>
                                        <p:tav tm="100000">
                                          <p:val>
                                            <p:strVal val="#ppt_x"/>
                                          </p:val>
                                        </p:tav>
                                      </p:tavLst>
                                    </p:anim>
                                    <p:anim calcmode="lin" valueType="num">
                                      <p:cBhvr additive="base">
                                        <p:cTn id="14" dur="500" fill="hold"/>
                                        <p:tgtEl>
                                          <p:spTgt spid="1638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45"/>
                                        </p:tgtEl>
                                        <p:attrNameLst>
                                          <p:attrName>style.visibility</p:attrName>
                                        </p:attrNameLst>
                                      </p:cBhvr>
                                      <p:to>
                                        <p:strVal val="visible"/>
                                      </p:to>
                                    </p:set>
                                    <p:anim calcmode="lin" valueType="num">
                                      <p:cBhvr additive="base">
                                        <p:cTn id="19" dur="500" fill="hold"/>
                                        <p:tgtEl>
                                          <p:spTgt spid="163845"/>
                                        </p:tgtEl>
                                        <p:attrNameLst>
                                          <p:attrName>ppt_x</p:attrName>
                                        </p:attrNameLst>
                                      </p:cBhvr>
                                      <p:tavLst>
                                        <p:tav tm="0">
                                          <p:val>
                                            <p:strVal val="#ppt_x"/>
                                          </p:val>
                                        </p:tav>
                                        <p:tav tm="100000">
                                          <p:val>
                                            <p:strVal val="#ppt_x"/>
                                          </p:val>
                                        </p:tav>
                                      </p:tavLst>
                                    </p:anim>
                                    <p:anim calcmode="lin" valueType="num">
                                      <p:cBhvr additive="base">
                                        <p:cTn id="20" dur="500" fill="hold"/>
                                        <p:tgtEl>
                                          <p:spTgt spid="1638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P spid="16384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762000" y="228600"/>
            <a:ext cx="27479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二、堆排序</a:t>
            </a:r>
          </a:p>
        </p:txBody>
      </p:sp>
      <p:sp>
        <p:nvSpPr>
          <p:cNvPr id="41987" name="Text Box 3"/>
          <p:cNvSpPr txBox="1">
            <a:spLocks noChangeArrowheads="1"/>
          </p:cNvSpPr>
          <p:nvPr/>
        </p:nvSpPr>
        <p:spPr bwMode="auto">
          <a:xfrm>
            <a:off x="762000" y="1873250"/>
            <a:ext cx="8394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800000"/>
                </a:solidFill>
                <a:ea typeface="楷体_GB2312" charset="0"/>
              </a:rPr>
              <a:t>堆是满足下列性质的数列</a:t>
            </a:r>
            <a:r>
              <a:rPr lang="en-US" altLang="zh-CN" sz="3600">
                <a:solidFill>
                  <a:srgbClr val="800000"/>
                </a:solidFill>
                <a:ea typeface="楷体_GB2312" charset="0"/>
              </a:rPr>
              <a:t>{r</a:t>
            </a:r>
            <a:r>
              <a:rPr lang="en-US" altLang="zh-CN" sz="3600" baseline="-25000">
                <a:solidFill>
                  <a:srgbClr val="800000"/>
                </a:solidFill>
                <a:ea typeface="楷体_GB2312" charset="0"/>
              </a:rPr>
              <a:t>1</a:t>
            </a:r>
            <a:r>
              <a:rPr lang="en-US" altLang="zh-CN" sz="3600">
                <a:solidFill>
                  <a:srgbClr val="800000"/>
                </a:solidFill>
                <a:ea typeface="楷体_GB2312" charset="0"/>
              </a:rPr>
              <a:t>, r</a:t>
            </a:r>
            <a:r>
              <a:rPr lang="en-US" altLang="zh-CN" sz="3600" baseline="-25000">
                <a:solidFill>
                  <a:srgbClr val="800000"/>
                </a:solidFill>
                <a:ea typeface="楷体_GB2312" charset="0"/>
              </a:rPr>
              <a:t>2</a:t>
            </a:r>
            <a:r>
              <a:rPr lang="en-US" altLang="zh-CN" sz="3600">
                <a:solidFill>
                  <a:srgbClr val="800000"/>
                </a:solidFill>
                <a:ea typeface="楷体_GB2312" charset="0"/>
              </a:rPr>
              <a:t>, …</a:t>
            </a:r>
            <a:r>
              <a:rPr lang="zh-CN" altLang="en-US" sz="3600">
                <a:solidFill>
                  <a:srgbClr val="800000"/>
                </a:solidFill>
                <a:latin typeface="楷体_GB2312" charset="0"/>
                <a:ea typeface="楷体_GB2312" charset="0"/>
              </a:rPr>
              <a:t>，</a:t>
            </a:r>
            <a:r>
              <a:rPr lang="en-US" altLang="zh-CN" sz="3600">
                <a:solidFill>
                  <a:srgbClr val="800000"/>
                </a:solidFill>
                <a:ea typeface="楷体_GB2312" charset="0"/>
              </a:rPr>
              <a:t>r</a:t>
            </a:r>
            <a:r>
              <a:rPr lang="en-US" altLang="zh-CN" sz="3600" baseline="-25000">
                <a:solidFill>
                  <a:srgbClr val="800000"/>
                </a:solidFill>
                <a:ea typeface="楷体_GB2312" charset="0"/>
              </a:rPr>
              <a:t>n</a:t>
            </a:r>
            <a:r>
              <a:rPr lang="en-US" altLang="zh-CN" sz="3600">
                <a:solidFill>
                  <a:srgbClr val="800000"/>
                </a:solidFill>
                <a:ea typeface="楷体_GB2312" charset="0"/>
              </a:rPr>
              <a:t>}</a:t>
            </a:r>
            <a:r>
              <a:rPr lang="zh-CN" altLang="en-US" sz="3600">
                <a:solidFill>
                  <a:srgbClr val="800000"/>
                </a:solidFill>
                <a:ea typeface="楷体_GB2312" charset="0"/>
              </a:rPr>
              <a:t>：</a:t>
            </a:r>
            <a:endParaRPr lang="zh-CN" altLang="en-US" sz="4000">
              <a:solidFill>
                <a:srgbClr val="800000"/>
              </a:solidFill>
              <a:ea typeface="楷体_GB2312" charset="0"/>
            </a:endParaRPr>
          </a:p>
        </p:txBody>
      </p:sp>
      <p:sp>
        <p:nvSpPr>
          <p:cNvPr id="41991" name="Text Box 7"/>
          <p:cNvSpPr txBox="1">
            <a:spLocks noChangeArrowheads="1"/>
          </p:cNvSpPr>
          <p:nvPr/>
        </p:nvSpPr>
        <p:spPr bwMode="auto">
          <a:xfrm>
            <a:off x="4464050" y="2940050"/>
            <a:ext cx="644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0099"/>
                </a:solidFill>
              </a:rPr>
              <a:t>或</a:t>
            </a:r>
            <a:endParaRPr lang="zh-CN" altLang="en-US" sz="3600">
              <a:solidFill>
                <a:srgbClr val="000099"/>
              </a:solidFill>
            </a:endParaRPr>
          </a:p>
        </p:txBody>
      </p:sp>
      <p:graphicFrame>
        <p:nvGraphicFramePr>
          <p:cNvPr id="41992" name="Object 8"/>
          <p:cNvGraphicFramePr>
            <a:graphicFrameLocks noChangeAspect="1"/>
          </p:cNvGraphicFramePr>
          <p:nvPr/>
        </p:nvGraphicFramePr>
        <p:xfrm>
          <a:off x="1143000" y="2755900"/>
          <a:ext cx="1587500" cy="1054100"/>
        </p:xfrm>
        <a:graphic>
          <a:graphicData uri="http://schemas.openxmlformats.org/presentationml/2006/ole">
            <mc:AlternateContent xmlns:mc="http://schemas.openxmlformats.org/markup-compatibility/2006">
              <mc:Choice xmlns:v="urn:schemas-microsoft-com:vml" Requires="v">
                <p:oleObj spid="_x0000_s1713157" name="公式" r:id="rId3" imgW="1587240" imgH="1054080" progId="Equation.3">
                  <p:embed/>
                </p:oleObj>
              </mc:Choice>
              <mc:Fallback>
                <p:oleObj name="公式" r:id="rId3" imgW="1587240" imgH="10540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755900"/>
                        <a:ext cx="15875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1993" name="Object 9"/>
          <p:cNvGraphicFramePr>
            <a:graphicFrameLocks noChangeAspect="1"/>
          </p:cNvGraphicFramePr>
          <p:nvPr/>
        </p:nvGraphicFramePr>
        <p:xfrm>
          <a:off x="5181600" y="2755900"/>
          <a:ext cx="1587500" cy="1054100"/>
        </p:xfrm>
        <a:graphic>
          <a:graphicData uri="http://schemas.openxmlformats.org/presentationml/2006/ole">
            <mc:AlternateContent xmlns:mc="http://schemas.openxmlformats.org/markup-compatibility/2006">
              <mc:Choice xmlns:v="urn:schemas-microsoft-com:vml" Requires="v">
                <p:oleObj spid="_x0000_s1713158" name="公式" r:id="rId5" imgW="1587240" imgH="1054080" progId="Equation.3">
                  <p:embed/>
                </p:oleObj>
              </mc:Choice>
              <mc:Fallback>
                <p:oleObj name="公式" r:id="rId5" imgW="1587240" imgH="10540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755900"/>
                        <a:ext cx="15875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1994" name="Text Box 10"/>
          <p:cNvSpPr txBox="1">
            <a:spLocks noChangeArrowheads="1"/>
          </p:cNvSpPr>
          <p:nvPr/>
        </p:nvSpPr>
        <p:spPr bwMode="auto">
          <a:xfrm>
            <a:off x="784225" y="1143000"/>
            <a:ext cx="30257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b="1">
                <a:solidFill>
                  <a:srgbClr val="FF0000"/>
                </a:solidFill>
                <a:ea typeface="楷体_GB2312" charset="0"/>
              </a:rPr>
              <a:t>堆的定义</a:t>
            </a:r>
            <a:r>
              <a:rPr lang="en-US" altLang="zh-CN" sz="3600" b="1">
                <a:solidFill>
                  <a:srgbClr val="FF6600"/>
                </a:solidFill>
                <a:ea typeface="楷体_GB2312" charset="0"/>
              </a:rPr>
              <a:t>:</a:t>
            </a:r>
            <a:endParaRPr lang="en-US" altLang="zh-CN" sz="3600" b="1">
              <a:ea typeface="楷体_GB2312" charset="0"/>
            </a:endParaRPr>
          </a:p>
        </p:txBody>
      </p:sp>
      <p:sp>
        <p:nvSpPr>
          <p:cNvPr id="42002" name="Text Box 18"/>
          <p:cNvSpPr txBox="1">
            <a:spLocks noChangeArrowheads="1"/>
          </p:cNvSpPr>
          <p:nvPr/>
        </p:nvSpPr>
        <p:spPr bwMode="auto">
          <a:xfrm>
            <a:off x="238125" y="4886325"/>
            <a:ext cx="70072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200" b="1">
                <a:solidFill>
                  <a:schemeClr val="accent2"/>
                </a:solidFill>
              </a:rPr>
              <a:t>{12, 36, 27, 65, 40, 34, 98, 81, 73, 55, 49}</a:t>
            </a:r>
            <a:endParaRPr lang="en-US" altLang="zh-CN" b="1">
              <a:solidFill>
                <a:schemeClr val="accent2"/>
              </a:solidFill>
            </a:endParaRPr>
          </a:p>
        </p:txBody>
      </p:sp>
      <p:sp>
        <p:nvSpPr>
          <p:cNvPr id="42003" name="Text Box 19"/>
          <p:cNvSpPr txBox="1">
            <a:spLocks noChangeArrowheads="1"/>
          </p:cNvSpPr>
          <p:nvPr/>
        </p:nvSpPr>
        <p:spPr bwMode="auto">
          <a:xfrm>
            <a:off x="685800" y="411480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例如</a:t>
            </a:r>
            <a:r>
              <a:rPr lang="en-US" altLang="zh-CN" sz="3600" b="1">
                <a:solidFill>
                  <a:srgbClr val="990000"/>
                </a:solidFill>
                <a:ea typeface="隶书" charset="0"/>
              </a:rPr>
              <a:t>:</a:t>
            </a:r>
            <a:endParaRPr lang="en-US" altLang="zh-CN" sz="3600">
              <a:ea typeface="隶书" charset="0"/>
            </a:endParaRPr>
          </a:p>
        </p:txBody>
      </p:sp>
      <p:sp>
        <p:nvSpPr>
          <p:cNvPr id="42004" name="Rectangle 20"/>
          <p:cNvSpPr>
            <a:spLocks noChangeArrowheads="1"/>
          </p:cNvSpPr>
          <p:nvPr/>
        </p:nvSpPr>
        <p:spPr bwMode="auto">
          <a:xfrm>
            <a:off x="7239000" y="4953000"/>
            <a:ext cx="187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楷体_GB2312" charset="0"/>
              </a:rPr>
              <a:t>是</a:t>
            </a:r>
            <a:r>
              <a:rPr lang="zh-CN" altLang="en-US" sz="3200" b="1">
                <a:solidFill>
                  <a:srgbClr val="990000"/>
                </a:solidFill>
                <a:ea typeface="楷体_GB2312" charset="0"/>
              </a:rPr>
              <a:t>小顶堆</a:t>
            </a:r>
            <a:endParaRPr lang="zh-CN" altLang="en-US" sz="4000">
              <a:ea typeface="楷体_GB2312" charset="0"/>
            </a:endParaRPr>
          </a:p>
        </p:txBody>
      </p:sp>
      <p:sp>
        <p:nvSpPr>
          <p:cNvPr id="42005" name="Text Box 21"/>
          <p:cNvSpPr txBox="1">
            <a:spLocks noChangeArrowheads="1"/>
          </p:cNvSpPr>
          <p:nvPr/>
        </p:nvSpPr>
        <p:spPr bwMode="auto">
          <a:xfrm>
            <a:off x="228600" y="5724525"/>
            <a:ext cx="70072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200" b="1">
                <a:solidFill>
                  <a:schemeClr val="accent2"/>
                </a:solidFill>
              </a:rPr>
              <a:t>{12, 36, 27, 65, 40, </a:t>
            </a:r>
            <a:r>
              <a:rPr lang="en-US" altLang="zh-CN" sz="3200" b="1">
                <a:solidFill>
                  <a:srgbClr val="003366"/>
                </a:solidFill>
              </a:rPr>
              <a:t>14,</a:t>
            </a:r>
            <a:r>
              <a:rPr lang="en-US" altLang="zh-CN" sz="3200" b="1">
                <a:solidFill>
                  <a:schemeClr val="accent2"/>
                </a:solidFill>
              </a:rPr>
              <a:t> 98, 81, 73, 55, 49}</a:t>
            </a:r>
            <a:endParaRPr lang="en-US" altLang="zh-CN" b="1">
              <a:solidFill>
                <a:schemeClr val="accent2"/>
              </a:solidFill>
            </a:endParaRPr>
          </a:p>
        </p:txBody>
      </p:sp>
      <p:sp>
        <p:nvSpPr>
          <p:cNvPr id="42006" name="Rectangle 22"/>
          <p:cNvSpPr>
            <a:spLocks noChangeArrowheads="1"/>
          </p:cNvSpPr>
          <p:nvPr/>
        </p:nvSpPr>
        <p:spPr bwMode="auto">
          <a:xfrm>
            <a:off x="7391400" y="5759450"/>
            <a:ext cx="1565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楷体_GB2312" charset="0"/>
              </a:rPr>
              <a:t>不是堆</a:t>
            </a:r>
            <a:endParaRPr lang="zh-CN" altLang="en-US" sz="4000">
              <a:ea typeface="楷体_GB2312" charset="0"/>
            </a:endParaRPr>
          </a:p>
        </p:txBody>
      </p:sp>
      <p:sp>
        <p:nvSpPr>
          <p:cNvPr id="42007" name="Text Box 23"/>
          <p:cNvSpPr txBox="1">
            <a:spLocks noChangeArrowheads="1"/>
          </p:cNvSpPr>
          <p:nvPr/>
        </p:nvSpPr>
        <p:spPr bwMode="auto">
          <a:xfrm>
            <a:off x="2727325" y="3001963"/>
            <a:ext cx="1682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chemeClr val="accent2"/>
                </a:solidFill>
                <a:ea typeface="楷体_GB2312" charset="0"/>
              </a:rPr>
              <a:t>(</a:t>
            </a:r>
            <a:r>
              <a:rPr lang="zh-CN" altLang="en-US" sz="3200" b="1">
                <a:solidFill>
                  <a:schemeClr val="accent2"/>
                </a:solidFill>
                <a:ea typeface="楷体_GB2312" charset="0"/>
              </a:rPr>
              <a:t>小顶堆</a:t>
            </a:r>
            <a:r>
              <a:rPr lang="en-US" altLang="zh-CN" sz="3200">
                <a:solidFill>
                  <a:schemeClr val="accent2"/>
                </a:solidFill>
                <a:ea typeface="楷体_GB2312" charset="0"/>
              </a:rPr>
              <a:t>)</a:t>
            </a:r>
            <a:endParaRPr lang="en-US" altLang="zh-CN" sz="3200">
              <a:ea typeface="楷体_GB2312" charset="0"/>
            </a:endParaRPr>
          </a:p>
        </p:txBody>
      </p:sp>
      <p:sp>
        <p:nvSpPr>
          <p:cNvPr id="42008" name="Text Box 24"/>
          <p:cNvSpPr txBox="1">
            <a:spLocks noChangeArrowheads="1"/>
          </p:cNvSpPr>
          <p:nvPr/>
        </p:nvSpPr>
        <p:spPr bwMode="auto">
          <a:xfrm>
            <a:off x="6784975" y="3001963"/>
            <a:ext cx="1682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solidFill>
                  <a:schemeClr val="accent2"/>
                </a:solidFill>
                <a:ea typeface="楷体_GB2312" charset="0"/>
              </a:rPr>
              <a:t>(</a:t>
            </a:r>
            <a:r>
              <a:rPr lang="zh-CN" altLang="en-US" sz="3200" b="1">
                <a:solidFill>
                  <a:schemeClr val="accent2"/>
                </a:solidFill>
                <a:ea typeface="楷体_GB2312" charset="0"/>
              </a:rPr>
              <a:t>大顶堆</a:t>
            </a:r>
            <a:r>
              <a:rPr lang="en-US" altLang="zh-CN" sz="3200">
                <a:solidFill>
                  <a:schemeClr val="accent2"/>
                </a:solidFill>
                <a:ea typeface="楷体_GB2312" charset="0"/>
              </a:rPr>
              <a:t>)</a:t>
            </a:r>
            <a:endParaRPr lang="en-US" altLang="zh-CN" sz="3200">
              <a:ea typeface="楷体_GB2312" charset="0"/>
            </a:endParaRPr>
          </a:p>
        </p:txBody>
      </p:sp>
    </p:spTree>
    <p:extLst>
      <p:ext uri="{BB962C8B-B14F-4D97-AF65-F5344CB8AC3E}">
        <p14:creationId xmlns:p14="http://schemas.microsoft.com/office/powerpoint/2010/main" val="18734171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1994"/>
                                        </p:tgtEl>
                                        <p:attrNameLst>
                                          <p:attrName>style.visibility</p:attrName>
                                        </p:attrNameLst>
                                      </p:cBhvr>
                                      <p:to>
                                        <p:strVal val="visible"/>
                                      </p:to>
                                    </p:set>
                                    <p:animEffect transition="in" filter="wipe(left)">
                                      <p:cBhvr>
                                        <p:cTn id="12" dur="300"/>
                                        <p:tgtEl>
                                          <p:spTgt spid="419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7"/>
                                        </p:tgtEl>
                                        <p:attrNameLst>
                                          <p:attrName>style.visibility</p:attrName>
                                        </p:attrNameLst>
                                      </p:cBhvr>
                                      <p:to>
                                        <p:strVal val="visible"/>
                                      </p:to>
                                    </p:set>
                                    <p:animEffect transition="in" filter="wipe(left)">
                                      <p:cBhvr>
                                        <p:cTn id="17" dur="500"/>
                                        <p:tgtEl>
                                          <p:spTgt spid="419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1992"/>
                                        </p:tgtEl>
                                        <p:attrNameLst>
                                          <p:attrName>style.visibility</p:attrName>
                                        </p:attrNameLst>
                                      </p:cBhvr>
                                      <p:to>
                                        <p:strVal val="visible"/>
                                      </p:to>
                                    </p:set>
                                    <p:animEffect transition="in" filter="wipe(left)">
                                      <p:cBhvr>
                                        <p:cTn id="22" dur="500"/>
                                        <p:tgtEl>
                                          <p:spTgt spid="41992"/>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1991"/>
                                        </p:tgtEl>
                                        <p:attrNameLst>
                                          <p:attrName>style.visibility</p:attrName>
                                        </p:attrNameLst>
                                      </p:cBhvr>
                                      <p:to>
                                        <p:strVal val="visible"/>
                                      </p:to>
                                    </p:set>
                                    <p:animEffect transition="in" filter="wipe(left)">
                                      <p:cBhvr>
                                        <p:cTn id="26" dur="500"/>
                                        <p:tgtEl>
                                          <p:spTgt spid="41991"/>
                                        </p:tgtEl>
                                      </p:cBhvr>
                                    </p:animEffect>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41993"/>
                                        </p:tgtEl>
                                        <p:attrNameLst>
                                          <p:attrName>style.visibility</p:attrName>
                                        </p:attrNameLst>
                                      </p:cBhvr>
                                      <p:to>
                                        <p:strVal val="visible"/>
                                      </p:to>
                                    </p:set>
                                    <p:animEffect transition="in" filter="wipe(left)">
                                      <p:cBhvr>
                                        <p:cTn id="30" dur="500"/>
                                        <p:tgtEl>
                                          <p:spTgt spid="4199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2007"/>
                                        </p:tgtEl>
                                        <p:attrNameLst>
                                          <p:attrName>style.visibility</p:attrName>
                                        </p:attrNameLst>
                                      </p:cBhvr>
                                      <p:to>
                                        <p:strVal val="visible"/>
                                      </p:to>
                                    </p:set>
                                    <p:animEffect transition="in" filter="wipe(left)">
                                      <p:cBhvr>
                                        <p:cTn id="35" dur="500"/>
                                        <p:tgtEl>
                                          <p:spTgt spid="4200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2008"/>
                                        </p:tgtEl>
                                        <p:attrNameLst>
                                          <p:attrName>style.visibility</p:attrName>
                                        </p:attrNameLst>
                                      </p:cBhvr>
                                      <p:to>
                                        <p:strVal val="visible"/>
                                      </p:to>
                                    </p:set>
                                    <p:animEffect transition="in" filter="wipe(left)">
                                      <p:cBhvr>
                                        <p:cTn id="40" dur="500"/>
                                        <p:tgtEl>
                                          <p:spTgt spid="4200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2003"/>
                                        </p:tgtEl>
                                        <p:attrNameLst>
                                          <p:attrName>style.visibility</p:attrName>
                                        </p:attrNameLst>
                                      </p:cBhvr>
                                      <p:to>
                                        <p:strVal val="visible"/>
                                      </p:to>
                                    </p:set>
                                    <p:animEffect transition="in" filter="wipe(left)">
                                      <p:cBhvr>
                                        <p:cTn id="45" dur="500"/>
                                        <p:tgtEl>
                                          <p:spTgt spid="4200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2002"/>
                                        </p:tgtEl>
                                        <p:attrNameLst>
                                          <p:attrName>style.visibility</p:attrName>
                                        </p:attrNameLst>
                                      </p:cBhvr>
                                      <p:to>
                                        <p:strVal val="visible"/>
                                      </p:to>
                                    </p:set>
                                    <p:animEffect transition="in" filter="wipe(left)">
                                      <p:cBhvr>
                                        <p:cTn id="50" dur="500"/>
                                        <p:tgtEl>
                                          <p:spTgt spid="4200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iterate type="wd">
                                    <p:tmPct val="100000"/>
                                  </p:iterate>
                                  <p:childTnLst>
                                    <p:set>
                                      <p:cBhvr>
                                        <p:cTn id="54" dur="1" fill="hold">
                                          <p:stCondLst>
                                            <p:cond delay="0"/>
                                          </p:stCondLst>
                                        </p:cTn>
                                        <p:tgtEl>
                                          <p:spTgt spid="42004"/>
                                        </p:tgtEl>
                                        <p:attrNameLst>
                                          <p:attrName>style.visibility</p:attrName>
                                        </p:attrNameLst>
                                      </p:cBhvr>
                                      <p:to>
                                        <p:strVal val="visible"/>
                                      </p:to>
                                    </p:set>
                                    <p:animEffect transition="in" filter="wipe(left)">
                                      <p:cBhvr>
                                        <p:cTn id="55" dur="300"/>
                                        <p:tgtEl>
                                          <p:spTgt spid="4200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42005"/>
                                        </p:tgtEl>
                                        <p:attrNameLst>
                                          <p:attrName>style.visibility</p:attrName>
                                        </p:attrNameLst>
                                      </p:cBhvr>
                                      <p:to>
                                        <p:strVal val="visible"/>
                                      </p:to>
                                    </p:set>
                                    <p:animEffect transition="in" filter="wipe(left)">
                                      <p:cBhvr>
                                        <p:cTn id="60" dur="500"/>
                                        <p:tgtEl>
                                          <p:spTgt spid="4200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iterate type="wd">
                                    <p:tmPct val="100000"/>
                                  </p:iterate>
                                  <p:childTnLst>
                                    <p:set>
                                      <p:cBhvr>
                                        <p:cTn id="64" dur="1" fill="hold">
                                          <p:stCondLst>
                                            <p:cond delay="0"/>
                                          </p:stCondLst>
                                        </p:cTn>
                                        <p:tgtEl>
                                          <p:spTgt spid="42006"/>
                                        </p:tgtEl>
                                        <p:attrNameLst>
                                          <p:attrName>style.visibility</p:attrName>
                                        </p:attrNameLst>
                                      </p:cBhvr>
                                      <p:to>
                                        <p:strVal val="visible"/>
                                      </p:to>
                                    </p:set>
                                    <p:animEffect transition="in" filter="wipe(left)">
                                      <p:cBhvr>
                                        <p:cTn id="65" dur="300"/>
                                        <p:tgtEl>
                                          <p:spTgt spid="42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autoUpdateAnimBg="0"/>
      <p:bldP spid="41991" grpId="0" autoUpdateAnimBg="0"/>
      <p:bldP spid="41994" grpId="0" autoUpdateAnimBg="0"/>
      <p:bldP spid="42002" grpId="0" autoUpdateAnimBg="0"/>
      <p:bldP spid="42003" grpId="0" autoUpdateAnimBg="0"/>
      <p:bldP spid="42004" grpId="0" autoUpdateAnimBg="0"/>
      <p:bldP spid="42005" grpId="0" autoUpdateAnimBg="0"/>
      <p:bldP spid="42006" grpId="0" autoUpdateAnimBg="0"/>
      <p:bldP spid="42007" grpId="0" autoUpdateAnimBg="0"/>
      <p:bldP spid="42008"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Oval 2"/>
          <p:cNvSpPr>
            <a:spLocks noChangeArrowheads="1"/>
          </p:cNvSpPr>
          <p:nvPr/>
        </p:nvSpPr>
        <p:spPr bwMode="auto">
          <a:xfrm>
            <a:off x="3733800" y="1905000"/>
            <a:ext cx="1295400" cy="609600"/>
          </a:xfrm>
          <a:prstGeom prst="ellipse">
            <a:avLst/>
          </a:prstGeom>
          <a:solidFill>
            <a:srgbClr val="CCFFCC">
              <a:alpha val="50000"/>
            </a:srgbClr>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4000" b="1">
                <a:solidFill>
                  <a:srgbClr val="008784"/>
                </a:solidFill>
              </a:rPr>
              <a:t>r</a:t>
            </a:r>
            <a:r>
              <a:rPr lang="en-US" altLang="zh-CN" sz="4000" b="1" baseline="-25000">
                <a:solidFill>
                  <a:srgbClr val="008784"/>
                </a:solidFill>
              </a:rPr>
              <a:t>i</a:t>
            </a:r>
            <a:endParaRPr lang="en-US" altLang="zh-CN" sz="3600"/>
          </a:p>
        </p:txBody>
      </p:sp>
      <p:sp>
        <p:nvSpPr>
          <p:cNvPr id="125955" name="Oval 3"/>
          <p:cNvSpPr>
            <a:spLocks noChangeArrowheads="1"/>
          </p:cNvSpPr>
          <p:nvPr/>
        </p:nvSpPr>
        <p:spPr bwMode="auto">
          <a:xfrm>
            <a:off x="1371600" y="2743200"/>
            <a:ext cx="1828800" cy="609600"/>
          </a:xfrm>
          <a:prstGeom prst="ellipse">
            <a:avLst/>
          </a:prstGeom>
          <a:solidFill>
            <a:srgbClr val="CCFFCC">
              <a:alpha val="50000"/>
            </a:srgbClr>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4000" b="1">
                <a:solidFill>
                  <a:srgbClr val="008784"/>
                </a:solidFill>
              </a:rPr>
              <a:t>r</a:t>
            </a:r>
            <a:r>
              <a:rPr lang="en-US" altLang="zh-CN" sz="4000" b="1" baseline="-25000">
                <a:solidFill>
                  <a:srgbClr val="008784"/>
                </a:solidFill>
              </a:rPr>
              <a:t>2i</a:t>
            </a:r>
            <a:r>
              <a:rPr lang="en-US" altLang="zh-CN" sz="4000" b="1" baseline="-25000"/>
              <a:t> </a:t>
            </a:r>
            <a:endParaRPr lang="en-US" altLang="zh-CN" sz="3600" b="1" baseline="-25000"/>
          </a:p>
        </p:txBody>
      </p:sp>
      <p:sp>
        <p:nvSpPr>
          <p:cNvPr id="125956" name="Oval 4"/>
          <p:cNvSpPr>
            <a:spLocks noChangeArrowheads="1"/>
          </p:cNvSpPr>
          <p:nvPr/>
        </p:nvSpPr>
        <p:spPr bwMode="auto">
          <a:xfrm>
            <a:off x="5562600" y="2743200"/>
            <a:ext cx="1828800" cy="609600"/>
          </a:xfrm>
          <a:prstGeom prst="ellipse">
            <a:avLst/>
          </a:prstGeom>
          <a:solidFill>
            <a:srgbClr val="CCFFCC">
              <a:alpha val="50000"/>
            </a:srgbClr>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4000" b="1">
                <a:solidFill>
                  <a:srgbClr val="008784"/>
                </a:solidFill>
              </a:rPr>
              <a:t>r</a:t>
            </a:r>
            <a:r>
              <a:rPr lang="en-US" altLang="zh-CN" sz="4000" b="1" baseline="-25000">
                <a:solidFill>
                  <a:srgbClr val="008784"/>
                </a:solidFill>
              </a:rPr>
              <a:t>2i+1</a:t>
            </a:r>
            <a:r>
              <a:rPr lang="en-US" altLang="zh-CN" sz="4000" b="1" baseline="-25000"/>
              <a:t> </a:t>
            </a:r>
          </a:p>
        </p:txBody>
      </p:sp>
      <p:sp>
        <p:nvSpPr>
          <p:cNvPr id="125957" name="Line 5"/>
          <p:cNvSpPr>
            <a:spLocks noChangeShapeType="1"/>
          </p:cNvSpPr>
          <p:nvPr/>
        </p:nvSpPr>
        <p:spPr bwMode="auto">
          <a:xfrm flipH="1">
            <a:off x="2286000" y="2209800"/>
            <a:ext cx="1447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58" name="Line 6"/>
          <p:cNvSpPr>
            <a:spLocks noChangeShapeType="1"/>
          </p:cNvSpPr>
          <p:nvPr/>
        </p:nvSpPr>
        <p:spPr bwMode="auto">
          <a:xfrm>
            <a:off x="5029200" y="2209800"/>
            <a:ext cx="1447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59" name="Text Box 7"/>
          <p:cNvSpPr txBox="1">
            <a:spLocks noChangeArrowheads="1"/>
          </p:cNvSpPr>
          <p:nvPr/>
        </p:nvSpPr>
        <p:spPr bwMode="auto">
          <a:xfrm>
            <a:off x="457200" y="304800"/>
            <a:ext cx="8382000"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25000"/>
              </a:spcBef>
            </a:pPr>
            <a:r>
              <a:rPr lang="en-US" altLang="zh-CN" sz="3600">
                <a:solidFill>
                  <a:srgbClr val="990000"/>
                </a:solidFill>
                <a:ea typeface="楷体_GB2312" charset="0"/>
              </a:rPr>
              <a:t>    </a:t>
            </a:r>
            <a:r>
              <a:rPr lang="zh-CN" altLang="en-US" sz="3600">
                <a:solidFill>
                  <a:srgbClr val="990000"/>
                </a:solidFill>
                <a:ea typeface="楷体_GB2312" charset="0"/>
              </a:rPr>
              <a:t>若将该数列视作完全二叉树，</a:t>
            </a:r>
          </a:p>
          <a:p>
            <a:pPr algn="l">
              <a:spcBef>
                <a:spcPct val="25000"/>
              </a:spcBef>
            </a:pPr>
            <a:r>
              <a:rPr lang="zh-CN" altLang="en-US" sz="3600">
                <a:solidFill>
                  <a:srgbClr val="990000"/>
                </a:solidFill>
                <a:ea typeface="楷体_GB2312" charset="0"/>
              </a:rPr>
              <a:t>则 </a:t>
            </a:r>
            <a:r>
              <a:rPr lang="en-US" altLang="zh-CN" sz="3600" b="1">
                <a:solidFill>
                  <a:srgbClr val="990000"/>
                </a:solidFill>
                <a:ea typeface="楷体_GB2312" charset="0"/>
              </a:rPr>
              <a:t>r</a:t>
            </a:r>
            <a:r>
              <a:rPr lang="en-US" altLang="zh-CN" sz="3600" b="1" baseline="-25000">
                <a:solidFill>
                  <a:srgbClr val="990000"/>
                </a:solidFill>
                <a:ea typeface="楷体_GB2312" charset="0"/>
              </a:rPr>
              <a:t>2i</a:t>
            </a:r>
            <a:r>
              <a:rPr lang="en-US" altLang="zh-CN" sz="3600">
                <a:solidFill>
                  <a:srgbClr val="990000"/>
                </a:solidFill>
                <a:ea typeface="楷体_GB2312" charset="0"/>
              </a:rPr>
              <a:t> </a:t>
            </a:r>
            <a:r>
              <a:rPr lang="zh-CN" altLang="en-US" sz="3600">
                <a:solidFill>
                  <a:srgbClr val="990000"/>
                </a:solidFill>
                <a:ea typeface="楷体_GB2312" charset="0"/>
              </a:rPr>
              <a:t>是 </a:t>
            </a:r>
            <a:r>
              <a:rPr lang="en-US" altLang="zh-CN" sz="3600" b="1">
                <a:solidFill>
                  <a:srgbClr val="990000"/>
                </a:solidFill>
                <a:ea typeface="楷体_GB2312" charset="0"/>
              </a:rPr>
              <a:t>r</a:t>
            </a:r>
            <a:r>
              <a:rPr lang="en-US" altLang="zh-CN" sz="3600" b="1" baseline="-25000">
                <a:solidFill>
                  <a:srgbClr val="990000"/>
                </a:solidFill>
                <a:ea typeface="楷体_GB2312" charset="0"/>
              </a:rPr>
              <a:t>i</a:t>
            </a:r>
            <a:r>
              <a:rPr lang="en-US" altLang="zh-CN" sz="3600">
                <a:solidFill>
                  <a:srgbClr val="990000"/>
                </a:solidFill>
                <a:ea typeface="楷体_GB2312" charset="0"/>
              </a:rPr>
              <a:t> </a:t>
            </a:r>
            <a:r>
              <a:rPr lang="zh-CN" altLang="en-US" sz="3600">
                <a:solidFill>
                  <a:srgbClr val="990000"/>
                </a:solidFill>
                <a:ea typeface="楷体_GB2312" charset="0"/>
              </a:rPr>
              <a:t>的左孩子； </a:t>
            </a:r>
            <a:r>
              <a:rPr lang="en-US" altLang="zh-CN" sz="3600" b="1">
                <a:solidFill>
                  <a:srgbClr val="990000"/>
                </a:solidFill>
                <a:ea typeface="楷体_GB2312" charset="0"/>
              </a:rPr>
              <a:t>r</a:t>
            </a:r>
            <a:r>
              <a:rPr lang="en-US" altLang="zh-CN" sz="3600" b="1" baseline="-25000">
                <a:solidFill>
                  <a:srgbClr val="990000"/>
                </a:solidFill>
                <a:ea typeface="楷体_GB2312" charset="0"/>
              </a:rPr>
              <a:t>2i+1</a:t>
            </a:r>
            <a:r>
              <a:rPr lang="en-US" altLang="zh-CN" sz="3600">
                <a:solidFill>
                  <a:srgbClr val="990000"/>
                </a:solidFill>
                <a:ea typeface="楷体_GB2312" charset="0"/>
              </a:rPr>
              <a:t> </a:t>
            </a:r>
            <a:r>
              <a:rPr lang="zh-CN" altLang="en-US" sz="3600">
                <a:solidFill>
                  <a:srgbClr val="990000"/>
                </a:solidFill>
                <a:ea typeface="楷体_GB2312" charset="0"/>
              </a:rPr>
              <a:t>是 </a:t>
            </a:r>
            <a:r>
              <a:rPr lang="en-US" altLang="zh-CN" sz="3600" b="1">
                <a:solidFill>
                  <a:srgbClr val="990000"/>
                </a:solidFill>
                <a:ea typeface="楷体_GB2312" charset="0"/>
              </a:rPr>
              <a:t>r</a:t>
            </a:r>
            <a:r>
              <a:rPr lang="en-US" altLang="zh-CN" sz="3600" b="1" baseline="-25000">
                <a:solidFill>
                  <a:srgbClr val="990000"/>
                </a:solidFill>
                <a:ea typeface="楷体_GB2312" charset="0"/>
              </a:rPr>
              <a:t>i</a:t>
            </a:r>
            <a:r>
              <a:rPr lang="en-US" altLang="zh-CN" sz="3600">
                <a:solidFill>
                  <a:srgbClr val="990000"/>
                </a:solidFill>
                <a:ea typeface="楷体_GB2312" charset="0"/>
              </a:rPr>
              <a:t> </a:t>
            </a:r>
            <a:r>
              <a:rPr lang="zh-CN" altLang="en-US" sz="3600">
                <a:solidFill>
                  <a:srgbClr val="990000"/>
                </a:solidFill>
                <a:ea typeface="楷体_GB2312" charset="0"/>
              </a:rPr>
              <a:t>的右孩子。</a:t>
            </a:r>
            <a:endParaRPr lang="zh-CN" altLang="en-US" sz="3600" b="1">
              <a:ea typeface="楷体_GB2312" charset="0"/>
            </a:endParaRPr>
          </a:p>
        </p:txBody>
      </p:sp>
      <p:sp>
        <p:nvSpPr>
          <p:cNvPr id="125960" name="Oval 8"/>
          <p:cNvSpPr>
            <a:spLocks noChangeArrowheads="1"/>
          </p:cNvSpPr>
          <p:nvPr/>
        </p:nvSpPr>
        <p:spPr bwMode="auto">
          <a:xfrm>
            <a:off x="4419600" y="3810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8784"/>
                </a:solidFill>
              </a:rPr>
              <a:t>12</a:t>
            </a:r>
            <a:endParaRPr lang="en-US" altLang="zh-CN"/>
          </a:p>
        </p:txBody>
      </p:sp>
      <p:sp>
        <p:nvSpPr>
          <p:cNvPr id="125961" name="Oval 9"/>
          <p:cNvSpPr>
            <a:spLocks noChangeArrowheads="1"/>
          </p:cNvSpPr>
          <p:nvPr/>
        </p:nvSpPr>
        <p:spPr bwMode="auto">
          <a:xfrm>
            <a:off x="2362200" y="4572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36</a:t>
            </a:r>
            <a:endParaRPr lang="en-US" altLang="zh-CN" sz="3200" b="1"/>
          </a:p>
        </p:txBody>
      </p:sp>
      <p:sp>
        <p:nvSpPr>
          <p:cNvPr id="125962" name="Oval 10"/>
          <p:cNvSpPr>
            <a:spLocks noChangeArrowheads="1"/>
          </p:cNvSpPr>
          <p:nvPr/>
        </p:nvSpPr>
        <p:spPr bwMode="auto">
          <a:xfrm>
            <a:off x="6629400" y="4572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8784"/>
                </a:solidFill>
              </a:rPr>
              <a:t>27</a:t>
            </a:r>
            <a:endParaRPr lang="en-US" altLang="zh-CN"/>
          </a:p>
        </p:txBody>
      </p:sp>
      <p:sp>
        <p:nvSpPr>
          <p:cNvPr id="125963" name="Oval 11"/>
          <p:cNvSpPr>
            <a:spLocks noChangeArrowheads="1"/>
          </p:cNvSpPr>
          <p:nvPr/>
        </p:nvSpPr>
        <p:spPr bwMode="auto">
          <a:xfrm>
            <a:off x="990600" y="5334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65</a:t>
            </a:r>
            <a:endParaRPr lang="en-US" altLang="zh-CN"/>
          </a:p>
        </p:txBody>
      </p:sp>
      <p:sp>
        <p:nvSpPr>
          <p:cNvPr id="125964" name="Oval 12"/>
          <p:cNvSpPr>
            <a:spLocks noChangeArrowheads="1"/>
          </p:cNvSpPr>
          <p:nvPr/>
        </p:nvSpPr>
        <p:spPr bwMode="auto">
          <a:xfrm>
            <a:off x="4343400" y="6096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49</a:t>
            </a:r>
            <a:endParaRPr lang="en-US" altLang="zh-CN"/>
          </a:p>
        </p:txBody>
      </p:sp>
      <p:sp>
        <p:nvSpPr>
          <p:cNvPr id="125965" name="Oval 13"/>
          <p:cNvSpPr>
            <a:spLocks noChangeArrowheads="1"/>
          </p:cNvSpPr>
          <p:nvPr/>
        </p:nvSpPr>
        <p:spPr bwMode="auto">
          <a:xfrm>
            <a:off x="304800" y="6096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a:solidFill>
                  <a:srgbClr val="009999"/>
                </a:solidFill>
              </a:rPr>
              <a:t>81</a:t>
            </a:r>
            <a:endParaRPr lang="en-US" altLang="zh-CN"/>
          </a:p>
        </p:txBody>
      </p:sp>
      <p:sp>
        <p:nvSpPr>
          <p:cNvPr id="125966" name="Oval 14"/>
          <p:cNvSpPr>
            <a:spLocks noChangeArrowheads="1"/>
          </p:cNvSpPr>
          <p:nvPr/>
        </p:nvSpPr>
        <p:spPr bwMode="auto">
          <a:xfrm>
            <a:off x="1600200" y="6096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73</a:t>
            </a:r>
            <a:endParaRPr lang="en-US" altLang="zh-CN"/>
          </a:p>
        </p:txBody>
      </p:sp>
      <p:sp>
        <p:nvSpPr>
          <p:cNvPr id="125967" name="Oval 15"/>
          <p:cNvSpPr>
            <a:spLocks noChangeArrowheads="1"/>
          </p:cNvSpPr>
          <p:nvPr/>
        </p:nvSpPr>
        <p:spPr bwMode="auto">
          <a:xfrm>
            <a:off x="2971800" y="6096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55</a:t>
            </a:r>
            <a:endParaRPr lang="en-US" altLang="zh-CN"/>
          </a:p>
        </p:txBody>
      </p:sp>
      <p:sp>
        <p:nvSpPr>
          <p:cNvPr id="125968" name="Oval 16"/>
          <p:cNvSpPr>
            <a:spLocks noChangeArrowheads="1"/>
          </p:cNvSpPr>
          <p:nvPr/>
        </p:nvSpPr>
        <p:spPr bwMode="auto">
          <a:xfrm>
            <a:off x="3657600" y="5334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40</a:t>
            </a:r>
          </a:p>
        </p:txBody>
      </p:sp>
      <p:sp>
        <p:nvSpPr>
          <p:cNvPr id="125969" name="Oval 17"/>
          <p:cNvSpPr>
            <a:spLocks noChangeArrowheads="1"/>
          </p:cNvSpPr>
          <p:nvPr/>
        </p:nvSpPr>
        <p:spPr bwMode="auto">
          <a:xfrm>
            <a:off x="5486400" y="5334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8784"/>
                </a:solidFill>
              </a:rPr>
              <a:t>34</a:t>
            </a:r>
            <a:endParaRPr lang="en-US" altLang="zh-CN"/>
          </a:p>
        </p:txBody>
      </p:sp>
      <p:sp>
        <p:nvSpPr>
          <p:cNvPr id="125970" name="Oval 18"/>
          <p:cNvSpPr>
            <a:spLocks noChangeArrowheads="1"/>
          </p:cNvSpPr>
          <p:nvPr/>
        </p:nvSpPr>
        <p:spPr bwMode="auto">
          <a:xfrm>
            <a:off x="7848600" y="53340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9999"/>
                </a:solidFill>
              </a:rPr>
              <a:t>98</a:t>
            </a:r>
          </a:p>
        </p:txBody>
      </p:sp>
      <p:sp>
        <p:nvSpPr>
          <p:cNvPr id="125971" name="Line 19"/>
          <p:cNvSpPr>
            <a:spLocks noChangeShapeType="1"/>
          </p:cNvSpPr>
          <p:nvPr/>
        </p:nvSpPr>
        <p:spPr bwMode="auto">
          <a:xfrm flipH="1">
            <a:off x="2667000" y="4114800"/>
            <a:ext cx="1828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2" name="Line 20"/>
          <p:cNvSpPr>
            <a:spLocks noChangeShapeType="1"/>
          </p:cNvSpPr>
          <p:nvPr/>
        </p:nvSpPr>
        <p:spPr bwMode="auto">
          <a:xfrm>
            <a:off x="5029200" y="4114800"/>
            <a:ext cx="19050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3" name="Line 21"/>
          <p:cNvSpPr>
            <a:spLocks noChangeShapeType="1"/>
          </p:cNvSpPr>
          <p:nvPr/>
        </p:nvSpPr>
        <p:spPr bwMode="auto">
          <a:xfrm flipH="1">
            <a:off x="1295400" y="4800600"/>
            <a:ext cx="1066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4" name="Line 22"/>
          <p:cNvSpPr>
            <a:spLocks noChangeShapeType="1"/>
          </p:cNvSpPr>
          <p:nvPr/>
        </p:nvSpPr>
        <p:spPr bwMode="auto">
          <a:xfrm>
            <a:off x="3048000" y="4800600"/>
            <a:ext cx="914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5" name="Line 23"/>
          <p:cNvSpPr>
            <a:spLocks noChangeShapeType="1"/>
          </p:cNvSpPr>
          <p:nvPr/>
        </p:nvSpPr>
        <p:spPr bwMode="auto">
          <a:xfrm flipH="1">
            <a:off x="5791200" y="4800600"/>
            <a:ext cx="838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6" name="Line 24"/>
          <p:cNvSpPr>
            <a:spLocks noChangeShapeType="1"/>
          </p:cNvSpPr>
          <p:nvPr/>
        </p:nvSpPr>
        <p:spPr bwMode="auto">
          <a:xfrm>
            <a:off x="7315200" y="4800600"/>
            <a:ext cx="914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7" name="Line 25"/>
          <p:cNvSpPr>
            <a:spLocks noChangeShapeType="1"/>
          </p:cNvSpPr>
          <p:nvPr/>
        </p:nvSpPr>
        <p:spPr bwMode="auto">
          <a:xfrm flipH="1">
            <a:off x="609600" y="5562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8" name="Line 26"/>
          <p:cNvSpPr>
            <a:spLocks noChangeShapeType="1"/>
          </p:cNvSpPr>
          <p:nvPr/>
        </p:nvSpPr>
        <p:spPr bwMode="auto">
          <a:xfrm>
            <a:off x="1676400" y="5562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79" name="Line 27"/>
          <p:cNvSpPr>
            <a:spLocks noChangeShapeType="1"/>
          </p:cNvSpPr>
          <p:nvPr/>
        </p:nvSpPr>
        <p:spPr bwMode="auto">
          <a:xfrm flipH="1">
            <a:off x="3276600" y="5562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80" name="Line 28"/>
          <p:cNvSpPr>
            <a:spLocks noChangeShapeType="1"/>
          </p:cNvSpPr>
          <p:nvPr/>
        </p:nvSpPr>
        <p:spPr bwMode="auto">
          <a:xfrm>
            <a:off x="4343400" y="5562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5982" name="Text Box 30"/>
          <p:cNvSpPr txBox="1">
            <a:spLocks noChangeArrowheads="1"/>
          </p:cNvSpPr>
          <p:nvPr/>
        </p:nvSpPr>
        <p:spPr bwMode="auto">
          <a:xfrm>
            <a:off x="381000" y="350520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例如</a:t>
            </a:r>
            <a:r>
              <a:rPr lang="en-US" altLang="zh-CN" sz="3600" b="1">
                <a:solidFill>
                  <a:srgbClr val="990000"/>
                </a:solidFill>
                <a:ea typeface="隶书" charset="0"/>
              </a:rPr>
              <a:t>:</a:t>
            </a:r>
            <a:endParaRPr lang="en-US" altLang="zh-CN" sz="3600">
              <a:ea typeface="隶书" charset="0"/>
            </a:endParaRPr>
          </a:p>
        </p:txBody>
      </p:sp>
      <p:sp>
        <p:nvSpPr>
          <p:cNvPr id="125983" name="Rectangle 31"/>
          <p:cNvSpPr>
            <a:spLocks noChangeArrowheads="1"/>
          </p:cNvSpPr>
          <p:nvPr/>
        </p:nvSpPr>
        <p:spPr bwMode="auto">
          <a:xfrm>
            <a:off x="6629400" y="5943600"/>
            <a:ext cx="110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楷体_GB2312" charset="0"/>
              </a:rPr>
              <a:t>是堆</a:t>
            </a:r>
            <a:endParaRPr lang="zh-CN" altLang="en-US" sz="4000">
              <a:ea typeface="楷体_GB2312" charset="0"/>
            </a:endParaRPr>
          </a:p>
        </p:txBody>
      </p:sp>
      <p:sp>
        <p:nvSpPr>
          <p:cNvPr id="125984" name="Oval 32"/>
          <p:cNvSpPr>
            <a:spLocks noChangeArrowheads="1"/>
          </p:cNvSpPr>
          <p:nvPr/>
        </p:nvSpPr>
        <p:spPr bwMode="auto">
          <a:xfrm>
            <a:off x="5486400" y="5334000"/>
            <a:ext cx="685800" cy="381000"/>
          </a:xfrm>
          <a:prstGeom prst="ellipse">
            <a:avLst/>
          </a:prstGeom>
          <a:solidFill>
            <a:srgbClr val="99CC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003366"/>
                </a:solidFill>
              </a:rPr>
              <a:t>14</a:t>
            </a:r>
            <a:endParaRPr lang="en-US" altLang="zh-CN"/>
          </a:p>
        </p:txBody>
      </p:sp>
      <p:sp>
        <p:nvSpPr>
          <p:cNvPr id="125985" name="Text Box 33"/>
          <p:cNvSpPr txBox="1">
            <a:spLocks noChangeArrowheads="1"/>
          </p:cNvSpPr>
          <p:nvPr/>
        </p:nvSpPr>
        <p:spPr bwMode="auto">
          <a:xfrm>
            <a:off x="5907088" y="5805488"/>
            <a:ext cx="798512"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800" b="1">
                <a:solidFill>
                  <a:srgbClr val="003366"/>
                </a:solidFill>
                <a:ea typeface="隶书" charset="0"/>
              </a:rPr>
              <a:t>不</a:t>
            </a:r>
            <a:endParaRPr lang="zh-CN" altLang="en-US" sz="4000"/>
          </a:p>
        </p:txBody>
      </p:sp>
    </p:spTree>
    <p:extLst>
      <p:ext uri="{BB962C8B-B14F-4D97-AF65-F5344CB8AC3E}">
        <p14:creationId xmlns:p14="http://schemas.microsoft.com/office/powerpoint/2010/main" val="11358021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5959"/>
                                        </p:tgtEl>
                                        <p:attrNameLst>
                                          <p:attrName>style.visibility</p:attrName>
                                        </p:attrNameLst>
                                      </p:cBhvr>
                                      <p:to>
                                        <p:strVal val="visible"/>
                                      </p:to>
                                    </p:set>
                                    <p:animEffect transition="in" filter="wipe(left)">
                                      <p:cBhvr>
                                        <p:cTn id="7" dur="300"/>
                                        <p:tgtEl>
                                          <p:spTgt spid="1259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5954"/>
                                        </p:tgtEl>
                                        <p:attrNameLst>
                                          <p:attrName>style.visibility</p:attrName>
                                        </p:attrNameLst>
                                      </p:cBhvr>
                                      <p:to>
                                        <p:strVal val="visible"/>
                                      </p:to>
                                    </p:set>
                                    <p:animEffect transition="in" filter="wipe(up)">
                                      <p:cBhvr>
                                        <p:cTn id="12" dur="500"/>
                                        <p:tgtEl>
                                          <p:spTgt spid="125954"/>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25957"/>
                                        </p:tgtEl>
                                        <p:attrNameLst>
                                          <p:attrName>style.visibility</p:attrName>
                                        </p:attrNameLst>
                                      </p:cBhvr>
                                      <p:to>
                                        <p:strVal val="visible"/>
                                      </p:to>
                                    </p:set>
                                    <p:animEffect transition="in" filter="wipe(up)">
                                      <p:cBhvr>
                                        <p:cTn id="16" dur="500"/>
                                        <p:tgtEl>
                                          <p:spTgt spid="125957"/>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25955"/>
                                        </p:tgtEl>
                                        <p:attrNameLst>
                                          <p:attrName>style.visibility</p:attrName>
                                        </p:attrNameLst>
                                      </p:cBhvr>
                                      <p:to>
                                        <p:strVal val="visible"/>
                                      </p:to>
                                    </p:set>
                                    <p:animEffect transition="in" filter="wipe(up)">
                                      <p:cBhvr>
                                        <p:cTn id="20" dur="500"/>
                                        <p:tgtEl>
                                          <p:spTgt spid="125955"/>
                                        </p:tgtEl>
                                      </p:cBhvr>
                                    </p:animEffect>
                                  </p:childTnLst>
                                </p:cTn>
                              </p:par>
                            </p:childTnLst>
                          </p:cTn>
                        </p:par>
                        <p:par>
                          <p:cTn id="21" fill="hold" nodeType="afterGroup">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25958"/>
                                        </p:tgtEl>
                                        <p:attrNameLst>
                                          <p:attrName>style.visibility</p:attrName>
                                        </p:attrNameLst>
                                      </p:cBhvr>
                                      <p:to>
                                        <p:strVal val="visible"/>
                                      </p:to>
                                    </p:set>
                                    <p:animEffect transition="in" filter="wipe(up)">
                                      <p:cBhvr>
                                        <p:cTn id="24" dur="500"/>
                                        <p:tgtEl>
                                          <p:spTgt spid="125958"/>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25956"/>
                                        </p:tgtEl>
                                        <p:attrNameLst>
                                          <p:attrName>style.visibility</p:attrName>
                                        </p:attrNameLst>
                                      </p:cBhvr>
                                      <p:to>
                                        <p:strVal val="visible"/>
                                      </p:to>
                                    </p:set>
                                    <p:animEffect transition="in" filter="wipe(up)">
                                      <p:cBhvr>
                                        <p:cTn id="28" dur="500"/>
                                        <p:tgtEl>
                                          <p:spTgt spid="1259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5982"/>
                                        </p:tgtEl>
                                        <p:attrNameLst>
                                          <p:attrName>style.visibility</p:attrName>
                                        </p:attrNameLst>
                                      </p:cBhvr>
                                      <p:to>
                                        <p:strVal val="visible"/>
                                      </p:to>
                                    </p:set>
                                    <p:animEffect transition="in" filter="wipe(left)">
                                      <p:cBhvr>
                                        <p:cTn id="33" dur="500"/>
                                        <p:tgtEl>
                                          <p:spTgt spid="12598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25960"/>
                                        </p:tgtEl>
                                        <p:attrNameLst>
                                          <p:attrName>style.visibility</p:attrName>
                                        </p:attrNameLst>
                                      </p:cBhvr>
                                      <p:to>
                                        <p:strVal val="visible"/>
                                      </p:to>
                                    </p:set>
                                    <p:animEffect transition="in" filter="wipe(up)">
                                      <p:cBhvr>
                                        <p:cTn id="38" dur="500"/>
                                        <p:tgtEl>
                                          <p:spTgt spid="125960"/>
                                        </p:tgtEl>
                                      </p:cBhvr>
                                    </p:animEffect>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125971"/>
                                        </p:tgtEl>
                                        <p:attrNameLst>
                                          <p:attrName>style.visibility</p:attrName>
                                        </p:attrNameLst>
                                      </p:cBhvr>
                                      <p:to>
                                        <p:strVal val="visible"/>
                                      </p:to>
                                    </p:set>
                                    <p:animEffect transition="in" filter="wipe(up)">
                                      <p:cBhvr>
                                        <p:cTn id="42" dur="500"/>
                                        <p:tgtEl>
                                          <p:spTgt spid="125971"/>
                                        </p:tgtEl>
                                      </p:cBhvr>
                                    </p:animEffect>
                                  </p:childTnLst>
                                </p:cTn>
                              </p:par>
                            </p:childTnLst>
                          </p:cTn>
                        </p:par>
                        <p:par>
                          <p:cTn id="43" fill="hold" nodeType="afterGroup">
                            <p:stCondLst>
                              <p:cond delay="1000"/>
                            </p:stCondLst>
                            <p:childTnLst>
                              <p:par>
                                <p:cTn id="44" presetID="22" presetClass="entr" presetSubtype="1" fill="hold" grpId="0" nodeType="afterEffect">
                                  <p:stCondLst>
                                    <p:cond delay="0"/>
                                  </p:stCondLst>
                                  <p:childTnLst>
                                    <p:set>
                                      <p:cBhvr>
                                        <p:cTn id="45" dur="1" fill="hold">
                                          <p:stCondLst>
                                            <p:cond delay="0"/>
                                          </p:stCondLst>
                                        </p:cTn>
                                        <p:tgtEl>
                                          <p:spTgt spid="125961"/>
                                        </p:tgtEl>
                                        <p:attrNameLst>
                                          <p:attrName>style.visibility</p:attrName>
                                        </p:attrNameLst>
                                      </p:cBhvr>
                                      <p:to>
                                        <p:strVal val="visible"/>
                                      </p:to>
                                    </p:set>
                                    <p:animEffect transition="in" filter="wipe(up)">
                                      <p:cBhvr>
                                        <p:cTn id="46" dur="500"/>
                                        <p:tgtEl>
                                          <p:spTgt spid="125961"/>
                                        </p:tgtEl>
                                      </p:cBhvr>
                                    </p:animEffect>
                                  </p:childTnLst>
                                </p:cTn>
                              </p:par>
                            </p:childTnLst>
                          </p:cTn>
                        </p:par>
                        <p:par>
                          <p:cTn id="47" fill="hold" nodeType="afterGroup">
                            <p:stCondLst>
                              <p:cond delay="1500"/>
                            </p:stCondLst>
                            <p:childTnLst>
                              <p:par>
                                <p:cTn id="48" presetID="22" presetClass="entr" presetSubtype="1" fill="hold" grpId="0" nodeType="afterEffect">
                                  <p:stCondLst>
                                    <p:cond delay="0"/>
                                  </p:stCondLst>
                                  <p:childTnLst>
                                    <p:set>
                                      <p:cBhvr>
                                        <p:cTn id="49" dur="1" fill="hold">
                                          <p:stCondLst>
                                            <p:cond delay="0"/>
                                          </p:stCondLst>
                                        </p:cTn>
                                        <p:tgtEl>
                                          <p:spTgt spid="125972"/>
                                        </p:tgtEl>
                                        <p:attrNameLst>
                                          <p:attrName>style.visibility</p:attrName>
                                        </p:attrNameLst>
                                      </p:cBhvr>
                                      <p:to>
                                        <p:strVal val="visible"/>
                                      </p:to>
                                    </p:set>
                                    <p:animEffect transition="in" filter="wipe(up)">
                                      <p:cBhvr>
                                        <p:cTn id="50" dur="500"/>
                                        <p:tgtEl>
                                          <p:spTgt spid="125972"/>
                                        </p:tgtEl>
                                      </p:cBhvr>
                                    </p:animEffect>
                                  </p:childTnLst>
                                </p:cTn>
                              </p:par>
                            </p:childTnLst>
                          </p:cTn>
                        </p:par>
                        <p:par>
                          <p:cTn id="51" fill="hold" nodeType="afterGroup">
                            <p:stCondLst>
                              <p:cond delay="2000"/>
                            </p:stCondLst>
                            <p:childTnLst>
                              <p:par>
                                <p:cTn id="52" presetID="22" presetClass="entr" presetSubtype="1" fill="hold" grpId="0" nodeType="afterEffect">
                                  <p:stCondLst>
                                    <p:cond delay="0"/>
                                  </p:stCondLst>
                                  <p:childTnLst>
                                    <p:set>
                                      <p:cBhvr>
                                        <p:cTn id="53" dur="1" fill="hold">
                                          <p:stCondLst>
                                            <p:cond delay="0"/>
                                          </p:stCondLst>
                                        </p:cTn>
                                        <p:tgtEl>
                                          <p:spTgt spid="125962"/>
                                        </p:tgtEl>
                                        <p:attrNameLst>
                                          <p:attrName>style.visibility</p:attrName>
                                        </p:attrNameLst>
                                      </p:cBhvr>
                                      <p:to>
                                        <p:strVal val="visible"/>
                                      </p:to>
                                    </p:set>
                                    <p:animEffect transition="in" filter="wipe(up)">
                                      <p:cBhvr>
                                        <p:cTn id="54" dur="500"/>
                                        <p:tgtEl>
                                          <p:spTgt spid="125962"/>
                                        </p:tgtEl>
                                      </p:cBhvr>
                                    </p:animEffect>
                                  </p:childTnLst>
                                </p:cTn>
                              </p:par>
                            </p:childTnLst>
                          </p:cTn>
                        </p:par>
                        <p:par>
                          <p:cTn id="55" fill="hold" nodeType="afterGroup">
                            <p:stCondLst>
                              <p:cond delay="2500"/>
                            </p:stCondLst>
                            <p:childTnLst>
                              <p:par>
                                <p:cTn id="56" presetID="22" presetClass="entr" presetSubtype="1" fill="hold" grpId="0" nodeType="afterEffect">
                                  <p:stCondLst>
                                    <p:cond delay="0"/>
                                  </p:stCondLst>
                                  <p:childTnLst>
                                    <p:set>
                                      <p:cBhvr>
                                        <p:cTn id="57" dur="1" fill="hold">
                                          <p:stCondLst>
                                            <p:cond delay="0"/>
                                          </p:stCondLst>
                                        </p:cTn>
                                        <p:tgtEl>
                                          <p:spTgt spid="125973"/>
                                        </p:tgtEl>
                                        <p:attrNameLst>
                                          <p:attrName>style.visibility</p:attrName>
                                        </p:attrNameLst>
                                      </p:cBhvr>
                                      <p:to>
                                        <p:strVal val="visible"/>
                                      </p:to>
                                    </p:set>
                                    <p:animEffect transition="in" filter="wipe(up)">
                                      <p:cBhvr>
                                        <p:cTn id="58" dur="500"/>
                                        <p:tgtEl>
                                          <p:spTgt spid="125973"/>
                                        </p:tgtEl>
                                      </p:cBhvr>
                                    </p:animEffect>
                                  </p:childTnLst>
                                </p:cTn>
                              </p:par>
                            </p:childTnLst>
                          </p:cTn>
                        </p:par>
                        <p:par>
                          <p:cTn id="59" fill="hold" nodeType="afterGroup">
                            <p:stCondLst>
                              <p:cond delay="3000"/>
                            </p:stCondLst>
                            <p:childTnLst>
                              <p:par>
                                <p:cTn id="60" presetID="22" presetClass="entr" presetSubtype="1" fill="hold" grpId="0" nodeType="afterEffect">
                                  <p:stCondLst>
                                    <p:cond delay="0"/>
                                  </p:stCondLst>
                                  <p:childTnLst>
                                    <p:set>
                                      <p:cBhvr>
                                        <p:cTn id="61" dur="1" fill="hold">
                                          <p:stCondLst>
                                            <p:cond delay="0"/>
                                          </p:stCondLst>
                                        </p:cTn>
                                        <p:tgtEl>
                                          <p:spTgt spid="125963"/>
                                        </p:tgtEl>
                                        <p:attrNameLst>
                                          <p:attrName>style.visibility</p:attrName>
                                        </p:attrNameLst>
                                      </p:cBhvr>
                                      <p:to>
                                        <p:strVal val="visible"/>
                                      </p:to>
                                    </p:set>
                                    <p:animEffect transition="in" filter="wipe(up)">
                                      <p:cBhvr>
                                        <p:cTn id="62" dur="500"/>
                                        <p:tgtEl>
                                          <p:spTgt spid="125963"/>
                                        </p:tgtEl>
                                      </p:cBhvr>
                                    </p:animEffect>
                                  </p:childTnLst>
                                </p:cTn>
                              </p:par>
                            </p:childTnLst>
                          </p:cTn>
                        </p:par>
                        <p:par>
                          <p:cTn id="63" fill="hold" nodeType="afterGroup">
                            <p:stCondLst>
                              <p:cond delay="3500"/>
                            </p:stCondLst>
                            <p:childTnLst>
                              <p:par>
                                <p:cTn id="64" presetID="22" presetClass="entr" presetSubtype="1" fill="hold" grpId="0" nodeType="afterEffect">
                                  <p:stCondLst>
                                    <p:cond delay="0"/>
                                  </p:stCondLst>
                                  <p:childTnLst>
                                    <p:set>
                                      <p:cBhvr>
                                        <p:cTn id="65" dur="1" fill="hold">
                                          <p:stCondLst>
                                            <p:cond delay="0"/>
                                          </p:stCondLst>
                                        </p:cTn>
                                        <p:tgtEl>
                                          <p:spTgt spid="125974"/>
                                        </p:tgtEl>
                                        <p:attrNameLst>
                                          <p:attrName>style.visibility</p:attrName>
                                        </p:attrNameLst>
                                      </p:cBhvr>
                                      <p:to>
                                        <p:strVal val="visible"/>
                                      </p:to>
                                    </p:set>
                                    <p:animEffect transition="in" filter="wipe(up)">
                                      <p:cBhvr>
                                        <p:cTn id="66" dur="500"/>
                                        <p:tgtEl>
                                          <p:spTgt spid="125974"/>
                                        </p:tgtEl>
                                      </p:cBhvr>
                                    </p:animEffect>
                                  </p:childTnLst>
                                </p:cTn>
                              </p:par>
                            </p:childTnLst>
                          </p:cTn>
                        </p:par>
                        <p:par>
                          <p:cTn id="67" fill="hold" nodeType="afterGroup">
                            <p:stCondLst>
                              <p:cond delay="4000"/>
                            </p:stCondLst>
                            <p:childTnLst>
                              <p:par>
                                <p:cTn id="68" presetID="22" presetClass="entr" presetSubtype="1" fill="hold" grpId="0" nodeType="afterEffect">
                                  <p:stCondLst>
                                    <p:cond delay="0"/>
                                  </p:stCondLst>
                                  <p:childTnLst>
                                    <p:set>
                                      <p:cBhvr>
                                        <p:cTn id="69" dur="1" fill="hold">
                                          <p:stCondLst>
                                            <p:cond delay="0"/>
                                          </p:stCondLst>
                                        </p:cTn>
                                        <p:tgtEl>
                                          <p:spTgt spid="125968"/>
                                        </p:tgtEl>
                                        <p:attrNameLst>
                                          <p:attrName>style.visibility</p:attrName>
                                        </p:attrNameLst>
                                      </p:cBhvr>
                                      <p:to>
                                        <p:strVal val="visible"/>
                                      </p:to>
                                    </p:set>
                                    <p:animEffect transition="in" filter="wipe(up)">
                                      <p:cBhvr>
                                        <p:cTn id="70" dur="500"/>
                                        <p:tgtEl>
                                          <p:spTgt spid="125968"/>
                                        </p:tgtEl>
                                      </p:cBhvr>
                                    </p:animEffect>
                                  </p:childTnLst>
                                </p:cTn>
                              </p:par>
                            </p:childTnLst>
                          </p:cTn>
                        </p:par>
                        <p:par>
                          <p:cTn id="71" fill="hold" nodeType="afterGroup">
                            <p:stCondLst>
                              <p:cond delay="4500"/>
                            </p:stCondLst>
                            <p:childTnLst>
                              <p:par>
                                <p:cTn id="72" presetID="22" presetClass="entr" presetSubtype="1" fill="hold" grpId="0" nodeType="afterEffect">
                                  <p:stCondLst>
                                    <p:cond delay="0"/>
                                  </p:stCondLst>
                                  <p:childTnLst>
                                    <p:set>
                                      <p:cBhvr>
                                        <p:cTn id="73" dur="1" fill="hold">
                                          <p:stCondLst>
                                            <p:cond delay="0"/>
                                          </p:stCondLst>
                                        </p:cTn>
                                        <p:tgtEl>
                                          <p:spTgt spid="125975"/>
                                        </p:tgtEl>
                                        <p:attrNameLst>
                                          <p:attrName>style.visibility</p:attrName>
                                        </p:attrNameLst>
                                      </p:cBhvr>
                                      <p:to>
                                        <p:strVal val="visible"/>
                                      </p:to>
                                    </p:set>
                                    <p:animEffect transition="in" filter="wipe(up)">
                                      <p:cBhvr>
                                        <p:cTn id="74" dur="500"/>
                                        <p:tgtEl>
                                          <p:spTgt spid="125975"/>
                                        </p:tgtEl>
                                      </p:cBhvr>
                                    </p:animEffect>
                                  </p:childTnLst>
                                </p:cTn>
                              </p:par>
                            </p:childTnLst>
                          </p:cTn>
                        </p:par>
                        <p:par>
                          <p:cTn id="75" fill="hold" nodeType="afterGroup">
                            <p:stCondLst>
                              <p:cond delay="5000"/>
                            </p:stCondLst>
                            <p:childTnLst>
                              <p:par>
                                <p:cTn id="76" presetID="22" presetClass="entr" presetSubtype="1" fill="hold" grpId="0" nodeType="afterEffect">
                                  <p:stCondLst>
                                    <p:cond delay="0"/>
                                  </p:stCondLst>
                                  <p:childTnLst>
                                    <p:set>
                                      <p:cBhvr>
                                        <p:cTn id="77" dur="1" fill="hold">
                                          <p:stCondLst>
                                            <p:cond delay="0"/>
                                          </p:stCondLst>
                                        </p:cTn>
                                        <p:tgtEl>
                                          <p:spTgt spid="125969"/>
                                        </p:tgtEl>
                                        <p:attrNameLst>
                                          <p:attrName>style.visibility</p:attrName>
                                        </p:attrNameLst>
                                      </p:cBhvr>
                                      <p:to>
                                        <p:strVal val="visible"/>
                                      </p:to>
                                    </p:set>
                                    <p:animEffect transition="in" filter="wipe(up)">
                                      <p:cBhvr>
                                        <p:cTn id="78" dur="500"/>
                                        <p:tgtEl>
                                          <p:spTgt spid="125969"/>
                                        </p:tgtEl>
                                      </p:cBhvr>
                                    </p:animEffect>
                                  </p:childTnLst>
                                </p:cTn>
                              </p:par>
                            </p:childTnLst>
                          </p:cTn>
                        </p:par>
                        <p:par>
                          <p:cTn id="79" fill="hold" nodeType="afterGroup">
                            <p:stCondLst>
                              <p:cond delay="5500"/>
                            </p:stCondLst>
                            <p:childTnLst>
                              <p:par>
                                <p:cTn id="80" presetID="22" presetClass="entr" presetSubtype="1" fill="hold" grpId="0" nodeType="afterEffect">
                                  <p:stCondLst>
                                    <p:cond delay="0"/>
                                  </p:stCondLst>
                                  <p:childTnLst>
                                    <p:set>
                                      <p:cBhvr>
                                        <p:cTn id="81" dur="1" fill="hold">
                                          <p:stCondLst>
                                            <p:cond delay="0"/>
                                          </p:stCondLst>
                                        </p:cTn>
                                        <p:tgtEl>
                                          <p:spTgt spid="125976"/>
                                        </p:tgtEl>
                                        <p:attrNameLst>
                                          <p:attrName>style.visibility</p:attrName>
                                        </p:attrNameLst>
                                      </p:cBhvr>
                                      <p:to>
                                        <p:strVal val="visible"/>
                                      </p:to>
                                    </p:set>
                                    <p:animEffect transition="in" filter="wipe(up)">
                                      <p:cBhvr>
                                        <p:cTn id="82" dur="500"/>
                                        <p:tgtEl>
                                          <p:spTgt spid="125976"/>
                                        </p:tgtEl>
                                      </p:cBhvr>
                                    </p:animEffect>
                                  </p:childTnLst>
                                </p:cTn>
                              </p:par>
                            </p:childTnLst>
                          </p:cTn>
                        </p:par>
                        <p:par>
                          <p:cTn id="83" fill="hold" nodeType="afterGroup">
                            <p:stCondLst>
                              <p:cond delay="6000"/>
                            </p:stCondLst>
                            <p:childTnLst>
                              <p:par>
                                <p:cTn id="84" presetID="22" presetClass="entr" presetSubtype="1" fill="hold" grpId="0" nodeType="afterEffect">
                                  <p:stCondLst>
                                    <p:cond delay="0"/>
                                  </p:stCondLst>
                                  <p:childTnLst>
                                    <p:set>
                                      <p:cBhvr>
                                        <p:cTn id="85" dur="1" fill="hold">
                                          <p:stCondLst>
                                            <p:cond delay="0"/>
                                          </p:stCondLst>
                                        </p:cTn>
                                        <p:tgtEl>
                                          <p:spTgt spid="125970"/>
                                        </p:tgtEl>
                                        <p:attrNameLst>
                                          <p:attrName>style.visibility</p:attrName>
                                        </p:attrNameLst>
                                      </p:cBhvr>
                                      <p:to>
                                        <p:strVal val="visible"/>
                                      </p:to>
                                    </p:set>
                                    <p:animEffect transition="in" filter="wipe(up)">
                                      <p:cBhvr>
                                        <p:cTn id="86" dur="500"/>
                                        <p:tgtEl>
                                          <p:spTgt spid="125970"/>
                                        </p:tgtEl>
                                      </p:cBhvr>
                                    </p:animEffect>
                                  </p:childTnLst>
                                </p:cTn>
                              </p:par>
                            </p:childTnLst>
                          </p:cTn>
                        </p:par>
                        <p:par>
                          <p:cTn id="87" fill="hold" nodeType="afterGroup">
                            <p:stCondLst>
                              <p:cond delay="6500"/>
                            </p:stCondLst>
                            <p:childTnLst>
                              <p:par>
                                <p:cTn id="88" presetID="22" presetClass="entr" presetSubtype="1" fill="hold" grpId="0" nodeType="afterEffect">
                                  <p:stCondLst>
                                    <p:cond delay="0"/>
                                  </p:stCondLst>
                                  <p:childTnLst>
                                    <p:set>
                                      <p:cBhvr>
                                        <p:cTn id="89" dur="1" fill="hold">
                                          <p:stCondLst>
                                            <p:cond delay="0"/>
                                          </p:stCondLst>
                                        </p:cTn>
                                        <p:tgtEl>
                                          <p:spTgt spid="125977"/>
                                        </p:tgtEl>
                                        <p:attrNameLst>
                                          <p:attrName>style.visibility</p:attrName>
                                        </p:attrNameLst>
                                      </p:cBhvr>
                                      <p:to>
                                        <p:strVal val="visible"/>
                                      </p:to>
                                    </p:set>
                                    <p:animEffect transition="in" filter="wipe(up)">
                                      <p:cBhvr>
                                        <p:cTn id="90" dur="500"/>
                                        <p:tgtEl>
                                          <p:spTgt spid="125977"/>
                                        </p:tgtEl>
                                      </p:cBhvr>
                                    </p:animEffect>
                                  </p:childTnLst>
                                </p:cTn>
                              </p:par>
                            </p:childTnLst>
                          </p:cTn>
                        </p:par>
                        <p:par>
                          <p:cTn id="91" fill="hold" nodeType="afterGroup">
                            <p:stCondLst>
                              <p:cond delay="7000"/>
                            </p:stCondLst>
                            <p:childTnLst>
                              <p:par>
                                <p:cTn id="92" presetID="22" presetClass="entr" presetSubtype="1" fill="hold" grpId="0" nodeType="afterEffect">
                                  <p:stCondLst>
                                    <p:cond delay="0"/>
                                  </p:stCondLst>
                                  <p:childTnLst>
                                    <p:set>
                                      <p:cBhvr>
                                        <p:cTn id="93" dur="1" fill="hold">
                                          <p:stCondLst>
                                            <p:cond delay="0"/>
                                          </p:stCondLst>
                                        </p:cTn>
                                        <p:tgtEl>
                                          <p:spTgt spid="125965"/>
                                        </p:tgtEl>
                                        <p:attrNameLst>
                                          <p:attrName>style.visibility</p:attrName>
                                        </p:attrNameLst>
                                      </p:cBhvr>
                                      <p:to>
                                        <p:strVal val="visible"/>
                                      </p:to>
                                    </p:set>
                                    <p:animEffect transition="in" filter="wipe(up)">
                                      <p:cBhvr>
                                        <p:cTn id="94" dur="500"/>
                                        <p:tgtEl>
                                          <p:spTgt spid="125965"/>
                                        </p:tgtEl>
                                      </p:cBhvr>
                                    </p:animEffect>
                                  </p:childTnLst>
                                </p:cTn>
                              </p:par>
                            </p:childTnLst>
                          </p:cTn>
                        </p:par>
                        <p:par>
                          <p:cTn id="95" fill="hold" nodeType="afterGroup">
                            <p:stCondLst>
                              <p:cond delay="7500"/>
                            </p:stCondLst>
                            <p:childTnLst>
                              <p:par>
                                <p:cTn id="96" presetID="22" presetClass="entr" presetSubtype="1" fill="hold" grpId="0" nodeType="afterEffect">
                                  <p:stCondLst>
                                    <p:cond delay="0"/>
                                  </p:stCondLst>
                                  <p:childTnLst>
                                    <p:set>
                                      <p:cBhvr>
                                        <p:cTn id="97" dur="1" fill="hold">
                                          <p:stCondLst>
                                            <p:cond delay="0"/>
                                          </p:stCondLst>
                                        </p:cTn>
                                        <p:tgtEl>
                                          <p:spTgt spid="125978"/>
                                        </p:tgtEl>
                                        <p:attrNameLst>
                                          <p:attrName>style.visibility</p:attrName>
                                        </p:attrNameLst>
                                      </p:cBhvr>
                                      <p:to>
                                        <p:strVal val="visible"/>
                                      </p:to>
                                    </p:set>
                                    <p:animEffect transition="in" filter="wipe(up)">
                                      <p:cBhvr>
                                        <p:cTn id="98" dur="500"/>
                                        <p:tgtEl>
                                          <p:spTgt spid="125978"/>
                                        </p:tgtEl>
                                      </p:cBhvr>
                                    </p:animEffect>
                                  </p:childTnLst>
                                </p:cTn>
                              </p:par>
                            </p:childTnLst>
                          </p:cTn>
                        </p:par>
                        <p:par>
                          <p:cTn id="99" fill="hold" nodeType="afterGroup">
                            <p:stCondLst>
                              <p:cond delay="8000"/>
                            </p:stCondLst>
                            <p:childTnLst>
                              <p:par>
                                <p:cTn id="100" presetID="22" presetClass="entr" presetSubtype="1" fill="hold" grpId="0" nodeType="afterEffect">
                                  <p:stCondLst>
                                    <p:cond delay="0"/>
                                  </p:stCondLst>
                                  <p:childTnLst>
                                    <p:set>
                                      <p:cBhvr>
                                        <p:cTn id="101" dur="1" fill="hold">
                                          <p:stCondLst>
                                            <p:cond delay="0"/>
                                          </p:stCondLst>
                                        </p:cTn>
                                        <p:tgtEl>
                                          <p:spTgt spid="125966"/>
                                        </p:tgtEl>
                                        <p:attrNameLst>
                                          <p:attrName>style.visibility</p:attrName>
                                        </p:attrNameLst>
                                      </p:cBhvr>
                                      <p:to>
                                        <p:strVal val="visible"/>
                                      </p:to>
                                    </p:set>
                                    <p:animEffect transition="in" filter="wipe(up)">
                                      <p:cBhvr>
                                        <p:cTn id="102" dur="500"/>
                                        <p:tgtEl>
                                          <p:spTgt spid="125966"/>
                                        </p:tgtEl>
                                      </p:cBhvr>
                                    </p:animEffect>
                                  </p:childTnLst>
                                </p:cTn>
                              </p:par>
                            </p:childTnLst>
                          </p:cTn>
                        </p:par>
                        <p:par>
                          <p:cTn id="103" fill="hold" nodeType="afterGroup">
                            <p:stCondLst>
                              <p:cond delay="8500"/>
                            </p:stCondLst>
                            <p:childTnLst>
                              <p:par>
                                <p:cTn id="104" presetID="22" presetClass="entr" presetSubtype="1" fill="hold" grpId="0" nodeType="afterEffect">
                                  <p:stCondLst>
                                    <p:cond delay="0"/>
                                  </p:stCondLst>
                                  <p:childTnLst>
                                    <p:set>
                                      <p:cBhvr>
                                        <p:cTn id="105" dur="1" fill="hold">
                                          <p:stCondLst>
                                            <p:cond delay="0"/>
                                          </p:stCondLst>
                                        </p:cTn>
                                        <p:tgtEl>
                                          <p:spTgt spid="125979"/>
                                        </p:tgtEl>
                                        <p:attrNameLst>
                                          <p:attrName>style.visibility</p:attrName>
                                        </p:attrNameLst>
                                      </p:cBhvr>
                                      <p:to>
                                        <p:strVal val="visible"/>
                                      </p:to>
                                    </p:set>
                                    <p:animEffect transition="in" filter="wipe(up)">
                                      <p:cBhvr>
                                        <p:cTn id="106" dur="500"/>
                                        <p:tgtEl>
                                          <p:spTgt spid="125979"/>
                                        </p:tgtEl>
                                      </p:cBhvr>
                                    </p:animEffect>
                                  </p:childTnLst>
                                </p:cTn>
                              </p:par>
                            </p:childTnLst>
                          </p:cTn>
                        </p:par>
                        <p:par>
                          <p:cTn id="107" fill="hold" nodeType="afterGroup">
                            <p:stCondLst>
                              <p:cond delay="9000"/>
                            </p:stCondLst>
                            <p:childTnLst>
                              <p:par>
                                <p:cTn id="108" presetID="22" presetClass="entr" presetSubtype="1" fill="hold" grpId="0" nodeType="afterEffect">
                                  <p:stCondLst>
                                    <p:cond delay="0"/>
                                  </p:stCondLst>
                                  <p:childTnLst>
                                    <p:set>
                                      <p:cBhvr>
                                        <p:cTn id="109" dur="1" fill="hold">
                                          <p:stCondLst>
                                            <p:cond delay="0"/>
                                          </p:stCondLst>
                                        </p:cTn>
                                        <p:tgtEl>
                                          <p:spTgt spid="125967"/>
                                        </p:tgtEl>
                                        <p:attrNameLst>
                                          <p:attrName>style.visibility</p:attrName>
                                        </p:attrNameLst>
                                      </p:cBhvr>
                                      <p:to>
                                        <p:strVal val="visible"/>
                                      </p:to>
                                    </p:set>
                                    <p:animEffect transition="in" filter="wipe(up)">
                                      <p:cBhvr>
                                        <p:cTn id="110" dur="500"/>
                                        <p:tgtEl>
                                          <p:spTgt spid="125967"/>
                                        </p:tgtEl>
                                      </p:cBhvr>
                                    </p:animEffect>
                                  </p:childTnLst>
                                </p:cTn>
                              </p:par>
                            </p:childTnLst>
                          </p:cTn>
                        </p:par>
                        <p:par>
                          <p:cTn id="111" fill="hold" nodeType="afterGroup">
                            <p:stCondLst>
                              <p:cond delay="9500"/>
                            </p:stCondLst>
                            <p:childTnLst>
                              <p:par>
                                <p:cTn id="112" presetID="22" presetClass="entr" presetSubtype="1" fill="hold" grpId="0" nodeType="afterEffect">
                                  <p:stCondLst>
                                    <p:cond delay="0"/>
                                  </p:stCondLst>
                                  <p:childTnLst>
                                    <p:set>
                                      <p:cBhvr>
                                        <p:cTn id="113" dur="1" fill="hold">
                                          <p:stCondLst>
                                            <p:cond delay="0"/>
                                          </p:stCondLst>
                                        </p:cTn>
                                        <p:tgtEl>
                                          <p:spTgt spid="125980"/>
                                        </p:tgtEl>
                                        <p:attrNameLst>
                                          <p:attrName>style.visibility</p:attrName>
                                        </p:attrNameLst>
                                      </p:cBhvr>
                                      <p:to>
                                        <p:strVal val="visible"/>
                                      </p:to>
                                    </p:set>
                                    <p:animEffect transition="in" filter="wipe(up)">
                                      <p:cBhvr>
                                        <p:cTn id="114" dur="500"/>
                                        <p:tgtEl>
                                          <p:spTgt spid="125980"/>
                                        </p:tgtEl>
                                      </p:cBhvr>
                                    </p:animEffect>
                                  </p:childTnLst>
                                </p:cTn>
                              </p:par>
                            </p:childTnLst>
                          </p:cTn>
                        </p:par>
                        <p:par>
                          <p:cTn id="115" fill="hold" nodeType="afterGroup">
                            <p:stCondLst>
                              <p:cond delay="10000"/>
                            </p:stCondLst>
                            <p:childTnLst>
                              <p:par>
                                <p:cTn id="116" presetID="22" presetClass="entr" presetSubtype="1" fill="hold" grpId="0" nodeType="afterEffect">
                                  <p:stCondLst>
                                    <p:cond delay="0"/>
                                  </p:stCondLst>
                                  <p:childTnLst>
                                    <p:set>
                                      <p:cBhvr>
                                        <p:cTn id="117" dur="1" fill="hold">
                                          <p:stCondLst>
                                            <p:cond delay="0"/>
                                          </p:stCondLst>
                                        </p:cTn>
                                        <p:tgtEl>
                                          <p:spTgt spid="125964"/>
                                        </p:tgtEl>
                                        <p:attrNameLst>
                                          <p:attrName>style.visibility</p:attrName>
                                        </p:attrNameLst>
                                      </p:cBhvr>
                                      <p:to>
                                        <p:strVal val="visible"/>
                                      </p:to>
                                    </p:set>
                                    <p:animEffect transition="in" filter="wipe(up)">
                                      <p:cBhvr>
                                        <p:cTn id="118" dur="500"/>
                                        <p:tgtEl>
                                          <p:spTgt spid="12596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iterate type="wd">
                                    <p:tmPct val="100000"/>
                                  </p:iterate>
                                  <p:childTnLst>
                                    <p:set>
                                      <p:cBhvr>
                                        <p:cTn id="122" dur="1" fill="hold">
                                          <p:stCondLst>
                                            <p:cond delay="0"/>
                                          </p:stCondLst>
                                        </p:cTn>
                                        <p:tgtEl>
                                          <p:spTgt spid="125983"/>
                                        </p:tgtEl>
                                        <p:attrNameLst>
                                          <p:attrName>style.visibility</p:attrName>
                                        </p:attrNameLst>
                                      </p:cBhvr>
                                      <p:to>
                                        <p:strVal val="visible"/>
                                      </p:to>
                                    </p:set>
                                    <p:animEffect transition="in" filter="wipe(left)">
                                      <p:cBhvr>
                                        <p:cTn id="123" dur="300"/>
                                        <p:tgtEl>
                                          <p:spTgt spid="12598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25984"/>
                                        </p:tgtEl>
                                        <p:attrNameLst>
                                          <p:attrName>style.visibility</p:attrName>
                                        </p:attrNameLst>
                                      </p:cBhvr>
                                      <p:to>
                                        <p:strVal val="visible"/>
                                      </p:to>
                                    </p:set>
                                    <p:animEffect transition="in" filter="wipe(left)">
                                      <p:cBhvr>
                                        <p:cTn id="128" dur="500"/>
                                        <p:tgtEl>
                                          <p:spTgt spid="125984"/>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iterate type="wd">
                                    <p:tmPct val="100000"/>
                                  </p:iterate>
                                  <p:childTnLst>
                                    <p:set>
                                      <p:cBhvr>
                                        <p:cTn id="132" dur="1" fill="hold">
                                          <p:stCondLst>
                                            <p:cond delay="0"/>
                                          </p:stCondLst>
                                        </p:cTn>
                                        <p:tgtEl>
                                          <p:spTgt spid="125985"/>
                                        </p:tgtEl>
                                        <p:attrNameLst>
                                          <p:attrName>style.visibility</p:attrName>
                                        </p:attrNameLst>
                                      </p:cBhvr>
                                      <p:to>
                                        <p:strVal val="visible"/>
                                      </p:to>
                                    </p:set>
                                    <p:animEffect transition="in" filter="wipe(left)">
                                      <p:cBhvr>
                                        <p:cTn id="133" dur="300"/>
                                        <p:tgtEl>
                                          <p:spTgt spid="125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animBg="1" autoUpdateAnimBg="0"/>
      <p:bldP spid="125955" grpId="0" animBg="1" autoUpdateAnimBg="0"/>
      <p:bldP spid="125956" grpId="0" animBg="1" autoUpdateAnimBg="0"/>
      <p:bldP spid="125957" grpId="0" animBg="1"/>
      <p:bldP spid="125958" grpId="0" animBg="1"/>
      <p:bldP spid="125959" grpId="0" autoUpdateAnimBg="0"/>
      <p:bldP spid="125960" grpId="0" animBg="1" autoUpdateAnimBg="0"/>
      <p:bldP spid="125961" grpId="0" animBg="1" autoUpdateAnimBg="0"/>
      <p:bldP spid="125962" grpId="0" animBg="1" autoUpdateAnimBg="0"/>
      <p:bldP spid="125963" grpId="0" animBg="1" autoUpdateAnimBg="0"/>
      <p:bldP spid="125964" grpId="0" animBg="1" autoUpdateAnimBg="0"/>
      <p:bldP spid="125965" grpId="0" animBg="1" autoUpdateAnimBg="0"/>
      <p:bldP spid="125966" grpId="0" animBg="1" autoUpdateAnimBg="0"/>
      <p:bldP spid="125967" grpId="0" animBg="1" autoUpdateAnimBg="0"/>
      <p:bldP spid="125968" grpId="0" animBg="1" autoUpdateAnimBg="0"/>
      <p:bldP spid="125969" grpId="0" animBg="1" autoUpdateAnimBg="0"/>
      <p:bldP spid="125970" grpId="0" animBg="1" autoUpdateAnimBg="0"/>
      <p:bldP spid="125971" grpId="0" animBg="1"/>
      <p:bldP spid="125972" grpId="0" animBg="1"/>
      <p:bldP spid="125973" grpId="0" animBg="1"/>
      <p:bldP spid="125974" grpId="0" animBg="1"/>
      <p:bldP spid="125975" grpId="0" animBg="1"/>
      <p:bldP spid="125976" grpId="0" animBg="1"/>
      <p:bldP spid="125977" grpId="0" animBg="1"/>
      <p:bldP spid="125978" grpId="0" animBg="1"/>
      <p:bldP spid="125979" grpId="0" animBg="1"/>
      <p:bldP spid="125980" grpId="0" animBg="1"/>
      <p:bldP spid="125982" grpId="0" autoUpdateAnimBg="0"/>
      <p:bldP spid="125983" grpId="0" autoUpdateAnimBg="0"/>
      <p:bldP spid="125984" grpId="0" animBg="1" autoUpdateAnimBg="0"/>
      <p:bldP spid="125985"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609600" y="152400"/>
            <a:ext cx="8305800" cy="148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4000">
                <a:solidFill>
                  <a:srgbClr val="000080"/>
                </a:solidFill>
                <a:ea typeface="楷体_GB2312" charset="0"/>
              </a:rPr>
              <a:t>　</a:t>
            </a:r>
            <a:r>
              <a:rPr lang="zh-CN" altLang="en-US" sz="3600" b="1">
                <a:solidFill>
                  <a:srgbClr val="840C26"/>
                </a:solidFill>
                <a:ea typeface="楷体_GB2312" charset="0"/>
              </a:rPr>
              <a:t>堆排序即是利用</a:t>
            </a:r>
            <a:r>
              <a:rPr lang="zh-CN" altLang="en-US" sz="3600" b="1">
                <a:solidFill>
                  <a:srgbClr val="FF0000"/>
                </a:solidFill>
                <a:ea typeface="楷体_GB2312" charset="0"/>
              </a:rPr>
              <a:t>堆的特性</a:t>
            </a:r>
            <a:r>
              <a:rPr lang="zh-CN" altLang="en-US" sz="3600" b="1">
                <a:solidFill>
                  <a:srgbClr val="840C26"/>
                </a:solidFill>
                <a:ea typeface="楷体_GB2312" charset="0"/>
              </a:rPr>
              <a:t>对记录序列进行排序的一种排序方法。</a:t>
            </a:r>
            <a:endParaRPr lang="zh-CN" altLang="en-US" sz="3600">
              <a:ea typeface="楷体_GB2312" charset="0"/>
            </a:endParaRPr>
          </a:p>
        </p:txBody>
      </p:sp>
      <p:sp>
        <p:nvSpPr>
          <p:cNvPr id="43013" name="Text Box 5"/>
          <p:cNvSpPr txBox="1">
            <a:spLocks noChangeArrowheads="1"/>
          </p:cNvSpPr>
          <p:nvPr/>
        </p:nvSpPr>
        <p:spPr bwMode="auto">
          <a:xfrm>
            <a:off x="152400" y="1466850"/>
            <a:ext cx="1565275"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3600" b="1">
                <a:solidFill>
                  <a:srgbClr val="008784"/>
                </a:solidFill>
                <a:ea typeface="隶书" charset="0"/>
              </a:rPr>
              <a:t>例如：</a:t>
            </a:r>
            <a:endParaRPr lang="zh-CN" altLang="en-US" sz="3600"/>
          </a:p>
        </p:txBody>
      </p:sp>
      <p:sp>
        <p:nvSpPr>
          <p:cNvPr id="43014" name="AutoShape 6"/>
          <p:cNvSpPr>
            <a:spLocks noChangeArrowheads="1"/>
          </p:cNvSpPr>
          <p:nvPr/>
        </p:nvSpPr>
        <p:spPr bwMode="auto">
          <a:xfrm>
            <a:off x="3733800" y="2667000"/>
            <a:ext cx="457200" cy="685800"/>
          </a:xfrm>
          <a:prstGeom prst="downArrow">
            <a:avLst>
              <a:gd name="adj1" fmla="val 50000"/>
              <a:gd name="adj2" fmla="val 375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43015" name="Text Box 7"/>
          <p:cNvSpPr txBox="1">
            <a:spLocks noChangeArrowheads="1"/>
          </p:cNvSpPr>
          <p:nvPr/>
        </p:nvSpPr>
        <p:spPr bwMode="auto">
          <a:xfrm>
            <a:off x="4441825" y="2635250"/>
            <a:ext cx="2111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a:solidFill>
                  <a:srgbClr val="0000FF"/>
                </a:solidFill>
                <a:ea typeface="隶书" charset="0"/>
              </a:rPr>
              <a:t>建大顶堆</a:t>
            </a:r>
            <a:endParaRPr lang="zh-CN" altLang="en-US"/>
          </a:p>
        </p:txBody>
      </p:sp>
      <p:sp>
        <p:nvSpPr>
          <p:cNvPr id="43016" name="Text Box 8"/>
          <p:cNvSpPr txBox="1">
            <a:spLocks noChangeArrowheads="1"/>
          </p:cNvSpPr>
          <p:nvPr/>
        </p:nvSpPr>
        <p:spPr bwMode="auto">
          <a:xfrm>
            <a:off x="1171575" y="3276600"/>
            <a:ext cx="7400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3366"/>
                </a:solidFill>
              </a:rPr>
              <a:t>{ </a:t>
            </a:r>
            <a:r>
              <a:rPr lang="en-US" altLang="zh-CN" sz="3600" b="1">
                <a:solidFill>
                  <a:srgbClr val="FF0000"/>
                </a:solidFill>
              </a:rPr>
              <a:t>98,</a:t>
            </a:r>
            <a:r>
              <a:rPr lang="en-US" altLang="zh-CN" sz="3600" b="1">
                <a:solidFill>
                  <a:srgbClr val="003366"/>
                </a:solidFill>
              </a:rPr>
              <a:t> 81, 49, 73, 36, 27, 40, 55, 64, 12 }</a:t>
            </a:r>
            <a:endParaRPr lang="en-US" altLang="zh-CN"/>
          </a:p>
        </p:txBody>
      </p:sp>
      <p:sp>
        <p:nvSpPr>
          <p:cNvPr id="43017" name="AutoShape 9"/>
          <p:cNvSpPr>
            <a:spLocks noChangeArrowheads="1"/>
          </p:cNvSpPr>
          <p:nvPr/>
        </p:nvSpPr>
        <p:spPr bwMode="auto">
          <a:xfrm>
            <a:off x="3733800" y="3962400"/>
            <a:ext cx="457200" cy="685800"/>
          </a:xfrm>
          <a:prstGeom prst="downArrow">
            <a:avLst>
              <a:gd name="adj1" fmla="val 50000"/>
              <a:gd name="adj2" fmla="val 375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43018" name="Text Box 10"/>
          <p:cNvSpPr txBox="1">
            <a:spLocks noChangeArrowheads="1"/>
          </p:cNvSpPr>
          <p:nvPr/>
        </p:nvSpPr>
        <p:spPr bwMode="auto">
          <a:xfrm>
            <a:off x="1171575" y="4648200"/>
            <a:ext cx="7400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3366"/>
                </a:solidFill>
              </a:rPr>
              <a:t>{ </a:t>
            </a:r>
            <a:r>
              <a:rPr lang="en-US" altLang="zh-CN" sz="3600" b="1">
                <a:solidFill>
                  <a:srgbClr val="990000"/>
                </a:solidFill>
              </a:rPr>
              <a:t>12,</a:t>
            </a:r>
            <a:r>
              <a:rPr lang="en-US" altLang="zh-CN" sz="3600" b="1">
                <a:solidFill>
                  <a:srgbClr val="003366"/>
                </a:solidFill>
              </a:rPr>
              <a:t> 81, 49, 73, 36, 27, 40, 55, 64</a:t>
            </a:r>
            <a:r>
              <a:rPr lang="en-US" altLang="zh-CN" sz="3600" b="1">
                <a:solidFill>
                  <a:srgbClr val="009999"/>
                </a:solidFill>
              </a:rPr>
              <a:t>, 98</a:t>
            </a:r>
            <a:r>
              <a:rPr lang="en-US" altLang="zh-CN" sz="3600" b="1">
                <a:solidFill>
                  <a:srgbClr val="003366"/>
                </a:solidFill>
              </a:rPr>
              <a:t> }</a:t>
            </a:r>
            <a:endParaRPr lang="en-US" altLang="zh-CN"/>
          </a:p>
        </p:txBody>
      </p:sp>
      <p:sp>
        <p:nvSpPr>
          <p:cNvPr id="43019" name="Text Box 11"/>
          <p:cNvSpPr txBox="1">
            <a:spLocks noChangeArrowheads="1"/>
          </p:cNvSpPr>
          <p:nvPr/>
        </p:nvSpPr>
        <p:spPr bwMode="auto">
          <a:xfrm>
            <a:off x="4479925" y="3930650"/>
            <a:ext cx="3155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00FF"/>
                </a:solidFill>
                <a:latin typeface="隶书" charset="0"/>
                <a:ea typeface="隶书" charset="0"/>
              </a:rPr>
              <a:t>交换 </a:t>
            </a:r>
            <a:r>
              <a:rPr lang="en-US" altLang="zh-CN" sz="3600">
                <a:solidFill>
                  <a:srgbClr val="0000FF"/>
                </a:solidFill>
                <a:latin typeface="隶书" charset="0"/>
                <a:ea typeface="隶书" charset="0"/>
              </a:rPr>
              <a:t>98 </a:t>
            </a:r>
            <a:r>
              <a:rPr lang="zh-CN" altLang="en-US" sz="3600">
                <a:solidFill>
                  <a:srgbClr val="0000FF"/>
                </a:solidFill>
                <a:latin typeface="隶书" charset="0"/>
                <a:ea typeface="隶书" charset="0"/>
              </a:rPr>
              <a:t>和 </a:t>
            </a:r>
            <a:r>
              <a:rPr lang="en-US" altLang="zh-CN" sz="3600">
                <a:solidFill>
                  <a:srgbClr val="0000FF"/>
                </a:solidFill>
                <a:latin typeface="隶书" charset="0"/>
                <a:ea typeface="隶书" charset="0"/>
              </a:rPr>
              <a:t>12</a:t>
            </a:r>
            <a:endParaRPr lang="en-US" altLang="zh-CN"/>
          </a:p>
        </p:txBody>
      </p:sp>
      <p:sp>
        <p:nvSpPr>
          <p:cNvPr id="43020" name="AutoShape 12"/>
          <p:cNvSpPr>
            <a:spLocks noChangeArrowheads="1"/>
          </p:cNvSpPr>
          <p:nvPr/>
        </p:nvSpPr>
        <p:spPr bwMode="auto">
          <a:xfrm>
            <a:off x="3733800" y="5257800"/>
            <a:ext cx="457200" cy="685800"/>
          </a:xfrm>
          <a:prstGeom prst="downArrow">
            <a:avLst>
              <a:gd name="adj1" fmla="val 50000"/>
              <a:gd name="adj2" fmla="val 375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p>
            <a:endParaRPr lang="zh-CN" altLang="en-US"/>
          </a:p>
        </p:txBody>
      </p:sp>
      <p:sp>
        <p:nvSpPr>
          <p:cNvPr id="43021" name="Text Box 13"/>
          <p:cNvSpPr txBox="1">
            <a:spLocks noChangeArrowheads="1"/>
          </p:cNvSpPr>
          <p:nvPr/>
        </p:nvSpPr>
        <p:spPr bwMode="auto">
          <a:xfrm>
            <a:off x="4556125" y="5226050"/>
            <a:ext cx="3841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zh-CN" sz="3600">
                <a:solidFill>
                  <a:srgbClr val="0000FF"/>
                </a:solidFill>
                <a:ea typeface="隶书" charset="0"/>
              </a:rPr>
              <a:t>重新调整为大顶堆</a:t>
            </a:r>
            <a:endParaRPr lang="zh-CN" altLang="en-US"/>
          </a:p>
        </p:txBody>
      </p:sp>
      <p:sp>
        <p:nvSpPr>
          <p:cNvPr id="43022" name="Text Box 14"/>
          <p:cNvSpPr txBox="1">
            <a:spLocks noChangeArrowheads="1"/>
          </p:cNvSpPr>
          <p:nvPr/>
        </p:nvSpPr>
        <p:spPr bwMode="auto">
          <a:xfrm>
            <a:off x="1165225" y="5988050"/>
            <a:ext cx="74453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en-US" altLang="zh-CN" sz="3600" b="1">
                <a:solidFill>
                  <a:srgbClr val="003366"/>
                </a:solidFill>
              </a:rPr>
              <a:t>{ </a:t>
            </a:r>
            <a:r>
              <a:rPr lang="en-US" altLang="zh-CN" sz="3600" b="1">
                <a:solidFill>
                  <a:srgbClr val="FF0000"/>
                </a:solidFill>
              </a:rPr>
              <a:t>81,</a:t>
            </a:r>
            <a:r>
              <a:rPr lang="en-US" altLang="zh-CN" sz="3600" b="1">
                <a:solidFill>
                  <a:srgbClr val="003366"/>
                </a:solidFill>
              </a:rPr>
              <a:t> 73, 49, 64, 36, 27, 40, 55, 12</a:t>
            </a:r>
            <a:r>
              <a:rPr lang="en-US" altLang="zh-CN" sz="3600" b="1">
                <a:solidFill>
                  <a:srgbClr val="009999"/>
                </a:solidFill>
              </a:rPr>
              <a:t>, 98</a:t>
            </a:r>
            <a:r>
              <a:rPr lang="en-US" altLang="zh-CN" sz="3600" b="1">
                <a:solidFill>
                  <a:srgbClr val="003366"/>
                </a:solidFill>
              </a:rPr>
              <a:t> }</a:t>
            </a:r>
            <a:endParaRPr lang="en-US" altLang="zh-CN"/>
          </a:p>
        </p:txBody>
      </p:sp>
      <p:sp>
        <p:nvSpPr>
          <p:cNvPr id="43023" name="Rectangle 15"/>
          <p:cNvSpPr>
            <a:spLocks noChangeArrowheads="1"/>
          </p:cNvSpPr>
          <p:nvPr/>
        </p:nvSpPr>
        <p:spPr bwMode="auto">
          <a:xfrm>
            <a:off x="1143000" y="1981200"/>
            <a:ext cx="7400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003366"/>
                </a:solidFill>
                <a:ea typeface="楷体_GB2312" charset="0"/>
              </a:rPr>
              <a:t>{ 40, 55, 49, 73, 12, 27, 98, 81, 64, 36 }</a:t>
            </a:r>
            <a:endParaRPr lang="en-US" altLang="zh-CN" sz="3600">
              <a:ea typeface="楷体_GB2312" charset="0"/>
            </a:endParaRPr>
          </a:p>
        </p:txBody>
      </p:sp>
      <p:sp>
        <p:nvSpPr>
          <p:cNvPr id="43024" name="Text Box 16"/>
          <p:cNvSpPr txBox="1">
            <a:spLocks noChangeArrowheads="1"/>
          </p:cNvSpPr>
          <p:nvPr/>
        </p:nvSpPr>
        <p:spPr bwMode="auto">
          <a:xfrm>
            <a:off x="1676400" y="5257800"/>
            <a:ext cx="201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zh-CN" sz="3600">
                <a:solidFill>
                  <a:srgbClr val="0000FF"/>
                </a:solidFill>
                <a:ea typeface="隶书" charset="0"/>
              </a:rPr>
              <a:t>经过筛选</a:t>
            </a:r>
            <a:endParaRPr lang="zh-CN" altLang="en-US"/>
          </a:p>
        </p:txBody>
      </p:sp>
    </p:spTree>
    <p:extLst>
      <p:ext uri="{BB962C8B-B14F-4D97-AF65-F5344CB8AC3E}">
        <p14:creationId xmlns:p14="http://schemas.microsoft.com/office/powerpoint/2010/main" val="140718371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3010"/>
                                        </p:tgtEl>
                                        <p:attrNameLst>
                                          <p:attrName>style.visibility</p:attrName>
                                        </p:attrNameLst>
                                      </p:cBhvr>
                                      <p:to>
                                        <p:strVal val="visible"/>
                                      </p:to>
                                    </p:set>
                                    <p:animEffect transition="in" filter="wipe(left)">
                                      <p:cBhvr>
                                        <p:cTn id="7" dur="300"/>
                                        <p:tgtEl>
                                          <p:spTgt spid="43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3013"/>
                                        </p:tgtEl>
                                        <p:attrNameLst>
                                          <p:attrName>style.visibility</p:attrName>
                                        </p:attrNameLst>
                                      </p:cBhvr>
                                      <p:to>
                                        <p:strVal val="visible"/>
                                      </p:to>
                                    </p:set>
                                    <p:animEffect transition="in" filter="strips(downRight)">
                                      <p:cBhvr>
                                        <p:cTn id="12" dur="500"/>
                                        <p:tgtEl>
                                          <p:spTgt spid="430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23"/>
                                        </p:tgtEl>
                                        <p:attrNameLst>
                                          <p:attrName>style.visibility</p:attrName>
                                        </p:attrNameLst>
                                      </p:cBhvr>
                                      <p:to>
                                        <p:strVal val="visible"/>
                                      </p:to>
                                    </p:set>
                                    <p:animEffect transition="in" filter="wipe(left)">
                                      <p:cBhvr>
                                        <p:cTn id="17" dur="500"/>
                                        <p:tgtEl>
                                          <p:spTgt spid="430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015"/>
                                        </p:tgtEl>
                                        <p:attrNameLst>
                                          <p:attrName>style.visibility</p:attrName>
                                        </p:attrNameLst>
                                      </p:cBhvr>
                                      <p:to>
                                        <p:strVal val="visible"/>
                                      </p:to>
                                    </p:set>
                                    <p:animEffect transition="in" filter="wipe(up)">
                                      <p:cBhvr>
                                        <p:cTn id="22" dur="500"/>
                                        <p:tgtEl>
                                          <p:spTgt spid="43015"/>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43014"/>
                                        </p:tgtEl>
                                        <p:attrNameLst>
                                          <p:attrName>style.visibility</p:attrName>
                                        </p:attrNameLst>
                                      </p:cBhvr>
                                      <p:to>
                                        <p:strVal val="visible"/>
                                      </p:to>
                                    </p:set>
                                    <p:animEffect transition="in" filter="wipe(up)">
                                      <p:cBhvr>
                                        <p:cTn id="26" dur="500"/>
                                        <p:tgtEl>
                                          <p:spTgt spid="430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3016"/>
                                        </p:tgtEl>
                                        <p:attrNameLst>
                                          <p:attrName>style.visibility</p:attrName>
                                        </p:attrNameLst>
                                      </p:cBhvr>
                                      <p:to>
                                        <p:strVal val="visible"/>
                                      </p:to>
                                    </p:set>
                                    <p:animEffect transition="in" filter="wipe(left)">
                                      <p:cBhvr>
                                        <p:cTn id="31" dur="500"/>
                                        <p:tgtEl>
                                          <p:spTgt spid="430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3019"/>
                                        </p:tgtEl>
                                        <p:attrNameLst>
                                          <p:attrName>style.visibility</p:attrName>
                                        </p:attrNameLst>
                                      </p:cBhvr>
                                      <p:to>
                                        <p:strVal val="visible"/>
                                      </p:to>
                                    </p:set>
                                    <p:animEffect transition="in" filter="wipe(up)">
                                      <p:cBhvr>
                                        <p:cTn id="36" dur="500"/>
                                        <p:tgtEl>
                                          <p:spTgt spid="43019"/>
                                        </p:tgtEl>
                                      </p:cBhvr>
                                    </p:animEffect>
                                  </p:childTnLst>
                                </p:cTn>
                              </p:par>
                            </p:childTnLst>
                          </p:cTn>
                        </p:par>
                        <p:par>
                          <p:cTn id="37" fill="hold" nodeType="afterGroup">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43017"/>
                                        </p:tgtEl>
                                        <p:attrNameLst>
                                          <p:attrName>style.visibility</p:attrName>
                                        </p:attrNameLst>
                                      </p:cBhvr>
                                      <p:to>
                                        <p:strVal val="visible"/>
                                      </p:to>
                                    </p:set>
                                    <p:animEffect transition="in" filter="wipe(up)">
                                      <p:cBhvr>
                                        <p:cTn id="40" dur="500"/>
                                        <p:tgtEl>
                                          <p:spTgt spid="4301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3018"/>
                                        </p:tgtEl>
                                        <p:attrNameLst>
                                          <p:attrName>style.visibility</p:attrName>
                                        </p:attrNameLst>
                                      </p:cBhvr>
                                      <p:to>
                                        <p:strVal val="visible"/>
                                      </p:to>
                                    </p:set>
                                    <p:animEffect transition="in" filter="wipe(left)">
                                      <p:cBhvr>
                                        <p:cTn id="45" dur="500"/>
                                        <p:tgtEl>
                                          <p:spTgt spid="4301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43024"/>
                                        </p:tgtEl>
                                        <p:attrNameLst>
                                          <p:attrName>style.visibility</p:attrName>
                                        </p:attrNameLst>
                                      </p:cBhvr>
                                      <p:to>
                                        <p:strVal val="visible"/>
                                      </p:to>
                                    </p:set>
                                    <p:animEffect transition="in" filter="wipe(up)">
                                      <p:cBhvr>
                                        <p:cTn id="50" dur="500"/>
                                        <p:tgtEl>
                                          <p:spTgt spid="43024"/>
                                        </p:tgtEl>
                                      </p:cBhvr>
                                    </p:animEffect>
                                  </p:childTnLst>
                                </p:cTn>
                              </p:par>
                            </p:childTnLst>
                          </p:cTn>
                        </p:par>
                        <p:par>
                          <p:cTn id="51" fill="hold" nodeType="afterGroup">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43021"/>
                                        </p:tgtEl>
                                        <p:attrNameLst>
                                          <p:attrName>style.visibility</p:attrName>
                                        </p:attrNameLst>
                                      </p:cBhvr>
                                      <p:to>
                                        <p:strVal val="visible"/>
                                      </p:to>
                                    </p:set>
                                    <p:animEffect transition="in" filter="wipe(up)">
                                      <p:cBhvr>
                                        <p:cTn id="54" dur="500"/>
                                        <p:tgtEl>
                                          <p:spTgt spid="43021"/>
                                        </p:tgtEl>
                                      </p:cBhvr>
                                    </p:animEffect>
                                  </p:childTnLst>
                                </p:cTn>
                              </p:par>
                            </p:childTnLst>
                          </p:cTn>
                        </p:par>
                        <p:par>
                          <p:cTn id="55" fill="hold" nodeType="afterGroup">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43020"/>
                                        </p:tgtEl>
                                        <p:attrNameLst>
                                          <p:attrName>style.visibility</p:attrName>
                                        </p:attrNameLst>
                                      </p:cBhvr>
                                      <p:to>
                                        <p:strVal val="visible"/>
                                      </p:to>
                                    </p:set>
                                    <p:animEffect transition="in" filter="wipe(up)">
                                      <p:cBhvr>
                                        <p:cTn id="58" dur="500"/>
                                        <p:tgtEl>
                                          <p:spTgt spid="4302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43022"/>
                                        </p:tgtEl>
                                        <p:attrNameLst>
                                          <p:attrName>style.visibility</p:attrName>
                                        </p:attrNameLst>
                                      </p:cBhvr>
                                      <p:to>
                                        <p:strVal val="visible"/>
                                      </p:to>
                                    </p:set>
                                    <p:animEffect transition="in" filter="wipe(left)">
                                      <p:cBhvr>
                                        <p:cTn id="63" dur="500"/>
                                        <p:tgtEl>
                                          <p:spTgt spid="43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3" grpId="0" autoUpdateAnimBg="0"/>
      <p:bldP spid="43014" grpId="0" animBg="1"/>
      <p:bldP spid="43015" grpId="0" autoUpdateAnimBg="0"/>
      <p:bldP spid="43016" grpId="0" autoUpdateAnimBg="0"/>
      <p:bldP spid="43017" grpId="0" animBg="1"/>
      <p:bldP spid="43018" grpId="0" autoUpdateAnimBg="0"/>
      <p:bldP spid="43019" grpId="0" autoUpdateAnimBg="0"/>
      <p:bldP spid="43020" grpId="0" animBg="1"/>
      <p:bldP spid="43021" grpId="0" autoUpdateAnimBg="0"/>
      <p:bldP spid="43022" grpId="0" autoUpdateAnimBg="0"/>
      <p:bldP spid="43023" grpId="0" autoUpdateAnimBg="0"/>
      <p:bldP spid="43024"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a:hlinkClick r:id="rId2" action="ppaction://hlinksldjump"/>
          </p:cNvPr>
          <p:cNvSpPr txBox="1">
            <a:spLocks noChangeArrowheads="1"/>
          </p:cNvSpPr>
          <p:nvPr/>
        </p:nvSpPr>
        <p:spPr bwMode="auto">
          <a:xfrm>
            <a:off x="1517650" y="3946525"/>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3366"/>
                </a:solidFill>
                <a:ea typeface="楷体_GB2312" charset="0"/>
              </a:rPr>
              <a:t>如何“建堆”？</a:t>
            </a:r>
            <a:endParaRPr lang="zh-CN" altLang="en-US" sz="4000">
              <a:ea typeface="楷体_GB2312" charset="0"/>
            </a:endParaRPr>
          </a:p>
        </p:txBody>
      </p:sp>
      <p:sp>
        <p:nvSpPr>
          <p:cNvPr id="126979" name="Text Box 3"/>
          <p:cNvSpPr txBox="1">
            <a:spLocks noChangeArrowheads="1"/>
          </p:cNvSpPr>
          <p:nvPr/>
        </p:nvSpPr>
        <p:spPr bwMode="auto">
          <a:xfrm>
            <a:off x="1176338" y="2681288"/>
            <a:ext cx="28448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800" b="1">
                <a:solidFill>
                  <a:srgbClr val="008784"/>
                </a:solidFill>
                <a:ea typeface="楷体_GB2312" charset="0"/>
              </a:rPr>
              <a:t>两个问题</a:t>
            </a:r>
            <a:r>
              <a:rPr lang="en-US" altLang="zh-CN" sz="4800" b="1">
                <a:solidFill>
                  <a:srgbClr val="008784"/>
                </a:solidFill>
                <a:ea typeface="楷体_GB2312" charset="0"/>
              </a:rPr>
              <a:t>:</a:t>
            </a:r>
            <a:endParaRPr lang="en-US" altLang="zh-CN" sz="4800">
              <a:ea typeface="楷体_GB2312" charset="0"/>
            </a:endParaRPr>
          </a:p>
        </p:txBody>
      </p:sp>
      <p:sp>
        <p:nvSpPr>
          <p:cNvPr id="126980" name="Text Box 4">
            <a:hlinkClick r:id="" action="ppaction://hlinkshowjump?jump=nextslide"/>
          </p:cNvPr>
          <p:cNvSpPr txBox="1">
            <a:spLocks noChangeArrowheads="1"/>
          </p:cNvSpPr>
          <p:nvPr/>
        </p:nvSpPr>
        <p:spPr bwMode="auto">
          <a:xfrm>
            <a:off x="1517650" y="5165725"/>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3366"/>
                </a:solidFill>
                <a:ea typeface="楷体_GB2312" charset="0"/>
              </a:rPr>
              <a:t>如何“筛选”？</a:t>
            </a:r>
            <a:endParaRPr lang="zh-CN" altLang="en-US" sz="4000" b="1">
              <a:ea typeface="楷体_GB2312" charset="0"/>
            </a:endParaRPr>
          </a:p>
        </p:txBody>
      </p:sp>
      <p:sp>
        <p:nvSpPr>
          <p:cNvPr id="126982" name="Text Box 6"/>
          <p:cNvSpPr txBox="1">
            <a:spLocks noChangeArrowheads="1"/>
          </p:cNvSpPr>
          <p:nvPr/>
        </p:nvSpPr>
        <p:spPr bwMode="auto">
          <a:xfrm>
            <a:off x="517525" y="152400"/>
            <a:ext cx="3098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9999"/>
                </a:solidFill>
                <a:ea typeface="楷体_GB2312" charset="0"/>
              </a:rPr>
              <a:t>定义堆类型为</a:t>
            </a:r>
            <a:r>
              <a:rPr lang="en-US" altLang="zh-CN" sz="3600" b="1">
                <a:solidFill>
                  <a:srgbClr val="009999"/>
                </a:solidFill>
                <a:ea typeface="楷体_GB2312" charset="0"/>
              </a:rPr>
              <a:t>:</a:t>
            </a:r>
            <a:endParaRPr lang="en-US" altLang="zh-CN" sz="3600">
              <a:ea typeface="楷体_GB2312" charset="0"/>
            </a:endParaRPr>
          </a:p>
        </p:txBody>
      </p:sp>
      <p:sp>
        <p:nvSpPr>
          <p:cNvPr id="126983" name="Text Box 7"/>
          <p:cNvSpPr txBox="1">
            <a:spLocks noChangeArrowheads="1"/>
          </p:cNvSpPr>
          <p:nvPr/>
        </p:nvSpPr>
        <p:spPr bwMode="auto">
          <a:xfrm>
            <a:off x="1279525" y="819150"/>
            <a:ext cx="76390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b="1">
                <a:solidFill>
                  <a:srgbClr val="003366"/>
                </a:solidFill>
              </a:rPr>
              <a:t>typedef </a:t>
            </a:r>
            <a:r>
              <a:rPr lang="en-US" altLang="zh-CN" sz="3600">
                <a:solidFill>
                  <a:srgbClr val="003366"/>
                </a:solidFill>
              </a:rPr>
              <a:t> SqList HeapType;</a:t>
            </a:r>
          </a:p>
          <a:p>
            <a:pPr algn="l">
              <a:lnSpc>
                <a:spcPct val="125000"/>
              </a:lnSpc>
            </a:pPr>
            <a:r>
              <a:rPr lang="en-US" altLang="zh-CN" sz="3600">
                <a:solidFill>
                  <a:srgbClr val="003366"/>
                </a:solidFill>
              </a:rPr>
              <a:t>                          // </a:t>
            </a:r>
            <a:r>
              <a:rPr lang="zh-CN" altLang="en-US" sz="3600">
                <a:solidFill>
                  <a:srgbClr val="003366"/>
                </a:solidFill>
                <a:latin typeface="楷体_GB2312" charset="0"/>
                <a:ea typeface="楷体_GB2312" charset="0"/>
              </a:rPr>
              <a:t>堆采用顺序表表示之</a:t>
            </a:r>
            <a:endParaRPr lang="zh-CN" altLang="en-US" sz="3600">
              <a:solidFill>
                <a:srgbClr val="003366"/>
              </a:solidFill>
            </a:endParaRPr>
          </a:p>
        </p:txBody>
      </p:sp>
      <p:sp>
        <p:nvSpPr>
          <p:cNvPr id="126984" name="AutoShape 8">
            <a:hlinkClick r:id="" action="ppaction://hlinkshowjump?jump=previousslide" highlightClick="1"/>
          </p:cNvPr>
          <p:cNvSpPr>
            <a:spLocks noChangeArrowheads="1"/>
          </p:cNvSpPr>
          <p:nvPr/>
        </p:nvSpPr>
        <p:spPr bwMode="auto">
          <a:xfrm>
            <a:off x="8382000" y="6096000"/>
            <a:ext cx="381000" cy="381000"/>
          </a:xfrm>
          <a:prstGeom prst="actionButtonBackPrevious">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504327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6979"/>
                                        </p:tgtEl>
                                        <p:attrNameLst>
                                          <p:attrName>style.visibility</p:attrName>
                                        </p:attrNameLst>
                                      </p:cBhvr>
                                      <p:to>
                                        <p:strVal val="visible"/>
                                      </p:to>
                                    </p:set>
                                    <p:animEffect transition="in" filter="wipe(left)">
                                      <p:cBhvr>
                                        <p:cTn id="7" dur="300"/>
                                        <p:tgtEl>
                                          <p:spTgt spid="1269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6978"/>
                                        </p:tgtEl>
                                        <p:attrNameLst>
                                          <p:attrName>style.visibility</p:attrName>
                                        </p:attrNameLst>
                                      </p:cBhvr>
                                      <p:to>
                                        <p:strVal val="visible"/>
                                      </p:to>
                                    </p:set>
                                    <p:animEffect transition="in" filter="wipe(left)">
                                      <p:cBhvr>
                                        <p:cTn id="12" dur="300"/>
                                        <p:tgtEl>
                                          <p:spTgt spid="1269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26980"/>
                                        </p:tgtEl>
                                        <p:attrNameLst>
                                          <p:attrName>style.visibility</p:attrName>
                                        </p:attrNameLst>
                                      </p:cBhvr>
                                      <p:to>
                                        <p:strVal val="visible"/>
                                      </p:to>
                                    </p:set>
                                    <p:animEffect transition="in" filter="wipe(left)">
                                      <p:cBhvr>
                                        <p:cTn id="17" dur="300"/>
                                        <p:tgtEl>
                                          <p:spTgt spid="126980"/>
                                        </p:tgtEl>
                                      </p:cBhvr>
                                    </p:animEffect>
                                  </p:childTnLst>
                                </p:cTn>
                              </p:par>
                            </p:childTnLst>
                          </p:cTn>
                        </p:par>
                        <p:par>
                          <p:cTn id="18" fill="hold" nodeType="afterGroup">
                            <p:stCondLst>
                              <p:cond delay="900"/>
                            </p:stCondLst>
                            <p:childTnLst>
                              <p:par>
                                <p:cTn id="19" presetID="2" presetClass="entr" presetSubtype="6" fill="hold" grpId="0" nodeType="afterEffect">
                                  <p:stCondLst>
                                    <p:cond delay="0"/>
                                  </p:stCondLst>
                                  <p:childTnLst>
                                    <p:set>
                                      <p:cBhvr>
                                        <p:cTn id="20" dur="1" fill="hold">
                                          <p:stCondLst>
                                            <p:cond delay="0"/>
                                          </p:stCondLst>
                                        </p:cTn>
                                        <p:tgtEl>
                                          <p:spTgt spid="126984"/>
                                        </p:tgtEl>
                                        <p:attrNameLst>
                                          <p:attrName>style.visibility</p:attrName>
                                        </p:attrNameLst>
                                      </p:cBhvr>
                                      <p:to>
                                        <p:strVal val="visible"/>
                                      </p:to>
                                    </p:set>
                                    <p:anim calcmode="lin" valueType="num">
                                      <p:cBhvr additive="base">
                                        <p:cTn id="21" dur="500" fill="hold"/>
                                        <p:tgtEl>
                                          <p:spTgt spid="126984"/>
                                        </p:tgtEl>
                                        <p:attrNameLst>
                                          <p:attrName>ppt_x</p:attrName>
                                        </p:attrNameLst>
                                      </p:cBhvr>
                                      <p:tavLst>
                                        <p:tav tm="0">
                                          <p:val>
                                            <p:strVal val="1+#ppt_w/2"/>
                                          </p:val>
                                        </p:tav>
                                        <p:tav tm="100000">
                                          <p:val>
                                            <p:strVal val="#ppt_x"/>
                                          </p:val>
                                        </p:tav>
                                      </p:tavLst>
                                    </p:anim>
                                    <p:anim calcmode="lin" valueType="num">
                                      <p:cBhvr additive="base">
                                        <p:cTn id="22" dur="500" fill="hold"/>
                                        <p:tgtEl>
                                          <p:spTgt spid="1269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utoUpdateAnimBg="0"/>
      <p:bldP spid="126979" grpId="0" autoUpdateAnimBg="0"/>
      <p:bldP spid="126980" grpId="0" autoUpdateAnimBg="0"/>
      <p:bldP spid="12698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ChangeArrowheads="1"/>
          </p:cNvSpPr>
          <p:nvPr/>
        </p:nvSpPr>
        <p:spPr bwMode="auto">
          <a:xfrm>
            <a:off x="304800" y="438150"/>
            <a:ext cx="8610600"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4000">
                <a:solidFill>
                  <a:srgbClr val="FF0000"/>
                </a:solidFill>
                <a:ea typeface="楷体_GB2312" charset="0"/>
              </a:rPr>
              <a:t>所谓</a:t>
            </a:r>
            <a:r>
              <a:rPr lang="zh-CN" altLang="en-US" sz="4000" b="1">
                <a:solidFill>
                  <a:srgbClr val="800000"/>
                </a:solidFill>
                <a:ea typeface="楷体_GB2312" charset="0"/>
              </a:rPr>
              <a:t>“筛选”</a:t>
            </a:r>
            <a:r>
              <a:rPr lang="zh-CN" altLang="en-US" sz="4000">
                <a:solidFill>
                  <a:srgbClr val="FF0000"/>
                </a:solidFill>
                <a:ea typeface="楷体_GB2312" charset="0"/>
              </a:rPr>
              <a:t>指的是，对一棵左</a:t>
            </a:r>
            <a:r>
              <a:rPr lang="en-US" altLang="zh-CN" sz="4000">
                <a:solidFill>
                  <a:srgbClr val="FF0000"/>
                </a:solidFill>
                <a:ea typeface="楷体_GB2312" charset="0"/>
              </a:rPr>
              <a:t>/</a:t>
            </a:r>
            <a:r>
              <a:rPr lang="zh-CN" altLang="en-US" sz="4000">
                <a:solidFill>
                  <a:srgbClr val="FF0000"/>
                </a:solidFill>
                <a:ea typeface="楷体_GB2312" charset="0"/>
              </a:rPr>
              <a:t>右子树</a:t>
            </a:r>
          </a:p>
          <a:p>
            <a:pPr algn="l">
              <a:lnSpc>
                <a:spcPct val="120000"/>
              </a:lnSpc>
            </a:pPr>
            <a:r>
              <a:rPr lang="zh-CN" altLang="en-US" sz="4000">
                <a:solidFill>
                  <a:srgbClr val="FF0000"/>
                </a:solidFill>
                <a:ea typeface="楷体_GB2312" charset="0"/>
              </a:rPr>
              <a:t>均为堆的完全二叉树，</a:t>
            </a:r>
            <a:r>
              <a:rPr lang="zh-CN" altLang="en-US" sz="4000" b="1">
                <a:solidFill>
                  <a:srgbClr val="800000"/>
                </a:solidFill>
                <a:ea typeface="楷体_GB2312" charset="0"/>
              </a:rPr>
              <a:t>“调整”根结点</a:t>
            </a:r>
          </a:p>
          <a:p>
            <a:pPr algn="l">
              <a:lnSpc>
                <a:spcPct val="120000"/>
              </a:lnSpc>
            </a:pPr>
            <a:r>
              <a:rPr lang="zh-CN" altLang="en-US" sz="4000">
                <a:solidFill>
                  <a:srgbClr val="800000"/>
                </a:solidFill>
                <a:ea typeface="楷体_GB2312" charset="0"/>
              </a:rPr>
              <a:t>使整个二叉树也成为一个堆</a:t>
            </a:r>
            <a:r>
              <a:rPr lang="zh-CN" altLang="en-US" sz="4000">
                <a:ea typeface="楷体_GB2312" charset="0"/>
              </a:rPr>
              <a:t>。</a:t>
            </a:r>
          </a:p>
        </p:txBody>
      </p:sp>
      <p:sp>
        <p:nvSpPr>
          <p:cNvPr id="89091" name="Oval 1027"/>
          <p:cNvSpPr>
            <a:spLocks noChangeArrowheads="1"/>
          </p:cNvSpPr>
          <p:nvPr/>
        </p:nvSpPr>
        <p:spPr bwMode="auto">
          <a:xfrm>
            <a:off x="4191000" y="3124200"/>
            <a:ext cx="533400" cy="533400"/>
          </a:xfrm>
          <a:prstGeom prst="ellipse">
            <a:avLst/>
          </a:prstGeom>
          <a:solidFill>
            <a:srgbClr val="99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3" name="Oval 1029"/>
          <p:cNvSpPr>
            <a:spLocks noChangeArrowheads="1"/>
          </p:cNvSpPr>
          <p:nvPr/>
        </p:nvSpPr>
        <p:spPr bwMode="auto">
          <a:xfrm>
            <a:off x="2819400" y="3962400"/>
            <a:ext cx="533400" cy="5334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4" name="Oval 1030"/>
          <p:cNvSpPr>
            <a:spLocks noChangeArrowheads="1"/>
          </p:cNvSpPr>
          <p:nvPr/>
        </p:nvSpPr>
        <p:spPr bwMode="auto">
          <a:xfrm>
            <a:off x="5638800" y="3886200"/>
            <a:ext cx="533400" cy="5334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5" name="Oval 1031"/>
          <p:cNvSpPr>
            <a:spLocks noChangeArrowheads="1"/>
          </p:cNvSpPr>
          <p:nvPr/>
        </p:nvSpPr>
        <p:spPr bwMode="auto">
          <a:xfrm>
            <a:off x="1524000" y="5638800"/>
            <a:ext cx="533400" cy="5334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6" name="Oval 1032"/>
          <p:cNvSpPr>
            <a:spLocks noChangeArrowheads="1"/>
          </p:cNvSpPr>
          <p:nvPr/>
        </p:nvSpPr>
        <p:spPr bwMode="auto">
          <a:xfrm>
            <a:off x="3962400" y="5638800"/>
            <a:ext cx="533400" cy="5334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7" name="Line 1033"/>
          <p:cNvSpPr>
            <a:spLocks noChangeShapeType="1"/>
          </p:cNvSpPr>
          <p:nvPr/>
        </p:nvSpPr>
        <p:spPr bwMode="auto">
          <a:xfrm flipH="1">
            <a:off x="3048000" y="3429000"/>
            <a:ext cx="1143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8" name="Line 1034"/>
          <p:cNvSpPr>
            <a:spLocks noChangeShapeType="1"/>
          </p:cNvSpPr>
          <p:nvPr/>
        </p:nvSpPr>
        <p:spPr bwMode="auto">
          <a:xfrm>
            <a:off x="4724400" y="3429000"/>
            <a:ext cx="1219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099" name="Line 1035"/>
          <p:cNvSpPr>
            <a:spLocks noChangeShapeType="1"/>
          </p:cNvSpPr>
          <p:nvPr/>
        </p:nvSpPr>
        <p:spPr bwMode="auto">
          <a:xfrm flipH="1">
            <a:off x="1752600" y="4191000"/>
            <a:ext cx="1066800" cy="14478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00" name="Line 1036"/>
          <p:cNvSpPr>
            <a:spLocks noChangeShapeType="1"/>
          </p:cNvSpPr>
          <p:nvPr/>
        </p:nvSpPr>
        <p:spPr bwMode="auto">
          <a:xfrm>
            <a:off x="3352800" y="4191000"/>
            <a:ext cx="838200" cy="14478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01" name="Line 1037"/>
          <p:cNvSpPr>
            <a:spLocks noChangeShapeType="1"/>
          </p:cNvSpPr>
          <p:nvPr/>
        </p:nvSpPr>
        <p:spPr bwMode="auto">
          <a:xfrm flipH="1">
            <a:off x="5181600" y="4191000"/>
            <a:ext cx="457200" cy="6096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02" name="Line 1038"/>
          <p:cNvSpPr>
            <a:spLocks noChangeShapeType="1"/>
          </p:cNvSpPr>
          <p:nvPr/>
        </p:nvSpPr>
        <p:spPr bwMode="auto">
          <a:xfrm>
            <a:off x="6172200" y="4114800"/>
            <a:ext cx="457200" cy="6096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03" name="Text Box 1039"/>
          <p:cNvSpPr txBox="1">
            <a:spLocks noChangeArrowheads="1"/>
          </p:cNvSpPr>
          <p:nvPr/>
        </p:nvSpPr>
        <p:spPr bwMode="auto">
          <a:xfrm>
            <a:off x="2736850" y="487680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006666"/>
                </a:solidFill>
              </a:rPr>
              <a:t>堆</a:t>
            </a:r>
            <a:endParaRPr lang="zh-CN" altLang="en-US"/>
          </a:p>
        </p:txBody>
      </p:sp>
      <p:sp>
        <p:nvSpPr>
          <p:cNvPr id="89104" name="Text Box 1040"/>
          <p:cNvSpPr txBox="1">
            <a:spLocks noChangeArrowheads="1"/>
          </p:cNvSpPr>
          <p:nvPr/>
        </p:nvSpPr>
        <p:spPr bwMode="auto">
          <a:xfrm>
            <a:off x="5562600" y="4784725"/>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006666"/>
                </a:solidFill>
              </a:rPr>
              <a:t>堆</a:t>
            </a:r>
          </a:p>
        </p:txBody>
      </p:sp>
      <p:sp>
        <p:nvSpPr>
          <p:cNvPr id="89105" name="Line 1041"/>
          <p:cNvSpPr>
            <a:spLocks noChangeShapeType="1"/>
          </p:cNvSpPr>
          <p:nvPr/>
        </p:nvSpPr>
        <p:spPr bwMode="auto">
          <a:xfrm flipH="1">
            <a:off x="4495800" y="3657600"/>
            <a:ext cx="0" cy="1371600"/>
          </a:xfrm>
          <a:prstGeom prst="line">
            <a:avLst/>
          </a:prstGeom>
          <a:noFill/>
          <a:ln w="38100">
            <a:solidFill>
              <a:srgbClr val="990000"/>
            </a:solidFill>
            <a:round/>
            <a:headEnd type="stealth" w="lg" len="lg"/>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9108" name="Text Box 1044"/>
          <p:cNvSpPr txBox="1">
            <a:spLocks noChangeArrowheads="1"/>
          </p:cNvSpPr>
          <p:nvPr/>
        </p:nvSpPr>
        <p:spPr bwMode="auto">
          <a:xfrm>
            <a:off x="3810000" y="3733800"/>
            <a:ext cx="793750" cy="153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a:spAutoFit/>
          </a:bodyPr>
          <a:lstStyle/>
          <a:p>
            <a:pPr algn="l">
              <a:spcBef>
                <a:spcPct val="50000"/>
              </a:spcBef>
            </a:pPr>
            <a:r>
              <a:rPr lang="zh-CN" altLang="en-US" sz="4000" b="1">
                <a:solidFill>
                  <a:srgbClr val="990000"/>
                </a:solidFill>
                <a:ea typeface="楷体_GB2312" charset="0"/>
              </a:rPr>
              <a:t>筛选</a:t>
            </a:r>
            <a:endParaRPr lang="zh-CN" altLang="en-US"/>
          </a:p>
        </p:txBody>
      </p:sp>
    </p:spTree>
    <p:extLst>
      <p:ext uri="{BB962C8B-B14F-4D97-AF65-F5344CB8AC3E}">
        <p14:creationId xmlns:p14="http://schemas.microsoft.com/office/powerpoint/2010/main" val="13376969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strips(downRight)">
                                      <p:cBhvr>
                                        <p:cTn id="7" dur="500"/>
                                        <p:tgtEl>
                                          <p:spTgt spid="89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Effect transition="in" filter="wipe(up)">
                                      <p:cBhvr>
                                        <p:cTn id="12" dur="500"/>
                                        <p:tgtEl>
                                          <p:spTgt spid="89093"/>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89099"/>
                                        </p:tgtEl>
                                        <p:attrNameLst>
                                          <p:attrName>style.visibility</p:attrName>
                                        </p:attrNameLst>
                                      </p:cBhvr>
                                      <p:to>
                                        <p:strVal val="visible"/>
                                      </p:to>
                                    </p:set>
                                    <p:animEffect transition="in" filter="wipe(up)">
                                      <p:cBhvr>
                                        <p:cTn id="16" dur="500"/>
                                        <p:tgtEl>
                                          <p:spTgt spid="89099"/>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89095"/>
                                        </p:tgtEl>
                                        <p:attrNameLst>
                                          <p:attrName>style.visibility</p:attrName>
                                        </p:attrNameLst>
                                      </p:cBhvr>
                                      <p:to>
                                        <p:strVal val="visible"/>
                                      </p:to>
                                    </p:set>
                                    <p:animEffect transition="in" filter="wipe(up)">
                                      <p:cBhvr>
                                        <p:cTn id="20" dur="500"/>
                                        <p:tgtEl>
                                          <p:spTgt spid="89095"/>
                                        </p:tgtEl>
                                      </p:cBhvr>
                                    </p:animEffect>
                                  </p:childTnLst>
                                </p:cTn>
                              </p:par>
                            </p:childTnLst>
                          </p:cTn>
                        </p:par>
                        <p:par>
                          <p:cTn id="21" fill="hold" nodeType="afterGroup">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89100"/>
                                        </p:tgtEl>
                                        <p:attrNameLst>
                                          <p:attrName>style.visibility</p:attrName>
                                        </p:attrNameLst>
                                      </p:cBhvr>
                                      <p:to>
                                        <p:strVal val="visible"/>
                                      </p:to>
                                    </p:set>
                                    <p:animEffect transition="in" filter="wipe(up)">
                                      <p:cBhvr>
                                        <p:cTn id="24" dur="500"/>
                                        <p:tgtEl>
                                          <p:spTgt spid="89100"/>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89096"/>
                                        </p:tgtEl>
                                        <p:attrNameLst>
                                          <p:attrName>style.visibility</p:attrName>
                                        </p:attrNameLst>
                                      </p:cBhvr>
                                      <p:to>
                                        <p:strVal val="visible"/>
                                      </p:to>
                                    </p:set>
                                    <p:animEffect transition="in" filter="wipe(up)">
                                      <p:cBhvr>
                                        <p:cTn id="28" dur="500"/>
                                        <p:tgtEl>
                                          <p:spTgt spid="8909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9103"/>
                                        </p:tgtEl>
                                        <p:attrNameLst>
                                          <p:attrName>style.visibility</p:attrName>
                                        </p:attrNameLst>
                                      </p:cBhvr>
                                      <p:to>
                                        <p:strVal val="visible"/>
                                      </p:to>
                                    </p:set>
                                    <p:animEffect transition="in" filter="wipe(up)">
                                      <p:cBhvr>
                                        <p:cTn id="33" dur="500"/>
                                        <p:tgtEl>
                                          <p:spTgt spid="891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89094"/>
                                        </p:tgtEl>
                                        <p:attrNameLst>
                                          <p:attrName>style.visibility</p:attrName>
                                        </p:attrNameLst>
                                      </p:cBhvr>
                                      <p:to>
                                        <p:strVal val="visible"/>
                                      </p:to>
                                    </p:set>
                                    <p:animEffect transition="in" filter="wipe(up)">
                                      <p:cBhvr>
                                        <p:cTn id="38" dur="500"/>
                                        <p:tgtEl>
                                          <p:spTgt spid="89094"/>
                                        </p:tgtEl>
                                      </p:cBhvr>
                                    </p:animEffect>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89101"/>
                                        </p:tgtEl>
                                        <p:attrNameLst>
                                          <p:attrName>style.visibility</p:attrName>
                                        </p:attrNameLst>
                                      </p:cBhvr>
                                      <p:to>
                                        <p:strVal val="visible"/>
                                      </p:to>
                                    </p:set>
                                    <p:animEffect transition="in" filter="wipe(up)">
                                      <p:cBhvr>
                                        <p:cTn id="42" dur="500"/>
                                        <p:tgtEl>
                                          <p:spTgt spid="89101"/>
                                        </p:tgtEl>
                                      </p:cBhvr>
                                    </p:animEffect>
                                  </p:childTnLst>
                                </p:cTn>
                              </p:par>
                            </p:childTnLst>
                          </p:cTn>
                        </p:par>
                        <p:par>
                          <p:cTn id="43" fill="hold" nodeType="afterGroup">
                            <p:stCondLst>
                              <p:cond delay="1000"/>
                            </p:stCondLst>
                            <p:childTnLst>
                              <p:par>
                                <p:cTn id="44" presetID="22" presetClass="entr" presetSubtype="1" fill="hold" grpId="0" nodeType="afterEffect">
                                  <p:stCondLst>
                                    <p:cond delay="0"/>
                                  </p:stCondLst>
                                  <p:childTnLst>
                                    <p:set>
                                      <p:cBhvr>
                                        <p:cTn id="45" dur="1" fill="hold">
                                          <p:stCondLst>
                                            <p:cond delay="0"/>
                                          </p:stCondLst>
                                        </p:cTn>
                                        <p:tgtEl>
                                          <p:spTgt spid="89102"/>
                                        </p:tgtEl>
                                        <p:attrNameLst>
                                          <p:attrName>style.visibility</p:attrName>
                                        </p:attrNameLst>
                                      </p:cBhvr>
                                      <p:to>
                                        <p:strVal val="visible"/>
                                      </p:to>
                                    </p:set>
                                    <p:animEffect transition="in" filter="wipe(up)">
                                      <p:cBhvr>
                                        <p:cTn id="46" dur="500"/>
                                        <p:tgtEl>
                                          <p:spTgt spid="8910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89104"/>
                                        </p:tgtEl>
                                        <p:attrNameLst>
                                          <p:attrName>style.visibility</p:attrName>
                                        </p:attrNameLst>
                                      </p:cBhvr>
                                      <p:to>
                                        <p:strVal val="visible"/>
                                      </p:to>
                                    </p:set>
                                    <p:animEffect transition="in" filter="wipe(up)">
                                      <p:cBhvr>
                                        <p:cTn id="51" dur="500"/>
                                        <p:tgtEl>
                                          <p:spTgt spid="8910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89091"/>
                                        </p:tgtEl>
                                        <p:attrNameLst>
                                          <p:attrName>style.visibility</p:attrName>
                                        </p:attrNameLst>
                                      </p:cBhvr>
                                      <p:to>
                                        <p:strVal val="visible"/>
                                      </p:to>
                                    </p:set>
                                    <p:animEffect transition="in" filter="wipe(up)">
                                      <p:cBhvr>
                                        <p:cTn id="56" dur="500"/>
                                        <p:tgtEl>
                                          <p:spTgt spid="89091"/>
                                        </p:tgtEl>
                                      </p:cBhvr>
                                    </p:animEffect>
                                  </p:childTnLst>
                                </p:cTn>
                              </p:par>
                            </p:childTnLst>
                          </p:cTn>
                        </p:par>
                        <p:par>
                          <p:cTn id="57" fill="hold" nodeType="afterGroup">
                            <p:stCondLst>
                              <p:cond delay="500"/>
                            </p:stCondLst>
                            <p:childTnLst>
                              <p:par>
                                <p:cTn id="58" presetID="22" presetClass="entr" presetSubtype="1" fill="hold" grpId="0" nodeType="afterEffect">
                                  <p:stCondLst>
                                    <p:cond delay="0"/>
                                  </p:stCondLst>
                                  <p:childTnLst>
                                    <p:set>
                                      <p:cBhvr>
                                        <p:cTn id="59" dur="1" fill="hold">
                                          <p:stCondLst>
                                            <p:cond delay="0"/>
                                          </p:stCondLst>
                                        </p:cTn>
                                        <p:tgtEl>
                                          <p:spTgt spid="89097"/>
                                        </p:tgtEl>
                                        <p:attrNameLst>
                                          <p:attrName>style.visibility</p:attrName>
                                        </p:attrNameLst>
                                      </p:cBhvr>
                                      <p:to>
                                        <p:strVal val="visible"/>
                                      </p:to>
                                    </p:set>
                                    <p:animEffect transition="in" filter="wipe(up)">
                                      <p:cBhvr>
                                        <p:cTn id="60" dur="500"/>
                                        <p:tgtEl>
                                          <p:spTgt spid="89097"/>
                                        </p:tgtEl>
                                      </p:cBhvr>
                                    </p:animEffect>
                                  </p:childTnLst>
                                </p:cTn>
                              </p:par>
                            </p:childTnLst>
                          </p:cTn>
                        </p:par>
                        <p:par>
                          <p:cTn id="61" fill="hold" nodeType="afterGroup">
                            <p:stCondLst>
                              <p:cond delay="1000"/>
                            </p:stCondLst>
                            <p:childTnLst>
                              <p:par>
                                <p:cTn id="62" presetID="22" presetClass="entr" presetSubtype="1" fill="hold" grpId="0" nodeType="afterEffect">
                                  <p:stCondLst>
                                    <p:cond delay="0"/>
                                  </p:stCondLst>
                                  <p:childTnLst>
                                    <p:set>
                                      <p:cBhvr>
                                        <p:cTn id="63" dur="1" fill="hold">
                                          <p:stCondLst>
                                            <p:cond delay="0"/>
                                          </p:stCondLst>
                                        </p:cTn>
                                        <p:tgtEl>
                                          <p:spTgt spid="89098"/>
                                        </p:tgtEl>
                                        <p:attrNameLst>
                                          <p:attrName>style.visibility</p:attrName>
                                        </p:attrNameLst>
                                      </p:cBhvr>
                                      <p:to>
                                        <p:strVal val="visible"/>
                                      </p:to>
                                    </p:set>
                                    <p:animEffect transition="in" filter="wipe(up)">
                                      <p:cBhvr>
                                        <p:cTn id="64" dur="500"/>
                                        <p:tgtEl>
                                          <p:spTgt spid="8909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89105"/>
                                        </p:tgtEl>
                                        <p:attrNameLst>
                                          <p:attrName>style.visibility</p:attrName>
                                        </p:attrNameLst>
                                      </p:cBhvr>
                                      <p:to>
                                        <p:strVal val="visible"/>
                                      </p:to>
                                    </p:set>
                                    <p:animEffect transition="in" filter="wipe(up)">
                                      <p:cBhvr>
                                        <p:cTn id="69" dur="500"/>
                                        <p:tgtEl>
                                          <p:spTgt spid="89105"/>
                                        </p:tgtEl>
                                      </p:cBhvr>
                                    </p:animEffect>
                                  </p:childTnLst>
                                </p:cTn>
                              </p:par>
                            </p:childTnLst>
                          </p:cTn>
                        </p:par>
                        <p:par>
                          <p:cTn id="70" fill="hold" nodeType="afterGroup">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89108"/>
                                        </p:tgtEl>
                                        <p:attrNameLst>
                                          <p:attrName>style.visibility</p:attrName>
                                        </p:attrNameLst>
                                      </p:cBhvr>
                                      <p:to>
                                        <p:strVal val="visible"/>
                                      </p:to>
                                    </p:set>
                                    <p:animEffect transition="in" filter="wipe(up)">
                                      <p:cBhvr>
                                        <p:cTn id="73" dur="500"/>
                                        <p:tgtEl>
                                          <p:spTgt spid="89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1" grpId="0" animBg="1"/>
      <p:bldP spid="89093" grpId="0" animBg="1"/>
      <p:bldP spid="89094" grpId="0" animBg="1"/>
      <p:bldP spid="89095" grpId="0" animBg="1"/>
      <p:bldP spid="89096" grpId="0" animBg="1"/>
      <p:bldP spid="89097" grpId="0" animBg="1"/>
      <p:bldP spid="89098" grpId="0" animBg="1"/>
      <p:bldP spid="89099" grpId="0" animBg="1"/>
      <p:bldP spid="89100" grpId="0" animBg="1"/>
      <p:bldP spid="89101" grpId="0" animBg="1"/>
      <p:bldP spid="89102" grpId="0" animBg="1"/>
      <p:bldP spid="89103" grpId="0" autoUpdateAnimBg="0"/>
      <p:bldP spid="89104" grpId="0" autoUpdateAnimBg="0"/>
      <p:bldP spid="89105" grpId="0" animBg="1"/>
      <p:bldP spid="89108"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Oval 2"/>
          <p:cNvSpPr>
            <a:spLocks noChangeArrowheads="1"/>
          </p:cNvSpPr>
          <p:nvPr/>
        </p:nvSpPr>
        <p:spPr bwMode="auto">
          <a:xfrm>
            <a:off x="4419600" y="1219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98</a:t>
            </a:r>
            <a:endParaRPr lang="en-US" altLang="zh-CN"/>
          </a:p>
        </p:txBody>
      </p:sp>
      <p:sp>
        <p:nvSpPr>
          <p:cNvPr id="128003" name="Oval 3"/>
          <p:cNvSpPr>
            <a:spLocks noChangeArrowheads="1"/>
          </p:cNvSpPr>
          <p:nvPr/>
        </p:nvSpPr>
        <p:spPr bwMode="auto">
          <a:xfrm>
            <a:off x="2362200" y="1981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81</a:t>
            </a:r>
            <a:endParaRPr lang="en-US" altLang="zh-CN" sz="3200" b="1"/>
          </a:p>
        </p:txBody>
      </p:sp>
      <p:sp>
        <p:nvSpPr>
          <p:cNvPr id="128004" name="Oval 4"/>
          <p:cNvSpPr>
            <a:spLocks noChangeArrowheads="1"/>
          </p:cNvSpPr>
          <p:nvPr/>
        </p:nvSpPr>
        <p:spPr bwMode="auto">
          <a:xfrm>
            <a:off x="6629400" y="1981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49</a:t>
            </a:r>
            <a:endParaRPr lang="en-US" altLang="zh-CN"/>
          </a:p>
        </p:txBody>
      </p:sp>
      <p:sp>
        <p:nvSpPr>
          <p:cNvPr id="128005" name="Oval 5"/>
          <p:cNvSpPr>
            <a:spLocks noChangeArrowheads="1"/>
          </p:cNvSpPr>
          <p:nvPr/>
        </p:nvSpPr>
        <p:spPr bwMode="auto">
          <a:xfrm>
            <a:off x="990600" y="2743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73</a:t>
            </a:r>
            <a:endParaRPr lang="en-US" altLang="zh-CN"/>
          </a:p>
        </p:txBody>
      </p:sp>
      <p:sp>
        <p:nvSpPr>
          <p:cNvPr id="128007" name="Oval 7"/>
          <p:cNvSpPr>
            <a:spLocks noChangeArrowheads="1"/>
          </p:cNvSpPr>
          <p:nvPr/>
        </p:nvSpPr>
        <p:spPr bwMode="auto">
          <a:xfrm>
            <a:off x="3048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a:solidFill>
                  <a:schemeClr val="accent2"/>
                </a:solidFill>
              </a:rPr>
              <a:t>55</a:t>
            </a:r>
            <a:endParaRPr lang="en-US" altLang="zh-CN"/>
          </a:p>
        </p:txBody>
      </p:sp>
      <p:sp>
        <p:nvSpPr>
          <p:cNvPr id="128008" name="Oval 8"/>
          <p:cNvSpPr>
            <a:spLocks noChangeArrowheads="1"/>
          </p:cNvSpPr>
          <p:nvPr/>
        </p:nvSpPr>
        <p:spPr bwMode="auto">
          <a:xfrm>
            <a:off x="16002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64</a:t>
            </a:r>
            <a:endParaRPr lang="en-US" altLang="zh-CN"/>
          </a:p>
        </p:txBody>
      </p:sp>
      <p:sp>
        <p:nvSpPr>
          <p:cNvPr id="128009" name="Oval 9"/>
          <p:cNvSpPr>
            <a:spLocks noChangeArrowheads="1"/>
          </p:cNvSpPr>
          <p:nvPr/>
        </p:nvSpPr>
        <p:spPr bwMode="auto">
          <a:xfrm>
            <a:off x="29718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12</a:t>
            </a:r>
            <a:endParaRPr lang="en-US" altLang="zh-CN"/>
          </a:p>
        </p:txBody>
      </p:sp>
      <p:sp>
        <p:nvSpPr>
          <p:cNvPr id="128010" name="Oval 10"/>
          <p:cNvSpPr>
            <a:spLocks noChangeArrowheads="1"/>
          </p:cNvSpPr>
          <p:nvPr/>
        </p:nvSpPr>
        <p:spPr bwMode="auto">
          <a:xfrm>
            <a:off x="3657600" y="2743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36</a:t>
            </a:r>
            <a:endParaRPr lang="en-US" altLang="zh-CN" sz="3200" b="1">
              <a:solidFill>
                <a:srgbClr val="009999"/>
              </a:solidFill>
            </a:endParaRPr>
          </a:p>
        </p:txBody>
      </p:sp>
      <p:sp>
        <p:nvSpPr>
          <p:cNvPr id="128011" name="Oval 11"/>
          <p:cNvSpPr>
            <a:spLocks noChangeArrowheads="1"/>
          </p:cNvSpPr>
          <p:nvPr/>
        </p:nvSpPr>
        <p:spPr bwMode="auto">
          <a:xfrm>
            <a:off x="5486400" y="2743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27</a:t>
            </a:r>
            <a:endParaRPr lang="en-US" altLang="zh-CN"/>
          </a:p>
        </p:txBody>
      </p:sp>
      <p:sp>
        <p:nvSpPr>
          <p:cNvPr id="128012" name="Oval 12"/>
          <p:cNvSpPr>
            <a:spLocks noChangeArrowheads="1"/>
          </p:cNvSpPr>
          <p:nvPr/>
        </p:nvSpPr>
        <p:spPr bwMode="auto">
          <a:xfrm>
            <a:off x="7848600" y="2743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40</a:t>
            </a:r>
            <a:endParaRPr lang="en-US" altLang="zh-CN" sz="3200" b="1">
              <a:solidFill>
                <a:srgbClr val="009999"/>
              </a:solidFill>
            </a:endParaRPr>
          </a:p>
        </p:txBody>
      </p:sp>
      <p:sp>
        <p:nvSpPr>
          <p:cNvPr id="128013" name="Line 13"/>
          <p:cNvSpPr>
            <a:spLocks noChangeShapeType="1"/>
          </p:cNvSpPr>
          <p:nvPr/>
        </p:nvSpPr>
        <p:spPr bwMode="auto">
          <a:xfrm flipH="1">
            <a:off x="2667000" y="1524000"/>
            <a:ext cx="1828800" cy="4572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4" name="Line 14"/>
          <p:cNvSpPr>
            <a:spLocks noChangeShapeType="1"/>
          </p:cNvSpPr>
          <p:nvPr/>
        </p:nvSpPr>
        <p:spPr bwMode="auto">
          <a:xfrm>
            <a:off x="5029200" y="1524000"/>
            <a:ext cx="1905000" cy="4572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5" name="Line 15"/>
          <p:cNvSpPr>
            <a:spLocks noChangeShapeType="1"/>
          </p:cNvSpPr>
          <p:nvPr/>
        </p:nvSpPr>
        <p:spPr bwMode="auto">
          <a:xfrm flipH="1">
            <a:off x="1295400" y="2209800"/>
            <a:ext cx="10668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6" name="Line 16"/>
          <p:cNvSpPr>
            <a:spLocks noChangeShapeType="1"/>
          </p:cNvSpPr>
          <p:nvPr/>
        </p:nvSpPr>
        <p:spPr bwMode="auto">
          <a:xfrm>
            <a:off x="3048000" y="2209800"/>
            <a:ext cx="9144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7" name="Line 17"/>
          <p:cNvSpPr>
            <a:spLocks noChangeShapeType="1"/>
          </p:cNvSpPr>
          <p:nvPr/>
        </p:nvSpPr>
        <p:spPr bwMode="auto">
          <a:xfrm flipH="1">
            <a:off x="5791200" y="2209800"/>
            <a:ext cx="8382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8" name="Line 18"/>
          <p:cNvSpPr>
            <a:spLocks noChangeShapeType="1"/>
          </p:cNvSpPr>
          <p:nvPr/>
        </p:nvSpPr>
        <p:spPr bwMode="auto">
          <a:xfrm>
            <a:off x="7315200" y="2209800"/>
            <a:ext cx="9144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19" name="Line 19"/>
          <p:cNvSpPr>
            <a:spLocks noChangeShapeType="1"/>
          </p:cNvSpPr>
          <p:nvPr/>
        </p:nvSpPr>
        <p:spPr bwMode="auto">
          <a:xfrm flipH="1">
            <a:off x="609600" y="2971800"/>
            <a:ext cx="3810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20" name="Line 20"/>
          <p:cNvSpPr>
            <a:spLocks noChangeShapeType="1"/>
          </p:cNvSpPr>
          <p:nvPr/>
        </p:nvSpPr>
        <p:spPr bwMode="auto">
          <a:xfrm>
            <a:off x="1676400" y="2971800"/>
            <a:ext cx="2286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21" name="Line 21"/>
          <p:cNvSpPr>
            <a:spLocks noChangeShapeType="1"/>
          </p:cNvSpPr>
          <p:nvPr/>
        </p:nvSpPr>
        <p:spPr bwMode="auto">
          <a:xfrm flipH="1">
            <a:off x="3276600" y="2971800"/>
            <a:ext cx="381000" cy="533400"/>
          </a:xfrm>
          <a:prstGeom prst="line">
            <a:avLst/>
          </a:prstGeom>
          <a:noFill/>
          <a:ln w="9525">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23" name="Text Box 23"/>
          <p:cNvSpPr txBox="1">
            <a:spLocks noChangeArrowheads="1"/>
          </p:cNvSpPr>
          <p:nvPr/>
        </p:nvSpPr>
        <p:spPr bwMode="auto">
          <a:xfrm>
            <a:off x="876300" y="381000"/>
            <a:ext cx="1257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例如</a:t>
            </a:r>
            <a:r>
              <a:rPr lang="en-US" altLang="zh-CN" sz="3600" b="1">
                <a:solidFill>
                  <a:srgbClr val="990000"/>
                </a:solidFill>
                <a:ea typeface="隶书" charset="0"/>
              </a:rPr>
              <a:t>:</a:t>
            </a:r>
            <a:endParaRPr lang="en-US" altLang="zh-CN" sz="3600">
              <a:ea typeface="隶书" charset="0"/>
            </a:endParaRPr>
          </a:p>
        </p:txBody>
      </p:sp>
      <p:sp>
        <p:nvSpPr>
          <p:cNvPr id="128024" name="Rectangle 24"/>
          <p:cNvSpPr>
            <a:spLocks noChangeArrowheads="1"/>
          </p:cNvSpPr>
          <p:nvPr/>
        </p:nvSpPr>
        <p:spPr bwMode="auto">
          <a:xfrm>
            <a:off x="6400800" y="3733800"/>
            <a:ext cx="2025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楷体_GB2312" charset="0"/>
              </a:rPr>
              <a:t>是大顶堆</a:t>
            </a:r>
            <a:endParaRPr lang="zh-CN" altLang="en-US" sz="4000">
              <a:ea typeface="楷体_GB2312" charset="0"/>
            </a:endParaRPr>
          </a:p>
        </p:txBody>
      </p:sp>
      <p:sp>
        <p:nvSpPr>
          <p:cNvPr id="128025" name="Oval 25"/>
          <p:cNvSpPr>
            <a:spLocks noChangeArrowheads="1"/>
          </p:cNvSpPr>
          <p:nvPr/>
        </p:nvSpPr>
        <p:spPr bwMode="auto">
          <a:xfrm>
            <a:off x="4419600" y="1219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12</a:t>
            </a:r>
            <a:endParaRPr lang="en-US" altLang="zh-CN"/>
          </a:p>
        </p:txBody>
      </p:sp>
      <p:sp>
        <p:nvSpPr>
          <p:cNvPr id="128026" name="Text Box 26"/>
          <p:cNvSpPr txBox="1">
            <a:spLocks noChangeArrowheads="1"/>
          </p:cNvSpPr>
          <p:nvPr/>
        </p:nvSpPr>
        <p:spPr bwMode="auto">
          <a:xfrm>
            <a:off x="0" y="4648200"/>
            <a:ext cx="94853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3366"/>
                </a:solidFill>
                <a:ea typeface="隶书" charset="0"/>
              </a:rPr>
              <a:t>但在 </a:t>
            </a:r>
            <a:r>
              <a:rPr lang="en-US" altLang="zh-CN" sz="3600">
                <a:solidFill>
                  <a:srgbClr val="003366"/>
                </a:solidFill>
                <a:ea typeface="隶书" charset="0"/>
              </a:rPr>
              <a:t>98 </a:t>
            </a:r>
            <a:r>
              <a:rPr lang="zh-CN" altLang="en-US" sz="3600">
                <a:solidFill>
                  <a:srgbClr val="003366"/>
                </a:solidFill>
                <a:ea typeface="隶书" charset="0"/>
              </a:rPr>
              <a:t>和 </a:t>
            </a:r>
            <a:r>
              <a:rPr lang="en-US" altLang="zh-CN" sz="3600">
                <a:solidFill>
                  <a:srgbClr val="003366"/>
                </a:solidFill>
                <a:ea typeface="隶书" charset="0"/>
              </a:rPr>
              <a:t>12 </a:t>
            </a:r>
            <a:r>
              <a:rPr lang="zh-CN" altLang="en-US" sz="3600">
                <a:solidFill>
                  <a:srgbClr val="003366"/>
                </a:solidFill>
                <a:ea typeface="隶书" charset="0"/>
              </a:rPr>
              <a:t>进行互换之后，它就</a:t>
            </a:r>
            <a:r>
              <a:rPr lang="zh-CN" altLang="en-US" sz="4800" b="1">
                <a:solidFill>
                  <a:srgbClr val="003366"/>
                </a:solidFill>
                <a:ea typeface="隶书" charset="0"/>
              </a:rPr>
              <a:t>不</a:t>
            </a:r>
            <a:r>
              <a:rPr lang="zh-CN" altLang="en-US" sz="3600">
                <a:solidFill>
                  <a:srgbClr val="003366"/>
                </a:solidFill>
                <a:ea typeface="隶书" charset="0"/>
              </a:rPr>
              <a:t>是堆了，</a:t>
            </a:r>
            <a:endParaRPr lang="zh-CN" altLang="en-US" sz="4000"/>
          </a:p>
        </p:txBody>
      </p:sp>
      <p:sp>
        <p:nvSpPr>
          <p:cNvPr id="128028" name="Text Box 28"/>
          <p:cNvSpPr txBox="1">
            <a:spLocks noChangeArrowheads="1"/>
          </p:cNvSpPr>
          <p:nvPr/>
        </p:nvSpPr>
        <p:spPr bwMode="auto">
          <a:xfrm>
            <a:off x="152400" y="5715000"/>
            <a:ext cx="6584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00FF"/>
                </a:solidFill>
                <a:ea typeface="楷体_GB2312" charset="0"/>
              </a:rPr>
              <a:t>因此，需要对它进行“筛选”。</a:t>
            </a:r>
            <a:endParaRPr lang="zh-CN" altLang="en-US" sz="3600">
              <a:ea typeface="楷体_GB2312" charset="0"/>
            </a:endParaRPr>
          </a:p>
        </p:txBody>
      </p:sp>
      <p:sp>
        <p:nvSpPr>
          <p:cNvPr id="128029" name="Oval 29"/>
          <p:cNvSpPr>
            <a:spLocks noChangeArrowheads="1"/>
          </p:cNvSpPr>
          <p:nvPr/>
        </p:nvSpPr>
        <p:spPr bwMode="auto">
          <a:xfrm>
            <a:off x="29718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98</a:t>
            </a:r>
            <a:endParaRPr lang="en-US" altLang="zh-CN"/>
          </a:p>
        </p:txBody>
      </p:sp>
      <p:sp>
        <p:nvSpPr>
          <p:cNvPr id="128030" name="Line 30"/>
          <p:cNvSpPr>
            <a:spLocks noChangeShapeType="1"/>
          </p:cNvSpPr>
          <p:nvPr/>
        </p:nvSpPr>
        <p:spPr bwMode="auto">
          <a:xfrm flipH="1">
            <a:off x="3276600" y="2971800"/>
            <a:ext cx="381000" cy="5334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31" name="Line 31"/>
          <p:cNvSpPr>
            <a:spLocks noChangeShapeType="1"/>
          </p:cNvSpPr>
          <p:nvPr/>
        </p:nvSpPr>
        <p:spPr bwMode="auto">
          <a:xfrm>
            <a:off x="4038600" y="2133600"/>
            <a:ext cx="16002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32" name="Line 32"/>
          <p:cNvSpPr>
            <a:spLocks noChangeShapeType="1"/>
          </p:cNvSpPr>
          <p:nvPr/>
        </p:nvSpPr>
        <p:spPr bwMode="auto">
          <a:xfrm flipV="1">
            <a:off x="2819400" y="1447800"/>
            <a:ext cx="1447800" cy="3810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33" name="Oval 33"/>
          <p:cNvSpPr>
            <a:spLocks noChangeArrowheads="1"/>
          </p:cNvSpPr>
          <p:nvPr/>
        </p:nvSpPr>
        <p:spPr bwMode="auto">
          <a:xfrm>
            <a:off x="1219200" y="11430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12</a:t>
            </a:r>
            <a:endParaRPr lang="en-US" altLang="zh-CN"/>
          </a:p>
        </p:txBody>
      </p:sp>
      <p:sp>
        <p:nvSpPr>
          <p:cNvPr id="128034" name="Oval 34"/>
          <p:cNvSpPr>
            <a:spLocks noChangeArrowheads="1"/>
          </p:cNvSpPr>
          <p:nvPr/>
        </p:nvSpPr>
        <p:spPr bwMode="auto">
          <a:xfrm>
            <a:off x="4419600" y="1219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81</a:t>
            </a:r>
            <a:endParaRPr lang="en-US" altLang="zh-CN" sz="3200" b="1"/>
          </a:p>
        </p:txBody>
      </p:sp>
      <p:sp>
        <p:nvSpPr>
          <p:cNvPr id="128035" name="Line 35"/>
          <p:cNvSpPr>
            <a:spLocks noChangeShapeType="1"/>
          </p:cNvSpPr>
          <p:nvPr/>
        </p:nvSpPr>
        <p:spPr bwMode="auto">
          <a:xfrm>
            <a:off x="2057400" y="2895600"/>
            <a:ext cx="12954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37" name="Line 37"/>
          <p:cNvSpPr>
            <a:spLocks noChangeShapeType="1"/>
          </p:cNvSpPr>
          <p:nvPr/>
        </p:nvSpPr>
        <p:spPr bwMode="auto">
          <a:xfrm flipV="1">
            <a:off x="1219200" y="1676400"/>
            <a:ext cx="152400" cy="9144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40" name="Oval 40"/>
          <p:cNvSpPr>
            <a:spLocks noChangeArrowheads="1"/>
          </p:cNvSpPr>
          <p:nvPr/>
        </p:nvSpPr>
        <p:spPr bwMode="auto">
          <a:xfrm>
            <a:off x="2362200" y="1981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73</a:t>
            </a:r>
            <a:endParaRPr lang="en-US" altLang="zh-CN"/>
          </a:p>
        </p:txBody>
      </p:sp>
      <p:sp>
        <p:nvSpPr>
          <p:cNvPr id="128041" name="Line 41"/>
          <p:cNvSpPr>
            <a:spLocks noChangeShapeType="1"/>
          </p:cNvSpPr>
          <p:nvPr/>
        </p:nvSpPr>
        <p:spPr bwMode="auto">
          <a:xfrm>
            <a:off x="1066800" y="3733800"/>
            <a:ext cx="457200" cy="0"/>
          </a:xfrm>
          <a:prstGeom prst="line">
            <a:avLst/>
          </a:prstGeom>
          <a:noFill/>
          <a:ln w="19050">
            <a:solidFill>
              <a:srgbClr val="9900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28042" name="Rectangle 42"/>
          <p:cNvSpPr>
            <a:spLocks noChangeArrowheads="1"/>
          </p:cNvSpPr>
          <p:nvPr/>
        </p:nvSpPr>
        <p:spPr bwMode="auto">
          <a:xfrm>
            <a:off x="2057400" y="2819400"/>
            <a:ext cx="1295400" cy="152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43" name="Line 43"/>
          <p:cNvSpPr>
            <a:spLocks noChangeShapeType="1"/>
          </p:cNvSpPr>
          <p:nvPr/>
        </p:nvSpPr>
        <p:spPr bwMode="auto">
          <a:xfrm flipH="1" flipV="1">
            <a:off x="1752600" y="1676400"/>
            <a:ext cx="381000" cy="1600200"/>
          </a:xfrm>
          <a:prstGeom prst="line">
            <a:avLst/>
          </a:prstGeom>
          <a:noFill/>
          <a:ln w="19050">
            <a:solidFill>
              <a:srgbClr val="993300"/>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28044" name="Rectangle 44"/>
          <p:cNvSpPr>
            <a:spLocks noChangeArrowheads="1"/>
          </p:cNvSpPr>
          <p:nvPr/>
        </p:nvSpPr>
        <p:spPr bwMode="auto">
          <a:xfrm>
            <a:off x="1066800" y="1600200"/>
            <a:ext cx="381000" cy="9906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45" name="Oval 45"/>
          <p:cNvSpPr>
            <a:spLocks noChangeArrowheads="1"/>
          </p:cNvSpPr>
          <p:nvPr/>
        </p:nvSpPr>
        <p:spPr bwMode="auto">
          <a:xfrm>
            <a:off x="990600" y="2743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64</a:t>
            </a:r>
            <a:endParaRPr lang="en-US" altLang="zh-CN">
              <a:solidFill>
                <a:srgbClr val="990000"/>
              </a:solidFill>
            </a:endParaRPr>
          </a:p>
        </p:txBody>
      </p:sp>
      <p:sp>
        <p:nvSpPr>
          <p:cNvPr id="128046" name="Oval 46"/>
          <p:cNvSpPr>
            <a:spLocks noChangeArrowheads="1"/>
          </p:cNvSpPr>
          <p:nvPr/>
        </p:nvSpPr>
        <p:spPr bwMode="auto">
          <a:xfrm>
            <a:off x="16002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12</a:t>
            </a:r>
            <a:endParaRPr lang="en-US" altLang="zh-CN"/>
          </a:p>
        </p:txBody>
      </p:sp>
      <p:sp useBgFill="1">
        <p:nvSpPr>
          <p:cNvPr id="128047" name="Rectangle 47"/>
          <p:cNvSpPr>
            <a:spLocks noChangeArrowheads="1"/>
          </p:cNvSpPr>
          <p:nvPr/>
        </p:nvSpPr>
        <p:spPr bwMode="auto">
          <a:xfrm>
            <a:off x="1066800" y="1066800"/>
            <a:ext cx="9144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8048" name="Oval 48"/>
          <p:cNvSpPr>
            <a:spLocks noChangeArrowheads="1"/>
          </p:cNvSpPr>
          <p:nvPr/>
        </p:nvSpPr>
        <p:spPr bwMode="auto">
          <a:xfrm>
            <a:off x="2971800" y="3505200"/>
            <a:ext cx="685800" cy="381000"/>
          </a:xfrm>
          <a:prstGeom prst="ellipse">
            <a:avLst/>
          </a:prstGeom>
          <a:solidFill>
            <a:srgbClr val="CCFFFF"/>
          </a:solidFill>
          <a:ln w="12700">
            <a:solidFill>
              <a:srgbClr val="00008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hlink"/>
                </a:solidFill>
              </a:rPr>
              <a:t>98</a:t>
            </a:r>
            <a:endParaRPr lang="en-US" altLang="zh-CN"/>
          </a:p>
        </p:txBody>
      </p:sp>
      <p:sp>
        <p:nvSpPr>
          <p:cNvPr id="128049" name="Text Box 49"/>
          <p:cNvSpPr txBox="1">
            <a:spLocks noChangeArrowheads="1"/>
          </p:cNvSpPr>
          <p:nvPr/>
        </p:nvSpPr>
        <p:spPr bwMode="auto">
          <a:xfrm>
            <a:off x="4403725" y="16764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a:solidFill>
                  <a:srgbClr val="990000"/>
                </a:solidFill>
                <a:ea typeface="隶书" charset="0"/>
              </a:rPr>
              <a:t>比较</a:t>
            </a:r>
          </a:p>
        </p:txBody>
      </p:sp>
      <p:sp>
        <p:nvSpPr>
          <p:cNvPr id="128050" name="Rectangle 50"/>
          <p:cNvSpPr>
            <a:spLocks noChangeArrowheads="1"/>
          </p:cNvSpPr>
          <p:nvPr/>
        </p:nvSpPr>
        <p:spPr bwMode="auto">
          <a:xfrm rot="-932321">
            <a:off x="2971800" y="1141413"/>
            <a:ext cx="800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b="1">
                <a:solidFill>
                  <a:srgbClr val="990000"/>
                </a:solidFill>
                <a:ea typeface="隶书" charset="0"/>
              </a:rPr>
              <a:t>比较</a:t>
            </a:r>
            <a:endParaRPr lang="zh-CN" altLang="en-US">
              <a:solidFill>
                <a:srgbClr val="990000"/>
              </a:solidFill>
              <a:ea typeface="隶书" charset="0"/>
            </a:endParaRPr>
          </a:p>
        </p:txBody>
      </p:sp>
      <p:sp useBgFill="1">
        <p:nvSpPr>
          <p:cNvPr id="128051" name="Rectangle 51"/>
          <p:cNvSpPr>
            <a:spLocks noChangeArrowheads="1"/>
          </p:cNvSpPr>
          <p:nvPr/>
        </p:nvSpPr>
        <p:spPr bwMode="auto">
          <a:xfrm>
            <a:off x="3962400" y="1752600"/>
            <a:ext cx="1752600" cy="5334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useBgFill="1">
        <p:nvSpPr>
          <p:cNvPr id="128052" name="Freeform 52"/>
          <p:cNvSpPr>
            <a:spLocks/>
          </p:cNvSpPr>
          <p:nvPr/>
        </p:nvSpPr>
        <p:spPr bwMode="auto">
          <a:xfrm>
            <a:off x="2778125" y="1200150"/>
            <a:ext cx="1611313" cy="666750"/>
          </a:xfrm>
          <a:custGeom>
            <a:avLst/>
            <a:gdLst>
              <a:gd name="T0" fmla="*/ 974 w 1015"/>
              <a:gd name="T1" fmla="*/ 132 h 420"/>
              <a:gd name="T2" fmla="*/ 890 w 1015"/>
              <a:gd name="T3" fmla="*/ 204 h 420"/>
              <a:gd name="T4" fmla="*/ 602 w 1015"/>
              <a:gd name="T5" fmla="*/ 276 h 420"/>
              <a:gd name="T6" fmla="*/ 254 w 1015"/>
              <a:gd name="T7" fmla="*/ 348 h 420"/>
              <a:gd name="T8" fmla="*/ 146 w 1015"/>
              <a:gd name="T9" fmla="*/ 384 h 420"/>
              <a:gd name="T10" fmla="*/ 74 w 1015"/>
              <a:gd name="T11" fmla="*/ 420 h 420"/>
              <a:gd name="T12" fmla="*/ 14 w 1015"/>
              <a:gd name="T13" fmla="*/ 408 h 420"/>
              <a:gd name="T14" fmla="*/ 2 w 1015"/>
              <a:gd name="T15" fmla="*/ 372 h 420"/>
              <a:gd name="T16" fmla="*/ 86 w 1015"/>
              <a:gd name="T17" fmla="*/ 132 h 420"/>
              <a:gd name="T18" fmla="*/ 158 w 1015"/>
              <a:gd name="T19" fmla="*/ 60 h 420"/>
              <a:gd name="T20" fmla="*/ 362 w 1015"/>
              <a:gd name="T21" fmla="*/ 36 h 420"/>
              <a:gd name="T22" fmla="*/ 662 w 1015"/>
              <a:gd name="T23" fmla="*/ 0 h 420"/>
              <a:gd name="T24" fmla="*/ 830 w 1015"/>
              <a:gd name="T25" fmla="*/ 24 h 420"/>
              <a:gd name="T26" fmla="*/ 902 w 1015"/>
              <a:gd name="T27" fmla="*/ 48 h 420"/>
              <a:gd name="T28" fmla="*/ 938 w 1015"/>
              <a:gd name="T29" fmla="*/ 60 h 420"/>
              <a:gd name="T30" fmla="*/ 974 w 1015"/>
              <a:gd name="T31" fmla="*/ 132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5" h="420">
                <a:moveTo>
                  <a:pt x="974" y="132"/>
                </a:moveTo>
                <a:cubicBezTo>
                  <a:pt x="956" y="186"/>
                  <a:pt x="935" y="179"/>
                  <a:pt x="890" y="204"/>
                </a:cubicBezTo>
                <a:cubicBezTo>
                  <a:pt x="744" y="285"/>
                  <a:pt x="836" y="260"/>
                  <a:pt x="602" y="276"/>
                </a:cubicBezTo>
                <a:cubicBezTo>
                  <a:pt x="465" y="322"/>
                  <a:pt x="409" y="336"/>
                  <a:pt x="254" y="348"/>
                </a:cubicBezTo>
                <a:cubicBezTo>
                  <a:pt x="218" y="360"/>
                  <a:pt x="178" y="363"/>
                  <a:pt x="146" y="384"/>
                </a:cubicBezTo>
                <a:cubicBezTo>
                  <a:pt x="99" y="415"/>
                  <a:pt x="124" y="403"/>
                  <a:pt x="74" y="420"/>
                </a:cubicBezTo>
                <a:cubicBezTo>
                  <a:pt x="54" y="416"/>
                  <a:pt x="31" y="419"/>
                  <a:pt x="14" y="408"/>
                </a:cubicBezTo>
                <a:cubicBezTo>
                  <a:pt x="3" y="401"/>
                  <a:pt x="2" y="385"/>
                  <a:pt x="2" y="372"/>
                </a:cubicBezTo>
                <a:cubicBezTo>
                  <a:pt x="2" y="234"/>
                  <a:pt x="0" y="209"/>
                  <a:pt x="86" y="132"/>
                </a:cubicBezTo>
                <a:cubicBezTo>
                  <a:pt x="111" y="109"/>
                  <a:pt x="126" y="71"/>
                  <a:pt x="158" y="60"/>
                </a:cubicBezTo>
                <a:cubicBezTo>
                  <a:pt x="251" y="29"/>
                  <a:pt x="163" y="55"/>
                  <a:pt x="362" y="36"/>
                </a:cubicBezTo>
                <a:cubicBezTo>
                  <a:pt x="462" y="26"/>
                  <a:pt x="563" y="14"/>
                  <a:pt x="662" y="0"/>
                </a:cubicBezTo>
                <a:cubicBezTo>
                  <a:pt x="714" y="6"/>
                  <a:pt x="777" y="10"/>
                  <a:pt x="830" y="24"/>
                </a:cubicBezTo>
                <a:cubicBezTo>
                  <a:pt x="854" y="31"/>
                  <a:pt x="878" y="40"/>
                  <a:pt x="902" y="48"/>
                </a:cubicBezTo>
                <a:cubicBezTo>
                  <a:pt x="914" y="52"/>
                  <a:pt x="938" y="60"/>
                  <a:pt x="938" y="60"/>
                </a:cubicBezTo>
                <a:cubicBezTo>
                  <a:pt x="988" y="135"/>
                  <a:pt x="1015" y="132"/>
                  <a:pt x="974" y="132"/>
                </a:cubicBezTo>
                <a:close/>
              </a:path>
            </a:pathLst>
          </a:custGeom>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847304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8023"/>
                                        </p:tgtEl>
                                        <p:attrNameLst>
                                          <p:attrName>style.visibility</p:attrName>
                                        </p:attrNameLst>
                                      </p:cBhvr>
                                      <p:to>
                                        <p:strVal val="visible"/>
                                      </p:to>
                                    </p:set>
                                    <p:animEffect transition="in" filter="wipe(left)">
                                      <p:cBhvr>
                                        <p:cTn id="7" dur="500"/>
                                        <p:tgtEl>
                                          <p:spTgt spid="1280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8002"/>
                                        </p:tgtEl>
                                        <p:attrNameLst>
                                          <p:attrName>style.visibility</p:attrName>
                                        </p:attrNameLst>
                                      </p:cBhvr>
                                      <p:to>
                                        <p:strVal val="visible"/>
                                      </p:to>
                                    </p:set>
                                    <p:animEffect transition="in" filter="wipe(up)">
                                      <p:cBhvr>
                                        <p:cTn id="12" dur="500"/>
                                        <p:tgtEl>
                                          <p:spTgt spid="128002"/>
                                        </p:tgtEl>
                                      </p:cBhvr>
                                    </p:animEffect>
                                  </p:childTnLst>
                                </p:cTn>
                              </p:par>
                            </p:childTnLst>
                          </p:cTn>
                        </p:par>
                        <p:par>
                          <p:cTn id="13" fill="hold" nodeType="afterGroup">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28013"/>
                                        </p:tgtEl>
                                        <p:attrNameLst>
                                          <p:attrName>style.visibility</p:attrName>
                                        </p:attrNameLst>
                                      </p:cBhvr>
                                      <p:to>
                                        <p:strVal val="visible"/>
                                      </p:to>
                                    </p:set>
                                    <p:animEffect transition="in" filter="wipe(up)">
                                      <p:cBhvr>
                                        <p:cTn id="16" dur="500"/>
                                        <p:tgtEl>
                                          <p:spTgt spid="128013"/>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128003"/>
                                        </p:tgtEl>
                                        <p:attrNameLst>
                                          <p:attrName>style.visibility</p:attrName>
                                        </p:attrNameLst>
                                      </p:cBhvr>
                                      <p:to>
                                        <p:strVal val="visible"/>
                                      </p:to>
                                    </p:set>
                                    <p:animEffect transition="in" filter="wipe(up)">
                                      <p:cBhvr>
                                        <p:cTn id="20" dur="500"/>
                                        <p:tgtEl>
                                          <p:spTgt spid="128003"/>
                                        </p:tgtEl>
                                      </p:cBhvr>
                                    </p:animEffect>
                                  </p:childTnLst>
                                </p:cTn>
                              </p:par>
                            </p:childTnLst>
                          </p:cTn>
                        </p:par>
                        <p:par>
                          <p:cTn id="21" fill="hold" nodeType="afterGroup">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128014"/>
                                        </p:tgtEl>
                                        <p:attrNameLst>
                                          <p:attrName>style.visibility</p:attrName>
                                        </p:attrNameLst>
                                      </p:cBhvr>
                                      <p:to>
                                        <p:strVal val="visible"/>
                                      </p:to>
                                    </p:set>
                                    <p:animEffect transition="in" filter="wipe(up)">
                                      <p:cBhvr>
                                        <p:cTn id="24" dur="500"/>
                                        <p:tgtEl>
                                          <p:spTgt spid="128014"/>
                                        </p:tgtEl>
                                      </p:cBhvr>
                                    </p:animEffect>
                                  </p:childTnLst>
                                </p:cTn>
                              </p:par>
                            </p:childTnLst>
                          </p:cTn>
                        </p:par>
                        <p:par>
                          <p:cTn id="25" fill="hold" nodeType="afterGroup">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128004"/>
                                        </p:tgtEl>
                                        <p:attrNameLst>
                                          <p:attrName>style.visibility</p:attrName>
                                        </p:attrNameLst>
                                      </p:cBhvr>
                                      <p:to>
                                        <p:strVal val="visible"/>
                                      </p:to>
                                    </p:set>
                                    <p:animEffect transition="in" filter="wipe(up)">
                                      <p:cBhvr>
                                        <p:cTn id="28" dur="500"/>
                                        <p:tgtEl>
                                          <p:spTgt spid="128004"/>
                                        </p:tgtEl>
                                      </p:cBhvr>
                                    </p:animEffect>
                                  </p:childTnLst>
                                </p:cTn>
                              </p:par>
                            </p:childTnLst>
                          </p:cTn>
                        </p:par>
                        <p:par>
                          <p:cTn id="29" fill="hold" nodeType="afterGroup">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128015"/>
                                        </p:tgtEl>
                                        <p:attrNameLst>
                                          <p:attrName>style.visibility</p:attrName>
                                        </p:attrNameLst>
                                      </p:cBhvr>
                                      <p:to>
                                        <p:strVal val="visible"/>
                                      </p:to>
                                    </p:set>
                                    <p:animEffect transition="in" filter="wipe(up)">
                                      <p:cBhvr>
                                        <p:cTn id="32" dur="500"/>
                                        <p:tgtEl>
                                          <p:spTgt spid="128015"/>
                                        </p:tgtEl>
                                      </p:cBhvr>
                                    </p:animEffect>
                                  </p:childTnLst>
                                </p:cTn>
                              </p:par>
                            </p:childTnLst>
                          </p:cTn>
                        </p:par>
                        <p:par>
                          <p:cTn id="33" fill="hold" nodeType="afterGroup">
                            <p:stCondLst>
                              <p:cond delay="3000"/>
                            </p:stCondLst>
                            <p:childTnLst>
                              <p:par>
                                <p:cTn id="34" presetID="22" presetClass="entr" presetSubtype="1" fill="hold" grpId="0" nodeType="afterEffect">
                                  <p:stCondLst>
                                    <p:cond delay="0"/>
                                  </p:stCondLst>
                                  <p:childTnLst>
                                    <p:set>
                                      <p:cBhvr>
                                        <p:cTn id="35" dur="1" fill="hold">
                                          <p:stCondLst>
                                            <p:cond delay="0"/>
                                          </p:stCondLst>
                                        </p:cTn>
                                        <p:tgtEl>
                                          <p:spTgt spid="128005"/>
                                        </p:tgtEl>
                                        <p:attrNameLst>
                                          <p:attrName>style.visibility</p:attrName>
                                        </p:attrNameLst>
                                      </p:cBhvr>
                                      <p:to>
                                        <p:strVal val="visible"/>
                                      </p:to>
                                    </p:set>
                                    <p:animEffect transition="in" filter="wipe(up)">
                                      <p:cBhvr>
                                        <p:cTn id="36" dur="500"/>
                                        <p:tgtEl>
                                          <p:spTgt spid="128005"/>
                                        </p:tgtEl>
                                      </p:cBhvr>
                                    </p:animEffect>
                                  </p:childTnLst>
                                </p:cTn>
                              </p:par>
                            </p:childTnLst>
                          </p:cTn>
                        </p:par>
                        <p:par>
                          <p:cTn id="37" fill="hold" nodeType="afterGroup">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128016"/>
                                        </p:tgtEl>
                                        <p:attrNameLst>
                                          <p:attrName>style.visibility</p:attrName>
                                        </p:attrNameLst>
                                      </p:cBhvr>
                                      <p:to>
                                        <p:strVal val="visible"/>
                                      </p:to>
                                    </p:set>
                                    <p:animEffect transition="in" filter="wipe(up)">
                                      <p:cBhvr>
                                        <p:cTn id="40" dur="500"/>
                                        <p:tgtEl>
                                          <p:spTgt spid="128016"/>
                                        </p:tgtEl>
                                      </p:cBhvr>
                                    </p:animEffect>
                                  </p:childTnLst>
                                </p:cTn>
                              </p:par>
                            </p:childTnLst>
                          </p:cTn>
                        </p:par>
                        <p:par>
                          <p:cTn id="41" fill="hold" nodeType="afterGroup">
                            <p:stCondLst>
                              <p:cond delay="4000"/>
                            </p:stCondLst>
                            <p:childTnLst>
                              <p:par>
                                <p:cTn id="42" presetID="22" presetClass="entr" presetSubtype="1" fill="hold" grpId="0" nodeType="afterEffect">
                                  <p:stCondLst>
                                    <p:cond delay="0"/>
                                  </p:stCondLst>
                                  <p:childTnLst>
                                    <p:set>
                                      <p:cBhvr>
                                        <p:cTn id="43" dur="1" fill="hold">
                                          <p:stCondLst>
                                            <p:cond delay="0"/>
                                          </p:stCondLst>
                                        </p:cTn>
                                        <p:tgtEl>
                                          <p:spTgt spid="128010"/>
                                        </p:tgtEl>
                                        <p:attrNameLst>
                                          <p:attrName>style.visibility</p:attrName>
                                        </p:attrNameLst>
                                      </p:cBhvr>
                                      <p:to>
                                        <p:strVal val="visible"/>
                                      </p:to>
                                    </p:set>
                                    <p:animEffect transition="in" filter="wipe(up)">
                                      <p:cBhvr>
                                        <p:cTn id="44" dur="500"/>
                                        <p:tgtEl>
                                          <p:spTgt spid="128010"/>
                                        </p:tgtEl>
                                      </p:cBhvr>
                                    </p:animEffect>
                                  </p:childTnLst>
                                </p:cTn>
                              </p:par>
                            </p:childTnLst>
                          </p:cTn>
                        </p:par>
                        <p:par>
                          <p:cTn id="45" fill="hold" nodeType="afterGroup">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128017"/>
                                        </p:tgtEl>
                                        <p:attrNameLst>
                                          <p:attrName>style.visibility</p:attrName>
                                        </p:attrNameLst>
                                      </p:cBhvr>
                                      <p:to>
                                        <p:strVal val="visible"/>
                                      </p:to>
                                    </p:set>
                                    <p:animEffect transition="in" filter="wipe(up)">
                                      <p:cBhvr>
                                        <p:cTn id="48" dur="500"/>
                                        <p:tgtEl>
                                          <p:spTgt spid="128017"/>
                                        </p:tgtEl>
                                      </p:cBhvr>
                                    </p:animEffect>
                                  </p:childTnLst>
                                </p:cTn>
                              </p:par>
                            </p:childTnLst>
                          </p:cTn>
                        </p:par>
                        <p:par>
                          <p:cTn id="49" fill="hold" nodeType="afterGroup">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128011"/>
                                        </p:tgtEl>
                                        <p:attrNameLst>
                                          <p:attrName>style.visibility</p:attrName>
                                        </p:attrNameLst>
                                      </p:cBhvr>
                                      <p:to>
                                        <p:strVal val="visible"/>
                                      </p:to>
                                    </p:set>
                                    <p:animEffect transition="in" filter="wipe(up)">
                                      <p:cBhvr>
                                        <p:cTn id="52" dur="500"/>
                                        <p:tgtEl>
                                          <p:spTgt spid="128011"/>
                                        </p:tgtEl>
                                      </p:cBhvr>
                                    </p:animEffect>
                                  </p:childTnLst>
                                </p:cTn>
                              </p:par>
                            </p:childTnLst>
                          </p:cTn>
                        </p:par>
                        <p:par>
                          <p:cTn id="53" fill="hold" nodeType="afterGroup">
                            <p:stCondLst>
                              <p:cond delay="5500"/>
                            </p:stCondLst>
                            <p:childTnLst>
                              <p:par>
                                <p:cTn id="54" presetID="22" presetClass="entr" presetSubtype="1" fill="hold" grpId="0" nodeType="afterEffect">
                                  <p:stCondLst>
                                    <p:cond delay="0"/>
                                  </p:stCondLst>
                                  <p:childTnLst>
                                    <p:set>
                                      <p:cBhvr>
                                        <p:cTn id="55" dur="1" fill="hold">
                                          <p:stCondLst>
                                            <p:cond delay="0"/>
                                          </p:stCondLst>
                                        </p:cTn>
                                        <p:tgtEl>
                                          <p:spTgt spid="128018"/>
                                        </p:tgtEl>
                                        <p:attrNameLst>
                                          <p:attrName>style.visibility</p:attrName>
                                        </p:attrNameLst>
                                      </p:cBhvr>
                                      <p:to>
                                        <p:strVal val="visible"/>
                                      </p:to>
                                    </p:set>
                                    <p:animEffect transition="in" filter="wipe(up)">
                                      <p:cBhvr>
                                        <p:cTn id="56" dur="500"/>
                                        <p:tgtEl>
                                          <p:spTgt spid="128018"/>
                                        </p:tgtEl>
                                      </p:cBhvr>
                                    </p:animEffect>
                                  </p:childTnLst>
                                </p:cTn>
                              </p:par>
                            </p:childTnLst>
                          </p:cTn>
                        </p:par>
                        <p:par>
                          <p:cTn id="57" fill="hold" nodeType="afterGroup">
                            <p:stCondLst>
                              <p:cond delay="6000"/>
                            </p:stCondLst>
                            <p:childTnLst>
                              <p:par>
                                <p:cTn id="58" presetID="22" presetClass="entr" presetSubtype="1" fill="hold" grpId="0" nodeType="afterEffect">
                                  <p:stCondLst>
                                    <p:cond delay="0"/>
                                  </p:stCondLst>
                                  <p:childTnLst>
                                    <p:set>
                                      <p:cBhvr>
                                        <p:cTn id="59" dur="1" fill="hold">
                                          <p:stCondLst>
                                            <p:cond delay="0"/>
                                          </p:stCondLst>
                                        </p:cTn>
                                        <p:tgtEl>
                                          <p:spTgt spid="128012"/>
                                        </p:tgtEl>
                                        <p:attrNameLst>
                                          <p:attrName>style.visibility</p:attrName>
                                        </p:attrNameLst>
                                      </p:cBhvr>
                                      <p:to>
                                        <p:strVal val="visible"/>
                                      </p:to>
                                    </p:set>
                                    <p:animEffect transition="in" filter="wipe(up)">
                                      <p:cBhvr>
                                        <p:cTn id="60" dur="500"/>
                                        <p:tgtEl>
                                          <p:spTgt spid="128012"/>
                                        </p:tgtEl>
                                      </p:cBhvr>
                                    </p:animEffect>
                                  </p:childTnLst>
                                </p:cTn>
                              </p:par>
                            </p:childTnLst>
                          </p:cTn>
                        </p:par>
                        <p:par>
                          <p:cTn id="61" fill="hold" nodeType="afterGroup">
                            <p:stCondLst>
                              <p:cond delay="6500"/>
                            </p:stCondLst>
                            <p:childTnLst>
                              <p:par>
                                <p:cTn id="62" presetID="22" presetClass="entr" presetSubtype="1" fill="hold" grpId="0" nodeType="afterEffect">
                                  <p:stCondLst>
                                    <p:cond delay="0"/>
                                  </p:stCondLst>
                                  <p:childTnLst>
                                    <p:set>
                                      <p:cBhvr>
                                        <p:cTn id="63" dur="1" fill="hold">
                                          <p:stCondLst>
                                            <p:cond delay="0"/>
                                          </p:stCondLst>
                                        </p:cTn>
                                        <p:tgtEl>
                                          <p:spTgt spid="128019"/>
                                        </p:tgtEl>
                                        <p:attrNameLst>
                                          <p:attrName>style.visibility</p:attrName>
                                        </p:attrNameLst>
                                      </p:cBhvr>
                                      <p:to>
                                        <p:strVal val="visible"/>
                                      </p:to>
                                    </p:set>
                                    <p:animEffect transition="in" filter="wipe(up)">
                                      <p:cBhvr>
                                        <p:cTn id="64" dur="500"/>
                                        <p:tgtEl>
                                          <p:spTgt spid="128019"/>
                                        </p:tgtEl>
                                      </p:cBhvr>
                                    </p:animEffect>
                                  </p:childTnLst>
                                </p:cTn>
                              </p:par>
                            </p:childTnLst>
                          </p:cTn>
                        </p:par>
                        <p:par>
                          <p:cTn id="65" fill="hold" nodeType="afterGroup">
                            <p:stCondLst>
                              <p:cond delay="7000"/>
                            </p:stCondLst>
                            <p:childTnLst>
                              <p:par>
                                <p:cTn id="66" presetID="22" presetClass="entr" presetSubtype="1" fill="hold" grpId="0" nodeType="afterEffect">
                                  <p:stCondLst>
                                    <p:cond delay="0"/>
                                  </p:stCondLst>
                                  <p:childTnLst>
                                    <p:set>
                                      <p:cBhvr>
                                        <p:cTn id="67" dur="1" fill="hold">
                                          <p:stCondLst>
                                            <p:cond delay="0"/>
                                          </p:stCondLst>
                                        </p:cTn>
                                        <p:tgtEl>
                                          <p:spTgt spid="128007"/>
                                        </p:tgtEl>
                                        <p:attrNameLst>
                                          <p:attrName>style.visibility</p:attrName>
                                        </p:attrNameLst>
                                      </p:cBhvr>
                                      <p:to>
                                        <p:strVal val="visible"/>
                                      </p:to>
                                    </p:set>
                                    <p:animEffect transition="in" filter="wipe(up)">
                                      <p:cBhvr>
                                        <p:cTn id="68" dur="500"/>
                                        <p:tgtEl>
                                          <p:spTgt spid="128007"/>
                                        </p:tgtEl>
                                      </p:cBhvr>
                                    </p:animEffect>
                                  </p:childTnLst>
                                </p:cTn>
                              </p:par>
                            </p:childTnLst>
                          </p:cTn>
                        </p:par>
                        <p:par>
                          <p:cTn id="69" fill="hold" nodeType="afterGroup">
                            <p:stCondLst>
                              <p:cond delay="7500"/>
                            </p:stCondLst>
                            <p:childTnLst>
                              <p:par>
                                <p:cTn id="70" presetID="22" presetClass="entr" presetSubtype="1" fill="hold" grpId="0" nodeType="afterEffect">
                                  <p:stCondLst>
                                    <p:cond delay="0"/>
                                  </p:stCondLst>
                                  <p:childTnLst>
                                    <p:set>
                                      <p:cBhvr>
                                        <p:cTn id="71" dur="1" fill="hold">
                                          <p:stCondLst>
                                            <p:cond delay="0"/>
                                          </p:stCondLst>
                                        </p:cTn>
                                        <p:tgtEl>
                                          <p:spTgt spid="128020"/>
                                        </p:tgtEl>
                                        <p:attrNameLst>
                                          <p:attrName>style.visibility</p:attrName>
                                        </p:attrNameLst>
                                      </p:cBhvr>
                                      <p:to>
                                        <p:strVal val="visible"/>
                                      </p:to>
                                    </p:set>
                                    <p:animEffect transition="in" filter="wipe(up)">
                                      <p:cBhvr>
                                        <p:cTn id="72" dur="500"/>
                                        <p:tgtEl>
                                          <p:spTgt spid="128020"/>
                                        </p:tgtEl>
                                      </p:cBhvr>
                                    </p:animEffect>
                                  </p:childTnLst>
                                </p:cTn>
                              </p:par>
                            </p:childTnLst>
                          </p:cTn>
                        </p:par>
                        <p:par>
                          <p:cTn id="73" fill="hold" nodeType="afterGroup">
                            <p:stCondLst>
                              <p:cond delay="8000"/>
                            </p:stCondLst>
                            <p:childTnLst>
                              <p:par>
                                <p:cTn id="74" presetID="22" presetClass="entr" presetSubtype="1" fill="hold" grpId="0" nodeType="afterEffect">
                                  <p:stCondLst>
                                    <p:cond delay="0"/>
                                  </p:stCondLst>
                                  <p:childTnLst>
                                    <p:set>
                                      <p:cBhvr>
                                        <p:cTn id="75" dur="1" fill="hold">
                                          <p:stCondLst>
                                            <p:cond delay="0"/>
                                          </p:stCondLst>
                                        </p:cTn>
                                        <p:tgtEl>
                                          <p:spTgt spid="128008"/>
                                        </p:tgtEl>
                                        <p:attrNameLst>
                                          <p:attrName>style.visibility</p:attrName>
                                        </p:attrNameLst>
                                      </p:cBhvr>
                                      <p:to>
                                        <p:strVal val="visible"/>
                                      </p:to>
                                    </p:set>
                                    <p:animEffect transition="in" filter="wipe(up)">
                                      <p:cBhvr>
                                        <p:cTn id="76" dur="500"/>
                                        <p:tgtEl>
                                          <p:spTgt spid="128008"/>
                                        </p:tgtEl>
                                      </p:cBhvr>
                                    </p:animEffect>
                                  </p:childTnLst>
                                </p:cTn>
                              </p:par>
                            </p:childTnLst>
                          </p:cTn>
                        </p:par>
                        <p:par>
                          <p:cTn id="77" fill="hold" nodeType="afterGroup">
                            <p:stCondLst>
                              <p:cond delay="8500"/>
                            </p:stCondLst>
                            <p:childTnLst>
                              <p:par>
                                <p:cTn id="78" presetID="22" presetClass="entr" presetSubtype="1" fill="hold" grpId="0" nodeType="afterEffect">
                                  <p:stCondLst>
                                    <p:cond delay="0"/>
                                  </p:stCondLst>
                                  <p:childTnLst>
                                    <p:set>
                                      <p:cBhvr>
                                        <p:cTn id="79" dur="1" fill="hold">
                                          <p:stCondLst>
                                            <p:cond delay="0"/>
                                          </p:stCondLst>
                                        </p:cTn>
                                        <p:tgtEl>
                                          <p:spTgt spid="128021"/>
                                        </p:tgtEl>
                                        <p:attrNameLst>
                                          <p:attrName>style.visibility</p:attrName>
                                        </p:attrNameLst>
                                      </p:cBhvr>
                                      <p:to>
                                        <p:strVal val="visible"/>
                                      </p:to>
                                    </p:set>
                                    <p:animEffect transition="in" filter="wipe(up)">
                                      <p:cBhvr>
                                        <p:cTn id="80" dur="500"/>
                                        <p:tgtEl>
                                          <p:spTgt spid="128021"/>
                                        </p:tgtEl>
                                      </p:cBhvr>
                                    </p:animEffect>
                                  </p:childTnLst>
                                </p:cTn>
                              </p:par>
                            </p:childTnLst>
                          </p:cTn>
                        </p:par>
                        <p:par>
                          <p:cTn id="81" fill="hold" nodeType="afterGroup">
                            <p:stCondLst>
                              <p:cond delay="9000"/>
                            </p:stCondLst>
                            <p:childTnLst>
                              <p:par>
                                <p:cTn id="82" presetID="22" presetClass="entr" presetSubtype="1" fill="hold" grpId="0" nodeType="afterEffect">
                                  <p:stCondLst>
                                    <p:cond delay="0"/>
                                  </p:stCondLst>
                                  <p:childTnLst>
                                    <p:set>
                                      <p:cBhvr>
                                        <p:cTn id="83" dur="1" fill="hold">
                                          <p:stCondLst>
                                            <p:cond delay="0"/>
                                          </p:stCondLst>
                                        </p:cTn>
                                        <p:tgtEl>
                                          <p:spTgt spid="128009"/>
                                        </p:tgtEl>
                                        <p:attrNameLst>
                                          <p:attrName>style.visibility</p:attrName>
                                        </p:attrNameLst>
                                      </p:cBhvr>
                                      <p:to>
                                        <p:strVal val="visible"/>
                                      </p:to>
                                    </p:set>
                                    <p:animEffect transition="in" filter="wipe(up)">
                                      <p:cBhvr>
                                        <p:cTn id="84" dur="500"/>
                                        <p:tgtEl>
                                          <p:spTgt spid="12800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iterate type="wd">
                                    <p:tmPct val="100000"/>
                                  </p:iterate>
                                  <p:childTnLst>
                                    <p:set>
                                      <p:cBhvr>
                                        <p:cTn id="88" dur="1" fill="hold">
                                          <p:stCondLst>
                                            <p:cond delay="0"/>
                                          </p:stCondLst>
                                        </p:cTn>
                                        <p:tgtEl>
                                          <p:spTgt spid="128024"/>
                                        </p:tgtEl>
                                        <p:attrNameLst>
                                          <p:attrName>style.visibility</p:attrName>
                                        </p:attrNameLst>
                                      </p:cBhvr>
                                      <p:to>
                                        <p:strVal val="visible"/>
                                      </p:to>
                                    </p:set>
                                    <p:animEffect transition="in" filter="wipe(left)">
                                      <p:cBhvr>
                                        <p:cTn id="89" dur="300"/>
                                        <p:tgtEl>
                                          <p:spTgt spid="12802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iterate type="wd">
                                    <p:tmPct val="100000"/>
                                  </p:iterate>
                                  <p:childTnLst>
                                    <p:set>
                                      <p:cBhvr>
                                        <p:cTn id="93" dur="1" fill="hold">
                                          <p:stCondLst>
                                            <p:cond delay="0"/>
                                          </p:stCondLst>
                                        </p:cTn>
                                        <p:tgtEl>
                                          <p:spTgt spid="128026"/>
                                        </p:tgtEl>
                                        <p:attrNameLst>
                                          <p:attrName>style.visibility</p:attrName>
                                        </p:attrNameLst>
                                      </p:cBhvr>
                                      <p:to>
                                        <p:strVal val="visible"/>
                                      </p:to>
                                    </p:set>
                                    <p:animEffect transition="in" filter="wipe(left)">
                                      <p:cBhvr>
                                        <p:cTn id="94" dur="300"/>
                                        <p:tgtEl>
                                          <p:spTgt spid="12802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28025"/>
                                        </p:tgtEl>
                                        <p:attrNameLst>
                                          <p:attrName>style.visibility</p:attrName>
                                        </p:attrNameLst>
                                      </p:cBhvr>
                                      <p:to>
                                        <p:strVal val="visible"/>
                                      </p:to>
                                    </p:set>
                                    <p:animEffect transition="in" filter="wipe(left)">
                                      <p:cBhvr>
                                        <p:cTn id="99" dur="500"/>
                                        <p:tgtEl>
                                          <p:spTgt spid="128025"/>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128029"/>
                                        </p:tgtEl>
                                        <p:attrNameLst>
                                          <p:attrName>style.visibility</p:attrName>
                                        </p:attrNameLst>
                                      </p:cBhvr>
                                      <p:to>
                                        <p:strVal val="visible"/>
                                      </p:to>
                                    </p:set>
                                    <p:animEffect transition="in" filter="wipe(left)">
                                      <p:cBhvr>
                                        <p:cTn id="103" dur="500"/>
                                        <p:tgtEl>
                                          <p:spTgt spid="12802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28028"/>
                                        </p:tgtEl>
                                        <p:attrNameLst>
                                          <p:attrName>style.visibility</p:attrName>
                                        </p:attrNameLst>
                                      </p:cBhvr>
                                      <p:to>
                                        <p:strVal val="visible"/>
                                      </p:to>
                                    </p:set>
                                    <p:animEffect transition="in" filter="wipe(left)">
                                      <p:cBhvr>
                                        <p:cTn id="108" dur="500"/>
                                        <p:tgtEl>
                                          <p:spTgt spid="128028"/>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128030"/>
                                        </p:tgtEl>
                                        <p:attrNameLst>
                                          <p:attrName>style.visibility</p:attrName>
                                        </p:attrNameLst>
                                      </p:cBhvr>
                                      <p:to>
                                        <p:strVal val="visible"/>
                                      </p:to>
                                    </p:set>
                                    <p:animEffect transition="in" filter="wipe(up)">
                                      <p:cBhvr>
                                        <p:cTn id="113" dur="500"/>
                                        <p:tgtEl>
                                          <p:spTgt spid="128030"/>
                                        </p:tgtEl>
                                      </p:cBhvr>
                                    </p:animEffect>
                                  </p:childTnLst>
                                </p:cTn>
                              </p:par>
                            </p:childTnLst>
                          </p:cTn>
                        </p:par>
                        <p:par>
                          <p:cTn id="114" fill="hold" nodeType="afterGroup">
                            <p:stCondLst>
                              <p:cond delay="500"/>
                            </p:stCondLst>
                            <p:childTnLst>
                              <p:par>
                                <p:cTn id="115" presetID="22" presetClass="entr" presetSubtype="1" fill="hold" grpId="0" nodeType="afterEffect">
                                  <p:stCondLst>
                                    <p:cond delay="0"/>
                                  </p:stCondLst>
                                  <p:childTnLst>
                                    <p:set>
                                      <p:cBhvr>
                                        <p:cTn id="116" dur="1" fill="hold">
                                          <p:stCondLst>
                                            <p:cond delay="0"/>
                                          </p:stCondLst>
                                        </p:cTn>
                                        <p:tgtEl>
                                          <p:spTgt spid="128048"/>
                                        </p:tgtEl>
                                        <p:attrNameLst>
                                          <p:attrName>style.visibility</p:attrName>
                                        </p:attrNameLst>
                                      </p:cBhvr>
                                      <p:to>
                                        <p:strVal val="visible"/>
                                      </p:to>
                                    </p:set>
                                    <p:animEffect transition="in" filter="wipe(up)">
                                      <p:cBhvr>
                                        <p:cTn id="117" dur="500"/>
                                        <p:tgtEl>
                                          <p:spTgt spid="12804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28031"/>
                                        </p:tgtEl>
                                        <p:attrNameLst>
                                          <p:attrName>style.visibility</p:attrName>
                                        </p:attrNameLst>
                                      </p:cBhvr>
                                      <p:to>
                                        <p:strVal val="visible"/>
                                      </p:to>
                                    </p:set>
                                    <p:animEffect transition="in" filter="wipe(left)">
                                      <p:cBhvr>
                                        <p:cTn id="122" dur="500"/>
                                        <p:tgtEl>
                                          <p:spTgt spid="128031"/>
                                        </p:tgtEl>
                                      </p:cBhvr>
                                    </p:animEffect>
                                  </p:childTnLst>
                                </p:cTn>
                              </p:par>
                            </p:childTnLst>
                          </p:cTn>
                        </p:par>
                        <p:par>
                          <p:cTn id="123" fill="hold" nodeType="afterGroup">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128049"/>
                                        </p:tgtEl>
                                        <p:attrNameLst>
                                          <p:attrName>style.visibility</p:attrName>
                                        </p:attrNameLst>
                                      </p:cBhvr>
                                      <p:to>
                                        <p:strVal val="visible"/>
                                      </p:to>
                                    </p:set>
                                    <p:animEffect transition="in" filter="wipe(left)">
                                      <p:cBhvr>
                                        <p:cTn id="126" dur="500"/>
                                        <p:tgtEl>
                                          <p:spTgt spid="128049"/>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28032"/>
                                        </p:tgtEl>
                                        <p:attrNameLst>
                                          <p:attrName>style.visibility</p:attrName>
                                        </p:attrNameLst>
                                      </p:cBhvr>
                                      <p:to>
                                        <p:strVal val="visible"/>
                                      </p:to>
                                    </p:set>
                                    <p:animEffect transition="in" filter="wipe(left)">
                                      <p:cBhvr>
                                        <p:cTn id="131" dur="500"/>
                                        <p:tgtEl>
                                          <p:spTgt spid="128032"/>
                                        </p:tgtEl>
                                      </p:cBhvr>
                                    </p:animEffect>
                                  </p:childTnLst>
                                </p:cTn>
                              </p:par>
                            </p:childTnLst>
                          </p:cTn>
                        </p:par>
                        <p:par>
                          <p:cTn id="132" fill="hold" nodeType="afterGroup">
                            <p:stCondLst>
                              <p:cond delay="500"/>
                            </p:stCondLst>
                            <p:childTnLst>
                              <p:par>
                                <p:cTn id="133" presetID="22" presetClass="entr" presetSubtype="4" fill="hold" grpId="0" nodeType="afterEffect">
                                  <p:stCondLst>
                                    <p:cond delay="0"/>
                                  </p:stCondLst>
                                  <p:childTnLst>
                                    <p:set>
                                      <p:cBhvr>
                                        <p:cTn id="134" dur="1" fill="hold">
                                          <p:stCondLst>
                                            <p:cond delay="0"/>
                                          </p:stCondLst>
                                        </p:cTn>
                                        <p:tgtEl>
                                          <p:spTgt spid="128050"/>
                                        </p:tgtEl>
                                        <p:attrNameLst>
                                          <p:attrName>style.visibility</p:attrName>
                                        </p:attrNameLst>
                                      </p:cBhvr>
                                      <p:to>
                                        <p:strVal val="visible"/>
                                      </p:to>
                                    </p:set>
                                    <p:animEffect transition="in" filter="wipe(down)">
                                      <p:cBhvr>
                                        <p:cTn id="135" dur="500"/>
                                        <p:tgtEl>
                                          <p:spTgt spid="128050"/>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28033"/>
                                        </p:tgtEl>
                                        <p:attrNameLst>
                                          <p:attrName>style.visibility</p:attrName>
                                        </p:attrNameLst>
                                      </p:cBhvr>
                                      <p:to>
                                        <p:strVal val="visible"/>
                                      </p:to>
                                    </p:set>
                                    <p:animEffect transition="in" filter="wipe(left)">
                                      <p:cBhvr>
                                        <p:cTn id="140" dur="500"/>
                                        <p:tgtEl>
                                          <p:spTgt spid="128033"/>
                                        </p:tgtEl>
                                      </p:cBhvr>
                                    </p:animEffect>
                                  </p:childTnLst>
                                </p:cTn>
                              </p:par>
                            </p:childTnLst>
                          </p:cTn>
                        </p:par>
                        <p:par>
                          <p:cTn id="141" fill="hold" nodeType="afterGroup">
                            <p:stCondLst>
                              <p:cond delay="500"/>
                            </p:stCondLst>
                            <p:childTnLst>
                              <p:par>
                                <p:cTn id="142" presetID="22" presetClass="entr" presetSubtype="8" fill="hold" grpId="0" nodeType="afterEffect">
                                  <p:stCondLst>
                                    <p:cond delay="500"/>
                                  </p:stCondLst>
                                  <p:childTnLst>
                                    <p:set>
                                      <p:cBhvr>
                                        <p:cTn id="143" dur="1" fill="hold">
                                          <p:stCondLst>
                                            <p:cond delay="0"/>
                                          </p:stCondLst>
                                        </p:cTn>
                                        <p:tgtEl>
                                          <p:spTgt spid="128034"/>
                                        </p:tgtEl>
                                        <p:attrNameLst>
                                          <p:attrName>style.visibility</p:attrName>
                                        </p:attrNameLst>
                                      </p:cBhvr>
                                      <p:to>
                                        <p:strVal val="visible"/>
                                      </p:to>
                                    </p:set>
                                    <p:animEffect transition="in" filter="wipe(left)">
                                      <p:cBhvr>
                                        <p:cTn id="144" dur="500"/>
                                        <p:tgtEl>
                                          <p:spTgt spid="128034"/>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28035"/>
                                        </p:tgtEl>
                                        <p:attrNameLst>
                                          <p:attrName>style.visibility</p:attrName>
                                        </p:attrNameLst>
                                      </p:cBhvr>
                                      <p:to>
                                        <p:strVal val="visible"/>
                                      </p:to>
                                    </p:set>
                                    <p:animEffect transition="in" filter="wipe(left)">
                                      <p:cBhvr>
                                        <p:cTn id="149" dur="500"/>
                                        <p:tgtEl>
                                          <p:spTgt spid="128035"/>
                                        </p:tgtEl>
                                      </p:cBhvr>
                                    </p:animEffect>
                                  </p:childTnLst>
                                </p:cTn>
                              </p:par>
                            </p:childTnLst>
                          </p:cTn>
                        </p:par>
                        <p:par>
                          <p:cTn id="150" fill="hold" nodeType="afterGroup">
                            <p:stCondLst>
                              <p:cond delay="500"/>
                            </p:stCondLst>
                            <p:childTnLst>
                              <p:par>
                                <p:cTn id="151" presetID="22" presetClass="entr" presetSubtype="8" fill="hold" grpId="0" nodeType="afterEffect">
                                  <p:stCondLst>
                                    <p:cond delay="0"/>
                                  </p:stCondLst>
                                  <p:childTnLst>
                                    <p:set>
                                      <p:cBhvr>
                                        <p:cTn id="152" dur="1" fill="hold">
                                          <p:stCondLst>
                                            <p:cond delay="0"/>
                                          </p:stCondLst>
                                        </p:cTn>
                                        <p:tgtEl>
                                          <p:spTgt spid="128051"/>
                                        </p:tgtEl>
                                        <p:attrNameLst>
                                          <p:attrName>style.visibility</p:attrName>
                                        </p:attrNameLst>
                                      </p:cBhvr>
                                      <p:to>
                                        <p:strVal val="visible"/>
                                      </p:to>
                                    </p:set>
                                    <p:animEffect transition="in" filter="wipe(left)">
                                      <p:cBhvr>
                                        <p:cTn id="153" dur="500"/>
                                        <p:tgtEl>
                                          <p:spTgt spid="128051"/>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1" fill="hold" grpId="0" nodeType="clickEffect">
                                  <p:stCondLst>
                                    <p:cond delay="0"/>
                                  </p:stCondLst>
                                  <p:childTnLst>
                                    <p:set>
                                      <p:cBhvr>
                                        <p:cTn id="157" dur="1" fill="hold">
                                          <p:stCondLst>
                                            <p:cond delay="0"/>
                                          </p:stCondLst>
                                        </p:cTn>
                                        <p:tgtEl>
                                          <p:spTgt spid="128037"/>
                                        </p:tgtEl>
                                        <p:attrNameLst>
                                          <p:attrName>style.visibility</p:attrName>
                                        </p:attrNameLst>
                                      </p:cBhvr>
                                      <p:to>
                                        <p:strVal val="visible"/>
                                      </p:to>
                                    </p:set>
                                    <p:animEffect transition="in" filter="wipe(up)">
                                      <p:cBhvr>
                                        <p:cTn id="158" dur="500"/>
                                        <p:tgtEl>
                                          <p:spTgt spid="128037"/>
                                        </p:tgtEl>
                                      </p:cBhvr>
                                    </p:animEffect>
                                  </p:childTnLst>
                                </p:cTn>
                              </p:par>
                            </p:childTnLst>
                          </p:cTn>
                        </p:par>
                        <p:par>
                          <p:cTn id="159" fill="hold" nodeType="afterGroup">
                            <p:stCondLst>
                              <p:cond delay="500"/>
                            </p:stCondLst>
                            <p:childTnLst>
                              <p:par>
                                <p:cTn id="160" presetID="22" presetClass="entr" presetSubtype="4" fill="hold" grpId="0" nodeType="afterEffect">
                                  <p:stCondLst>
                                    <p:cond delay="0"/>
                                  </p:stCondLst>
                                  <p:childTnLst>
                                    <p:set>
                                      <p:cBhvr>
                                        <p:cTn id="161" dur="1" fill="hold">
                                          <p:stCondLst>
                                            <p:cond delay="0"/>
                                          </p:stCondLst>
                                        </p:cTn>
                                        <p:tgtEl>
                                          <p:spTgt spid="128052"/>
                                        </p:tgtEl>
                                        <p:attrNameLst>
                                          <p:attrName>style.visibility</p:attrName>
                                        </p:attrNameLst>
                                      </p:cBhvr>
                                      <p:to>
                                        <p:strVal val="visible"/>
                                      </p:to>
                                    </p:set>
                                    <p:animEffect transition="in" filter="wipe(down)">
                                      <p:cBhvr>
                                        <p:cTn id="162" dur="500"/>
                                        <p:tgtEl>
                                          <p:spTgt spid="128052"/>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28040"/>
                                        </p:tgtEl>
                                        <p:attrNameLst>
                                          <p:attrName>style.visibility</p:attrName>
                                        </p:attrNameLst>
                                      </p:cBhvr>
                                      <p:to>
                                        <p:strVal val="visible"/>
                                      </p:to>
                                    </p:set>
                                    <p:animEffect transition="in" filter="wipe(left)">
                                      <p:cBhvr>
                                        <p:cTn id="167" dur="500"/>
                                        <p:tgtEl>
                                          <p:spTgt spid="128040"/>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128041"/>
                                        </p:tgtEl>
                                        <p:attrNameLst>
                                          <p:attrName>style.visibility</p:attrName>
                                        </p:attrNameLst>
                                      </p:cBhvr>
                                      <p:to>
                                        <p:strVal val="visible"/>
                                      </p:to>
                                    </p:set>
                                    <p:animEffect transition="in" filter="wipe(left)">
                                      <p:cBhvr>
                                        <p:cTn id="172" dur="500"/>
                                        <p:tgtEl>
                                          <p:spTgt spid="128041"/>
                                        </p:tgtEl>
                                      </p:cBhvr>
                                    </p:animEffect>
                                  </p:childTnLst>
                                </p:cTn>
                              </p:par>
                            </p:childTnLst>
                          </p:cTn>
                        </p:par>
                        <p:par>
                          <p:cTn id="173" fill="hold" nodeType="afterGroup">
                            <p:stCondLst>
                              <p:cond delay="500"/>
                            </p:stCondLst>
                            <p:childTnLst>
                              <p:par>
                                <p:cTn id="174" presetID="22" presetClass="entr" presetSubtype="8" fill="hold" grpId="0" nodeType="afterEffect">
                                  <p:stCondLst>
                                    <p:cond delay="0"/>
                                  </p:stCondLst>
                                  <p:childTnLst>
                                    <p:set>
                                      <p:cBhvr>
                                        <p:cTn id="175" dur="1" fill="hold">
                                          <p:stCondLst>
                                            <p:cond delay="0"/>
                                          </p:stCondLst>
                                        </p:cTn>
                                        <p:tgtEl>
                                          <p:spTgt spid="128042"/>
                                        </p:tgtEl>
                                        <p:attrNameLst>
                                          <p:attrName>style.visibility</p:attrName>
                                        </p:attrNameLst>
                                      </p:cBhvr>
                                      <p:to>
                                        <p:strVal val="visible"/>
                                      </p:to>
                                    </p:set>
                                    <p:animEffect transition="in" filter="wipe(left)">
                                      <p:cBhvr>
                                        <p:cTn id="176" dur="500"/>
                                        <p:tgtEl>
                                          <p:spTgt spid="128042"/>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128043"/>
                                        </p:tgtEl>
                                        <p:attrNameLst>
                                          <p:attrName>style.visibility</p:attrName>
                                        </p:attrNameLst>
                                      </p:cBhvr>
                                      <p:to>
                                        <p:strVal val="visible"/>
                                      </p:to>
                                    </p:set>
                                    <p:animEffect transition="in" filter="wipe(up)">
                                      <p:cBhvr>
                                        <p:cTn id="181" dur="500"/>
                                        <p:tgtEl>
                                          <p:spTgt spid="128043"/>
                                        </p:tgtEl>
                                      </p:cBhvr>
                                    </p:animEffect>
                                  </p:childTnLst>
                                </p:cTn>
                              </p:par>
                            </p:childTnLst>
                          </p:cTn>
                        </p:par>
                        <p:par>
                          <p:cTn id="182" fill="hold" nodeType="afterGroup">
                            <p:stCondLst>
                              <p:cond delay="500"/>
                            </p:stCondLst>
                            <p:childTnLst>
                              <p:par>
                                <p:cTn id="183" presetID="22" presetClass="entr" presetSubtype="1" fill="hold" grpId="0" nodeType="afterEffect">
                                  <p:stCondLst>
                                    <p:cond delay="0"/>
                                  </p:stCondLst>
                                  <p:childTnLst>
                                    <p:set>
                                      <p:cBhvr>
                                        <p:cTn id="184" dur="1" fill="hold">
                                          <p:stCondLst>
                                            <p:cond delay="0"/>
                                          </p:stCondLst>
                                        </p:cTn>
                                        <p:tgtEl>
                                          <p:spTgt spid="128044"/>
                                        </p:tgtEl>
                                        <p:attrNameLst>
                                          <p:attrName>style.visibility</p:attrName>
                                        </p:attrNameLst>
                                      </p:cBhvr>
                                      <p:to>
                                        <p:strVal val="visible"/>
                                      </p:to>
                                    </p:set>
                                    <p:animEffect transition="in" filter="wipe(up)">
                                      <p:cBhvr>
                                        <p:cTn id="185" dur="500"/>
                                        <p:tgtEl>
                                          <p:spTgt spid="128044"/>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128045"/>
                                        </p:tgtEl>
                                        <p:attrNameLst>
                                          <p:attrName>style.visibility</p:attrName>
                                        </p:attrNameLst>
                                      </p:cBhvr>
                                      <p:to>
                                        <p:strVal val="visible"/>
                                      </p:to>
                                    </p:set>
                                    <p:animEffect transition="in" filter="wipe(left)">
                                      <p:cBhvr>
                                        <p:cTn id="190" dur="500"/>
                                        <p:tgtEl>
                                          <p:spTgt spid="128045"/>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128047"/>
                                        </p:tgtEl>
                                        <p:attrNameLst>
                                          <p:attrName>style.visibility</p:attrName>
                                        </p:attrNameLst>
                                      </p:cBhvr>
                                      <p:to>
                                        <p:strVal val="visible"/>
                                      </p:to>
                                    </p:set>
                                    <p:animEffect transition="in" filter="wipe(left)">
                                      <p:cBhvr>
                                        <p:cTn id="195" dur="500"/>
                                        <p:tgtEl>
                                          <p:spTgt spid="128047"/>
                                        </p:tgtEl>
                                      </p:cBhvr>
                                    </p:animEffect>
                                  </p:childTnLst>
                                </p:cTn>
                              </p:par>
                            </p:childTnLst>
                          </p:cTn>
                        </p:par>
                        <p:par>
                          <p:cTn id="196" fill="hold" nodeType="afterGroup">
                            <p:stCondLst>
                              <p:cond delay="500"/>
                            </p:stCondLst>
                            <p:childTnLst>
                              <p:par>
                                <p:cTn id="197" presetID="22" presetClass="entr" presetSubtype="8" fill="hold" grpId="0" nodeType="afterEffect">
                                  <p:stCondLst>
                                    <p:cond delay="0"/>
                                  </p:stCondLst>
                                  <p:childTnLst>
                                    <p:set>
                                      <p:cBhvr>
                                        <p:cTn id="198" dur="1" fill="hold">
                                          <p:stCondLst>
                                            <p:cond delay="0"/>
                                          </p:stCondLst>
                                        </p:cTn>
                                        <p:tgtEl>
                                          <p:spTgt spid="128046"/>
                                        </p:tgtEl>
                                        <p:attrNameLst>
                                          <p:attrName>style.visibility</p:attrName>
                                        </p:attrNameLst>
                                      </p:cBhvr>
                                      <p:to>
                                        <p:strVal val="visible"/>
                                      </p:to>
                                    </p:set>
                                    <p:animEffect transition="in" filter="wipe(left)">
                                      <p:cBhvr>
                                        <p:cTn id="199" dur="500"/>
                                        <p:tgtEl>
                                          <p:spTgt spid="128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nimBg="1" autoUpdateAnimBg="0"/>
      <p:bldP spid="128003" grpId="0" animBg="1" autoUpdateAnimBg="0"/>
      <p:bldP spid="128004" grpId="0" animBg="1" autoUpdateAnimBg="0"/>
      <p:bldP spid="128005" grpId="0" animBg="1" autoUpdateAnimBg="0"/>
      <p:bldP spid="128007" grpId="0" animBg="1" autoUpdateAnimBg="0"/>
      <p:bldP spid="128008" grpId="0" animBg="1" autoUpdateAnimBg="0"/>
      <p:bldP spid="128009" grpId="0" animBg="1" autoUpdateAnimBg="0"/>
      <p:bldP spid="128010" grpId="0" animBg="1" autoUpdateAnimBg="0"/>
      <p:bldP spid="128011" grpId="0" animBg="1" autoUpdateAnimBg="0"/>
      <p:bldP spid="128012" grpId="0" animBg="1" autoUpdateAnimBg="0"/>
      <p:bldP spid="128013" grpId="0" animBg="1"/>
      <p:bldP spid="128014" grpId="0" animBg="1"/>
      <p:bldP spid="128015" grpId="0" animBg="1"/>
      <p:bldP spid="128016" grpId="0" animBg="1"/>
      <p:bldP spid="128017" grpId="0" animBg="1"/>
      <p:bldP spid="128018" grpId="0" animBg="1"/>
      <p:bldP spid="128019" grpId="0" animBg="1"/>
      <p:bldP spid="128020" grpId="0" animBg="1"/>
      <p:bldP spid="128021" grpId="0" animBg="1"/>
      <p:bldP spid="128023" grpId="0" autoUpdateAnimBg="0"/>
      <p:bldP spid="128024" grpId="0" autoUpdateAnimBg="0"/>
      <p:bldP spid="128025" grpId="0" animBg="1" autoUpdateAnimBg="0"/>
      <p:bldP spid="128026" grpId="0" autoUpdateAnimBg="0"/>
      <p:bldP spid="128028" grpId="0" autoUpdateAnimBg="0"/>
      <p:bldP spid="128029" grpId="0" animBg="1" autoUpdateAnimBg="0"/>
      <p:bldP spid="128030" grpId="0" animBg="1"/>
      <p:bldP spid="128031" grpId="0" animBg="1"/>
      <p:bldP spid="128032" grpId="0" animBg="1"/>
      <p:bldP spid="128033" grpId="0" animBg="1" autoUpdateAnimBg="0"/>
      <p:bldP spid="128034" grpId="0" animBg="1" autoUpdateAnimBg="0"/>
      <p:bldP spid="128035" grpId="0" animBg="1"/>
      <p:bldP spid="128037" grpId="0" animBg="1"/>
      <p:bldP spid="128040" grpId="0" animBg="1" autoUpdateAnimBg="0"/>
      <p:bldP spid="128041" grpId="0" animBg="1"/>
      <p:bldP spid="128042" grpId="0" animBg="1"/>
      <p:bldP spid="128043" grpId="0" animBg="1"/>
      <p:bldP spid="128044" grpId="0" animBg="1"/>
      <p:bldP spid="128045" grpId="0" animBg="1" autoUpdateAnimBg="0"/>
      <p:bldP spid="128046" grpId="0" animBg="1" autoUpdateAnimBg="0"/>
      <p:bldP spid="128047" grpId="0" animBg="1"/>
      <p:bldP spid="128048" grpId="0" animBg="1" autoUpdateAnimBg="0"/>
      <p:bldP spid="128049" grpId="0" autoUpdateAnimBg="0"/>
      <p:bldP spid="128050" grpId="0" autoUpdateAnimBg="0"/>
      <p:bldP spid="128051" grpId="0" animBg="1"/>
      <p:bldP spid="12805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34950" y="128588"/>
            <a:ext cx="8909050" cy="66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10000"/>
              </a:lnSpc>
            </a:pPr>
            <a:r>
              <a:rPr lang="en-US" altLang="zh-CN" sz="3600" b="1">
                <a:solidFill>
                  <a:srgbClr val="990000"/>
                </a:solidFill>
                <a:ea typeface="楷体_GB2312" charset="0"/>
              </a:rPr>
              <a:t>void</a:t>
            </a:r>
            <a:r>
              <a:rPr lang="en-US" altLang="zh-CN" sz="3600">
                <a:solidFill>
                  <a:srgbClr val="990000"/>
                </a:solidFill>
                <a:ea typeface="楷体_GB2312" charset="0"/>
              </a:rPr>
              <a:t> </a:t>
            </a:r>
            <a:r>
              <a:rPr lang="en-US" altLang="zh-CN" sz="3600">
                <a:solidFill>
                  <a:srgbClr val="FF6600"/>
                </a:solidFill>
                <a:ea typeface="楷体_GB2312" charset="0"/>
              </a:rPr>
              <a:t>HeapAdjust</a:t>
            </a:r>
            <a:r>
              <a:rPr lang="en-US" altLang="zh-CN" sz="3600">
                <a:solidFill>
                  <a:srgbClr val="990000"/>
                </a:solidFill>
                <a:ea typeface="楷体_GB2312" charset="0"/>
              </a:rPr>
              <a:t> (RcdType </a:t>
            </a:r>
            <a:r>
              <a:rPr lang="en-US" altLang="zh-CN" sz="3600" b="1">
                <a:solidFill>
                  <a:srgbClr val="990000"/>
                </a:solidFill>
                <a:ea typeface="楷体_GB2312" charset="0"/>
              </a:rPr>
              <a:t>&amp;</a:t>
            </a:r>
            <a:r>
              <a:rPr lang="en-US" altLang="zh-CN" sz="3600">
                <a:solidFill>
                  <a:srgbClr val="990000"/>
                </a:solidFill>
                <a:ea typeface="楷体_GB2312" charset="0"/>
              </a:rPr>
              <a:t>R[], </a:t>
            </a:r>
            <a:r>
              <a:rPr lang="en-US" altLang="zh-CN" sz="3600" b="1">
                <a:solidFill>
                  <a:srgbClr val="FF0000"/>
                </a:solidFill>
                <a:ea typeface="楷体_GB2312" charset="0"/>
              </a:rPr>
              <a:t>int</a:t>
            </a:r>
            <a:r>
              <a:rPr lang="en-US" altLang="zh-CN" sz="3600">
                <a:solidFill>
                  <a:srgbClr val="FF0000"/>
                </a:solidFill>
                <a:ea typeface="楷体_GB2312" charset="0"/>
              </a:rPr>
              <a:t> </a:t>
            </a:r>
            <a:r>
              <a:rPr lang="en-US" altLang="zh-CN" sz="3600" b="1">
                <a:solidFill>
                  <a:srgbClr val="FF0000"/>
                </a:solidFill>
                <a:ea typeface="楷体_GB2312" charset="0"/>
              </a:rPr>
              <a:t>s</a:t>
            </a:r>
            <a:r>
              <a:rPr lang="en-US" altLang="zh-CN" sz="3600">
                <a:solidFill>
                  <a:srgbClr val="FF0000"/>
                </a:solidFill>
                <a:ea typeface="楷体_GB2312" charset="0"/>
              </a:rPr>
              <a:t>, </a:t>
            </a:r>
            <a:r>
              <a:rPr lang="en-US" altLang="zh-CN" sz="3600" b="1">
                <a:solidFill>
                  <a:srgbClr val="FF0000"/>
                </a:solidFill>
                <a:ea typeface="楷体_GB2312" charset="0"/>
              </a:rPr>
              <a:t>int</a:t>
            </a:r>
            <a:r>
              <a:rPr lang="en-US" altLang="zh-CN" sz="3600">
                <a:solidFill>
                  <a:srgbClr val="FF0000"/>
                </a:solidFill>
                <a:ea typeface="楷体_GB2312" charset="0"/>
              </a:rPr>
              <a:t> </a:t>
            </a:r>
            <a:r>
              <a:rPr lang="en-US" altLang="zh-CN" sz="3600" b="1">
                <a:solidFill>
                  <a:srgbClr val="FF0000"/>
                </a:solidFill>
                <a:ea typeface="楷体_GB2312" charset="0"/>
              </a:rPr>
              <a:t>m</a:t>
            </a:r>
            <a:r>
              <a:rPr lang="en-US" altLang="zh-CN" sz="3600">
                <a:solidFill>
                  <a:srgbClr val="990000"/>
                </a:solidFill>
                <a:ea typeface="楷体_GB2312" charset="0"/>
              </a:rPr>
              <a:t>)</a:t>
            </a:r>
            <a:endParaRPr lang="en-US" altLang="zh-CN" sz="3000">
              <a:solidFill>
                <a:srgbClr val="990000"/>
              </a:solidFill>
              <a:ea typeface="楷体_GB2312" charset="0"/>
            </a:endParaRPr>
          </a:p>
          <a:p>
            <a:pPr algn="l">
              <a:lnSpc>
                <a:spcPct val="110000"/>
              </a:lnSpc>
            </a:pPr>
            <a:r>
              <a:rPr lang="en-US" altLang="zh-CN" sz="3600" b="1">
                <a:solidFill>
                  <a:srgbClr val="990000"/>
                </a:solidFill>
                <a:ea typeface="楷体_GB2312" charset="0"/>
              </a:rPr>
              <a:t>{</a:t>
            </a:r>
            <a:r>
              <a:rPr lang="en-US" altLang="zh-CN" sz="3200">
                <a:solidFill>
                  <a:srgbClr val="990000"/>
                </a:solidFill>
                <a:ea typeface="楷体_GB2312" charset="0"/>
              </a:rPr>
              <a:t>   // </a:t>
            </a:r>
            <a:r>
              <a:rPr lang="zh-CN" altLang="en-US" sz="3200">
                <a:solidFill>
                  <a:srgbClr val="990000"/>
                </a:solidFill>
                <a:latin typeface="楷体_GB2312" charset="0"/>
                <a:ea typeface="楷体_GB2312" charset="0"/>
              </a:rPr>
              <a:t>已知 </a:t>
            </a:r>
            <a:r>
              <a:rPr lang="en-US" altLang="zh-CN" sz="3200">
                <a:solidFill>
                  <a:srgbClr val="990000"/>
                </a:solidFill>
                <a:ea typeface="楷体_GB2312" charset="0"/>
              </a:rPr>
              <a:t>R[s..m]</a:t>
            </a:r>
            <a:r>
              <a:rPr lang="zh-CN" altLang="en-US" sz="3200">
                <a:solidFill>
                  <a:srgbClr val="990000"/>
                </a:solidFill>
                <a:ea typeface="楷体_GB2312" charset="0"/>
              </a:rPr>
              <a:t>中记录的关键字除 </a:t>
            </a:r>
            <a:r>
              <a:rPr lang="en-US" altLang="zh-CN" sz="3200">
                <a:solidFill>
                  <a:srgbClr val="990000"/>
                </a:solidFill>
                <a:ea typeface="楷体_GB2312" charset="0"/>
              </a:rPr>
              <a:t>R[s] </a:t>
            </a:r>
            <a:r>
              <a:rPr lang="zh-CN" altLang="en-US" sz="3200">
                <a:solidFill>
                  <a:srgbClr val="990000"/>
                </a:solidFill>
                <a:ea typeface="楷体_GB2312" charset="0"/>
              </a:rPr>
              <a:t>之外均</a:t>
            </a:r>
          </a:p>
          <a:p>
            <a:pPr algn="l">
              <a:lnSpc>
                <a:spcPct val="110000"/>
              </a:lnSpc>
            </a:pPr>
            <a:r>
              <a:rPr lang="zh-CN" altLang="en-US" sz="32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满足堆的特征，本函数自上而下调整 </a:t>
            </a:r>
            <a:r>
              <a:rPr lang="en-US" altLang="zh-CN" sz="3200">
                <a:solidFill>
                  <a:srgbClr val="990000"/>
                </a:solidFill>
                <a:ea typeface="楷体_GB2312" charset="0"/>
              </a:rPr>
              <a:t>R[s] </a:t>
            </a:r>
            <a:r>
              <a:rPr lang="zh-CN" altLang="en-US" sz="3200">
                <a:solidFill>
                  <a:srgbClr val="990000"/>
                </a:solidFill>
                <a:ea typeface="楷体_GB2312" charset="0"/>
              </a:rPr>
              <a:t>的</a:t>
            </a:r>
          </a:p>
          <a:p>
            <a:pPr algn="l">
              <a:lnSpc>
                <a:spcPct val="110000"/>
              </a:lnSpc>
            </a:pPr>
            <a:r>
              <a:rPr lang="zh-CN" altLang="en-US" sz="32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关键字，使 </a:t>
            </a:r>
            <a:r>
              <a:rPr lang="en-US" altLang="zh-CN" sz="3200">
                <a:solidFill>
                  <a:srgbClr val="990000"/>
                </a:solidFill>
                <a:ea typeface="楷体_GB2312" charset="0"/>
              </a:rPr>
              <a:t>R[s..m] </a:t>
            </a:r>
            <a:r>
              <a:rPr lang="zh-CN" altLang="en-US" sz="3200">
                <a:solidFill>
                  <a:srgbClr val="990000"/>
                </a:solidFill>
                <a:ea typeface="楷体_GB2312" charset="0"/>
              </a:rPr>
              <a:t>也成为一个大顶堆</a:t>
            </a: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r>
              <a:rPr lang="en-US" altLang="zh-CN" sz="3600" b="1">
                <a:solidFill>
                  <a:srgbClr val="990000"/>
                </a:solidFill>
                <a:ea typeface="楷体_GB2312" charset="0"/>
              </a:rPr>
              <a:t>}</a:t>
            </a:r>
            <a:r>
              <a:rPr lang="en-US" altLang="zh-CN" sz="3200">
                <a:solidFill>
                  <a:srgbClr val="990000"/>
                </a:solidFill>
                <a:ea typeface="楷体_GB2312" charset="0"/>
              </a:rPr>
              <a:t> // HeapAdjust</a:t>
            </a:r>
          </a:p>
        </p:txBody>
      </p:sp>
      <p:sp>
        <p:nvSpPr>
          <p:cNvPr id="45060" name="Rectangle 4"/>
          <p:cNvSpPr>
            <a:spLocks noChangeArrowheads="1"/>
          </p:cNvSpPr>
          <p:nvPr/>
        </p:nvSpPr>
        <p:spPr bwMode="auto">
          <a:xfrm>
            <a:off x="609600" y="2503488"/>
            <a:ext cx="4695825"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a:solidFill>
                  <a:srgbClr val="840C26"/>
                </a:solidFill>
                <a:ea typeface="楷体_GB2312" charset="0"/>
              </a:rPr>
              <a:t>rc = R[s];    // </a:t>
            </a:r>
            <a:r>
              <a:rPr lang="zh-CN" altLang="en-US" sz="3600">
                <a:solidFill>
                  <a:srgbClr val="840C26"/>
                </a:solidFill>
                <a:ea typeface="楷体_GB2312" charset="0"/>
              </a:rPr>
              <a:t>暂存 </a:t>
            </a:r>
            <a:r>
              <a:rPr lang="en-US" altLang="zh-CN" sz="3600">
                <a:solidFill>
                  <a:srgbClr val="840C26"/>
                </a:solidFill>
                <a:ea typeface="楷体_GB2312" charset="0"/>
              </a:rPr>
              <a:t>R[s] </a:t>
            </a:r>
            <a:endParaRPr lang="en-US" altLang="zh-CN" sz="3600">
              <a:ea typeface="楷体_GB2312" charset="0"/>
            </a:endParaRPr>
          </a:p>
        </p:txBody>
      </p:sp>
      <p:sp>
        <p:nvSpPr>
          <p:cNvPr id="45061" name="Rectangle 5">
            <a:hlinkClick r:id="" action="ppaction://hlinkshowjump?jump=nextslide"/>
          </p:cNvPr>
          <p:cNvSpPr>
            <a:spLocks noChangeArrowheads="1"/>
          </p:cNvSpPr>
          <p:nvPr/>
        </p:nvSpPr>
        <p:spPr bwMode="auto">
          <a:xfrm>
            <a:off x="609600" y="3175000"/>
            <a:ext cx="8715375"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600" b="1">
                <a:solidFill>
                  <a:srgbClr val="990000"/>
                </a:solidFill>
                <a:ea typeface="楷体_GB2312" charset="0"/>
              </a:rPr>
              <a:t>for</a:t>
            </a:r>
            <a:r>
              <a:rPr lang="en-US" altLang="zh-CN" sz="3600">
                <a:solidFill>
                  <a:srgbClr val="990000"/>
                </a:solidFill>
                <a:ea typeface="楷体_GB2312" charset="0"/>
              </a:rPr>
              <a:t> </a:t>
            </a:r>
            <a:r>
              <a:rPr lang="en-US" altLang="zh-CN" sz="3600">
                <a:solidFill>
                  <a:srgbClr val="FF0000"/>
                </a:solidFill>
                <a:ea typeface="楷体_GB2312" charset="0"/>
              </a:rPr>
              <a:t>( </a:t>
            </a:r>
            <a:r>
              <a:rPr lang="en-US" altLang="zh-CN" sz="3600" b="1">
                <a:solidFill>
                  <a:srgbClr val="FF0000"/>
                </a:solidFill>
                <a:ea typeface="楷体_GB2312" charset="0"/>
              </a:rPr>
              <a:t>j=2*s; j&lt;=m; j*=2</a:t>
            </a:r>
            <a:r>
              <a:rPr lang="en-US" altLang="zh-CN" sz="3600">
                <a:solidFill>
                  <a:srgbClr val="FF0000"/>
                </a:solidFill>
                <a:ea typeface="楷体_GB2312" charset="0"/>
              </a:rPr>
              <a:t> )</a:t>
            </a:r>
            <a:r>
              <a:rPr lang="en-US" altLang="zh-CN" sz="3600">
                <a:solidFill>
                  <a:srgbClr val="990000"/>
                </a:solidFill>
                <a:ea typeface="楷体_GB2312" charset="0"/>
              </a:rPr>
              <a:t> </a:t>
            </a:r>
            <a:r>
              <a:rPr lang="en-US" altLang="zh-CN" sz="3600" b="1">
                <a:solidFill>
                  <a:srgbClr val="990000"/>
                </a:solidFill>
                <a:ea typeface="楷体_GB2312" charset="0"/>
              </a:rPr>
              <a:t>{ </a:t>
            </a:r>
            <a:r>
              <a:rPr lang="en-US" altLang="zh-CN" sz="3200">
                <a:solidFill>
                  <a:srgbClr val="990000"/>
                </a:solidFill>
                <a:ea typeface="楷体_GB2312" charset="0"/>
              </a:rPr>
              <a:t>// j </a:t>
            </a:r>
            <a:r>
              <a:rPr lang="zh-CN" altLang="en-US" sz="3200">
                <a:solidFill>
                  <a:srgbClr val="990000"/>
                </a:solidFill>
                <a:ea typeface="楷体_GB2312" charset="0"/>
              </a:rPr>
              <a:t>初值指向左孩子</a:t>
            </a:r>
            <a:endParaRPr lang="zh-CN" altLang="en-US" sz="3600" b="1">
              <a:solidFill>
                <a:srgbClr val="990000"/>
              </a:solidFill>
              <a:ea typeface="楷体_GB2312" charset="0"/>
            </a:endParaRPr>
          </a:p>
          <a:p>
            <a:pPr algn="l">
              <a:lnSpc>
                <a:spcPct val="130000"/>
              </a:lnSpc>
            </a:pPr>
            <a:r>
              <a:rPr lang="zh-CN" altLang="en-US" sz="3600" b="1">
                <a:solidFill>
                  <a:srgbClr val="990000"/>
                </a:solidFill>
                <a:ea typeface="楷体_GB2312" charset="0"/>
              </a:rPr>
              <a:t>    自上而下的筛选过程</a:t>
            </a:r>
            <a:r>
              <a:rPr lang="en-US" altLang="zh-CN" sz="3600" b="1">
                <a:solidFill>
                  <a:srgbClr val="990000"/>
                </a:solidFill>
                <a:ea typeface="楷体_GB2312" charset="0"/>
              </a:rPr>
              <a:t>;</a:t>
            </a:r>
          </a:p>
          <a:p>
            <a:pPr algn="l">
              <a:lnSpc>
                <a:spcPct val="130000"/>
              </a:lnSpc>
            </a:pPr>
            <a:r>
              <a:rPr lang="en-US" altLang="zh-CN" sz="3600" b="1">
                <a:solidFill>
                  <a:srgbClr val="990000"/>
                </a:solidFill>
                <a:ea typeface="楷体_GB2312" charset="0"/>
              </a:rPr>
              <a:t>}</a:t>
            </a:r>
            <a:endParaRPr lang="en-US" altLang="zh-CN" sz="3600">
              <a:ea typeface="楷体_GB2312" charset="0"/>
            </a:endParaRPr>
          </a:p>
        </p:txBody>
      </p:sp>
      <p:sp>
        <p:nvSpPr>
          <p:cNvPr id="45064" name="Rectangle 8"/>
          <p:cNvSpPr>
            <a:spLocks noChangeArrowheads="1"/>
          </p:cNvSpPr>
          <p:nvPr/>
        </p:nvSpPr>
        <p:spPr bwMode="auto">
          <a:xfrm>
            <a:off x="609600" y="5399088"/>
            <a:ext cx="8547100"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a:solidFill>
                  <a:schemeClr val="accent2"/>
                </a:solidFill>
                <a:ea typeface="楷体_GB2312" charset="0"/>
              </a:rPr>
              <a:t>R[s] = rc;</a:t>
            </a:r>
            <a:r>
              <a:rPr lang="en-US" altLang="zh-CN" sz="3600">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将调整前的堆顶记录插入到 </a:t>
            </a:r>
            <a:r>
              <a:rPr lang="en-US" altLang="zh-CN" sz="3200">
                <a:solidFill>
                  <a:srgbClr val="990000"/>
                </a:solidFill>
                <a:ea typeface="楷体_GB2312" charset="0"/>
              </a:rPr>
              <a:t>s </a:t>
            </a:r>
            <a:r>
              <a:rPr lang="zh-CN" altLang="en-US" sz="3200">
                <a:solidFill>
                  <a:srgbClr val="990000"/>
                </a:solidFill>
                <a:ea typeface="楷体_GB2312" charset="0"/>
              </a:rPr>
              <a:t>位置</a:t>
            </a:r>
            <a:endParaRPr lang="zh-CN" altLang="en-US" sz="3600">
              <a:ea typeface="楷体_GB2312" charset="0"/>
            </a:endParaRPr>
          </a:p>
        </p:txBody>
      </p:sp>
      <p:sp>
        <p:nvSpPr>
          <p:cNvPr id="45065" name="AutoShape 9">
            <a:hlinkClick r:id="rId2"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158136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strips(downRight)">
                                      <p:cBhvr>
                                        <p:cTn id="7" dur="500"/>
                                        <p:tgtEl>
                                          <p:spTgt spid="45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60"/>
                                        </p:tgtEl>
                                        <p:attrNameLst>
                                          <p:attrName>style.visibility</p:attrName>
                                        </p:attrNameLst>
                                      </p:cBhvr>
                                      <p:to>
                                        <p:strVal val="visible"/>
                                      </p:to>
                                    </p:set>
                                    <p:animEffect transition="in" filter="wipe(left)">
                                      <p:cBhvr>
                                        <p:cTn id="12" dur="500"/>
                                        <p:tgtEl>
                                          <p:spTgt spid="450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wipe(left)">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64"/>
                                        </p:tgtEl>
                                        <p:attrNameLst>
                                          <p:attrName>style.visibility</p:attrName>
                                        </p:attrNameLst>
                                      </p:cBhvr>
                                      <p:to>
                                        <p:strVal val="visible"/>
                                      </p:to>
                                    </p:set>
                                    <p:animEffect transition="in" filter="wipe(left)">
                                      <p:cBhvr>
                                        <p:cTn id="22" dur="500"/>
                                        <p:tgtEl>
                                          <p:spTgt spid="45064"/>
                                        </p:tgtEl>
                                      </p:cBhvr>
                                    </p:animEffect>
                                  </p:childTnLst>
                                </p:cTn>
                              </p:par>
                            </p:childTnLst>
                          </p:cTn>
                        </p:par>
                        <p:par>
                          <p:cTn id="23" fill="hold" nodeType="afterGroup">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45065"/>
                                        </p:tgtEl>
                                        <p:attrNameLst>
                                          <p:attrName>style.visibility</p:attrName>
                                        </p:attrNameLst>
                                      </p:cBhvr>
                                      <p:to>
                                        <p:strVal val="visible"/>
                                      </p:to>
                                    </p:set>
                                    <p:anim calcmode="lin" valueType="num">
                                      <p:cBhvr additive="base">
                                        <p:cTn id="26" dur="500" fill="hold"/>
                                        <p:tgtEl>
                                          <p:spTgt spid="45065"/>
                                        </p:tgtEl>
                                        <p:attrNameLst>
                                          <p:attrName>ppt_x</p:attrName>
                                        </p:attrNameLst>
                                      </p:cBhvr>
                                      <p:tavLst>
                                        <p:tav tm="0">
                                          <p:val>
                                            <p:strVal val="1+#ppt_w/2"/>
                                          </p:val>
                                        </p:tav>
                                        <p:tav tm="100000">
                                          <p:val>
                                            <p:strVal val="#ppt_x"/>
                                          </p:val>
                                        </p:tav>
                                      </p:tavLst>
                                    </p:anim>
                                    <p:anim calcmode="lin" valueType="num">
                                      <p:cBhvr additive="base">
                                        <p:cTn id="27"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P spid="45060" grpId="0" autoUpdateAnimBg="0"/>
      <p:bldP spid="45061" grpId="0" autoUpdateAnimBg="0"/>
      <p:bldP spid="45064" grpId="0" autoUpdateAnimBg="0"/>
      <p:bldP spid="4506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1026"/>
          <p:cNvSpPr>
            <a:spLocks noChangeArrowheads="1"/>
          </p:cNvSpPr>
          <p:nvPr/>
        </p:nvSpPr>
        <p:spPr bwMode="auto">
          <a:xfrm>
            <a:off x="609600" y="2514600"/>
            <a:ext cx="8305800" cy="260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b="1">
                <a:solidFill>
                  <a:srgbClr val="990000"/>
                </a:solidFill>
                <a:ea typeface="楷体_GB2312" charset="0"/>
              </a:rPr>
              <a:t>if</a:t>
            </a:r>
            <a:r>
              <a:rPr lang="en-US" altLang="zh-CN" sz="3600">
                <a:solidFill>
                  <a:srgbClr val="990000"/>
                </a:solidFill>
                <a:ea typeface="楷体_GB2312" charset="0"/>
              </a:rPr>
              <a:t> </a:t>
            </a:r>
            <a:r>
              <a:rPr lang="en-US" altLang="zh-CN" sz="3600">
                <a:solidFill>
                  <a:srgbClr val="0000FF"/>
                </a:solidFill>
                <a:ea typeface="楷体_GB2312" charset="0"/>
              </a:rPr>
              <a:t>( rc.key &gt;</a:t>
            </a:r>
            <a:r>
              <a:rPr lang="en-US" altLang="zh-CN" sz="3600" b="1">
                <a:solidFill>
                  <a:srgbClr val="0000FF"/>
                </a:solidFill>
                <a:ea typeface="楷体_GB2312" charset="0"/>
              </a:rPr>
              <a:t>=</a:t>
            </a:r>
            <a:r>
              <a:rPr lang="en-US" altLang="zh-CN" sz="3600">
                <a:solidFill>
                  <a:srgbClr val="0000FF"/>
                </a:solidFill>
                <a:ea typeface="楷体_GB2312" charset="0"/>
              </a:rPr>
              <a:t> R[j].key )</a:t>
            </a:r>
            <a:r>
              <a:rPr lang="en-US" altLang="zh-CN" sz="3600">
                <a:solidFill>
                  <a:srgbClr val="990000"/>
                </a:solidFill>
                <a:ea typeface="楷体_GB2312" charset="0"/>
              </a:rPr>
              <a:t>  </a:t>
            </a:r>
            <a:r>
              <a:rPr lang="en-US" altLang="zh-CN" sz="3600" b="1">
                <a:solidFill>
                  <a:srgbClr val="990000"/>
                </a:solidFill>
                <a:ea typeface="楷体_GB2312" charset="0"/>
              </a:rPr>
              <a:t>break</a:t>
            </a:r>
            <a:r>
              <a:rPr lang="en-US" altLang="zh-CN" sz="3600">
                <a:solidFill>
                  <a:srgbClr val="990000"/>
                </a:solidFill>
                <a:ea typeface="楷体_GB2312" charset="0"/>
              </a:rPr>
              <a:t>; </a:t>
            </a:r>
          </a:p>
          <a:p>
            <a:pPr algn="l">
              <a:lnSpc>
                <a:spcPct val="125000"/>
              </a:lnSpc>
            </a:pPr>
            <a:r>
              <a:rPr lang="en-US" altLang="zh-CN" sz="3200">
                <a:solidFill>
                  <a:srgbClr val="990000"/>
                </a:solidFill>
                <a:ea typeface="楷体_GB2312" charset="0"/>
              </a:rPr>
              <a:t>        // </a:t>
            </a:r>
            <a:r>
              <a:rPr lang="zh-CN" altLang="en-US" sz="3200">
                <a:solidFill>
                  <a:srgbClr val="990000"/>
                </a:solidFill>
                <a:ea typeface="楷体_GB2312" charset="0"/>
              </a:rPr>
              <a:t>再作“根”和“子树根”之间的比较，</a:t>
            </a:r>
          </a:p>
          <a:p>
            <a:pPr algn="l">
              <a:lnSpc>
                <a:spcPct val="125000"/>
              </a:lnSpc>
            </a:pPr>
            <a:r>
              <a:rPr lang="zh-CN" altLang="en-US" sz="32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若“</a:t>
            </a:r>
            <a:r>
              <a:rPr lang="en-US" altLang="zh-CN" sz="3200">
                <a:solidFill>
                  <a:srgbClr val="990000"/>
                </a:solidFill>
                <a:ea typeface="楷体_GB2312" charset="0"/>
              </a:rPr>
              <a:t>&gt;=”</a:t>
            </a:r>
            <a:r>
              <a:rPr lang="zh-CN" altLang="en-US" sz="3200">
                <a:solidFill>
                  <a:srgbClr val="990000"/>
                </a:solidFill>
                <a:ea typeface="楷体_GB2312" charset="0"/>
              </a:rPr>
              <a:t>成立，则说明已找到 </a:t>
            </a:r>
            <a:r>
              <a:rPr lang="en-US" altLang="zh-CN" sz="3200">
                <a:solidFill>
                  <a:srgbClr val="990000"/>
                </a:solidFill>
                <a:ea typeface="楷体_GB2312" charset="0"/>
              </a:rPr>
              <a:t>rc </a:t>
            </a:r>
            <a:r>
              <a:rPr lang="zh-CN" altLang="en-US" sz="3200">
                <a:solidFill>
                  <a:srgbClr val="990000"/>
                </a:solidFill>
                <a:ea typeface="楷体_GB2312" charset="0"/>
              </a:rPr>
              <a:t>的插</a:t>
            </a:r>
          </a:p>
          <a:p>
            <a:pPr algn="l">
              <a:lnSpc>
                <a:spcPct val="125000"/>
              </a:lnSpc>
            </a:pPr>
            <a:r>
              <a:rPr lang="zh-CN" altLang="en-US" sz="32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入位置 </a:t>
            </a:r>
            <a:r>
              <a:rPr lang="en-US" altLang="zh-CN" sz="3200">
                <a:solidFill>
                  <a:srgbClr val="990000"/>
                </a:solidFill>
                <a:ea typeface="楷体_GB2312" charset="0"/>
              </a:rPr>
              <a:t>s </a:t>
            </a:r>
            <a:r>
              <a:rPr lang="zh-CN" altLang="en-US" sz="3200">
                <a:solidFill>
                  <a:srgbClr val="990000"/>
                </a:solidFill>
                <a:ea typeface="楷体_GB2312" charset="0"/>
              </a:rPr>
              <a:t>，不需要继续往下调整</a:t>
            </a:r>
            <a:endParaRPr lang="zh-CN" altLang="en-US" sz="3600" b="1">
              <a:solidFill>
                <a:srgbClr val="840C26"/>
              </a:solidFill>
              <a:ea typeface="楷体_GB2312" charset="0"/>
            </a:endParaRPr>
          </a:p>
        </p:txBody>
      </p:sp>
      <p:sp>
        <p:nvSpPr>
          <p:cNvPr id="132099" name="Rectangle 1027"/>
          <p:cNvSpPr>
            <a:spLocks noChangeArrowheads="1"/>
          </p:cNvSpPr>
          <p:nvPr/>
        </p:nvSpPr>
        <p:spPr bwMode="auto">
          <a:xfrm>
            <a:off x="611188" y="5373688"/>
            <a:ext cx="75215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840C26"/>
                </a:solidFill>
                <a:ea typeface="楷体_GB2312" charset="0"/>
              </a:rPr>
              <a:t>R[s] = R[j];   s = j;    </a:t>
            </a:r>
          </a:p>
          <a:p>
            <a:pPr algn="l"/>
            <a:r>
              <a:rPr lang="en-US" altLang="zh-CN" sz="3600" b="1">
                <a:solidFill>
                  <a:srgbClr val="840C26"/>
                </a:solidFill>
                <a:ea typeface="楷体_GB2312" charset="0"/>
              </a:rPr>
              <a:t>        </a:t>
            </a:r>
            <a:r>
              <a:rPr lang="en-US" altLang="zh-CN" sz="3200">
                <a:solidFill>
                  <a:srgbClr val="840C26"/>
                </a:solidFill>
                <a:ea typeface="楷体_GB2312" charset="0"/>
              </a:rPr>
              <a:t>// </a:t>
            </a:r>
            <a:r>
              <a:rPr lang="zh-CN" altLang="en-US" sz="3200">
                <a:solidFill>
                  <a:srgbClr val="840C26"/>
                </a:solidFill>
                <a:ea typeface="楷体_GB2312" charset="0"/>
              </a:rPr>
              <a:t>否则记录上移，尚需继续往下调整</a:t>
            </a:r>
          </a:p>
        </p:txBody>
      </p:sp>
      <p:sp>
        <p:nvSpPr>
          <p:cNvPr id="132100" name="Rectangle 1028"/>
          <p:cNvSpPr>
            <a:spLocks noChangeArrowheads="1"/>
          </p:cNvSpPr>
          <p:nvPr/>
        </p:nvSpPr>
        <p:spPr bwMode="auto">
          <a:xfrm>
            <a:off x="609600" y="381000"/>
            <a:ext cx="8534400"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b="1">
                <a:solidFill>
                  <a:srgbClr val="990000"/>
                </a:solidFill>
                <a:ea typeface="楷体_GB2312" charset="0"/>
              </a:rPr>
              <a:t>if</a:t>
            </a:r>
            <a:r>
              <a:rPr lang="en-US" altLang="zh-CN" sz="3600">
                <a:solidFill>
                  <a:srgbClr val="990000"/>
                </a:solidFill>
                <a:ea typeface="楷体_GB2312" charset="0"/>
              </a:rPr>
              <a:t> </a:t>
            </a:r>
            <a:r>
              <a:rPr lang="en-US" altLang="zh-CN" sz="3600">
                <a:solidFill>
                  <a:srgbClr val="0000FF"/>
                </a:solidFill>
                <a:ea typeface="楷体_GB2312" charset="0"/>
              </a:rPr>
              <a:t>( </a:t>
            </a:r>
            <a:r>
              <a:rPr lang="en-US" altLang="zh-CN" sz="3600" u="sng">
                <a:solidFill>
                  <a:srgbClr val="0000FF"/>
                </a:solidFill>
                <a:ea typeface="楷体_GB2312" charset="0"/>
              </a:rPr>
              <a:t>j&lt;m</a:t>
            </a:r>
            <a:r>
              <a:rPr lang="en-US" altLang="zh-CN" sz="3600">
                <a:solidFill>
                  <a:srgbClr val="0000FF"/>
                </a:solidFill>
                <a:ea typeface="楷体_GB2312" charset="0"/>
              </a:rPr>
              <a:t> </a:t>
            </a:r>
            <a:r>
              <a:rPr lang="en-US" altLang="zh-CN" sz="3600" b="1">
                <a:solidFill>
                  <a:srgbClr val="0000FF"/>
                </a:solidFill>
                <a:ea typeface="楷体_GB2312" charset="0"/>
              </a:rPr>
              <a:t>&amp;&amp;</a:t>
            </a:r>
            <a:r>
              <a:rPr lang="en-US" altLang="zh-CN" sz="3600">
                <a:solidFill>
                  <a:srgbClr val="0000FF"/>
                </a:solidFill>
                <a:ea typeface="楷体_GB2312" charset="0"/>
              </a:rPr>
              <a:t> R[j].key</a:t>
            </a:r>
            <a:r>
              <a:rPr lang="en-US" altLang="zh-CN" sz="3600" b="1">
                <a:solidFill>
                  <a:srgbClr val="0000FF"/>
                </a:solidFill>
                <a:ea typeface="楷体_GB2312" charset="0"/>
              </a:rPr>
              <a:t>&lt;</a:t>
            </a:r>
            <a:r>
              <a:rPr lang="en-US" altLang="zh-CN" sz="3600">
                <a:solidFill>
                  <a:srgbClr val="0000FF"/>
                </a:solidFill>
                <a:ea typeface="楷体_GB2312" charset="0"/>
              </a:rPr>
              <a:t>R[j+1].key )</a:t>
            </a:r>
            <a:r>
              <a:rPr lang="en-US" altLang="zh-CN" sz="3600" b="1">
                <a:solidFill>
                  <a:srgbClr val="990000"/>
                </a:solidFill>
                <a:ea typeface="楷体_GB2312" charset="0"/>
              </a:rPr>
              <a:t>  ++</a:t>
            </a:r>
            <a:r>
              <a:rPr lang="en-US" altLang="zh-CN" sz="3600">
                <a:solidFill>
                  <a:srgbClr val="990000"/>
                </a:solidFill>
                <a:ea typeface="楷体_GB2312" charset="0"/>
              </a:rPr>
              <a:t>j;     </a:t>
            </a:r>
          </a:p>
          <a:p>
            <a:pPr algn="l">
              <a:lnSpc>
                <a:spcPct val="125000"/>
              </a:lnSpc>
            </a:pPr>
            <a:r>
              <a:rPr lang="en-US" altLang="zh-CN" sz="3200">
                <a:solidFill>
                  <a:srgbClr val="990000"/>
                </a:solidFill>
                <a:ea typeface="楷体_GB2312" charset="0"/>
              </a:rPr>
              <a:t>             // </a:t>
            </a:r>
            <a:r>
              <a:rPr lang="zh-CN" altLang="en-US" sz="3200">
                <a:solidFill>
                  <a:srgbClr val="990000"/>
                </a:solidFill>
                <a:ea typeface="楷体_GB2312" charset="0"/>
              </a:rPr>
              <a:t>左</a:t>
            </a:r>
            <a:r>
              <a:rPr lang="en-US" altLang="zh-CN" sz="3200">
                <a:solidFill>
                  <a:srgbClr val="990000"/>
                </a:solidFill>
                <a:ea typeface="楷体_GB2312" charset="0"/>
              </a:rPr>
              <a:t>/</a:t>
            </a:r>
            <a:r>
              <a:rPr lang="zh-CN" altLang="en-US" sz="3200">
                <a:solidFill>
                  <a:srgbClr val="990000"/>
                </a:solidFill>
                <a:ea typeface="楷体_GB2312" charset="0"/>
              </a:rPr>
              <a:t>右“子树根”之间先进行相互比较</a:t>
            </a:r>
          </a:p>
          <a:p>
            <a:pPr algn="l">
              <a:lnSpc>
                <a:spcPct val="125000"/>
              </a:lnSpc>
            </a:pPr>
            <a:r>
              <a:rPr lang="zh-CN" altLang="en-US" sz="32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令 </a:t>
            </a:r>
            <a:r>
              <a:rPr lang="en-US" altLang="zh-CN" sz="3200">
                <a:solidFill>
                  <a:srgbClr val="990000"/>
                </a:solidFill>
                <a:ea typeface="楷体_GB2312" charset="0"/>
              </a:rPr>
              <a:t>j </a:t>
            </a:r>
            <a:r>
              <a:rPr lang="zh-CN" altLang="en-US" sz="3200">
                <a:solidFill>
                  <a:srgbClr val="990000"/>
                </a:solidFill>
                <a:ea typeface="楷体_GB2312" charset="0"/>
              </a:rPr>
              <a:t>指示关键字较大记录的位置</a:t>
            </a:r>
          </a:p>
        </p:txBody>
      </p:sp>
      <p:sp>
        <p:nvSpPr>
          <p:cNvPr id="132101" name="AutoShape 1029">
            <a:hlinkClick r:id="" action="ppaction://hlinkshowjump?jump=lastslideviewed" highlightClick="1"/>
          </p:cNvPr>
          <p:cNvSpPr>
            <a:spLocks noChangeArrowheads="1"/>
          </p:cNvSpPr>
          <p:nvPr/>
        </p:nvSpPr>
        <p:spPr bwMode="auto">
          <a:xfrm>
            <a:off x="8534400" y="6324600"/>
            <a:ext cx="304800" cy="304800"/>
          </a:xfrm>
          <a:prstGeom prst="actionButtonReturn">
            <a:avLst/>
          </a:prstGeom>
          <a:solidFill>
            <a:srgbClr val="CCFFCC"/>
          </a:solidFill>
          <a:ln w="9525">
            <a:solidFill>
              <a:srgbClr val="009999"/>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149053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strips(downRight)">
                                      <p:cBhvr>
                                        <p:cTn id="7" dur="500"/>
                                        <p:tgtEl>
                                          <p:spTgt spid="132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32098"/>
                                        </p:tgtEl>
                                        <p:attrNameLst>
                                          <p:attrName>style.visibility</p:attrName>
                                        </p:attrNameLst>
                                      </p:cBhvr>
                                      <p:to>
                                        <p:strVal val="visible"/>
                                      </p:to>
                                    </p:set>
                                    <p:animEffect transition="in" filter="strips(downRight)">
                                      <p:cBhvr>
                                        <p:cTn id="12" dur="500"/>
                                        <p:tgtEl>
                                          <p:spTgt spid="1320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32099"/>
                                        </p:tgtEl>
                                        <p:attrNameLst>
                                          <p:attrName>style.visibility</p:attrName>
                                        </p:attrNameLst>
                                      </p:cBhvr>
                                      <p:to>
                                        <p:strVal val="visible"/>
                                      </p:to>
                                    </p:set>
                                    <p:animEffect transition="in" filter="strips(downRight)">
                                      <p:cBhvr>
                                        <p:cTn id="17" dur="500"/>
                                        <p:tgtEl>
                                          <p:spTgt spid="132099"/>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132101"/>
                                        </p:tgtEl>
                                        <p:attrNameLst>
                                          <p:attrName>style.visibility</p:attrName>
                                        </p:attrNameLst>
                                      </p:cBhvr>
                                      <p:to>
                                        <p:strVal val="visible"/>
                                      </p:to>
                                    </p:set>
                                    <p:anim calcmode="lin" valueType="num">
                                      <p:cBhvr additive="base">
                                        <p:cTn id="21" dur="500" fill="hold"/>
                                        <p:tgtEl>
                                          <p:spTgt spid="132101"/>
                                        </p:tgtEl>
                                        <p:attrNameLst>
                                          <p:attrName>ppt_x</p:attrName>
                                        </p:attrNameLst>
                                      </p:cBhvr>
                                      <p:tavLst>
                                        <p:tav tm="0">
                                          <p:val>
                                            <p:strVal val="1+#ppt_w/2"/>
                                          </p:val>
                                        </p:tav>
                                        <p:tav tm="100000">
                                          <p:val>
                                            <p:strVal val="#ppt_x"/>
                                          </p:val>
                                        </p:tav>
                                      </p:tavLst>
                                    </p:anim>
                                    <p:anim calcmode="lin" valueType="num">
                                      <p:cBhvr additive="base">
                                        <p:cTn id="22" dur="500" fill="hold"/>
                                        <p:tgtEl>
                                          <p:spTgt spid="132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099" grpId="0" autoUpdateAnimBg="0"/>
      <p:bldP spid="132100" grpId="0" autoUpdateAnimBg="0"/>
      <p:bldP spid="13210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304800" y="273050"/>
            <a:ext cx="8931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8784"/>
                </a:solidFill>
                <a:ea typeface="楷体_GB2312" charset="0"/>
              </a:rPr>
              <a:t>建堆是一个从下往上进行“筛选”的过程。</a:t>
            </a:r>
            <a:endParaRPr lang="zh-CN" altLang="en-US" sz="3600">
              <a:ea typeface="楷体_GB2312" charset="0"/>
            </a:endParaRPr>
          </a:p>
        </p:txBody>
      </p:sp>
      <p:sp>
        <p:nvSpPr>
          <p:cNvPr id="129028" name="Oval 4"/>
          <p:cNvSpPr>
            <a:spLocks noChangeArrowheads="1"/>
          </p:cNvSpPr>
          <p:nvPr/>
        </p:nvSpPr>
        <p:spPr bwMode="auto">
          <a:xfrm>
            <a:off x="4648200" y="1981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40</a:t>
            </a:r>
            <a:endParaRPr lang="en-US" altLang="zh-CN"/>
          </a:p>
        </p:txBody>
      </p:sp>
      <p:sp>
        <p:nvSpPr>
          <p:cNvPr id="129029" name="Oval 5"/>
          <p:cNvSpPr>
            <a:spLocks noChangeArrowheads="1"/>
          </p:cNvSpPr>
          <p:nvPr/>
        </p:nvSpPr>
        <p:spPr bwMode="auto">
          <a:xfrm>
            <a:off x="2590800" y="2743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55</a:t>
            </a:r>
            <a:endParaRPr lang="en-US" altLang="zh-CN" sz="3200" b="1"/>
          </a:p>
        </p:txBody>
      </p:sp>
      <p:sp>
        <p:nvSpPr>
          <p:cNvPr id="129030" name="Oval 6"/>
          <p:cNvSpPr>
            <a:spLocks noChangeArrowheads="1"/>
          </p:cNvSpPr>
          <p:nvPr/>
        </p:nvSpPr>
        <p:spPr bwMode="auto">
          <a:xfrm>
            <a:off x="6858000" y="2743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49</a:t>
            </a:r>
            <a:endParaRPr lang="en-US" altLang="zh-CN"/>
          </a:p>
        </p:txBody>
      </p:sp>
      <p:sp>
        <p:nvSpPr>
          <p:cNvPr id="129031" name="Oval 7"/>
          <p:cNvSpPr>
            <a:spLocks noChangeArrowheads="1"/>
          </p:cNvSpPr>
          <p:nvPr/>
        </p:nvSpPr>
        <p:spPr bwMode="auto">
          <a:xfrm>
            <a:off x="1219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73</a:t>
            </a:r>
            <a:endParaRPr lang="en-US" altLang="zh-CN"/>
          </a:p>
        </p:txBody>
      </p:sp>
      <p:sp>
        <p:nvSpPr>
          <p:cNvPr id="129033" name="Oval 9"/>
          <p:cNvSpPr>
            <a:spLocks noChangeArrowheads="1"/>
          </p:cNvSpPr>
          <p:nvPr/>
        </p:nvSpPr>
        <p:spPr bwMode="auto">
          <a:xfrm>
            <a:off x="533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a:solidFill>
                  <a:schemeClr val="accent2"/>
                </a:solidFill>
              </a:rPr>
              <a:t>81</a:t>
            </a:r>
            <a:endParaRPr lang="en-US" altLang="zh-CN"/>
          </a:p>
        </p:txBody>
      </p:sp>
      <p:sp>
        <p:nvSpPr>
          <p:cNvPr id="129034" name="Oval 10"/>
          <p:cNvSpPr>
            <a:spLocks noChangeArrowheads="1"/>
          </p:cNvSpPr>
          <p:nvPr/>
        </p:nvSpPr>
        <p:spPr bwMode="auto">
          <a:xfrm>
            <a:off x="18288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64</a:t>
            </a:r>
            <a:endParaRPr lang="en-US" altLang="zh-CN"/>
          </a:p>
        </p:txBody>
      </p:sp>
      <p:sp>
        <p:nvSpPr>
          <p:cNvPr id="129035" name="Oval 11"/>
          <p:cNvSpPr>
            <a:spLocks noChangeArrowheads="1"/>
          </p:cNvSpPr>
          <p:nvPr/>
        </p:nvSpPr>
        <p:spPr bwMode="auto">
          <a:xfrm>
            <a:off x="3200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36</a:t>
            </a:r>
            <a:endParaRPr lang="en-US" altLang="zh-CN"/>
          </a:p>
        </p:txBody>
      </p:sp>
      <p:sp>
        <p:nvSpPr>
          <p:cNvPr id="129036" name="Oval 12"/>
          <p:cNvSpPr>
            <a:spLocks noChangeArrowheads="1"/>
          </p:cNvSpPr>
          <p:nvPr/>
        </p:nvSpPr>
        <p:spPr bwMode="auto">
          <a:xfrm>
            <a:off x="3886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12</a:t>
            </a:r>
            <a:endParaRPr lang="en-US" altLang="zh-CN" sz="3200" b="1">
              <a:solidFill>
                <a:srgbClr val="009999"/>
              </a:solidFill>
            </a:endParaRPr>
          </a:p>
        </p:txBody>
      </p:sp>
      <p:sp>
        <p:nvSpPr>
          <p:cNvPr id="129037" name="Oval 13"/>
          <p:cNvSpPr>
            <a:spLocks noChangeArrowheads="1"/>
          </p:cNvSpPr>
          <p:nvPr/>
        </p:nvSpPr>
        <p:spPr bwMode="auto">
          <a:xfrm>
            <a:off x="57150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27</a:t>
            </a:r>
            <a:endParaRPr lang="en-US" altLang="zh-CN"/>
          </a:p>
        </p:txBody>
      </p:sp>
      <p:sp>
        <p:nvSpPr>
          <p:cNvPr id="129038" name="Oval 14"/>
          <p:cNvSpPr>
            <a:spLocks noChangeArrowheads="1"/>
          </p:cNvSpPr>
          <p:nvPr/>
        </p:nvSpPr>
        <p:spPr bwMode="auto">
          <a:xfrm>
            <a:off x="8077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98</a:t>
            </a:r>
          </a:p>
        </p:txBody>
      </p:sp>
      <p:sp>
        <p:nvSpPr>
          <p:cNvPr id="129039" name="Line 15"/>
          <p:cNvSpPr>
            <a:spLocks noChangeShapeType="1"/>
          </p:cNvSpPr>
          <p:nvPr/>
        </p:nvSpPr>
        <p:spPr bwMode="auto">
          <a:xfrm flipH="1">
            <a:off x="2895600" y="2286000"/>
            <a:ext cx="18288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0" name="Line 16"/>
          <p:cNvSpPr>
            <a:spLocks noChangeShapeType="1"/>
          </p:cNvSpPr>
          <p:nvPr/>
        </p:nvSpPr>
        <p:spPr bwMode="auto">
          <a:xfrm>
            <a:off x="5257800" y="2286000"/>
            <a:ext cx="19050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1" name="Line 17"/>
          <p:cNvSpPr>
            <a:spLocks noChangeShapeType="1"/>
          </p:cNvSpPr>
          <p:nvPr/>
        </p:nvSpPr>
        <p:spPr bwMode="auto">
          <a:xfrm flipH="1">
            <a:off x="1524000" y="2971800"/>
            <a:ext cx="10668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2" name="Line 18"/>
          <p:cNvSpPr>
            <a:spLocks noChangeShapeType="1"/>
          </p:cNvSpPr>
          <p:nvPr/>
        </p:nvSpPr>
        <p:spPr bwMode="auto">
          <a:xfrm>
            <a:off x="3276600" y="2971800"/>
            <a:ext cx="9144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3" name="Line 19"/>
          <p:cNvSpPr>
            <a:spLocks noChangeShapeType="1"/>
          </p:cNvSpPr>
          <p:nvPr/>
        </p:nvSpPr>
        <p:spPr bwMode="auto">
          <a:xfrm flipH="1">
            <a:off x="6019800" y="2971800"/>
            <a:ext cx="8382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4" name="Line 20"/>
          <p:cNvSpPr>
            <a:spLocks noChangeShapeType="1"/>
          </p:cNvSpPr>
          <p:nvPr/>
        </p:nvSpPr>
        <p:spPr bwMode="auto">
          <a:xfrm>
            <a:off x="7543800" y="2971800"/>
            <a:ext cx="9144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5" name="Line 21"/>
          <p:cNvSpPr>
            <a:spLocks noChangeShapeType="1"/>
          </p:cNvSpPr>
          <p:nvPr/>
        </p:nvSpPr>
        <p:spPr bwMode="auto">
          <a:xfrm flipH="1">
            <a:off x="838200" y="3733800"/>
            <a:ext cx="381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6" name="Line 22"/>
          <p:cNvSpPr>
            <a:spLocks noChangeShapeType="1"/>
          </p:cNvSpPr>
          <p:nvPr/>
        </p:nvSpPr>
        <p:spPr bwMode="auto">
          <a:xfrm>
            <a:off x="1905000" y="3733800"/>
            <a:ext cx="2286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47" name="Line 23"/>
          <p:cNvSpPr>
            <a:spLocks noChangeShapeType="1"/>
          </p:cNvSpPr>
          <p:nvPr/>
        </p:nvSpPr>
        <p:spPr bwMode="auto">
          <a:xfrm flipH="1">
            <a:off x="3505200" y="3733800"/>
            <a:ext cx="381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52" name="Text Box 28"/>
          <p:cNvSpPr txBox="1">
            <a:spLocks noChangeArrowheads="1"/>
          </p:cNvSpPr>
          <p:nvPr/>
        </p:nvSpPr>
        <p:spPr bwMode="auto">
          <a:xfrm>
            <a:off x="381000" y="1066800"/>
            <a:ext cx="6400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例如</a:t>
            </a:r>
            <a:r>
              <a:rPr lang="en-US" altLang="zh-CN" sz="3600" b="1">
                <a:solidFill>
                  <a:srgbClr val="990000"/>
                </a:solidFill>
                <a:ea typeface="隶书" charset="0"/>
              </a:rPr>
              <a:t>: </a:t>
            </a:r>
            <a:r>
              <a:rPr lang="zh-CN" altLang="en-US" sz="3600">
                <a:solidFill>
                  <a:srgbClr val="990000"/>
                </a:solidFill>
                <a:ea typeface="隶书" charset="0"/>
              </a:rPr>
              <a:t>排序之前的关键字序列为</a:t>
            </a:r>
            <a:endParaRPr lang="zh-CN" altLang="en-US" sz="3600">
              <a:ea typeface="隶书" charset="0"/>
            </a:endParaRPr>
          </a:p>
        </p:txBody>
      </p:sp>
      <p:sp>
        <p:nvSpPr>
          <p:cNvPr id="129053" name="Rectangle 29"/>
          <p:cNvSpPr>
            <a:spLocks noChangeArrowheads="1"/>
          </p:cNvSpPr>
          <p:nvPr/>
        </p:nvSpPr>
        <p:spPr bwMode="auto">
          <a:xfrm>
            <a:off x="3200400" y="3429000"/>
            <a:ext cx="1447800" cy="1295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54" name="Oval 30"/>
          <p:cNvSpPr>
            <a:spLocks noChangeArrowheads="1"/>
          </p:cNvSpPr>
          <p:nvPr/>
        </p:nvSpPr>
        <p:spPr bwMode="auto">
          <a:xfrm>
            <a:off x="3200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12</a:t>
            </a:r>
            <a:endParaRPr lang="en-US" altLang="zh-CN"/>
          </a:p>
        </p:txBody>
      </p:sp>
      <p:sp>
        <p:nvSpPr>
          <p:cNvPr id="129055" name="Oval 31"/>
          <p:cNvSpPr>
            <a:spLocks noChangeArrowheads="1"/>
          </p:cNvSpPr>
          <p:nvPr/>
        </p:nvSpPr>
        <p:spPr bwMode="auto">
          <a:xfrm>
            <a:off x="3886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36</a:t>
            </a:r>
            <a:endParaRPr lang="en-US" altLang="zh-CN"/>
          </a:p>
        </p:txBody>
      </p:sp>
      <p:sp>
        <p:nvSpPr>
          <p:cNvPr id="129056" name="Rectangle 32"/>
          <p:cNvSpPr>
            <a:spLocks noChangeArrowheads="1"/>
          </p:cNvSpPr>
          <p:nvPr/>
        </p:nvSpPr>
        <p:spPr bwMode="auto">
          <a:xfrm>
            <a:off x="533400" y="3429000"/>
            <a:ext cx="2057400" cy="1295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58" name="Oval 34"/>
          <p:cNvSpPr>
            <a:spLocks noChangeArrowheads="1"/>
          </p:cNvSpPr>
          <p:nvPr/>
        </p:nvSpPr>
        <p:spPr bwMode="auto">
          <a:xfrm>
            <a:off x="1219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81</a:t>
            </a:r>
            <a:endParaRPr lang="en-US" altLang="zh-CN"/>
          </a:p>
        </p:txBody>
      </p:sp>
      <p:sp>
        <p:nvSpPr>
          <p:cNvPr id="129059" name="Oval 35"/>
          <p:cNvSpPr>
            <a:spLocks noChangeArrowheads="1"/>
          </p:cNvSpPr>
          <p:nvPr/>
        </p:nvSpPr>
        <p:spPr bwMode="auto">
          <a:xfrm>
            <a:off x="533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73</a:t>
            </a:r>
            <a:endParaRPr lang="en-US" altLang="zh-CN"/>
          </a:p>
        </p:txBody>
      </p:sp>
      <p:sp>
        <p:nvSpPr>
          <p:cNvPr id="129060" name="Rectangle 36"/>
          <p:cNvSpPr>
            <a:spLocks noChangeArrowheads="1"/>
          </p:cNvSpPr>
          <p:nvPr/>
        </p:nvSpPr>
        <p:spPr bwMode="auto">
          <a:xfrm>
            <a:off x="5638800" y="2590800"/>
            <a:ext cx="3200400" cy="13716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62" name="Oval 38"/>
          <p:cNvSpPr>
            <a:spLocks noChangeArrowheads="1"/>
          </p:cNvSpPr>
          <p:nvPr/>
        </p:nvSpPr>
        <p:spPr bwMode="auto">
          <a:xfrm>
            <a:off x="8077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49</a:t>
            </a:r>
            <a:endParaRPr lang="en-US" altLang="zh-CN"/>
          </a:p>
        </p:txBody>
      </p:sp>
      <p:sp>
        <p:nvSpPr>
          <p:cNvPr id="129063" name="Oval 39"/>
          <p:cNvSpPr>
            <a:spLocks noChangeArrowheads="1"/>
          </p:cNvSpPr>
          <p:nvPr/>
        </p:nvSpPr>
        <p:spPr bwMode="auto">
          <a:xfrm>
            <a:off x="6858000" y="2743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98</a:t>
            </a:r>
            <a:endParaRPr lang="en-US" altLang="zh-CN"/>
          </a:p>
        </p:txBody>
      </p:sp>
      <p:sp>
        <p:nvSpPr>
          <p:cNvPr id="129064" name="Rectangle 40"/>
          <p:cNvSpPr>
            <a:spLocks noChangeArrowheads="1"/>
          </p:cNvSpPr>
          <p:nvPr/>
        </p:nvSpPr>
        <p:spPr bwMode="auto">
          <a:xfrm>
            <a:off x="533400" y="2667000"/>
            <a:ext cx="4114800" cy="2057400"/>
          </a:xfrm>
          <a:prstGeom prst="rect">
            <a:avLst/>
          </a:prstGeom>
          <a:solidFill>
            <a:srgbClr val="CC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9065" name="Oval 41"/>
          <p:cNvSpPr>
            <a:spLocks noChangeArrowheads="1"/>
          </p:cNvSpPr>
          <p:nvPr/>
        </p:nvSpPr>
        <p:spPr bwMode="auto">
          <a:xfrm>
            <a:off x="2590800" y="2743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81</a:t>
            </a:r>
            <a:endParaRPr lang="en-US" altLang="zh-CN"/>
          </a:p>
        </p:txBody>
      </p:sp>
      <p:sp>
        <p:nvSpPr>
          <p:cNvPr id="129066" name="Oval 42"/>
          <p:cNvSpPr>
            <a:spLocks noChangeArrowheads="1"/>
          </p:cNvSpPr>
          <p:nvPr/>
        </p:nvSpPr>
        <p:spPr bwMode="auto">
          <a:xfrm>
            <a:off x="1219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73</a:t>
            </a:r>
            <a:endParaRPr lang="en-US" altLang="zh-CN"/>
          </a:p>
        </p:txBody>
      </p:sp>
      <p:sp>
        <p:nvSpPr>
          <p:cNvPr id="129067" name="Oval 43"/>
          <p:cNvSpPr>
            <a:spLocks noChangeArrowheads="1"/>
          </p:cNvSpPr>
          <p:nvPr/>
        </p:nvSpPr>
        <p:spPr bwMode="auto">
          <a:xfrm>
            <a:off x="533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55</a:t>
            </a:r>
            <a:endParaRPr lang="en-US" altLang="zh-CN"/>
          </a:p>
        </p:txBody>
      </p:sp>
      <p:sp>
        <p:nvSpPr>
          <p:cNvPr id="129068" name="Text Box 44"/>
          <p:cNvSpPr txBox="1">
            <a:spLocks noChangeArrowheads="1"/>
          </p:cNvSpPr>
          <p:nvPr/>
        </p:nvSpPr>
        <p:spPr bwMode="auto">
          <a:xfrm>
            <a:off x="228600" y="5029200"/>
            <a:ext cx="8778875"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a:latin typeface="隶书" charset="0"/>
                <a:ea typeface="隶书" charset="0"/>
              </a:rPr>
              <a:t> </a:t>
            </a:r>
            <a:r>
              <a:rPr lang="zh-CN" altLang="en-US" sz="3600">
                <a:solidFill>
                  <a:srgbClr val="FF6600"/>
                </a:solidFill>
                <a:latin typeface="隶书" charset="0"/>
                <a:ea typeface="隶书" charset="0"/>
              </a:rPr>
              <a:t>现在，左</a:t>
            </a:r>
            <a:r>
              <a:rPr lang="en-US" altLang="zh-CN" sz="3600">
                <a:solidFill>
                  <a:srgbClr val="FF6600"/>
                </a:solidFill>
                <a:latin typeface="隶书" charset="0"/>
                <a:ea typeface="隶书" charset="0"/>
              </a:rPr>
              <a:t>/</a:t>
            </a:r>
            <a:r>
              <a:rPr lang="zh-CN" altLang="en-US" sz="3600">
                <a:solidFill>
                  <a:srgbClr val="FF6600"/>
                </a:solidFill>
                <a:latin typeface="隶书" charset="0"/>
                <a:ea typeface="隶书" charset="0"/>
              </a:rPr>
              <a:t>右子树都已经调整为堆，最后只要调整根结点，使整个二叉树是个</a:t>
            </a:r>
            <a:r>
              <a:rPr lang="zh-CN" altLang="en-US" sz="3600">
                <a:solidFill>
                  <a:srgbClr val="FF6600"/>
                </a:solidFill>
                <a:ea typeface="隶书" charset="0"/>
              </a:rPr>
              <a:t>“</a:t>
            </a:r>
            <a:r>
              <a:rPr lang="zh-CN" altLang="en-US" sz="3600">
                <a:solidFill>
                  <a:srgbClr val="FF6600"/>
                </a:solidFill>
                <a:latin typeface="隶书" charset="0"/>
                <a:ea typeface="隶书" charset="0"/>
              </a:rPr>
              <a:t>堆</a:t>
            </a:r>
            <a:r>
              <a:rPr lang="zh-CN" altLang="en-US" sz="3600">
                <a:solidFill>
                  <a:srgbClr val="FF6600"/>
                </a:solidFill>
                <a:ea typeface="隶书" charset="0"/>
              </a:rPr>
              <a:t>”</a:t>
            </a:r>
            <a:r>
              <a:rPr lang="zh-CN" altLang="en-US" sz="3600">
                <a:solidFill>
                  <a:srgbClr val="FF6600"/>
                </a:solidFill>
                <a:latin typeface="隶书" charset="0"/>
                <a:ea typeface="隶书" charset="0"/>
              </a:rPr>
              <a:t>即可。</a:t>
            </a:r>
            <a:endParaRPr lang="zh-CN" altLang="en-US" sz="3600">
              <a:solidFill>
                <a:srgbClr val="FF6600"/>
              </a:solidFill>
              <a:ea typeface="楷体_GB2312" charset="0"/>
            </a:endParaRPr>
          </a:p>
        </p:txBody>
      </p:sp>
      <p:sp>
        <p:nvSpPr>
          <p:cNvPr id="129069" name="Oval 45"/>
          <p:cNvSpPr>
            <a:spLocks noChangeArrowheads="1"/>
          </p:cNvSpPr>
          <p:nvPr/>
        </p:nvSpPr>
        <p:spPr bwMode="auto">
          <a:xfrm>
            <a:off x="4648200" y="1981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FF0000"/>
                </a:solidFill>
              </a:rPr>
              <a:t>98</a:t>
            </a:r>
            <a:endParaRPr lang="en-US" altLang="zh-CN"/>
          </a:p>
        </p:txBody>
      </p:sp>
      <p:sp>
        <p:nvSpPr>
          <p:cNvPr id="129070" name="Oval 46"/>
          <p:cNvSpPr>
            <a:spLocks noChangeArrowheads="1"/>
          </p:cNvSpPr>
          <p:nvPr/>
        </p:nvSpPr>
        <p:spPr bwMode="auto">
          <a:xfrm>
            <a:off x="6858000" y="2743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FF0000"/>
                </a:solidFill>
              </a:rPr>
              <a:t>49</a:t>
            </a:r>
            <a:endParaRPr lang="en-US" altLang="zh-CN"/>
          </a:p>
        </p:txBody>
      </p:sp>
      <p:sp>
        <p:nvSpPr>
          <p:cNvPr id="129071" name="Oval 47"/>
          <p:cNvSpPr>
            <a:spLocks noChangeArrowheads="1"/>
          </p:cNvSpPr>
          <p:nvPr/>
        </p:nvSpPr>
        <p:spPr bwMode="auto">
          <a:xfrm>
            <a:off x="8077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FF0000"/>
                </a:solidFill>
              </a:rPr>
              <a:t>40</a:t>
            </a:r>
            <a:endParaRPr lang="en-US" altLang="zh-CN"/>
          </a:p>
        </p:txBody>
      </p:sp>
      <p:sp>
        <p:nvSpPr>
          <p:cNvPr id="129072" name="Oval 48"/>
          <p:cNvSpPr>
            <a:spLocks noChangeArrowheads="1"/>
          </p:cNvSpPr>
          <p:nvPr/>
        </p:nvSpPr>
        <p:spPr bwMode="auto">
          <a:xfrm>
            <a:off x="18288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64</a:t>
            </a:r>
            <a:endParaRPr lang="en-US" altLang="zh-CN"/>
          </a:p>
        </p:txBody>
      </p:sp>
      <p:sp>
        <p:nvSpPr>
          <p:cNvPr id="129073" name="Oval 49"/>
          <p:cNvSpPr>
            <a:spLocks noChangeArrowheads="1"/>
          </p:cNvSpPr>
          <p:nvPr/>
        </p:nvSpPr>
        <p:spPr bwMode="auto">
          <a:xfrm>
            <a:off x="38862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36</a:t>
            </a:r>
            <a:endParaRPr lang="en-US" altLang="zh-CN"/>
          </a:p>
        </p:txBody>
      </p:sp>
      <p:sp>
        <p:nvSpPr>
          <p:cNvPr id="129074" name="Oval 50"/>
          <p:cNvSpPr>
            <a:spLocks noChangeArrowheads="1"/>
          </p:cNvSpPr>
          <p:nvPr/>
        </p:nvSpPr>
        <p:spPr bwMode="auto">
          <a:xfrm>
            <a:off x="3200400" y="4267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rgbClr val="990000"/>
                </a:solidFill>
              </a:rPr>
              <a:t>12</a:t>
            </a:r>
            <a:endParaRPr lang="en-US" altLang="zh-CN"/>
          </a:p>
        </p:txBody>
      </p:sp>
      <p:sp>
        <p:nvSpPr>
          <p:cNvPr id="129075" name="Oval 51"/>
          <p:cNvSpPr>
            <a:spLocks noChangeArrowheads="1"/>
          </p:cNvSpPr>
          <p:nvPr/>
        </p:nvSpPr>
        <p:spPr bwMode="auto">
          <a:xfrm>
            <a:off x="5715000" y="3505200"/>
            <a:ext cx="685800" cy="381000"/>
          </a:xfrm>
          <a:prstGeom prst="ellipse">
            <a:avLst/>
          </a:prstGeom>
          <a:solidFill>
            <a:srgbClr val="CCFFCC"/>
          </a:solidFill>
          <a:ln w="12700">
            <a:solidFill>
              <a:srgbClr val="0033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200" b="1">
                <a:solidFill>
                  <a:schemeClr val="accent2"/>
                </a:solidFill>
              </a:rPr>
              <a:t>27</a:t>
            </a:r>
            <a:endParaRPr lang="en-US" altLang="zh-CN"/>
          </a:p>
        </p:txBody>
      </p:sp>
      <p:sp>
        <p:nvSpPr>
          <p:cNvPr id="129077" name="AutoShape 53">
            <a:hlinkClick r:id="rId2"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94175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29026"/>
                                        </p:tgtEl>
                                        <p:attrNameLst>
                                          <p:attrName>style.visibility</p:attrName>
                                        </p:attrNameLst>
                                      </p:cBhvr>
                                      <p:to>
                                        <p:strVal val="visible"/>
                                      </p:to>
                                    </p:set>
                                    <p:anim calcmode="lin" valueType="num">
                                      <p:cBhvr additive="base">
                                        <p:cTn id="7" dur="500" fill="hold"/>
                                        <p:tgtEl>
                                          <p:spTgt spid="129026"/>
                                        </p:tgtEl>
                                        <p:attrNameLst>
                                          <p:attrName>ppt_x</p:attrName>
                                        </p:attrNameLst>
                                      </p:cBhvr>
                                      <p:tavLst>
                                        <p:tav tm="0">
                                          <p:val>
                                            <p:strVal val="#ppt_x"/>
                                          </p:val>
                                        </p:tav>
                                        <p:tav tm="100000">
                                          <p:val>
                                            <p:strVal val="#ppt_x"/>
                                          </p:val>
                                        </p:tav>
                                      </p:tavLst>
                                    </p:anim>
                                    <p:anim calcmode="lin" valueType="num">
                                      <p:cBhvr additive="base">
                                        <p:cTn id="8" dur="500" fill="hold"/>
                                        <p:tgtEl>
                                          <p:spTgt spid="12902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9052"/>
                                        </p:tgtEl>
                                        <p:attrNameLst>
                                          <p:attrName>style.visibility</p:attrName>
                                        </p:attrNameLst>
                                      </p:cBhvr>
                                      <p:to>
                                        <p:strVal val="visible"/>
                                      </p:to>
                                    </p:set>
                                    <p:animEffect transition="in" filter="wipe(left)">
                                      <p:cBhvr>
                                        <p:cTn id="13" dur="500"/>
                                        <p:tgtEl>
                                          <p:spTgt spid="12905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29028"/>
                                        </p:tgtEl>
                                        <p:attrNameLst>
                                          <p:attrName>style.visibility</p:attrName>
                                        </p:attrNameLst>
                                      </p:cBhvr>
                                      <p:to>
                                        <p:strVal val="visible"/>
                                      </p:to>
                                    </p:set>
                                    <p:animEffect transition="in" filter="wipe(up)">
                                      <p:cBhvr>
                                        <p:cTn id="18" dur="500"/>
                                        <p:tgtEl>
                                          <p:spTgt spid="129028"/>
                                        </p:tgtEl>
                                      </p:cBhvr>
                                    </p:animEffect>
                                  </p:childTnLst>
                                </p:cTn>
                              </p:par>
                            </p:childTnLst>
                          </p:cTn>
                        </p:par>
                        <p:par>
                          <p:cTn id="19" fill="hold" nodeType="afterGroup">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129039"/>
                                        </p:tgtEl>
                                        <p:attrNameLst>
                                          <p:attrName>style.visibility</p:attrName>
                                        </p:attrNameLst>
                                      </p:cBhvr>
                                      <p:to>
                                        <p:strVal val="visible"/>
                                      </p:to>
                                    </p:set>
                                    <p:animEffect transition="in" filter="wipe(up)">
                                      <p:cBhvr>
                                        <p:cTn id="22" dur="500"/>
                                        <p:tgtEl>
                                          <p:spTgt spid="129039"/>
                                        </p:tgtEl>
                                      </p:cBhvr>
                                    </p:animEffect>
                                  </p:childTnLst>
                                </p:cTn>
                              </p:par>
                            </p:childTnLst>
                          </p:cTn>
                        </p:par>
                        <p:par>
                          <p:cTn id="23" fill="hold" nodeType="afterGroup">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129029"/>
                                        </p:tgtEl>
                                        <p:attrNameLst>
                                          <p:attrName>style.visibility</p:attrName>
                                        </p:attrNameLst>
                                      </p:cBhvr>
                                      <p:to>
                                        <p:strVal val="visible"/>
                                      </p:to>
                                    </p:set>
                                    <p:animEffect transition="in" filter="wipe(up)">
                                      <p:cBhvr>
                                        <p:cTn id="26" dur="500"/>
                                        <p:tgtEl>
                                          <p:spTgt spid="129029"/>
                                        </p:tgtEl>
                                      </p:cBhvr>
                                    </p:animEffect>
                                  </p:childTnLst>
                                </p:cTn>
                              </p:par>
                            </p:childTnLst>
                          </p:cTn>
                        </p:par>
                        <p:par>
                          <p:cTn id="27" fill="hold" nodeType="afterGroup">
                            <p:stCondLst>
                              <p:cond delay="1500"/>
                            </p:stCondLst>
                            <p:childTnLst>
                              <p:par>
                                <p:cTn id="28" presetID="22" presetClass="entr" presetSubtype="1" fill="hold" grpId="0" nodeType="afterEffect">
                                  <p:stCondLst>
                                    <p:cond delay="0"/>
                                  </p:stCondLst>
                                  <p:childTnLst>
                                    <p:set>
                                      <p:cBhvr>
                                        <p:cTn id="29" dur="1" fill="hold">
                                          <p:stCondLst>
                                            <p:cond delay="0"/>
                                          </p:stCondLst>
                                        </p:cTn>
                                        <p:tgtEl>
                                          <p:spTgt spid="129040"/>
                                        </p:tgtEl>
                                        <p:attrNameLst>
                                          <p:attrName>style.visibility</p:attrName>
                                        </p:attrNameLst>
                                      </p:cBhvr>
                                      <p:to>
                                        <p:strVal val="visible"/>
                                      </p:to>
                                    </p:set>
                                    <p:animEffect transition="in" filter="wipe(up)">
                                      <p:cBhvr>
                                        <p:cTn id="30" dur="500"/>
                                        <p:tgtEl>
                                          <p:spTgt spid="129040"/>
                                        </p:tgtEl>
                                      </p:cBhvr>
                                    </p:animEffect>
                                  </p:childTnLst>
                                </p:cTn>
                              </p:par>
                            </p:childTnLst>
                          </p:cTn>
                        </p:par>
                        <p:par>
                          <p:cTn id="31" fill="hold" nodeType="afterGroup">
                            <p:stCondLst>
                              <p:cond delay="2000"/>
                            </p:stCondLst>
                            <p:childTnLst>
                              <p:par>
                                <p:cTn id="32" presetID="22" presetClass="entr" presetSubtype="1" fill="hold" grpId="0" nodeType="afterEffect">
                                  <p:stCondLst>
                                    <p:cond delay="0"/>
                                  </p:stCondLst>
                                  <p:childTnLst>
                                    <p:set>
                                      <p:cBhvr>
                                        <p:cTn id="33" dur="1" fill="hold">
                                          <p:stCondLst>
                                            <p:cond delay="0"/>
                                          </p:stCondLst>
                                        </p:cTn>
                                        <p:tgtEl>
                                          <p:spTgt spid="129030"/>
                                        </p:tgtEl>
                                        <p:attrNameLst>
                                          <p:attrName>style.visibility</p:attrName>
                                        </p:attrNameLst>
                                      </p:cBhvr>
                                      <p:to>
                                        <p:strVal val="visible"/>
                                      </p:to>
                                    </p:set>
                                    <p:animEffect transition="in" filter="wipe(up)">
                                      <p:cBhvr>
                                        <p:cTn id="34" dur="500"/>
                                        <p:tgtEl>
                                          <p:spTgt spid="129030"/>
                                        </p:tgtEl>
                                      </p:cBhvr>
                                    </p:animEffect>
                                  </p:childTnLst>
                                </p:cTn>
                              </p:par>
                            </p:childTnLst>
                          </p:cTn>
                        </p:par>
                        <p:par>
                          <p:cTn id="35" fill="hold" nodeType="afterGroup">
                            <p:stCondLst>
                              <p:cond delay="2500"/>
                            </p:stCondLst>
                            <p:childTnLst>
                              <p:par>
                                <p:cTn id="36" presetID="22" presetClass="entr" presetSubtype="1" fill="hold" grpId="0" nodeType="afterEffect">
                                  <p:stCondLst>
                                    <p:cond delay="0"/>
                                  </p:stCondLst>
                                  <p:childTnLst>
                                    <p:set>
                                      <p:cBhvr>
                                        <p:cTn id="37" dur="1" fill="hold">
                                          <p:stCondLst>
                                            <p:cond delay="0"/>
                                          </p:stCondLst>
                                        </p:cTn>
                                        <p:tgtEl>
                                          <p:spTgt spid="129041"/>
                                        </p:tgtEl>
                                        <p:attrNameLst>
                                          <p:attrName>style.visibility</p:attrName>
                                        </p:attrNameLst>
                                      </p:cBhvr>
                                      <p:to>
                                        <p:strVal val="visible"/>
                                      </p:to>
                                    </p:set>
                                    <p:animEffect transition="in" filter="wipe(up)">
                                      <p:cBhvr>
                                        <p:cTn id="38" dur="500"/>
                                        <p:tgtEl>
                                          <p:spTgt spid="129041"/>
                                        </p:tgtEl>
                                      </p:cBhvr>
                                    </p:animEffect>
                                  </p:childTnLst>
                                </p:cTn>
                              </p:par>
                            </p:childTnLst>
                          </p:cTn>
                        </p:par>
                        <p:par>
                          <p:cTn id="39" fill="hold" nodeType="afterGroup">
                            <p:stCondLst>
                              <p:cond delay="3000"/>
                            </p:stCondLst>
                            <p:childTnLst>
                              <p:par>
                                <p:cTn id="40" presetID="22" presetClass="entr" presetSubtype="1" fill="hold" grpId="0" nodeType="afterEffect">
                                  <p:stCondLst>
                                    <p:cond delay="0"/>
                                  </p:stCondLst>
                                  <p:childTnLst>
                                    <p:set>
                                      <p:cBhvr>
                                        <p:cTn id="41" dur="1" fill="hold">
                                          <p:stCondLst>
                                            <p:cond delay="0"/>
                                          </p:stCondLst>
                                        </p:cTn>
                                        <p:tgtEl>
                                          <p:spTgt spid="129031"/>
                                        </p:tgtEl>
                                        <p:attrNameLst>
                                          <p:attrName>style.visibility</p:attrName>
                                        </p:attrNameLst>
                                      </p:cBhvr>
                                      <p:to>
                                        <p:strVal val="visible"/>
                                      </p:to>
                                    </p:set>
                                    <p:animEffect transition="in" filter="wipe(up)">
                                      <p:cBhvr>
                                        <p:cTn id="42" dur="500"/>
                                        <p:tgtEl>
                                          <p:spTgt spid="129031"/>
                                        </p:tgtEl>
                                      </p:cBhvr>
                                    </p:animEffect>
                                  </p:childTnLst>
                                </p:cTn>
                              </p:par>
                            </p:childTnLst>
                          </p:cTn>
                        </p:par>
                        <p:par>
                          <p:cTn id="43" fill="hold" nodeType="afterGroup">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129042"/>
                                        </p:tgtEl>
                                        <p:attrNameLst>
                                          <p:attrName>style.visibility</p:attrName>
                                        </p:attrNameLst>
                                      </p:cBhvr>
                                      <p:to>
                                        <p:strVal val="visible"/>
                                      </p:to>
                                    </p:set>
                                    <p:animEffect transition="in" filter="wipe(up)">
                                      <p:cBhvr>
                                        <p:cTn id="46" dur="500"/>
                                        <p:tgtEl>
                                          <p:spTgt spid="129042"/>
                                        </p:tgtEl>
                                      </p:cBhvr>
                                    </p:animEffect>
                                  </p:childTnLst>
                                </p:cTn>
                              </p:par>
                            </p:childTnLst>
                          </p:cTn>
                        </p:par>
                        <p:par>
                          <p:cTn id="47" fill="hold" nodeType="afterGroup">
                            <p:stCondLst>
                              <p:cond delay="4000"/>
                            </p:stCondLst>
                            <p:childTnLst>
                              <p:par>
                                <p:cTn id="48" presetID="22" presetClass="entr" presetSubtype="1" fill="hold" grpId="0" nodeType="afterEffect">
                                  <p:stCondLst>
                                    <p:cond delay="0"/>
                                  </p:stCondLst>
                                  <p:childTnLst>
                                    <p:set>
                                      <p:cBhvr>
                                        <p:cTn id="49" dur="1" fill="hold">
                                          <p:stCondLst>
                                            <p:cond delay="0"/>
                                          </p:stCondLst>
                                        </p:cTn>
                                        <p:tgtEl>
                                          <p:spTgt spid="129036"/>
                                        </p:tgtEl>
                                        <p:attrNameLst>
                                          <p:attrName>style.visibility</p:attrName>
                                        </p:attrNameLst>
                                      </p:cBhvr>
                                      <p:to>
                                        <p:strVal val="visible"/>
                                      </p:to>
                                    </p:set>
                                    <p:animEffect transition="in" filter="wipe(up)">
                                      <p:cBhvr>
                                        <p:cTn id="50" dur="500"/>
                                        <p:tgtEl>
                                          <p:spTgt spid="129036"/>
                                        </p:tgtEl>
                                      </p:cBhvr>
                                    </p:animEffect>
                                  </p:childTnLst>
                                </p:cTn>
                              </p:par>
                            </p:childTnLst>
                          </p:cTn>
                        </p:par>
                        <p:par>
                          <p:cTn id="51" fill="hold" nodeType="afterGroup">
                            <p:stCondLst>
                              <p:cond delay="4500"/>
                            </p:stCondLst>
                            <p:childTnLst>
                              <p:par>
                                <p:cTn id="52" presetID="22" presetClass="entr" presetSubtype="1" fill="hold" grpId="0" nodeType="afterEffect">
                                  <p:stCondLst>
                                    <p:cond delay="0"/>
                                  </p:stCondLst>
                                  <p:childTnLst>
                                    <p:set>
                                      <p:cBhvr>
                                        <p:cTn id="53" dur="1" fill="hold">
                                          <p:stCondLst>
                                            <p:cond delay="0"/>
                                          </p:stCondLst>
                                        </p:cTn>
                                        <p:tgtEl>
                                          <p:spTgt spid="129043"/>
                                        </p:tgtEl>
                                        <p:attrNameLst>
                                          <p:attrName>style.visibility</p:attrName>
                                        </p:attrNameLst>
                                      </p:cBhvr>
                                      <p:to>
                                        <p:strVal val="visible"/>
                                      </p:to>
                                    </p:set>
                                    <p:animEffect transition="in" filter="wipe(up)">
                                      <p:cBhvr>
                                        <p:cTn id="54" dur="500"/>
                                        <p:tgtEl>
                                          <p:spTgt spid="129043"/>
                                        </p:tgtEl>
                                      </p:cBhvr>
                                    </p:animEffect>
                                  </p:childTnLst>
                                </p:cTn>
                              </p:par>
                            </p:childTnLst>
                          </p:cTn>
                        </p:par>
                        <p:par>
                          <p:cTn id="55" fill="hold" nodeType="afterGroup">
                            <p:stCondLst>
                              <p:cond delay="5000"/>
                            </p:stCondLst>
                            <p:childTnLst>
                              <p:par>
                                <p:cTn id="56" presetID="22" presetClass="entr" presetSubtype="1" fill="hold" grpId="0" nodeType="afterEffect">
                                  <p:stCondLst>
                                    <p:cond delay="0"/>
                                  </p:stCondLst>
                                  <p:childTnLst>
                                    <p:set>
                                      <p:cBhvr>
                                        <p:cTn id="57" dur="1" fill="hold">
                                          <p:stCondLst>
                                            <p:cond delay="0"/>
                                          </p:stCondLst>
                                        </p:cTn>
                                        <p:tgtEl>
                                          <p:spTgt spid="129037"/>
                                        </p:tgtEl>
                                        <p:attrNameLst>
                                          <p:attrName>style.visibility</p:attrName>
                                        </p:attrNameLst>
                                      </p:cBhvr>
                                      <p:to>
                                        <p:strVal val="visible"/>
                                      </p:to>
                                    </p:set>
                                    <p:animEffect transition="in" filter="wipe(up)">
                                      <p:cBhvr>
                                        <p:cTn id="58" dur="500"/>
                                        <p:tgtEl>
                                          <p:spTgt spid="129037"/>
                                        </p:tgtEl>
                                      </p:cBhvr>
                                    </p:animEffect>
                                  </p:childTnLst>
                                </p:cTn>
                              </p:par>
                            </p:childTnLst>
                          </p:cTn>
                        </p:par>
                        <p:par>
                          <p:cTn id="59" fill="hold" nodeType="afterGroup">
                            <p:stCondLst>
                              <p:cond delay="5500"/>
                            </p:stCondLst>
                            <p:childTnLst>
                              <p:par>
                                <p:cTn id="60" presetID="22" presetClass="entr" presetSubtype="1" fill="hold" grpId="0" nodeType="afterEffect">
                                  <p:stCondLst>
                                    <p:cond delay="0"/>
                                  </p:stCondLst>
                                  <p:childTnLst>
                                    <p:set>
                                      <p:cBhvr>
                                        <p:cTn id="61" dur="1" fill="hold">
                                          <p:stCondLst>
                                            <p:cond delay="0"/>
                                          </p:stCondLst>
                                        </p:cTn>
                                        <p:tgtEl>
                                          <p:spTgt spid="129044"/>
                                        </p:tgtEl>
                                        <p:attrNameLst>
                                          <p:attrName>style.visibility</p:attrName>
                                        </p:attrNameLst>
                                      </p:cBhvr>
                                      <p:to>
                                        <p:strVal val="visible"/>
                                      </p:to>
                                    </p:set>
                                    <p:animEffect transition="in" filter="wipe(up)">
                                      <p:cBhvr>
                                        <p:cTn id="62" dur="500"/>
                                        <p:tgtEl>
                                          <p:spTgt spid="129044"/>
                                        </p:tgtEl>
                                      </p:cBhvr>
                                    </p:animEffect>
                                  </p:childTnLst>
                                </p:cTn>
                              </p:par>
                            </p:childTnLst>
                          </p:cTn>
                        </p:par>
                        <p:par>
                          <p:cTn id="63" fill="hold" nodeType="afterGroup">
                            <p:stCondLst>
                              <p:cond delay="6000"/>
                            </p:stCondLst>
                            <p:childTnLst>
                              <p:par>
                                <p:cTn id="64" presetID="22" presetClass="entr" presetSubtype="1" fill="hold" grpId="0" nodeType="afterEffect">
                                  <p:stCondLst>
                                    <p:cond delay="0"/>
                                  </p:stCondLst>
                                  <p:childTnLst>
                                    <p:set>
                                      <p:cBhvr>
                                        <p:cTn id="65" dur="1" fill="hold">
                                          <p:stCondLst>
                                            <p:cond delay="0"/>
                                          </p:stCondLst>
                                        </p:cTn>
                                        <p:tgtEl>
                                          <p:spTgt spid="129038"/>
                                        </p:tgtEl>
                                        <p:attrNameLst>
                                          <p:attrName>style.visibility</p:attrName>
                                        </p:attrNameLst>
                                      </p:cBhvr>
                                      <p:to>
                                        <p:strVal val="visible"/>
                                      </p:to>
                                    </p:set>
                                    <p:animEffect transition="in" filter="wipe(up)">
                                      <p:cBhvr>
                                        <p:cTn id="66" dur="500"/>
                                        <p:tgtEl>
                                          <p:spTgt spid="129038"/>
                                        </p:tgtEl>
                                      </p:cBhvr>
                                    </p:animEffect>
                                  </p:childTnLst>
                                </p:cTn>
                              </p:par>
                            </p:childTnLst>
                          </p:cTn>
                        </p:par>
                        <p:par>
                          <p:cTn id="67" fill="hold" nodeType="afterGroup">
                            <p:stCondLst>
                              <p:cond delay="6500"/>
                            </p:stCondLst>
                            <p:childTnLst>
                              <p:par>
                                <p:cTn id="68" presetID="22" presetClass="entr" presetSubtype="1" fill="hold" grpId="0" nodeType="afterEffect">
                                  <p:stCondLst>
                                    <p:cond delay="0"/>
                                  </p:stCondLst>
                                  <p:childTnLst>
                                    <p:set>
                                      <p:cBhvr>
                                        <p:cTn id="69" dur="1" fill="hold">
                                          <p:stCondLst>
                                            <p:cond delay="0"/>
                                          </p:stCondLst>
                                        </p:cTn>
                                        <p:tgtEl>
                                          <p:spTgt spid="129045"/>
                                        </p:tgtEl>
                                        <p:attrNameLst>
                                          <p:attrName>style.visibility</p:attrName>
                                        </p:attrNameLst>
                                      </p:cBhvr>
                                      <p:to>
                                        <p:strVal val="visible"/>
                                      </p:to>
                                    </p:set>
                                    <p:animEffect transition="in" filter="wipe(up)">
                                      <p:cBhvr>
                                        <p:cTn id="70" dur="500"/>
                                        <p:tgtEl>
                                          <p:spTgt spid="129045"/>
                                        </p:tgtEl>
                                      </p:cBhvr>
                                    </p:animEffect>
                                  </p:childTnLst>
                                </p:cTn>
                              </p:par>
                            </p:childTnLst>
                          </p:cTn>
                        </p:par>
                        <p:par>
                          <p:cTn id="71" fill="hold" nodeType="afterGroup">
                            <p:stCondLst>
                              <p:cond delay="7000"/>
                            </p:stCondLst>
                            <p:childTnLst>
                              <p:par>
                                <p:cTn id="72" presetID="2" presetClass="entr" presetSubtype="6" fill="hold" grpId="0" nodeType="afterEffect">
                                  <p:stCondLst>
                                    <p:cond delay="0"/>
                                  </p:stCondLst>
                                  <p:childTnLst>
                                    <p:set>
                                      <p:cBhvr>
                                        <p:cTn id="73" dur="1" fill="hold">
                                          <p:stCondLst>
                                            <p:cond delay="0"/>
                                          </p:stCondLst>
                                        </p:cTn>
                                        <p:tgtEl>
                                          <p:spTgt spid="129077"/>
                                        </p:tgtEl>
                                        <p:attrNameLst>
                                          <p:attrName>style.visibility</p:attrName>
                                        </p:attrNameLst>
                                      </p:cBhvr>
                                      <p:to>
                                        <p:strVal val="visible"/>
                                      </p:to>
                                    </p:set>
                                    <p:anim calcmode="lin" valueType="num">
                                      <p:cBhvr additive="base">
                                        <p:cTn id="74" dur="500" fill="hold"/>
                                        <p:tgtEl>
                                          <p:spTgt spid="129077"/>
                                        </p:tgtEl>
                                        <p:attrNameLst>
                                          <p:attrName>ppt_x</p:attrName>
                                        </p:attrNameLst>
                                      </p:cBhvr>
                                      <p:tavLst>
                                        <p:tav tm="0">
                                          <p:val>
                                            <p:strVal val="1+#ppt_w/2"/>
                                          </p:val>
                                        </p:tav>
                                        <p:tav tm="100000">
                                          <p:val>
                                            <p:strVal val="#ppt_x"/>
                                          </p:val>
                                        </p:tav>
                                      </p:tavLst>
                                    </p:anim>
                                    <p:anim calcmode="lin" valueType="num">
                                      <p:cBhvr additive="base">
                                        <p:cTn id="75" dur="500" fill="hold"/>
                                        <p:tgtEl>
                                          <p:spTgt spid="129077"/>
                                        </p:tgtEl>
                                        <p:attrNameLst>
                                          <p:attrName>ppt_y</p:attrName>
                                        </p:attrNameLst>
                                      </p:cBhvr>
                                      <p:tavLst>
                                        <p:tav tm="0">
                                          <p:val>
                                            <p:strVal val="1+#ppt_h/2"/>
                                          </p:val>
                                        </p:tav>
                                        <p:tav tm="100000">
                                          <p:val>
                                            <p:strVal val="#ppt_y"/>
                                          </p:val>
                                        </p:tav>
                                      </p:tavLst>
                                    </p:anim>
                                  </p:childTnLst>
                                </p:cTn>
                              </p:par>
                            </p:childTnLst>
                          </p:cTn>
                        </p:par>
                        <p:par>
                          <p:cTn id="76" fill="hold" nodeType="afterGroup">
                            <p:stCondLst>
                              <p:cond delay="7500"/>
                            </p:stCondLst>
                            <p:childTnLst>
                              <p:par>
                                <p:cTn id="77" presetID="22" presetClass="entr" presetSubtype="1" fill="hold" grpId="0" nodeType="afterEffect">
                                  <p:stCondLst>
                                    <p:cond delay="0"/>
                                  </p:stCondLst>
                                  <p:childTnLst>
                                    <p:set>
                                      <p:cBhvr>
                                        <p:cTn id="78" dur="1" fill="hold">
                                          <p:stCondLst>
                                            <p:cond delay="0"/>
                                          </p:stCondLst>
                                        </p:cTn>
                                        <p:tgtEl>
                                          <p:spTgt spid="129033"/>
                                        </p:tgtEl>
                                        <p:attrNameLst>
                                          <p:attrName>style.visibility</p:attrName>
                                        </p:attrNameLst>
                                      </p:cBhvr>
                                      <p:to>
                                        <p:strVal val="visible"/>
                                      </p:to>
                                    </p:set>
                                    <p:animEffect transition="in" filter="wipe(up)">
                                      <p:cBhvr>
                                        <p:cTn id="79" dur="500"/>
                                        <p:tgtEl>
                                          <p:spTgt spid="129033"/>
                                        </p:tgtEl>
                                      </p:cBhvr>
                                    </p:animEffect>
                                  </p:childTnLst>
                                </p:cTn>
                              </p:par>
                            </p:childTnLst>
                          </p:cTn>
                        </p:par>
                        <p:par>
                          <p:cTn id="80" fill="hold" nodeType="afterGroup">
                            <p:stCondLst>
                              <p:cond delay="8000"/>
                            </p:stCondLst>
                            <p:childTnLst>
                              <p:par>
                                <p:cTn id="81" presetID="22" presetClass="entr" presetSubtype="1" fill="hold" grpId="0" nodeType="afterEffect">
                                  <p:stCondLst>
                                    <p:cond delay="0"/>
                                  </p:stCondLst>
                                  <p:childTnLst>
                                    <p:set>
                                      <p:cBhvr>
                                        <p:cTn id="82" dur="1" fill="hold">
                                          <p:stCondLst>
                                            <p:cond delay="0"/>
                                          </p:stCondLst>
                                        </p:cTn>
                                        <p:tgtEl>
                                          <p:spTgt spid="129046"/>
                                        </p:tgtEl>
                                        <p:attrNameLst>
                                          <p:attrName>style.visibility</p:attrName>
                                        </p:attrNameLst>
                                      </p:cBhvr>
                                      <p:to>
                                        <p:strVal val="visible"/>
                                      </p:to>
                                    </p:set>
                                    <p:animEffect transition="in" filter="wipe(up)">
                                      <p:cBhvr>
                                        <p:cTn id="83" dur="500"/>
                                        <p:tgtEl>
                                          <p:spTgt spid="129046"/>
                                        </p:tgtEl>
                                      </p:cBhvr>
                                    </p:animEffect>
                                  </p:childTnLst>
                                </p:cTn>
                              </p:par>
                            </p:childTnLst>
                          </p:cTn>
                        </p:par>
                        <p:par>
                          <p:cTn id="84" fill="hold" nodeType="afterGroup">
                            <p:stCondLst>
                              <p:cond delay="8500"/>
                            </p:stCondLst>
                            <p:childTnLst>
                              <p:par>
                                <p:cTn id="85" presetID="22" presetClass="entr" presetSubtype="1" fill="hold" grpId="0" nodeType="afterEffect">
                                  <p:stCondLst>
                                    <p:cond delay="0"/>
                                  </p:stCondLst>
                                  <p:childTnLst>
                                    <p:set>
                                      <p:cBhvr>
                                        <p:cTn id="86" dur="1" fill="hold">
                                          <p:stCondLst>
                                            <p:cond delay="0"/>
                                          </p:stCondLst>
                                        </p:cTn>
                                        <p:tgtEl>
                                          <p:spTgt spid="129034"/>
                                        </p:tgtEl>
                                        <p:attrNameLst>
                                          <p:attrName>style.visibility</p:attrName>
                                        </p:attrNameLst>
                                      </p:cBhvr>
                                      <p:to>
                                        <p:strVal val="visible"/>
                                      </p:to>
                                    </p:set>
                                    <p:animEffect transition="in" filter="wipe(up)">
                                      <p:cBhvr>
                                        <p:cTn id="87" dur="500"/>
                                        <p:tgtEl>
                                          <p:spTgt spid="129034"/>
                                        </p:tgtEl>
                                      </p:cBhvr>
                                    </p:animEffect>
                                  </p:childTnLst>
                                </p:cTn>
                              </p:par>
                            </p:childTnLst>
                          </p:cTn>
                        </p:par>
                        <p:par>
                          <p:cTn id="88" fill="hold" nodeType="afterGroup">
                            <p:stCondLst>
                              <p:cond delay="9000"/>
                            </p:stCondLst>
                            <p:childTnLst>
                              <p:par>
                                <p:cTn id="89" presetID="22" presetClass="entr" presetSubtype="1" fill="hold" grpId="0" nodeType="afterEffect">
                                  <p:stCondLst>
                                    <p:cond delay="0"/>
                                  </p:stCondLst>
                                  <p:childTnLst>
                                    <p:set>
                                      <p:cBhvr>
                                        <p:cTn id="90" dur="1" fill="hold">
                                          <p:stCondLst>
                                            <p:cond delay="0"/>
                                          </p:stCondLst>
                                        </p:cTn>
                                        <p:tgtEl>
                                          <p:spTgt spid="129047"/>
                                        </p:tgtEl>
                                        <p:attrNameLst>
                                          <p:attrName>style.visibility</p:attrName>
                                        </p:attrNameLst>
                                      </p:cBhvr>
                                      <p:to>
                                        <p:strVal val="visible"/>
                                      </p:to>
                                    </p:set>
                                    <p:animEffect transition="in" filter="wipe(up)">
                                      <p:cBhvr>
                                        <p:cTn id="91" dur="500"/>
                                        <p:tgtEl>
                                          <p:spTgt spid="129047"/>
                                        </p:tgtEl>
                                      </p:cBhvr>
                                    </p:animEffect>
                                  </p:childTnLst>
                                </p:cTn>
                              </p:par>
                            </p:childTnLst>
                          </p:cTn>
                        </p:par>
                        <p:par>
                          <p:cTn id="92" fill="hold" nodeType="afterGroup">
                            <p:stCondLst>
                              <p:cond delay="9500"/>
                            </p:stCondLst>
                            <p:childTnLst>
                              <p:par>
                                <p:cTn id="93" presetID="22" presetClass="entr" presetSubtype="1" fill="hold" grpId="0" nodeType="afterEffect">
                                  <p:stCondLst>
                                    <p:cond delay="0"/>
                                  </p:stCondLst>
                                  <p:childTnLst>
                                    <p:set>
                                      <p:cBhvr>
                                        <p:cTn id="94" dur="1" fill="hold">
                                          <p:stCondLst>
                                            <p:cond delay="0"/>
                                          </p:stCondLst>
                                        </p:cTn>
                                        <p:tgtEl>
                                          <p:spTgt spid="129035"/>
                                        </p:tgtEl>
                                        <p:attrNameLst>
                                          <p:attrName>style.visibility</p:attrName>
                                        </p:attrNameLst>
                                      </p:cBhvr>
                                      <p:to>
                                        <p:strVal val="visible"/>
                                      </p:to>
                                    </p:set>
                                    <p:animEffect transition="in" filter="wipe(up)">
                                      <p:cBhvr>
                                        <p:cTn id="95" dur="500"/>
                                        <p:tgtEl>
                                          <p:spTgt spid="12903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2" presetClass="entr" presetSubtype="8" fill="hold" grpId="0" nodeType="clickEffect">
                                  <p:stCondLst>
                                    <p:cond delay="0"/>
                                  </p:stCondLst>
                                  <p:childTnLst>
                                    <p:set>
                                      <p:cBhvr>
                                        <p:cTn id="99" dur="1" fill="hold">
                                          <p:stCondLst>
                                            <p:cond delay="0"/>
                                          </p:stCondLst>
                                        </p:cTn>
                                        <p:tgtEl>
                                          <p:spTgt spid="129053"/>
                                        </p:tgtEl>
                                        <p:attrNameLst>
                                          <p:attrName>style.visibility</p:attrName>
                                        </p:attrNameLst>
                                      </p:cBhvr>
                                      <p:to>
                                        <p:strVal val="visible"/>
                                      </p:to>
                                    </p:set>
                                    <p:animEffect transition="in" filter="slide(fromLeft)">
                                      <p:cBhvr>
                                        <p:cTn id="100" dur="500"/>
                                        <p:tgtEl>
                                          <p:spTgt spid="12905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129055"/>
                                        </p:tgtEl>
                                        <p:attrNameLst>
                                          <p:attrName>style.visibility</p:attrName>
                                        </p:attrNameLst>
                                      </p:cBhvr>
                                      <p:to>
                                        <p:strVal val="visible"/>
                                      </p:to>
                                    </p:set>
                                    <p:animEffect transition="in" filter="slide(fromLeft)">
                                      <p:cBhvr>
                                        <p:cTn id="105" dur="500"/>
                                        <p:tgtEl>
                                          <p:spTgt spid="12905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2" presetClass="entr" presetSubtype="8" fill="hold" grpId="0" nodeType="clickEffect">
                                  <p:stCondLst>
                                    <p:cond delay="0"/>
                                  </p:stCondLst>
                                  <p:childTnLst>
                                    <p:set>
                                      <p:cBhvr>
                                        <p:cTn id="109" dur="1" fill="hold">
                                          <p:stCondLst>
                                            <p:cond delay="0"/>
                                          </p:stCondLst>
                                        </p:cTn>
                                        <p:tgtEl>
                                          <p:spTgt spid="129054"/>
                                        </p:tgtEl>
                                        <p:attrNameLst>
                                          <p:attrName>style.visibility</p:attrName>
                                        </p:attrNameLst>
                                      </p:cBhvr>
                                      <p:to>
                                        <p:strVal val="visible"/>
                                      </p:to>
                                    </p:set>
                                    <p:animEffect transition="in" filter="slide(fromLeft)">
                                      <p:cBhvr>
                                        <p:cTn id="110" dur="500"/>
                                        <p:tgtEl>
                                          <p:spTgt spid="12905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2" presetClass="entr" presetSubtype="8" fill="hold" grpId="0" nodeType="clickEffect">
                                  <p:stCondLst>
                                    <p:cond delay="0"/>
                                  </p:stCondLst>
                                  <p:childTnLst>
                                    <p:set>
                                      <p:cBhvr>
                                        <p:cTn id="114" dur="1" fill="hold">
                                          <p:stCondLst>
                                            <p:cond delay="0"/>
                                          </p:stCondLst>
                                        </p:cTn>
                                        <p:tgtEl>
                                          <p:spTgt spid="129056"/>
                                        </p:tgtEl>
                                        <p:attrNameLst>
                                          <p:attrName>style.visibility</p:attrName>
                                        </p:attrNameLst>
                                      </p:cBhvr>
                                      <p:to>
                                        <p:strVal val="visible"/>
                                      </p:to>
                                    </p:set>
                                    <p:animEffect transition="in" filter="slide(fromLeft)">
                                      <p:cBhvr>
                                        <p:cTn id="115" dur="500"/>
                                        <p:tgtEl>
                                          <p:spTgt spid="12905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2" presetClass="entr" presetSubtype="8" fill="hold" grpId="0" nodeType="clickEffect">
                                  <p:stCondLst>
                                    <p:cond delay="0"/>
                                  </p:stCondLst>
                                  <p:childTnLst>
                                    <p:set>
                                      <p:cBhvr>
                                        <p:cTn id="119" dur="1" fill="hold">
                                          <p:stCondLst>
                                            <p:cond delay="0"/>
                                          </p:stCondLst>
                                        </p:cTn>
                                        <p:tgtEl>
                                          <p:spTgt spid="129058"/>
                                        </p:tgtEl>
                                        <p:attrNameLst>
                                          <p:attrName>style.visibility</p:attrName>
                                        </p:attrNameLst>
                                      </p:cBhvr>
                                      <p:to>
                                        <p:strVal val="visible"/>
                                      </p:to>
                                    </p:set>
                                    <p:animEffect transition="in" filter="slide(fromLeft)">
                                      <p:cBhvr>
                                        <p:cTn id="120" dur="500"/>
                                        <p:tgtEl>
                                          <p:spTgt spid="12905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2" presetClass="entr" presetSubtype="8" fill="hold" grpId="0" nodeType="clickEffect">
                                  <p:stCondLst>
                                    <p:cond delay="0"/>
                                  </p:stCondLst>
                                  <p:childTnLst>
                                    <p:set>
                                      <p:cBhvr>
                                        <p:cTn id="124" dur="1" fill="hold">
                                          <p:stCondLst>
                                            <p:cond delay="0"/>
                                          </p:stCondLst>
                                        </p:cTn>
                                        <p:tgtEl>
                                          <p:spTgt spid="129059"/>
                                        </p:tgtEl>
                                        <p:attrNameLst>
                                          <p:attrName>style.visibility</p:attrName>
                                        </p:attrNameLst>
                                      </p:cBhvr>
                                      <p:to>
                                        <p:strVal val="visible"/>
                                      </p:to>
                                    </p:set>
                                    <p:animEffect transition="in" filter="slide(fromLeft)">
                                      <p:cBhvr>
                                        <p:cTn id="125" dur="500"/>
                                        <p:tgtEl>
                                          <p:spTgt spid="12905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2" presetClass="entr" presetSubtype="8" fill="hold" grpId="0" nodeType="clickEffect">
                                  <p:stCondLst>
                                    <p:cond delay="0"/>
                                  </p:stCondLst>
                                  <p:childTnLst>
                                    <p:set>
                                      <p:cBhvr>
                                        <p:cTn id="129" dur="1" fill="hold">
                                          <p:stCondLst>
                                            <p:cond delay="0"/>
                                          </p:stCondLst>
                                        </p:cTn>
                                        <p:tgtEl>
                                          <p:spTgt spid="129060"/>
                                        </p:tgtEl>
                                        <p:attrNameLst>
                                          <p:attrName>style.visibility</p:attrName>
                                        </p:attrNameLst>
                                      </p:cBhvr>
                                      <p:to>
                                        <p:strVal val="visible"/>
                                      </p:to>
                                    </p:set>
                                    <p:animEffect transition="in" filter="slide(fromLeft)">
                                      <p:cBhvr>
                                        <p:cTn id="130" dur="500"/>
                                        <p:tgtEl>
                                          <p:spTgt spid="12906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2" presetClass="entr" presetSubtype="8" fill="hold" grpId="0" nodeType="clickEffect">
                                  <p:stCondLst>
                                    <p:cond delay="0"/>
                                  </p:stCondLst>
                                  <p:childTnLst>
                                    <p:set>
                                      <p:cBhvr>
                                        <p:cTn id="134" dur="1" fill="hold">
                                          <p:stCondLst>
                                            <p:cond delay="0"/>
                                          </p:stCondLst>
                                        </p:cTn>
                                        <p:tgtEl>
                                          <p:spTgt spid="129063"/>
                                        </p:tgtEl>
                                        <p:attrNameLst>
                                          <p:attrName>style.visibility</p:attrName>
                                        </p:attrNameLst>
                                      </p:cBhvr>
                                      <p:to>
                                        <p:strVal val="visible"/>
                                      </p:to>
                                    </p:set>
                                    <p:animEffect transition="in" filter="slide(fromLeft)">
                                      <p:cBhvr>
                                        <p:cTn id="135" dur="500"/>
                                        <p:tgtEl>
                                          <p:spTgt spid="12906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2" presetClass="entr" presetSubtype="8" fill="hold" grpId="0" nodeType="clickEffect">
                                  <p:stCondLst>
                                    <p:cond delay="0"/>
                                  </p:stCondLst>
                                  <p:childTnLst>
                                    <p:set>
                                      <p:cBhvr>
                                        <p:cTn id="139" dur="1" fill="hold">
                                          <p:stCondLst>
                                            <p:cond delay="0"/>
                                          </p:stCondLst>
                                        </p:cTn>
                                        <p:tgtEl>
                                          <p:spTgt spid="129062"/>
                                        </p:tgtEl>
                                        <p:attrNameLst>
                                          <p:attrName>style.visibility</p:attrName>
                                        </p:attrNameLst>
                                      </p:cBhvr>
                                      <p:to>
                                        <p:strVal val="visible"/>
                                      </p:to>
                                    </p:set>
                                    <p:animEffect transition="in" filter="slide(fromLeft)">
                                      <p:cBhvr>
                                        <p:cTn id="140" dur="500"/>
                                        <p:tgtEl>
                                          <p:spTgt spid="129062"/>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2" presetClass="entr" presetSubtype="8" fill="hold" grpId="0" nodeType="clickEffect">
                                  <p:stCondLst>
                                    <p:cond delay="0"/>
                                  </p:stCondLst>
                                  <p:childTnLst>
                                    <p:set>
                                      <p:cBhvr>
                                        <p:cTn id="144" dur="1" fill="hold">
                                          <p:stCondLst>
                                            <p:cond delay="0"/>
                                          </p:stCondLst>
                                        </p:cTn>
                                        <p:tgtEl>
                                          <p:spTgt spid="129064"/>
                                        </p:tgtEl>
                                        <p:attrNameLst>
                                          <p:attrName>style.visibility</p:attrName>
                                        </p:attrNameLst>
                                      </p:cBhvr>
                                      <p:to>
                                        <p:strVal val="visible"/>
                                      </p:to>
                                    </p:set>
                                    <p:animEffect transition="in" filter="slide(fromLeft)">
                                      <p:cBhvr>
                                        <p:cTn id="145" dur="500"/>
                                        <p:tgtEl>
                                          <p:spTgt spid="129064"/>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2" presetClass="entr" presetSubtype="8" fill="hold" grpId="0" nodeType="clickEffect">
                                  <p:stCondLst>
                                    <p:cond delay="0"/>
                                  </p:stCondLst>
                                  <p:childTnLst>
                                    <p:set>
                                      <p:cBhvr>
                                        <p:cTn id="149" dur="1" fill="hold">
                                          <p:stCondLst>
                                            <p:cond delay="0"/>
                                          </p:stCondLst>
                                        </p:cTn>
                                        <p:tgtEl>
                                          <p:spTgt spid="129065"/>
                                        </p:tgtEl>
                                        <p:attrNameLst>
                                          <p:attrName>style.visibility</p:attrName>
                                        </p:attrNameLst>
                                      </p:cBhvr>
                                      <p:to>
                                        <p:strVal val="visible"/>
                                      </p:to>
                                    </p:set>
                                    <p:animEffect transition="in" filter="slide(fromLeft)">
                                      <p:cBhvr>
                                        <p:cTn id="150" dur="500"/>
                                        <p:tgtEl>
                                          <p:spTgt spid="129065"/>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2" presetClass="entr" presetSubtype="8" fill="hold" grpId="0" nodeType="clickEffect">
                                  <p:stCondLst>
                                    <p:cond delay="0"/>
                                  </p:stCondLst>
                                  <p:childTnLst>
                                    <p:set>
                                      <p:cBhvr>
                                        <p:cTn id="154" dur="1" fill="hold">
                                          <p:stCondLst>
                                            <p:cond delay="0"/>
                                          </p:stCondLst>
                                        </p:cTn>
                                        <p:tgtEl>
                                          <p:spTgt spid="129066"/>
                                        </p:tgtEl>
                                        <p:attrNameLst>
                                          <p:attrName>style.visibility</p:attrName>
                                        </p:attrNameLst>
                                      </p:cBhvr>
                                      <p:to>
                                        <p:strVal val="visible"/>
                                      </p:to>
                                    </p:set>
                                    <p:animEffect transition="in" filter="slide(fromLeft)">
                                      <p:cBhvr>
                                        <p:cTn id="155" dur="500"/>
                                        <p:tgtEl>
                                          <p:spTgt spid="129066"/>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2" presetClass="entr" presetSubtype="8" fill="hold" grpId="0" nodeType="clickEffect">
                                  <p:stCondLst>
                                    <p:cond delay="0"/>
                                  </p:stCondLst>
                                  <p:childTnLst>
                                    <p:set>
                                      <p:cBhvr>
                                        <p:cTn id="159" dur="1" fill="hold">
                                          <p:stCondLst>
                                            <p:cond delay="0"/>
                                          </p:stCondLst>
                                        </p:cTn>
                                        <p:tgtEl>
                                          <p:spTgt spid="129067"/>
                                        </p:tgtEl>
                                        <p:attrNameLst>
                                          <p:attrName>style.visibility</p:attrName>
                                        </p:attrNameLst>
                                      </p:cBhvr>
                                      <p:to>
                                        <p:strVal val="visible"/>
                                      </p:to>
                                    </p:set>
                                    <p:animEffect transition="in" filter="slide(fromLeft)">
                                      <p:cBhvr>
                                        <p:cTn id="160" dur="500"/>
                                        <p:tgtEl>
                                          <p:spTgt spid="129067"/>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grpId="0" nodeType="clickEffect">
                                  <p:stCondLst>
                                    <p:cond delay="0"/>
                                  </p:stCondLst>
                                  <p:iterate type="wd">
                                    <p:tmPct val="100000"/>
                                  </p:iterate>
                                  <p:childTnLst>
                                    <p:set>
                                      <p:cBhvr>
                                        <p:cTn id="164" dur="1" fill="hold">
                                          <p:stCondLst>
                                            <p:cond delay="0"/>
                                          </p:stCondLst>
                                        </p:cTn>
                                        <p:tgtEl>
                                          <p:spTgt spid="129068"/>
                                        </p:tgtEl>
                                        <p:attrNameLst>
                                          <p:attrName>style.visibility</p:attrName>
                                        </p:attrNameLst>
                                      </p:cBhvr>
                                      <p:to>
                                        <p:strVal val="visible"/>
                                      </p:to>
                                    </p:set>
                                    <p:animEffect transition="in" filter="wipe(left)">
                                      <p:cBhvr>
                                        <p:cTn id="165" dur="300"/>
                                        <p:tgtEl>
                                          <p:spTgt spid="129068"/>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2" presetClass="entr" presetSubtype="8" fill="hold" grpId="0" nodeType="clickEffect">
                                  <p:stCondLst>
                                    <p:cond delay="0"/>
                                  </p:stCondLst>
                                  <p:childTnLst>
                                    <p:set>
                                      <p:cBhvr>
                                        <p:cTn id="169" dur="1" fill="hold">
                                          <p:stCondLst>
                                            <p:cond delay="0"/>
                                          </p:stCondLst>
                                        </p:cTn>
                                        <p:tgtEl>
                                          <p:spTgt spid="129069"/>
                                        </p:tgtEl>
                                        <p:attrNameLst>
                                          <p:attrName>style.visibility</p:attrName>
                                        </p:attrNameLst>
                                      </p:cBhvr>
                                      <p:to>
                                        <p:strVal val="visible"/>
                                      </p:to>
                                    </p:set>
                                    <p:animEffect transition="in" filter="slide(fromLeft)">
                                      <p:cBhvr>
                                        <p:cTn id="170" dur="500"/>
                                        <p:tgtEl>
                                          <p:spTgt spid="129069"/>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2" presetClass="entr" presetSubtype="8" fill="hold" grpId="0" nodeType="clickEffect">
                                  <p:stCondLst>
                                    <p:cond delay="0"/>
                                  </p:stCondLst>
                                  <p:childTnLst>
                                    <p:set>
                                      <p:cBhvr>
                                        <p:cTn id="174" dur="1" fill="hold">
                                          <p:stCondLst>
                                            <p:cond delay="0"/>
                                          </p:stCondLst>
                                        </p:cTn>
                                        <p:tgtEl>
                                          <p:spTgt spid="129070"/>
                                        </p:tgtEl>
                                        <p:attrNameLst>
                                          <p:attrName>style.visibility</p:attrName>
                                        </p:attrNameLst>
                                      </p:cBhvr>
                                      <p:to>
                                        <p:strVal val="visible"/>
                                      </p:to>
                                    </p:set>
                                    <p:animEffect transition="in" filter="slide(fromLeft)">
                                      <p:cBhvr>
                                        <p:cTn id="175" dur="500"/>
                                        <p:tgtEl>
                                          <p:spTgt spid="129070"/>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2" presetClass="entr" presetSubtype="8" fill="hold" grpId="0" nodeType="clickEffect">
                                  <p:stCondLst>
                                    <p:cond delay="0"/>
                                  </p:stCondLst>
                                  <p:childTnLst>
                                    <p:set>
                                      <p:cBhvr>
                                        <p:cTn id="179" dur="1" fill="hold">
                                          <p:stCondLst>
                                            <p:cond delay="0"/>
                                          </p:stCondLst>
                                        </p:cTn>
                                        <p:tgtEl>
                                          <p:spTgt spid="129071"/>
                                        </p:tgtEl>
                                        <p:attrNameLst>
                                          <p:attrName>style.visibility</p:attrName>
                                        </p:attrNameLst>
                                      </p:cBhvr>
                                      <p:to>
                                        <p:strVal val="visible"/>
                                      </p:to>
                                    </p:set>
                                    <p:animEffect transition="in" filter="slide(fromLeft)">
                                      <p:cBhvr>
                                        <p:cTn id="180" dur="500"/>
                                        <p:tgtEl>
                                          <p:spTgt spid="129071"/>
                                        </p:tgtEl>
                                      </p:cBhvr>
                                    </p:animEffect>
                                  </p:childTnLst>
                                </p:cTn>
                              </p:par>
                            </p:childTnLst>
                          </p:cTn>
                        </p:par>
                        <p:par>
                          <p:cTn id="181" fill="hold" nodeType="afterGroup">
                            <p:stCondLst>
                              <p:cond delay="500"/>
                            </p:stCondLst>
                            <p:childTnLst>
                              <p:par>
                                <p:cTn id="182" presetID="1" presetClass="entr" presetSubtype="0" fill="hold" grpId="0" nodeType="afterEffect">
                                  <p:stCondLst>
                                    <p:cond delay="0"/>
                                  </p:stCondLst>
                                  <p:childTnLst>
                                    <p:set>
                                      <p:cBhvr>
                                        <p:cTn id="183" dur="1" fill="hold">
                                          <p:stCondLst>
                                            <p:cond delay="499"/>
                                          </p:stCondLst>
                                        </p:cTn>
                                        <p:tgtEl>
                                          <p:spTgt spid="129072"/>
                                        </p:tgtEl>
                                        <p:attrNameLst>
                                          <p:attrName>style.visibility</p:attrName>
                                        </p:attrNameLst>
                                      </p:cBhvr>
                                      <p:to>
                                        <p:strVal val="visible"/>
                                      </p:to>
                                    </p:set>
                                  </p:childTnLst>
                                </p:cTn>
                              </p:par>
                            </p:childTnLst>
                          </p:cTn>
                        </p:par>
                        <p:par>
                          <p:cTn id="184" fill="hold" nodeType="afterGroup">
                            <p:stCondLst>
                              <p:cond delay="1000"/>
                            </p:stCondLst>
                            <p:childTnLst>
                              <p:par>
                                <p:cTn id="185" presetID="1" presetClass="entr" presetSubtype="0" fill="hold" grpId="0" nodeType="afterEffect">
                                  <p:stCondLst>
                                    <p:cond delay="0"/>
                                  </p:stCondLst>
                                  <p:childTnLst>
                                    <p:set>
                                      <p:cBhvr>
                                        <p:cTn id="186" dur="1" fill="hold">
                                          <p:stCondLst>
                                            <p:cond delay="499"/>
                                          </p:stCondLst>
                                        </p:cTn>
                                        <p:tgtEl>
                                          <p:spTgt spid="129073"/>
                                        </p:tgtEl>
                                        <p:attrNameLst>
                                          <p:attrName>style.visibility</p:attrName>
                                        </p:attrNameLst>
                                      </p:cBhvr>
                                      <p:to>
                                        <p:strVal val="visible"/>
                                      </p:to>
                                    </p:set>
                                  </p:childTnLst>
                                </p:cTn>
                              </p:par>
                            </p:childTnLst>
                          </p:cTn>
                        </p:par>
                        <p:par>
                          <p:cTn id="187" fill="hold" nodeType="afterGroup">
                            <p:stCondLst>
                              <p:cond delay="1500"/>
                            </p:stCondLst>
                            <p:childTnLst>
                              <p:par>
                                <p:cTn id="188" presetID="1" presetClass="entr" presetSubtype="0" fill="hold" grpId="0" nodeType="afterEffect">
                                  <p:stCondLst>
                                    <p:cond delay="0"/>
                                  </p:stCondLst>
                                  <p:childTnLst>
                                    <p:set>
                                      <p:cBhvr>
                                        <p:cTn id="189" dur="1" fill="hold">
                                          <p:stCondLst>
                                            <p:cond delay="499"/>
                                          </p:stCondLst>
                                        </p:cTn>
                                        <p:tgtEl>
                                          <p:spTgt spid="129074"/>
                                        </p:tgtEl>
                                        <p:attrNameLst>
                                          <p:attrName>style.visibility</p:attrName>
                                        </p:attrNameLst>
                                      </p:cBhvr>
                                      <p:to>
                                        <p:strVal val="visible"/>
                                      </p:to>
                                    </p:set>
                                  </p:childTnLst>
                                </p:cTn>
                              </p:par>
                            </p:childTnLst>
                          </p:cTn>
                        </p:par>
                        <p:par>
                          <p:cTn id="190" fill="hold" nodeType="afterGroup">
                            <p:stCondLst>
                              <p:cond delay="2000"/>
                            </p:stCondLst>
                            <p:childTnLst>
                              <p:par>
                                <p:cTn id="191" presetID="1" presetClass="entr" presetSubtype="0" fill="hold" grpId="0" nodeType="afterEffect">
                                  <p:stCondLst>
                                    <p:cond delay="0"/>
                                  </p:stCondLst>
                                  <p:childTnLst>
                                    <p:set>
                                      <p:cBhvr>
                                        <p:cTn id="192" dur="1" fill="hold">
                                          <p:stCondLst>
                                            <p:cond delay="499"/>
                                          </p:stCondLst>
                                        </p:cTn>
                                        <p:tgtEl>
                                          <p:spTgt spid="129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autoUpdateAnimBg="0"/>
      <p:bldP spid="129028" grpId="0" animBg="1" autoUpdateAnimBg="0"/>
      <p:bldP spid="129029" grpId="0" animBg="1" autoUpdateAnimBg="0"/>
      <p:bldP spid="129030" grpId="0" animBg="1" autoUpdateAnimBg="0"/>
      <p:bldP spid="129031" grpId="0" animBg="1" autoUpdateAnimBg="0"/>
      <p:bldP spid="129033" grpId="0" animBg="1" autoUpdateAnimBg="0"/>
      <p:bldP spid="129034" grpId="0" animBg="1" autoUpdateAnimBg="0"/>
      <p:bldP spid="129035" grpId="0" animBg="1" autoUpdateAnimBg="0"/>
      <p:bldP spid="129036" grpId="0" animBg="1" autoUpdateAnimBg="0"/>
      <p:bldP spid="129037" grpId="0" animBg="1" autoUpdateAnimBg="0"/>
      <p:bldP spid="129038" grpId="0" animBg="1" autoUpdateAnimBg="0"/>
      <p:bldP spid="129039" grpId="0" animBg="1"/>
      <p:bldP spid="129040" grpId="0" animBg="1"/>
      <p:bldP spid="129041" grpId="0" animBg="1"/>
      <p:bldP spid="129042" grpId="0" animBg="1"/>
      <p:bldP spid="129043" grpId="0" animBg="1"/>
      <p:bldP spid="129044" grpId="0" animBg="1"/>
      <p:bldP spid="129045" grpId="0" animBg="1"/>
      <p:bldP spid="129046" grpId="0" animBg="1"/>
      <p:bldP spid="129047" grpId="0" animBg="1"/>
      <p:bldP spid="129052" grpId="0" autoUpdateAnimBg="0"/>
      <p:bldP spid="129053" grpId="0" animBg="1"/>
      <p:bldP spid="129054" grpId="0" animBg="1" autoUpdateAnimBg="0"/>
      <p:bldP spid="129055" grpId="0" animBg="1" autoUpdateAnimBg="0"/>
      <p:bldP spid="129056" grpId="0" animBg="1"/>
      <p:bldP spid="129058" grpId="0" animBg="1" autoUpdateAnimBg="0"/>
      <p:bldP spid="129059" grpId="0" animBg="1" autoUpdateAnimBg="0"/>
      <p:bldP spid="129060" grpId="0" animBg="1"/>
      <p:bldP spid="129062" grpId="0" animBg="1" autoUpdateAnimBg="0"/>
      <p:bldP spid="129063" grpId="0" animBg="1" autoUpdateAnimBg="0"/>
      <p:bldP spid="129064" grpId="0" animBg="1"/>
      <p:bldP spid="129065" grpId="0" animBg="1" autoUpdateAnimBg="0"/>
      <p:bldP spid="129066" grpId="0" animBg="1" autoUpdateAnimBg="0"/>
      <p:bldP spid="129067" grpId="0" animBg="1" autoUpdateAnimBg="0"/>
      <p:bldP spid="129068" grpId="0" autoUpdateAnimBg="0"/>
      <p:bldP spid="129069" grpId="0" animBg="1" autoUpdateAnimBg="0"/>
      <p:bldP spid="129070" grpId="0" animBg="1" autoUpdateAnimBg="0"/>
      <p:bldP spid="129071" grpId="0" animBg="1" autoUpdateAnimBg="0"/>
      <p:bldP spid="129072" grpId="0" animBg="1" autoUpdateAnimBg="0"/>
      <p:bldP spid="129073" grpId="0" animBg="1" autoUpdateAnimBg="0"/>
      <p:bldP spid="129074" grpId="0" animBg="1" autoUpdateAnimBg="0"/>
      <p:bldP spid="129075" grpId="0" animBg="1" autoUpdateAnimBg="0"/>
      <p:bldP spid="12907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304800" y="95250"/>
            <a:ext cx="6535738" cy="679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600" b="1">
                <a:solidFill>
                  <a:srgbClr val="990000"/>
                </a:solidFill>
                <a:ea typeface="楷体_GB2312" charset="0"/>
              </a:rPr>
              <a:t>void</a:t>
            </a:r>
            <a:r>
              <a:rPr lang="en-US" altLang="zh-CN" sz="3600">
                <a:solidFill>
                  <a:srgbClr val="990000"/>
                </a:solidFill>
                <a:ea typeface="楷体_GB2312" charset="0"/>
              </a:rPr>
              <a:t> HeapSort ( HeapType </a:t>
            </a:r>
            <a:r>
              <a:rPr lang="en-US" altLang="zh-CN" sz="3600" b="1">
                <a:solidFill>
                  <a:srgbClr val="990000"/>
                </a:solidFill>
                <a:ea typeface="楷体_GB2312" charset="0"/>
              </a:rPr>
              <a:t>&amp;</a:t>
            </a:r>
            <a:r>
              <a:rPr lang="en-US" altLang="zh-CN" sz="3600">
                <a:solidFill>
                  <a:srgbClr val="990000"/>
                </a:solidFill>
                <a:ea typeface="楷体_GB2312" charset="0"/>
              </a:rPr>
              <a:t>H ) </a:t>
            </a:r>
            <a:r>
              <a:rPr lang="en-US" altLang="zh-CN" sz="3600" b="1">
                <a:solidFill>
                  <a:srgbClr val="990000"/>
                </a:solidFill>
                <a:ea typeface="楷体_GB2312" charset="0"/>
              </a:rPr>
              <a:t>{</a:t>
            </a:r>
            <a:endParaRPr lang="en-US" altLang="zh-CN" sz="3600">
              <a:solidFill>
                <a:srgbClr val="990000"/>
              </a:solidFill>
              <a:ea typeface="楷体_GB2312" charset="0"/>
            </a:endParaRPr>
          </a:p>
          <a:p>
            <a:pPr algn="l">
              <a:lnSpc>
                <a:spcPct val="115000"/>
              </a:lnSpc>
            </a:pPr>
            <a:r>
              <a:rPr lang="en-US" altLang="zh-CN" sz="36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对顺序表 </a:t>
            </a:r>
            <a:r>
              <a:rPr lang="en-US" altLang="zh-CN" sz="3200">
                <a:solidFill>
                  <a:srgbClr val="990000"/>
                </a:solidFill>
                <a:ea typeface="楷体_GB2312" charset="0"/>
              </a:rPr>
              <a:t>H </a:t>
            </a:r>
            <a:r>
              <a:rPr lang="zh-CN" altLang="en-US" sz="3200">
                <a:solidFill>
                  <a:srgbClr val="990000"/>
                </a:solidFill>
                <a:ea typeface="楷体_GB2312" charset="0"/>
              </a:rPr>
              <a:t>进行堆排序</a:t>
            </a: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a:solidFill>
                <a:srgbClr val="990000"/>
              </a:solidFill>
              <a:ea typeface="楷体_GB2312" charset="0"/>
            </a:endParaRPr>
          </a:p>
          <a:p>
            <a:pPr algn="l">
              <a:lnSpc>
                <a:spcPct val="110000"/>
              </a:lnSpc>
            </a:pPr>
            <a:endParaRPr lang="zh-CN" altLang="en-US" sz="3600" b="1">
              <a:solidFill>
                <a:srgbClr val="990000"/>
              </a:solidFill>
              <a:ea typeface="楷体_GB2312" charset="0"/>
            </a:endParaRPr>
          </a:p>
          <a:p>
            <a:pPr algn="l">
              <a:lnSpc>
                <a:spcPct val="110000"/>
              </a:lnSpc>
            </a:pPr>
            <a:r>
              <a:rPr lang="en-US" altLang="zh-CN" sz="3600" b="1">
                <a:solidFill>
                  <a:srgbClr val="990000"/>
                </a:solidFill>
                <a:ea typeface="楷体_GB2312" charset="0"/>
              </a:rPr>
              <a:t>}</a:t>
            </a:r>
            <a:r>
              <a:rPr lang="en-US" altLang="zh-CN" sz="3600">
                <a:solidFill>
                  <a:srgbClr val="990000"/>
                </a:solidFill>
                <a:ea typeface="楷体_GB2312" charset="0"/>
              </a:rPr>
              <a:t> // HeapSort</a:t>
            </a:r>
          </a:p>
        </p:txBody>
      </p:sp>
      <p:sp>
        <p:nvSpPr>
          <p:cNvPr id="139267" name="Rectangle 3"/>
          <p:cNvSpPr>
            <a:spLocks noChangeArrowheads="1"/>
          </p:cNvSpPr>
          <p:nvPr/>
        </p:nvSpPr>
        <p:spPr bwMode="auto">
          <a:xfrm>
            <a:off x="609600" y="1430338"/>
            <a:ext cx="8193088" cy="1284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990000"/>
                </a:solidFill>
                <a:ea typeface="楷体_GB2312" charset="0"/>
              </a:rPr>
              <a:t>for</a:t>
            </a:r>
            <a:r>
              <a:rPr lang="en-US" altLang="zh-CN" sz="3200">
                <a:solidFill>
                  <a:srgbClr val="990000"/>
                </a:solidFill>
                <a:ea typeface="楷体_GB2312" charset="0"/>
              </a:rPr>
              <a:t> ( i=H.length/2;   i&gt;0;   --i )</a:t>
            </a:r>
          </a:p>
          <a:p>
            <a:pPr algn="l">
              <a:lnSpc>
                <a:spcPct val="115000"/>
              </a:lnSpc>
            </a:pPr>
            <a:r>
              <a:rPr lang="en-US" altLang="zh-CN" sz="3200">
                <a:solidFill>
                  <a:srgbClr val="990000"/>
                </a:solidFill>
                <a:ea typeface="楷体_GB2312" charset="0"/>
              </a:rPr>
              <a:t>     </a:t>
            </a:r>
            <a:r>
              <a:rPr lang="en-US" altLang="zh-CN" sz="3200">
                <a:solidFill>
                  <a:srgbClr val="FF0000"/>
                </a:solidFill>
                <a:ea typeface="楷体_GB2312" charset="0"/>
              </a:rPr>
              <a:t>HeapAdjust ( H.r, i, H.length );</a:t>
            </a:r>
            <a:r>
              <a:rPr lang="en-US" altLang="zh-CN" sz="36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建大顶堆</a:t>
            </a:r>
            <a:endParaRPr lang="zh-CN" altLang="en-US" sz="3200" b="1">
              <a:solidFill>
                <a:srgbClr val="990000"/>
              </a:solidFill>
              <a:ea typeface="楷体_GB2312" charset="0"/>
            </a:endParaRPr>
          </a:p>
        </p:txBody>
      </p:sp>
      <p:sp>
        <p:nvSpPr>
          <p:cNvPr id="139268" name="Rectangle 4"/>
          <p:cNvSpPr>
            <a:spLocks noChangeArrowheads="1"/>
          </p:cNvSpPr>
          <p:nvPr/>
        </p:nvSpPr>
        <p:spPr bwMode="auto">
          <a:xfrm>
            <a:off x="609600" y="2649538"/>
            <a:ext cx="8466138" cy="364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990000"/>
                </a:solidFill>
                <a:ea typeface="楷体_GB2312" charset="0"/>
              </a:rPr>
              <a:t>for</a:t>
            </a:r>
            <a:r>
              <a:rPr lang="en-US" altLang="zh-CN" sz="3200">
                <a:solidFill>
                  <a:srgbClr val="990000"/>
                </a:solidFill>
                <a:ea typeface="楷体_GB2312" charset="0"/>
              </a:rPr>
              <a:t> ( i=H.length; i&gt;1; --i ) </a:t>
            </a:r>
            <a:r>
              <a:rPr lang="en-US" altLang="zh-CN" sz="3200" b="1">
                <a:solidFill>
                  <a:srgbClr val="990000"/>
                </a:solidFill>
                <a:ea typeface="楷体_GB2312" charset="0"/>
              </a:rPr>
              <a:t>{</a:t>
            </a:r>
            <a:endParaRPr lang="en-US" altLang="zh-CN" sz="3200">
              <a:solidFill>
                <a:srgbClr val="990000"/>
              </a:solidFill>
              <a:ea typeface="楷体_GB2312" charset="0"/>
            </a:endParaRPr>
          </a:p>
          <a:p>
            <a:pPr algn="l">
              <a:lnSpc>
                <a:spcPct val="115000"/>
              </a:lnSpc>
            </a:pPr>
            <a:r>
              <a:rPr lang="en-US" altLang="zh-CN" sz="3200">
                <a:solidFill>
                  <a:srgbClr val="990000"/>
                </a:solidFill>
                <a:ea typeface="楷体_GB2312" charset="0"/>
              </a:rPr>
              <a:t>     H.r[1]←→H.r[i];</a:t>
            </a:r>
            <a:r>
              <a:rPr lang="en-US" altLang="zh-CN" sz="3600">
                <a:solidFill>
                  <a:srgbClr val="990000"/>
                </a:solidFill>
                <a:ea typeface="楷体_GB2312" charset="0"/>
              </a:rPr>
              <a:t>           </a:t>
            </a:r>
          </a:p>
          <a:p>
            <a:pPr algn="l">
              <a:lnSpc>
                <a:spcPct val="115000"/>
              </a:lnSpc>
            </a:pPr>
            <a:r>
              <a:rPr lang="en-US" altLang="zh-CN" sz="3600">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将堆顶记录和当前未经排序子序列</a:t>
            </a:r>
          </a:p>
          <a:p>
            <a:pPr algn="l">
              <a:lnSpc>
                <a:spcPct val="115000"/>
              </a:lnSpc>
            </a:pPr>
            <a:r>
              <a:rPr lang="zh-CN" altLang="en-US" sz="3200">
                <a:solidFill>
                  <a:srgbClr val="990000"/>
                </a:solidFill>
                <a:ea typeface="楷体_GB2312" charset="0"/>
              </a:rPr>
              <a:t>          </a:t>
            </a:r>
            <a:r>
              <a:rPr lang="en-US" altLang="zh-CN" sz="3200">
                <a:solidFill>
                  <a:srgbClr val="990000"/>
                </a:solidFill>
                <a:ea typeface="楷体_GB2312" charset="0"/>
              </a:rPr>
              <a:t>//  H.r[1..i]</a:t>
            </a:r>
            <a:r>
              <a:rPr lang="zh-CN" altLang="en-US" sz="3200">
                <a:solidFill>
                  <a:srgbClr val="990000"/>
                </a:solidFill>
                <a:ea typeface="楷体_GB2312" charset="0"/>
              </a:rPr>
              <a:t>中最后一个记录相互交换</a:t>
            </a:r>
          </a:p>
          <a:p>
            <a:pPr algn="l">
              <a:lnSpc>
                <a:spcPct val="115000"/>
              </a:lnSpc>
            </a:pPr>
            <a:r>
              <a:rPr lang="zh-CN" altLang="en-US" sz="3600">
                <a:solidFill>
                  <a:srgbClr val="990000"/>
                </a:solidFill>
                <a:ea typeface="楷体_GB2312" charset="0"/>
              </a:rPr>
              <a:t>     </a:t>
            </a:r>
            <a:r>
              <a:rPr lang="en-US" altLang="zh-CN" sz="3200">
                <a:solidFill>
                  <a:srgbClr val="FF0000"/>
                </a:solidFill>
                <a:ea typeface="楷体_GB2312" charset="0"/>
              </a:rPr>
              <a:t>HeapAdjust(H.r, 1, i-1);</a:t>
            </a:r>
            <a:r>
              <a:rPr lang="en-US" altLang="zh-CN" sz="3600">
                <a:solidFill>
                  <a:srgbClr val="990000"/>
                </a:solidFill>
                <a:ea typeface="楷体_GB2312" charset="0"/>
              </a:rPr>
              <a:t>  </a:t>
            </a:r>
            <a:r>
              <a:rPr lang="en-US" altLang="zh-CN" sz="3200">
                <a:solidFill>
                  <a:srgbClr val="990000"/>
                </a:solidFill>
                <a:ea typeface="楷体_GB2312" charset="0"/>
              </a:rPr>
              <a:t>// </a:t>
            </a:r>
            <a:r>
              <a:rPr lang="zh-CN" altLang="zh-CN" sz="3200">
                <a:solidFill>
                  <a:srgbClr val="990000"/>
                </a:solidFill>
                <a:ea typeface="楷体_GB2312" charset="0"/>
              </a:rPr>
              <a:t>对 </a:t>
            </a:r>
            <a:r>
              <a:rPr lang="en-US" altLang="zh-CN" sz="3200">
                <a:solidFill>
                  <a:srgbClr val="990000"/>
                </a:solidFill>
                <a:ea typeface="楷体_GB2312" charset="0"/>
              </a:rPr>
              <a:t>H.r[1] </a:t>
            </a:r>
            <a:r>
              <a:rPr lang="zh-CN" altLang="en-US" sz="3200">
                <a:solidFill>
                  <a:srgbClr val="990000"/>
                </a:solidFill>
                <a:ea typeface="楷体_GB2312" charset="0"/>
              </a:rPr>
              <a:t>进行筛选</a:t>
            </a:r>
            <a:endParaRPr lang="zh-CN" altLang="en-US" sz="3600">
              <a:solidFill>
                <a:srgbClr val="990000"/>
              </a:solidFill>
              <a:ea typeface="楷体_GB2312" charset="0"/>
            </a:endParaRPr>
          </a:p>
          <a:p>
            <a:pPr algn="l">
              <a:lnSpc>
                <a:spcPct val="110000"/>
              </a:lnSpc>
            </a:pPr>
            <a:r>
              <a:rPr lang="en-US" altLang="zh-CN" sz="3200" b="1">
                <a:solidFill>
                  <a:srgbClr val="990000"/>
                </a:solidFill>
                <a:ea typeface="楷体_GB2312" charset="0"/>
              </a:rPr>
              <a:t>}</a:t>
            </a:r>
          </a:p>
        </p:txBody>
      </p:sp>
      <p:sp>
        <p:nvSpPr>
          <p:cNvPr id="139269" name="AutoShape 5">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388630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strips(downRight)">
                                      <p:cBhvr>
                                        <p:cTn id="7" dur="500"/>
                                        <p:tgtEl>
                                          <p:spTgt spid="139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39267"/>
                                        </p:tgtEl>
                                        <p:attrNameLst>
                                          <p:attrName>style.visibility</p:attrName>
                                        </p:attrNameLst>
                                      </p:cBhvr>
                                      <p:to>
                                        <p:strVal val="visible"/>
                                      </p:to>
                                    </p:set>
                                    <p:animEffect transition="in" filter="strips(downRight)">
                                      <p:cBhvr>
                                        <p:cTn id="12" dur="300"/>
                                        <p:tgtEl>
                                          <p:spTgt spid="1392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iterate type="wd">
                                    <p:tmPct val="100000"/>
                                  </p:iterate>
                                  <p:childTnLst>
                                    <p:set>
                                      <p:cBhvr>
                                        <p:cTn id="16" dur="1" fill="hold">
                                          <p:stCondLst>
                                            <p:cond delay="0"/>
                                          </p:stCondLst>
                                        </p:cTn>
                                        <p:tgtEl>
                                          <p:spTgt spid="139268"/>
                                        </p:tgtEl>
                                        <p:attrNameLst>
                                          <p:attrName>style.visibility</p:attrName>
                                        </p:attrNameLst>
                                      </p:cBhvr>
                                      <p:to>
                                        <p:strVal val="visible"/>
                                      </p:to>
                                    </p:set>
                                    <p:animEffect transition="in" filter="strips(downRight)">
                                      <p:cBhvr>
                                        <p:cTn id="17" dur="300"/>
                                        <p:tgtEl>
                                          <p:spTgt spid="139268"/>
                                        </p:tgtEl>
                                      </p:cBhvr>
                                    </p:animEffect>
                                  </p:childTnLst>
                                </p:cTn>
                              </p:par>
                            </p:childTnLst>
                          </p:cTn>
                        </p:par>
                        <p:par>
                          <p:cTn id="18" fill="hold" nodeType="afterGroup">
                            <p:stCondLst>
                              <p:cond delay="15000"/>
                            </p:stCondLst>
                            <p:childTnLst>
                              <p:par>
                                <p:cTn id="19" presetID="2" presetClass="entr" presetSubtype="6" fill="hold" grpId="0" nodeType="afterEffect">
                                  <p:stCondLst>
                                    <p:cond delay="0"/>
                                  </p:stCondLst>
                                  <p:childTnLst>
                                    <p:set>
                                      <p:cBhvr>
                                        <p:cTn id="20" dur="1" fill="hold">
                                          <p:stCondLst>
                                            <p:cond delay="0"/>
                                          </p:stCondLst>
                                        </p:cTn>
                                        <p:tgtEl>
                                          <p:spTgt spid="139269"/>
                                        </p:tgtEl>
                                        <p:attrNameLst>
                                          <p:attrName>style.visibility</p:attrName>
                                        </p:attrNameLst>
                                      </p:cBhvr>
                                      <p:to>
                                        <p:strVal val="visible"/>
                                      </p:to>
                                    </p:set>
                                    <p:anim calcmode="lin" valueType="num">
                                      <p:cBhvr additive="base">
                                        <p:cTn id="21" dur="500" fill="hold"/>
                                        <p:tgtEl>
                                          <p:spTgt spid="139269"/>
                                        </p:tgtEl>
                                        <p:attrNameLst>
                                          <p:attrName>ppt_x</p:attrName>
                                        </p:attrNameLst>
                                      </p:cBhvr>
                                      <p:tavLst>
                                        <p:tav tm="0">
                                          <p:val>
                                            <p:strVal val="1+#ppt_w/2"/>
                                          </p:val>
                                        </p:tav>
                                        <p:tav tm="100000">
                                          <p:val>
                                            <p:strVal val="#ppt_x"/>
                                          </p:val>
                                        </p:tav>
                                      </p:tavLst>
                                    </p:anim>
                                    <p:anim calcmode="lin" valueType="num">
                                      <p:cBhvr additive="base">
                                        <p:cTn id="22" dur="500" fill="hold"/>
                                        <p:tgtEl>
                                          <p:spTgt spid="139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utoUpdateAnimBg="0"/>
      <p:bldP spid="139267" grpId="0" autoUpdateAnimBg="0"/>
      <p:bldP spid="139268" grpId="0" autoUpdateAnimBg="0"/>
      <p:bldP spid="13926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768350" y="152400"/>
            <a:ext cx="5708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000080"/>
                </a:solidFill>
                <a:ea typeface="隶书" charset="0"/>
              </a:rPr>
              <a:t>堆排序的时间复杂度分析：</a:t>
            </a:r>
          </a:p>
        </p:txBody>
      </p:sp>
      <p:sp>
        <p:nvSpPr>
          <p:cNvPr id="46083" name="Text Box 3"/>
          <p:cNvSpPr txBox="1">
            <a:spLocks noChangeArrowheads="1"/>
          </p:cNvSpPr>
          <p:nvPr/>
        </p:nvSpPr>
        <p:spPr bwMode="auto">
          <a:xfrm>
            <a:off x="228600" y="949325"/>
            <a:ext cx="89916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en-US" altLang="zh-CN" sz="3200" b="1">
                <a:solidFill>
                  <a:srgbClr val="990000"/>
                </a:solidFill>
                <a:ea typeface="楷体_GB2312" charset="0"/>
              </a:rPr>
              <a:t>1.</a:t>
            </a:r>
            <a:r>
              <a:rPr lang="en-US" altLang="zh-CN" sz="3200">
                <a:solidFill>
                  <a:srgbClr val="990000"/>
                </a:solidFill>
                <a:ea typeface="楷体_GB2312" charset="0"/>
              </a:rPr>
              <a:t> </a:t>
            </a:r>
            <a:r>
              <a:rPr lang="zh-CN" altLang="en-US" sz="3200">
                <a:solidFill>
                  <a:srgbClr val="990000"/>
                </a:solidFill>
                <a:ea typeface="楷体_GB2312" charset="0"/>
              </a:rPr>
              <a:t>对深度为 </a:t>
            </a:r>
            <a:r>
              <a:rPr lang="en-US" altLang="zh-CN" sz="3200">
                <a:solidFill>
                  <a:srgbClr val="990000"/>
                </a:solidFill>
                <a:ea typeface="楷体_GB2312" charset="0"/>
              </a:rPr>
              <a:t>k </a:t>
            </a:r>
            <a:r>
              <a:rPr lang="zh-CN" altLang="en-US" sz="3200">
                <a:solidFill>
                  <a:srgbClr val="990000"/>
                </a:solidFill>
                <a:ea typeface="楷体_GB2312" charset="0"/>
              </a:rPr>
              <a:t>的堆，“筛选”所需进行的关键字</a:t>
            </a:r>
          </a:p>
          <a:p>
            <a:pPr algn="l">
              <a:lnSpc>
                <a:spcPct val="120000"/>
              </a:lnSpc>
            </a:pPr>
            <a:r>
              <a:rPr lang="zh-CN" altLang="en-US" sz="3200">
                <a:solidFill>
                  <a:srgbClr val="990000"/>
                </a:solidFill>
                <a:ea typeface="楷体_GB2312" charset="0"/>
              </a:rPr>
              <a:t>比较的次数至多为</a:t>
            </a:r>
            <a:r>
              <a:rPr lang="en-US" altLang="zh-CN" sz="3200">
                <a:solidFill>
                  <a:srgbClr val="990000"/>
                </a:solidFill>
                <a:ea typeface="楷体_GB2312" charset="0"/>
              </a:rPr>
              <a:t>2(k-1)</a:t>
            </a:r>
            <a:r>
              <a:rPr lang="zh-CN" altLang="en-US" sz="3200">
                <a:solidFill>
                  <a:srgbClr val="990000"/>
                </a:solidFill>
                <a:ea typeface="楷体_GB2312" charset="0"/>
              </a:rPr>
              <a:t>；</a:t>
            </a:r>
          </a:p>
        </p:txBody>
      </p:sp>
      <p:sp>
        <p:nvSpPr>
          <p:cNvPr id="46085" name="Text Box 5"/>
          <p:cNvSpPr txBox="1">
            <a:spLocks noChangeArrowheads="1"/>
          </p:cNvSpPr>
          <p:nvPr/>
        </p:nvSpPr>
        <p:spPr bwMode="auto">
          <a:xfrm>
            <a:off x="228600" y="3810000"/>
            <a:ext cx="104394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200" b="1">
                <a:solidFill>
                  <a:srgbClr val="990000"/>
                </a:solidFill>
                <a:ea typeface="楷体_GB2312" charset="0"/>
              </a:rPr>
              <a:t>3.</a:t>
            </a:r>
            <a:r>
              <a:rPr lang="en-US" altLang="zh-CN" sz="3200">
                <a:solidFill>
                  <a:srgbClr val="990000"/>
                </a:solidFill>
                <a:ea typeface="楷体_GB2312" charset="0"/>
              </a:rPr>
              <a:t> </a:t>
            </a:r>
            <a:r>
              <a:rPr lang="zh-CN" altLang="en-US" sz="3200">
                <a:solidFill>
                  <a:srgbClr val="990000"/>
                </a:solidFill>
                <a:ea typeface="楷体_GB2312" charset="0"/>
              </a:rPr>
              <a:t>调整“堆顶” </a:t>
            </a:r>
            <a:r>
              <a:rPr lang="en-US" altLang="zh-CN" sz="3200" b="1" i="1">
                <a:solidFill>
                  <a:srgbClr val="990000"/>
                </a:solidFill>
                <a:ea typeface="楷体_GB2312" charset="0"/>
              </a:rPr>
              <a:t>n-1</a:t>
            </a:r>
            <a:r>
              <a:rPr lang="en-US" altLang="zh-CN" sz="3200">
                <a:solidFill>
                  <a:srgbClr val="990000"/>
                </a:solidFill>
                <a:ea typeface="楷体_GB2312" charset="0"/>
              </a:rPr>
              <a:t> </a:t>
            </a:r>
            <a:r>
              <a:rPr lang="zh-CN" altLang="en-US" sz="3200">
                <a:solidFill>
                  <a:srgbClr val="990000"/>
                </a:solidFill>
                <a:ea typeface="楷体_GB2312" charset="0"/>
              </a:rPr>
              <a:t>次，总共进行的关键 </a:t>
            </a:r>
          </a:p>
          <a:p>
            <a:pPr algn="l">
              <a:lnSpc>
                <a:spcPct val="125000"/>
              </a:lnSpc>
            </a:pPr>
            <a:r>
              <a:rPr lang="zh-CN" altLang="en-US" sz="3200">
                <a:solidFill>
                  <a:srgbClr val="990000"/>
                </a:solidFill>
                <a:ea typeface="楷体_GB2312" charset="0"/>
              </a:rPr>
              <a:t>   字比较的次数不超过</a:t>
            </a:r>
          </a:p>
          <a:p>
            <a:pPr algn="l">
              <a:lnSpc>
                <a:spcPct val="125000"/>
              </a:lnSpc>
            </a:pPr>
            <a:r>
              <a:rPr lang="zh-CN" altLang="en-US" sz="3200">
                <a:solidFill>
                  <a:srgbClr val="990000"/>
                </a:solidFill>
                <a:ea typeface="楷体_GB2312" charset="0"/>
              </a:rPr>
              <a:t> </a:t>
            </a:r>
            <a:r>
              <a:rPr lang="en-US" altLang="zh-CN" sz="3200" b="1">
                <a:solidFill>
                  <a:srgbClr val="990000"/>
                </a:solidFill>
                <a:ea typeface="楷体_GB2312" charset="0"/>
              </a:rPr>
              <a:t>2 (</a:t>
            </a:r>
            <a:r>
              <a:rPr lang="en-US" altLang="zh-CN" sz="3200" b="1">
                <a:solidFill>
                  <a:srgbClr val="990000"/>
                </a:solidFill>
                <a:ea typeface="楷体_GB2312" charset="0"/>
                <a:sym typeface="Symbol" charset="2"/>
              </a:rPr>
              <a:t></a:t>
            </a:r>
            <a:r>
              <a:rPr lang="en-US" altLang="zh-CN" sz="3200" b="1" i="1">
                <a:solidFill>
                  <a:srgbClr val="990000"/>
                </a:solidFill>
                <a:ea typeface="楷体_GB2312" charset="0"/>
              </a:rPr>
              <a:t>log</a:t>
            </a:r>
            <a:r>
              <a:rPr lang="en-US" altLang="zh-CN" sz="3200" b="1" i="1" baseline="-25000">
                <a:solidFill>
                  <a:srgbClr val="990000"/>
                </a:solidFill>
                <a:ea typeface="楷体_GB2312" charset="0"/>
              </a:rPr>
              <a:t>2</a:t>
            </a:r>
            <a:r>
              <a:rPr lang="en-US" altLang="zh-CN" sz="3200" b="1" i="1">
                <a:solidFill>
                  <a:srgbClr val="990000"/>
                </a:solidFill>
                <a:ea typeface="楷体_GB2312" charset="0"/>
              </a:rPr>
              <a:t>(n-1)</a:t>
            </a:r>
            <a:r>
              <a:rPr lang="en-US" altLang="zh-CN" sz="3200" b="1">
                <a:solidFill>
                  <a:srgbClr val="990000"/>
                </a:solidFill>
                <a:ea typeface="楷体_GB2312" charset="0"/>
                <a:sym typeface="Symbol" charset="2"/>
              </a:rPr>
              <a:t></a:t>
            </a:r>
            <a:r>
              <a:rPr lang="en-US" altLang="zh-CN" sz="3200" b="1">
                <a:solidFill>
                  <a:srgbClr val="990000"/>
                </a:solidFill>
                <a:ea typeface="楷体_GB2312" charset="0"/>
              </a:rPr>
              <a:t>+ </a:t>
            </a:r>
            <a:r>
              <a:rPr lang="en-US" altLang="zh-CN" sz="3200" b="1">
                <a:solidFill>
                  <a:srgbClr val="990000"/>
                </a:solidFill>
                <a:ea typeface="楷体_GB2312" charset="0"/>
                <a:sym typeface="Symbol" charset="2"/>
              </a:rPr>
              <a:t></a:t>
            </a:r>
            <a:r>
              <a:rPr lang="en-US" altLang="zh-CN" sz="3200" b="1" i="1">
                <a:solidFill>
                  <a:srgbClr val="990000"/>
                </a:solidFill>
                <a:ea typeface="楷体_GB2312" charset="0"/>
              </a:rPr>
              <a:t>log</a:t>
            </a:r>
            <a:r>
              <a:rPr lang="en-US" altLang="zh-CN" sz="3200" b="1" i="1" baseline="-25000">
                <a:solidFill>
                  <a:srgbClr val="990000"/>
                </a:solidFill>
                <a:ea typeface="楷体_GB2312" charset="0"/>
              </a:rPr>
              <a:t>2</a:t>
            </a:r>
            <a:r>
              <a:rPr lang="en-US" altLang="zh-CN" sz="3200" b="1" i="1">
                <a:solidFill>
                  <a:srgbClr val="990000"/>
                </a:solidFill>
                <a:ea typeface="楷体_GB2312" charset="0"/>
              </a:rPr>
              <a:t>(n-2)</a:t>
            </a:r>
            <a:r>
              <a:rPr lang="en-US" altLang="zh-CN" sz="3200" b="1">
                <a:solidFill>
                  <a:srgbClr val="990000"/>
                </a:solidFill>
                <a:ea typeface="楷体_GB2312" charset="0"/>
                <a:sym typeface="Symbol" charset="2"/>
              </a:rPr>
              <a:t></a:t>
            </a:r>
            <a:r>
              <a:rPr lang="en-US" altLang="zh-CN" sz="3200" b="1">
                <a:solidFill>
                  <a:srgbClr val="990000"/>
                </a:solidFill>
                <a:ea typeface="楷体_GB2312" charset="0"/>
              </a:rPr>
              <a:t>+</a:t>
            </a:r>
            <a:r>
              <a:rPr lang="en-US" altLang="zh-CN" sz="3200" b="1">
                <a:solidFill>
                  <a:srgbClr val="990000"/>
                </a:solidFill>
                <a:latin typeface="楷体_GB2312" charset="0"/>
                <a:ea typeface="楷体_GB2312" charset="0"/>
              </a:rPr>
              <a:t> </a:t>
            </a:r>
            <a:r>
              <a:rPr lang="en-US" altLang="zh-CN" sz="3200" b="1">
                <a:solidFill>
                  <a:srgbClr val="990000"/>
                </a:solidFill>
                <a:ea typeface="楷体_GB2312" charset="0"/>
              </a:rPr>
              <a:t>…+</a:t>
            </a:r>
            <a:r>
              <a:rPr lang="en-US" altLang="zh-CN" sz="3200" b="1" i="1">
                <a:solidFill>
                  <a:srgbClr val="990000"/>
                </a:solidFill>
                <a:ea typeface="楷体_GB2312" charset="0"/>
              </a:rPr>
              <a:t>log</a:t>
            </a:r>
            <a:r>
              <a:rPr lang="en-US" altLang="zh-CN" sz="3200" b="1" i="1" baseline="-25000">
                <a:solidFill>
                  <a:srgbClr val="990000"/>
                </a:solidFill>
                <a:ea typeface="楷体_GB2312" charset="0"/>
              </a:rPr>
              <a:t>2</a:t>
            </a:r>
            <a:r>
              <a:rPr lang="en-US" altLang="zh-CN" sz="3200" b="1" i="1">
                <a:solidFill>
                  <a:srgbClr val="990000"/>
                </a:solidFill>
                <a:ea typeface="楷体_GB2312" charset="0"/>
              </a:rPr>
              <a:t>2</a:t>
            </a:r>
            <a:r>
              <a:rPr lang="en-US" altLang="zh-CN" sz="3200" b="1">
                <a:solidFill>
                  <a:srgbClr val="990000"/>
                </a:solidFill>
                <a:ea typeface="楷体_GB2312" charset="0"/>
              </a:rPr>
              <a:t>) &lt; 2</a:t>
            </a:r>
            <a:r>
              <a:rPr lang="en-US" altLang="zh-CN" sz="3200" b="1" i="1">
                <a:solidFill>
                  <a:srgbClr val="990000"/>
                </a:solidFill>
                <a:ea typeface="楷体_GB2312" charset="0"/>
              </a:rPr>
              <a:t>n</a:t>
            </a:r>
            <a:r>
              <a:rPr lang="en-US" altLang="zh-CN" sz="3200" b="1">
                <a:solidFill>
                  <a:srgbClr val="990000"/>
                </a:solidFill>
                <a:ea typeface="楷体_GB2312" charset="0"/>
              </a:rPr>
              <a:t>(</a:t>
            </a:r>
            <a:r>
              <a:rPr lang="en-US" altLang="zh-CN" sz="3200" b="1">
                <a:solidFill>
                  <a:srgbClr val="990000"/>
                </a:solidFill>
                <a:ea typeface="楷体_GB2312" charset="0"/>
                <a:sym typeface="Symbol" charset="2"/>
              </a:rPr>
              <a:t></a:t>
            </a:r>
            <a:r>
              <a:rPr lang="en-US" altLang="zh-CN" sz="3200" b="1" i="1">
                <a:solidFill>
                  <a:srgbClr val="990000"/>
                </a:solidFill>
                <a:ea typeface="楷体_GB2312" charset="0"/>
              </a:rPr>
              <a:t>log</a:t>
            </a:r>
            <a:r>
              <a:rPr lang="en-US" altLang="zh-CN" sz="3200" b="1" i="1" baseline="-25000">
                <a:solidFill>
                  <a:srgbClr val="990000"/>
                </a:solidFill>
                <a:ea typeface="楷体_GB2312" charset="0"/>
              </a:rPr>
              <a:t>2</a:t>
            </a:r>
            <a:r>
              <a:rPr lang="en-US" altLang="zh-CN" sz="3200" b="1" i="1">
                <a:solidFill>
                  <a:srgbClr val="990000"/>
                </a:solidFill>
                <a:ea typeface="楷体_GB2312" charset="0"/>
              </a:rPr>
              <a:t>n</a:t>
            </a:r>
            <a:r>
              <a:rPr lang="en-US" altLang="zh-CN" sz="3200" b="1">
                <a:solidFill>
                  <a:srgbClr val="990000"/>
                </a:solidFill>
                <a:ea typeface="楷体_GB2312" charset="0"/>
                <a:sym typeface="Symbol" charset="2"/>
              </a:rPr>
              <a:t></a:t>
            </a:r>
            <a:r>
              <a:rPr lang="en-US" altLang="zh-CN" sz="3200" b="1">
                <a:solidFill>
                  <a:srgbClr val="990000"/>
                </a:solidFill>
                <a:ea typeface="楷体_GB2312" charset="0"/>
              </a:rPr>
              <a:t>)</a:t>
            </a:r>
            <a:r>
              <a:rPr lang="en-US" altLang="zh-CN" sz="3200" b="1">
                <a:ea typeface="楷体_GB2312" charset="0"/>
              </a:rPr>
              <a:t> </a:t>
            </a:r>
          </a:p>
        </p:txBody>
      </p:sp>
      <p:sp>
        <p:nvSpPr>
          <p:cNvPr id="46087" name="Text Box 7"/>
          <p:cNvSpPr txBox="1">
            <a:spLocks noChangeArrowheads="1"/>
          </p:cNvSpPr>
          <p:nvPr/>
        </p:nvSpPr>
        <p:spPr bwMode="auto">
          <a:xfrm>
            <a:off x="304800" y="5911850"/>
            <a:ext cx="83407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990000"/>
                </a:solidFill>
                <a:ea typeface="隶书" charset="0"/>
              </a:rPr>
              <a:t>因此，</a:t>
            </a:r>
            <a:r>
              <a:rPr lang="zh-CN" altLang="en-US" sz="3600">
                <a:solidFill>
                  <a:srgbClr val="0000FF"/>
                </a:solidFill>
                <a:ea typeface="隶书" charset="0"/>
              </a:rPr>
              <a:t>堆排序的时间复杂度为</a:t>
            </a:r>
            <a:r>
              <a:rPr lang="en-US" altLang="zh-CN" sz="3600" b="1">
                <a:solidFill>
                  <a:srgbClr val="0000FF"/>
                </a:solidFill>
                <a:ea typeface="楷体_GB2312" charset="0"/>
              </a:rPr>
              <a:t>O(</a:t>
            </a:r>
            <a:r>
              <a:rPr lang="en-US" altLang="zh-CN" sz="3600" b="1" i="1">
                <a:solidFill>
                  <a:srgbClr val="0000FF"/>
                </a:solidFill>
                <a:ea typeface="楷体_GB2312" charset="0"/>
              </a:rPr>
              <a:t>n</a:t>
            </a:r>
            <a:r>
              <a:rPr lang="en-US" altLang="zh-CN" sz="3600" b="1">
                <a:solidFill>
                  <a:srgbClr val="0000FF"/>
                </a:solidFill>
                <a:ea typeface="楷体_GB2312" charset="0"/>
              </a:rPr>
              <a:t>log</a:t>
            </a:r>
            <a:r>
              <a:rPr lang="en-US" altLang="zh-CN" sz="3600" b="1" i="1">
                <a:solidFill>
                  <a:srgbClr val="0000FF"/>
                </a:solidFill>
                <a:ea typeface="楷体_GB2312" charset="0"/>
              </a:rPr>
              <a:t>n</a:t>
            </a:r>
            <a:r>
              <a:rPr lang="en-US" altLang="zh-CN" sz="3600" b="1">
                <a:solidFill>
                  <a:srgbClr val="0000FF"/>
                </a:solidFill>
                <a:ea typeface="楷体_GB2312" charset="0"/>
              </a:rPr>
              <a:t>)</a:t>
            </a:r>
            <a:r>
              <a:rPr lang="zh-CN" altLang="en-US" sz="3600" b="1">
                <a:solidFill>
                  <a:srgbClr val="0000FF"/>
                </a:solidFill>
                <a:ea typeface="楷体_GB2312" charset="0"/>
              </a:rPr>
              <a:t>。</a:t>
            </a:r>
            <a:endParaRPr lang="zh-CN" altLang="en-US" sz="3800" b="1">
              <a:solidFill>
                <a:srgbClr val="0000FF"/>
              </a:solidFill>
              <a:ea typeface="楷体_GB2312" charset="0"/>
            </a:endParaRPr>
          </a:p>
        </p:txBody>
      </p:sp>
      <p:sp>
        <p:nvSpPr>
          <p:cNvPr id="46090" name="AutoShape 10">
            <a:hlinkClick r:id="rId2" action="ppaction://hlinksldjump" highlightClick="1"/>
          </p:cNvPr>
          <p:cNvSpPr>
            <a:spLocks noChangeArrowheads="1"/>
          </p:cNvSpPr>
          <p:nvPr/>
        </p:nvSpPr>
        <p:spPr bwMode="auto">
          <a:xfrm>
            <a:off x="8534400" y="62484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46091" name="Rectangle 11"/>
          <p:cNvSpPr>
            <a:spLocks noChangeArrowheads="1"/>
          </p:cNvSpPr>
          <p:nvPr/>
        </p:nvSpPr>
        <p:spPr bwMode="auto">
          <a:xfrm>
            <a:off x="228600" y="2438400"/>
            <a:ext cx="9296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a:defRPr kumimoji="1" sz="4400">
                <a:solidFill>
                  <a:schemeClr val="tx2"/>
                </a:solidFill>
                <a:latin typeface="Times New Roman" charset="0"/>
                <a:ea typeface="宋体" charset="-122"/>
              </a:defRPr>
            </a:lvl1pPr>
            <a:lvl2pPr>
              <a:defRPr kumimoji="1" sz="4400">
                <a:solidFill>
                  <a:schemeClr val="tx2"/>
                </a:solidFill>
                <a:latin typeface="Times New Roman" charset="0"/>
                <a:ea typeface="宋体" charset="-122"/>
              </a:defRPr>
            </a:lvl2pPr>
            <a:lvl3pPr>
              <a:defRPr kumimoji="1" sz="4400">
                <a:solidFill>
                  <a:schemeClr val="tx2"/>
                </a:solidFill>
                <a:latin typeface="Times New Roman" charset="0"/>
                <a:ea typeface="宋体" charset="-122"/>
              </a:defRPr>
            </a:lvl3pPr>
            <a:lvl4pPr>
              <a:defRPr kumimoji="1" sz="4400">
                <a:solidFill>
                  <a:schemeClr val="tx2"/>
                </a:solidFill>
                <a:latin typeface="Times New Roman" charset="0"/>
                <a:ea typeface="宋体" charset="-122"/>
              </a:defRPr>
            </a:lvl4pPr>
            <a:lvl5pPr>
              <a:defRPr kumimoji="1" sz="4400">
                <a:solidFill>
                  <a:schemeClr val="tx2"/>
                </a:solidFill>
                <a:latin typeface="Times New Roman" charset="0"/>
                <a:ea typeface="宋体" charset="-122"/>
              </a:defRPr>
            </a:lvl5pPr>
            <a:lvl6pPr marL="457200" algn="ctr" fontAlgn="base">
              <a:spcBef>
                <a:spcPct val="0"/>
              </a:spcBef>
              <a:spcAft>
                <a:spcPct val="0"/>
              </a:spcAft>
              <a:defRPr kumimoji="1" sz="4400">
                <a:solidFill>
                  <a:schemeClr val="tx2"/>
                </a:solidFill>
                <a:latin typeface="Times New Roman" charset="0"/>
                <a:ea typeface="宋体" charset="-122"/>
              </a:defRPr>
            </a:lvl6pPr>
            <a:lvl7pPr marL="914400" algn="ctr" fontAlgn="base">
              <a:spcBef>
                <a:spcPct val="0"/>
              </a:spcBef>
              <a:spcAft>
                <a:spcPct val="0"/>
              </a:spcAft>
              <a:defRPr kumimoji="1" sz="4400">
                <a:solidFill>
                  <a:schemeClr val="tx2"/>
                </a:solidFill>
                <a:latin typeface="Times New Roman" charset="0"/>
                <a:ea typeface="宋体" charset="-122"/>
              </a:defRPr>
            </a:lvl7pPr>
            <a:lvl8pPr marL="1371600" algn="ctr" fontAlgn="base">
              <a:spcBef>
                <a:spcPct val="0"/>
              </a:spcBef>
              <a:spcAft>
                <a:spcPct val="0"/>
              </a:spcAft>
              <a:defRPr kumimoji="1" sz="4400">
                <a:solidFill>
                  <a:schemeClr val="tx2"/>
                </a:solidFill>
                <a:latin typeface="Times New Roman" charset="0"/>
                <a:ea typeface="宋体" charset="-122"/>
              </a:defRPr>
            </a:lvl8pPr>
            <a:lvl9pPr marL="1828800" algn="ctr" fontAlgn="base">
              <a:spcBef>
                <a:spcPct val="0"/>
              </a:spcBef>
              <a:spcAft>
                <a:spcPct val="0"/>
              </a:spcAft>
              <a:defRPr kumimoji="1" sz="4400">
                <a:solidFill>
                  <a:schemeClr val="tx2"/>
                </a:solidFill>
                <a:latin typeface="Times New Roman" charset="0"/>
                <a:ea typeface="宋体" charset="-122"/>
              </a:defRPr>
            </a:lvl9pPr>
          </a:lstStyle>
          <a:p>
            <a:pPr algn="l">
              <a:lnSpc>
                <a:spcPct val="120000"/>
              </a:lnSpc>
            </a:pPr>
            <a:r>
              <a:rPr lang="en-US" altLang="zh-CN" sz="3200" b="1">
                <a:solidFill>
                  <a:srgbClr val="990000"/>
                </a:solidFill>
                <a:ea typeface="楷体_GB2312" charset="0"/>
              </a:rPr>
              <a:t>2.</a:t>
            </a:r>
            <a:r>
              <a:rPr lang="en-US" altLang="zh-CN" sz="3200">
                <a:solidFill>
                  <a:srgbClr val="990000"/>
                </a:solidFill>
                <a:ea typeface="楷体_GB2312" charset="0"/>
              </a:rPr>
              <a:t> </a:t>
            </a:r>
            <a:r>
              <a:rPr lang="zh-CN" altLang="en-US" sz="3200">
                <a:solidFill>
                  <a:srgbClr val="990000"/>
                </a:solidFill>
                <a:ea typeface="楷体_GB2312" charset="0"/>
              </a:rPr>
              <a:t>对</a:t>
            </a:r>
            <a:r>
              <a:rPr lang="zh-CN" altLang="en-US" sz="3200" b="1" i="1">
                <a:solidFill>
                  <a:srgbClr val="990000"/>
                </a:solidFill>
                <a:ea typeface="楷体_GB2312" charset="0"/>
              </a:rPr>
              <a:t> </a:t>
            </a:r>
            <a:r>
              <a:rPr lang="en-US" altLang="zh-CN" sz="3200" b="1" i="1">
                <a:solidFill>
                  <a:srgbClr val="990000"/>
                </a:solidFill>
                <a:ea typeface="楷体_GB2312" charset="0"/>
              </a:rPr>
              <a:t>n</a:t>
            </a:r>
            <a:r>
              <a:rPr lang="en-US" altLang="zh-CN" sz="3200">
                <a:solidFill>
                  <a:srgbClr val="990000"/>
                </a:solidFill>
                <a:ea typeface="楷体_GB2312" charset="0"/>
              </a:rPr>
              <a:t> </a:t>
            </a:r>
            <a:r>
              <a:rPr lang="zh-CN" altLang="en-US" sz="3200">
                <a:solidFill>
                  <a:srgbClr val="990000"/>
                </a:solidFill>
                <a:ea typeface="楷体_GB2312" charset="0"/>
              </a:rPr>
              <a:t>个关键字，建成深度为</a:t>
            </a:r>
            <a:r>
              <a:rPr lang="en-US" altLang="zh-CN" sz="3200" b="1" i="1">
                <a:solidFill>
                  <a:srgbClr val="990000"/>
                </a:solidFill>
                <a:ea typeface="楷体_GB2312" charset="0"/>
              </a:rPr>
              <a:t>h</a:t>
            </a:r>
            <a:r>
              <a:rPr lang="en-US" altLang="zh-CN" sz="3200">
                <a:solidFill>
                  <a:srgbClr val="990000"/>
                </a:solidFill>
                <a:ea typeface="楷体_GB2312" charset="0"/>
              </a:rPr>
              <a:t>(=</a:t>
            </a:r>
            <a:r>
              <a:rPr lang="en-US" altLang="zh-CN" sz="3200">
                <a:solidFill>
                  <a:srgbClr val="990000"/>
                </a:solidFill>
                <a:ea typeface="楷体_GB2312" charset="0"/>
                <a:sym typeface="Symbol" charset="2"/>
              </a:rPr>
              <a:t></a:t>
            </a:r>
            <a:r>
              <a:rPr lang="en-US" altLang="zh-CN" sz="3200" b="1" i="1">
                <a:solidFill>
                  <a:srgbClr val="990000"/>
                </a:solidFill>
                <a:ea typeface="楷体_GB2312" charset="0"/>
              </a:rPr>
              <a:t>log</a:t>
            </a:r>
            <a:r>
              <a:rPr lang="en-US" altLang="zh-CN" sz="3200" b="1" i="1" baseline="-25000">
                <a:solidFill>
                  <a:srgbClr val="990000"/>
                </a:solidFill>
                <a:ea typeface="楷体_GB2312" charset="0"/>
              </a:rPr>
              <a:t>2</a:t>
            </a:r>
            <a:r>
              <a:rPr lang="en-US" altLang="zh-CN" sz="3200" b="1" i="1">
                <a:solidFill>
                  <a:srgbClr val="990000"/>
                </a:solidFill>
                <a:ea typeface="楷体_GB2312" charset="0"/>
              </a:rPr>
              <a:t>n</a:t>
            </a:r>
            <a:r>
              <a:rPr lang="en-US" altLang="zh-CN" sz="3200">
                <a:solidFill>
                  <a:srgbClr val="990000"/>
                </a:solidFill>
                <a:ea typeface="楷体_GB2312" charset="0"/>
                <a:sym typeface="Symbol" charset="2"/>
              </a:rPr>
              <a:t>+1)</a:t>
            </a:r>
            <a:r>
              <a:rPr lang="zh-CN" altLang="en-US" sz="3200">
                <a:solidFill>
                  <a:srgbClr val="990000"/>
                </a:solidFill>
                <a:ea typeface="楷体_GB2312" charset="0"/>
                <a:sym typeface="Symbol" charset="2"/>
              </a:rPr>
              <a:t>的堆，</a:t>
            </a:r>
            <a:br>
              <a:rPr lang="zh-CN" altLang="en-US" sz="3200">
                <a:solidFill>
                  <a:srgbClr val="990000"/>
                </a:solidFill>
                <a:ea typeface="楷体_GB2312" charset="0"/>
                <a:sym typeface="Symbol" charset="2"/>
              </a:rPr>
            </a:br>
            <a:r>
              <a:rPr lang="zh-CN" altLang="en-US" sz="3200">
                <a:solidFill>
                  <a:srgbClr val="990000"/>
                </a:solidFill>
                <a:ea typeface="楷体_GB2312" charset="0"/>
              </a:rPr>
              <a:t>所需进行的关键字比较的次数至多 </a:t>
            </a:r>
            <a:r>
              <a:rPr lang="en-US" altLang="zh-CN" sz="3200">
                <a:solidFill>
                  <a:srgbClr val="990000"/>
                </a:solidFill>
                <a:ea typeface="楷体_GB2312" charset="0"/>
              </a:rPr>
              <a:t>4</a:t>
            </a:r>
            <a:r>
              <a:rPr lang="en-US" altLang="zh-CN" sz="3200" b="1" i="1">
                <a:solidFill>
                  <a:srgbClr val="990000"/>
                </a:solidFill>
                <a:ea typeface="楷体_GB2312" charset="0"/>
              </a:rPr>
              <a:t>n</a:t>
            </a:r>
            <a:r>
              <a:rPr lang="zh-CN" altLang="en-US" sz="3200">
                <a:solidFill>
                  <a:srgbClr val="990000"/>
                </a:solidFill>
                <a:ea typeface="楷体_GB2312" charset="0"/>
              </a:rPr>
              <a:t>；</a:t>
            </a:r>
          </a:p>
        </p:txBody>
      </p:sp>
    </p:spTree>
    <p:extLst>
      <p:ext uri="{BB962C8B-B14F-4D97-AF65-F5344CB8AC3E}">
        <p14:creationId xmlns:p14="http://schemas.microsoft.com/office/powerpoint/2010/main" val="12341817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6083"/>
                                        </p:tgtEl>
                                        <p:attrNameLst>
                                          <p:attrName>style.visibility</p:attrName>
                                        </p:attrNameLst>
                                      </p:cBhvr>
                                      <p:to>
                                        <p:strVal val="visible"/>
                                      </p:to>
                                    </p:set>
                                    <p:animEffect transition="in" filter="wipe(left)">
                                      <p:cBhvr>
                                        <p:cTn id="13" dur="500"/>
                                        <p:tgtEl>
                                          <p:spTgt spid="460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6091"/>
                                        </p:tgtEl>
                                        <p:attrNameLst>
                                          <p:attrName>style.visibility</p:attrName>
                                        </p:attrNameLst>
                                      </p:cBhvr>
                                      <p:to>
                                        <p:strVal val="visible"/>
                                      </p:to>
                                    </p:set>
                                    <p:animEffect transition="in" filter="wipe(left)">
                                      <p:cBhvr>
                                        <p:cTn id="18" dur="500"/>
                                        <p:tgtEl>
                                          <p:spTgt spid="4609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6085"/>
                                        </p:tgtEl>
                                        <p:attrNameLst>
                                          <p:attrName>style.visibility</p:attrName>
                                        </p:attrNameLst>
                                      </p:cBhvr>
                                      <p:to>
                                        <p:strVal val="visible"/>
                                      </p:to>
                                    </p:set>
                                    <p:animEffect transition="in" filter="wipe(left)">
                                      <p:cBhvr>
                                        <p:cTn id="23" dur="500"/>
                                        <p:tgtEl>
                                          <p:spTgt spid="4608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6087"/>
                                        </p:tgtEl>
                                        <p:attrNameLst>
                                          <p:attrName>style.visibility</p:attrName>
                                        </p:attrNameLst>
                                      </p:cBhvr>
                                      <p:to>
                                        <p:strVal val="visible"/>
                                      </p:to>
                                    </p:set>
                                    <p:animEffect transition="in" filter="wipe(down)">
                                      <p:cBhvr>
                                        <p:cTn id="28" dur="500"/>
                                        <p:tgtEl>
                                          <p:spTgt spid="46087"/>
                                        </p:tgtEl>
                                      </p:cBhvr>
                                    </p:animEffect>
                                  </p:childTnLst>
                                </p:cTn>
                              </p:par>
                            </p:childTnLst>
                          </p:cTn>
                        </p:par>
                        <p:par>
                          <p:cTn id="29" fill="hold" nodeType="afterGroup">
                            <p:stCondLst>
                              <p:cond delay="500"/>
                            </p:stCondLst>
                            <p:childTnLst>
                              <p:par>
                                <p:cTn id="30" presetID="2" presetClass="entr" presetSubtype="6" fill="hold" grpId="0" nodeType="afterEffect">
                                  <p:stCondLst>
                                    <p:cond delay="0"/>
                                  </p:stCondLst>
                                  <p:childTnLst>
                                    <p:set>
                                      <p:cBhvr>
                                        <p:cTn id="31" dur="1" fill="hold">
                                          <p:stCondLst>
                                            <p:cond delay="0"/>
                                          </p:stCondLst>
                                        </p:cTn>
                                        <p:tgtEl>
                                          <p:spTgt spid="46090"/>
                                        </p:tgtEl>
                                        <p:attrNameLst>
                                          <p:attrName>style.visibility</p:attrName>
                                        </p:attrNameLst>
                                      </p:cBhvr>
                                      <p:to>
                                        <p:strVal val="visible"/>
                                      </p:to>
                                    </p:set>
                                    <p:anim calcmode="lin" valueType="num">
                                      <p:cBhvr additive="base">
                                        <p:cTn id="32" dur="500" fill="hold"/>
                                        <p:tgtEl>
                                          <p:spTgt spid="46090"/>
                                        </p:tgtEl>
                                        <p:attrNameLst>
                                          <p:attrName>ppt_x</p:attrName>
                                        </p:attrNameLst>
                                      </p:cBhvr>
                                      <p:tavLst>
                                        <p:tav tm="0">
                                          <p:val>
                                            <p:strVal val="1+#ppt_w/2"/>
                                          </p:val>
                                        </p:tav>
                                        <p:tav tm="100000">
                                          <p:val>
                                            <p:strVal val="#ppt_x"/>
                                          </p:val>
                                        </p:tav>
                                      </p:tavLst>
                                    </p:anim>
                                    <p:anim calcmode="lin" valueType="num">
                                      <p:cBhvr additive="base">
                                        <p:cTn id="33" dur="500" fill="hold"/>
                                        <p:tgtEl>
                                          <p:spTgt spid="460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3" grpId="0" autoUpdateAnimBg="0"/>
      <p:bldP spid="46085" grpId="0" autoUpdateAnimBg="0"/>
      <p:bldP spid="46087" grpId="0" autoUpdateAnimBg="0"/>
      <p:bldP spid="46090" grpId="0" animBg="1"/>
      <p:bldP spid="46091"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60771"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堆排序是一种不稳定的排序方法</a:t>
            </a:r>
          </a:p>
        </p:txBody>
      </p:sp>
      <p:sp>
        <p:nvSpPr>
          <p:cNvPr id="160772" name="Text Box 4"/>
          <p:cNvSpPr txBox="1">
            <a:spLocks noChangeArrowheads="1"/>
          </p:cNvSpPr>
          <p:nvPr/>
        </p:nvSpPr>
        <p:spPr bwMode="auto">
          <a:xfrm>
            <a:off x="0" y="2179638"/>
            <a:ext cx="873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初始序列的不同会影响算法的效率</a:t>
            </a:r>
          </a:p>
        </p:txBody>
      </p:sp>
      <p:sp>
        <p:nvSpPr>
          <p:cNvPr id="160773"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每趟排序后都将某个数据放置在它的最终位置</a:t>
            </a:r>
          </a:p>
        </p:txBody>
      </p:sp>
    </p:spTree>
    <p:extLst>
      <p:ext uri="{BB962C8B-B14F-4D97-AF65-F5344CB8AC3E}">
        <p14:creationId xmlns:p14="http://schemas.microsoft.com/office/powerpoint/2010/main" val="10255328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 calcmode="lin" valueType="num">
                                      <p:cBhvr additive="base">
                                        <p:cTn id="7" dur="500" fill="hold"/>
                                        <p:tgtEl>
                                          <p:spTgt spid="160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0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0772"/>
                                        </p:tgtEl>
                                        <p:attrNameLst>
                                          <p:attrName>style.visibility</p:attrName>
                                        </p:attrNameLst>
                                      </p:cBhvr>
                                      <p:to>
                                        <p:strVal val="visible"/>
                                      </p:to>
                                    </p:set>
                                    <p:anim calcmode="lin" valueType="num">
                                      <p:cBhvr additive="base">
                                        <p:cTn id="13" dur="500" fill="hold"/>
                                        <p:tgtEl>
                                          <p:spTgt spid="160772"/>
                                        </p:tgtEl>
                                        <p:attrNameLst>
                                          <p:attrName>ppt_x</p:attrName>
                                        </p:attrNameLst>
                                      </p:cBhvr>
                                      <p:tavLst>
                                        <p:tav tm="0">
                                          <p:val>
                                            <p:strVal val="1+#ppt_w/2"/>
                                          </p:val>
                                        </p:tav>
                                        <p:tav tm="100000">
                                          <p:val>
                                            <p:strVal val="#ppt_x"/>
                                          </p:val>
                                        </p:tav>
                                      </p:tavLst>
                                    </p:anim>
                                    <p:anim calcmode="lin" valueType="num">
                                      <p:cBhvr additive="base">
                                        <p:cTn id="14" dur="500" fill="hold"/>
                                        <p:tgtEl>
                                          <p:spTgt spid="1607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0773"/>
                                        </p:tgtEl>
                                        <p:attrNameLst>
                                          <p:attrName>style.visibility</p:attrName>
                                        </p:attrNameLst>
                                      </p:cBhvr>
                                      <p:to>
                                        <p:strVal val="visible"/>
                                      </p:to>
                                    </p:set>
                                    <p:anim calcmode="lin" valueType="num">
                                      <p:cBhvr additive="base">
                                        <p:cTn id="19" dur="500" fill="hold"/>
                                        <p:tgtEl>
                                          <p:spTgt spid="160773"/>
                                        </p:tgtEl>
                                        <p:attrNameLst>
                                          <p:attrName>ppt_x</p:attrName>
                                        </p:attrNameLst>
                                      </p:cBhvr>
                                      <p:tavLst>
                                        <p:tav tm="0">
                                          <p:val>
                                            <p:strVal val="#ppt_x"/>
                                          </p:val>
                                        </p:tav>
                                        <p:tav tm="100000">
                                          <p:val>
                                            <p:strVal val="#ppt_x"/>
                                          </p:val>
                                        </p:tav>
                                      </p:tavLst>
                                    </p:anim>
                                    <p:anim calcmode="lin" valueType="num">
                                      <p:cBhvr additive="base">
                                        <p:cTn id="20" dur="500" fill="hold"/>
                                        <p:tgtEl>
                                          <p:spTgt spid="1607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7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1026"/>
          <p:cNvSpPr txBox="1">
            <a:spLocks noChangeArrowheads="1"/>
          </p:cNvSpPr>
          <p:nvPr/>
        </p:nvSpPr>
        <p:spPr bwMode="auto">
          <a:xfrm>
            <a:off x="1676400" y="533400"/>
            <a:ext cx="5734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6000" b="1">
                <a:solidFill>
                  <a:srgbClr val="FF6600"/>
                </a:solidFill>
                <a:ea typeface="楷体_GB2312" charset="0"/>
              </a:rPr>
              <a:t>10.5   </a:t>
            </a:r>
            <a:r>
              <a:rPr lang="zh-CN" altLang="en-US" sz="6000" b="1">
                <a:solidFill>
                  <a:srgbClr val="FF6600"/>
                </a:solidFill>
                <a:ea typeface="楷体_GB2312" charset="0"/>
              </a:rPr>
              <a:t>归 并 排 序</a:t>
            </a:r>
            <a:endParaRPr lang="zh-CN" altLang="en-US" sz="4800" b="1">
              <a:solidFill>
                <a:srgbClr val="FF6600"/>
              </a:solidFill>
              <a:ea typeface="楷体_GB2312" charset="0"/>
            </a:endParaRPr>
          </a:p>
        </p:txBody>
      </p:sp>
      <p:sp>
        <p:nvSpPr>
          <p:cNvPr id="90115" name="Text Box 1027"/>
          <p:cNvSpPr txBox="1">
            <a:spLocks noChangeArrowheads="1"/>
          </p:cNvSpPr>
          <p:nvPr/>
        </p:nvSpPr>
        <p:spPr bwMode="auto">
          <a:xfrm>
            <a:off x="1050925" y="1889125"/>
            <a:ext cx="7483475" cy="428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a:t>
            </a:r>
            <a:r>
              <a:rPr lang="zh-CN" altLang="en-US" sz="4400">
                <a:solidFill>
                  <a:srgbClr val="990000"/>
                </a:solidFill>
                <a:ea typeface="楷体_GB2312" charset="0"/>
              </a:rPr>
              <a:t>归并排序的过程基于下列</a:t>
            </a:r>
            <a:r>
              <a:rPr lang="zh-CN" altLang="en-US" sz="4400" b="1" u="sng">
                <a:solidFill>
                  <a:srgbClr val="990000"/>
                </a:solidFill>
                <a:ea typeface="楷体_GB2312" charset="0"/>
              </a:rPr>
              <a:t>基本思想</a:t>
            </a:r>
            <a:r>
              <a:rPr lang="zh-CN" altLang="en-US" sz="4400">
                <a:solidFill>
                  <a:srgbClr val="990000"/>
                </a:solidFill>
                <a:ea typeface="楷体_GB2312" charset="0"/>
              </a:rPr>
              <a:t>进行：</a:t>
            </a:r>
          </a:p>
          <a:p>
            <a:pPr algn="l">
              <a:lnSpc>
                <a:spcPct val="125000"/>
              </a:lnSpc>
            </a:pPr>
            <a:r>
              <a:rPr lang="zh-CN" altLang="en-US" sz="4400">
                <a:solidFill>
                  <a:srgbClr val="990000"/>
                </a:solidFill>
                <a:ea typeface="楷体_GB2312" charset="0"/>
              </a:rPr>
              <a:t>     </a:t>
            </a:r>
            <a:r>
              <a:rPr lang="zh-CN" altLang="en-US" sz="4400">
                <a:solidFill>
                  <a:schemeClr val="accent2"/>
                </a:solidFill>
                <a:ea typeface="楷体_GB2312" charset="0"/>
              </a:rPr>
              <a:t>将两个或两个以上的有序子序列 “归并” 为一个有序序列。</a:t>
            </a:r>
            <a:endParaRPr lang="zh-CN" altLang="en-US" sz="4000">
              <a:solidFill>
                <a:schemeClr val="accent2"/>
              </a:solidFill>
              <a:ea typeface="楷体_GB2312" charset="0"/>
            </a:endParaRPr>
          </a:p>
        </p:txBody>
      </p:sp>
    </p:spTree>
    <p:extLst>
      <p:ext uri="{BB962C8B-B14F-4D97-AF65-F5344CB8AC3E}">
        <p14:creationId xmlns:p14="http://schemas.microsoft.com/office/powerpoint/2010/main" val="19202891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dissolve">
                                      <p:cBhvr>
                                        <p:cTn id="7" dur="500"/>
                                        <p:tgtEl>
                                          <p:spTgt spid="90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0115"/>
                                        </p:tgtEl>
                                        <p:attrNameLst>
                                          <p:attrName>style.visibility</p:attrName>
                                        </p:attrNameLst>
                                      </p:cBhvr>
                                      <p:to>
                                        <p:strVal val="visible"/>
                                      </p:to>
                                    </p:set>
                                    <p:animEffect transition="in" filter="strips(downRight)">
                                      <p:cBhvr>
                                        <p:cTn id="12" dur="500"/>
                                        <p:tgtEl>
                                          <p:spTgt spid="90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utoUpdateAnimBg="0"/>
      <p:bldP spid="90115"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a:spLocks noChangeArrowheads="1"/>
          </p:cNvSpPr>
          <p:nvPr/>
        </p:nvSpPr>
        <p:spPr bwMode="auto">
          <a:xfrm>
            <a:off x="533400" y="588963"/>
            <a:ext cx="8016875" cy="215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在内部排序中，通常采用的是</a:t>
            </a:r>
            <a:r>
              <a:rPr lang="en-US" altLang="zh-CN" sz="3600">
                <a:solidFill>
                  <a:srgbClr val="008080"/>
                </a:solidFill>
                <a:ea typeface="楷体_GB2312" charset="0"/>
              </a:rPr>
              <a:t>2-</a:t>
            </a:r>
            <a:r>
              <a:rPr lang="zh-CN" altLang="en-US" sz="3600">
                <a:solidFill>
                  <a:srgbClr val="008080"/>
                </a:solidFill>
                <a:ea typeface="楷体_GB2312" charset="0"/>
              </a:rPr>
              <a:t>路归并</a:t>
            </a:r>
            <a:r>
              <a:rPr lang="zh-CN" altLang="en-US" sz="3600">
                <a:ea typeface="楷体_GB2312" charset="0"/>
              </a:rPr>
              <a:t>排序。即：</a:t>
            </a:r>
            <a:r>
              <a:rPr lang="zh-CN" altLang="en-US" sz="3600">
                <a:solidFill>
                  <a:srgbClr val="000080"/>
                </a:solidFill>
                <a:ea typeface="楷体_GB2312" charset="0"/>
              </a:rPr>
              <a:t>将两个</a:t>
            </a:r>
            <a:r>
              <a:rPr lang="zh-CN" altLang="en-US" sz="3600" b="1">
                <a:solidFill>
                  <a:srgbClr val="000080"/>
                </a:solidFill>
                <a:ea typeface="楷体_GB2312" charset="0"/>
              </a:rPr>
              <a:t>位置相邻</a:t>
            </a:r>
            <a:r>
              <a:rPr lang="zh-CN" altLang="en-US" sz="3600">
                <a:solidFill>
                  <a:srgbClr val="000080"/>
                </a:solidFill>
                <a:ea typeface="楷体_GB2312" charset="0"/>
              </a:rPr>
              <a:t>的记录有序子序列</a:t>
            </a:r>
          </a:p>
        </p:txBody>
      </p:sp>
      <p:sp>
        <p:nvSpPr>
          <p:cNvPr id="49162" name="Text Box 10"/>
          <p:cNvSpPr txBox="1">
            <a:spLocks noChangeArrowheads="1"/>
          </p:cNvSpPr>
          <p:nvPr/>
        </p:nvSpPr>
        <p:spPr bwMode="auto">
          <a:xfrm>
            <a:off x="533400" y="4038600"/>
            <a:ext cx="6134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a:solidFill>
                  <a:srgbClr val="000080"/>
                </a:solidFill>
                <a:ea typeface="楷体_GB2312" charset="0"/>
              </a:rPr>
              <a:t>归并为</a:t>
            </a:r>
            <a:r>
              <a:rPr lang="zh-CN" altLang="en-US" sz="3600" b="1">
                <a:solidFill>
                  <a:srgbClr val="000080"/>
                </a:solidFill>
                <a:ea typeface="楷体_GB2312" charset="0"/>
              </a:rPr>
              <a:t>一个</a:t>
            </a:r>
            <a:r>
              <a:rPr lang="zh-CN" altLang="en-US" sz="3600">
                <a:solidFill>
                  <a:srgbClr val="000080"/>
                </a:solidFill>
                <a:ea typeface="楷体_GB2312" charset="0"/>
              </a:rPr>
              <a:t>记录的有序序列</a:t>
            </a:r>
            <a:r>
              <a:rPr lang="zh-CN" altLang="en-US" sz="3600">
                <a:ea typeface="楷体_GB2312" charset="0"/>
              </a:rPr>
              <a:t>。</a:t>
            </a:r>
          </a:p>
        </p:txBody>
      </p:sp>
      <p:sp>
        <p:nvSpPr>
          <p:cNvPr id="49163" name="Rectangle 11"/>
          <p:cNvSpPr>
            <a:spLocks noChangeArrowheads="1"/>
          </p:cNvSpPr>
          <p:nvPr/>
        </p:nvSpPr>
        <p:spPr bwMode="auto">
          <a:xfrm>
            <a:off x="762000" y="5029200"/>
            <a:ext cx="7620000" cy="6096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600" b="1"/>
              <a:t>有 序 序 列 </a:t>
            </a:r>
            <a:r>
              <a:rPr lang="en-US" altLang="zh-CN" sz="3600" b="1"/>
              <a:t>R[</a:t>
            </a:r>
            <a:r>
              <a:rPr lang="en-US" altLang="zh-CN" sz="3600" b="1" i="1"/>
              <a:t>l</a:t>
            </a:r>
            <a:r>
              <a:rPr lang="en-US" altLang="zh-CN" sz="3600" b="1"/>
              <a:t>..</a:t>
            </a:r>
            <a:r>
              <a:rPr lang="en-US" altLang="zh-CN" sz="3600" b="1" i="1"/>
              <a:t>n</a:t>
            </a:r>
            <a:r>
              <a:rPr lang="en-US" altLang="zh-CN" sz="3600" b="1"/>
              <a:t>]</a:t>
            </a:r>
            <a:endParaRPr lang="en-US" altLang="zh-CN" sz="3600"/>
          </a:p>
        </p:txBody>
      </p:sp>
      <p:sp>
        <p:nvSpPr>
          <p:cNvPr id="49167" name="Text Box 15"/>
          <p:cNvSpPr txBox="1">
            <a:spLocks noChangeArrowheads="1"/>
          </p:cNvSpPr>
          <p:nvPr/>
        </p:nvSpPr>
        <p:spPr bwMode="auto">
          <a:xfrm>
            <a:off x="762000" y="3048000"/>
            <a:ext cx="3810000" cy="592138"/>
          </a:xfrm>
          <a:prstGeom prst="rect">
            <a:avLst/>
          </a:prstGeom>
          <a:solidFill>
            <a:srgbClr val="FF9900">
              <a:alpha val="50000"/>
            </a:srgbClr>
          </a:solidFill>
          <a:ln w="12700">
            <a:solidFill>
              <a:srgbClr val="9933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200" b="1"/>
              <a:t>有序子序列 </a:t>
            </a:r>
            <a:r>
              <a:rPr lang="en-US" altLang="zh-CN" sz="3200" b="1"/>
              <a:t>R[</a:t>
            </a:r>
            <a:r>
              <a:rPr lang="en-US" altLang="zh-CN" sz="3200" b="1" i="1"/>
              <a:t>l</a:t>
            </a:r>
            <a:r>
              <a:rPr lang="en-US" altLang="zh-CN" sz="3200" b="1"/>
              <a:t>..</a:t>
            </a:r>
            <a:r>
              <a:rPr lang="en-US" altLang="zh-CN" sz="3200" b="1" i="1"/>
              <a:t>m</a:t>
            </a:r>
            <a:r>
              <a:rPr lang="en-US" altLang="zh-CN" sz="3200" b="1"/>
              <a:t>]</a:t>
            </a:r>
          </a:p>
        </p:txBody>
      </p:sp>
      <p:sp>
        <p:nvSpPr>
          <p:cNvPr id="49168" name="Rectangle 16"/>
          <p:cNvSpPr>
            <a:spLocks noChangeArrowheads="1"/>
          </p:cNvSpPr>
          <p:nvPr/>
        </p:nvSpPr>
        <p:spPr bwMode="auto">
          <a:xfrm>
            <a:off x="4572000" y="3048000"/>
            <a:ext cx="3810000" cy="609600"/>
          </a:xfrm>
          <a:prstGeom prst="rect">
            <a:avLst/>
          </a:prstGeom>
          <a:solidFill>
            <a:srgbClr val="FF6600">
              <a:alpha val="50000"/>
            </a:srgb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zh-CN" altLang="en-US" sz="3200" b="1"/>
              <a:t>有序子序列 </a:t>
            </a:r>
            <a:r>
              <a:rPr lang="en-US" altLang="zh-CN" sz="3200" b="1"/>
              <a:t>R[</a:t>
            </a:r>
            <a:r>
              <a:rPr lang="en-US" altLang="zh-CN" sz="3200" b="1" i="1"/>
              <a:t>m</a:t>
            </a:r>
            <a:r>
              <a:rPr lang="en-US" altLang="zh-CN" sz="3200" b="1"/>
              <a:t>+1..</a:t>
            </a:r>
            <a:r>
              <a:rPr lang="en-US" altLang="zh-CN" sz="3200" b="1" i="1"/>
              <a:t>n</a:t>
            </a:r>
            <a:r>
              <a:rPr lang="en-US" altLang="zh-CN" sz="3200" b="1"/>
              <a:t>]</a:t>
            </a:r>
          </a:p>
        </p:txBody>
      </p:sp>
      <p:sp>
        <p:nvSpPr>
          <p:cNvPr id="49169" name="Text Box 17"/>
          <p:cNvSpPr txBox="1">
            <a:spLocks noChangeArrowheads="1"/>
          </p:cNvSpPr>
          <p:nvPr/>
        </p:nvSpPr>
        <p:spPr bwMode="auto">
          <a:xfrm>
            <a:off x="517525" y="5897563"/>
            <a:ext cx="749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a:solidFill>
                  <a:srgbClr val="003366"/>
                </a:solidFill>
                <a:ea typeface="楷体_GB2312" charset="0"/>
              </a:rPr>
              <a:t>这个操作对顺序表而言，是轻而易举的。</a:t>
            </a:r>
            <a:endParaRPr lang="zh-CN" altLang="en-US" sz="3200">
              <a:ea typeface="楷体_GB2312" charset="0"/>
            </a:endParaRPr>
          </a:p>
        </p:txBody>
      </p:sp>
    </p:spTree>
    <p:extLst>
      <p:ext uri="{BB962C8B-B14F-4D97-AF65-F5344CB8AC3E}">
        <p14:creationId xmlns:p14="http://schemas.microsoft.com/office/powerpoint/2010/main" val="8676622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strips(downRight)">
                                      <p:cBhvr>
                                        <p:cTn id="7" dur="500"/>
                                        <p:tgtEl>
                                          <p:spTgt spid="49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67"/>
                                        </p:tgtEl>
                                        <p:attrNameLst>
                                          <p:attrName>style.visibility</p:attrName>
                                        </p:attrNameLst>
                                      </p:cBhvr>
                                      <p:to>
                                        <p:strVal val="visible"/>
                                      </p:to>
                                    </p:set>
                                    <p:animEffect transition="in" filter="wipe(left)">
                                      <p:cBhvr>
                                        <p:cTn id="12" dur="500"/>
                                        <p:tgtEl>
                                          <p:spTgt spid="49167"/>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9168"/>
                                        </p:tgtEl>
                                        <p:attrNameLst>
                                          <p:attrName>style.visibility</p:attrName>
                                        </p:attrNameLst>
                                      </p:cBhvr>
                                      <p:to>
                                        <p:strVal val="visible"/>
                                      </p:to>
                                    </p:set>
                                    <p:animEffect transition="in" filter="wipe(left)">
                                      <p:cBhvr>
                                        <p:cTn id="16" dur="500"/>
                                        <p:tgtEl>
                                          <p:spTgt spid="491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9162"/>
                                        </p:tgtEl>
                                        <p:attrNameLst>
                                          <p:attrName>style.visibility</p:attrName>
                                        </p:attrNameLst>
                                      </p:cBhvr>
                                      <p:to>
                                        <p:strVal val="visible"/>
                                      </p:to>
                                    </p:set>
                                    <p:animEffect transition="in" filter="wipe(left)">
                                      <p:cBhvr>
                                        <p:cTn id="21" dur="500"/>
                                        <p:tgtEl>
                                          <p:spTgt spid="49162"/>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49163"/>
                                        </p:tgtEl>
                                        <p:attrNameLst>
                                          <p:attrName>style.visibility</p:attrName>
                                        </p:attrNameLst>
                                      </p:cBhvr>
                                      <p:to>
                                        <p:strVal val="visible"/>
                                      </p:to>
                                    </p:set>
                                    <p:animEffect transition="in" filter="wipe(left)">
                                      <p:cBhvr>
                                        <p:cTn id="25" dur="500"/>
                                        <p:tgtEl>
                                          <p:spTgt spid="4916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9169"/>
                                        </p:tgtEl>
                                        <p:attrNameLst>
                                          <p:attrName>style.visibility</p:attrName>
                                        </p:attrNameLst>
                                      </p:cBhvr>
                                      <p:to>
                                        <p:strVal val="visible"/>
                                      </p:to>
                                    </p:set>
                                    <p:animEffect transition="in" filter="wipe(left)">
                                      <p:cBhvr>
                                        <p:cTn id="30" dur="500"/>
                                        <p:tgtEl>
                                          <p:spTgt spid="49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49162" grpId="0" autoUpdateAnimBg="0"/>
      <p:bldP spid="49163" grpId="0" animBg="1" autoUpdateAnimBg="0"/>
      <p:bldP spid="49167" grpId="0" animBg="1" autoUpdateAnimBg="0"/>
      <p:bldP spid="49168" grpId="0" animBg="1" autoUpdateAnimBg="0"/>
      <p:bldP spid="49169"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3"/>
          <p:cNvSpPr txBox="1">
            <a:spLocks noChangeArrowheads="1"/>
          </p:cNvSpPr>
          <p:nvPr/>
        </p:nvSpPr>
        <p:spPr bwMode="auto">
          <a:xfrm>
            <a:off x="381000" y="76200"/>
            <a:ext cx="8626475" cy="681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5000"/>
              </a:lnSpc>
            </a:pPr>
            <a:r>
              <a:rPr lang="en-US" altLang="zh-CN" sz="3200" b="1">
                <a:solidFill>
                  <a:srgbClr val="990000"/>
                </a:solidFill>
                <a:ea typeface="楷体_GB2312" charset="0"/>
              </a:rPr>
              <a:t>void </a:t>
            </a:r>
            <a:r>
              <a:rPr lang="en-US" altLang="zh-CN" sz="3200">
                <a:solidFill>
                  <a:srgbClr val="990000"/>
                </a:solidFill>
                <a:ea typeface="楷体_GB2312" charset="0"/>
              </a:rPr>
              <a:t>Merge (RcdType SR[], RcdType </a:t>
            </a:r>
            <a:r>
              <a:rPr lang="en-US" altLang="zh-CN" sz="3200" b="1">
                <a:solidFill>
                  <a:srgbClr val="990000"/>
                </a:solidFill>
                <a:ea typeface="楷体_GB2312" charset="0"/>
              </a:rPr>
              <a:t>&amp;</a:t>
            </a:r>
            <a:r>
              <a:rPr lang="en-US" altLang="zh-CN" sz="3200">
                <a:solidFill>
                  <a:srgbClr val="990000"/>
                </a:solidFill>
                <a:ea typeface="楷体_GB2312" charset="0"/>
              </a:rPr>
              <a:t>TR[], </a:t>
            </a:r>
          </a:p>
          <a:p>
            <a:pPr algn="l">
              <a:lnSpc>
                <a:spcPct val="115000"/>
              </a:lnSpc>
            </a:pPr>
            <a:r>
              <a:rPr lang="en-US" altLang="zh-CN" sz="3200">
                <a:solidFill>
                  <a:srgbClr val="990000"/>
                </a:solidFill>
                <a:ea typeface="楷体_GB2312" charset="0"/>
              </a:rPr>
              <a:t>                                                    </a:t>
            </a:r>
            <a:r>
              <a:rPr lang="en-US" altLang="zh-CN" sz="3200" b="1">
                <a:solidFill>
                  <a:srgbClr val="990000"/>
                </a:solidFill>
                <a:ea typeface="楷体_GB2312" charset="0"/>
              </a:rPr>
              <a:t>int</a:t>
            </a:r>
            <a:r>
              <a:rPr lang="en-US" altLang="zh-CN" sz="3200">
                <a:solidFill>
                  <a:srgbClr val="990000"/>
                </a:solidFill>
                <a:ea typeface="楷体_GB2312" charset="0"/>
              </a:rPr>
              <a:t> i, </a:t>
            </a:r>
            <a:r>
              <a:rPr lang="en-US" altLang="zh-CN" sz="3200" b="1">
                <a:solidFill>
                  <a:srgbClr val="990000"/>
                </a:solidFill>
                <a:ea typeface="楷体_GB2312" charset="0"/>
              </a:rPr>
              <a:t>int</a:t>
            </a:r>
            <a:r>
              <a:rPr lang="en-US" altLang="zh-CN" sz="3200">
                <a:solidFill>
                  <a:srgbClr val="990000"/>
                </a:solidFill>
                <a:ea typeface="楷体_GB2312" charset="0"/>
              </a:rPr>
              <a:t> m, </a:t>
            </a:r>
            <a:r>
              <a:rPr lang="en-US" altLang="zh-CN" sz="3200" b="1">
                <a:solidFill>
                  <a:srgbClr val="990000"/>
                </a:solidFill>
                <a:ea typeface="楷体_GB2312" charset="0"/>
              </a:rPr>
              <a:t>int</a:t>
            </a:r>
            <a:r>
              <a:rPr lang="en-US" altLang="zh-CN" sz="3200">
                <a:solidFill>
                  <a:srgbClr val="990000"/>
                </a:solidFill>
                <a:ea typeface="楷体_GB2312" charset="0"/>
              </a:rPr>
              <a:t> n) </a:t>
            </a:r>
            <a:r>
              <a:rPr lang="en-US" altLang="zh-CN" sz="3200" b="1">
                <a:solidFill>
                  <a:srgbClr val="990000"/>
                </a:solidFill>
                <a:ea typeface="楷体_GB2312" charset="0"/>
              </a:rPr>
              <a:t>{</a:t>
            </a:r>
            <a:endParaRPr lang="en-US" altLang="zh-CN" sz="3200">
              <a:solidFill>
                <a:srgbClr val="990000"/>
              </a:solidFill>
              <a:ea typeface="楷体_GB2312" charset="0"/>
            </a:endParaRPr>
          </a:p>
          <a:p>
            <a:pPr algn="l">
              <a:lnSpc>
                <a:spcPct val="115000"/>
              </a:lnSpc>
            </a:pPr>
            <a:r>
              <a:rPr lang="en-US" altLang="zh-CN" sz="3200" b="1">
                <a:solidFill>
                  <a:srgbClr val="990000"/>
                </a:solidFill>
                <a:ea typeface="楷体_GB2312" charset="0"/>
              </a:rPr>
              <a:t>  </a:t>
            </a:r>
            <a:r>
              <a:rPr lang="en-US" altLang="zh-CN" sz="3200">
                <a:solidFill>
                  <a:srgbClr val="990000"/>
                </a:solidFill>
                <a:ea typeface="楷体_GB2312" charset="0"/>
              </a:rPr>
              <a:t>// </a:t>
            </a:r>
            <a:r>
              <a:rPr lang="zh-CN" altLang="en-US" sz="3200">
                <a:solidFill>
                  <a:srgbClr val="990000"/>
                </a:solidFill>
                <a:ea typeface="楷体_GB2312" charset="0"/>
              </a:rPr>
              <a:t>将有序的记录序列 </a:t>
            </a:r>
            <a:r>
              <a:rPr lang="en-US" altLang="zh-CN" sz="3200">
                <a:solidFill>
                  <a:srgbClr val="990000"/>
                </a:solidFill>
                <a:ea typeface="楷体_GB2312" charset="0"/>
              </a:rPr>
              <a:t>SR[i..m] </a:t>
            </a:r>
            <a:r>
              <a:rPr lang="zh-CN" altLang="en-US" sz="3200">
                <a:solidFill>
                  <a:srgbClr val="990000"/>
                </a:solidFill>
                <a:ea typeface="楷体_GB2312" charset="0"/>
              </a:rPr>
              <a:t>和 </a:t>
            </a:r>
            <a:r>
              <a:rPr lang="en-US" altLang="zh-CN" sz="3200">
                <a:solidFill>
                  <a:srgbClr val="990000"/>
                </a:solidFill>
                <a:ea typeface="楷体_GB2312" charset="0"/>
              </a:rPr>
              <a:t>SR[m+1..n]</a:t>
            </a:r>
          </a:p>
          <a:p>
            <a:pPr algn="l">
              <a:lnSpc>
                <a:spcPct val="115000"/>
              </a:lnSpc>
            </a:pPr>
            <a:r>
              <a:rPr lang="en-US" altLang="zh-CN" sz="3200">
                <a:solidFill>
                  <a:srgbClr val="990000"/>
                </a:solidFill>
                <a:ea typeface="楷体_GB2312" charset="0"/>
              </a:rPr>
              <a:t>  // </a:t>
            </a:r>
            <a:r>
              <a:rPr lang="zh-CN" altLang="en-US" sz="3200">
                <a:solidFill>
                  <a:srgbClr val="990000"/>
                </a:solidFill>
                <a:ea typeface="楷体_GB2312" charset="0"/>
              </a:rPr>
              <a:t>归并为有序的记录序列 </a:t>
            </a:r>
            <a:r>
              <a:rPr lang="en-US" altLang="zh-CN" sz="3200">
                <a:solidFill>
                  <a:srgbClr val="990000"/>
                </a:solidFill>
                <a:ea typeface="楷体_GB2312" charset="0"/>
              </a:rPr>
              <a:t>TR[i..n]</a:t>
            </a: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endParaRPr lang="en-US" altLang="zh-CN" sz="3200" b="1">
              <a:solidFill>
                <a:srgbClr val="990000"/>
              </a:solidFill>
              <a:ea typeface="楷体_GB2312" charset="0"/>
            </a:endParaRPr>
          </a:p>
          <a:p>
            <a:pPr algn="l">
              <a:lnSpc>
                <a:spcPct val="115000"/>
              </a:lnSpc>
            </a:pPr>
            <a:r>
              <a:rPr lang="en-US" altLang="zh-CN" sz="3200" b="1">
                <a:solidFill>
                  <a:srgbClr val="990000"/>
                </a:solidFill>
                <a:ea typeface="楷体_GB2312" charset="0"/>
              </a:rPr>
              <a:t>}</a:t>
            </a:r>
            <a:r>
              <a:rPr lang="en-US" altLang="zh-CN" sz="3200">
                <a:solidFill>
                  <a:srgbClr val="990000"/>
                </a:solidFill>
                <a:ea typeface="楷体_GB2312" charset="0"/>
              </a:rPr>
              <a:t> // Merge</a:t>
            </a:r>
          </a:p>
        </p:txBody>
      </p:sp>
      <p:sp>
        <p:nvSpPr>
          <p:cNvPr id="50180" name="Rectangle 4"/>
          <p:cNvSpPr>
            <a:spLocks noChangeArrowheads="1"/>
          </p:cNvSpPr>
          <p:nvPr/>
        </p:nvSpPr>
        <p:spPr bwMode="auto">
          <a:xfrm>
            <a:off x="533400" y="2438400"/>
            <a:ext cx="789305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200" b="1">
                <a:solidFill>
                  <a:schemeClr val="accent2"/>
                </a:solidFill>
                <a:ea typeface="楷体_GB2312" charset="0"/>
              </a:rPr>
              <a:t>for </a:t>
            </a:r>
            <a:r>
              <a:rPr lang="en-US" altLang="zh-CN" sz="3200">
                <a:solidFill>
                  <a:schemeClr val="accent2"/>
                </a:solidFill>
                <a:ea typeface="楷体_GB2312" charset="0"/>
              </a:rPr>
              <a:t>(j=m+1, k=i;  i&lt;=m </a:t>
            </a:r>
            <a:r>
              <a:rPr lang="en-US" altLang="zh-CN" sz="3200" b="1">
                <a:solidFill>
                  <a:schemeClr val="accent2"/>
                </a:solidFill>
                <a:ea typeface="楷体_GB2312" charset="0"/>
              </a:rPr>
              <a:t>&amp;&amp;</a:t>
            </a:r>
            <a:r>
              <a:rPr lang="en-US" altLang="zh-CN" sz="3200">
                <a:solidFill>
                  <a:schemeClr val="accent2"/>
                </a:solidFill>
                <a:ea typeface="楷体_GB2312" charset="0"/>
              </a:rPr>
              <a:t> j&lt;=n;  ++k)   </a:t>
            </a:r>
          </a:p>
          <a:p>
            <a:pPr algn="l">
              <a:lnSpc>
                <a:spcPct val="125000"/>
              </a:lnSpc>
            </a:pPr>
            <a:r>
              <a:rPr lang="en-US" altLang="zh-CN" sz="3200">
                <a:solidFill>
                  <a:schemeClr val="accent2"/>
                </a:solidFill>
                <a:ea typeface="楷体_GB2312" charset="0"/>
              </a:rPr>
              <a:t>  </a:t>
            </a:r>
            <a:r>
              <a:rPr lang="en-US" altLang="zh-CN" sz="3200" b="1">
                <a:solidFill>
                  <a:schemeClr val="accent2"/>
                </a:solidFill>
                <a:ea typeface="楷体_GB2312" charset="0"/>
              </a:rPr>
              <a:t>{     </a:t>
            </a:r>
            <a:r>
              <a:rPr lang="en-US" altLang="zh-CN" sz="3200">
                <a:solidFill>
                  <a:schemeClr val="accent2"/>
                </a:solidFill>
                <a:ea typeface="楷体_GB2312" charset="0"/>
              </a:rPr>
              <a:t>              </a:t>
            </a:r>
            <a:r>
              <a:rPr lang="en-US" altLang="zh-CN" sz="2800">
                <a:solidFill>
                  <a:schemeClr val="accent2"/>
                </a:solidFill>
                <a:ea typeface="楷体_GB2312" charset="0"/>
              </a:rPr>
              <a:t>// </a:t>
            </a:r>
            <a:r>
              <a:rPr lang="zh-CN" altLang="en-US" sz="2800">
                <a:solidFill>
                  <a:schemeClr val="accent2"/>
                </a:solidFill>
                <a:ea typeface="楷体_GB2312" charset="0"/>
              </a:rPr>
              <a:t>将</a:t>
            </a:r>
            <a:r>
              <a:rPr lang="en-US" altLang="zh-CN" sz="2800">
                <a:solidFill>
                  <a:schemeClr val="accent2"/>
                </a:solidFill>
                <a:ea typeface="楷体_GB2312" charset="0"/>
              </a:rPr>
              <a:t>SR</a:t>
            </a:r>
            <a:r>
              <a:rPr lang="zh-CN" altLang="en-US" sz="2800">
                <a:solidFill>
                  <a:schemeClr val="accent2"/>
                </a:solidFill>
                <a:ea typeface="楷体_GB2312" charset="0"/>
              </a:rPr>
              <a:t>中记录由小到大地并入</a:t>
            </a:r>
            <a:r>
              <a:rPr lang="en-US" altLang="zh-CN" sz="2800">
                <a:solidFill>
                  <a:schemeClr val="accent2"/>
                </a:solidFill>
                <a:ea typeface="楷体_GB2312" charset="0"/>
              </a:rPr>
              <a:t>TR</a:t>
            </a:r>
          </a:p>
          <a:p>
            <a:pPr algn="l">
              <a:lnSpc>
                <a:spcPct val="125000"/>
              </a:lnSpc>
            </a:pPr>
            <a:r>
              <a:rPr lang="en-US" altLang="zh-CN" sz="3200">
                <a:solidFill>
                  <a:schemeClr val="accent2"/>
                </a:solidFill>
                <a:ea typeface="楷体_GB2312" charset="0"/>
              </a:rPr>
              <a:t>    </a:t>
            </a:r>
            <a:r>
              <a:rPr lang="en-US" altLang="zh-CN" sz="3200" b="1">
                <a:solidFill>
                  <a:schemeClr val="accent2"/>
                </a:solidFill>
                <a:ea typeface="楷体_GB2312" charset="0"/>
              </a:rPr>
              <a:t>if</a:t>
            </a:r>
            <a:r>
              <a:rPr lang="en-US" altLang="zh-CN" sz="3200">
                <a:solidFill>
                  <a:schemeClr val="accent2"/>
                </a:solidFill>
                <a:ea typeface="楷体_GB2312" charset="0"/>
              </a:rPr>
              <a:t> (SR[i].key</a:t>
            </a:r>
            <a:r>
              <a:rPr lang="en-US" altLang="zh-CN" sz="3200" b="1">
                <a:solidFill>
                  <a:schemeClr val="accent2"/>
                </a:solidFill>
                <a:ea typeface="楷体_GB2312" charset="0"/>
              </a:rPr>
              <a:t>&lt;=</a:t>
            </a:r>
            <a:r>
              <a:rPr lang="en-US" altLang="zh-CN" sz="3200">
                <a:solidFill>
                  <a:schemeClr val="accent2"/>
                </a:solidFill>
                <a:ea typeface="楷体_GB2312" charset="0"/>
              </a:rPr>
              <a:t>SR[j].key)  TR[k] = SR[i</a:t>
            </a:r>
            <a:r>
              <a:rPr lang="en-US" altLang="zh-CN" sz="3200" b="1">
                <a:solidFill>
                  <a:schemeClr val="accent2"/>
                </a:solidFill>
                <a:ea typeface="楷体_GB2312" charset="0"/>
              </a:rPr>
              <a:t>++</a:t>
            </a:r>
            <a:r>
              <a:rPr lang="en-US" altLang="zh-CN" sz="3200">
                <a:solidFill>
                  <a:schemeClr val="accent2"/>
                </a:solidFill>
                <a:ea typeface="楷体_GB2312" charset="0"/>
              </a:rPr>
              <a:t>];</a:t>
            </a:r>
          </a:p>
          <a:p>
            <a:pPr algn="l">
              <a:lnSpc>
                <a:spcPct val="125000"/>
              </a:lnSpc>
            </a:pPr>
            <a:r>
              <a:rPr lang="en-US" altLang="zh-CN" sz="3200">
                <a:solidFill>
                  <a:schemeClr val="accent2"/>
                </a:solidFill>
                <a:ea typeface="楷体_GB2312" charset="0"/>
              </a:rPr>
              <a:t>    </a:t>
            </a:r>
            <a:r>
              <a:rPr lang="en-US" altLang="zh-CN" sz="3200" b="1">
                <a:solidFill>
                  <a:schemeClr val="accent2"/>
                </a:solidFill>
                <a:ea typeface="楷体_GB2312" charset="0"/>
              </a:rPr>
              <a:t>else</a:t>
            </a:r>
            <a:r>
              <a:rPr lang="en-US" altLang="zh-CN" sz="3200">
                <a:solidFill>
                  <a:schemeClr val="accent2"/>
                </a:solidFill>
                <a:ea typeface="楷体_GB2312" charset="0"/>
              </a:rPr>
              <a:t> TR[k] = SR[j</a:t>
            </a:r>
            <a:r>
              <a:rPr lang="en-US" altLang="zh-CN" sz="3200" b="1">
                <a:solidFill>
                  <a:schemeClr val="accent2"/>
                </a:solidFill>
                <a:ea typeface="楷体_GB2312" charset="0"/>
              </a:rPr>
              <a:t>++</a:t>
            </a:r>
            <a:r>
              <a:rPr lang="en-US" altLang="zh-CN" sz="3200">
                <a:solidFill>
                  <a:schemeClr val="accent2"/>
                </a:solidFill>
                <a:ea typeface="楷体_GB2312" charset="0"/>
              </a:rPr>
              <a:t>];</a:t>
            </a:r>
          </a:p>
          <a:p>
            <a:pPr algn="l">
              <a:lnSpc>
                <a:spcPct val="125000"/>
              </a:lnSpc>
            </a:pPr>
            <a:r>
              <a:rPr lang="en-US" altLang="zh-CN" sz="3200">
                <a:solidFill>
                  <a:schemeClr val="accent2"/>
                </a:solidFill>
                <a:ea typeface="楷体_GB2312" charset="0"/>
              </a:rPr>
              <a:t>  </a:t>
            </a:r>
            <a:r>
              <a:rPr lang="en-US" altLang="zh-CN" sz="3200" b="1">
                <a:solidFill>
                  <a:schemeClr val="accent2"/>
                </a:solidFill>
                <a:ea typeface="楷体_GB2312" charset="0"/>
              </a:rPr>
              <a:t>}</a:t>
            </a:r>
            <a:endParaRPr lang="en-US" altLang="zh-CN" sz="2800">
              <a:ea typeface="楷体_GB2312" charset="0"/>
            </a:endParaRPr>
          </a:p>
        </p:txBody>
      </p:sp>
      <p:sp>
        <p:nvSpPr>
          <p:cNvPr id="50183" name="Text Box 7">
            <a:hlinkClick r:id="" action="ppaction://hlinkshowjump?jump=nextslide"/>
          </p:cNvPr>
          <p:cNvSpPr txBox="1">
            <a:spLocks noChangeArrowheads="1"/>
          </p:cNvSpPr>
          <p:nvPr/>
        </p:nvSpPr>
        <p:spPr bwMode="auto">
          <a:xfrm>
            <a:off x="517525" y="54546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t>       </a:t>
            </a:r>
            <a:r>
              <a:rPr lang="en-US" altLang="zh-CN" sz="3600" b="1">
                <a:solidFill>
                  <a:srgbClr val="003366"/>
                </a:solidFill>
              </a:rPr>
              <a:t>…   …</a:t>
            </a:r>
            <a:r>
              <a:rPr lang="en-US" altLang="zh-CN" sz="3600" b="1"/>
              <a:t>                </a:t>
            </a:r>
            <a:endParaRPr lang="en-US" altLang="zh-CN" sz="3600"/>
          </a:p>
        </p:txBody>
      </p:sp>
      <p:sp>
        <p:nvSpPr>
          <p:cNvPr id="50185" name="AutoShape 9">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413054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strips(downRight)">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wipe(left)">
                                      <p:cBhvr>
                                        <p:cTn id="12" dur="500"/>
                                        <p:tgtEl>
                                          <p:spTgt spid="501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83"/>
                                        </p:tgtEl>
                                        <p:attrNameLst>
                                          <p:attrName>style.visibility</p:attrName>
                                        </p:attrNameLst>
                                      </p:cBhvr>
                                      <p:to>
                                        <p:strVal val="visible"/>
                                      </p:to>
                                    </p:set>
                                    <p:animEffect transition="in" filter="wipe(left)">
                                      <p:cBhvr>
                                        <p:cTn id="17" dur="500"/>
                                        <p:tgtEl>
                                          <p:spTgt spid="50183"/>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50185"/>
                                        </p:tgtEl>
                                        <p:attrNameLst>
                                          <p:attrName>style.visibility</p:attrName>
                                        </p:attrNameLst>
                                      </p:cBhvr>
                                      <p:to>
                                        <p:strVal val="visible"/>
                                      </p:to>
                                    </p:set>
                                    <p:anim calcmode="lin" valueType="num">
                                      <p:cBhvr additive="base">
                                        <p:cTn id="21" dur="500" fill="hold"/>
                                        <p:tgtEl>
                                          <p:spTgt spid="50185"/>
                                        </p:tgtEl>
                                        <p:attrNameLst>
                                          <p:attrName>ppt_x</p:attrName>
                                        </p:attrNameLst>
                                      </p:cBhvr>
                                      <p:tavLst>
                                        <p:tav tm="0">
                                          <p:val>
                                            <p:strVal val="1+#ppt_w/2"/>
                                          </p:val>
                                        </p:tav>
                                        <p:tav tm="100000">
                                          <p:val>
                                            <p:strVal val="#ppt_x"/>
                                          </p:val>
                                        </p:tav>
                                      </p:tavLst>
                                    </p:anim>
                                    <p:anim calcmode="lin" valueType="num">
                                      <p:cBhvr additive="base">
                                        <p:cTn id="22" dur="500" fill="hold"/>
                                        <p:tgtEl>
                                          <p:spTgt spid="50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utoUpdateAnimBg="0"/>
      <p:bldP spid="50180" grpId="0" autoUpdateAnimBg="0"/>
      <p:bldP spid="50183" grpId="0" autoUpdateAnimBg="0"/>
      <p:bldP spid="5018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609600" y="1235075"/>
            <a:ext cx="81978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en-US" altLang="zh-CN" sz="3600" b="1">
                <a:solidFill>
                  <a:srgbClr val="990000"/>
                </a:solidFill>
                <a:ea typeface="楷体_GB2312" charset="0"/>
              </a:rPr>
              <a:t>if</a:t>
            </a:r>
            <a:r>
              <a:rPr lang="en-US" altLang="zh-CN" sz="3600">
                <a:solidFill>
                  <a:srgbClr val="990000"/>
                </a:solidFill>
                <a:ea typeface="楷体_GB2312" charset="0"/>
              </a:rPr>
              <a:t> (i</a:t>
            </a:r>
            <a:r>
              <a:rPr lang="en-US" altLang="zh-CN" sz="3600" b="1">
                <a:solidFill>
                  <a:srgbClr val="990000"/>
                </a:solidFill>
                <a:ea typeface="楷体_GB2312" charset="0"/>
              </a:rPr>
              <a:t>&lt;=</a:t>
            </a:r>
            <a:r>
              <a:rPr lang="en-US" altLang="zh-CN" sz="3600">
                <a:solidFill>
                  <a:srgbClr val="990000"/>
                </a:solidFill>
                <a:ea typeface="楷体_GB2312" charset="0"/>
              </a:rPr>
              <a:t>m) TR[k..n] = SR[i..m];</a:t>
            </a:r>
          </a:p>
          <a:p>
            <a:pPr algn="l">
              <a:lnSpc>
                <a:spcPct val="150000"/>
              </a:lnSpc>
            </a:pPr>
            <a:r>
              <a:rPr lang="en-US" altLang="zh-CN" sz="3600">
                <a:solidFill>
                  <a:srgbClr val="990000"/>
                </a:solidFill>
                <a:ea typeface="楷体_GB2312" charset="0"/>
              </a:rPr>
              <a:t>                 // </a:t>
            </a:r>
            <a:r>
              <a:rPr lang="zh-CN" altLang="en-US" sz="3600">
                <a:solidFill>
                  <a:srgbClr val="990000"/>
                </a:solidFill>
                <a:ea typeface="楷体_GB2312" charset="0"/>
              </a:rPr>
              <a:t>将剩余的 </a:t>
            </a:r>
            <a:r>
              <a:rPr lang="en-US" altLang="zh-CN" sz="3600">
                <a:solidFill>
                  <a:srgbClr val="990000"/>
                </a:solidFill>
                <a:ea typeface="楷体_GB2312" charset="0"/>
              </a:rPr>
              <a:t>SR[i..m] </a:t>
            </a:r>
            <a:r>
              <a:rPr lang="zh-CN" altLang="en-US" sz="3600">
                <a:solidFill>
                  <a:srgbClr val="990000"/>
                </a:solidFill>
                <a:ea typeface="楷体_GB2312" charset="0"/>
              </a:rPr>
              <a:t>复制到 </a:t>
            </a:r>
            <a:r>
              <a:rPr lang="en-US" altLang="zh-CN" sz="3600">
                <a:solidFill>
                  <a:srgbClr val="990000"/>
                </a:solidFill>
                <a:ea typeface="楷体_GB2312" charset="0"/>
              </a:rPr>
              <a:t>TR</a:t>
            </a:r>
          </a:p>
        </p:txBody>
      </p:sp>
      <p:sp>
        <p:nvSpPr>
          <p:cNvPr id="133123" name="Rectangle 3"/>
          <p:cNvSpPr>
            <a:spLocks noChangeArrowheads="1"/>
          </p:cNvSpPr>
          <p:nvPr/>
        </p:nvSpPr>
        <p:spPr bwMode="auto">
          <a:xfrm>
            <a:off x="609600" y="3444875"/>
            <a:ext cx="818515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en-US" altLang="zh-CN" sz="3600" b="1">
                <a:solidFill>
                  <a:srgbClr val="990000"/>
                </a:solidFill>
                <a:ea typeface="楷体_GB2312" charset="0"/>
              </a:rPr>
              <a:t>if</a:t>
            </a:r>
            <a:r>
              <a:rPr lang="en-US" altLang="zh-CN" sz="3600">
                <a:solidFill>
                  <a:srgbClr val="990000"/>
                </a:solidFill>
                <a:ea typeface="楷体_GB2312" charset="0"/>
              </a:rPr>
              <a:t> (j</a:t>
            </a:r>
            <a:r>
              <a:rPr lang="en-US" altLang="zh-CN" sz="3600" b="1">
                <a:solidFill>
                  <a:srgbClr val="990000"/>
                </a:solidFill>
                <a:ea typeface="楷体_GB2312" charset="0"/>
              </a:rPr>
              <a:t>&lt;=</a:t>
            </a:r>
            <a:r>
              <a:rPr lang="en-US" altLang="zh-CN" sz="3600">
                <a:solidFill>
                  <a:srgbClr val="990000"/>
                </a:solidFill>
                <a:ea typeface="楷体_GB2312" charset="0"/>
              </a:rPr>
              <a:t>n) TR[k..n] = SR[j..n];</a:t>
            </a:r>
          </a:p>
          <a:p>
            <a:pPr algn="l">
              <a:lnSpc>
                <a:spcPct val="150000"/>
              </a:lnSpc>
            </a:pPr>
            <a:r>
              <a:rPr lang="en-US" altLang="zh-CN" sz="3600">
                <a:solidFill>
                  <a:srgbClr val="990000"/>
                </a:solidFill>
                <a:ea typeface="楷体_GB2312" charset="0"/>
              </a:rPr>
              <a:t>                  // </a:t>
            </a:r>
            <a:r>
              <a:rPr lang="zh-CN" altLang="en-US" sz="3600">
                <a:solidFill>
                  <a:srgbClr val="990000"/>
                </a:solidFill>
                <a:ea typeface="楷体_GB2312" charset="0"/>
              </a:rPr>
              <a:t>将剩余的 </a:t>
            </a:r>
            <a:r>
              <a:rPr lang="en-US" altLang="zh-CN" sz="3600">
                <a:solidFill>
                  <a:srgbClr val="990000"/>
                </a:solidFill>
                <a:ea typeface="楷体_GB2312" charset="0"/>
              </a:rPr>
              <a:t>SR[j..n] </a:t>
            </a:r>
            <a:r>
              <a:rPr lang="zh-CN" altLang="en-US" sz="3600">
                <a:solidFill>
                  <a:srgbClr val="990000"/>
                </a:solidFill>
                <a:ea typeface="楷体_GB2312" charset="0"/>
              </a:rPr>
              <a:t>复制到 </a:t>
            </a:r>
            <a:r>
              <a:rPr lang="en-US" altLang="zh-CN" sz="3600">
                <a:solidFill>
                  <a:srgbClr val="990000"/>
                </a:solidFill>
                <a:ea typeface="楷体_GB2312" charset="0"/>
              </a:rPr>
              <a:t>TR</a:t>
            </a:r>
            <a:endParaRPr lang="en-US" altLang="zh-CN" sz="2800">
              <a:solidFill>
                <a:srgbClr val="990000"/>
              </a:solidFill>
              <a:ea typeface="楷体_GB2312" charset="0"/>
            </a:endParaRPr>
          </a:p>
        </p:txBody>
      </p:sp>
      <p:sp>
        <p:nvSpPr>
          <p:cNvPr id="133124" name="AutoShape 4">
            <a:hlinkClick r:id="" action="ppaction://hlinkshowjump?jump=lastslideviewed" highlightClick="1"/>
          </p:cNvPr>
          <p:cNvSpPr>
            <a:spLocks noChangeArrowheads="1"/>
          </p:cNvSpPr>
          <p:nvPr/>
        </p:nvSpPr>
        <p:spPr bwMode="auto">
          <a:xfrm>
            <a:off x="8458200" y="6324600"/>
            <a:ext cx="304800" cy="304800"/>
          </a:xfrm>
          <a:prstGeom prst="actionButtonReturn">
            <a:avLst/>
          </a:prstGeom>
          <a:solidFill>
            <a:srgbClr val="CCFFCC"/>
          </a:solidFill>
          <a:ln w="9525">
            <a:solidFill>
              <a:srgbClr val="009999"/>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853275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533400" y="304800"/>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006666"/>
                </a:solidFill>
                <a:ea typeface="楷体_GB2312" charset="0"/>
              </a:rPr>
              <a:t>归并排序的算法</a:t>
            </a:r>
            <a:endParaRPr lang="zh-CN" altLang="en-US" sz="4000">
              <a:ea typeface="楷体_GB2312" charset="0"/>
            </a:endParaRPr>
          </a:p>
        </p:txBody>
      </p:sp>
      <p:sp>
        <p:nvSpPr>
          <p:cNvPr id="51203" name="Text Box 3"/>
          <p:cNvSpPr txBox="1">
            <a:spLocks noChangeArrowheads="1"/>
          </p:cNvSpPr>
          <p:nvPr/>
        </p:nvSpPr>
        <p:spPr bwMode="auto">
          <a:xfrm>
            <a:off x="441325" y="1143000"/>
            <a:ext cx="832167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en-US" sz="3600">
                <a:solidFill>
                  <a:srgbClr val="000080"/>
                </a:solidFill>
                <a:ea typeface="楷体_GB2312" charset="0"/>
              </a:rPr>
              <a:t>　如果记录无序序列 </a:t>
            </a:r>
            <a:r>
              <a:rPr lang="en-US" altLang="zh-CN" sz="3600">
                <a:solidFill>
                  <a:srgbClr val="000080"/>
                </a:solidFill>
                <a:ea typeface="楷体_GB2312" charset="0"/>
              </a:rPr>
              <a:t>R[s..t] </a:t>
            </a:r>
            <a:r>
              <a:rPr lang="zh-CN" altLang="en-US" sz="3600">
                <a:solidFill>
                  <a:srgbClr val="000080"/>
                </a:solidFill>
                <a:ea typeface="楷体_GB2312" charset="0"/>
              </a:rPr>
              <a:t>的两部分      </a:t>
            </a:r>
          </a:p>
          <a:p>
            <a:pPr algn="l">
              <a:lnSpc>
                <a:spcPct val="140000"/>
              </a:lnSpc>
            </a:pPr>
            <a:r>
              <a:rPr lang="zh-CN" altLang="en-US" sz="3600">
                <a:solidFill>
                  <a:srgbClr val="000080"/>
                </a:solidFill>
                <a:ea typeface="楷体_GB2312" charset="0"/>
              </a:rPr>
              <a:t>     </a:t>
            </a:r>
            <a:r>
              <a:rPr lang="en-US" altLang="zh-CN" sz="3600">
                <a:solidFill>
                  <a:srgbClr val="000080"/>
                </a:solidFill>
                <a:ea typeface="楷体_GB2312" charset="0"/>
              </a:rPr>
              <a:t>R[</a:t>
            </a:r>
            <a:r>
              <a:rPr lang="en-US" altLang="zh-CN" sz="3600" b="1" i="1">
                <a:solidFill>
                  <a:srgbClr val="006666"/>
                </a:solidFill>
                <a:ea typeface="楷体_GB2312" charset="0"/>
              </a:rPr>
              <a:t>s</a:t>
            </a:r>
            <a:r>
              <a:rPr lang="en-US" altLang="zh-CN" sz="3600" b="1">
                <a:solidFill>
                  <a:srgbClr val="006666"/>
                </a:solidFill>
                <a:ea typeface="楷体_GB2312" charset="0"/>
              </a:rPr>
              <a:t>..</a:t>
            </a:r>
            <a:r>
              <a:rPr lang="en-US" altLang="zh-CN" sz="3600" b="1">
                <a:solidFill>
                  <a:srgbClr val="006666"/>
                </a:solidFill>
                <a:ea typeface="楷体_GB2312" charset="0"/>
                <a:sym typeface="Symbol" charset="2"/>
              </a:rPr>
              <a:t></a:t>
            </a:r>
            <a:r>
              <a:rPr lang="en-US" altLang="zh-CN" sz="3600" b="1">
                <a:solidFill>
                  <a:srgbClr val="006666"/>
                </a:solidFill>
                <a:ea typeface="楷体_GB2312" charset="0"/>
              </a:rPr>
              <a:t>(</a:t>
            </a:r>
            <a:r>
              <a:rPr lang="en-US" altLang="zh-CN" sz="3600" b="1" i="1">
                <a:solidFill>
                  <a:srgbClr val="006666"/>
                </a:solidFill>
                <a:ea typeface="楷体_GB2312" charset="0"/>
              </a:rPr>
              <a:t>s+t</a:t>
            </a:r>
            <a:r>
              <a:rPr lang="en-US" altLang="zh-CN" sz="3600" b="1">
                <a:solidFill>
                  <a:srgbClr val="006666"/>
                </a:solidFill>
                <a:ea typeface="楷体_GB2312" charset="0"/>
              </a:rPr>
              <a:t>)/2</a:t>
            </a:r>
            <a:r>
              <a:rPr lang="en-US" altLang="zh-CN" sz="3600" b="1">
                <a:solidFill>
                  <a:srgbClr val="006666"/>
                </a:solidFill>
                <a:ea typeface="楷体_GB2312" charset="0"/>
                <a:sym typeface="Symbol" charset="2"/>
              </a:rPr>
              <a:t></a:t>
            </a:r>
            <a:r>
              <a:rPr lang="en-US" altLang="zh-CN" sz="3600">
                <a:solidFill>
                  <a:srgbClr val="000080"/>
                </a:solidFill>
                <a:ea typeface="楷体_GB2312" charset="0"/>
              </a:rPr>
              <a:t>]   </a:t>
            </a:r>
            <a:r>
              <a:rPr lang="zh-CN" altLang="en-US" sz="3600">
                <a:solidFill>
                  <a:srgbClr val="000080"/>
                </a:solidFill>
                <a:ea typeface="楷体_GB2312" charset="0"/>
              </a:rPr>
              <a:t>和   </a:t>
            </a:r>
            <a:r>
              <a:rPr lang="en-US" altLang="zh-CN" sz="3600">
                <a:solidFill>
                  <a:srgbClr val="000080"/>
                </a:solidFill>
                <a:ea typeface="楷体_GB2312" charset="0"/>
              </a:rPr>
              <a:t>R[</a:t>
            </a:r>
            <a:r>
              <a:rPr lang="en-US" altLang="zh-CN" sz="3600" b="1">
                <a:solidFill>
                  <a:srgbClr val="006666"/>
                </a:solidFill>
                <a:ea typeface="楷体_GB2312" charset="0"/>
                <a:sym typeface="Symbol" charset="2"/>
              </a:rPr>
              <a:t></a:t>
            </a:r>
            <a:r>
              <a:rPr lang="en-US" altLang="zh-CN" sz="3600" b="1">
                <a:solidFill>
                  <a:srgbClr val="006666"/>
                </a:solidFill>
                <a:ea typeface="楷体_GB2312" charset="0"/>
              </a:rPr>
              <a:t>(</a:t>
            </a:r>
            <a:r>
              <a:rPr lang="en-US" altLang="zh-CN" sz="3600" b="1" i="1">
                <a:solidFill>
                  <a:srgbClr val="006666"/>
                </a:solidFill>
                <a:ea typeface="楷体_GB2312" charset="0"/>
              </a:rPr>
              <a:t>s+t</a:t>
            </a:r>
            <a:r>
              <a:rPr lang="en-US" altLang="zh-CN" sz="3600" b="1">
                <a:solidFill>
                  <a:srgbClr val="006666"/>
                </a:solidFill>
                <a:ea typeface="楷体_GB2312" charset="0"/>
              </a:rPr>
              <a:t>)/2</a:t>
            </a:r>
            <a:r>
              <a:rPr lang="en-US" altLang="zh-CN" sz="3600" b="1">
                <a:solidFill>
                  <a:srgbClr val="006666"/>
                </a:solidFill>
                <a:ea typeface="楷体_GB2312" charset="0"/>
                <a:sym typeface="Symbol" charset="2"/>
              </a:rPr>
              <a:t>+1..</a:t>
            </a:r>
            <a:r>
              <a:rPr lang="en-US" altLang="zh-CN" sz="3600" b="1" i="1">
                <a:solidFill>
                  <a:srgbClr val="006666"/>
                </a:solidFill>
                <a:ea typeface="楷体_GB2312" charset="0"/>
                <a:sym typeface="Symbol" charset="2"/>
              </a:rPr>
              <a:t>t</a:t>
            </a:r>
            <a:r>
              <a:rPr lang="en-US" altLang="zh-CN" sz="3600">
                <a:solidFill>
                  <a:srgbClr val="000080"/>
                </a:solidFill>
                <a:ea typeface="楷体_GB2312" charset="0"/>
                <a:sym typeface="Symbol" charset="2"/>
              </a:rPr>
              <a:t>]</a:t>
            </a:r>
          </a:p>
          <a:p>
            <a:pPr algn="l">
              <a:lnSpc>
                <a:spcPct val="140000"/>
              </a:lnSpc>
            </a:pPr>
            <a:r>
              <a:rPr lang="zh-CN" altLang="en-US" sz="3600">
                <a:solidFill>
                  <a:srgbClr val="000080"/>
                </a:solidFill>
                <a:ea typeface="楷体_GB2312" charset="0"/>
              </a:rPr>
              <a:t>分别按关键字有序，</a:t>
            </a:r>
          </a:p>
          <a:p>
            <a:pPr algn="l">
              <a:lnSpc>
                <a:spcPct val="140000"/>
              </a:lnSpc>
            </a:pPr>
            <a:r>
              <a:rPr lang="zh-CN" altLang="en-US" sz="3600">
                <a:solidFill>
                  <a:srgbClr val="000080"/>
                </a:solidFill>
                <a:ea typeface="楷体_GB2312" charset="0"/>
              </a:rPr>
              <a:t>则利用上述归并算法很容易将它们归并成整个记录序列是一个有序序列。</a:t>
            </a:r>
            <a:endParaRPr lang="zh-CN" altLang="en-US" sz="3600">
              <a:solidFill>
                <a:srgbClr val="FF0000"/>
              </a:solidFill>
              <a:ea typeface="楷体_GB2312" charset="0"/>
            </a:endParaRPr>
          </a:p>
        </p:txBody>
      </p:sp>
      <p:sp>
        <p:nvSpPr>
          <p:cNvPr id="51204" name="Rectangle 4"/>
          <p:cNvSpPr>
            <a:spLocks noChangeArrowheads="1"/>
          </p:cNvSpPr>
          <p:nvPr/>
        </p:nvSpPr>
        <p:spPr bwMode="auto">
          <a:xfrm>
            <a:off x="533400" y="4953000"/>
            <a:ext cx="800100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a:solidFill>
                  <a:srgbClr val="FF0000"/>
                </a:solidFill>
                <a:ea typeface="楷体_GB2312" charset="0"/>
              </a:rPr>
              <a:t>     </a:t>
            </a:r>
            <a:r>
              <a:rPr lang="zh-CN" altLang="en-US" sz="3600">
                <a:solidFill>
                  <a:srgbClr val="FF0000"/>
                </a:solidFill>
                <a:ea typeface="楷体_GB2312" charset="0"/>
              </a:rPr>
              <a:t>由此，应该先分别对这两部分进行 </a:t>
            </a:r>
            <a:r>
              <a:rPr lang="en-US" altLang="zh-CN" sz="3600">
                <a:solidFill>
                  <a:srgbClr val="FF0000"/>
                </a:solidFill>
                <a:ea typeface="楷体_GB2312" charset="0"/>
              </a:rPr>
              <a:t>2-</a:t>
            </a:r>
            <a:r>
              <a:rPr lang="zh-CN" altLang="en-US" sz="3600">
                <a:solidFill>
                  <a:srgbClr val="FF0000"/>
                </a:solidFill>
                <a:ea typeface="楷体_GB2312" charset="0"/>
              </a:rPr>
              <a:t>路归并排序。</a:t>
            </a:r>
          </a:p>
        </p:txBody>
      </p:sp>
    </p:spTree>
    <p:extLst>
      <p:ext uri="{BB962C8B-B14F-4D97-AF65-F5344CB8AC3E}">
        <p14:creationId xmlns:p14="http://schemas.microsoft.com/office/powerpoint/2010/main" val="11940491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0-#ppt_w/2"/>
                                          </p:val>
                                        </p:tav>
                                        <p:tav tm="100000">
                                          <p:val>
                                            <p:strVal val="#ppt_x"/>
                                          </p:val>
                                        </p:tav>
                                      </p:tavLst>
                                    </p:anim>
                                    <p:anim calcmode="lin" valueType="num">
                                      <p:cBhvr additive="base">
                                        <p:cTn id="8" dur="500" fill="hold"/>
                                        <p:tgtEl>
                                          <p:spTgt spid="5120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iterate type="wd">
                                    <p:tmPct val="100000"/>
                                  </p:iterate>
                                  <p:childTnLst>
                                    <p:set>
                                      <p:cBhvr>
                                        <p:cTn id="12" dur="1" fill="hold">
                                          <p:stCondLst>
                                            <p:cond delay="0"/>
                                          </p:stCondLst>
                                        </p:cTn>
                                        <p:tgtEl>
                                          <p:spTgt spid="51203"/>
                                        </p:tgtEl>
                                        <p:attrNameLst>
                                          <p:attrName>style.visibility</p:attrName>
                                        </p:attrNameLst>
                                      </p:cBhvr>
                                      <p:to>
                                        <p:strVal val="visible"/>
                                      </p:to>
                                    </p:set>
                                    <p:animEffect transition="in" filter="strips(downRight)">
                                      <p:cBhvr>
                                        <p:cTn id="13" dur="300"/>
                                        <p:tgtEl>
                                          <p:spTgt spid="5120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1204"/>
                                        </p:tgtEl>
                                        <p:attrNameLst>
                                          <p:attrName>style.visibility</p:attrName>
                                        </p:attrNameLst>
                                      </p:cBhvr>
                                      <p:to>
                                        <p:strVal val="visible"/>
                                      </p:to>
                                    </p:set>
                                    <p:animEffect transition="in" filter="wipe(left)">
                                      <p:cBhvr>
                                        <p:cTn id="18"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3" grpId="0" autoUpdateAnimBg="0"/>
      <p:bldP spid="51204"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288925" y="39688"/>
            <a:ext cx="1722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zh-CN" sz="4000" b="1">
                <a:solidFill>
                  <a:schemeClr val="accent2"/>
                </a:solidFill>
                <a:ea typeface="隶书" charset="0"/>
              </a:rPr>
              <a:t>例如：</a:t>
            </a:r>
            <a:endParaRPr lang="zh-CN" altLang="en-US"/>
          </a:p>
        </p:txBody>
      </p:sp>
      <p:sp>
        <p:nvSpPr>
          <p:cNvPr id="118787" name="Text Box 3"/>
          <p:cNvSpPr txBox="1">
            <a:spLocks noChangeArrowheads="1"/>
          </p:cNvSpPr>
          <p:nvPr/>
        </p:nvSpPr>
        <p:spPr bwMode="auto">
          <a:xfrm>
            <a:off x="1239838" y="730250"/>
            <a:ext cx="7366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t>52,  23,  80,     36,  68,  14     (s=1, t=6)</a:t>
            </a:r>
          </a:p>
        </p:txBody>
      </p:sp>
      <p:sp>
        <p:nvSpPr>
          <p:cNvPr id="118788" name="Text Box 4"/>
          <p:cNvSpPr txBox="1">
            <a:spLocks noChangeArrowheads="1"/>
          </p:cNvSpPr>
          <p:nvPr/>
        </p:nvSpPr>
        <p:spPr bwMode="auto">
          <a:xfrm>
            <a:off x="990600" y="1520825"/>
            <a:ext cx="54038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t>[ 52,  23,  80]</a:t>
            </a:r>
            <a:r>
              <a:rPr lang="en-US" altLang="zh-CN" sz="4000"/>
              <a:t>   </a:t>
            </a:r>
            <a:r>
              <a:rPr lang="en-US" altLang="zh-CN" sz="3600">
                <a:solidFill>
                  <a:schemeClr val="accent1"/>
                </a:solidFill>
              </a:rPr>
              <a:t>[36,  68,  14]</a:t>
            </a:r>
            <a:endParaRPr lang="en-US" altLang="zh-CN"/>
          </a:p>
        </p:txBody>
      </p:sp>
      <p:sp>
        <p:nvSpPr>
          <p:cNvPr id="118789" name="Text Box 5"/>
          <p:cNvSpPr txBox="1">
            <a:spLocks noChangeArrowheads="1"/>
          </p:cNvSpPr>
          <p:nvPr/>
        </p:nvSpPr>
        <p:spPr bwMode="auto">
          <a:xfrm>
            <a:off x="990600" y="2393950"/>
            <a:ext cx="2622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t>[ 52,  23]</a:t>
            </a:r>
            <a:r>
              <a:rPr lang="en-US" altLang="zh-CN" sz="3600">
                <a:solidFill>
                  <a:schemeClr val="accent1"/>
                </a:solidFill>
              </a:rPr>
              <a:t>[80]</a:t>
            </a:r>
            <a:endParaRPr lang="en-US" altLang="zh-CN" sz="4000"/>
          </a:p>
        </p:txBody>
      </p:sp>
      <p:sp>
        <p:nvSpPr>
          <p:cNvPr id="118790" name="Text Box 6"/>
          <p:cNvSpPr txBox="1">
            <a:spLocks noChangeArrowheads="1"/>
          </p:cNvSpPr>
          <p:nvPr/>
        </p:nvSpPr>
        <p:spPr bwMode="auto">
          <a:xfrm>
            <a:off x="990600" y="3184525"/>
            <a:ext cx="1143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a:t>[ 52]</a:t>
            </a:r>
            <a:endParaRPr lang="en-US" altLang="zh-CN"/>
          </a:p>
        </p:txBody>
      </p:sp>
      <p:sp>
        <p:nvSpPr>
          <p:cNvPr id="118791" name="Text Box 7"/>
          <p:cNvSpPr txBox="1">
            <a:spLocks noChangeArrowheads="1"/>
          </p:cNvSpPr>
          <p:nvPr/>
        </p:nvSpPr>
        <p:spPr bwMode="auto">
          <a:xfrm>
            <a:off x="990600" y="4086225"/>
            <a:ext cx="1860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rPr>
              <a:t>[ 23,  52]</a:t>
            </a:r>
            <a:endParaRPr lang="en-US" altLang="zh-CN" sz="4000"/>
          </a:p>
        </p:txBody>
      </p:sp>
      <p:sp>
        <p:nvSpPr>
          <p:cNvPr id="118792" name="Text Box 8"/>
          <p:cNvSpPr txBox="1">
            <a:spLocks noChangeArrowheads="1"/>
          </p:cNvSpPr>
          <p:nvPr/>
        </p:nvSpPr>
        <p:spPr bwMode="auto">
          <a:xfrm>
            <a:off x="990600" y="4908550"/>
            <a:ext cx="266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9900CC"/>
                </a:solidFill>
              </a:rPr>
              <a:t>[</a:t>
            </a:r>
            <a:r>
              <a:rPr lang="en-US" altLang="zh-CN" sz="3600"/>
              <a:t> </a:t>
            </a:r>
            <a:r>
              <a:rPr lang="en-US" altLang="zh-CN" sz="3600">
                <a:solidFill>
                  <a:srgbClr val="9900CC"/>
                </a:solidFill>
              </a:rPr>
              <a:t>23,  52,  80]</a:t>
            </a:r>
            <a:endParaRPr lang="en-US" altLang="zh-CN"/>
          </a:p>
        </p:txBody>
      </p:sp>
      <p:sp>
        <p:nvSpPr>
          <p:cNvPr id="118793" name="Text Box 9"/>
          <p:cNvSpPr txBox="1">
            <a:spLocks noChangeArrowheads="1"/>
          </p:cNvSpPr>
          <p:nvPr/>
        </p:nvSpPr>
        <p:spPr bwMode="auto">
          <a:xfrm>
            <a:off x="3886200" y="2393950"/>
            <a:ext cx="2508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t>[36,  68]</a:t>
            </a:r>
            <a:r>
              <a:rPr lang="en-US" altLang="zh-CN" sz="3600">
                <a:solidFill>
                  <a:schemeClr val="accent1"/>
                </a:solidFill>
              </a:rPr>
              <a:t>[14]</a:t>
            </a:r>
            <a:endParaRPr lang="en-US" altLang="zh-CN"/>
          </a:p>
        </p:txBody>
      </p:sp>
      <p:sp>
        <p:nvSpPr>
          <p:cNvPr id="118794" name="Text Box 10"/>
          <p:cNvSpPr txBox="1">
            <a:spLocks noChangeArrowheads="1"/>
          </p:cNvSpPr>
          <p:nvPr/>
        </p:nvSpPr>
        <p:spPr bwMode="auto">
          <a:xfrm>
            <a:off x="3886200" y="3200400"/>
            <a:ext cx="170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t>[36]</a:t>
            </a:r>
            <a:r>
              <a:rPr lang="en-US" altLang="zh-CN" sz="3600">
                <a:solidFill>
                  <a:schemeClr val="accent1"/>
                </a:solidFill>
              </a:rPr>
              <a:t>[68]</a:t>
            </a:r>
            <a:endParaRPr lang="en-US" altLang="zh-CN" sz="4000"/>
          </a:p>
        </p:txBody>
      </p:sp>
      <p:sp>
        <p:nvSpPr>
          <p:cNvPr id="118795" name="Text Box 11"/>
          <p:cNvSpPr txBox="1">
            <a:spLocks noChangeArrowheads="1"/>
          </p:cNvSpPr>
          <p:nvPr/>
        </p:nvSpPr>
        <p:spPr bwMode="auto">
          <a:xfrm>
            <a:off x="3870325" y="4070350"/>
            <a:ext cx="1746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rPr>
              <a:t>[36,  68]</a:t>
            </a:r>
            <a:endParaRPr lang="en-US" altLang="zh-CN" sz="4000"/>
          </a:p>
        </p:txBody>
      </p:sp>
      <p:sp>
        <p:nvSpPr>
          <p:cNvPr id="118796" name="Text Box 12"/>
          <p:cNvSpPr txBox="1">
            <a:spLocks noChangeArrowheads="1"/>
          </p:cNvSpPr>
          <p:nvPr/>
        </p:nvSpPr>
        <p:spPr bwMode="auto">
          <a:xfrm>
            <a:off x="3870325" y="4921250"/>
            <a:ext cx="2546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9900CC"/>
                </a:solidFill>
              </a:rPr>
              <a:t>[14,  36,  68]</a:t>
            </a:r>
            <a:endParaRPr lang="en-US" altLang="zh-CN" sz="4000"/>
          </a:p>
        </p:txBody>
      </p:sp>
      <p:sp>
        <p:nvSpPr>
          <p:cNvPr id="118797" name="Text Box 13"/>
          <p:cNvSpPr txBox="1">
            <a:spLocks noChangeArrowheads="1"/>
          </p:cNvSpPr>
          <p:nvPr/>
        </p:nvSpPr>
        <p:spPr bwMode="auto">
          <a:xfrm>
            <a:off x="990600" y="5746750"/>
            <a:ext cx="5175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660066"/>
                </a:solidFill>
              </a:rPr>
              <a:t>[ 14,  23,  36,  52,  68,  80 ]</a:t>
            </a:r>
            <a:endParaRPr lang="en-US" altLang="zh-CN">
              <a:solidFill>
                <a:srgbClr val="660066"/>
              </a:solidFill>
            </a:endParaRPr>
          </a:p>
        </p:txBody>
      </p:sp>
      <p:sp>
        <p:nvSpPr>
          <p:cNvPr id="118798" name="Text Box 14"/>
          <p:cNvSpPr txBox="1">
            <a:spLocks noChangeArrowheads="1"/>
          </p:cNvSpPr>
          <p:nvPr/>
        </p:nvSpPr>
        <p:spPr bwMode="auto">
          <a:xfrm>
            <a:off x="1965325" y="3200400"/>
            <a:ext cx="946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chemeClr val="accent1"/>
                </a:solidFill>
              </a:rPr>
              <a:t>[23]</a:t>
            </a:r>
            <a:endParaRPr lang="en-US" altLang="zh-CN" sz="3600"/>
          </a:p>
        </p:txBody>
      </p:sp>
      <p:sp>
        <p:nvSpPr>
          <p:cNvPr id="118799" name="Line 15"/>
          <p:cNvSpPr>
            <a:spLocks noChangeShapeType="1"/>
          </p:cNvSpPr>
          <p:nvPr/>
        </p:nvSpPr>
        <p:spPr bwMode="auto">
          <a:xfrm>
            <a:off x="1524000" y="38100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0" name="Line 16"/>
          <p:cNvSpPr>
            <a:spLocks noChangeShapeType="1"/>
          </p:cNvSpPr>
          <p:nvPr/>
        </p:nvSpPr>
        <p:spPr bwMode="auto">
          <a:xfrm flipH="1">
            <a:off x="2057400" y="38100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1" name="Line 17"/>
          <p:cNvSpPr>
            <a:spLocks noChangeShapeType="1"/>
          </p:cNvSpPr>
          <p:nvPr/>
        </p:nvSpPr>
        <p:spPr bwMode="auto">
          <a:xfrm>
            <a:off x="1981200" y="46482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2" name="Line 18"/>
          <p:cNvSpPr>
            <a:spLocks noChangeShapeType="1"/>
          </p:cNvSpPr>
          <p:nvPr/>
        </p:nvSpPr>
        <p:spPr bwMode="auto">
          <a:xfrm>
            <a:off x="3124200" y="2971800"/>
            <a:ext cx="0" cy="1981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3" name="Line 19"/>
          <p:cNvSpPr>
            <a:spLocks noChangeShapeType="1"/>
          </p:cNvSpPr>
          <p:nvPr/>
        </p:nvSpPr>
        <p:spPr bwMode="auto">
          <a:xfrm>
            <a:off x="4343400" y="38100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4" name="Line 20"/>
          <p:cNvSpPr>
            <a:spLocks noChangeShapeType="1"/>
          </p:cNvSpPr>
          <p:nvPr/>
        </p:nvSpPr>
        <p:spPr bwMode="auto">
          <a:xfrm flipH="1">
            <a:off x="4876800" y="38100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5" name="Line 21"/>
          <p:cNvSpPr>
            <a:spLocks noChangeShapeType="1"/>
          </p:cNvSpPr>
          <p:nvPr/>
        </p:nvSpPr>
        <p:spPr bwMode="auto">
          <a:xfrm>
            <a:off x="4800600" y="4648200"/>
            <a:ext cx="304800" cy="3048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6" name="Line 22"/>
          <p:cNvSpPr>
            <a:spLocks noChangeShapeType="1"/>
          </p:cNvSpPr>
          <p:nvPr/>
        </p:nvSpPr>
        <p:spPr bwMode="auto">
          <a:xfrm>
            <a:off x="5943600" y="2971800"/>
            <a:ext cx="0" cy="1981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7" name="Line 23"/>
          <p:cNvSpPr>
            <a:spLocks noChangeShapeType="1"/>
          </p:cNvSpPr>
          <p:nvPr/>
        </p:nvSpPr>
        <p:spPr bwMode="auto">
          <a:xfrm>
            <a:off x="2438400" y="5410200"/>
            <a:ext cx="68580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8808" name="Line 24"/>
          <p:cNvSpPr>
            <a:spLocks noChangeShapeType="1"/>
          </p:cNvSpPr>
          <p:nvPr/>
        </p:nvSpPr>
        <p:spPr bwMode="auto">
          <a:xfrm flipH="1">
            <a:off x="4343400" y="5410200"/>
            <a:ext cx="76200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9788689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 calcmode="lin" valueType="num">
                                      <p:cBhvr additive="base">
                                        <p:cTn id="7" dur="500" fill="hold"/>
                                        <p:tgtEl>
                                          <p:spTgt spid="118786"/>
                                        </p:tgtEl>
                                        <p:attrNameLst>
                                          <p:attrName>ppt_x</p:attrName>
                                        </p:attrNameLst>
                                      </p:cBhvr>
                                      <p:tavLst>
                                        <p:tav tm="0">
                                          <p:val>
                                            <p:strVal val="0-#ppt_w/2"/>
                                          </p:val>
                                        </p:tav>
                                        <p:tav tm="100000">
                                          <p:val>
                                            <p:strVal val="#ppt_x"/>
                                          </p:val>
                                        </p:tav>
                                      </p:tavLst>
                                    </p:anim>
                                    <p:anim calcmode="lin" valueType="num">
                                      <p:cBhvr additive="base">
                                        <p:cTn id="8" dur="500" fill="hold"/>
                                        <p:tgtEl>
                                          <p:spTgt spid="11878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8787"/>
                                        </p:tgtEl>
                                        <p:attrNameLst>
                                          <p:attrName>style.visibility</p:attrName>
                                        </p:attrNameLst>
                                      </p:cBhvr>
                                      <p:to>
                                        <p:strVal val="visible"/>
                                      </p:to>
                                    </p:set>
                                    <p:animEffect transition="in" filter="wipe(left)">
                                      <p:cBhvr>
                                        <p:cTn id="13" dur="500"/>
                                        <p:tgtEl>
                                          <p:spTgt spid="11878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8788"/>
                                        </p:tgtEl>
                                        <p:attrNameLst>
                                          <p:attrName>style.visibility</p:attrName>
                                        </p:attrNameLst>
                                      </p:cBhvr>
                                      <p:to>
                                        <p:strVal val="visible"/>
                                      </p:to>
                                    </p:set>
                                    <p:animEffect transition="in" filter="wipe(left)">
                                      <p:cBhvr>
                                        <p:cTn id="18" dur="500"/>
                                        <p:tgtEl>
                                          <p:spTgt spid="11878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8789"/>
                                        </p:tgtEl>
                                        <p:attrNameLst>
                                          <p:attrName>style.visibility</p:attrName>
                                        </p:attrNameLst>
                                      </p:cBhvr>
                                      <p:to>
                                        <p:strVal val="visible"/>
                                      </p:to>
                                    </p:set>
                                    <p:animEffect transition="in" filter="wipe(left)">
                                      <p:cBhvr>
                                        <p:cTn id="23" dur="500"/>
                                        <p:tgtEl>
                                          <p:spTgt spid="11878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8790"/>
                                        </p:tgtEl>
                                        <p:attrNameLst>
                                          <p:attrName>style.visibility</p:attrName>
                                        </p:attrNameLst>
                                      </p:cBhvr>
                                      <p:to>
                                        <p:strVal val="visible"/>
                                      </p:to>
                                    </p:set>
                                    <p:animEffect transition="in" filter="wipe(left)">
                                      <p:cBhvr>
                                        <p:cTn id="28" dur="500"/>
                                        <p:tgtEl>
                                          <p:spTgt spid="118790"/>
                                        </p:tgtEl>
                                      </p:cBhvr>
                                    </p:animEffect>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18798"/>
                                        </p:tgtEl>
                                        <p:attrNameLst>
                                          <p:attrName>style.visibility</p:attrName>
                                        </p:attrNameLst>
                                      </p:cBhvr>
                                      <p:to>
                                        <p:strVal val="visible"/>
                                      </p:to>
                                    </p:set>
                                    <p:animEffect transition="in" filter="wipe(left)">
                                      <p:cBhvr>
                                        <p:cTn id="32" dur="500"/>
                                        <p:tgtEl>
                                          <p:spTgt spid="1187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8799"/>
                                        </p:tgtEl>
                                        <p:attrNameLst>
                                          <p:attrName>style.visibility</p:attrName>
                                        </p:attrNameLst>
                                      </p:cBhvr>
                                      <p:to>
                                        <p:strVal val="visible"/>
                                      </p:to>
                                    </p:set>
                                    <p:animEffect transition="in" filter="wipe(up)">
                                      <p:cBhvr>
                                        <p:cTn id="37" dur="500"/>
                                        <p:tgtEl>
                                          <p:spTgt spid="118799"/>
                                        </p:tgtEl>
                                      </p:cBhvr>
                                    </p:animEffect>
                                  </p:childTnLst>
                                </p:cTn>
                              </p:par>
                            </p:childTnLst>
                          </p:cTn>
                        </p:par>
                        <p:par>
                          <p:cTn id="38" fill="hold" nodeType="afterGroup">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118800"/>
                                        </p:tgtEl>
                                        <p:attrNameLst>
                                          <p:attrName>style.visibility</p:attrName>
                                        </p:attrNameLst>
                                      </p:cBhvr>
                                      <p:to>
                                        <p:strVal val="visible"/>
                                      </p:to>
                                    </p:set>
                                    <p:animEffect transition="in" filter="wipe(up)">
                                      <p:cBhvr>
                                        <p:cTn id="41" dur="500"/>
                                        <p:tgtEl>
                                          <p:spTgt spid="11880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8791"/>
                                        </p:tgtEl>
                                        <p:attrNameLst>
                                          <p:attrName>style.visibility</p:attrName>
                                        </p:attrNameLst>
                                      </p:cBhvr>
                                      <p:to>
                                        <p:strVal val="visible"/>
                                      </p:to>
                                    </p:set>
                                    <p:animEffect transition="in" filter="wipe(left)">
                                      <p:cBhvr>
                                        <p:cTn id="46" dur="500"/>
                                        <p:tgtEl>
                                          <p:spTgt spid="1187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18801"/>
                                        </p:tgtEl>
                                        <p:attrNameLst>
                                          <p:attrName>style.visibility</p:attrName>
                                        </p:attrNameLst>
                                      </p:cBhvr>
                                      <p:to>
                                        <p:strVal val="visible"/>
                                      </p:to>
                                    </p:set>
                                    <p:animEffect transition="in" filter="wipe(up)">
                                      <p:cBhvr>
                                        <p:cTn id="51" dur="500"/>
                                        <p:tgtEl>
                                          <p:spTgt spid="118801"/>
                                        </p:tgtEl>
                                      </p:cBhvr>
                                    </p:animEffect>
                                  </p:childTnLst>
                                </p:cTn>
                              </p:par>
                            </p:childTnLst>
                          </p:cTn>
                        </p:par>
                        <p:par>
                          <p:cTn id="52" fill="hold" nodeType="afterGroup">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118802"/>
                                        </p:tgtEl>
                                        <p:attrNameLst>
                                          <p:attrName>style.visibility</p:attrName>
                                        </p:attrNameLst>
                                      </p:cBhvr>
                                      <p:to>
                                        <p:strVal val="visible"/>
                                      </p:to>
                                    </p:set>
                                    <p:animEffect transition="in" filter="wipe(up)">
                                      <p:cBhvr>
                                        <p:cTn id="55" dur="500"/>
                                        <p:tgtEl>
                                          <p:spTgt spid="11880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18792"/>
                                        </p:tgtEl>
                                        <p:attrNameLst>
                                          <p:attrName>style.visibility</p:attrName>
                                        </p:attrNameLst>
                                      </p:cBhvr>
                                      <p:to>
                                        <p:strVal val="visible"/>
                                      </p:to>
                                    </p:set>
                                    <p:animEffect transition="in" filter="wipe(left)">
                                      <p:cBhvr>
                                        <p:cTn id="60" dur="500"/>
                                        <p:tgtEl>
                                          <p:spTgt spid="11879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18793"/>
                                        </p:tgtEl>
                                        <p:attrNameLst>
                                          <p:attrName>style.visibility</p:attrName>
                                        </p:attrNameLst>
                                      </p:cBhvr>
                                      <p:to>
                                        <p:strVal val="visible"/>
                                      </p:to>
                                    </p:set>
                                    <p:animEffect transition="in" filter="wipe(left)">
                                      <p:cBhvr>
                                        <p:cTn id="65" dur="500"/>
                                        <p:tgtEl>
                                          <p:spTgt spid="11879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18794"/>
                                        </p:tgtEl>
                                        <p:attrNameLst>
                                          <p:attrName>style.visibility</p:attrName>
                                        </p:attrNameLst>
                                      </p:cBhvr>
                                      <p:to>
                                        <p:strVal val="visible"/>
                                      </p:to>
                                    </p:set>
                                    <p:animEffect transition="in" filter="wipe(left)">
                                      <p:cBhvr>
                                        <p:cTn id="70" dur="500"/>
                                        <p:tgtEl>
                                          <p:spTgt spid="11879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18803"/>
                                        </p:tgtEl>
                                        <p:attrNameLst>
                                          <p:attrName>style.visibility</p:attrName>
                                        </p:attrNameLst>
                                      </p:cBhvr>
                                      <p:to>
                                        <p:strVal val="visible"/>
                                      </p:to>
                                    </p:set>
                                    <p:animEffect transition="in" filter="wipe(up)">
                                      <p:cBhvr>
                                        <p:cTn id="75" dur="500"/>
                                        <p:tgtEl>
                                          <p:spTgt spid="118803"/>
                                        </p:tgtEl>
                                      </p:cBhvr>
                                    </p:animEffect>
                                  </p:childTnLst>
                                </p:cTn>
                              </p:par>
                            </p:childTnLst>
                          </p:cTn>
                        </p:par>
                        <p:par>
                          <p:cTn id="76" fill="hold" nodeType="afterGroup">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118804"/>
                                        </p:tgtEl>
                                        <p:attrNameLst>
                                          <p:attrName>style.visibility</p:attrName>
                                        </p:attrNameLst>
                                      </p:cBhvr>
                                      <p:to>
                                        <p:strVal val="visible"/>
                                      </p:to>
                                    </p:set>
                                    <p:animEffect transition="in" filter="wipe(up)">
                                      <p:cBhvr>
                                        <p:cTn id="79" dur="500"/>
                                        <p:tgtEl>
                                          <p:spTgt spid="11880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18795"/>
                                        </p:tgtEl>
                                        <p:attrNameLst>
                                          <p:attrName>style.visibility</p:attrName>
                                        </p:attrNameLst>
                                      </p:cBhvr>
                                      <p:to>
                                        <p:strVal val="visible"/>
                                      </p:to>
                                    </p:set>
                                    <p:animEffect transition="in" filter="wipe(left)">
                                      <p:cBhvr>
                                        <p:cTn id="84" dur="500"/>
                                        <p:tgtEl>
                                          <p:spTgt spid="118795"/>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118805"/>
                                        </p:tgtEl>
                                        <p:attrNameLst>
                                          <p:attrName>style.visibility</p:attrName>
                                        </p:attrNameLst>
                                      </p:cBhvr>
                                      <p:to>
                                        <p:strVal val="visible"/>
                                      </p:to>
                                    </p:set>
                                    <p:animEffect transition="in" filter="wipe(up)">
                                      <p:cBhvr>
                                        <p:cTn id="89" dur="500"/>
                                        <p:tgtEl>
                                          <p:spTgt spid="118805"/>
                                        </p:tgtEl>
                                      </p:cBhvr>
                                    </p:animEffect>
                                  </p:childTnLst>
                                </p:cTn>
                              </p:par>
                            </p:childTnLst>
                          </p:cTn>
                        </p:par>
                        <p:par>
                          <p:cTn id="90" fill="hold" nodeType="afterGroup">
                            <p:stCondLst>
                              <p:cond delay="500"/>
                            </p:stCondLst>
                            <p:childTnLst>
                              <p:par>
                                <p:cTn id="91" presetID="22" presetClass="entr" presetSubtype="1" fill="hold" grpId="0" nodeType="afterEffect">
                                  <p:stCondLst>
                                    <p:cond delay="0"/>
                                  </p:stCondLst>
                                  <p:childTnLst>
                                    <p:set>
                                      <p:cBhvr>
                                        <p:cTn id="92" dur="1" fill="hold">
                                          <p:stCondLst>
                                            <p:cond delay="0"/>
                                          </p:stCondLst>
                                        </p:cTn>
                                        <p:tgtEl>
                                          <p:spTgt spid="118806"/>
                                        </p:tgtEl>
                                        <p:attrNameLst>
                                          <p:attrName>style.visibility</p:attrName>
                                        </p:attrNameLst>
                                      </p:cBhvr>
                                      <p:to>
                                        <p:strVal val="visible"/>
                                      </p:to>
                                    </p:set>
                                    <p:animEffect transition="in" filter="wipe(up)">
                                      <p:cBhvr>
                                        <p:cTn id="93" dur="500"/>
                                        <p:tgtEl>
                                          <p:spTgt spid="118806"/>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8796"/>
                                        </p:tgtEl>
                                        <p:attrNameLst>
                                          <p:attrName>style.visibility</p:attrName>
                                        </p:attrNameLst>
                                      </p:cBhvr>
                                      <p:to>
                                        <p:strVal val="visible"/>
                                      </p:to>
                                    </p:set>
                                    <p:animEffect transition="in" filter="wipe(left)">
                                      <p:cBhvr>
                                        <p:cTn id="98" dur="500"/>
                                        <p:tgtEl>
                                          <p:spTgt spid="11879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118807"/>
                                        </p:tgtEl>
                                        <p:attrNameLst>
                                          <p:attrName>style.visibility</p:attrName>
                                        </p:attrNameLst>
                                      </p:cBhvr>
                                      <p:to>
                                        <p:strVal val="visible"/>
                                      </p:to>
                                    </p:set>
                                    <p:animEffect transition="in" filter="wipe(up)">
                                      <p:cBhvr>
                                        <p:cTn id="103" dur="500"/>
                                        <p:tgtEl>
                                          <p:spTgt spid="118807"/>
                                        </p:tgtEl>
                                      </p:cBhvr>
                                    </p:animEffect>
                                  </p:childTnLst>
                                </p:cTn>
                              </p:par>
                            </p:childTnLst>
                          </p:cTn>
                        </p:par>
                        <p:par>
                          <p:cTn id="104" fill="hold" nodeType="afterGroup">
                            <p:stCondLst>
                              <p:cond delay="500"/>
                            </p:stCondLst>
                            <p:childTnLst>
                              <p:par>
                                <p:cTn id="105" presetID="22" presetClass="entr" presetSubtype="1" fill="hold" grpId="0" nodeType="afterEffect">
                                  <p:stCondLst>
                                    <p:cond delay="0"/>
                                  </p:stCondLst>
                                  <p:childTnLst>
                                    <p:set>
                                      <p:cBhvr>
                                        <p:cTn id="106" dur="1" fill="hold">
                                          <p:stCondLst>
                                            <p:cond delay="0"/>
                                          </p:stCondLst>
                                        </p:cTn>
                                        <p:tgtEl>
                                          <p:spTgt spid="118808"/>
                                        </p:tgtEl>
                                        <p:attrNameLst>
                                          <p:attrName>style.visibility</p:attrName>
                                        </p:attrNameLst>
                                      </p:cBhvr>
                                      <p:to>
                                        <p:strVal val="visible"/>
                                      </p:to>
                                    </p:set>
                                    <p:animEffect transition="in" filter="wipe(up)">
                                      <p:cBhvr>
                                        <p:cTn id="107" dur="500"/>
                                        <p:tgtEl>
                                          <p:spTgt spid="11880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18797"/>
                                        </p:tgtEl>
                                        <p:attrNameLst>
                                          <p:attrName>style.visibility</p:attrName>
                                        </p:attrNameLst>
                                      </p:cBhvr>
                                      <p:to>
                                        <p:strVal val="visible"/>
                                      </p:to>
                                    </p:set>
                                    <p:animEffect transition="in" filter="wipe(left)">
                                      <p:cBhvr>
                                        <p:cTn id="112" dur="500"/>
                                        <p:tgtEl>
                                          <p:spTgt spid="118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utoUpdateAnimBg="0"/>
      <p:bldP spid="118787" grpId="0" autoUpdateAnimBg="0"/>
      <p:bldP spid="118788" grpId="0" autoUpdateAnimBg="0"/>
      <p:bldP spid="118789" grpId="0" autoUpdateAnimBg="0"/>
      <p:bldP spid="118790" grpId="0" autoUpdateAnimBg="0"/>
      <p:bldP spid="118791" grpId="0" autoUpdateAnimBg="0"/>
      <p:bldP spid="118792" grpId="0" autoUpdateAnimBg="0"/>
      <p:bldP spid="118793" grpId="0" autoUpdateAnimBg="0"/>
      <p:bldP spid="118794" grpId="0" autoUpdateAnimBg="0"/>
      <p:bldP spid="118795" grpId="0" autoUpdateAnimBg="0"/>
      <p:bldP spid="118796" grpId="0" autoUpdateAnimBg="0"/>
      <p:bldP spid="118797" grpId="0" autoUpdateAnimBg="0"/>
      <p:bldP spid="118798" grpId="0" autoUpdateAnimBg="0"/>
      <p:bldP spid="118799" grpId="0" animBg="1"/>
      <p:bldP spid="118800" grpId="0" animBg="1"/>
      <p:bldP spid="118801" grpId="0" animBg="1"/>
      <p:bldP spid="118802" grpId="0" animBg="1"/>
      <p:bldP spid="118803" grpId="0" animBg="1"/>
      <p:bldP spid="118804" grpId="0" animBg="1"/>
      <p:bldP spid="118805" grpId="0" animBg="1"/>
      <p:bldP spid="118806" grpId="0" animBg="1"/>
      <p:bldP spid="118807" grpId="0" animBg="1"/>
      <p:bldP spid="11880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descr="蓝色砂纸"/>
          <p:cNvSpPr>
            <a:spLocks noChangeArrowheads="1"/>
          </p:cNvSpPr>
          <p:nvPr/>
        </p:nvSpPr>
        <p:spPr bwMode="auto">
          <a:xfrm>
            <a:off x="1371600" y="304800"/>
            <a:ext cx="5791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21     25     49     25*   16     08</a:t>
            </a:r>
            <a:endParaRPr lang="en-US" altLang="zh-CN"/>
          </a:p>
        </p:txBody>
      </p:sp>
      <p:sp>
        <p:nvSpPr>
          <p:cNvPr id="147459" name="Rectangle 3" descr="蓝色砂纸"/>
          <p:cNvSpPr>
            <a:spLocks noChangeArrowheads="1"/>
          </p:cNvSpPr>
          <p:nvPr/>
        </p:nvSpPr>
        <p:spPr bwMode="auto">
          <a:xfrm>
            <a:off x="1371600" y="838200"/>
            <a:ext cx="2819400" cy="457200"/>
          </a:xfrm>
          <a:prstGeom prst="rect">
            <a:avLst/>
          </a:prstGeom>
          <a:blipFill dpi="0" rotWithShape="0">
            <a:blip r:embed="rId2"/>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t> 21     25     49</a:t>
            </a:r>
            <a:r>
              <a:rPr lang="en-US" altLang="zh-CN" sz="2800" b="1"/>
              <a:t>  </a:t>
            </a:r>
            <a:endParaRPr lang="en-US" altLang="zh-CN"/>
          </a:p>
        </p:txBody>
      </p:sp>
      <p:sp>
        <p:nvSpPr>
          <p:cNvPr id="147460" name="Rectangle 4" descr="蓝色砂纸"/>
          <p:cNvSpPr>
            <a:spLocks noChangeArrowheads="1"/>
          </p:cNvSpPr>
          <p:nvPr/>
        </p:nvSpPr>
        <p:spPr bwMode="auto">
          <a:xfrm>
            <a:off x="4343400" y="838200"/>
            <a:ext cx="2819400" cy="457200"/>
          </a:xfrm>
          <a:prstGeom prst="rect">
            <a:avLst/>
          </a:prstGeom>
          <a:blipFill dpi="0" rotWithShape="0">
            <a:blip r:embed="rId2"/>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2800" b="1"/>
              <a:t> </a:t>
            </a:r>
            <a:r>
              <a:rPr lang="en-US" altLang="zh-CN" sz="3200" b="1"/>
              <a:t>25*   16     08</a:t>
            </a:r>
            <a:endParaRPr lang="en-US" altLang="zh-CN"/>
          </a:p>
        </p:txBody>
      </p:sp>
      <p:sp>
        <p:nvSpPr>
          <p:cNvPr id="147461" name="Rectangle 5" descr="蓝色砂纸"/>
          <p:cNvSpPr>
            <a:spLocks noChangeArrowheads="1"/>
          </p:cNvSpPr>
          <p:nvPr/>
        </p:nvSpPr>
        <p:spPr bwMode="auto">
          <a:xfrm>
            <a:off x="1371600" y="13716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21  </a:t>
            </a:r>
            <a:endParaRPr lang="en-US" altLang="zh-CN"/>
          </a:p>
        </p:txBody>
      </p:sp>
      <p:sp>
        <p:nvSpPr>
          <p:cNvPr id="147462" name="Rectangle 6" descr="蓝色砂纸"/>
          <p:cNvSpPr>
            <a:spLocks noChangeArrowheads="1"/>
          </p:cNvSpPr>
          <p:nvPr/>
        </p:nvSpPr>
        <p:spPr bwMode="auto">
          <a:xfrm>
            <a:off x="23622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25  </a:t>
            </a:r>
            <a:endParaRPr lang="en-US" altLang="zh-CN"/>
          </a:p>
        </p:txBody>
      </p:sp>
      <p:sp>
        <p:nvSpPr>
          <p:cNvPr id="147463" name="Rectangle 7" descr="蓝色砂纸"/>
          <p:cNvSpPr>
            <a:spLocks noChangeArrowheads="1"/>
          </p:cNvSpPr>
          <p:nvPr/>
        </p:nvSpPr>
        <p:spPr bwMode="auto">
          <a:xfrm>
            <a:off x="33528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49  </a:t>
            </a:r>
            <a:endParaRPr lang="en-US" altLang="zh-CN"/>
          </a:p>
        </p:txBody>
      </p:sp>
      <p:sp>
        <p:nvSpPr>
          <p:cNvPr id="147464" name="Rectangle 8" descr="蓝色砂纸"/>
          <p:cNvSpPr>
            <a:spLocks noChangeArrowheads="1"/>
          </p:cNvSpPr>
          <p:nvPr/>
        </p:nvSpPr>
        <p:spPr bwMode="auto">
          <a:xfrm>
            <a:off x="2362200" y="1371600"/>
            <a:ext cx="1828800" cy="457200"/>
          </a:xfrm>
          <a:prstGeom prst="rect">
            <a:avLst/>
          </a:prstGeom>
          <a:blipFill dpi="0" rotWithShape="0">
            <a:blip r:embed="rId2"/>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t> 25    49</a:t>
            </a:r>
            <a:r>
              <a:rPr lang="en-US" altLang="zh-CN" sz="2800" b="1"/>
              <a:t>  </a:t>
            </a:r>
            <a:endParaRPr lang="en-US" altLang="zh-CN"/>
          </a:p>
        </p:txBody>
      </p:sp>
      <p:sp>
        <p:nvSpPr>
          <p:cNvPr id="147465" name="Rectangle 9" descr="蓝色砂纸"/>
          <p:cNvSpPr>
            <a:spLocks noChangeArrowheads="1"/>
          </p:cNvSpPr>
          <p:nvPr/>
        </p:nvSpPr>
        <p:spPr bwMode="auto">
          <a:xfrm>
            <a:off x="13716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21  </a:t>
            </a:r>
            <a:endParaRPr lang="en-US" altLang="zh-CN"/>
          </a:p>
        </p:txBody>
      </p:sp>
      <p:sp>
        <p:nvSpPr>
          <p:cNvPr id="147466" name="Rectangle 10" descr="蓝色砂纸"/>
          <p:cNvSpPr>
            <a:spLocks noChangeArrowheads="1"/>
          </p:cNvSpPr>
          <p:nvPr/>
        </p:nvSpPr>
        <p:spPr bwMode="auto">
          <a:xfrm>
            <a:off x="4343400" y="13716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25*  </a:t>
            </a:r>
            <a:endParaRPr lang="en-US" altLang="zh-CN"/>
          </a:p>
        </p:txBody>
      </p:sp>
      <p:sp>
        <p:nvSpPr>
          <p:cNvPr id="147467" name="Rectangle 11" descr="蓝色砂纸"/>
          <p:cNvSpPr>
            <a:spLocks noChangeArrowheads="1"/>
          </p:cNvSpPr>
          <p:nvPr/>
        </p:nvSpPr>
        <p:spPr bwMode="auto">
          <a:xfrm>
            <a:off x="5334000" y="1371600"/>
            <a:ext cx="1828800" cy="457200"/>
          </a:xfrm>
          <a:prstGeom prst="rect">
            <a:avLst/>
          </a:prstGeom>
          <a:blipFill dpi="0" rotWithShape="0">
            <a:blip r:embed="rId2"/>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t>  16     08</a:t>
            </a:r>
            <a:r>
              <a:rPr lang="en-US" altLang="zh-CN" sz="2800" b="1"/>
              <a:t>  </a:t>
            </a:r>
            <a:endParaRPr lang="en-US" altLang="zh-CN"/>
          </a:p>
        </p:txBody>
      </p:sp>
      <p:sp>
        <p:nvSpPr>
          <p:cNvPr id="147468" name="Rectangle 12" descr="蓝色砂纸"/>
          <p:cNvSpPr>
            <a:spLocks noChangeArrowheads="1"/>
          </p:cNvSpPr>
          <p:nvPr/>
        </p:nvSpPr>
        <p:spPr bwMode="auto">
          <a:xfrm>
            <a:off x="43434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25*  </a:t>
            </a:r>
            <a:endParaRPr lang="en-US" altLang="zh-CN"/>
          </a:p>
        </p:txBody>
      </p:sp>
      <p:sp>
        <p:nvSpPr>
          <p:cNvPr id="147469" name="Rectangle 13" descr="蓝色砂纸"/>
          <p:cNvSpPr>
            <a:spLocks noChangeArrowheads="1"/>
          </p:cNvSpPr>
          <p:nvPr/>
        </p:nvSpPr>
        <p:spPr bwMode="auto">
          <a:xfrm>
            <a:off x="53340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16  </a:t>
            </a:r>
            <a:endParaRPr lang="en-US" altLang="zh-CN"/>
          </a:p>
        </p:txBody>
      </p:sp>
      <p:sp>
        <p:nvSpPr>
          <p:cNvPr id="147470" name="Rectangle 14" descr="蓝色砂纸"/>
          <p:cNvSpPr>
            <a:spLocks noChangeArrowheads="1"/>
          </p:cNvSpPr>
          <p:nvPr/>
        </p:nvSpPr>
        <p:spPr bwMode="auto">
          <a:xfrm>
            <a:off x="6324600" y="1905000"/>
            <a:ext cx="838200" cy="457200"/>
          </a:xfrm>
          <a:prstGeom prst="rect">
            <a:avLst/>
          </a:prstGeom>
          <a:blipFill dpi="0" rotWithShape="0">
            <a:blip r:embed="rId2"/>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CCECFF"/>
            </a:extrusionClr>
            <a:contourClr>
              <a:srgbClr val="CCECFF"/>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CCECFF">
                      <a:gamma/>
                      <a:shade val="60000"/>
                      <a:invGamma/>
                      <a:alpha val="74998"/>
                    </a:srgbClr>
                  </a:outerShdw>
                </a:effectLst>
              </a14:hiddenEffects>
            </a:ext>
          </a:extLst>
        </p:spPr>
        <p:txBody>
          <a:bodyPr wrap="none" anchor="ctr">
            <a:flatTx/>
          </a:bodyPr>
          <a:lstStyle/>
          <a:p>
            <a:r>
              <a:rPr lang="en-US" altLang="zh-CN" sz="3200" b="1"/>
              <a:t>  08  </a:t>
            </a:r>
            <a:endParaRPr lang="en-US" altLang="zh-CN"/>
          </a:p>
        </p:txBody>
      </p:sp>
      <p:sp>
        <p:nvSpPr>
          <p:cNvPr id="147471" name="Rectangle 15" descr="粉色砂纸"/>
          <p:cNvSpPr>
            <a:spLocks noChangeArrowheads="1"/>
          </p:cNvSpPr>
          <p:nvPr/>
        </p:nvSpPr>
        <p:spPr bwMode="auto">
          <a:xfrm>
            <a:off x="1371600" y="2667000"/>
            <a:ext cx="5791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21     25     49     25*   16     08</a:t>
            </a:r>
            <a:endParaRPr lang="en-US" altLang="zh-CN">
              <a:solidFill>
                <a:srgbClr val="FF3300"/>
              </a:solidFill>
            </a:endParaRPr>
          </a:p>
        </p:txBody>
      </p:sp>
      <p:sp>
        <p:nvSpPr>
          <p:cNvPr id="147472" name="Line 16"/>
          <p:cNvSpPr>
            <a:spLocks noChangeShapeType="1"/>
          </p:cNvSpPr>
          <p:nvPr/>
        </p:nvSpPr>
        <p:spPr bwMode="auto">
          <a:xfrm flipV="1">
            <a:off x="2743200" y="31242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3" name="Line 17"/>
          <p:cNvSpPr>
            <a:spLocks noChangeShapeType="1"/>
          </p:cNvSpPr>
          <p:nvPr/>
        </p:nvSpPr>
        <p:spPr bwMode="auto">
          <a:xfrm flipH="1">
            <a:off x="2133600" y="3352800"/>
            <a:ext cx="6096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4" name="Line 18"/>
          <p:cNvSpPr>
            <a:spLocks noChangeShapeType="1"/>
          </p:cNvSpPr>
          <p:nvPr/>
        </p:nvSpPr>
        <p:spPr bwMode="auto">
          <a:xfrm flipV="1">
            <a:off x="2133600" y="31242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5" name="Line 19"/>
          <p:cNvSpPr>
            <a:spLocks noChangeShapeType="1"/>
          </p:cNvSpPr>
          <p:nvPr/>
        </p:nvSpPr>
        <p:spPr bwMode="auto">
          <a:xfrm flipV="1">
            <a:off x="4648200" y="31242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6" name="Line 20"/>
          <p:cNvSpPr>
            <a:spLocks noChangeShapeType="1"/>
          </p:cNvSpPr>
          <p:nvPr/>
        </p:nvSpPr>
        <p:spPr bwMode="auto">
          <a:xfrm flipV="1">
            <a:off x="3048000" y="31242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7" name="Line 21"/>
          <p:cNvSpPr>
            <a:spLocks noChangeShapeType="1"/>
          </p:cNvSpPr>
          <p:nvPr/>
        </p:nvSpPr>
        <p:spPr bwMode="auto">
          <a:xfrm flipH="1">
            <a:off x="3048000" y="3352800"/>
            <a:ext cx="16002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8" name="Line 22"/>
          <p:cNvSpPr>
            <a:spLocks noChangeShapeType="1"/>
          </p:cNvSpPr>
          <p:nvPr/>
        </p:nvSpPr>
        <p:spPr bwMode="auto">
          <a:xfrm flipV="1">
            <a:off x="6705600" y="31242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9" name="Line 23"/>
          <p:cNvSpPr>
            <a:spLocks noChangeShapeType="1"/>
          </p:cNvSpPr>
          <p:nvPr/>
        </p:nvSpPr>
        <p:spPr bwMode="auto">
          <a:xfrm flipV="1">
            <a:off x="5562600" y="31242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0" name="Line 24"/>
          <p:cNvSpPr>
            <a:spLocks noChangeShapeType="1"/>
          </p:cNvSpPr>
          <p:nvPr/>
        </p:nvSpPr>
        <p:spPr bwMode="auto">
          <a:xfrm flipH="1">
            <a:off x="5562600" y="3352800"/>
            <a:ext cx="11430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1" name="Line 25"/>
          <p:cNvSpPr>
            <a:spLocks noChangeShapeType="1"/>
          </p:cNvSpPr>
          <p:nvPr/>
        </p:nvSpPr>
        <p:spPr bwMode="auto">
          <a:xfrm flipV="1">
            <a:off x="5791200" y="3124200"/>
            <a:ext cx="0" cy="304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2" name="Line 26"/>
          <p:cNvSpPr>
            <a:spLocks noChangeShapeType="1"/>
          </p:cNvSpPr>
          <p:nvPr/>
        </p:nvSpPr>
        <p:spPr bwMode="auto">
          <a:xfrm flipH="1">
            <a:off x="1828800" y="3429000"/>
            <a:ext cx="39624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3" name="Line 27"/>
          <p:cNvSpPr>
            <a:spLocks noChangeShapeType="1"/>
          </p:cNvSpPr>
          <p:nvPr/>
        </p:nvSpPr>
        <p:spPr bwMode="auto">
          <a:xfrm flipV="1">
            <a:off x="1828800" y="3124200"/>
            <a:ext cx="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4" name="Line 28"/>
          <p:cNvSpPr>
            <a:spLocks noChangeShapeType="1"/>
          </p:cNvSpPr>
          <p:nvPr/>
        </p:nvSpPr>
        <p:spPr bwMode="auto">
          <a:xfrm flipV="1">
            <a:off x="3733800" y="3124200"/>
            <a:ext cx="0" cy="381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5" name="Line 29"/>
          <p:cNvSpPr>
            <a:spLocks noChangeShapeType="1"/>
          </p:cNvSpPr>
          <p:nvPr/>
        </p:nvSpPr>
        <p:spPr bwMode="auto">
          <a:xfrm flipV="1">
            <a:off x="4876800" y="3124200"/>
            <a:ext cx="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6" name="Line 30"/>
          <p:cNvSpPr>
            <a:spLocks noChangeShapeType="1"/>
          </p:cNvSpPr>
          <p:nvPr/>
        </p:nvSpPr>
        <p:spPr bwMode="auto">
          <a:xfrm>
            <a:off x="3733800" y="3505200"/>
            <a:ext cx="11430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7" name="Line 31"/>
          <p:cNvSpPr>
            <a:spLocks noChangeShapeType="1"/>
          </p:cNvSpPr>
          <p:nvPr/>
        </p:nvSpPr>
        <p:spPr bwMode="auto">
          <a:xfrm flipV="1">
            <a:off x="6477000" y="3124200"/>
            <a:ext cx="0" cy="3810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8" name="Rectangle 32" descr="粉色砂纸"/>
          <p:cNvSpPr>
            <a:spLocks noChangeArrowheads="1"/>
          </p:cNvSpPr>
          <p:nvPr/>
        </p:nvSpPr>
        <p:spPr bwMode="auto">
          <a:xfrm>
            <a:off x="4343400" y="3733800"/>
            <a:ext cx="2819400" cy="457200"/>
          </a:xfrm>
          <a:prstGeom prst="rect">
            <a:avLst/>
          </a:prstGeom>
          <a:blipFill dpi="0" rotWithShape="0">
            <a:blip r:embed="rId3"/>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2800" b="1">
                <a:solidFill>
                  <a:srgbClr val="990033"/>
                </a:solidFill>
              </a:rPr>
              <a:t> </a:t>
            </a:r>
            <a:r>
              <a:rPr lang="en-US" altLang="zh-CN" sz="3200" b="1">
                <a:solidFill>
                  <a:srgbClr val="990033"/>
                </a:solidFill>
              </a:rPr>
              <a:t>25*   16     08</a:t>
            </a:r>
            <a:endParaRPr lang="en-US" altLang="zh-CN">
              <a:solidFill>
                <a:srgbClr val="990033"/>
              </a:solidFill>
            </a:endParaRPr>
          </a:p>
        </p:txBody>
      </p:sp>
      <p:sp>
        <p:nvSpPr>
          <p:cNvPr id="147489" name="Rectangle 33" descr="粉色砂纸"/>
          <p:cNvSpPr>
            <a:spLocks noChangeArrowheads="1"/>
          </p:cNvSpPr>
          <p:nvPr/>
        </p:nvSpPr>
        <p:spPr bwMode="auto">
          <a:xfrm>
            <a:off x="1371600" y="3733800"/>
            <a:ext cx="2819400" cy="457200"/>
          </a:xfrm>
          <a:prstGeom prst="rect">
            <a:avLst/>
          </a:prstGeom>
          <a:blipFill dpi="0" rotWithShape="0">
            <a:blip r:embed="rId3"/>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solidFill>
                  <a:srgbClr val="990033"/>
                </a:solidFill>
              </a:rPr>
              <a:t> 21     25     49</a:t>
            </a:r>
            <a:r>
              <a:rPr lang="en-US" altLang="zh-CN" sz="2800" b="1">
                <a:solidFill>
                  <a:srgbClr val="990033"/>
                </a:solidFill>
              </a:rPr>
              <a:t>  </a:t>
            </a:r>
            <a:endParaRPr lang="en-US" altLang="zh-CN">
              <a:solidFill>
                <a:srgbClr val="990033"/>
              </a:solidFill>
            </a:endParaRPr>
          </a:p>
        </p:txBody>
      </p:sp>
      <p:sp>
        <p:nvSpPr>
          <p:cNvPr id="147490" name="Line 34"/>
          <p:cNvSpPr>
            <a:spLocks noChangeShapeType="1"/>
          </p:cNvSpPr>
          <p:nvPr/>
        </p:nvSpPr>
        <p:spPr bwMode="auto">
          <a:xfrm flipV="1">
            <a:off x="1905000" y="41910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1" name="Line 35"/>
          <p:cNvSpPr>
            <a:spLocks noChangeShapeType="1"/>
          </p:cNvSpPr>
          <p:nvPr/>
        </p:nvSpPr>
        <p:spPr bwMode="auto">
          <a:xfrm flipV="1">
            <a:off x="2590800" y="41910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2" name="Line 36"/>
          <p:cNvSpPr>
            <a:spLocks noChangeShapeType="1"/>
          </p:cNvSpPr>
          <p:nvPr/>
        </p:nvSpPr>
        <p:spPr bwMode="auto">
          <a:xfrm flipH="1">
            <a:off x="1905000" y="4419600"/>
            <a:ext cx="685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3" name="Line 37"/>
          <p:cNvSpPr>
            <a:spLocks noChangeShapeType="1"/>
          </p:cNvSpPr>
          <p:nvPr/>
        </p:nvSpPr>
        <p:spPr bwMode="auto">
          <a:xfrm flipH="1">
            <a:off x="2895600" y="4419600"/>
            <a:ext cx="1828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4" name="Line 38"/>
          <p:cNvSpPr>
            <a:spLocks noChangeShapeType="1"/>
          </p:cNvSpPr>
          <p:nvPr/>
        </p:nvSpPr>
        <p:spPr bwMode="auto">
          <a:xfrm flipV="1">
            <a:off x="2895600" y="41910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5" name="Line 39"/>
          <p:cNvSpPr>
            <a:spLocks noChangeShapeType="1"/>
          </p:cNvSpPr>
          <p:nvPr/>
        </p:nvSpPr>
        <p:spPr bwMode="auto">
          <a:xfrm flipV="1">
            <a:off x="4724400" y="41910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6" name="Line 40"/>
          <p:cNvSpPr>
            <a:spLocks noChangeShapeType="1"/>
          </p:cNvSpPr>
          <p:nvPr/>
        </p:nvSpPr>
        <p:spPr bwMode="auto">
          <a:xfrm flipV="1">
            <a:off x="5715000" y="41910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7" name="Line 41"/>
          <p:cNvSpPr>
            <a:spLocks noChangeShapeType="1"/>
          </p:cNvSpPr>
          <p:nvPr/>
        </p:nvSpPr>
        <p:spPr bwMode="auto">
          <a:xfrm flipV="1">
            <a:off x="6781800" y="41910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8" name="Line 42"/>
          <p:cNvSpPr>
            <a:spLocks noChangeShapeType="1"/>
          </p:cNvSpPr>
          <p:nvPr/>
        </p:nvSpPr>
        <p:spPr bwMode="auto">
          <a:xfrm flipH="1">
            <a:off x="5715000" y="4419600"/>
            <a:ext cx="1066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99" name="Line 43"/>
          <p:cNvSpPr>
            <a:spLocks noChangeShapeType="1"/>
          </p:cNvSpPr>
          <p:nvPr/>
        </p:nvSpPr>
        <p:spPr bwMode="auto">
          <a:xfrm flipV="1">
            <a:off x="5943600" y="4191000"/>
            <a:ext cx="0" cy="304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0" name="Line 44"/>
          <p:cNvSpPr>
            <a:spLocks noChangeShapeType="1"/>
          </p:cNvSpPr>
          <p:nvPr/>
        </p:nvSpPr>
        <p:spPr bwMode="auto">
          <a:xfrm flipH="1">
            <a:off x="1676400" y="4495800"/>
            <a:ext cx="42672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1" name="Line 45"/>
          <p:cNvSpPr>
            <a:spLocks noChangeShapeType="1"/>
          </p:cNvSpPr>
          <p:nvPr/>
        </p:nvSpPr>
        <p:spPr bwMode="auto">
          <a:xfrm flipV="1">
            <a:off x="1676400" y="4191000"/>
            <a:ext cx="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2" name="Line 46"/>
          <p:cNvSpPr>
            <a:spLocks noChangeShapeType="1"/>
          </p:cNvSpPr>
          <p:nvPr/>
        </p:nvSpPr>
        <p:spPr bwMode="auto">
          <a:xfrm flipV="1">
            <a:off x="3581400" y="4191000"/>
            <a:ext cx="0" cy="381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3" name="Line 47"/>
          <p:cNvSpPr>
            <a:spLocks noChangeShapeType="1"/>
          </p:cNvSpPr>
          <p:nvPr/>
        </p:nvSpPr>
        <p:spPr bwMode="auto">
          <a:xfrm flipH="1">
            <a:off x="3581400" y="4572000"/>
            <a:ext cx="13716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4" name="Line 48"/>
          <p:cNvSpPr>
            <a:spLocks noChangeShapeType="1"/>
          </p:cNvSpPr>
          <p:nvPr/>
        </p:nvSpPr>
        <p:spPr bwMode="auto">
          <a:xfrm flipV="1">
            <a:off x="4953000" y="4191000"/>
            <a:ext cx="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05" name="Rectangle 49" descr="粉色砂纸"/>
          <p:cNvSpPr>
            <a:spLocks noChangeArrowheads="1"/>
          </p:cNvSpPr>
          <p:nvPr/>
        </p:nvSpPr>
        <p:spPr bwMode="auto">
          <a:xfrm>
            <a:off x="5334000" y="4800600"/>
            <a:ext cx="1828800" cy="457200"/>
          </a:xfrm>
          <a:prstGeom prst="rect">
            <a:avLst/>
          </a:prstGeom>
          <a:blipFill dpi="0" rotWithShape="0">
            <a:blip r:embed="rId3"/>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solidFill>
                  <a:srgbClr val="990033"/>
                </a:solidFill>
              </a:rPr>
              <a:t>  16     08</a:t>
            </a:r>
            <a:r>
              <a:rPr lang="en-US" altLang="zh-CN" sz="2800" b="1">
                <a:solidFill>
                  <a:srgbClr val="990033"/>
                </a:solidFill>
              </a:rPr>
              <a:t>  </a:t>
            </a:r>
            <a:endParaRPr lang="en-US" altLang="zh-CN">
              <a:solidFill>
                <a:srgbClr val="990033"/>
              </a:solidFill>
            </a:endParaRPr>
          </a:p>
        </p:txBody>
      </p:sp>
      <p:sp>
        <p:nvSpPr>
          <p:cNvPr id="147506" name="Rectangle 50" descr="粉色砂纸"/>
          <p:cNvSpPr>
            <a:spLocks noChangeArrowheads="1"/>
          </p:cNvSpPr>
          <p:nvPr/>
        </p:nvSpPr>
        <p:spPr bwMode="auto">
          <a:xfrm>
            <a:off x="4343400" y="48006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25*  </a:t>
            </a:r>
            <a:endParaRPr lang="en-US" altLang="zh-CN">
              <a:solidFill>
                <a:srgbClr val="990033"/>
              </a:solidFill>
            </a:endParaRPr>
          </a:p>
        </p:txBody>
      </p:sp>
      <p:sp>
        <p:nvSpPr>
          <p:cNvPr id="147507" name="Rectangle 51" descr="粉色砂纸"/>
          <p:cNvSpPr>
            <a:spLocks noChangeArrowheads="1"/>
          </p:cNvSpPr>
          <p:nvPr/>
        </p:nvSpPr>
        <p:spPr bwMode="auto">
          <a:xfrm>
            <a:off x="2362200" y="4800600"/>
            <a:ext cx="1828800" cy="457200"/>
          </a:xfrm>
          <a:prstGeom prst="rect">
            <a:avLst/>
          </a:prstGeom>
          <a:blipFill dpi="0" rotWithShape="0">
            <a:blip r:embed="rId3"/>
            <a:srcRect/>
            <a:tile tx="0" ty="0" sx="100000" sy="100000" flip="none" algn="tl"/>
          </a:blipFill>
          <a:ln w="38100">
            <a:miter lim="800000"/>
            <a:headEnd/>
            <a:tailEnd/>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flatTx/>
          </a:bodyPr>
          <a:lstStyle/>
          <a:p>
            <a:r>
              <a:rPr lang="en-US" altLang="zh-CN" sz="3200" b="1">
                <a:solidFill>
                  <a:srgbClr val="990033"/>
                </a:solidFill>
              </a:rPr>
              <a:t> 25    49</a:t>
            </a:r>
            <a:r>
              <a:rPr lang="en-US" altLang="zh-CN" sz="2800" b="1">
                <a:solidFill>
                  <a:srgbClr val="990033"/>
                </a:solidFill>
              </a:rPr>
              <a:t>  </a:t>
            </a:r>
            <a:endParaRPr lang="en-US" altLang="zh-CN">
              <a:solidFill>
                <a:srgbClr val="990033"/>
              </a:solidFill>
            </a:endParaRPr>
          </a:p>
        </p:txBody>
      </p:sp>
      <p:sp>
        <p:nvSpPr>
          <p:cNvPr id="147508" name="Rectangle 52" descr="粉色砂纸"/>
          <p:cNvSpPr>
            <a:spLocks noChangeArrowheads="1"/>
          </p:cNvSpPr>
          <p:nvPr/>
        </p:nvSpPr>
        <p:spPr bwMode="auto">
          <a:xfrm>
            <a:off x="1371600" y="48006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21  </a:t>
            </a:r>
            <a:endParaRPr lang="en-US" altLang="zh-CN">
              <a:solidFill>
                <a:srgbClr val="990033"/>
              </a:solidFill>
            </a:endParaRPr>
          </a:p>
        </p:txBody>
      </p:sp>
      <p:sp>
        <p:nvSpPr>
          <p:cNvPr id="147509" name="Line 53"/>
          <p:cNvSpPr>
            <a:spLocks noChangeShapeType="1"/>
          </p:cNvSpPr>
          <p:nvPr/>
        </p:nvSpPr>
        <p:spPr bwMode="auto">
          <a:xfrm flipV="1">
            <a:off x="5715000" y="52578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0" name="Line 54"/>
          <p:cNvSpPr>
            <a:spLocks noChangeShapeType="1"/>
          </p:cNvSpPr>
          <p:nvPr/>
        </p:nvSpPr>
        <p:spPr bwMode="auto">
          <a:xfrm flipH="1">
            <a:off x="5715000" y="5486400"/>
            <a:ext cx="1066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1" name="Line 55"/>
          <p:cNvSpPr>
            <a:spLocks noChangeShapeType="1"/>
          </p:cNvSpPr>
          <p:nvPr/>
        </p:nvSpPr>
        <p:spPr bwMode="auto">
          <a:xfrm flipV="1">
            <a:off x="6781800" y="52578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2" name="Line 56"/>
          <p:cNvSpPr>
            <a:spLocks noChangeShapeType="1"/>
          </p:cNvSpPr>
          <p:nvPr/>
        </p:nvSpPr>
        <p:spPr bwMode="auto">
          <a:xfrm flipV="1">
            <a:off x="5943600" y="5257800"/>
            <a:ext cx="0" cy="304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3" name="Line 57"/>
          <p:cNvSpPr>
            <a:spLocks noChangeShapeType="1"/>
          </p:cNvSpPr>
          <p:nvPr/>
        </p:nvSpPr>
        <p:spPr bwMode="auto">
          <a:xfrm flipV="1">
            <a:off x="4572000" y="5257800"/>
            <a:ext cx="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4" name="Line 58"/>
          <p:cNvSpPr>
            <a:spLocks noChangeShapeType="1"/>
          </p:cNvSpPr>
          <p:nvPr/>
        </p:nvSpPr>
        <p:spPr bwMode="auto">
          <a:xfrm flipH="1">
            <a:off x="4572000" y="5562600"/>
            <a:ext cx="13716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5" name="Line 59"/>
          <p:cNvSpPr>
            <a:spLocks noChangeShapeType="1"/>
          </p:cNvSpPr>
          <p:nvPr/>
        </p:nvSpPr>
        <p:spPr bwMode="auto">
          <a:xfrm flipV="1">
            <a:off x="2667000" y="52578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6" name="Line 60"/>
          <p:cNvSpPr>
            <a:spLocks noChangeShapeType="1"/>
          </p:cNvSpPr>
          <p:nvPr/>
        </p:nvSpPr>
        <p:spPr bwMode="auto">
          <a:xfrm flipV="1">
            <a:off x="1905000" y="52578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7" name="Line 61"/>
          <p:cNvSpPr>
            <a:spLocks noChangeShapeType="1"/>
          </p:cNvSpPr>
          <p:nvPr/>
        </p:nvSpPr>
        <p:spPr bwMode="auto">
          <a:xfrm flipH="1">
            <a:off x="1905000" y="5486400"/>
            <a:ext cx="7620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8" name="Line 62"/>
          <p:cNvSpPr>
            <a:spLocks noChangeShapeType="1"/>
          </p:cNvSpPr>
          <p:nvPr/>
        </p:nvSpPr>
        <p:spPr bwMode="auto">
          <a:xfrm flipV="1">
            <a:off x="2971800" y="52578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19" name="Line 63"/>
          <p:cNvSpPr>
            <a:spLocks noChangeShapeType="1"/>
          </p:cNvSpPr>
          <p:nvPr/>
        </p:nvSpPr>
        <p:spPr bwMode="auto">
          <a:xfrm flipH="1">
            <a:off x="2971800" y="5486400"/>
            <a:ext cx="6096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0" name="Line 64"/>
          <p:cNvSpPr>
            <a:spLocks noChangeShapeType="1"/>
          </p:cNvSpPr>
          <p:nvPr/>
        </p:nvSpPr>
        <p:spPr bwMode="auto">
          <a:xfrm flipV="1">
            <a:off x="3581400" y="52578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1" name="Rectangle 65" descr="粉色砂纸"/>
          <p:cNvSpPr>
            <a:spLocks noChangeArrowheads="1"/>
          </p:cNvSpPr>
          <p:nvPr/>
        </p:nvSpPr>
        <p:spPr bwMode="auto">
          <a:xfrm>
            <a:off x="13716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21  </a:t>
            </a:r>
            <a:endParaRPr lang="en-US" altLang="zh-CN">
              <a:solidFill>
                <a:srgbClr val="990033"/>
              </a:solidFill>
            </a:endParaRPr>
          </a:p>
        </p:txBody>
      </p:sp>
      <p:sp>
        <p:nvSpPr>
          <p:cNvPr id="147522" name="Rectangle 66" descr="粉色砂纸"/>
          <p:cNvSpPr>
            <a:spLocks noChangeArrowheads="1"/>
          </p:cNvSpPr>
          <p:nvPr/>
        </p:nvSpPr>
        <p:spPr bwMode="auto">
          <a:xfrm>
            <a:off x="43434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25*  </a:t>
            </a:r>
            <a:endParaRPr lang="en-US" altLang="zh-CN">
              <a:solidFill>
                <a:srgbClr val="990033"/>
              </a:solidFill>
            </a:endParaRPr>
          </a:p>
        </p:txBody>
      </p:sp>
      <p:sp>
        <p:nvSpPr>
          <p:cNvPr id="147523" name="Rectangle 67" descr="粉色砂纸"/>
          <p:cNvSpPr>
            <a:spLocks noChangeArrowheads="1"/>
          </p:cNvSpPr>
          <p:nvPr/>
        </p:nvSpPr>
        <p:spPr bwMode="auto">
          <a:xfrm>
            <a:off x="53340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16  </a:t>
            </a:r>
            <a:endParaRPr lang="en-US" altLang="zh-CN">
              <a:solidFill>
                <a:srgbClr val="990033"/>
              </a:solidFill>
            </a:endParaRPr>
          </a:p>
        </p:txBody>
      </p:sp>
      <p:sp>
        <p:nvSpPr>
          <p:cNvPr id="147524" name="Rectangle 68" descr="粉色砂纸"/>
          <p:cNvSpPr>
            <a:spLocks noChangeArrowheads="1"/>
          </p:cNvSpPr>
          <p:nvPr/>
        </p:nvSpPr>
        <p:spPr bwMode="auto">
          <a:xfrm>
            <a:off x="63246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08  </a:t>
            </a:r>
            <a:endParaRPr lang="en-US" altLang="zh-CN">
              <a:solidFill>
                <a:srgbClr val="990033"/>
              </a:solidFill>
            </a:endParaRPr>
          </a:p>
        </p:txBody>
      </p:sp>
      <p:sp>
        <p:nvSpPr>
          <p:cNvPr id="147525" name="Line 69"/>
          <p:cNvSpPr>
            <a:spLocks noChangeShapeType="1"/>
          </p:cNvSpPr>
          <p:nvPr/>
        </p:nvSpPr>
        <p:spPr bwMode="auto">
          <a:xfrm flipV="1">
            <a:off x="6858000" y="62484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6" name="Line 70"/>
          <p:cNvSpPr>
            <a:spLocks noChangeShapeType="1"/>
          </p:cNvSpPr>
          <p:nvPr/>
        </p:nvSpPr>
        <p:spPr bwMode="auto">
          <a:xfrm flipV="1">
            <a:off x="5638800" y="62484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7" name="Line 71"/>
          <p:cNvSpPr>
            <a:spLocks noChangeShapeType="1"/>
          </p:cNvSpPr>
          <p:nvPr/>
        </p:nvSpPr>
        <p:spPr bwMode="auto">
          <a:xfrm flipH="1">
            <a:off x="5638800" y="6477000"/>
            <a:ext cx="12192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28" name="Rectangle 72" descr="粉色砂纸"/>
          <p:cNvSpPr>
            <a:spLocks noChangeArrowheads="1"/>
          </p:cNvSpPr>
          <p:nvPr/>
        </p:nvSpPr>
        <p:spPr bwMode="auto">
          <a:xfrm>
            <a:off x="33528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49  </a:t>
            </a:r>
            <a:endParaRPr lang="en-US" altLang="zh-CN">
              <a:solidFill>
                <a:srgbClr val="990033"/>
              </a:solidFill>
            </a:endParaRPr>
          </a:p>
        </p:txBody>
      </p:sp>
      <p:sp>
        <p:nvSpPr>
          <p:cNvPr id="147529" name="Rectangle 73" descr="粉色砂纸"/>
          <p:cNvSpPr>
            <a:spLocks noChangeArrowheads="1"/>
          </p:cNvSpPr>
          <p:nvPr/>
        </p:nvSpPr>
        <p:spPr bwMode="auto">
          <a:xfrm>
            <a:off x="2362200" y="5791200"/>
            <a:ext cx="838200" cy="457200"/>
          </a:xfrm>
          <a:prstGeom prst="rect">
            <a:avLst/>
          </a:prstGeom>
          <a:blipFill dpi="0" rotWithShape="0">
            <a:blip r:embed="rId3"/>
            <a:srcRect/>
            <a:tile tx="0" ty="0" sx="100000" sy="100000" flip="none" algn="tl"/>
          </a:blipFill>
          <a:ln>
            <a:noFill/>
          </a:ln>
          <a:effectLst/>
          <a:scene3d>
            <a:camera prst="legacyPerspectiveTopRight"/>
            <a:lightRig rig="legacyFlat3" dir="b"/>
          </a:scene3d>
          <a:sp3d extrusionH="887400" contourW="12700" prstMaterial="legacyMatte">
            <a:bevelT w="13500" h="13500" prst="angle"/>
            <a:bevelB w="13500" h="13500" prst="angle"/>
            <a:extrusionClr>
              <a:srgbClr val="FFCCCC"/>
            </a:extrusionClr>
            <a:contourClr>
              <a:srgbClr val="FFCCCC"/>
            </a:contourClr>
          </a:sp3d>
          <a:extLst>
            <a:ext uri="{91240B29-F687-4F45-9708-019B960494DF}">
              <a14:hiddenLine xmlns:a14="http://schemas.microsoft.com/office/drawing/2010/main" w="38100">
                <a:noFill/>
                <a:miter lim="800000"/>
                <a:headEnd/>
                <a:tailEnd/>
              </a14:hiddenLine>
            </a:ext>
            <a:ext uri="{AF507438-7753-43E0-B8FC-AC1667EBCBE1}">
              <a14:hiddenEffects xmlns:a14="http://schemas.microsoft.com/office/drawing/2010/main">
                <a:effectLst>
                  <a:outerShdw blurRad="63500" dist="17961" dir="2700000" algn="ctr" rotWithShape="0">
                    <a:srgbClr val="FFCCCC">
                      <a:gamma/>
                      <a:shade val="60000"/>
                      <a:invGamma/>
                      <a:alpha val="74998"/>
                    </a:srgbClr>
                  </a:outerShdw>
                </a:effectLst>
              </a14:hiddenEffects>
            </a:ext>
          </a:extLst>
        </p:spPr>
        <p:txBody>
          <a:bodyPr wrap="none" anchor="ctr">
            <a:flatTx/>
          </a:bodyPr>
          <a:lstStyle/>
          <a:p>
            <a:r>
              <a:rPr lang="en-US" altLang="zh-CN" sz="3200" b="1">
                <a:solidFill>
                  <a:srgbClr val="990033"/>
                </a:solidFill>
              </a:rPr>
              <a:t>  25  </a:t>
            </a:r>
            <a:endParaRPr lang="en-US" altLang="zh-CN">
              <a:solidFill>
                <a:srgbClr val="990033"/>
              </a:solidFill>
            </a:endParaRPr>
          </a:p>
        </p:txBody>
      </p:sp>
      <p:sp>
        <p:nvSpPr>
          <p:cNvPr id="147530" name="Line 74"/>
          <p:cNvSpPr>
            <a:spLocks noChangeShapeType="1"/>
          </p:cNvSpPr>
          <p:nvPr/>
        </p:nvSpPr>
        <p:spPr bwMode="auto">
          <a:xfrm flipV="1">
            <a:off x="3657600" y="6248400"/>
            <a:ext cx="0" cy="2286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31" name="Line 75"/>
          <p:cNvSpPr>
            <a:spLocks noChangeShapeType="1"/>
          </p:cNvSpPr>
          <p:nvPr/>
        </p:nvSpPr>
        <p:spPr bwMode="auto">
          <a:xfrm flipV="1">
            <a:off x="2895600" y="6248400"/>
            <a:ext cx="0" cy="228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32" name="Line 76"/>
          <p:cNvSpPr>
            <a:spLocks noChangeShapeType="1"/>
          </p:cNvSpPr>
          <p:nvPr/>
        </p:nvSpPr>
        <p:spPr bwMode="auto">
          <a:xfrm flipH="1">
            <a:off x="2895600" y="6477000"/>
            <a:ext cx="7620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533" name="AutoShape 77"/>
          <p:cNvSpPr>
            <a:spLocks noChangeArrowheads="1"/>
          </p:cNvSpPr>
          <p:nvPr/>
        </p:nvSpPr>
        <p:spPr bwMode="auto">
          <a:xfrm>
            <a:off x="228600" y="381000"/>
            <a:ext cx="990600" cy="2057400"/>
          </a:xfrm>
          <a:prstGeom prst="downArrow">
            <a:avLst>
              <a:gd name="adj1" fmla="val 50000"/>
              <a:gd name="adj2" fmla="val 51923"/>
            </a:avLst>
          </a:prstGeom>
          <a:gradFill rotWithShape="0">
            <a:gsLst>
              <a:gs pos="0">
                <a:schemeClr val="tx1">
                  <a:gamma/>
                  <a:shade val="46275"/>
                  <a:invGamma/>
                </a:schemeClr>
              </a:gs>
              <a:gs pos="50000">
                <a:schemeClr val="tx1"/>
              </a:gs>
              <a:gs pos="100000">
                <a:schemeClr val="tx1">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eaVert" wrap="none" anchor="ctr"/>
          <a:lstStyle/>
          <a:p>
            <a:endParaRPr lang="zh-CN" altLang="en-US"/>
          </a:p>
        </p:txBody>
      </p:sp>
      <p:sp>
        <p:nvSpPr>
          <p:cNvPr id="147534" name="Text Box 78"/>
          <p:cNvSpPr txBox="1">
            <a:spLocks noChangeArrowheads="1"/>
          </p:cNvSpPr>
          <p:nvPr/>
        </p:nvSpPr>
        <p:spPr bwMode="auto">
          <a:xfrm>
            <a:off x="457200" y="708025"/>
            <a:ext cx="6858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lang="zh-CN" altLang="en-US" sz="2800" b="1">
                <a:solidFill>
                  <a:schemeClr val="bg1"/>
                </a:solidFill>
                <a:ea typeface="仿宋_GB2312" charset="0"/>
              </a:rPr>
              <a:t>递</a:t>
            </a:r>
          </a:p>
          <a:p>
            <a:pPr algn="l"/>
            <a:r>
              <a:rPr lang="zh-CN" altLang="en-US" sz="2800" b="1">
                <a:solidFill>
                  <a:schemeClr val="bg1"/>
                </a:solidFill>
                <a:ea typeface="仿宋_GB2312" charset="0"/>
              </a:rPr>
              <a:t>归</a:t>
            </a:r>
            <a:endParaRPr lang="zh-CN" altLang="en-US">
              <a:solidFill>
                <a:schemeClr val="bg1"/>
              </a:solidFill>
            </a:endParaRPr>
          </a:p>
        </p:txBody>
      </p:sp>
      <p:sp>
        <p:nvSpPr>
          <p:cNvPr id="147535" name="AutoShape 79"/>
          <p:cNvSpPr>
            <a:spLocks noChangeArrowheads="1"/>
          </p:cNvSpPr>
          <p:nvPr/>
        </p:nvSpPr>
        <p:spPr bwMode="auto">
          <a:xfrm>
            <a:off x="7620000" y="2667000"/>
            <a:ext cx="838200" cy="3352800"/>
          </a:xfrm>
          <a:prstGeom prst="upArrow">
            <a:avLst>
              <a:gd name="adj1" fmla="val 50000"/>
              <a:gd name="adj2" fmla="val 100000"/>
            </a:avLst>
          </a:prstGeom>
          <a:gradFill rotWithShape="0">
            <a:gsLst>
              <a:gs pos="0">
                <a:srgbClr val="FF3300">
                  <a:gamma/>
                  <a:shade val="46275"/>
                  <a:invGamma/>
                </a:srgbClr>
              </a:gs>
              <a:gs pos="50000">
                <a:srgbClr val="FF3300"/>
              </a:gs>
              <a:gs pos="100000">
                <a:srgbClr val="FF3300">
                  <a:gamma/>
                  <a:shade val="46275"/>
                  <a:invGamma/>
                </a:srgbClr>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vert="eaVert" wrap="none" anchor="ctr"/>
          <a:lstStyle/>
          <a:p>
            <a:r>
              <a:rPr lang="zh-CN" altLang="en-US" sz="2800" b="1">
                <a:solidFill>
                  <a:schemeClr val="bg1"/>
                </a:solidFill>
                <a:ea typeface="仿宋_GB2312" charset="0"/>
              </a:rPr>
              <a:t>回   推</a:t>
            </a:r>
            <a:endParaRPr lang="zh-CN" altLang="en-US" sz="2800">
              <a:solidFill>
                <a:schemeClr val="bg1"/>
              </a:solidFill>
            </a:endParaRPr>
          </a:p>
        </p:txBody>
      </p:sp>
    </p:spTree>
    <p:extLst>
      <p:ext uri="{BB962C8B-B14F-4D97-AF65-F5344CB8AC3E}">
        <p14:creationId xmlns:p14="http://schemas.microsoft.com/office/powerpoint/2010/main" val="2003645757"/>
      </p:ext>
    </p:extLst>
  </p:cSld>
  <p:clrMapOvr>
    <a:masterClrMapping/>
  </p:clrMapOvr>
  <p:transition>
    <p:split orient="vert" dir="in"/>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ChangeArrowheads="1"/>
          </p:cNvSpPr>
          <p:nvPr/>
        </p:nvSpPr>
        <p:spPr bwMode="auto">
          <a:xfrm>
            <a:off x="0" y="238125"/>
            <a:ext cx="8720138" cy="623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40000"/>
              </a:lnSpc>
            </a:pPr>
            <a:r>
              <a:rPr lang="en-US" altLang="zh-CN" sz="3600" b="1">
                <a:solidFill>
                  <a:srgbClr val="003366"/>
                </a:solidFill>
                <a:ea typeface="楷体_GB2312" charset="0"/>
              </a:rPr>
              <a:t>void</a:t>
            </a:r>
            <a:r>
              <a:rPr lang="en-US" altLang="zh-CN" sz="3600">
                <a:ea typeface="楷体_GB2312" charset="0"/>
              </a:rPr>
              <a:t> </a:t>
            </a:r>
            <a:r>
              <a:rPr lang="en-US" altLang="zh-CN" sz="3600">
                <a:solidFill>
                  <a:srgbClr val="0000FF"/>
                </a:solidFill>
                <a:ea typeface="楷体_GB2312" charset="0"/>
              </a:rPr>
              <a:t>Msort ( RcdType SR[],  </a:t>
            </a:r>
          </a:p>
          <a:p>
            <a:pPr algn="l">
              <a:lnSpc>
                <a:spcPct val="140000"/>
              </a:lnSpc>
            </a:pPr>
            <a:r>
              <a:rPr lang="en-US" altLang="zh-CN" sz="3600">
                <a:solidFill>
                  <a:srgbClr val="0000FF"/>
                </a:solidFill>
                <a:ea typeface="楷体_GB2312" charset="0"/>
              </a:rPr>
              <a:t>                       RcdType </a:t>
            </a:r>
            <a:r>
              <a:rPr lang="en-US" altLang="zh-CN" sz="3600" b="1">
                <a:solidFill>
                  <a:srgbClr val="0000FF"/>
                </a:solidFill>
                <a:ea typeface="楷体_GB2312" charset="0"/>
              </a:rPr>
              <a:t>&amp;</a:t>
            </a:r>
            <a:r>
              <a:rPr lang="en-US" altLang="zh-CN" sz="3600">
                <a:solidFill>
                  <a:srgbClr val="0000FF"/>
                </a:solidFill>
                <a:ea typeface="楷体_GB2312" charset="0"/>
              </a:rPr>
              <a:t>TR1[], </a:t>
            </a:r>
            <a:r>
              <a:rPr lang="en-US" altLang="zh-CN" sz="3600" b="1">
                <a:solidFill>
                  <a:srgbClr val="0000FF"/>
                </a:solidFill>
                <a:ea typeface="楷体_GB2312" charset="0"/>
              </a:rPr>
              <a:t>int</a:t>
            </a:r>
            <a:r>
              <a:rPr lang="en-US" altLang="zh-CN" sz="3600">
                <a:solidFill>
                  <a:srgbClr val="0000FF"/>
                </a:solidFill>
                <a:ea typeface="楷体_GB2312" charset="0"/>
              </a:rPr>
              <a:t> s, </a:t>
            </a:r>
            <a:r>
              <a:rPr lang="en-US" altLang="zh-CN" sz="3600" b="1">
                <a:solidFill>
                  <a:srgbClr val="0000FF"/>
                </a:solidFill>
                <a:ea typeface="楷体_GB2312" charset="0"/>
              </a:rPr>
              <a:t>int</a:t>
            </a:r>
            <a:r>
              <a:rPr lang="en-US" altLang="zh-CN" sz="3600">
                <a:solidFill>
                  <a:srgbClr val="0000FF"/>
                </a:solidFill>
                <a:ea typeface="楷体_GB2312" charset="0"/>
              </a:rPr>
              <a:t> t )</a:t>
            </a:r>
            <a:r>
              <a:rPr lang="en-US" altLang="zh-CN" sz="3600">
                <a:ea typeface="楷体_GB2312" charset="0"/>
              </a:rPr>
              <a:t> </a:t>
            </a:r>
            <a:r>
              <a:rPr lang="en-US" altLang="zh-CN" sz="3600" b="1">
                <a:solidFill>
                  <a:srgbClr val="003366"/>
                </a:solidFill>
                <a:ea typeface="楷体_GB2312" charset="0"/>
              </a:rPr>
              <a:t>{</a:t>
            </a:r>
          </a:p>
          <a:p>
            <a:pPr algn="l">
              <a:lnSpc>
                <a:spcPct val="140000"/>
              </a:lnSpc>
            </a:pPr>
            <a:r>
              <a:rPr lang="en-US" altLang="zh-CN" sz="3600" b="1">
                <a:solidFill>
                  <a:srgbClr val="003366"/>
                </a:solidFill>
                <a:ea typeface="楷体_GB2312" charset="0"/>
              </a:rPr>
              <a:t>   </a:t>
            </a:r>
            <a:r>
              <a:rPr lang="en-US" altLang="zh-CN" sz="3600">
                <a:solidFill>
                  <a:srgbClr val="003366"/>
                </a:solidFill>
                <a:ea typeface="楷体_GB2312" charset="0"/>
              </a:rPr>
              <a:t>// </a:t>
            </a:r>
            <a:r>
              <a:rPr lang="zh-CN" altLang="en-US" sz="3600">
                <a:solidFill>
                  <a:srgbClr val="003366"/>
                </a:solidFill>
                <a:ea typeface="楷体_GB2312" charset="0"/>
              </a:rPr>
              <a:t>将</a:t>
            </a:r>
            <a:r>
              <a:rPr lang="en-US" altLang="zh-CN" sz="3600">
                <a:solidFill>
                  <a:srgbClr val="003366"/>
                </a:solidFill>
                <a:ea typeface="楷体_GB2312" charset="0"/>
              </a:rPr>
              <a:t>SR[s..t] </a:t>
            </a:r>
            <a:r>
              <a:rPr lang="zh-CN" altLang="en-US" sz="3600">
                <a:solidFill>
                  <a:srgbClr val="003366"/>
                </a:solidFill>
                <a:ea typeface="楷体_GB2312" charset="0"/>
              </a:rPr>
              <a:t>归并排序为 </a:t>
            </a:r>
            <a:r>
              <a:rPr lang="en-US" altLang="zh-CN" sz="3600">
                <a:solidFill>
                  <a:srgbClr val="003366"/>
                </a:solidFill>
                <a:ea typeface="楷体_GB2312" charset="0"/>
              </a:rPr>
              <a:t>TR1[s..t]</a:t>
            </a:r>
          </a:p>
          <a:p>
            <a:pPr algn="l">
              <a:lnSpc>
                <a:spcPct val="140000"/>
              </a:lnSpc>
            </a:pPr>
            <a:r>
              <a:rPr lang="en-US" altLang="zh-CN" sz="3600">
                <a:solidFill>
                  <a:srgbClr val="003366"/>
                </a:solidFill>
                <a:ea typeface="楷体_GB2312" charset="0"/>
              </a:rPr>
              <a:t>    </a:t>
            </a:r>
            <a:r>
              <a:rPr lang="en-US" altLang="zh-CN" sz="3600" b="1">
                <a:solidFill>
                  <a:srgbClr val="003366"/>
                </a:solidFill>
                <a:ea typeface="楷体_GB2312" charset="0"/>
              </a:rPr>
              <a:t>if</a:t>
            </a:r>
            <a:r>
              <a:rPr lang="en-US" altLang="zh-CN" sz="3600">
                <a:solidFill>
                  <a:srgbClr val="003366"/>
                </a:solidFill>
                <a:ea typeface="楷体_GB2312" charset="0"/>
              </a:rPr>
              <a:t> (s= =t) TR1[s]=SR[s];</a:t>
            </a:r>
          </a:p>
          <a:p>
            <a:pPr algn="l">
              <a:lnSpc>
                <a:spcPct val="140000"/>
              </a:lnSpc>
            </a:pPr>
            <a:r>
              <a:rPr lang="en-US" altLang="zh-CN" sz="3600">
                <a:solidFill>
                  <a:srgbClr val="003366"/>
                </a:solidFill>
                <a:ea typeface="楷体_GB2312" charset="0"/>
              </a:rPr>
              <a:t>    </a:t>
            </a:r>
            <a:r>
              <a:rPr lang="en-US" altLang="zh-CN" sz="3600" b="1">
                <a:solidFill>
                  <a:srgbClr val="003366"/>
                </a:solidFill>
                <a:ea typeface="楷体_GB2312" charset="0"/>
              </a:rPr>
              <a:t>else</a:t>
            </a:r>
            <a:r>
              <a:rPr lang="en-US" altLang="zh-CN" sz="3600">
                <a:solidFill>
                  <a:srgbClr val="003366"/>
                </a:solidFill>
                <a:ea typeface="楷体_GB2312" charset="0"/>
              </a:rPr>
              <a:t> </a:t>
            </a:r>
          </a:p>
          <a:p>
            <a:pPr algn="l">
              <a:lnSpc>
                <a:spcPct val="140000"/>
              </a:lnSpc>
            </a:pPr>
            <a:r>
              <a:rPr lang="en-US" altLang="zh-CN" sz="3600">
                <a:solidFill>
                  <a:srgbClr val="003366"/>
                </a:solidFill>
                <a:ea typeface="楷体_GB2312" charset="0"/>
              </a:rPr>
              <a:t>      {</a:t>
            </a:r>
          </a:p>
          <a:p>
            <a:pPr algn="l">
              <a:lnSpc>
                <a:spcPct val="140000"/>
              </a:lnSpc>
            </a:pPr>
            <a:r>
              <a:rPr lang="en-US" altLang="zh-CN" sz="3600">
                <a:solidFill>
                  <a:srgbClr val="003366"/>
                </a:solidFill>
                <a:ea typeface="楷体_GB2312" charset="0"/>
              </a:rPr>
              <a:t>       }</a:t>
            </a:r>
          </a:p>
          <a:p>
            <a:pPr algn="l">
              <a:lnSpc>
                <a:spcPct val="140000"/>
              </a:lnSpc>
            </a:pPr>
            <a:r>
              <a:rPr lang="en-US" altLang="zh-CN" sz="3600" b="1">
                <a:solidFill>
                  <a:srgbClr val="003366"/>
                </a:solidFill>
                <a:ea typeface="楷体_GB2312" charset="0"/>
              </a:rPr>
              <a:t>}</a:t>
            </a:r>
            <a:r>
              <a:rPr lang="en-US" altLang="zh-CN" sz="3600">
                <a:solidFill>
                  <a:srgbClr val="003366"/>
                </a:solidFill>
                <a:ea typeface="楷体_GB2312" charset="0"/>
              </a:rPr>
              <a:t> // Msort</a:t>
            </a:r>
            <a:endParaRPr lang="en-US" altLang="zh-CN" sz="3600" b="1">
              <a:ea typeface="楷体_GB2312" charset="0"/>
            </a:endParaRPr>
          </a:p>
        </p:txBody>
      </p:sp>
      <p:sp>
        <p:nvSpPr>
          <p:cNvPr id="134147" name="Text Box 3">
            <a:hlinkClick r:id="" action="ppaction://hlinkshowjump?jump=nextslide"/>
          </p:cNvPr>
          <p:cNvSpPr txBox="1">
            <a:spLocks noChangeArrowheads="1"/>
          </p:cNvSpPr>
          <p:nvPr/>
        </p:nvSpPr>
        <p:spPr bwMode="auto">
          <a:xfrm>
            <a:off x="1654175" y="4114800"/>
            <a:ext cx="272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b="1">
                <a:solidFill>
                  <a:srgbClr val="003366"/>
                </a:solidFill>
              </a:rPr>
              <a:t>    …   …     </a:t>
            </a:r>
            <a:endParaRPr lang="en-US" altLang="zh-CN" sz="4000"/>
          </a:p>
        </p:txBody>
      </p:sp>
      <p:sp>
        <p:nvSpPr>
          <p:cNvPr id="134149" name="AutoShape 5">
            <a:hlinkClick r:id="rId2" action="ppaction://hlinksldjump" highlightClick="1"/>
          </p:cNvPr>
          <p:cNvSpPr>
            <a:spLocks noChangeArrowheads="1"/>
          </p:cNvSpPr>
          <p:nvPr/>
        </p:nvSpPr>
        <p:spPr bwMode="auto">
          <a:xfrm>
            <a:off x="8382000" y="6248400"/>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808274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strips(downRight)">
                                      <p:cBhvr>
                                        <p:cTn id="7" dur="500"/>
                                        <p:tgtEl>
                                          <p:spTgt spid="134146"/>
                                        </p:tgtEl>
                                      </p:cBhvr>
                                    </p:animEffect>
                                  </p:childTnLst>
                                </p:cTn>
                              </p:par>
                            </p:childTnLst>
                          </p:cTn>
                        </p:par>
                        <p:par>
                          <p:cTn id="8" fill="hold" nodeType="afterGroup">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34147"/>
                                        </p:tgtEl>
                                        <p:attrNameLst>
                                          <p:attrName>style.visibility</p:attrName>
                                        </p:attrNameLst>
                                      </p:cBhvr>
                                      <p:to>
                                        <p:strVal val="visible"/>
                                      </p:to>
                                    </p:set>
                                    <p:animEffect transition="in" filter="strips(downRight)">
                                      <p:cBhvr>
                                        <p:cTn id="11" dur="500"/>
                                        <p:tgtEl>
                                          <p:spTgt spid="134147"/>
                                        </p:tgtEl>
                                      </p:cBhvr>
                                    </p:animEffect>
                                  </p:childTnLst>
                                </p:cTn>
                              </p:par>
                            </p:childTnLst>
                          </p:cTn>
                        </p:par>
                        <p:par>
                          <p:cTn id="12" fill="hold" nodeType="afterGroup">
                            <p:stCondLst>
                              <p:cond delay="1000"/>
                            </p:stCondLst>
                            <p:childTnLst>
                              <p:par>
                                <p:cTn id="13" presetID="2" presetClass="entr" presetSubtype="6" fill="hold" grpId="0" nodeType="afterEffect">
                                  <p:stCondLst>
                                    <p:cond delay="0"/>
                                  </p:stCondLst>
                                  <p:childTnLst>
                                    <p:set>
                                      <p:cBhvr>
                                        <p:cTn id="14" dur="1" fill="hold">
                                          <p:stCondLst>
                                            <p:cond delay="0"/>
                                          </p:stCondLst>
                                        </p:cTn>
                                        <p:tgtEl>
                                          <p:spTgt spid="134149"/>
                                        </p:tgtEl>
                                        <p:attrNameLst>
                                          <p:attrName>style.visibility</p:attrName>
                                        </p:attrNameLst>
                                      </p:cBhvr>
                                      <p:to>
                                        <p:strVal val="visible"/>
                                      </p:to>
                                    </p:set>
                                    <p:anim calcmode="lin" valueType="num">
                                      <p:cBhvr additive="base">
                                        <p:cTn id="15" dur="500" fill="hold"/>
                                        <p:tgtEl>
                                          <p:spTgt spid="134149"/>
                                        </p:tgtEl>
                                        <p:attrNameLst>
                                          <p:attrName>ppt_x</p:attrName>
                                        </p:attrNameLst>
                                      </p:cBhvr>
                                      <p:tavLst>
                                        <p:tav tm="0">
                                          <p:val>
                                            <p:strVal val="1+#ppt_w/2"/>
                                          </p:val>
                                        </p:tav>
                                        <p:tav tm="100000">
                                          <p:val>
                                            <p:strVal val="#ppt_x"/>
                                          </p:val>
                                        </p:tav>
                                      </p:tavLst>
                                    </p:anim>
                                    <p:anim calcmode="lin" valueType="num">
                                      <p:cBhvr additive="base">
                                        <p:cTn id="16" dur="500" fill="hold"/>
                                        <p:tgtEl>
                                          <p:spTgt spid="134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utoUpdateAnimBg="0"/>
      <p:bldP spid="134147" grpId="0" autoUpdateAnimBg="0"/>
      <p:bldP spid="13414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ChangeArrowheads="1"/>
          </p:cNvSpPr>
          <p:nvPr/>
        </p:nvSpPr>
        <p:spPr bwMode="auto">
          <a:xfrm>
            <a:off x="457200" y="457200"/>
            <a:ext cx="8380413"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200">
                <a:solidFill>
                  <a:srgbClr val="FF0000"/>
                </a:solidFill>
                <a:ea typeface="楷体_GB2312" charset="0"/>
              </a:rPr>
              <a:t>m = (s+t)/2;</a:t>
            </a:r>
          </a:p>
          <a:p>
            <a:pPr algn="l">
              <a:lnSpc>
                <a:spcPct val="125000"/>
              </a:lnSpc>
            </a:pPr>
            <a:r>
              <a:rPr lang="en-US" altLang="zh-CN" sz="3200">
                <a:ea typeface="楷体_GB2312" charset="0"/>
              </a:rPr>
              <a:t>             // </a:t>
            </a:r>
            <a:r>
              <a:rPr lang="zh-CN" altLang="en-US" sz="3200">
                <a:ea typeface="楷体_GB2312" charset="0"/>
              </a:rPr>
              <a:t>将</a:t>
            </a:r>
            <a:r>
              <a:rPr lang="en-US" altLang="zh-CN" sz="3200">
                <a:ea typeface="楷体_GB2312" charset="0"/>
              </a:rPr>
              <a:t>SR[s..t]</a:t>
            </a:r>
            <a:r>
              <a:rPr lang="zh-CN" altLang="en-US" sz="3200">
                <a:ea typeface="楷体_GB2312" charset="0"/>
              </a:rPr>
              <a:t>平分为</a:t>
            </a:r>
            <a:r>
              <a:rPr lang="en-US" altLang="zh-CN" sz="3200">
                <a:ea typeface="楷体_GB2312" charset="0"/>
              </a:rPr>
              <a:t>SR[s..m]</a:t>
            </a:r>
            <a:r>
              <a:rPr lang="zh-CN" altLang="en-US" sz="3200">
                <a:ea typeface="楷体_GB2312" charset="0"/>
              </a:rPr>
              <a:t>和</a:t>
            </a:r>
            <a:r>
              <a:rPr lang="en-US" altLang="zh-CN" sz="3200">
                <a:ea typeface="楷体_GB2312" charset="0"/>
              </a:rPr>
              <a:t>SR[m+1..t]</a:t>
            </a:r>
          </a:p>
        </p:txBody>
      </p:sp>
      <p:sp>
        <p:nvSpPr>
          <p:cNvPr id="52228" name="Rectangle 4"/>
          <p:cNvSpPr>
            <a:spLocks noChangeArrowheads="1"/>
          </p:cNvSpPr>
          <p:nvPr/>
        </p:nvSpPr>
        <p:spPr bwMode="auto">
          <a:xfrm>
            <a:off x="457200" y="1981200"/>
            <a:ext cx="84613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200">
                <a:solidFill>
                  <a:srgbClr val="0000FF"/>
                </a:solidFill>
                <a:ea typeface="楷体_GB2312" charset="0"/>
              </a:rPr>
              <a:t>Msort (SR, TR2, s, m);</a:t>
            </a:r>
          </a:p>
          <a:p>
            <a:pPr algn="l">
              <a:lnSpc>
                <a:spcPct val="125000"/>
              </a:lnSpc>
            </a:pPr>
            <a:r>
              <a:rPr lang="en-US" altLang="zh-CN" sz="3200">
                <a:ea typeface="楷体_GB2312" charset="0"/>
              </a:rPr>
              <a:t>      // </a:t>
            </a:r>
            <a:r>
              <a:rPr lang="zh-CN" altLang="en-US" sz="3200">
                <a:ea typeface="楷体_GB2312" charset="0"/>
              </a:rPr>
              <a:t>递归地将</a:t>
            </a:r>
            <a:r>
              <a:rPr lang="en-US" altLang="zh-CN" sz="3200">
                <a:ea typeface="楷体_GB2312" charset="0"/>
              </a:rPr>
              <a:t>SR[s..m]</a:t>
            </a:r>
            <a:r>
              <a:rPr lang="zh-CN" altLang="en-US" sz="3200">
                <a:ea typeface="楷体_GB2312" charset="0"/>
              </a:rPr>
              <a:t>归并为有序的</a:t>
            </a:r>
            <a:r>
              <a:rPr lang="en-US" altLang="zh-CN" sz="3200">
                <a:ea typeface="楷体_GB2312" charset="0"/>
              </a:rPr>
              <a:t>TR2[s..m]</a:t>
            </a:r>
          </a:p>
          <a:p>
            <a:pPr algn="l">
              <a:lnSpc>
                <a:spcPct val="125000"/>
              </a:lnSpc>
            </a:pPr>
            <a:r>
              <a:rPr lang="en-US" altLang="zh-CN" sz="3200">
                <a:solidFill>
                  <a:srgbClr val="0000FF"/>
                </a:solidFill>
                <a:ea typeface="楷体_GB2312" charset="0"/>
              </a:rPr>
              <a:t>Msort (SR, TR2, m+1, t);</a:t>
            </a:r>
          </a:p>
          <a:p>
            <a:pPr algn="l">
              <a:lnSpc>
                <a:spcPct val="125000"/>
              </a:lnSpc>
            </a:pPr>
            <a:r>
              <a:rPr lang="en-US" altLang="zh-CN" sz="3200">
                <a:ea typeface="楷体_GB2312" charset="0"/>
              </a:rPr>
              <a:t>     //</a:t>
            </a:r>
            <a:r>
              <a:rPr lang="zh-CN" altLang="en-US" sz="3200">
                <a:ea typeface="楷体_GB2312" charset="0"/>
              </a:rPr>
              <a:t>递归地</a:t>
            </a:r>
            <a:r>
              <a:rPr lang="en-US" altLang="zh-CN" sz="3200">
                <a:ea typeface="楷体_GB2312" charset="0"/>
              </a:rPr>
              <a:t>SR[m+1..t]</a:t>
            </a:r>
            <a:r>
              <a:rPr lang="zh-CN" altLang="en-US" sz="3200">
                <a:ea typeface="楷体_GB2312" charset="0"/>
              </a:rPr>
              <a:t>归并为有序的</a:t>
            </a:r>
            <a:r>
              <a:rPr lang="en-US" altLang="zh-CN" sz="3200">
                <a:ea typeface="楷体_GB2312" charset="0"/>
              </a:rPr>
              <a:t>TR2[m+1..t]</a:t>
            </a:r>
          </a:p>
        </p:txBody>
      </p:sp>
      <p:sp>
        <p:nvSpPr>
          <p:cNvPr id="52229" name="Rectangle 5"/>
          <p:cNvSpPr>
            <a:spLocks noChangeArrowheads="1"/>
          </p:cNvSpPr>
          <p:nvPr/>
        </p:nvSpPr>
        <p:spPr bwMode="auto">
          <a:xfrm>
            <a:off x="457200" y="4654550"/>
            <a:ext cx="8447088"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200">
                <a:solidFill>
                  <a:srgbClr val="FF0000"/>
                </a:solidFill>
                <a:ea typeface="楷体_GB2312" charset="0"/>
              </a:rPr>
              <a:t>Merge (TR2, TR1, s, m, t);</a:t>
            </a:r>
            <a:endParaRPr lang="en-US" altLang="zh-CN" sz="3200">
              <a:solidFill>
                <a:schemeClr val="accent2"/>
              </a:solidFill>
              <a:ea typeface="楷体_GB2312" charset="0"/>
            </a:endParaRPr>
          </a:p>
          <a:p>
            <a:pPr algn="l">
              <a:lnSpc>
                <a:spcPct val="130000"/>
              </a:lnSpc>
            </a:pPr>
            <a:r>
              <a:rPr lang="en-US" altLang="zh-CN" sz="3200">
                <a:ea typeface="楷体_GB2312" charset="0"/>
              </a:rPr>
              <a:t>       // </a:t>
            </a:r>
            <a:r>
              <a:rPr lang="zh-CN" altLang="en-US" sz="3200">
                <a:ea typeface="楷体_GB2312" charset="0"/>
              </a:rPr>
              <a:t>将</a:t>
            </a:r>
            <a:r>
              <a:rPr lang="en-US" altLang="zh-CN" sz="3200">
                <a:ea typeface="楷体_GB2312" charset="0"/>
              </a:rPr>
              <a:t>TR2[s..m]</a:t>
            </a:r>
            <a:r>
              <a:rPr lang="zh-CN" altLang="en-US" sz="3200">
                <a:ea typeface="楷体_GB2312" charset="0"/>
              </a:rPr>
              <a:t>和</a:t>
            </a:r>
            <a:r>
              <a:rPr lang="en-US" altLang="zh-CN" sz="3200">
                <a:ea typeface="楷体_GB2312" charset="0"/>
              </a:rPr>
              <a:t>TR2[m+1..t]</a:t>
            </a:r>
            <a:r>
              <a:rPr lang="zh-CN" altLang="en-US" sz="3200">
                <a:ea typeface="楷体_GB2312" charset="0"/>
              </a:rPr>
              <a:t>归并到</a:t>
            </a:r>
            <a:r>
              <a:rPr lang="en-US" altLang="zh-CN" sz="3200">
                <a:ea typeface="楷体_GB2312" charset="0"/>
              </a:rPr>
              <a:t>TR1[s..t]</a:t>
            </a:r>
          </a:p>
        </p:txBody>
      </p:sp>
      <p:sp>
        <p:nvSpPr>
          <p:cNvPr id="52230" name="AutoShape 6">
            <a:hlinkClick r:id="" action="ppaction://hlinkshowjump?jump=lastslideviewed" highlightClick="1"/>
          </p:cNvPr>
          <p:cNvSpPr>
            <a:spLocks noChangeArrowheads="1"/>
          </p:cNvSpPr>
          <p:nvPr/>
        </p:nvSpPr>
        <p:spPr bwMode="auto">
          <a:xfrm>
            <a:off x="8534400" y="6324600"/>
            <a:ext cx="304800" cy="304800"/>
          </a:xfrm>
          <a:prstGeom prst="actionButtonReturn">
            <a:avLst/>
          </a:prstGeom>
          <a:solidFill>
            <a:srgbClr val="CCFFCC"/>
          </a:solidFill>
          <a:ln w="9525">
            <a:solidFill>
              <a:srgbClr val="009999"/>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386250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wipe(left)">
                                      <p:cBhvr>
                                        <p:cTn id="7" dur="500"/>
                                        <p:tgtEl>
                                          <p:spTgt spid="52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8"/>
                                        </p:tgtEl>
                                        <p:attrNameLst>
                                          <p:attrName>style.visibility</p:attrName>
                                        </p:attrNameLst>
                                      </p:cBhvr>
                                      <p:to>
                                        <p:strVal val="visible"/>
                                      </p:to>
                                    </p:set>
                                    <p:animEffect transition="in" filter="wipe(left)">
                                      <p:cBhvr>
                                        <p:cTn id="12" dur="500"/>
                                        <p:tgtEl>
                                          <p:spTgt spid="522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9"/>
                                        </p:tgtEl>
                                        <p:attrNameLst>
                                          <p:attrName>style.visibility</p:attrName>
                                        </p:attrNameLst>
                                      </p:cBhvr>
                                      <p:to>
                                        <p:strVal val="visible"/>
                                      </p:to>
                                    </p:set>
                                    <p:animEffect transition="in" filter="wipe(left)">
                                      <p:cBhvr>
                                        <p:cTn id="17" dur="500"/>
                                        <p:tgtEl>
                                          <p:spTgt spid="52229"/>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52230"/>
                                        </p:tgtEl>
                                        <p:attrNameLst>
                                          <p:attrName>style.visibility</p:attrName>
                                        </p:attrNameLst>
                                      </p:cBhvr>
                                      <p:to>
                                        <p:strVal val="visible"/>
                                      </p:to>
                                    </p:set>
                                    <p:anim calcmode="lin" valueType="num">
                                      <p:cBhvr additive="base">
                                        <p:cTn id="21" dur="500" fill="hold"/>
                                        <p:tgtEl>
                                          <p:spTgt spid="52230"/>
                                        </p:tgtEl>
                                        <p:attrNameLst>
                                          <p:attrName>ppt_x</p:attrName>
                                        </p:attrNameLst>
                                      </p:cBhvr>
                                      <p:tavLst>
                                        <p:tav tm="0">
                                          <p:val>
                                            <p:strVal val="1+#ppt_w/2"/>
                                          </p:val>
                                        </p:tav>
                                        <p:tav tm="100000">
                                          <p:val>
                                            <p:strVal val="#ppt_x"/>
                                          </p:val>
                                        </p:tav>
                                      </p:tavLst>
                                    </p:anim>
                                    <p:anim calcmode="lin" valueType="num">
                                      <p:cBhvr additive="base">
                                        <p:cTn id="22"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P spid="52228" grpId="0" autoUpdateAnimBg="0"/>
      <p:bldP spid="52229" grpId="0" autoUpdateAnimBg="0"/>
      <p:bldP spid="5223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533400" y="228600"/>
            <a:ext cx="63563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b="1">
                <a:solidFill>
                  <a:schemeClr val="accent2"/>
                </a:solidFill>
                <a:ea typeface="楷体_GB2312" charset="0"/>
              </a:rPr>
              <a:t>void</a:t>
            </a:r>
            <a:r>
              <a:rPr lang="en-US" altLang="zh-CN" sz="3600">
                <a:solidFill>
                  <a:schemeClr val="accent2"/>
                </a:solidFill>
                <a:ea typeface="楷体_GB2312" charset="0"/>
              </a:rPr>
              <a:t> MergeSort (SqList </a:t>
            </a:r>
            <a:r>
              <a:rPr lang="en-US" altLang="zh-CN" sz="3600" b="1">
                <a:solidFill>
                  <a:schemeClr val="accent2"/>
                </a:solidFill>
                <a:ea typeface="楷体_GB2312" charset="0"/>
              </a:rPr>
              <a:t>&amp;</a:t>
            </a:r>
            <a:r>
              <a:rPr lang="en-US" altLang="zh-CN" sz="3600">
                <a:solidFill>
                  <a:schemeClr val="accent2"/>
                </a:solidFill>
                <a:ea typeface="楷体_GB2312" charset="0"/>
              </a:rPr>
              <a:t>L) </a:t>
            </a:r>
            <a:r>
              <a:rPr lang="en-US" altLang="zh-CN" sz="3600" b="1">
                <a:solidFill>
                  <a:schemeClr val="accent2"/>
                </a:solidFill>
                <a:ea typeface="楷体_GB2312" charset="0"/>
              </a:rPr>
              <a:t>{</a:t>
            </a:r>
            <a:endParaRPr lang="en-US" altLang="zh-CN" sz="3600">
              <a:solidFill>
                <a:schemeClr val="accent2"/>
              </a:solidFill>
              <a:ea typeface="楷体_GB2312" charset="0"/>
            </a:endParaRPr>
          </a:p>
          <a:p>
            <a:pPr algn="l">
              <a:lnSpc>
                <a:spcPct val="125000"/>
              </a:lnSpc>
            </a:pPr>
            <a:r>
              <a:rPr lang="en-US" altLang="zh-CN" sz="3600">
                <a:solidFill>
                  <a:schemeClr val="accent2"/>
                </a:solidFill>
                <a:ea typeface="楷体_GB2312" charset="0"/>
              </a:rPr>
              <a:t>   // </a:t>
            </a:r>
            <a:r>
              <a:rPr lang="zh-CN" altLang="en-US" sz="3600">
                <a:solidFill>
                  <a:schemeClr val="accent2"/>
                </a:solidFill>
                <a:ea typeface="楷体_GB2312" charset="0"/>
              </a:rPr>
              <a:t>对顺序表 </a:t>
            </a:r>
            <a:r>
              <a:rPr lang="en-US" altLang="zh-CN" sz="3600">
                <a:solidFill>
                  <a:schemeClr val="accent2"/>
                </a:solidFill>
                <a:ea typeface="楷体_GB2312" charset="0"/>
              </a:rPr>
              <a:t>L </a:t>
            </a:r>
            <a:r>
              <a:rPr lang="zh-CN" altLang="en-US" sz="3600">
                <a:solidFill>
                  <a:schemeClr val="accent2"/>
                </a:solidFill>
                <a:ea typeface="楷体_GB2312" charset="0"/>
              </a:rPr>
              <a:t>作</a:t>
            </a:r>
            <a:r>
              <a:rPr lang="en-US" altLang="zh-CN" sz="3600">
                <a:solidFill>
                  <a:schemeClr val="accent2"/>
                </a:solidFill>
                <a:ea typeface="楷体_GB2312" charset="0"/>
              </a:rPr>
              <a:t>2-</a:t>
            </a:r>
            <a:r>
              <a:rPr lang="zh-CN" altLang="en-US" sz="3600">
                <a:solidFill>
                  <a:schemeClr val="accent2"/>
                </a:solidFill>
                <a:ea typeface="楷体_GB2312" charset="0"/>
              </a:rPr>
              <a:t>路归并排序</a:t>
            </a:r>
          </a:p>
          <a:p>
            <a:pPr algn="l">
              <a:lnSpc>
                <a:spcPct val="125000"/>
              </a:lnSpc>
            </a:pPr>
            <a:r>
              <a:rPr lang="zh-CN" altLang="en-US" sz="3600">
                <a:solidFill>
                  <a:schemeClr val="accent2"/>
                </a:solidFill>
                <a:ea typeface="楷体_GB2312" charset="0"/>
              </a:rPr>
              <a:t>   </a:t>
            </a:r>
            <a:r>
              <a:rPr lang="en-US" altLang="zh-CN" sz="3600">
                <a:solidFill>
                  <a:schemeClr val="accent2"/>
                </a:solidFill>
                <a:ea typeface="楷体_GB2312" charset="0"/>
              </a:rPr>
              <a:t>MSort(L.r, L.r, 1, L.length);</a:t>
            </a:r>
          </a:p>
          <a:p>
            <a:pPr algn="l">
              <a:lnSpc>
                <a:spcPct val="125000"/>
              </a:lnSpc>
            </a:pPr>
            <a:r>
              <a:rPr lang="en-US" altLang="zh-CN" sz="3600" b="1">
                <a:solidFill>
                  <a:schemeClr val="accent2"/>
                </a:solidFill>
                <a:ea typeface="楷体_GB2312" charset="0"/>
              </a:rPr>
              <a:t>}</a:t>
            </a:r>
            <a:r>
              <a:rPr lang="en-US" altLang="zh-CN" sz="3600">
                <a:solidFill>
                  <a:schemeClr val="accent2"/>
                </a:solidFill>
                <a:ea typeface="楷体_GB2312" charset="0"/>
              </a:rPr>
              <a:t> // MergeSort</a:t>
            </a:r>
          </a:p>
        </p:txBody>
      </p:sp>
      <p:sp>
        <p:nvSpPr>
          <p:cNvPr id="53251" name="Text Box 3"/>
          <p:cNvSpPr txBox="1">
            <a:spLocks noChangeArrowheads="1"/>
          </p:cNvSpPr>
          <p:nvPr/>
        </p:nvSpPr>
        <p:spPr bwMode="auto">
          <a:xfrm>
            <a:off x="501650" y="3409950"/>
            <a:ext cx="864235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容易看出，对 </a:t>
            </a:r>
            <a:r>
              <a:rPr lang="en-US" altLang="zh-CN" sz="3600" b="1" i="1">
                <a:ea typeface="楷体_GB2312" charset="0"/>
              </a:rPr>
              <a:t>n</a:t>
            </a:r>
            <a:r>
              <a:rPr lang="en-US" altLang="zh-CN" sz="3600" i="1">
                <a:ea typeface="楷体_GB2312" charset="0"/>
              </a:rPr>
              <a:t> </a:t>
            </a:r>
            <a:r>
              <a:rPr lang="zh-CN" altLang="en-US" sz="3600">
                <a:ea typeface="楷体_GB2312" charset="0"/>
              </a:rPr>
              <a:t>个记录进行归并排序的时间复杂度为</a:t>
            </a:r>
            <a:r>
              <a:rPr lang="en-US" altLang="zh-CN" sz="3600" b="1">
                <a:solidFill>
                  <a:srgbClr val="9900CC"/>
                </a:solidFill>
                <a:latin typeface="楷体_GB2312" charset="0"/>
                <a:ea typeface="楷体_GB2312" charset="0"/>
              </a:rPr>
              <a:t>Ο</a:t>
            </a:r>
            <a:r>
              <a:rPr lang="en-US" altLang="zh-CN" sz="3600" b="1">
                <a:solidFill>
                  <a:srgbClr val="9900CC"/>
                </a:solidFill>
                <a:ea typeface="楷体_GB2312" charset="0"/>
              </a:rPr>
              <a:t>(</a:t>
            </a:r>
            <a:r>
              <a:rPr lang="en-US" altLang="zh-CN" sz="3600" b="1" i="1">
                <a:solidFill>
                  <a:srgbClr val="9900CC"/>
                </a:solidFill>
                <a:ea typeface="楷体_GB2312" charset="0"/>
              </a:rPr>
              <a:t>n</a:t>
            </a:r>
            <a:r>
              <a:rPr lang="en-US" altLang="zh-CN" sz="3600" b="1">
                <a:solidFill>
                  <a:srgbClr val="9900CC"/>
                </a:solidFill>
                <a:ea typeface="楷体_GB2312" charset="0"/>
              </a:rPr>
              <a:t>log</a:t>
            </a:r>
            <a:r>
              <a:rPr lang="en-US" altLang="zh-CN" sz="3600" b="1" i="1">
                <a:solidFill>
                  <a:srgbClr val="9900CC"/>
                </a:solidFill>
                <a:ea typeface="楷体_GB2312" charset="0"/>
              </a:rPr>
              <a:t>n</a:t>
            </a:r>
            <a:r>
              <a:rPr lang="en-US" altLang="zh-CN" sz="3600" b="1">
                <a:solidFill>
                  <a:srgbClr val="9900CC"/>
                </a:solidFill>
                <a:ea typeface="楷体_GB2312" charset="0"/>
              </a:rPr>
              <a:t>)</a:t>
            </a:r>
            <a:r>
              <a:rPr lang="zh-CN" altLang="en-US" sz="3600" b="1">
                <a:solidFill>
                  <a:srgbClr val="006666"/>
                </a:solidFill>
                <a:ea typeface="楷体_GB2312" charset="0"/>
              </a:rPr>
              <a:t>。</a:t>
            </a:r>
            <a:r>
              <a:rPr lang="zh-CN" altLang="en-US" sz="3600">
                <a:ea typeface="楷体_GB2312" charset="0"/>
              </a:rPr>
              <a:t>即：</a:t>
            </a:r>
          </a:p>
          <a:p>
            <a:pPr algn="l">
              <a:lnSpc>
                <a:spcPct val="125000"/>
              </a:lnSpc>
            </a:pPr>
            <a:r>
              <a:rPr lang="zh-CN" altLang="en-US" sz="3600">
                <a:ea typeface="楷体_GB2312" charset="0"/>
              </a:rPr>
              <a:t>    每一趟归并的时间复杂度为 </a:t>
            </a:r>
            <a:r>
              <a:rPr lang="en-US" altLang="zh-CN" sz="3600">
                <a:solidFill>
                  <a:srgbClr val="0000FF"/>
                </a:solidFill>
                <a:ea typeface="楷体_GB2312" charset="0"/>
              </a:rPr>
              <a:t>O(</a:t>
            </a:r>
            <a:r>
              <a:rPr lang="en-US" altLang="zh-CN" sz="3600" i="1">
                <a:solidFill>
                  <a:srgbClr val="0000FF"/>
                </a:solidFill>
                <a:ea typeface="楷体_GB2312" charset="0"/>
              </a:rPr>
              <a:t>n</a:t>
            </a:r>
            <a:r>
              <a:rPr lang="en-US" altLang="zh-CN" sz="3600">
                <a:solidFill>
                  <a:srgbClr val="0000FF"/>
                </a:solidFill>
                <a:ea typeface="楷体_GB2312" charset="0"/>
              </a:rPr>
              <a:t>)</a:t>
            </a:r>
            <a:r>
              <a:rPr lang="zh-CN" altLang="en-US" sz="3600">
                <a:ea typeface="楷体_GB2312" charset="0"/>
              </a:rPr>
              <a:t>，</a:t>
            </a:r>
          </a:p>
          <a:p>
            <a:pPr algn="l">
              <a:lnSpc>
                <a:spcPct val="125000"/>
              </a:lnSpc>
            </a:pPr>
            <a:r>
              <a:rPr lang="zh-CN" altLang="en-US" sz="3600">
                <a:ea typeface="楷体_GB2312" charset="0"/>
              </a:rPr>
              <a:t>    总共需进行 </a:t>
            </a:r>
            <a:r>
              <a:rPr lang="zh-CN" altLang="en-US" sz="3600">
                <a:solidFill>
                  <a:srgbClr val="0000FF"/>
                </a:solidFill>
                <a:ea typeface="楷体_GB2312" charset="0"/>
                <a:sym typeface="Symbol" charset="2"/>
              </a:rPr>
              <a:t></a:t>
            </a:r>
            <a:r>
              <a:rPr lang="en-US" altLang="zh-CN" sz="3600">
                <a:solidFill>
                  <a:srgbClr val="0000FF"/>
                </a:solidFill>
                <a:ea typeface="楷体_GB2312" charset="0"/>
              </a:rPr>
              <a:t>log</a:t>
            </a:r>
            <a:r>
              <a:rPr lang="en-US" altLang="zh-CN" sz="3600" baseline="-25000">
                <a:solidFill>
                  <a:srgbClr val="0000FF"/>
                </a:solidFill>
                <a:ea typeface="楷体_GB2312" charset="0"/>
              </a:rPr>
              <a:t>2</a:t>
            </a:r>
            <a:r>
              <a:rPr lang="en-US" altLang="zh-CN" sz="3600" i="1">
                <a:solidFill>
                  <a:srgbClr val="0000FF"/>
                </a:solidFill>
                <a:ea typeface="楷体_GB2312" charset="0"/>
              </a:rPr>
              <a:t>n</a:t>
            </a:r>
            <a:r>
              <a:rPr lang="en-US" altLang="zh-CN" sz="3600">
                <a:solidFill>
                  <a:srgbClr val="0000FF"/>
                </a:solidFill>
                <a:ea typeface="楷体_GB2312" charset="0"/>
                <a:sym typeface="Symbol" charset="2"/>
              </a:rPr>
              <a:t> </a:t>
            </a:r>
            <a:r>
              <a:rPr lang="zh-CN" altLang="en-US" sz="3600">
                <a:ea typeface="楷体_GB2312" charset="0"/>
              </a:rPr>
              <a:t>趟。</a:t>
            </a:r>
          </a:p>
        </p:txBody>
      </p:sp>
      <p:sp>
        <p:nvSpPr>
          <p:cNvPr id="53254" name="AutoShape 6">
            <a:hlinkClick r:id="rId2"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7800565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up)">
                                      <p:cBhvr>
                                        <p:cTn id="7" dur="500"/>
                                        <p:tgtEl>
                                          <p:spTgt spid="53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wipe(left)">
                                      <p:cBhvr>
                                        <p:cTn id="12" dur="500"/>
                                        <p:tgtEl>
                                          <p:spTgt spid="53251"/>
                                        </p:tgtEl>
                                      </p:cBhvr>
                                    </p:animEffect>
                                  </p:childTnLst>
                                </p:cTn>
                              </p:par>
                            </p:childTnLst>
                          </p:cTn>
                        </p:par>
                        <p:par>
                          <p:cTn id="13" fill="hold" nodeType="afterGroup">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53254"/>
                                        </p:tgtEl>
                                        <p:attrNameLst>
                                          <p:attrName>style.visibility</p:attrName>
                                        </p:attrNameLst>
                                      </p:cBhvr>
                                      <p:to>
                                        <p:strVal val="visible"/>
                                      </p:to>
                                    </p:set>
                                    <p:anim calcmode="lin" valueType="num">
                                      <p:cBhvr additive="base">
                                        <p:cTn id="16" dur="500" fill="hold"/>
                                        <p:tgtEl>
                                          <p:spTgt spid="53254"/>
                                        </p:tgtEl>
                                        <p:attrNameLst>
                                          <p:attrName>ppt_x</p:attrName>
                                        </p:attrNameLst>
                                      </p:cBhvr>
                                      <p:tavLst>
                                        <p:tav tm="0">
                                          <p:val>
                                            <p:strVal val="0-#ppt_w/2"/>
                                          </p:val>
                                        </p:tav>
                                        <p:tav tm="100000">
                                          <p:val>
                                            <p:strVal val="#ppt_x"/>
                                          </p:val>
                                        </p:tav>
                                      </p:tavLst>
                                    </p:anim>
                                    <p:anim calcmode="lin" valueType="num">
                                      <p:cBhvr additive="base">
                                        <p:cTn id="17" dur="500" fill="hold"/>
                                        <p:tgtEl>
                                          <p:spTgt spid="532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utoUpdateAnimBg="0"/>
      <p:bldP spid="53251" grpId="0" autoUpdateAnimBg="0"/>
      <p:bldP spid="5325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0" y="-26988"/>
            <a:ext cx="9144000" cy="6858001"/>
          </a:xfrm>
        </p:spPr>
        <p:txBody>
          <a:bodyPr/>
          <a:lstStyle/>
          <a:p>
            <a:r>
              <a:rPr lang="en-US" altLang="zh-CN" sz="7200" b="1">
                <a:solidFill>
                  <a:srgbClr val="003399"/>
                </a:solidFill>
              </a:rPr>
              <a:t/>
            </a:r>
            <a:br>
              <a:rPr lang="en-US" altLang="zh-CN" sz="7200" b="1">
                <a:solidFill>
                  <a:srgbClr val="003399"/>
                </a:solidFill>
              </a:rPr>
            </a:br>
            <a:r>
              <a:rPr lang="en-US" altLang="zh-CN" sz="7200" b="1">
                <a:solidFill>
                  <a:srgbClr val="003399"/>
                </a:solidFill>
              </a:rPr>
              <a:t/>
            </a:r>
            <a:br>
              <a:rPr lang="en-US" altLang="zh-CN" sz="7200" b="1">
                <a:solidFill>
                  <a:srgbClr val="003399"/>
                </a:solidFill>
              </a:rPr>
            </a:br>
            <a:r>
              <a:rPr lang="en-US" altLang="zh-CN" sz="7200" b="1">
                <a:solidFill>
                  <a:srgbClr val="003399"/>
                </a:solidFill>
              </a:rPr>
              <a:t> </a:t>
            </a:r>
          </a:p>
        </p:txBody>
      </p:sp>
      <p:sp>
        <p:nvSpPr>
          <p:cNvPr id="157699" name="Rectangle 3"/>
          <p:cNvSpPr>
            <a:spLocks noChangeArrowheads="1"/>
          </p:cNvSpPr>
          <p:nvPr/>
        </p:nvSpPr>
        <p:spPr bwMode="auto">
          <a:xfrm>
            <a:off x="0" y="836613"/>
            <a:ext cx="914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归并排序是一种稳定的排序方法</a:t>
            </a:r>
          </a:p>
        </p:txBody>
      </p:sp>
      <p:sp>
        <p:nvSpPr>
          <p:cNvPr id="157700" name="Text Box 4"/>
          <p:cNvSpPr txBox="1">
            <a:spLocks noChangeArrowheads="1"/>
          </p:cNvSpPr>
          <p:nvPr/>
        </p:nvSpPr>
        <p:spPr bwMode="auto">
          <a:xfrm>
            <a:off x="0" y="2179638"/>
            <a:ext cx="8731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初始序列的不同不会影响算法的效率</a:t>
            </a:r>
          </a:p>
        </p:txBody>
      </p:sp>
      <p:sp>
        <p:nvSpPr>
          <p:cNvPr id="157701" name="Text Box 5"/>
          <p:cNvSpPr txBox="1">
            <a:spLocks noChangeArrowheads="1"/>
          </p:cNvSpPr>
          <p:nvPr/>
        </p:nvSpPr>
        <p:spPr bwMode="auto">
          <a:xfrm>
            <a:off x="0" y="3500438"/>
            <a:ext cx="91376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en-US" altLang="zh-CN" sz="3600" b="1">
                <a:solidFill>
                  <a:srgbClr val="008000"/>
                </a:solidFill>
              </a:rPr>
              <a:t>        </a:t>
            </a:r>
            <a:r>
              <a:rPr lang="zh-CN" altLang="en-US" sz="3600" b="1">
                <a:solidFill>
                  <a:srgbClr val="008000"/>
                </a:solidFill>
              </a:rPr>
              <a:t>不是每趟排序后都将某个数据放置在它的最终位置</a:t>
            </a:r>
          </a:p>
        </p:txBody>
      </p:sp>
    </p:spTree>
    <p:extLst>
      <p:ext uri="{BB962C8B-B14F-4D97-AF65-F5344CB8AC3E}">
        <p14:creationId xmlns:p14="http://schemas.microsoft.com/office/powerpoint/2010/main" val="15451786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 calcmode="lin" valueType="num">
                                      <p:cBhvr additive="base">
                                        <p:cTn id="7" dur="500" fill="hold"/>
                                        <p:tgtEl>
                                          <p:spTgt spid="157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7700"/>
                                        </p:tgtEl>
                                        <p:attrNameLst>
                                          <p:attrName>style.visibility</p:attrName>
                                        </p:attrNameLst>
                                      </p:cBhvr>
                                      <p:to>
                                        <p:strVal val="visible"/>
                                      </p:to>
                                    </p:set>
                                    <p:anim calcmode="lin" valueType="num">
                                      <p:cBhvr additive="base">
                                        <p:cTn id="13" dur="500" fill="hold"/>
                                        <p:tgtEl>
                                          <p:spTgt spid="157700"/>
                                        </p:tgtEl>
                                        <p:attrNameLst>
                                          <p:attrName>ppt_x</p:attrName>
                                        </p:attrNameLst>
                                      </p:cBhvr>
                                      <p:tavLst>
                                        <p:tav tm="0">
                                          <p:val>
                                            <p:strVal val="1+#ppt_w/2"/>
                                          </p:val>
                                        </p:tav>
                                        <p:tav tm="100000">
                                          <p:val>
                                            <p:strVal val="#ppt_x"/>
                                          </p:val>
                                        </p:tav>
                                      </p:tavLst>
                                    </p:anim>
                                    <p:anim calcmode="lin" valueType="num">
                                      <p:cBhvr additive="base">
                                        <p:cTn id="14" dur="500" fill="hold"/>
                                        <p:tgtEl>
                                          <p:spTgt spid="15770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7701"/>
                                        </p:tgtEl>
                                        <p:attrNameLst>
                                          <p:attrName>style.visibility</p:attrName>
                                        </p:attrNameLst>
                                      </p:cBhvr>
                                      <p:to>
                                        <p:strVal val="visible"/>
                                      </p:to>
                                    </p:set>
                                    <p:anim calcmode="lin" valueType="num">
                                      <p:cBhvr additive="base">
                                        <p:cTn id="19" dur="500" fill="hold"/>
                                        <p:tgtEl>
                                          <p:spTgt spid="157701"/>
                                        </p:tgtEl>
                                        <p:attrNameLst>
                                          <p:attrName>ppt_x</p:attrName>
                                        </p:attrNameLst>
                                      </p:cBhvr>
                                      <p:tavLst>
                                        <p:tav tm="0">
                                          <p:val>
                                            <p:strVal val="#ppt_x"/>
                                          </p:val>
                                        </p:tav>
                                        <p:tav tm="100000">
                                          <p:val>
                                            <p:strVal val="#ppt_x"/>
                                          </p:val>
                                        </p:tav>
                                      </p:tavLst>
                                    </p:anim>
                                    <p:anim calcmode="lin" valueType="num">
                                      <p:cBhvr additive="base">
                                        <p:cTn id="20" dur="500" fill="hold"/>
                                        <p:tgtEl>
                                          <p:spTgt spid="157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p:bldP spid="15770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1524000" y="2895600"/>
            <a:ext cx="57340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6000" b="1">
                <a:solidFill>
                  <a:srgbClr val="0000FF"/>
                </a:solidFill>
                <a:ea typeface="楷体_GB2312" charset="0"/>
              </a:rPr>
              <a:t>10.6   </a:t>
            </a:r>
            <a:r>
              <a:rPr lang="zh-CN" altLang="en-US" sz="6000" b="1">
                <a:solidFill>
                  <a:srgbClr val="0000FF"/>
                </a:solidFill>
                <a:ea typeface="楷体_GB2312" charset="0"/>
              </a:rPr>
              <a:t>基 数 排 序</a:t>
            </a:r>
          </a:p>
        </p:txBody>
      </p:sp>
    </p:spTree>
    <p:extLst>
      <p:ext uri="{BB962C8B-B14F-4D97-AF65-F5344CB8AC3E}">
        <p14:creationId xmlns:p14="http://schemas.microsoft.com/office/powerpoint/2010/main" val="3102884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2162"/>
                                        </p:tgtEl>
                                        <p:attrNameLst>
                                          <p:attrName>style.visibility</p:attrName>
                                        </p:attrNameLst>
                                      </p:cBhvr>
                                      <p:to>
                                        <p:strVal val="visible"/>
                                      </p:to>
                                    </p:set>
                                    <p:animEffect transition="in" filter="dissolve">
                                      <p:cBhvr>
                                        <p:cTn id="7" dur="5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3"/>
          <p:cNvSpPr txBox="1">
            <a:spLocks noChangeArrowheads="1"/>
          </p:cNvSpPr>
          <p:nvPr/>
        </p:nvSpPr>
        <p:spPr bwMode="auto">
          <a:xfrm>
            <a:off x="457200" y="304800"/>
            <a:ext cx="8305800" cy="255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5000"/>
              </a:lnSpc>
            </a:pPr>
            <a:r>
              <a:rPr lang="zh-CN" altLang="en-US" sz="4000">
                <a:ea typeface="楷体_GB2312" charset="0"/>
              </a:rPr>
              <a:t>　</a:t>
            </a:r>
            <a:r>
              <a:rPr lang="zh-CN" altLang="en-US" sz="4000" b="1">
                <a:solidFill>
                  <a:srgbClr val="990000"/>
                </a:solidFill>
                <a:ea typeface="楷体_GB2312" charset="0"/>
              </a:rPr>
              <a:t>基数排序</a:t>
            </a:r>
            <a:r>
              <a:rPr lang="zh-CN" altLang="en-US" sz="4000">
                <a:solidFill>
                  <a:srgbClr val="990000"/>
                </a:solidFill>
                <a:ea typeface="楷体_GB2312" charset="0"/>
              </a:rPr>
              <a:t>是一种</a:t>
            </a:r>
            <a:r>
              <a:rPr lang="zh-CN" altLang="en-US" sz="4000">
                <a:solidFill>
                  <a:srgbClr val="990033"/>
                </a:solidFill>
                <a:ea typeface="楷体_GB2312" charset="0"/>
              </a:rPr>
              <a:t>借助</a:t>
            </a:r>
            <a:r>
              <a:rPr lang="zh-CN" altLang="en-US" sz="4000" u="sng">
                <a:solidFill>
                  <a:schemeClr val="accent2"/>
                </a:solidFill>
                <a:ea typeface="楷体_GB2312" charset="0"/>
              </a:rPr>
              <a:t>“多关键字排序”</a:t>
            </a:r>
            <a:r>
              <a:rPr lang="zh-CN" altLang="en-US" sz="4000" u="sng">
                <a:solidFill>
                  <a:srgbClr val="990033"/>
                </a:solidFill>
                <a:ea typeface="楷体_GB2312" charset="0"/>
              </a:rPr>
              <a:t>的思想来实现</a:t>
            </a:r>
            <a:r>
              <a:rPr lang="zh-CN" altLang="en-US" sz="4000">
                <a:solidFill>
                  <a:srgbClr val="990033"/>
                </a:solidFill>
                <a:ea typeface="楷体_GB2312" charset="0"/>
              </a:rPr>
              <a:t>“单关键字排序”的内部排序算法。</a:t>
            </a:r>
            <a:endParaRPr lang="zh-CN" altLang="en-US" sz="5400">
              <a:ea typeface="楷体_GB2312" charset="0"/>
            </a:endParaRPr>
          </a:p>
        </p:txBody>
      </p:sp>
      <p:sp>
        <p:nvSpPr>
          <p:cNvPr id="54276" name="Text Box 4"/>
          <p:cNvSpPr txBox="1">
            <a:spLocks noChangeArrowheads="1"/>
          </p:cNvSpPr>
          <p:nvPr/>
        </p:nvSpPr>
        <p:spPr bwMode="auto">
          <a:xfrm>
            <a:off x="2667000" y="3794125"/>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隶书" charset="0"/>
              </a:rPr>
              <a:t>多关键字的排序</a:t>
            </a:r>
            <a:endParaRPr lang="zh-CN" altLang="en-US" sz="4000" b="1">
              <a:solidFill>
                <a:srgbClr val="FF00FF"/>
              </a:solidFill>
              <a:ea typeface="楷体_GB2312" charset="0"/>
            </a:endParaRPr>
          </a:p>
        </p:txBody>
      </p:sp>
      <p:sp>
        <p:nvSpPr>
          <p:cNvPr id="54277" name="Text Box 5"/>
          <p:cNvSpPr txBox="1">
            <a:spLocks noChangeArrowheads="1"/>
          </p:cNvSpPr>
          <p:nvPr/>
        </p:nvSpPr>
        <p:spPr bwMode="auto">
          <a:xfrm>
            <a:off x="2743200" y="5013325"/>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隶书" charset="0"/>
              </a:rPr>
              <a:t>链式基数排序</a:t>
            </a:r>
            <a:endParaRPr lang="zh-CN" altLang="en-US" sz="4000" b="1">
              <a:solidFill>
                <a:srgbClr val="FF00FF"/>
              </a:solidFill>
              <a:ea typeface="楷体_GB2312" charset="0"/>
            </a:endParaRPr>
          </a:p>
        </p:txBody>
      </p:sp>
      <p:pic>
        <p:nvPicPr>
          <p:cNvPr id="54278" name="Picture 6" descr="Metallic Orb">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48932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54279" name="Picture 7" descr="Metallic Orb">
            <a:hlinkClick r:id="rId3" action="ppaction://hlinksldjump"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860925"/>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54281" name="AutoShape 9">
            <a:hlinkClick r:id="rId4" action="ppaction://hlinksldjump" highlightClick="1"/>
          </p:cNvPr>
          <p:cNvSpPr>
            <a:spLocks noChangeArrowheads="1"/>
          </p:cNvSpPr>
          <p:nvPr/>
        </p:nvSpPr>
        <p:spPr bwMode="auto">
          <a:xfrm>
            <a:off x="8153400" y="60960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8927616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arn(outVertical)">
                                      <p:cBhvr>
                                        <p:cTn id="7" dur="500"/>
                                        <p:tgtEl>
                                          <p:spTgt spid="542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2" fill="hold" grpId="0" nodeType="clickEffect">
                                  <p:stCondLst>
                                    <p:cond delay="0"/>
                                  </p:stCondLst>
                                  <p:childTnLst>
                                    <p:set>
                                      <p:cBhvr>
                                        <p:cTn id="11" dur="1" fill="hold">
                                          <p:stCondLst>
                                            <p:cond delay="0"/>
                                          </p:stCondLst>
                                        </p:cTn>
                                        <p:tgtEl>
                                          <p:spTgt spid="54276"/>
                                        </p:tgtEl>
                                        <p:attrNameLst>
                                          <p:attrName>style.visibility</p:attrName>
                                        </p:attrNameLst>
                                      </p:cBhvr>
                                      <p:to>
                                        <p:strVal val="visible"/>
                                      </p:to>
                                    </p:set>
                                    <p:anim calcmode="lin" valueType="num">
                                      <p:cBhvr additive="base">
                                        <p:cTn id="12" dur="500" fill="hold"/>
                                        <p:tgtEl>
                                          <p:spTgt spid="54276"/>
                                        </p:tgtEl>
                                        <p:attrNameLst>
                                          <p:attrName>ppt_x</p:attrName>
                                        </p:attrNameLst>
                                      </p:cBhvr>
                                      <p:tavLst>
                                        <p:tav tm="0">
                                          <p:val>
                                            <p:strVal val="0-#ppt_w/2"/>
                                          </p:val>
                                        </p:tav>
                                        <p:tav tm="100000">
                                          <p:val>
                                            <p:strVal val="#ppt_x"/>
                                          </p:val>
                                        </p:tav>
                                      </p:tavLst>
                                    </p:anim>
                                    <p:anim calcmode="lin" valueType="num">
                                      <p:cBhvr additive="base">
                                        <p:cTn id="13" dur="500" fill="hold"/>
                                        <p:tgtEl>
                                          <p:spTgt spid="54276"/>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5427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2" fill="hold" grpId="0" nodeType="clickEffect">
                                  <p:stCondLst>
                                    <p:cond delay="0"/>
                                  </p:stCondLst>
                                  <p:childTnLst>
                                    <p:set>
                                      <p:cBhvr>
                                        <p:cTn id="20" dur="1" fill="hold">
                                          <p:stCondLst>
                                            <p:cond delay="0"/>
                                          </p:stCondLst>
                                        </p:cTn>
                                        <p:tgtEl>
                                          <p:spTgt spid="54277"/>
                                        </p:tgtEl>
                                        <p:attrNameLst>
                                          <p:attrName>style.visibility</p:attrName>
                                        </p:attrNameLst>
                                      </p:cBhvr>
                                      <p:to>
                                        <p:strVal val="visible"/>
                                      </p:to>
                                    </p:set>
                                    <p:anim calcmode="lin" valueType="num">
                                      <p:cBhvr additive="base">
                                        <p:cTn id="21" dur="500" fill="hold"/>
                                        <p:tgtEl>
                                          <p:spTgt spid="54277"/>
                                        </p:tgtEl>
                                        <p:attrNameLst>
                                          <p:attrName>ppt_x</p:attrName>
                                        </p:attrNameLst>
                                      </p:cBhvr>
                                      <p:tavLst>
                                        <p:tav tm="0">
                                          <p:val>
                                            <p:strVal val="0-#ppt_w/2"/>
                                          </p:val>
                                        </p:tav>
                                        <p:tav tm="100000">
                                          <p:val>
                                            <p:strVal val="#ppt_x"/>
                                          </p:val>
                                        </p:tav>
                                      </p:tavLst>
                                    </p:anim>
                                    <p:anim calcmode="lin" valueType="num">
                                      <p:cBhvr additive="base">
                                        <p:cTn id="22" dur="500" fill="hold"/>
                                        <p:tgtEl>
                                          <p:spTgt spid="54277"/>
                                        </p:tgtEl>
                                        <p:attrNameLst>
                                          <p:attrName>ppt_y</p:attrName>
                                        </p:attrNameLst>
                                      </p:cBhvr>
                                      <p:tavLst>
                                        <p:tav tm="0">
                                          <p:val>
                                            <p:strVal val="1+#ppt_h/2"/>
                                          </p:val>
                                        </p:tav>
                                        <p:tav tm="100000">
                                          <p:val>
                                            <p:strVal val="#ppt_y"/>
                                          </p:val>
                                        </p:tav>
                                      </p:tavLst>
                                    </p:anim>
                                  </p:childTnLst>
                                </p:cTn>
                              </p:par>
                            </p:childTnLst>
                          </p:cTn>
                        </p:par>
                        <p:par>
                          <p:cTn id="23" fill="hold" nodeType="afterGroup">
                            <p:stCondLst>
                              <p:cond delay="500"/>
                            </p:stCondLst>
                            <p:childTnLst>
                              <p:par>
                                <p:cTn id="24" presetID="2" presetClass="entr" presetSubtype="8" fill="hold" grpId="0" nodeType="afterEffect">
                                  <p:stCondLst>
                                    <p:cond delay="0"/>
                                  </p:stCondLst>
                                  <p:childTnLst>
                                    <p:set>
                                      <p:cBhvr>
                                        <p:cTn id="25" dur="1" fill="hold">
                                          <p:stCondLst>
                                            <p:cond delay="0"/>
                                          </p:stCondLst>
                                        </p:cTn>
                                        <p:tgtEl>
                                          <p:spTgt spid="54281"/>
                                        </p:tgtEl>
                                        <p:attrNameLst>
                                          <p:attrName>style.visibility</p:attrName>
                                        </p:attrNameLst>
                                      </p:cBhvr>
                                      <p:to>
                                        <p:strVal val="visible"/>
                                      </p:to>
                                    </p:set>
                                    <p:anim calcmode="lin" valueType="num">
                                      <p:cBhvr additive="base">
                                        <p:cTn id="26" dur="500" fill="hold"/>
                                        <p:tgtEl>
                                          <p:spTgt spid="54281"/>
                                        </p:tgtEl>
                                        <p:attrNameLst>
                                          <p:attrName>ppt_x</p:attrName>
                                        </p:attrNameLst>
                                      </p:cBhvr>
                                      <p:tavLst>
                                        <p:tav tm="0">
                                          <p:val>
                                            <p:strVal val="0-#ppt_w/2"/>
                                          </p:val>
                                        </p:tav>
                                        <p:tav tm="100000">
                                          <p:val>
                                            <p:strVal val="#ppt_x"/>
                                          </p:val>
                                        </p:tav>
                                      </p:tavLst>
                                    </p:anim>
                                    <p:anim calcmode="lin" valueType="num">
                                      <p:cBhvr additive="base">
                                        <p:cTn id="27" dur="500" fill="hold"/>
                                        <p:tgtEl>
                                          <p:spTgt spid="54281"/>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1000"/>
                            </p:stCondLst>
                            <p:childTnLst>
                              <p:par>
                                <p:cTn id="29" presetID="1" presetClass="entr" presetSubtype="0" fill="hold" nodeType="afterEffect">
                                  <p:stCondLst>
                                    <p:cond delay="0"/>
                                  </p:stCondLst>
                                  <p:childTnLst>
                                    <p:set>
                                      <p:cBhvr>
                                        <p:cTn id="30" dur="1" fill="hold">
                                          <p:stCondLst>
                                            <p:cond delay="499"/>
                                          </p:stCondLst>
                                        </p:cTn>
                                        <p:tgtEl>
                                          <p:spTgt spid="54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autoUpdateAnimBg="0"/>
      <p:bldP spid="54276" grpId="0" autoUpdateAnimBg="0"/>
      <p:bldP spid="54277" grpId="0" autoUpdateAnimBg="0"/>
      <p:bldP spid="5428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915988" y="212725"/>
            <a:ext cx="4799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一、多关键字的排序</a:t>
            </a:r>
          </a:p>
        </p:txBody>
      </p:sp>
      <p:sp>
        <p:nvSpPr>
          <p:cNvPr id="55300" name="Text Box 4"/>
          <p:cNvSpPr txBox="1">
            <a:spLocks noChangeArrowheads="1"/>
          </p:cNvSpPr>
          <p:nvPr/>
        </p:nvSpPr>
        <p:spPr bwMode="auto">
          <a:xfrm>
            <a:off x="304800" y="990600"/>
            <a:ext cx="8686800" cy="15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4000" b="1">
                <a:solidFill>
                  <a:srgbClr val="000080"/>
                </a:solidFill>
                <a:ea typeface="楷体_GB2312" charset="0"/>
              </a:rPr>
              <a:t>   </a:t>
            </a:r>
            <a:r>
              <a:rPr lang="en-US" altLang="zh-CN" sz="3600" b="1" i="1">
                <a:solidFill>
                  <a:srgbClr val="000080"/>
                </a:solidFill>
                <a:ea typeface="楷体_GB2312" charset="0"/>
              </a:rPr>
              <a:t>n</a:t>
            </a:r>
            <a:r>
              <a:rPr lang="en-US" altLang="zh-CN" sz="3600" b="1">
                <a:solidFill>
                  <a:srgbClr val="000080"/>
                </a:solidFill>
                <a:ea typeface="楷体_GB2312" charset="0"/>
              </a:rPr>
              <a:t> </a:t>
            </a:r>
            <a:r>
              <a:rPr lang="zh-CN" altLang="en-US" sz="3600" b="1">
                <a:solidFill>
                  <a:srgbClr val="000080"/>
                </a:solidFill>
                <a:ea typeface="楷体_GB2312" charset="0"/>
              </a:rPr>
              <a:t>个记录的序列  </a:t>
            </a:r>
            <a:r>
              <a:rPr lang="en-US" altLang="zh-CN" sz="3600" b="1">
                <a:solidFill>
                  <a:srgbClr val="000080"/>
                </a:solidFill>
                <a:ea typeface="楷体_GB2312" charset="0"/>
              </a:rPr>
              <a:t>{ R</a:t>
            </a:r>
            <a:r>
              <a:rPr lang="en-US" altLang="zh-CN" sz="3600" b="1" baseline="-25000">
                <a:solidFill>
                  <a:srgbClr val="000080"/>
                </a:solidFill>
                <a:ea typeface="楷体_GB2312" charset="0"/>
              </a:rPr>
              <a:t>1</a:t>
            </a:r>
            <a:r>
              <a:rPr lang="en-US" altLang="zh-CN" sz="3600" b="1">
                <a:solidFill>
                  <a:srgbClr val="000080"/>
                </a:solidFill>
                <a:ea typeface="楷体_GB2312" charset="0"/>
              </a:rPr>
              <a:t>, R</a:t>
            </a:r>
            <a:r>
              <a:rPr lang="en-US" altLang="zh-CN" sz="3600" b="1" baseline="-25000">
                <a:solidFill>
                  <a:srgbClr val="000080"/>
                </a:solidFill>
                <a:ea typeface="楷体_GB2312" charset="0"/>
              </a:rPr>
              <a:t>2</a:t>
            </a:r>
            <a:r>
              <a:rPr lang="en-US" altLang="zh-CN" sz="3600" b="1">
                <a:solidFill>
                  <a:srgbClr val="000080"/>
                </a:solidFill>
                <a:ea typeface="楷体_GB2312" charset="0"/>
              </a:rPr>
              <a:t>, …</a:t>
            </a:r>
            <a:r>
              <a:rPr lang="zh-CN" altLang="en-US" sz="3600" b="1">
                <a:solidFill>
                  <a:srgbClr val="000080"/>
                </a:solidFill>
                <a:ea typeface="楷体_GB2312" charset="0"/>
              </a:rPr>
              <a:t>，</a:t>
            </a:r>
            <a:r>
              <a:rPr lang="en-US" altLang="zh-CN" sz="3600" b="1">
                <a:solidFill>
                  <a:srgbClr val="000080"/>
                </a:solidFill>
                <a:ea typeface="楷体_GB2312" charset="0"/>
              </a:rPr>
              <a:t>R</a:t>
            </a:r>
            <a:r>
              <a:rPr lang="en-US" altLang="zh-CN" sz="3600" b="1" baseline="-25000">
                <a:solidFill>
                  <a:srgbClr val="000080"/>
                </a:solidFill>
                <a:ea typeface="楷体_GB2312" charset="0"/>
              </a:rPr>
              <a:t>n</a:t>
            </a:r>
            <a:r>
              <a:rPr lang="en-US" altLang="zh-CN" sz="3600" b="1">
                <a:solidFill>
                  <a:srgbClr val="000080"/>
                </a:solidFill>
                <a:ea typeface="楷体_GB2312" charset="0"/>
              </a:rPr>
              <a:t>}</a:t>
            </a:r>
          </a:p>
          <a:p>
            <a:pPr algn="l">
              <a:lnSpc>
                <a:spcPct val="130000"/>
              </a:lnSpc>
            </a:pPr>
            <a:r>
              <a:rPr lang="zh-CN" altLang="en-US" sz="3600" b="1">
                <a:solidFill>
                  <a:srgbClr val="000080"/>
                </a:solidFill>
                <a:latin typeface="楷体_GB2312" charset="0"/>
                <a:ea typeface="楷体_GB2312" charset="0"/>
              </a:rPr>
              <a:t>对关键字 </a:t>
            </a:r>
            <a:r>
              <a:rPr lang="en-US" altLang="zh-CN" sz="3600" b="1">
                <a:solidFill>
                  <a:srgbClr val="000080"/>
                </a:solidFill>
                <a:ea typeface="楷体_GB2312" charset="0"/>
              </a:rPr>
              <a:t>(K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0</a:t>
            </a:r>
            <a:r>
              <a:rPr lang="en-US" altLang="zh-CN" sz="3600" b="1">
                <a:solidFill>
                  <a:srgbClr val="000080"/>
                </a:solidFill>
                <a:ea typeface="楷体_GB2312" charset="0"/>
              </a:rPr>
              <a:t>, 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1</a:t>
            </a:r>
            <a:r>
              <a:rPr lang="en-US" altLang="zh-CN" sz="3600" b="1">
                <a:solidFill>
                  <a:srgbClr val="000080"/>
                </a:solidFill>
                <a:ea typeface="楷体_GB2312" charset="0"/>
              </a:rPr>
              <a:t>,…</a:t>
            </a:r>
            <a:r>
              <a:rPr lang="en-US" altLang="zh-CN" sz="3600" b="1">
                <a:solidFill>
                  <a:srgbClr val="000080"/>
                </a:solidFill>
                <a:latin typeface="楷体_GB2312" charset="0"/>
                <a:ea typeface="楷体_GB2312" charset="0"/>
              </a:rPr>
              <a:t>,</a:t>
            </a:r>
            <a:r>
              <a:rPr lang="en-US" altLang="zh-CN" sz="3600" b="1">
                <a:solidFill>
                  <a:srgbClr val="000080"/>
                </a:solidFill>
                <a:ea typeface="楷体_GB2312" charset="0"/>
              </a:rPr>
              <a:t>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d-1</a:t>
            </a:r>
            <a:r>
              <a:rPr lang="en-US" altLang="zh-CN" sz="3600" b="1">
                <a:solidFill>
                  <a:srgbClr val="000080"/>
                </a:solidFill>
                <a:latin typeface="楷体_GB2312" charset="0"/>
                <a:ea typeface="楷体_GB2312" charset="0"/>
              </a:rPr>
              <a:t>) </a:t>
            </a:r>
            <a:r>
              <a:rPr lang="zh-CN" altLang="en-US" sz="3600" b="1">
                <a:solidFill>
                  <a:srgbClr val="000080"/>
                </a:solidFill>
                <a:latin typeface="楷体_GB2312" charset="0"/>
                <a:ea typeface="楷体_GB2312" charset="0"/>
              </a:rPr>
              <a:t>有序</a:t>
            </a:r>
            <a:r>
              <a:rPr lang="zh-CN" altLang="en-US" sz="3600">
                <a:latin typeface="楷体_GB2312" charset="0"/>
                <a:ea typeface="楷体_GB2312" charset="0"/>
              </a:rPr>
              <a:t>是指：</a:t>
            </a:r>
            <a:endParaRPr lang="zh-CN" altLang="en-US" sz="3600" b="1">
              <a:solidFill>
                <a:srgbClr val="000080"/>
              </a:solidFill>
              <a:latin typeface="楷体_GB2312" charset="0"/>
              <a:ea typeface="楷体_GB2312" charset="0"/>
            </a:endParaRPr>
          </a:p>
        </p:txBody>
      </p:sp>
      <p:sp>
        <p:nvSpPr>
          <p:cNvPr id="55301" name="Text Box 5"/>
          <p:cNvSpPr txBox="1">
            <a:spLocks noChangeArrowheads="1"/>
          </p:cNvSpPr>
          <p:nvPr/>
        </p:nvSpPr>
        <p:spPr bwMode="auto">
          <a:xfrm>
            <a:off x="212725" y="4953000"/>
            <a:ext cx="89312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b="1">
                <a:latin typeface="楷体_GB2312" charset="0"/>
                <a:ea typeface="楷体_GB2312" charset="0"/>
              </a:rPr>
              <a:t> </a:t>
            </a:r>
            <a:r>
              <a:rPr lang="zh-CN" altLang="en-US" sz="3600" b="1">
                <a:latin typeface="楷体_GB2312" charset="0"/>
                <a:ea typeface="楷体_GB2312" charset="0"/>
              </a:rPr>
              <a:t>其中</a:t>
            </a:r>
            <a:r>
              <a:rPr lang="en-US" altLang="zh-CN" sz="3600" b="1">
                <a:latin typeface="楷体_GB2312" charset="0"/>
                <a:ea typeface="楷体_GB2312" charset="0"/>
              </a:rPr>
              <a:t>: </a:t>
            </a:r>
            <a:r>
              <a:rPr lang="en-US" altLang="zh-CN" sz="3600" b="1">
                <a:solidFill>
                  <a:srgbClr val="FF0000"/>
                </a:solidFill>
                <a:ea typeface="楷体_GB2312" charset="0"/>
              </a:rPr>
              <a:t>K</a:t>
            </a:r>
            <a:r>
              <a:rPr lang="en-US" altLang="zh-CN" sz="3600" b="1" baseline="30000">
                <a:solidFill>
                  <a:srgbClr val="FF0000"/>
                </a:solidFill>
                <a:ea typeface="楷体_GB2312" charset="0"/>
              </a:rPr>
              <a:t>0     </a:t>
            </a:r>
            <a:r>
              <a:rPr lang="zh-CN" altLang="en-US" sz="3600" b="1">
                <a:latin typeface="楷体_GB2312" charset="0"/>
                <a:ea typeface="楷体_GB2312" charset="0"/>
              </a:rPr>
              <a:t>被称为 </a:t>
            </a:r>
            <a:r>
              <a:rPr lang="zh-CN" altLang="en-US" sz="3600" b="1">
                <a:solidFill>
                  <a:srgbClr val="FF0000"/>
                </a:solidFill>
                <a:ea typeface="楷体_GB2312" charset="0"/>
              </a:rPr>
              <a:t>“</a:t>
            </a:r>
            <a:r>
              <a:rPr lang="zh-CN" altLang="en-US" sz="3600" b="1">
                <a:solidFill>
                  <a:srgbClr val="FF0000"/>
                </a:solidFill>
                <a:latin typeface="楷体_GB2312" charset="0"/>
                <a:ea typeface="楷体_GB2312" charset="0"/>
              </a:rPr>
              <a:t>最主</a:t>
            </a:r>
            <a:r>
              <a:rPr lang="zh-CN" altLang="en-US" sz="3600" b="1">
                <a:solidFill>
                  <a:srgbClr val="FF0000"/>
                </a:solidFill>
                <a:ea typeface="楷体_GB2312" charset="0"/>
              </a:rPr>
              <a:t>”</a:t>
            </a:r>
            <a:r>
              <a:rPr lang="zh-CN" altLang="en-US" sz="3600" b="1">
                <a:solidFill>
                  <a:srgbClr val="FF0000"/>
                </a:solidFill>
                <a:latin typeface="楷体_GB2312" charset="0"/>
                <a:ea typeface="楷体_GB2312" charset="0"/>
              </a:rPr>
              <a:t>位关键字</a:t>
            </a:r>
            <a:endParaRPr lang="zh-CN" altLang="en-US" sz="3700" b="1">
              <a:latin typeface="楷体_GB2312" charset="0"/>
              <a:ea typeface="楷体_GB2312" charset="0"/>
            </a:endParaRPr>
          </a:p>
        </p:txBody>
      </p:sp>
      <p:sp>
        <p:nvSpPr>
          <p:cNvPr id="55302" name="Rectangle 6"/>
          <p:cNvSpPr>
            <a:spLocks noChangeArrowheads="1"/>
          </p:cNvSpPr>
          <p:nvPr/>
        </p:nvSpPr>
        <p:spPr bwMode="auto">
          <a:xfrm>
            <a:off x="1828800" y="5867400"/>
            <a:ext cx="59483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b="1">
                <a:solidFill>
                  <a:srgbClr val="FF0000"/>
                </a:solidFill>
                <a:ea typeface="楷体_GB2312" charset="0"/>
              </a:rPr>
              <a:t>K</a:t>
            </a:r>
            <a:r>
              <a:rPr lang="en-US" altLang="zh-CN" sz="3600" b="1" baseline="30000">
                <a:solidFill>
                  <a:srgbClr val="FF0000"/>
                </a:solidFill>
                <a:ea typeface="楷体_GB2312" charset="0"/>
              </a:rPr>
              <a:t>d-1  </a:t>
            </a:r>
            <a:r>
              <a:rPr lang="zh-CN" altLang="en-US" sz="3600" b="1">
                <a:latin typeface="楷体_GB2312" charset="0"/>
                <a:ea typeface="楷体_GB2312" charset="0"/>
              </a:rPr>
              <a:t>被称为 </a:t>
            </a:r>
            <a:r>
              <a:rPr lang="zh-CN" altLang="en-US" sz="3600" b="1">
                <a:solidFill>
                  <a:srgbClr val="CC3300"/>
                </a:solidFill>
                <a:ea typeface="楷体_GB2312" charset="0"/>
              </a:rPr>
              <a:t>“</a:t>
            </a:r>
            <a:r>
              <a:rPr lang="zh-CN" altLang="en-US" sz="3600" b="1">
                <a:solidFill>
                  <a:srgbClr val="FF0000"/>
                </a:solidFill>
                <a:latin typeface="楷体_GB2312" charset="0"/>
                <a:ea typeface="楷体_GB2312" charset="0"/>
              </a:rPr>
              <a:t>最次</a:t>
            </a:r>
            <a:r>
              <a:rPr lang="zh-CN" altLang="en-US" sz="3600" b="1">
                <a:solidFill>
                  <a:srgbClr val="FF0000"/>
                </a:solidFill>
                <a:ea typeface="楷体_GB2312" charset="0"/>
              </a:rPr>
              <a:t>”</a:t>
            </a:r>
            <a:r>
              <a:rPr lang="zh-CN" altLang="en-US" sz="3600" b="1">
                <a:solidFill>
                  <a:srgbClr val="FF0000"/>
                </a:solidFill>
                <a:latin typeface="楷体_GB2312" charset="0"/>
                <a:ea typeface="楷体_GB2312" charset="0"/>
              </a:rPr>
              <a:t>位关键字</a:t>
            </a:r>
            <a:endParaRPr lang="zh-CN" altLang="en-US" sz="3600" b="1">
              <a:latin typeface="楷体_GB2312" charset="0"/>
              <a:ea typeface="楷体_GB2312" charset="0"/>
            </a:endParaRPr>
          </a:p>
        </p:txBody>
      </p:sp>
      <p:sp>
        <p:nvSpPr>
          <p:cNvPr id="55303" name="Rectangle 7"/>
          <p:cNvSpPr>
            <a:spLocks noChangeArrowheads="1"/>
          </p:cNvSpPr>
          <p:nvPr/>
        </p:nvSpPr>
        <p:spPr bwMode="auto">
          <a:xfrm>
            <a:off x="304800" y="2590800"/>
            <a:ext cx="8666163"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600">
                <a:latin typeface="楷体_GB2312" charset="0"/>
                <a:ea typeface="楷体_GB2312" charset="0"/>
              </a:rPr>
              <a:t>  </a:t>
            </a:r>
            <a:r>
              <a:rPr lang="zh-CN" altLang="en-US" sz="3600">
                <a:latin typeface="楷体_GB2312" charset="0"/>
                <a:ea typeface="楷体_GB2312" charset="0"/>
              </a:rPr>
              <a:t>对于序列中任意两个记录 </a:t>
            </a:r>
            <a:r>
              <a:rPr lang="en-US" altLang="zh-CN" sz="3600">
                <a:ea typeface="楷体_GB2312" charset="0"/>
              </a:rPr>
              <a:t>R</a:t>
            </a:r>
            <a:r>
              <a:rPr lang="en-US" altLang="zh-CN" sz="3600" baseline="-25000">
                <a:ea typeface="楷体_GB2312" charset="0"/>
              </a:rPr>
              <a:t>i </a:t>
            </a:r>
            <a:r>
              <a:rPr lang="zh-CN" altLang="en-US" sz="3600">
                <a:ea typeface="楷体_GB2312" charset="0"/>
              </a:rPr>
              <a:t>和 </a:t>
            </a:r>
            <a:r>
              <a:rPr lang="en-US" altLang="zh-CN" sz="3600">
                <a:ea typeface="楷体_GB2312" charset="0"/>
              </a:rPr>
              <a:t>R</a:t>
            </a:r>
            <a:r>
              <a:rPr lang="en-US" altLang="zh-CN" sz="3600" baseline="-25000">
                <a:ea typeface="楷体_GB2312" charset="0"/>
              </a:rPr>
              <a:t>j</a:t>
            </a:r>
          </a:p>
          <a:p>
            <a:pPr algn="l">
              <a:lnSpc>
                <a:spcPct val="130000"/>
              </a:lnSpc>
            </a:pPr>
            <a:r>
              <a:rPr lang="en-US" altLang="zh-CN" sz="3600">
                <a:ea typeface="楷体_GB2312" charset="0"/>
              </a:rPr>
              <a:t>(1</a:t>
            </a:r>
            <a:r>
              <a:rPr lang="en-US" altLang="zh-CN" sz="3600">
                <a:latin typeface="楷体_GB2312" charset="0"/>
                <a:ea typeface="楷体_GB2312" charset="0"/>
              </a:rPr>
              <a:t>≤</a:t>
            </a:r>
            <a:r>
              <a:rPr lang="en-US" altLang="zh-CN" sz="3600">
                <a:ea typeface="楷体_GB2312" charset="0"/>
              </a:rPr>
              <a:t>i&lt;j</a:t>
            </a:r>
            <a:r>
              <a:rPr lang="en-US" altLang="zh-CN" sz="3600">
                <a:latin typeface="楷体_GB2312" charset="0"/>
                <a:ea typeface="楷体_GB2312" charset="0"/>
              </a:rPr>
              <a:t>≤</a:t>
            </a:r>
            <a:r>
              <a:rPr lang="en-US" altLang="zh-CN" sz="3600">
                <a:ea typeface="楷体_GB2312" charset="0"/>
              </a:rPr>
              <a:t>n) </a:t>
            </a:r>
            <a:r>
              <a:rPr lang="zh-CN" altLang="en-US" sz="3600">
                <a:ea typeface="楷体_GB2312" charset="0"/>
              </a:rPr>
              <a:t>都</a:t>
            </a:r>
            <a:r>
              <a:rPr lang="zh-CN" altLang="en-US" sz="3600" b="1">
                <a:solidFill>
                  <a:srgbClr val="000080"/>
                </a:solidFill>
                <a:ea typeface="楷体_GB2312" charset="0"/>
              </a:rPr>
              <a:t>满足</a:t>
            </a:r>
            <a:r>
              <a:rPr lang="zh-CN" altLang="en-US" sz="3600">
                <a:ea typeface="楷体_GB2312" charset="0"/>
              </a:rPr>
              <a:t>下列</a:t>
            </a:r>
            <a:r>
              <a:rPr lang="en-US" altLang="zh-CN" sz="3600" b="1">
                <a:solidFill>
                  <a:srgbClr val="000080"/>
                </a:solidFill>
                <a:ea typeface="楷体_GB2312" charset="0"/>
              </a:rPr>
              <a:t>(</a:t>
            </a:r>
            <a:r>
              <a:rPr lang="zh-CN" altLang="en-US" sz="3600" b="1">
                <a:solidFill>
                  <a:srgbClr val="000080"/>
                </a:solidFill>
                <a:ea typeface="楷体_GB2312" charset="0"/>
              </a:rPr>
              <a:t>词典</a:t>
            </a:r>
            <a:r>
              <a:rPr lang="en-US" altLang="zh-CN" sz="3600" b="1">
                <a:solidFill>
                  <a:srgbClr val="000080"/>
                </a:solidFill>
                <a:ea typeface="楷体_GB2312" charset="0"/>
              </a:rPr>
              <a:t>)</a:t>
            </a:r>
            <a:r>
              <a:rPr lang="zh-CN" altLang="en-US" sz="3600" b="1">
                <a:solidFill>
                  <a:srgbClr val="000080"/>
                </a:solidFill>
                <a:ea typeface="楷体_GB2312" charset="0"/>
              </a:rPr>
              <a:t>有序</a:t>
            </a:r>
            <a:r>
              <a:rPr lang="zh-CN" altLang="en-US" sz="3600">
                <a:ea typeface="楷体_GB2312" charset="0"/>
              </a:rPr>
              <a:t>关系：</a:t>
            </a:r>
          </a:p>
          <a:p>
            <a:pPr algn="l">
              <a:lnSpc>
                <a:spcPct val="130000"/>
              </a:lnSpc>
            </a:pPr>
            <a:r>
              <a:rPr lang="zh-CN" altLang="en-US" sz="3600" b="1">
                <a:solidFill>
                  <a:srgbClr val="000080"/>
                </a:solidFill>
                <a:ea typeface="楷体_GB2312" charset="0"/>
              </a:rPr>
              <a:t>  </a:t>
            </a:r>
            <a:r>
              <a:rPr lang="en-US" altLang="zh-CN" sz="3600" b="1">
                <a:solidFill>
                  <a:srgbClr val="000080"/>
                </a:solidFill>
                <a:ea typeface="楷体_GB2312" charset="0"/>
              </a:rPr>
              <a:t>(K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0</a:t>
            </a:r>
            <a:r>
              <a:rPr lang="en-US" altLang="zh-CN" sz="3600" b="1">
                <a:solidFill>
                  <a:srgbClr val="000080"/>
                </a:solidFill>
                <a:ea typeface="楷体_GB2312" charset="0"/>
              </a:rPr>
              <a:t>, 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1</a:t>
            </a:r>
            <a:r>
              <a:rPr lang="en-US" altLang="zh-CN" sz="3600" b="1">
                <a:solidFill>
                  <a:srgbClr val="000080"/>
                </a:solidFill>
                <a:ea typeface="楷体_GB2312" charset="0"/>
              </a:rPr>
              <a:t>,</a:t>
            </a:r>
            <a:r>
              <a:rPr lang="en-US" altLang="zh-CN" sz="3600" b="1">
                <a:solidFill>
                  <a:srgbClr val="000080"/>
                </a:solidFill>
                <a:latin typeface="楷体_GB2312" charset="0"/>
                <a:ea typeface="楷体_GB2312" charset="0"/>
              </a:rPr>
              <a:t> </a:t>
            </a:r>
            <a:r>
              <a:rPr lang="en-US" altLang="zh-CN" sz="3600" b="1">
                <a:solidFill>
                  <a:srgbClr val="000080"/>
                </a:solidFill>
                <a:ea typeface="楷体_GB2312" charset="0"/>
              </a:rPr>
              <a:t>…</a:t>
            </a:r>
            <a:r>
              <a:rPr lang="en-US" altLang="zh-CN" sz="3600" b="1">
                <a:solidFill>
                  <a:srgbClr val="000080"/>
                </a:solidFill>
                <a:latin typeface="楷体_GB2312" charset="0"/>
                <a:ea typeface="楷体_GB2312" charset="0"/>
              </a:rPr>
              <a:t>,</a:t>
            </a:r>
            <a:r>
              <a:rPr lang="en-US" altLang="zh-CN" sz="3600" b="1">
                <a:solidFill>
                  <a:srgbClr val="000080"/>
                </a:solidFill>
                <a:ea typeface="楷体_GB2312" charset="0"/>
              </a:rPr>
              <a:t>K</a:t>
            </a:r>
            <a:r>
              <a:rPr lang="en-US" altLang="zh-CN" sz="3600" b="1" baseline="-25000">
                <a:solidFill>
                  <a:srgbClr val="000080"/>
                </a:solidFill>
                <a:ea typeface="楷体_GB2312" charset="0"/>
              </a:rPr>
              <a:t>i</a:t>
            </a:r>
            <a:r>
              <a:rPr lang="en-US" altLang="zh-CN" sz="3600" b="1" baseline="30000">
                <a:solidFill>
                  <a:srgbClr val="000080"/>
                </a:solidFill>
                <a:ea typeface="楷体_GB2312" charset="0"/>
              </a:rPr>
              <a:t>d-1</a:t>
            </a:r>
            <a:r>
              <a:rPr lang="en-US" altLang="zh-CN" sz="3600" b="1">
                <a:solidFill>
                  <a:srgbClr val="000080"/>
                </a:solidFill>
                <a:latin typeface="楷体_GB2312" charset="0"/>
                <a:ea typeface="楷体_GB2312" charset="0"/>
              </a:rPr>
              <a:t>) &lt; </a:t>
            </a:r>
            <a:r>
              <a:rPr lang="en-US" altLang="zh-CN" sz="3600" b="1">
                <a:solidFill>
                  <a:srgbClr val="000080"/>
                </a:solidFill>
                <a:ea typeface="楷体_GB2312" charset="0"/>
              </a:rPr>
              <a:t> (K</a:t>
            </a:r>
            <a:r>
              <a:rPr lang="en-US" altLang="zh-CN" sz="3600" b="1" baseline="-25000">
                <a:solidFill>
                  <a:srgbClr val="000080"/>
                </a:solidFill>
                <a:ea typeface="楷体_GB2312" charset="0"/>
              </a:rPr>
              <a:t>j</a:t>
            </a:r>
            <a:r>
              <a:rPr lang="en-US" altLang="zh-CN" sz="3600" b="1" baseline="30000">
                <a:solidFill>
                  <a:srgbClr val="000080"/>
                </a:solidFill>
                <a:ea typeface="楷体_GB2312" charset="0"/>
              </a:rPr>
              <a:t>0</a:t>
            </a:r>
            <a:r>
              <a:rPr lang="en-US" altLang="zh-CN" sz="3600" b="1">
                <a:solidFill>
                  <a:srgbClr val="000080"/>
                </a:solidFill>
                <a:ea typeface="楷体_GB2312" charset="0"/>
              </a:rPr>
              <a:t>, K</a:t>
            </a:r>
            <a:r>
              <a:rPr lang="en-US" altLang="zh-CN" sz="3600" b="1" baseline="-25000">
                <a:solidFill>
                  <a:srgbClr val="000080"/>
                </a:solidFill>
                <a:ea typeface="楷体_GB2312" charset="0"/>
              </a:rPr>
              <a:t>j</a:t>
            </a:r>
            <a:r>
              <a:rPr lang="en-US" altLang="zh-CN" sz="3600" b="1" baseline="30000">
                <a:solidFill>
                  <a:srgbClr val="000080"/>
                </a:solidFill>
                <a:ea typeface="楷体_GB2312" charset="0"/>
              </a:rPr>
              <a:t>1</a:t>
            </a:r>
            <a:r>
              <a:rPr lang="en-US" altLang="zh-CN" sz="3600" b="1">
                <a:solidFill>
                  <a:srgbClr val="000080"/>
                </a:solidFill>
                <a:ea typeface="楷体_GB2312" charset="0"/>
              </a:rPr>
              <a:t>,</a:t>
            </a:r>
            <a:r>
              <a:rPr lang="en-US" altLang="zh-CN" sz="3600" b="1">
                <a:solidFill>
                  <a:srgbClr val="000080"/>
                </a:solidFill>
                <a:latin typeface="楷体_GB2312" charset="0"/>
                <a:ea typeface="楷体_GB2312" charset="0"/>
              </a:rPr>
              <a:t> </a:t>
            </a:r>
            <a:r>
              <a:rPr lang="en-US" altLang="zh-CN" sz="3600" b="1">
                <a:solidFill>
                  <a:srgbClr val="000080"/>
                </a:solidFill>
                <a:ea typeface="楷体_GB2312" charset="0"/>
              </a:rPr>
              <a:t>…</a:t>
            </a:r>
            <a:r>
              <a:rPr lang="en-US" altLang="zh-CN" sz="3600" b="1">
                <a:solidFill>
                  <a:srgbClr val="000080"/>
                </a:solidFill>
                <a:latin typeface="楷体_GB2312" charset="0"/>
                <a:ea typeface="楷体_GB2312" charset="0"/>
              </a:rPr>
              <a:t>,</a:t>
            </a:r>
            <a:r>
              <a:rPr lang="en-US" altLang="zh-CN" sz="3600" b="1">
                <a:solidFill>
                  <a:srgbClr val="000080"/>
                </a:solidFill>
                <a:ea typeface="楷体_GB2312" charset="0"/>
              </a:rPr>
              <a:t>K</a:t>
            </a:r>
            <a:r>
              <a:rPr lang="en-US" altLang="zh-CN" sz="3600" b="1" baseline="-25000">
                <a:solidFill>
                  <a:srgbClr val="000080"/>
                </a:solidFill>
                <a:ea typeface="楷体_GB2312" charset="0"/>
              </a:rPr>
              <a:t>j</a:t>
            </a:r>
            <a:r>
              <a:rPr lang="en-US" altLang="zh-CN" sz="3600" b="1" baseline="30000">
                <a:solidFill>
                  <a:srgbClr val="000080"/>
                </a:solidFill>
                <a:ea typeface="楷体_GB2312" charset="0"/>
              </a:rPr>
              <a:t>d-1</a:t>
            </a:r>
            <a:r>
              <a:rPr lang="en-US" altLang="zh-CN" sz="3600" b="1">
                <a:solidFill>
                  <a:srgbClr val="000080"/>
                </a:solidFill>
                <a:latin typeface="楷体_GB2312" charset="0"/>
                <a:ea typeface="楷体_GB2312" charset="0"/>
              </a:rPr>
              <a:t>)</a:t>
            </a:r>
          </a:p>
        </p:txBody>
      </p:sp>
    </p:spTree>
    <p:extLst>
      <p:ext uri="{BB962C8B-B14F-4D97-AF65-F5344CB8AC3E}">
        <p14:creationId xmlns:p14="http://schemas.microsoft.com/office/powerpoint/2010/main" val="8745459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ppt_x"/>
                                          </p:val>
                                        </p:tav>
                                        <p:tav tm="100000">
                                          <p:val>
                                            <p:strVal val="#ppt_x"/>
                                          </p:val>
                                        </p:tav>
                                      </p:tavLst>
                                    </p:anim>
                                    <p:anim calcmode="lin" valueType="num">
                                      <p:cBhvr additive="base">
                                        <p:cTn id="8" dur="500" fill="hold"/>
                                        <p:tgtEl>
                                          <p:spTgt spid="552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5300"/>
                                        </p:tgtEl>
                                        <p:attrNameLst>
                                          <p:attrName>style.visibility</p:attrName>
                                        </p:attrNameLst>
                                      </p:cBhvr>
                                      <p:to>
                                        <p:strVal val="visible"/>
                                      </p:to>
                                    </p:set>
                                    <p:animEffect transition="in" filter="wipe(left)">
                                      <p:cBhvr>
                                        <p:cTn id="13" dur="500"/>
                                        <p:tgtEl>
                                          <p:spTgt spid="5530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5303"/>
                                        </p:tgtEl>
                                        <p:attrNameLst>
                                          <p:attrName>style.visibility</p:attrName>
                                        </p:attrNameLst>
                                      </p:cBhvr>
                                      <p:to>
                                        <p:strVal val="visible"/>
                                      </p:to>
                                    </p:set>
                                    <p:animEffect transition="in" filter="wipe(left)">
                                      <p:cBhvr>
                                        <p:cTn id="18" dur="500"/>
                                        <p:tgtEl>
                                          <p:spTgt spid="55303"/>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5301"/>
                                        </p:tgtEl>
                                        <p:attrNameLst>
                                          <p:attrName>style.visibility</p:attrName>
                                        </p:attrNameLst>
                                      </p:cBhvr>
                                      <p:to>
                                        <p:strVal val="visible"/>
                                      </p:to>
                                    </p:set>
                                    <p:animEffect transition="in" filter="wipe(left)">
                                      <p:cBhvr>
                                        <p:cTn id="22" dur="500"/>
                                        <p:tgtEl>
                                          <p:spTgt spid="553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302"/>
                                        </p:tgtEl>
                                        <p:attrNameLst>
                                          <p:attrName>style.visibility</p:attrName>
                                        </p:attrNameLst>
                                      </p:cBhvr>
                                      <p:to>
                                        <p:strVal val="visible"/>
                                      </p:to>
                                    </p:set>
                                    <p:animEffect transition="in" filter="wipe(left)">
                                      <p:cBhvr>
                                        <p:cTn id="27" dur="500"/>
                                        <p:tgtEl>
                                          <p:spTgt spid="55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300" grpId="0" autoUpdateAnimBg="0"/>
      <p:bldP spid="55301" grpId="0" autoUpdateAnimBg="0"/>
      <p:bldP spid="55302" grpId="0" autoUpdateAnimBg="0"/>
      <p:bldP spid="55303"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685800" y="465138"/>
            <a:ext cx="520382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4400">
                <a:solidFill>
                  <a:srgbClr val="990033"/>
                </a:solidFill>
                <a:latin typeface="楷体_GB2312" charset="0"/>
                <a:ea typeface="楷体_GB2312" charset="0"/>
              </a:rPr>
              <a:t>  </a:t>
            </a:r>
            <a:r>
              <a:rPr lang="zh-CN" altLang="en-US" sz="4400">
                <a:solidFill>
                  <a:srgbClr val="990033"/>
                </a:solidFill>
                <a:latin typeface="楷体_GB2312" charset="0"/>
                <a:ea typeface="楷体_GB2312" charset="0"/>
              </a:rPr>
              <a:t>实现多关键字排序</a:t>
            </a:r>
          </a:p>
          <a:p>
            <a:pPr algn="l">
              <a:lnSpc>
                <a:spcPct val="125000"/>
              </a:lnSpc>
            </a:pPr>
            <a:r>
              <a:rPr lang="zh-CN" altLang="en-US" sz="4400">
                <a:solidFill>
                  <a:srgbClr val="990033"/>
                </a:solidFill>
                <a:latin typeface="楷体_GB2312" charset="0"/>
                <a:ea typeface="楷体_GB2312" charset="0"/>
              </a:rPr>
              <a:t>通常有两种作法</a:t>
            </a:r>
            <a:r>
              <a:rPr lang="en-US" altLang="zh-CN" sz="4400">
                <a:solidFill>
                  <a:srgbClr val="990033"/>
                </a:solidFill>
                <a:latin typeface="楷体_GB2312" charset="0"/>
                <a:ea typeface="楷体_GB2312" charset="0"/>
              </a:rPr>
              <a:t>:</a:t>
            </a:r>
            <a:endParaRPr lang="en-US" altLang="zh-CN" sz="4000">
              <a:latin typeface="楷体_GB2312" charset="0"/>
              <a:ea typeface="楷体_GB2312" charset="0"/>
            </a:endParaRPr>
          </a:p>
        </p:txBody>
      </p:sp>
      <p:sp>
        <p:nvSpPr>
          <p:cNvPr id="56326" name="Text Box 6">
            <a:hlinkClick r:id="rId2" action="ppaction://hlinksldjump"/>
          </p:cNvPr>
          <p:cNvSpPr txBox="1">
            <a:spLocks noChangeArrowheads="1"/>
          </p:cNvSpPr>
          <p:nvPr/>
        </p:nvSpPr>
        <p:spPr bwMode="auto">
          <a:xfrm>
            <a:off x="1639888" y="4175125"/>
            <a:ext cx="424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latin typeface="楷体_GB2312" charset="0"/>
                <a:ea typeface="楷体_GB2312" charset="0"/>
              </a:rPr>
              <a:t>最低位优先</a:t>
            </a:r>
            <a:r>
              <a:rPr lang="en-US" altLang="zh-CN" sz="4000" b="1">
                <a:solidFill>
                  <a:srgbClr val="FF00FF"/>
                </a:solidFill>
                <a:ea typeface="楷体_GB2312" charset="0"/>
              </a:rPr>
              <a:t>LSD</a:t>
            </a:r>
            <a:r>
              <a:rPr lang="zh-CN" altLang="en-US" sz="4000" b="1">
                <a:solidFill>
                  <a:srgbClr val="FF00FF"/>
                </a:solidFill>
                <a:latin typeface="楷体_GB2312" charset="0"/>
                <a:ea typeface="楷体_GB2312" charset="0"/>
              </a:rPr>
              <a:t>法</a:t>
            </a:r>
            <a:endParaRPr lang="zh-CN" altLang="en-US" sz="3600" b="1">
              <a:solidFill>
                <a:srgbClr val="FF00FF"/>
              </a:solidFill>
              <a:latin typeface="楷体_GB2312" charset="0"/>
              <a:ea typeface="楷体_GB2312" charset="0"/>
            </a:endParaRPr>
          </a:p>
        </p:txBody>
      </p:sp>
      <p:sp>
        <p:nvSpPr>
          <p:cNvPr id="56331" name="Text Box 11"/>
          <p:cNvSpPr txBox="1">
            <a:spLocks noChangeArrowheads="1"/>
          </p:cNvSpPr>
          <p:nvPr/>
        </p:nvSpPr>
        <p:spPr bwMode="auto">
          <a:xfrm>
            <a:off x="1660525" y="2727325"/>
            <a:ext cx="4384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latin typeface="楷体_GB2312" charset="0"/>
                <a:ea typeface="楷体_GB2312" charset="0"/>
              </a:rPr>
              <a:t>最高位优先</a:t>
            </a:r>
            <a:r>
              <a:rPr lang="en-US" altLang="zh-CN" sz="4000" b="1">
                <a:solidFill>
                  <a:srgbClr val="FF00FF"/>
                </a:solidFill>
                <a:ea typeface="楷体_GB2312" charset="0"/>
              </a:rPr>
              <a:t>MSD</a:t>
            </a:r>
            <a:r>
              <a:rPr lang="zh-CN" altLang="en-US" sz="4000">
                <a:solidFill>
                  <a:srgbClr val="FF00FF"/>
                </a:solidFill>
                <a:latin typeface="楷体_GB2312" charset="0"/>
                <a:ea typeface="楷体_GB2312" charset="0"/>
              </a:rPr>
              <a:t>法</a:t>
            </a:r>
          </a:p>
        </p:txBody>
      </p:sp>
      <p:sp>
        <p:nvSpPr>
          <p:cNvPr id="56332" name="AutoShape 12">
            <a:hlinkClick r:id="rId3" action="ppaction://hlinksldjump" highlightClick="1"/>
          </p:cNvPr>
          <p:cNvSpPr>
            <a:spLocks noChangeArrowheads="1"/>
          </p:cNvSpPr>
          <p:nvPr/>
        </p:nvSpPr>
        <p:spPr bwMode="auto">
          <a:xfrm>
            <a:off x="83820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58978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blinds(horizontal)">
                                      <p:cBhvr>
                                        <p:cTn id="7" dur="500"/>
                                        <p:tgtEl>
                                          <p:spTgt spid="563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56331"/>
                                        </p:tgtEl>
                                        <p:attrNameLst>
                                          <p:attrName>style.visibility</p:attrName>
                                        </p:attrNameLst>
                                      </p:cBhvr>
                                      <p:to>
                                        <p:strVal val="visible"/>
                                      </p:to>
                                    </p:set>
                                    <p:anim calcmode="lin" valueType="num">
                                      <p:cBhvr>
                                        <p:cTn id="12" dur="500" fill="hold"/>
                                        <p:tgtEl>
                                          <p:spTgt spid="56331"/>
                                        </p:tgtEl>
                                        <p:attrNameLst>
                                          <p:attrName>ppt_x</p:attrName>
                                        </p:attrNameLst>
                                      </p:cBhvr>
                                      <p:tavLst>
                                        <p:tav tm="0">
                                          <p:val>
                                            <p:strVal val="#ppt_x-#ppt_w/2"/>
                                          </p:val>
                                        </p:tav>
                                        <p:tav tm="100000">
                                          <p:val>
                                            <p:strVal val="#ppt_x"/>
                                          </p:val>
                                        </p:tav>
                                      </p:tavLst>
                                    </p:anim>
                                    <p:anim calcmode="lin" valueType="num">
                                      <p:cBhvr>
                                        <p:cTn id="13" dur="500" fill="hold"/>
                                        <p:tgtEl>
                                          <p:spTgt spid="56331"/>
                                        </p:tgtEl>
                                        <p:attrNameLst>
                                          <p:attrName>ppt_y</p:attrName>
                                        </p:attrNameLst>
                                      </p:cBhvr>
                                      <p:tavLst>
                                        <p:tav tm="0">
                                          <p:val>
                                            <p:strVal val="#ppt_y"/>
                                          </p:val>
                                        </p:tav>
                                        <p:tav tm="100000">
                                          <p:val>
                                            <p:strVal val="#ppt_y"/>
                                          </p:val>
                                        </p:tav>
                                      </p:tavLst>
                                    </p:anim>
                                    <p:anim calcmode="lin" valueType="num">
                                      <p:cBhvr>
                                        <p:cTn id="14" dur="500" fill="hold"/>
                                        <p:tgtEl>
                                          <p:spTgt spid="56331"/>
                                        </p:tgtEl>
                                        <p:attrNameLst>
                                          <p:attrName>ppt_w</p:attrName>
                                        </p:attrNameLst>
                                      </p:cBhvr>
                                      <p:tavLst>
                                        <p:tav tm="0">
                                          <p:val>
                                            <p:fltVal val="0"/>
                                          </p:val>
                                        </p:tav>
                                        <p:tav tm="100000">
                                          <p:val>
                                            <p:strVal val="#ppt_w"/>
                                          </p:val>
                                        </p:tav>
                                      </p:tavLst>
                                    </p:anim>
                                    <p:anim calcmode="lin" valueType="num">
                                      <p:cBhvr>
                                        <p:cTn id="15" dur="500" fill="hold"/>
                                        <p:tgtEl>
                                          <p:spTgt spid="56331"/>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56326"/>
                                        </p:tgtEl>
                                        <p:attrNameLst>
                                          <p:attrName>style.visibility</p:attrName>
                                        </p:attrNameLst>
                                      </p:cBhvr>
                                      <p:to>
                                        <p:strVal val="visible"/>
                                      </p:to>
                                    </p:set>
                                    <p:anim calcmode="lin" valueType="num">
                                      <p:cBhvr>
                                        <p:cTn id="20" dur="500" fill="hold"/>
                                        <p:tgtEl>
                                          <p:spTgt spid="56326"/>
                                        </p:tgtEl>
                                        <p:attrNameLst>
                                          <p:attrName>ppt_x</p:attrName>
                                        </p:attrNameLst>
                                      </p:cBhvr>
                                      <p:tavLst>
                                        <p:tav tm="0">
                                          <p:val>
                                            <p:strVal val="#ppt_x-#ppt_w/2"/>
                                          </p:val>
                                        </p:tav>
                                        <p:tav tm="100000">
                                          <p:val>
                                            <p:strVal val="#ppt_x"/>
                                          </p:val>
                                        </p:tav>
                                      </p:tavLst>
                                    </p:anim>
                                    <p:anim calcmode="lin" valueType="num">
                                      <p:cBhvr>
                                        <p:cTn id="21" dur="500" fill="hold"/>
                                        <p:tgtEl>
                                          <p:spTgt spid="56326"/>
                                        </p:tgtEl>
                                        <p:attrNameLst>
                                          <p:attrName>ppt_y</p:attrName>
                                        </p:attrNameLst>
                                      </p:cBhvr>
                                      <p:tavLst>
                                        <p:tav tm="0">
                                          <p:val>
                                            <p:strVal val="#ppt_y"/>
                                          </p:val>
                                        </p:tav>
                                        <p:tav tm="100000">
                                          <p:val>
                                            <p:strVal val="#ppt_y"/>
                                          </p:val>
                                        </p:tav>
                                      </p:tavLst>
                                    </p:anim>
                                    <p:anim calcmode="lin" valueType="num">
                                      <p:cBhvr>
                                        <p:cTn id="22" dur="500" fill="hold"/>
                                        <p:tgtEl>
                                          <p:spTgt spid="56326"/>
                                        </p:tgtEl>
                                        <p:attrNameLst>
                                          <p:attrName>ppt_w</p:attrName>
                                        </p:attrNameLst>
                                      </p:cBhvr>
                                      <p:tavLst>
                                        <p:tav tm="0">
                                          <p:val>
                                            <p:fltVal val="0"/>
                                          </p:val>
                                        </p:tav>
                                        <p:tav tm="100000">
                                          <p:val>
                                            <p:strVal val="#ppt_w"/>
                                          </p:val>
                                        </p:tav>
                                      </p:tavLst>
                                    </p:anim>
                                    <p:anim calcmode="lin" valueType="num">
                                      <p:cBhvr>
                                        <p:cTn id="23" dur="500" fill="hold"/>
                                        <p:tgtEl>
                                          <p:spTgt spid="56326"/>
                                        </p:tgtEl>
                                        <p:attrNameLst>
                                          <p:attrName>ppt_h</p:attrName>
                                        </p:attrNameLst>
                                      </p:cBhvr>
                                      <p:tavLst>
                                        <p:tav tm="0">
                                          <p:val>
                                            <p:strVal val="#ppt_h"/>
                                          </p:val>
                                        </p:tav>
                                        <p:tav tm="100000">
                                          <p:val>
                                            <p:strVal val="#ppt_h"/>
                                          </p:val>
                                        </p:tav>
                                      </p:tavLst>
                                    </p:anim>
                                  </p:childTnLst>
                                </p:cTn>
                              </p:par>
                            </p:childTnLst>
                          </p:cTn>
                        </p:par>
                        <p:par>
                          <p:cTn id="24" fill="hold" nodeType="afterGroup">
                            <p:stCondLst>
                              <p:cond delay="500"/>
                            </p:stCondLst>
                            <p:childTnLst>
                              <p:par>
                                <p:cTn id="25" presetID="2" presetClass="entr" presetSubtype="6" fill="hold" grpId="0" nodeType="afterEffect">
                                  <p:stCondLst>
                                    <p:cond delay="0"/>
                                  </p:stCondLst>
                                  <p:childTnLst>
                                    <p:set>
                                      <p:cBhvr>
                                        <p:cTn id="26" dur="1" fill="hold">
                                          <p:stCondLst>
                                            <p:cond delay="0"/>
                                          </p:stCondLst>
                                        </p:cTn>
                                        <p:tgtEl>
                                          <p:spTgt spid="56332"/>
                                        </p:tgtEl>
                                        <p:attrNameLst>
                                          <p:attrName>style.visibility</p:attrName>
                                        </p:attrNameLst>
                                      </p:cBhvr>
                                      <p:to>
                                        <p:strVal val="visible"/>
                                      </p:to>
                                    </p:set>
                                    <p:anim calcmode="lin" valueType="num">
                                      <p:cBhvr additive="base">
                                        <p:cTn id="27" dur="500" fill="hold"/>
                                        <p:tgtEl>
                                          <p:spTgt spid="56332"/>
                                        </p:tgtEl>
                                        <p:attrNameLst>
                                          <p:attrName>ppt_x</p:attrName>
                                        </p:attrNameLst>
                                      </p:cBhvr>
                                      <p:tavLst>
                                        <p:tav tm="0">
                                          <p:val>
                                            <p:strVal val="1+#ppt_w/2"/>
                                          </p:val>
                                        </p:tav>
                                        <p:tav tm="100000">
                                          <p:val>
                                            <p:strVal val="#ppt_x"/>
                                          </p:val>
                                        </p:tav>
                                      </p:tavLst>
                                    </p:anim>
                                    <p:anim calcmode="lin" valueType="num">
                                      <p:cBhvr additive="base">
                                        <p:cTn id="28" dur="500" fill="hold"/>
                                        <p:tgtEl>
                                          <p:spTgt spid="56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26" grpId="0" autoUpdateAnimBg="0"/>
      <p:bldP spid="56331" grpId="0" autoUpdateAnimBg="0"/>
      <p:bldP spid="56332"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1026"/>
          <p:cNvSpPr txBox="1">
            <a:spLocks noChangeArrowheads="1"/>
          </p:cNvSpPr>
          <p:nvPr/>
        </p:nvSpPr>
        <p:spPr bwMode="auto">
          <a:xfrm>
            <a:off x="685800" y="990600"/>
            <a:ext cx="7772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zh-CN" altLang="en-US" sz="4000" b="1">
                <a:solidFill>
                  <a:srgbClr val="000080"/>
                </a:solidFill>
                <a:latin typeface="楷体_GB2312" charset="0"/>
                <a:ea typeface="楷体_GB2312" charset="0"/>
              </a:rPr>
              <a:t>先对</a:t>
            </a:r>
            <a:r>
              <a:rPr lang="en-US" altLang="zh-CN" sz="4000" b="1">
                <a:solidFill>
                  <a:srgbClr val="000080"/>
                </a:solidFill>
                <a:ea typeface="楷体_GB2312" charset="0"/>
              </a:rPr>
              <a:t>K</a:t>
            </a:r>
            <a:r>
              <a:rPr lang="en-US" altLang="zh-CN" sz="4000" b="1" baseline="30000">
                <a:solidFill>
                  <a:srgbClr val="000080"/>
                </a:solidFill>
                <a:ea typeface="楷体_GB2312" charset="0"/>
              </a:rPr>
              <a:t>0</a:t>
            </a:r>
            <a:r>
              <a:rPr lang="zh-CN" altLang="en-US" sz="4000" b="1">
                <a:solidFill>
                  <a:srgbClr val="000080"/>
                </a:solidFill>
                <a:latin typeface="楷体_GB2312" charset="0"/>
                <a:ea typeface="楷体_GB2312" charset="0"/>
              </a:rPr>
              <a:t>进行排序</a:t>
            </a:r>
            <a:r>
              <a:rPr lang="zh-CN" altLang="en-US" sz="4000">
                <a:latin typeface="楷体_GB2312" charset="0"/>
                <a:ea typeface="楷体_GB2312" charset="0"/>
              </a:rPr>
              <a:t>，并按 </a:t>
            </a:r>
            <a:r>
              <a:rPr lang="en-US" altLang="zh-CN" sz="4000">
                <a:ea typeface="楷体_GB2312" charset="0"/>
              </a:rPr>
              <a:t>K</a:t>
            </a:r>
            <a:r>
              <a:rPr lang="en-US" altLang="zh-CN" sz="4000" baseline="30000">
                <a:ea typeface="楷体_GB2312" charset="0"/>
              </a:rPr>
              <a:t>0 </a:t>
            </a:r>
            <a:r>
              <a:rPr lang="zh-CN" altLang="en-US" sz="4000">
                <a:ea typeface="楷体_GB2312" charset="0"/>
              </a:rPr>
              <a:t>的不同值将记录序列</a:t>
            </a:r>
            <a:r>
              <a:rPr lang="zh-CN" altLang="en-US" sz="4000">
                <a:solidFill>
                  <a:srgbClr val="006666"/>
                </a:solidFill>
                <a:ea typeface="楷体_GB2312" charset="0"/>
              </a:rPr>
              <a:t>分成若干子序列</a:t>
            </a:r>
            <a:r>
              <a:rPr lang="zh-CN" altLang="en-US" sz="4000">
                <a:ea typeface="楷体_GB2312" charset="0"/>
              </a:rPr>
              <a:t>之后，</a:t>
            </a:r>
            <a:r>
              <a:rPr lang="zh-CN" altLang="en-US" sz="4000">
                <a:solidFill>
                  <a:srgbClr val="006666"/>
                </a:solidFill>
                <a:ea typeface="楷体_GB2312" charset="0"/>
              </a:rPr>
              <a:t>分别对 </a:t>
            </a:r>
            <a:r>
              <a:rPr lang="en-US" altLang="zh-CN" sz="4000">
                <a:solidFill>
                  <a:srgbClr val="006666"/>
                </a:solidFill>
                <a:ea typeface="楷体_GB2312" charset="0"/>
              </a:rPr>
              <a:t>K</a:t>
            </a:r>
            <a:r>
              <a:rPr lang="en-US" altLang="zh-CN" sz="4000" baseline="30000">
                <a:solidFill>
                  <a:srgbClr val="006666"/>
                </a:solidFill>
                <a:ea typeface="楷体_GB2312" charset="0"/>
              </a:rPr>
              <a:t>1 </a:t>
            </a:r>
            <a:r>
              <a:rPr lang="zh-CN" altLang="en-US" sz="4000">
                <a:solidFill>
                  <a:srgbClr val="006666"/>
                </a:solidFill>
                <a:ea typeface="楷体_GB2312" charset="0"/>
              </a:rPr>
              <a:t>进行排序</a:t>
            </a:r>
            <a:r>
              <a:rPr lang="zh-CN" altLang="en-US" sz="4000">
                <a:ea typeface="楷体_GB2312" charset="0"/>
              </a:rPr>
              <a:t>，</a:t>
            </a:r>
            <a:r>
              <a:rPr lang="en-US" altLang="zh-CN" sz="4000">
                <a:ea typeface="楷体_GB2312" charset="0"/>
              </a:rPr>
              <a:t>...…</a:t>
            </a:r>
            <a:r>
              <a:rPr lang="zh-CN" altLang="en-US" sz="4000">
                <a:latin typeface="楷体_GB2312" charset="0"/>
                <a:ea typeface="楷体_GB2312" charset="0"/>
              </a:rPr>
              <a:t>， </a:t>
            </a:r>
            <a:r>
              <a:rPr lang="zh-CN" altLang="en-US" sz="4000">
                <a:ea typeface="楷体_GB2312" charset="0"/>
              </a:rPr>
              <a:t>依次类推，</a:t>
            </a:r>
            <a:r>
              <a:rPr lang="zh-CN" altLang="en-US" sz="4000" b="1">
                <a:solidFill>
                  <a:srgbClr val="000080"/>
                </a:solidFill>
                <a:ea typeface="楷体_GB2312" charset="0"/>
              </a:rPr>
              <a:t>直至最后对最次位关键字排序完成为止</a:t>
            </a:r>
            <a:r>
              <a:rPr lang="zh-CN" altLang="en-US" sz="4000">
                <a:ea typeface="楷体_GB2312" charset="0"/>
              </a:rPr>
              <a:t>。</a:t>
            </a:r>
            <a:endParaRPr lang="zh-CN" altLang="en-US"/>
          </a:p>
        </p:txBody>
      </p:sp>
      <p:sp>
        <p:nvSpPr>
          <p:cNvPr id="117764" name="AutoShape 1028">
            <a:hlinkClick r:id="" action="ppaction://hlinkshowjump?jump=lastslideviewed" highlightClick="1"/>
          </p:cNvPr>
          <p:cNvSpPr>
            <a:spLocks noChangeArrowheads="1"/>
          </p:cNvSpPr>
          <p:nvPr/>
        </p:nvSpPr>
        <p:spPr bwMode="auto">
          <a:xfrm>
            <a:off x="8382000" y="6172200"/>
            <a:ext cx="381000" cy="381000"/>
          </a:xfrm>
          <a:prstGeom prst="actionButtonReturn">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635725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17764"/>
                                        </p:tgtEl>
                                        <p:attrNameLst>
                                          <p:attrName>style.visibility</p:attrName>
                                        </p:attrNameLst>
                                      </p:cBhvr>
                                      <p:to>
                                        <p:strVal val="visible"/>
                                      </p:to>
                                    </p:set>
                                    <p:anim calcmode="lin" valueType="num">
                                      <p:cBhvr additive="base">
                                        <p:cTn id="7" dur="500" fill="hold"/>
                                        <p:tgtEl>
                                          <p:spTgt spid="117764"/>
                                        </p:tgtEl>
                                        <p:attrNameLst>
                                          <p:attrName>ppt_x</p:attrName>
                                        </p:attrNameLst>
                                      </p:cBhvr>
                                      <p:tavLst>
                                        <p:tav tm="0">
                                          <p:val>
                                            <p:strVal val="1+#ppt_w/2"/>
                                          </p:val>
                                        </p:tav>
                                        <p:tav tm="100000">
                                          <p:val>
                                            <p:strVal val="#ppt_x"/>
                                          </p:val>
                                        </p:tav>
                                      </p:tavLst>
                                    </p:anim>
                                    <p:anim calcmode="lin" valueType="num">
                                      <p:cBhvr additive="base">
                                        <p:cTn id="8" dur="500" fill="hold"/>
                                        <p:tgtEl>
                                          <p:spTgt spid="1177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026"/>
          <p:cNvSpPr txBox="1">
            <a:spLocks noChangeArrowheads="1"/>
          </p:cNvSpPr>
          <p:nvPr/>
        </p:nvSpPr>
        <p:spPr bwMode="auto">
          <a:xfrm>
            <a:off x="685800" y="685800"/>
            <a:ext cx="784860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3600">
                <a:solidFill>
                  <a:srgbClr val="000080"/>
                </a:solidFill>
                <a:latin typeface="楷体_GB2312" charset="0"/>
                <a:ea typeface="楷体_GB2312" charset="0"/>
              </a:rPr>
              <a:t>   </a:t>
            </a:r>
            <a:r>
              <a:rPr lang="zh-CN" altLang="en-US" sz="3600">
                <a:solidFill>
                  <a:srgbClr val="000080"/>
                </a:solidFill>
                <a:latin typeface="楷体_GB2312" charset="0"/>
                <a:ea typeface="楷体_GB2312" charset="0"/>
              </a:rPr>
              <a:t>先对 </a:t>
            </a:r>
            <a:r>
              <a:rPr lang="en-US" altLang="zh-CN" sz="3600" b="1">
                <a:solidFill>
                  <a:srgbClr val="000080"/>
                </a:solidFill>
                <a:ea typeface="楷体_GB2312" charset="0"/>
              </a:rPr>
              <a:t>K</a:t>
            </a:r>
            <a:r>
              <a:rPr lang="en-US" altLang="zh-CN" sz="3600" b="1" baseline="30000">
                <a:solidFill>
                  <a:srgbClr val="000080"/>
                </a:solidFill>
                <a:ea typeface="楷体_GB2312" charset="0"/>
              </a:rPr>
              <a:t>d-1 </a:t>
            </a:r>
            <a:r>
              <a:rPr lang="zh-CN" altLang="en-US" sz="3600">
                <a:solidFill>
                  <a:srgbClr val="000080"/>
                </a:solidFill>
                <a:ea typeface="楷体_GB2312" charset="0"/>
              </a:rPr>
              <a:t>进行排序</a:t>
            </a:r>
            <a:r>
              <a:rPr lang="zh-CN" altLang="en-US" sz="3600">
                <a:ea typeface="楷体_GB2312" charset="0"/>
              </a:rPr>
              <a:t>，</a:t>
            </a:r>
            <a:r>
              <a:rPr lang="zh-CN" altLang="en-US" sz="3600">
                <a:solidFill>
                  <a:srgbClr val="000066"/>
                </a:solidFill>
                <a:ea typeface="楷体_GB2312" charset="0"/>
              </a:rPr>
              <a:t>然后对 </a:t>
            </a:r>
            <a:r>
              <a:rPr lang="en-US" altLang="zh-CN" sz="3600" b="1">
                <a:solidFill>
                  <a:srgbClr val="000066"/>
                </a:solidFill>
                <a:ea typeface="楷体_GB2312" charset="0"/>
              </a:rPr>
              <a:t>K</a:t>
            </a:r>
            <a:r>
              <a:rPr lang="en-US" altLang="zh-CN" sz="3600" b="1" baseline="30000">
                <a:solidFill>
                  <a:srgbClr val="000066"/>
                </a:solidFill>
                <a:ea typeface="楷体_GB2312" charset="0"/>
              </a:rPr>
              <a:t>d-2   </a:t>
            </a:r>
            <a:r>
              <a:rPr lang="zh-CN" altLang="en-US" sz="3600">
                <a:ea typeface="楷体_GB2312" charset="0"/>
              </a:rPr>
              <a:t>进行排序，依次类推，</a:t>
            </a:r>
            <a:r>
              <a:rPr lang="zh-CN" altLang="en-US" sz="3600" b="1">
                <a:solidFill>
                  <a:srgbClr val="000080"/>
                </a:solidFill>
                <a:ea typeface="楷体_GB2312" charset="0"/>
              </a:rPr>
              <a:t>直至对最主位关键字 </a:t>
            </a:r>
            <a:r>
              <a:rPr lang="en-US" altLang="zh-CN" sz="3600" b="1">
                <a:solidFill>
                  <a:srgbClr val="000080"/>
                </a:solidFill>
                <a:ea typeface="楷体_GB2312" charset="0"/>
              </a:rPr>
              <a:t>K</a:t>
            </a:r>
            <a:r>
              <a:rPr lang="en-US" altLang="zh-CN" sz="3600" b="1" baseline="30000">
                <a:solidFill>
                  <a:srgbClr val="000080"/>
                </a:solidFill>
                <a:ea typeface="楷体_GB2312" charset="0"/>
              </a:rPr>
              <a:t>0 </a:t>
            </a:r>
            <a:r>
              <a:rPr lang="zh-CN" altLang="en-US" sz="3600" b="1">
                <a:solidFill>
                  <a:srgbClr val="000080"/>
                </a:solidFill>
                <a:latin typeface="楷体_GB2312" charset="0"/>
                <a:ea typeface="楷体_GB2312" charset="0"/>
              </a:rPr>
              <a:t>排序完成为止</a:t>
            </a:r>
            <a:r>
              <a:rPr lang="zh-CN" altLang="en-US" sz="3600">
                <a:latin typeface="楷体_GB2312" charset="0"/>
                <a:ea typeface="楷体_GB2312" charset="0"/>
              </a:rPr>
              <a:t>。</a:t>
            </a:r>
          </a:p>
        </p:txBody>
      </p:sp>
      <p:sp>
        <p:nvSpPr>
          <p:cNvPr id="93187" name="Text Box 1027"/>
          <p:cNvSpPr txBox="1">
            <a:spLocks noChangeArrowheads="1"/>
          </p:cNvSpPr>
          <p:nvPr/>
        </p:nvSpPr>
        <p:spPr bwMode="auto">
          <a:xfrm>
            <a:off x="609600" y="3505200"/>
            <a:ext cx="80930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a:latin typeface="楷体_GB2312" charset="0"/>
                <a:ea typeface="楷体_GB2312" charset="0"/>
              </a:rPr>
              <a:t>   </a:t>
            </a:r>
            <a:r>
              <a:rPr lang="zh-CN" altLang="en-US" sz="3600">
                <a:latin typeface="楷体_GB2312" charset="0"/>
                <a:ea typeface="楷体_GB2312" charset="0"/>
              </a:rPr>
              <a:t>排序过程中不需要根据 </a:t>
            </a:r>
            <a:r>
              <a:rPr lang="zh-CN" altLang="en-US" sz="3600">
                <a:ea typeface="楷体_GB2312" charset="0"/>
              </a:rPr>
              <a:t>“</a:t>
            </a:r>
            <a:r>
              <a:rPr lang="zh-CN" altLang="en-US" sz="3600">
                <a:latin typeface="楷体_GB2312" charset="0"/>
                <a:ea typeface="楷体_GB2312" charset="0"/>
              </a:rPr>
              <a:t>前一个</a:t>
            </a:r>
            <a:r>
              <a:rPr lang="zh-CN" altLang="en-US" sz="3600">
                <a:ea typeface="楷体_GB2312" charset="0"/>
              </a:rPr>
              <a:t>”</a:t>
            </a:r>
            <a:r>
              <a:rPr lang="zh-CN" altLang="en-US" sz="3600">
                <a:latin typeface="楷体_GB2312" charset="0"/>
                <a:ea typeface="楷体_GB2312" charset="0"/>
              </a:rPr>
              <a:t> 关键字的排序结果，将记录序列分割成若干个</a:t>
            </a:r>
            <a:r>
              <a:rPr lang="en-US" altLang="zh-CN" sz="3600">
                <a:latin typeface="楷体_GB2312" charset="0"/>
                <a:ea typeface="楷体_GB2312" charset="0"/>
              </a:rPr>
              <a:t>(</a:t>
            </a:r>
            <a:r>
              <a:rPr lang="en-US" altLang="zh-CN" sz="3600">
                <a:ea typeface="楷体_GB2312" charset="0"/>
              </a:rPr>
              <a:t>“</a:t>
            </a:r>
            <a:r>
              <a:rPr lang="zh-CN" altLang="en-US" sz="3600">
                <a:latin typeface="楷体_GB2312" charset="0"/>
                <a:ea typeface="楷体_GB2312" charset="0"/>
              </a:rPr>
              <a:t>前一个</a:t>
            </a:r>
            <a:r>
              <a:rPr lang="zh-CN" altLang="en-US" sz="3600">
                <a:ea typeface="楷体_GB2312" charset="0"/>
              </a:rPr>
              <a:t>”</a:t>
            </a:r>
            <a:r>
              <a:rPr lang="zh-CN" altLang="en-US" sz="3600">
                <a:latin typeface="楷体_GB2312" charset="0"/>
                <a:ea typeface="楷体_GB2312" charset="0"/>
              </a:rPr>
              <a:t>关键字不同的</a:t>
            </a:r>
            <a:r>
              <a:rPr lang="en-US" altLang="zh-CN" sz="3600">
                <a:latin typeface="楷体_GB2312" charset="0"/>
                <a:ea typeface="楷体_GB2312" charset="0"/>
              </a:rPr>
              <a:t>)</a:t>
            </a:r>
            <a:r>
              <a:rPr lang="zh-CN" altLang="en-US" sz="3600">
                <a:latin typeface="楷体_GB2312" charset="0"/>
                <a:ea typeface="楷体_GB2312" charset="0"/>
              </a:rPr>
              <a:t>子序列。</a:t>
            </a:r>
            <a:endParaRPr lang="zh-CN" altLang="en-US"/>
          </a:p>
        </p:txBody>
      </p:sp>
    </p:spTree>
    <p:extLst>
      <p:ext uri="{BB962C8B-B14F-4D97-AF65-F5344CB8AC3E}">
        <p14:creationId xmlns:p14="http://schemas.microsoft.com/office/powerpoint/2010/main" val="10037792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strips(upLeft)">
                                      <p:cBhvr>
                                        <p:cTn id="7" dur="500"/>
                                        <p:tgtEl>
                                          <p:spTgt spid="93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3187"/>
                                        </p:tgtEl>
                                        <p:attrNameLst>
                                          <p:attrName>style.visibility</p:attrName>
                                        </p:attrNameLst>
                                      </p:cBhvr>
                                      <p:to>
                                        <p:strVal val="visible"/>
                                      </p:to>
                                    </p:set>
                                    <p:animEffect transition="in" filter="strips(downRight)">
                                      <p:cBhvr>
                                        <p:cTn id="12" dur="500"/>
                                        <p:tgtEl>
                                          <p:spTgt spid="93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utoUpdateAnimBg="0"/>
      <p:bldP spid="93187"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762000" y="152400"/>
            <a:ext cx="78486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b="1">
                <a:latin typeface="楷体_GB2312" charset="0"/>
                <a:ea typeface="楷体_GB2312" charset="0"/>
              </a:rPr>
              <a:t>　　</a:t>
            </a:r>
            <a:r>
              <a:rPr lang="zh-CN" altLang="en-US" sz="3600" b="1">
                <a:solidFill>
                  <a:srgbClr val="990033"/>
                </a:solidFill>
                <a:latin typeface="楷体_GB2312" charset="0"/>
                <a:ea typeface="楷体_GB2312" charset="0"/>
              </a:rPr>
              <a:t>例如</a:t>
            </a:r>
            <a:r>
              <a:rPr lang="en-US" altLang="zh-CN" sz="3600" b="1">
                <a:solidFill>
                  <a:srgbClr val="990033"/>
                </a:solidFill>
                <a:latin typeface="楷体_GB2312" charset="0"/>
                <a:ea typeface="楷体_GB2312" charset="0"/>
              </a:rPr>
              <a:t>:</a:t>
            </a:r>
            <a:r>
              <a:rPr lang="zh-CN" altLang="en-US" sz="3600">
                <a:solidFill>
                  <a:srgbClr val="008784"/>
                </a:solidFill>
                <a:latin typeface="楷体_GB2312" charset="0"/>
                <a:ea typeface="楷体_GB2312" charset="0"/>
              </a:rPr>
              <a:t>学生记录含三个关键字</a:t>
            </a:r>
            <a:r>
              <a:rPr lang="en-US" altLang="zh-CN" sz="3600">
                <a:solidFill>
                  <a:srgbClr val="008784"/>
                </a:solidFill>
                <a:latin typeface="楷体_GB2312" charset="0"/>
                <a:ea typeface="楷体_GB2312" charset="0"/>
              </a:rPr>
              <a:t>:</a:t>
            </a:r>
            <a:endParaRPr lang="en-US" altLang="zh-CN" sz="3600">
              <a:latin typeface="楷体_GB2312" charset="0"/>
              <a:ea typeface="楷体_GB2312" charset="0"/>
            </a:endParaRPr>
          </a:p>
          <a:p>
            <a:pPr algn="l">
              <a:lnSpc>
                <a:spcPct val="125000"/>
              </a:lnSpc>
            </a:pPr>
            <a:r>
              <a:rPr lang="zh-CN" altLang="en-US" sz="3600" b="1">
                <a:solidFill>
                  <a:srgbClr val="0000FF"/>
                </a:solidFill>
                <a:latin typeface="楷体_GB2312" charset="0"/>
                <a:ea typeface="楷体_GB2312" charset="0"/>
              </a:rPr>
              <a:t>系别</a:t>
            </a:r>
            <a:r>
              <a:rPr lang="zh-CN" altLang="en-US" sz="3600">
                <a:solidFill>
                  <a:srgbClr val="008784"/>
                </a:solidFill>
                <a:latin typeface="楷体_GB2312" charset="0"/>
                <a:ea typeface="楷体_GB2312" charset="0"/>
              </a:rPr>
              <a:t>、</a:t>
            </a:r>
            <a:r>
              <a:rPr lang="zh-CN" altLang="en-US" sz="3600" b="1">
                <a:solidFill>
                  <a:srgbClr val="FF0000"/>
                </a:solidFill>
                <a:latin typeface="楷体_GB2312" charset="0"/>
                <a:ea typeface="楷体_GB2312" charset="0"/>
              </a:rPr>
              <a:t>班号</a:t>
            </a:r>
            <a:r>
              <a:rPr lang="zh-CN" altLang="en-US" sz="3600">
                <a:solidFill>
                  <a:srgbClr val="008784"/>
                </a:solidFill>
                <a:latin typeface="楷体_GB2312" charset="0"/>
                <a:ea typeface="楷体_GB2312" charset="0"/>
              </a:rPr>
              <a:t>和</a:t>
            </a:r>
            <a:r>
              <a:rPr lang="zh-CN" altLang="en-US" sz="3600" b="1">
                <a:solidFill>
                  <a:srgbClr val="990000"/>
                </a:solidFill>
                <a:latin typeface="楷体_GB2312" charset="0"/>
                <a:ea typeface="楷体_GB2312" charset="0"/>
              </a:rPr>
              <a:t>班内的序列号</a:t>
            </a:r>
            <a:r>
              <a:rPr lang="zh-CN" altLang="en-US" sz="3600">
                <a:solidFill>
                  <a:srgbClr val="008784"/>
                </a:solidFill>
                <a:latin typeface="楷体_GB2312" charset="0"/>
                <a:ea typeface="楷体_GB2312" charset="0"/>
              </a:rPr>
              <a:t>，其中以系别为最主位关键字。</a:t>
            </a:r>
          </a:p>
        </p:txBody>
      </p:sp>
      <p:sp>
        <p:nvSpPr>
          <p:cNvPr id="57347" name="Rectangle 3"/>
          <p:cNvSpPr>
            <a:spLocks noChangeArrowheads="1"/>
          </p:cNvSpPr>
          <p:nvPr/>
        </p:nvSpPr>
        <p:spPr bwMode="auto">
          <a:xfrm>
            <a:off x="457200" y="3429000"/>
            <a:ext cx="8382000" cy="2743200"/>
          </a:xfrm>
          <a:prstGeom prst="rect">
            <a:avLst/>
          </a:prstGeom>
          <a:noFill/>
          <a:ln w="9525">
            <a:solidFill>
              <a:srgbClr val="009999"/>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zh-CN"/>
          </a:p>
        </p:txBody>
      </p:sp>
      <p:sp>
        <p:nvSpPr>
          <p:cNvPr id="57348" name="Line 4"/>
          <p:cNvSpPr>
            <a:spLocks noChangeShapeType="1"/>
          </p:cNvSpPr>
          <p:nvPr/>
        </p:nvSpPr>
        <p:spPr bwMode="auto">
          <a:xfrm>
            <a:off x="457200" y="4114800"/>
            <a:ext cx="8382000" cy="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49" name="Line 5"/>
          <p:cNvSpPr>
            <a:spLocks noChangeShapeType="1"/>
          </p:cNvSpPr>
          <p:nvPr/>
        </p:nvSpPr>
        <p:spPr bwMode="auto">
          <a:xfrm>
            <a:off x="457200" y="4800600"/>
            <a:ext cx="8382000" cy="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0" name="Line 6"/>
          <p:cNvSpPr>
            <a:spLocks noChangeShapeType="1"/>
          </p:cNvSpPr>
          <p:nvPr/>
        </p:nvSpPr>
        <p:spPr bwMode="auto">
          <a:xfrm>
            <a:off x="457200" y="5486400"/>
            <a:ext cx="8382000" cy="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2" name="Line 8"/>
          <p:cNvSpPr>
            <a:spLocks noChangeShapeType="1"/>
          </p:cNvSpPr>
          <p:nvPr/>
        </p:nvSpPr>
        <p:spPr bwMode="auto">
          <a:xfrm>
            <a:off x="4800600" y="3429000"/>
            <a:ext cx="0" cy="274320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3" name="Line 9"/>
          <p:cNvSpPr>
            <a:spLocks noChangeShapeType="1"/>
          </p:cNvSpPr>
          <p:nvPr/>
        </p:nvSpPr>
        <p:spPr bwMode="auto">
          <a:xfrm>
            <a:off x="6172200" y="3429000"/>
            <a:ext cx="0" cy="274320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4" name="Line 10"/>
          <p:cNvSpPr>
            <a:spLocks noChangeShapeType="1"/>
          </p:cNvSpPr>
          <p:nvPr/>
        </p:nvSpPr>
        <p:spPr bwMode="auto">
          <a:xfrm>
            <a:off x="7543800" y="3429000"/>
            <a:ext cx="0" cy="274320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5" name="Line 11"/>
          <p:cNvSpPr>
            <a:spLocks noChangeShapeType="1"/>
          </p:cNvSpPr>
          <p:nvPr/>
        </p:nvSpPr>
        <p:spPr bwMode="auto">
          <a:xfrm>
            <a:off x="3505200" y="3429000"/>
            <a:ext cx="0" cy="274320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6" name="Line 12"/>
          <p:cNvSpPr>
            <a:spLocks noChangeShapeType="1"/>
          </p:cNvSpPr>
          <p:nvPr/>
        </p:nvSpPr>
        <p:spPr bwMode="auto">
          <a:xfrm>
            <a:off x="2286000" y="3429000"/>
            <a:ext cx="0" cy="2743200"/>
          </a:xfrm>
          <a:prstGeom prst="line">
            <a:avLst/>
          </a:prstGeom>
          <a:noFill/>
          <a:ln w="9525">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57357" name="Text Box 13"/>
          <p:cNvSpPr txBox="1">
            <a:spLocks noChangeArrowheads="1"/>
          </p:cNvSpPr>
          <p:nvPr/>
        </p:nvSpPr>
        <p:spPr bwMode="auto">
          <a:xfrm>
            <a:off x="381000" y="3505200"/>
            <a:ext cx="1924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ea typeface="楷体_GB2312" charset="0"/>
              </a:rPr>
              <a:t> </a:t>
            </a:r>
            <a:r>
              <a:rPr lang="zh-CN" altLang="en-US" sz="3200" b="1">
                <a:solidFill>
                  <a:schemeClr val="accent2"/>
                </a:solidFill>
                <a:ea typeface="楷体_GB2312" charset="0"/>
              </a:rPr>
              <a:t>无序序列</a:t>
            </a:r>
            <a:endParaRPr lang="zh-CN" altLang="en-US" sz="2800">
              <a:ea typeface="楷体_GB2312" charset="0"/>
            </a:endParaRPr>
          </a:p>
        </p:txBody>
      </p:sp>
      <p:sp>
        <p:nvSpPr>
          <p:cNvPr id="57359" name="Text Box 15"/>
          <p:cNvSpPr txBox="1">
            <a:spLocks noChangeArrowheads="1"/>
          </p:cNvSpPr>
          <p:nvPr/>
        </p:nvSpPr>
        <p:spPr bwMode="auto">
          <a:xfrm>
            <a:off x="457200" y="4191000"/>
            <a:ext cx="1862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b="1">
                <a:solidFill>
                  <a:schemeClr val="accent2"/>
                </a:solidFill>
                <a:ea typeface="楷体_GB2312" charset="0"/>
              </a:rPr>
              <a:t>对</a:t>
            </a:r>
            <a:r>
              <a:rPr lang="en-US" altLang="zh-CN" sz="3200" b="1">
                <a:solidFill>
                  <a:schemeClr val="accent2"/>
                </a:solidFill>
                <a:ea typeface="楷体_GB2312" charset="0"/>
              </a:rPr>
              <a:t>K</a:t>
            </a:r>
            <a:r>
              <a:rPr lang="en-US" altLang="zh-CN" sz="3200" b="1" baseline="30000">
                <a:solidFill>
                  <a:schemeClr val="accent2"/>
                </a:solidFill>
                <a:ea typeface="楷体_GB2312" charset="0"/>
              </a:rPr>
              <a:t>2</a:t>
            </a:r>
            <a:r>
              <a:rPr lang="zh-CN" altLang="en-US" sz="3200" b="1">
                <a:solidFill>
                  <a:schemeClr val="accent2"/>
                </a:solidFill>
                <a:ea typeface="楷体_GB2312" charset="0"/>
              </a:rPr>
              <a:t>排序</a:t>
            </a:r>
            <a:endParaRPr lang="zh-CN" altLang="en-US" sz="2800">
              <a:ea typeface="楷体_GB2312" charset="0"/>
            </a:endParaRPr>
          </a:p>
        </p:txBody>
      </p:sp>
      <p:sp>
        <p:nvSpPr>
          <p:cNvPr id="57360" name="Text Box 16"/>
          <p:cNvSpPr txBox="1">
            <a:spLocks noChangeArrowheads="1"/>
          </p:cNvSpPr>
          <p:nvPr/>
        </p:nvSpPr>
        <p:spPr bwMode="auto">
          <a:xfrm>
            <a:off x="457200" y="4800600"/>
            <a:ext cx="1862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b="1">
                <a:solidFill>
                  <a:schemeClr val="accent2"/>
                </a:solidFill>
                <a:ea typeface="楷体_GB2312" charset="0"/>
              </a:rPr>
              <a:t>对</a:t>
            </a:r>
            <a:r>
              <a:rPr lang="en-US" altLang="zh-CN" sz="3200" b="1">
                <a:solidFill>
                  <a:schemeClr val="accent2"/>
                </a:solidFill>
                <a:ea typeface="楷体_GB2312" charset="0"/>
              </a:rPr>
              <a:t>K</a:t>
            </a:r>
            <a:r>
              <a:rPr lang="en-US" altLang="zh-CN" sz="3200" b="1" baseline="30000">
                <a:solidFill>
                  <a:schemeClr val="accent2"/>
                </a:solidFill>
                <a:ea typeface="楷体_GB2312" charset="0"/>
              </a:rPr>
              <a:t>1</a:t>
            </a:r>
            <a:r>
              <a:rPr lang="zh-CN" altLang="en-US" sz="3200" b="1">
                <a:solidFill>
                  <a:schemeClr val="accent2"/>
                </a:solidFill>
                <a:ea typeface="楷体_GB2312" charset="0"/>
              </a:rPr>
              <a:t>排序</a:t>
            </a:r>
            <a:endParaRPr lang="zh-CN" altLang="en-US" sz="2800">
              <a:ea typeface="楷体_GB2312" charset="0"/>
            </a:endParaRPr>
          </a:p>
        </p:txBody>
      </p:sp>
      <p:sp>
        <p:nvSpPr>
          <p:cNvPr id="57361" name="Text Box 17"/>
          <p:cNvSpPr txBox="1">
            <a:spLocks noChangeArrowheads="1"/>
          </p:cNvSpPr>
          <p:nvPr/>
        </p:nvSpPr>
        <p:spPr bwMode="auto">
          <a:xfrm>
            <a:off x="457200" y="5562600"/>
            <a:ext cx="1862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b="1">
                <a:solidFill>
                  <a:schemeClr val="accent2"/>
                </a:solidFill>
                <a:ea typeface="楷体_GB2312" charset="0"/>
              </a:rPr>
              <a:t>对</a:t>
            </a:r>
            <a:r>
              <a:rPr lang="en-US" altLang="zh-CN" sz="3200" b="1">
                <a:solidFill>
                  <a:schemeClr val="accent2"/>
                </a:solidFill>
                <a:ea typeface="楷体_GB2312" charset="0"/>
              </a:rPr>
              <a:t>K</a:t>
            </a:r>
            <a:r>
              <a:rPr lang="en-US" altLang="zh-CN" sz="3200" b="1" baseline="30000">
                <a:solidFill>
                  <a:schemeClr val="accent2"/>
                </a:solidFill>
                <a:ea typeface="楷体_GB2312" charset="0"/>
              </a:rPr>
              <a:t>0</a:t>
            </a:r>
            <a:r>
              <a:rPr lang="zh-CN" altLang="en-US" sz="3200" b="1">
                <a:solidFill>
                  <a:schemeClr val="accent2"/>
                </a:solidFill>
                <a:ea typeface="楷体_GB2312" charset="0"/>
              </a:rPr>
              <a:t>排序</a:t>
            </a:r>
            <a:endParaRPr lang="zh-CN" altLang="en-US" sz="2800">
              <a:ea typeface="楷体_GB2312" charset="0"/>
            </a:endParaRPr>
          </a:p>
        </p:txBody>
      </p:sp>
      <p:sp>
        <p:nvSpPr>
          <p:cNvPr id="57362" name="Text Box 18"/>
          <p:cNvSpPr txBox="1">
            <a:spLocks noChangeArrowheads="1"/>
          </p:cNvSpPr>
          <p:nvPr/>
        </p:nvSpPr>
        <p:spPr bwMode="auto">
          <a:xfrm>
            <a:off x="2286000"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3,2,30</a:t>
            </a:r>
            <a:endParaRPr lang="en-US" altLang="zh-CN" sz="3000">
              <a:ea typeface="楷体_GB2312" charset="0"/>
            </a:endParaRPr>
          </a:p>
        </p:txBody>
      </p:sp>
      <p:sp>
        <p:nvSpPr>
          <p:cNvPr id="57363" name="Text Box 19"/>
          <p:cNvSpPr txBox="1">
            <a:spLocks noChangeArrowheads="1"/>
          </p:cNvSpPr>
          <p:nvPr/>
        </p:nvSpPr>
        <p:spPr bwMode="auto">
          <a:xfrm>
            <a:off x="35655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1,2,15</a:t>
            </a:r>
            <a:endParaRPr lang="en-US" altLang="zh-CN" sz="3000">
              <a:ea typeface="楷体_GB2312" charset="0"/>
            </a:endParaRPr>
          </a:p>
        </p:txBody>
      </p:sp>
      <p:sp>
        <p:nvSpPr>
          <p:cNvPr id="57364" name="Text Box 20"/>
          <p:cNvSpPr txBox="1">
            <a:spLocks noChangeArrowheads="1"/>
          </p:cNvSpPr>
          <p:nvPr/>
        </p:nvSpPr>
        <p:spPr bwMode="auto">
          <a:xfrm>
            <a:off x="48609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3,1,20</a:t>
            </a:r>
            <a:endParaRPr lang="en-US" altLang="zh-CN" sz="3000">
              <a:ea typeface="楷体_GB2312" charset="0"/>
            </a:endParaRPr>
          </a:p>
        </p:txBody>
      </p:sp>
      <p:sp>
        <p:nvSpPr>
          <p:cNvPr id="57365" name="Text Box 21"/>
          <p:cNvSpPr txBox="1">
            <a:spLocks noChangeArrowheads="1"/>
          </p:cNvSpPr>
          <p:nvPr/>
        </p:nvSpPr>
        <p:spPr bwMode="auto">
          <a:xfrm>
            <a:off x="6232525"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2,3,18</a:t>
            </a:r>
            <a:endParaRPr lang="en-US" altLang="zh-CN" sz="3000">
              <a:ea typeface="楷体_GB2312" charset="0"/>
            </a:endParaRPr>
          </a:p>
        </p:txBody>
      </p:sp>
      <p:sp>
        <p:nvSpPr>
          <p:cNvPr id="57366" name="Text Box 22"/>
          <p:cNvSpPr txBox="1">
            <a:spLocks noChangeArrowheads="1"/>
          </p:cNvSpPr>
          <p:nvPr/>
        </p:nvSpPr>
        <p:spPr bwMode="auto">
          <a:xfrm>
            <a:off x="7620000" y="35052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2,1,20</a:t>
            </a:r>
            <a:endParaRPr lang="en-US" altLang="zh-CN" sz="3000">
              <a:ea typeface="楷体_GB2312" charset="0"/>
            </a:endParaRPr>
          </a:p>
        </p:txBody>
      </p:sp>
      <p:sp>
        <p:nvSpPr>
          <p:cNvPr id="57367" name="Text Box 23"/>
          <p:cNvSpPr txBox="1">
            <a:spLocks noChangeArrowheads="1"/>
          </p:cNvSpPr>
          <p:nvPr/>
        </p:nvSpPr>
        <p:spPr bwMode="auto">
          <a:xfrm>
            <a:off x="2286000" y="4191000"/>
            <a:ext cx="1073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800">
                <a:solidFill>
                  <a:srgbClr val="008784"/>
                </a:solidFill>
                <a:ea typeface="楷体_GB2312" charset="0"/>
              </a:rPr>
              <a:t>1,2,</a:t>
            </a:r>
            <a:r>
              <a:rPr lang="en-US" altLang="zh-CN" sz="2800" b="1">
                <a:solidFill>
                  <a:srgbClr val="800000"/>
                </a:solidFill>
                <a:ea typeface="楷体_GB2312" charset="0"/>
              </a:rPr>
              <a:t>15</a:t>
            </a:r>
          </a:p>
        </p:txBody>
      </p:sp>
      <p:sp>
        <p:nvSpPr>
          <p:cNvPr id="57368" name="Text Box 24"/>
          <p:cNvSpPr txBox="1">
            <a:spLocks noChangeArrowheads="1"/>
          </p:cNvSpPr>
          <p:nvPr/>
        </p:nvSpPr>
        <p:spPr bwMode="auto">
          <a:xfrm>
            <a:off x="3581400" y="41751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2,3,</a:t>
            </a:r>
            <a:r>
              <a:rPr lang="en-US" altLang="zh-CN" sz="3000" b="1">
                <a:solidFill>
                  <a:srgbClr val="800000"/>
                </a:solidFill>
                <a:ea typeface="楷体_GB2312" charset="0"/>
              </a:rPr>
              <a:t>18</a:t>
            </a:r>
          </a:p>
        </p:txBody>
      </p:sp>
      <p:sp>
        <p:nvSpPr>
          <p:cNvPr id="57369" name="Text Box 25"/>
          <p:cNvSpPr txBox="1">
            <a:spLocks noChangeArrowheads="1"/>
          </p:cNvSpPr>
          <p:nvPr/>
        </p:nvSpPr>
        <p:spPr bwMode="auto">
          <a:xfrm>
            <a:off x="4860925" y="41576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3,1,</a:t>
            </a:r>
            <a:r>
              <a:rPr lang="en-US" altLang="zh-CN" sz="3000" b="1">
                <a:solidFill>
                  <a:srgbClr val="800000"/>
                </a:solidFill>
                <a:ea typeface="楷体_GB2312" charset="0"/>
              </a:rPr>
              <a:t>20</a:t>
            </a:r>
          </a:p>
        </p:txBody>
      </p:sp>
      <p:sp>
        <p:nvSpPr>
          <p:cNvPr id="57370" name="Text Box 26"/>
          <p:cNvSpPr txBox="1">
            <a:spLocks noChangeArrowheads="1"/>
          </p:cNvSpPr>
          <p:nvPr/>
        </p:nvSpPr>
        <p:spPr bwMode="auto">
          <a:xfrm>
            <a:off x="6232525" y="41751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2,1,</a:t>
            </a:r>
            <a:r>
              <a:rPr lang="en-US" altLang="zh-CN" sz="3000" b="1">
                <a:solidFill>
                  <a:srgbClr val="800000"/>
                </a:solidFill>
                <a:ea typeface="楷体_GB2312" charset="0"/>
              </a:rPr>
              <a:t>20</a:t>
            </a:r>
          </a:p>
        </p:txBody>
      </p:sp>
      <p:sp>
        <p:nvSpPr>
          <p:cNvPr id="57372" name="Text Box 28"/>
          <p:cNvSpPr txBox="1">
            <a:spLocks noChangeArrowheads="1"/>
          </p:cNvSpPr>
          <p:nvPr/>
        </p:nvSpPr>
        <p:spPr bwMode="auto">
          <a:xfrm>
            <a:off x="7620000" y="41576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3,2,</a:t>
            </a:r>
            <a:r>
              <a:rPr lang="en-US" altLang="zh-CN" sz="3000" b="1">
                <a:solidFill>
                  <a:srgbClr val="800000"/>
                </a:solidFill>
                <a:ea typeface="楷体_GB2312" charset="0"/>
              </a:rPr>
              <a:t>30</a:t>
            </a:r>
          </a:p>
        </p:txBody>
      </p:sp>
      <p:sp>
        <p:nvSpPr>
          <p:cNvPr id="57373" name="Text Box 29"/>
          <p:cNvSpPr txBox="1">
            <a:spLocks noChangeArrowheads="1"/>
          </p:cNvSpPr>
          <p:nvPr/>
        </p:nvSpPr>
        <p:spPr bwMode="auto">
          <a:xfrm>
            <a:off x="2286000" y="48768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a:t>
            </a:r>
            <a:r>
              <a:rPr lang="en-US" altLang="zh-CN" sz="3000" b="1">
                <a:solidFill>
                  <a:srgbClr val="FF0000"/>
                </a:solidFill>
                <a:ea typeface="楷体_GB2312" charset="0"/>
              </a:rPr>
              <a:t>1</a:t>
            </a:r>
            <a:r>
              <a:rPr lang="en-US" altLang="zh-CN" sz="3000">
                <a:solidFill>
                  <a:srgbClr val="008784"/>
                </a:solidFill>
                <a:ea typeface="楷体_GB2312" charset="0"/>
              </a:rPr>
              <a:t>,20</a:t>
            </a:r>
            <a:endParaRPr lang="en-US" altLang="zh-CN" sz="3000">
              <a:ea typeface="楷体_GB2312" charset="0"/>
            </a:endParaRPr>
          </a:p>
        </p:txBody>
      </p:sp>
      <p:sp>
        <p:nvSpPr>
          <p:cNvPr id="57374" name="Text Box 30"/>
          <p:cNvSpPr txBox="1">
            <a:spLocks noChangeArrowheads="1"/>
          </p:cNvSpPr>
          <p:nvPr/>
        </p:nvSpPr>
        <p:spPr bwMode="auto">
          <a:xfrm>
            <a:off x="35655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a:t>
            </a:r>
            <a:r>
              <a:rPr lang="en-US" altLang="zh-CN" sz="3000" b="1">
                <a:solidFill>
                  <a:srgbClr val="FF0000"/>
                </a:solidFill>
                <a:ea typeface="楷体_GB2312" charset="0"/>
              </a:rPr>
              <a:t>1</a:t>
            </a:r>
            <a:r>
              <a:rPr lang="en-US" altLang="zh-CN" sz="3000">
                <a:solidFill>
                  <a:srgbClr val="008784"/>
                </a:solidFill>
                <a:ea typeface="楷体_GB2312" charset="0"/>
              </a:rPr>
              <a:t>,20</a:t>
            </a:r>
            <a:endParaRPr lang="en-US" altLang="zh-CN" sz="3000">
              <a:ea typeface="楷体_GB2312" charset="0"/>
            </a:endParaRPr>
          </a:p>
        </p:txBody>
      </p:sp>
      <p:sp>
        <p:nvSpPr>
          <p:cNvPr id="57375" name="Text Box 31"/>
          <p:cNvSpPr txBox="1">
            <a:spLocks noChangeArrowheads="1"/>
          </p:cNvSpPr>
          <p:nvPr/>
        </p:nvSpPr>
        <p:spPr bwMode="auto">
          <a:xfrm>
            <a:off x="48609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1,</a:t>
            </a:r>
            <a:r>
              <a:rPr lang="en-US" altLang="zh-CN" sz="3000" b="1">
                <a:solidFill>
                  <a:srgbClr val="FF0000"/>
                </a:solidFill>
                <a:ea typeface="楷体_GB2312" charset="0"/>
              </a:rPr>
              <a:t>2</a:t>
            </a:r>
            <a:r>
              <a:rPr lang="en-US" altLang="zh-CN" sz="3000">
                <a:solidFill>
                  <a:srgbClr val="008784"/>
                </a:solidFill>
                <a:ea typeface="楷体_GB2312" charset="0"/>
              </a:rPr>
              <a:t>,15</a:t>
            </a:r>
            <a:endParaRPr lang="en-US" altLang="zh-CN" sz="3000">
              <a:ea typeface="楷体_GB2312" charset="0"/>
            </a:endParaRPr>
          </a:p>
        </p:txBody>
      </p:sp>
      <p:sp>
        <p:nvSpPr>
          <p:cNvPr id="57376" name="Text Box 32"/>
          <p:cNvSpPr txBox="1">
            <a:spLocks noChangeArrowheads="1"/>
          </p:cNvSpPr>
          <p:nvPr/>
        </p:nvSpPr>
        <p:spPr bwMode="auto">
          <a:xfrm>
            <a:off x="6248400" y="4860925"/>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3,</a:t>
            </a:r>
            <a:r>
              <a:rPr lang="en-US" altLang="zh-CN" sz="3000" b="1">
                <a:solidFill>
                  <a:srgbClr val="FF0000"/>
                </a:solidFill>
                <a:ea typeface="楷体_GB2312" charset="0"/>
              </a:rPr>
              <a:t>2</a:t>
            </a:r>
            <a:r>
              <a:rPr lang="en-US" altLang="zh-CN" sz="3000">
                <a:solidFill>
                  <a:srgbClr val="008784"/>
                </a:solidFill>
                <a:ea typeface="楷体_GB2312" charset="0"/>
              </a:rPr>
              <a:t>,30</a:t>
            </a:r>
            <a:endParaRPr lang="en-US" altLang="zh-CN" sz="3000">
              <a:ea typeface="楷体_GB2312" charset="0"/>
            </a:endParaRPr>
          </a:p>
        </p:txBody>
      </p:sp>
      <p:sp>
        <p:nvSpPr>
          <p:cNvPr id="57377" name="Text Box 33"/>
          <p:cNvSpPr txBox="1">
            <a:spLocks noChangeArrowheads="1"/>
          </p:cNvSpPr>
          <p:nvPr/>
        </p:nvSpPr>
        <p:spPr bwMode="auto">
          <a:xfrm>
            <a:off x="7604125" y="4843463"/>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rgbClr val="008784"/>
                </a:solidFill>
                <a:ea typeface="楷体_GB2312" charset="0"/>
              </a:rPr>
              <a:t>2,</a:t>
            </a:r>
            <a:r>
              <a:rPr lang="en-US" altLang="zh-CN" sz="3000" b="1">
                <a:solidFill>
                  <a:srgbClr val="FF0000"/>
                </a:solidFill>
                <a:ea typeface="楷体_GB2312" charset="0"/>
              </a:rPr>
              <a:t>3</a:t>
            </a:r>
            <a:r>
              <a:rPr lang="en-US" altLang="zh-CN" sz="3000">
                <a:solidFill>
                  <a:srgbClr val="008784"/>
                </a:solidFill>
                <a:ea typeface="楷体_GB2312" charset="0"/>
              </a:rPr>
              <a:t>,18</a:t>
            </a:r>
            <a:endParaRPr lang="en-US" altLang="zh-CN" sz="3000">
              <a:ea typeface="楷体_GB2312" charset="0"/>
            </a:endParaRPr>
          </a:p>
        </p:txBody>
      </p:sp>
      <p:sp>
        <p:nvSpPr>
          <p:cNvPr id="57378" name="Text Box 34"/>
          <p:cNvSpPr txBox="1">
            <a:spLocks noChangeArrowheads="1"/>
          </p:cNvSpPr>
          <p:nvPr/>
        </p:nvSpPr>
        <p:spPr bwMode="auto">
          <a:xfrm>
            <a:off x="2216150" y="5562600"/>
            <a:ext cx="12319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b="1">
                <a:solidFill>
                  <a:srgbClr val="000080"/>
                </a:solidFill>
                <a:ea typeface="楷体_GB2312" charset="0"/>
              </a:rPr>
              <a:t> </a:t>
            </a:r>
            <a:r>
              <a:rPr lang="en-US" altLang="zh-CN" sz="3000" b="1">
                <a:solidFill>
                  <a:srgbClr val="0000FF"/>
                </a:solidFill>
                <a:ea typeface="楷体_GB2312" charset="0"/>
              </a:rPr>
              <a:t>1</a:t>
            </a:r>
            <a:r>
              <a:rPr lang="en-US" altLang="zh-CN" sz="3000">
                <a:solidFill>
                  <a:srgbClr val="008784"/>
                </a:solidFill>
                <a:ea typeface="楷体_GB2312" charset="0"/>
              </a:rPr>
              <a:t>,2,15</a:t>
            </a:r>
            <a:endParaRPr lang="en-US" altLang="zh-CN" sz="3000">
              <a:ea typeface="楷体_GB2312" charset="0"/>
            </a:endParaRPr>
          </a:p>
        </p:txBody>
      </p:sp>
      <p:sp>
        <p:nvSpPr>
          <p:cNvPr id="57382" name="Text Box 38"/>
          <p:cNvSpPr txBox="1">
            <a:spLocks noChangeArrowheads="1"/>
          </p:cNvSpPr>
          <p:nvPr/>
        </p:nvSpPr>
        <p:spPr bwMode="auto">
          <a:xfrm>
            <a:off x="35814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b="1">
                <a:solidFill>
                  <a:srgbClr val="0000FF"/>
                </a:solidFill>
                <a:ea typeface="楷体_GB2312" charset="0"/>
              </a:rPr>
              <a:t>2</a:t>
            </a:r>
            <a:r>
              <a:rPr lang="en-US" altLang="zh-CN" sz="3000">
                <a:solidFill>
                  <a:srgbClr val="008784"/>
                </a:solidFill>
                <a:ea typeface="楷体_GB2312" charset="0"/>
              </a:rPr>
              <a:t>,1,20</a:t>
            </a:r>
            <a:endParaRPr lang="en-US" altLang="zh-CN" sz="3000">
              <a:ea typeface="楷体_GB2312" charset="0"/>
            </a:endParaRPr>
          </a:p>
        </p:txBody>
      </p:sp>
      <p:sp>
        <p:nvSpPr>
          <p:cNvPr id="57383" name="Text Box 39"/>
          <p:cNvSpPr txBox="1">
            <a:spLocks noChangeArrowheads="1"/>
          </p:cNvSpPr>
          <p:nvPr/>
        </p:nvSpPr>
        <p:spPr bwMode="auto">
          <a:xfrm>
            <a:off x="48768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b="1">
                <a:solidFill>
                  <a:srgbClr val="0000FF"/>
                </a:solidFill>
                <a:ea typeface="楷体_GB2312" charset="0"/>
              </a:rPr>
              <a:t>2</a:t>
            </a:r>
            <a:r>
              <a:rPr lang="en-US" altLang="zh-CN" sz="3000">
                <a:solidFill>
                  <a:srgbClr val="008784"/>
                </a:solidFill>
                <a:ea typeface="楷体_GB2312" charset="0"/>
              </a:rPr>
              <a:t>,3,18</a:t>
            </a:r>
            <a:endParaRPr lang="en-US" altLang="zh-CN" sz="3000">
              <a:ea typeface="楷体_GB2312" charset="0"/>
            </a:endParaRPr>
          </a:p>
        </p:txBody>
      </p:sp>
      <p:sp>
        <p:nvSpPr>
          <p:cNvPr id="57384" name="Text Box 40"/>
          <p:cNvSpPr txBox="1">
            <a:spLocks noChangeArrowheads="1"/>
          </p:cNvSpPr>
          <p:nvPr/>
        </p:nvSpPr>
        <p:spPr bwMode="auto">
          <a:xfrm>
            <a:off x="625475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b="1">
                <a:solidFill>
                  <a:srgbClr val="0000FF"/>
                </a:solidFill>
                <a:ea typeface="楷体_GB2312" charset="0"/>
              </a:rPr>
              <a:t>3</a:t>
            </a:r>
            <a:r>
              <a:rPr lang="en-US" altLang="zh-CN" sz="3000">
                <a:solidFill>
                  <a:srgbClr val="008784"/>
                </a:solidFill>
                <a:ea typeface="楷体_GB2312" charset="0"/>
              </a:rPr>
              <a:t>,1,20</a:t>
            </a:r>
            <a:endParaRPr lang="en-US" altLang="zh-CN" sz="3000">
              <a:ea typeface="楷体_GB2312" charset="0"/>
            </a:endParaRPr>
          </a:p>
        </p:txBody>
      </p:sp>
      <p:sp>
        <p:nvSpPr>
          <p:cNvPr id="57385" name="Text Box 41"/>
          <p:cNvSpPr txBox="1">
            <a:spLocks noChangeArrowheads="1"/>
          </p:cNvSpPr>
          <p:nvPr/>
        </p:nvSpPr>
        <p:spPr bwMode="auto">
          <a:xfrm>
            <a:off x="7620000" y="5562600"/>
            <a:ext cx="11366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b="1">
                <a:solidFill>
                  <a:srgbClr val="0000FF"/>
                </a:solidFill>
                <a:ea typeface="楷体_GB2312" charset="0"/>
              </a:rPr>
              <a:t>3</a:t>
            </a:r>
            <a:r>
              <a:rPr lang="en-US" altLang="zh-CN" sz="3000">
                <a:solidFill>
                  <a:srgbClr val="008784"/>
                </a:solidFill>
                <a:ea typeface="楷体_GB2312" charset="0"/>
              </a:rPr>
              <a:t>,2,30</a:t>
            </a:r>
            <a:endParaRPr lang="en-US" altLang="zh-CN" sz="3000">
              <a:ea typeface="楷体_GB2312" charset="0"/>
            </a:endParaRPr>
          </a:p>
        </p:txBody>
      </p:sp>
      <p:sp>
        <p:nvSpPr>
          <p:cNvPr id="57388" name="Rectangle 44"/>
          <p:cNvSpPr>
            <a:spLocks noChangeArrowheads="1"/>
          </p:cNvSpPr>
          <p:nvPr/>
        </p:nvSpPr>
        <p:spPr bwMode="auto">
          <a:xfrm>
            <a:off x="762000" y="2438400"/>
            <a:ext cx="44989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en-US" altLang="zh-CN" sz="3600" b="1">
                <a:solidFill>
                  <a:srgbClr val="990000"/>
                </a:solidFill>
                <a:ea typeface="楷体_GB2312" charset="0"/>
              </a:rPr>
              <a:t>LSD</a:t>
            </a:r>
            <a:r>
              <a:rPr lang="zh-CN" altLang="en-US" sz="3600">
                <a:solidFill>
                  <a:srgbClr val="990000"/>
                </a:solidFill>
                <a:latin typeface="楷体_GB2312" charset="0"/>
                <a:ea typeface="楷体_GB2312" charset="0"/>
              </a:rPr>
              <a:t>的排序过程如下</a:t>
            </a:r>
            <a:r>
              <a:rPr lang="en-US" altLang="zh-CN" sz="3600">
                <a:solidFill>
                  <a:srgbClr val="990000"/>
                </a:solidFill>
                <a:latin typeface="楷体_GB2312" charset="0"/>
                <a:ea typeface="楷体_GB2312" charset="0"/>
              </a:rPr>
              <a:t>:</a:t>
            </a:r>
            <a:endParaRPr lang="en-US" altLang="zh-CN" sz="3600">
              <a:latin typeface="楷体_GB2312" charset="0"/>
              <a:ea typeface="楷体_GB2312" charset="0"/>
            </a:endParaRPr>
          </a:p>
        </p:txBody>
      </p:sp>
      <p:sp>
        <p:nvSpPr>
          <p:cNvPr id="57389" name="AutoShape 45">
            <a:hlinkClick r:id="rId2" action="ppaction://hlinksldjump" highlightClick="1"/>
          </p:cNvPr>
          <p:cNvSpPr>
            <a:spLocks noChangeArrowheads="1"/>
          </p:cNvSpPr>
          <p:nvPr/>
        </p:nvSpPr>
        <p:spPr bwMode="auto">
          <a:xfrm>
            <a:off x="8763000" y="64770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942617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iterate type="wd">
                                    <p:tmPct val="100000"/>
                                  </p:iterate>
                                  <p:childTnLst>
                                    <p:set>
                                      <p:cBhvr>
                                        <p:cTn id="6" dur="1" fill="hold">
                                          <p:stCondLst>
                                            <p:cond delay="0"/>
                                          </p:stCondLst>
                                        </p:cTn>
                                        <p:tgtEl>
                                          <p:spTgt spid="57346"/>
                                        </p:tgtEl>
                                        <p:attrNameLst>
                                          <p:attrName>style.visibility</p:attrName>
                                        </p:attrNameLst>
                                      </p:cBhvr>
                                      <p:to>
                                        <p:strVal val="visible"/>
                                      </p:to>
                                    </p:set>
                                    <p:animEffect transition="in" filter="strips(downRight)">
                                      <p:cBhvr>
                                        <p:cTn id="7" dur="3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88"/>
                                        </p:tgtEl>
                                        <p:attrNameLst>
                                          <p:attrName>style.visibility</p:attrName>
                                        </p:attrNameLst>
                                      </p:cBhvr>
                                      <p:to>
                                        <p:strVal val="visible"/>
                                      </p:to>
                                    </p:set>
                                    <p:animEffect transition="in" filter="wipe(left)">
                                      <p:cBhvr>
                                        <p:cTn id="12" dur="500"/>
                                        <p:tgtEl>
                                          <p:spTgt spid="57388"/>
                                        </p:tgtEl>
                                      </p:cBhvr>
                                    </p:animEffect>
                                  </p:childTnLst>
                                </p:cTn>
                              </p:par>
                            </p:childTnLst>
                          </p:cTn>
                        </p:par>
                        <p:par>
                          <p:cTn id="13" fill="hold" nodeType="afterGroup">
                            <p:stCondLst>
                              <p:cond delay="500"/>
                            </p:stCondLst>
                            <p:childTnLst>
                              <p:par>
                                <p:cTn id="14" presetID="17" presetClass="entr" presetSubtype="8" fill="hold" grpId="0" nodeType="afterEffect">
                                  <p:stCondLst>
                                    <p:cond delay="0"/>
                                  </p:stCondLst>
                                  <p:childTnLst>
                                    <p:set>
                                      <p:cBhvr>
                                        <p:cTn id="15" dur="1" fill="hold">
                                          <p:stCondLst>
                                            <p:cond delay="0"/>
                                          </p:stCondLst>
                                        </p:cTn>
                                        <p:tgtEl>
                                          <p:spTgt spid="57347"/>
                                        </p:tgtEl>
                                        <p:attrNameLst>
                                          <p:attrName>style.visibility</p:attrName>
                                        </p:attrNameLst>
                                      </p:cBhvr>
                                      <p:to>
                                        <p:strVal val="visible"/>
                                      </p:to>
                                    </p:set>
                                    <p:anim calcmode="lin" valueType="num">
                                      <p:cBhvr>
                                        <p:cTn id="16" dur="500" fill="hold"/>
                                        <p:tgtEl>
                                          <p:spTgt spid="57347"/>
                                        </p:tgtEl>
                                        <p:attrNameLst>
                                          <p:attrName>ppt_x</p:attrName>
                                        </p:attrNameLst>
                                      </p:cBhvr>
                                      <p:tavLst>
                                        <p:tav tm="0">
                                          <p:val>
                                            <p:strVal val="#ppt_x-#ppt_w/2"/>
                                          </p:val>
                                        </p:tav>
                                        <p:tav tm="100000">
                                          <p:val>
                                            <p:strVal val="#ppt_x"/>
                                          </p:val>
                                        </p:tav>
                                      </p:tavLst>
                                    </p:anim>
                                    <p:anim calcmode="lin" valueType="num">
                                      <p:cBhvr>
                                        <p:cTn id="17" dur="500" fill="hold"/>
                                        <p:tgtEl>
                                          <p:spTgt spid="57347"/>
                                        </p:tgtEl>
                                        <p:attrNameLst>
                                          <p:attrName>ppt_y</p:attrName>
                                        </p:attrNameLst>
                                      </p:cBhvr>
                                      <p:tavLst>
                                        <p:tav tm="0">
                                          <p:val>
                                            <p:strVal val="#ppt_y"/>
                                          </p:val>
                                        </p:tav>
                                        <p:tav tm="100000">
                                          <p:val>
                                            <p:strVal val="#ppt_y"/>
                                          </p:val>
                                        </p:tav>
                                      </p:tavLst>
                                    </p:anim>
                                    <p:anim calcmode="lin" valueType="num">
                                      <p:cBhvr>
                                        <p:cTn id="18" dur="500" fill="hold"/>
                                        <p:tgtEl>
                                          <p:spTgt spid="57347"/>
                                        </p:tgtEl>
                                        <p:attrNameLst>
                                          <p:attrName>ppt_w</p:attrName>
                                        </p:attrNameLst>
                                      </p:cBhvr>
                                      <p:tavLst>
                                        <p:tav tm="0">
                                          <p:val>
                                            <p:fltVal val="0"/>
                                          </p:val>
                                        </p:tav>
                                        <p:tav tm="100000">
                                          <p:val>
                                            <p:strVal val="#ppt_w"/>
                                          </p:val>
                                        </p:tav>
                                      </p:tavLst>
                                    </p:anim>
                                    <p:anim calcmode="lin" valueType="num">
                                      <p:cBhvr>
                                        <p:cTn id="19" dur="500" fill="hold"/>
                                        <p:tgtEl>
                                          <p:spTgt spid="57347"/>
                                        </p:tgtEl>
                                        <p:attrNameLst>
                                          <p:attrName>ppt_h</p:attrName>
                                        </p:attrNameLst>
                                      </p:cBhvr>
                                      <p:tavLst>
                                        <p:tav tm="0">
                                          <p:val>
                                            <p:strVal val="#ppt_h"/>
                                          </p:val>
                                        </p:tav>
                                        <p:tav tm="100000">
                                          <p:val>
                                            <p:strVal val="#ppt_h"/>
                                          </p:val>
                                        </p:tav>
                                      </p:tavLst>
                                    </p:anim>
                                  </p:childTnLst>
                                </p:cTn>
                              </p:par>
                            </p:childTnLst>
                          </p:cTn>
                        </p:par>
                        <p:par>
                          <p:cTn id="20" fill="hold" nodeType="afterGroup">
                            <p:stCondLst>
                              <p:cond delay="1000"/>
                            </p:stCondLst>
                            <p:childTnLst>
                              <p:par>
                                <p:cTn id="21" presetID="1" presetClass="entr" presetSubtype="0" fill="hold" grpId="0" nodeType="afterEffect">
                                  <p:stCondLst>
                                    <p:cond delay="0"/>
                                  </p:stCondLst>
                                  <p:childTnLst>
                                    <p:set>
                                      <p:cBhvr>
                                        <p:cTn id="22" dur="1" fill="hold">
                                          <p:stCondLst>
                                            <p:cond delay="499"/>
                                          </p:stCondLst>
                                        </p:cTn>
                                        <p:tgtEl>
                                          <p:spTgt spid="57348"/>
                                        </p:tgtEl>
                                        <p:attrNameLst>
                                          <p:attrName>style.visibility</p:attrName>
                                        </p:attrNameLst>
                                      </p:cBhvr>
                                      <p:to>
                                        <p:strVal val="visible"/>
                                      </p:to>
                                    </p:set>
                                  </p:childTnLst>
                                </p:cTn>
                              </p:par>
                            </p:childTnLst>
                          </p:cTn>
                        </p:par>
                        <p:par>
                          <p:cTn id="23" fill="hold" nodeType="afterGroup">
                            <p:stCondLst>
                              <p:cond delay="1500"/>
                            </p:stCondLst>
                            <p:childTnLst>
                              <p:par>
                                <p:cTn id="24" presetID="1" presetClass="entr" presetSubtype="0" fill="hold" grpId="0" nodeType="afterEffect">
                                  <p:stCondLst>
                                    <p:cond delay="0"/>
                                  </p:stCondLst>
                                  <p:childTnLst>
                                    <p:set>
                                      <p:cBhvr>
                                        <p:cTn id="25" dur="1" fill="hold">
                                          <p:stCondLst>
                                            <p:cond delay="499"/>
                                          </p:stCondLst>
                                        </p:cTn>
                                        <p:tgtEl>
                                          <p:spTgt spid="57349"/>
                                        </p:tgtEl>
                                        <p:attrNameLst>
                                          <p:attrName>style.visibility</p:attrName>
                                        </p:attrNameLst>
                                      </p:cBhvr>
                                      <p:to>
                                        <p:strVal val="visible"/>
                                      </p:to>
                                    </p:set>
                                  </p:childTnLst>
                                </p:cTn>
                              </p:par>
                            </p:childTnLst>
                          </p:cTn>
                        </p:par>
                        <p:par>
                          <p:cTn id="26" fill="hold" nodeType="afterGroup">
                            <p:stCondLst>
                              <p:cond delay="2000"/>
                            </p:stCondLst>
                            <p:childTnLst>
                              <p:par>
                                <p:cTn id="27" presetID="1" presetClass="entr" presetSubtype="0" fill="hold" grpId="0" nodeType="afterEffect">
                                  <p:stCondLst>
                                    <p:cond delay="0"/>
                                  </p:stCondLst>
                                  <p:childTnLst>
                                    <p:set>
                                      <p:cBhvr>
                                        <p:cTn id="28" dur="1" fill="hold">
                                          <p:stCondLst>
                                            <p:cond delay="499"/>
                                          </p:stCondLst>
                                        </p:cTn>
                                        <p:tgtEl>
                                          <p:spTgt spid="57350"/>
                                        </p:tgtEl>
                                        <p:attrNameLst>
                                          <p:attrName>style.visibility</p:attrName>
                                        </p:attrNameLst>
                                      </p:cBhvr>
                                      <p:to>
                                        <p:strVal val="visible"/>
                                      </p:to>
                                    </p:set>
                                  </p:childTnLst>
                                </p:cTn>
                              </p:par>
                            </p:childTnLst>
                          </p:cTn>
                        </p:par>
                        <p:par>
                          <p:cTn id="29" fill="hold" nodeType="afterGroup">
                            <p:stCondLst>
                              <p:cond delay="2500"/>
                            </p:stCondLst>
                            <p:childTnLst>
                              <p:par>
                                <p:cTn id="30" presetID="1" presetClass="entr" presetSubtype="0" fill="hold" grpId="0" nodeType="afterEffect">
                                  <p:stCondLst>
                                    <p:cond delay="0"/>
                                  </p:stCondLst>
                                  <p:childTnLst>
                                    <p:set>
                                      <p:cBhvr>
                                        <p:cTn id="31" dur="1" fill="hold">
                                          <p:stCondLst>
                                            <p:cond delay="499"/>
                                          </p:stCondLst>
                                        </p:cTn>
                                        <p:tgtEl>
                                          <p:spTgt spid="57352"/>
                                        </p:tgtEl>
                                        <p:attrNameLst>
                                          <p:attrName>style.visibility</p:attrName>
                                        </p:attrNameLst>
                                      </p:cBhvr>
                                      <p:to>
                                        <p:strVal val="visible"/>
                                      </p:to>
                                    </p:set>
                                  </p:childTnLst>
                                </p:cTn>
                              </p:par>
                            </p:childTnLst>
                          </p:cTn>
                        </p:par>
                        <p:par>
                          <p:cTn id="32" fill="hold" nodeType="afterGroup">
                            <p:stCondLst>
                              <p:cond delay="3000"/>
                            </p:stCondLst>
                            <p:childTnLst>
                              <p:par>
                                <p:cTn id="33" presetID="1" presetClass="entr" presetSubtype="0" fill="hold" grpId="0" nodeType="afterEffect">
                                  <p:stCondLst>
                                    <p:cond delay="0"/>
                                  </p:stCondLst>
                                  <p:childTnLst>
                                    <p:set>
                                      <p:cBhvr>
                                        <p:cTn id="34" dur="1" fill="hold">
                                          <p:stCondLst>
                                            <p:cond delay="499"/>
                                          </p:stCondLst>
                                        </p:cTn>
                                        <p:tgtEl>
                                          <p:spTgt spid="57353"/>
                                        </p:tgtEl>
                                        <p:attrNameLst>
                                          <p:attrName>style.visibility</p:attrName>
                                        </p:attrNameLst>
                                      </p:cBhvr>
                                      <p:to>
                                        <p:strVal val="visible"/>
                                      </p:to>
                                    </p:set>
                                  </p:childTnLst>
                                </p:cTn>
                              </p:par>
                            </p:childTnLst>
                          </p:cTn>
                        </p:par>
                        <p:par>
                          <p:cTn id="35" fill="hold" nodeType="afterGroup">
                            <p:stCondLst>
                              <p:cond delay="3500"/>
                            </p:stCondLst>
                            <p:childTnLst>
                              <p:par>
                                <p:cTn id="36" presetID="1" presetClass="entr" presetSubtype="0" fill="hold" grpId="0" nodeType="afterEffect">
                                  <p:stCondLst>
                                    <p:cond delay="0"/>
                                  </p:stCondLst>
                                  <p:childTnLst>
                                    <p:set>
                                      <p:cBhvr>
                                        <p:cTn id="37" dur="1" fill="hold">
                                          <p:stCondLst>
                                            <p:cond delay="499"/>
                                          </p:stCondLst>
                                        </p:cTn>
                                        <p:tgtEl>
                                          <p:spTgt spid="57354"/>
                                        </p:tgtEl>
                                        <p:attrNameLst>
                                          <p:attrName>style.visibility</p:attrName>
                                        </p:attrNameLst>
                                      </p:cBhvr>
                                      <p:to>
                                        <p:strVal val="visible"/>
                                      </p:to>
                                    </p:set>
                                  </p:childTnLst>
                                </p:cTn>
                              </p:par>
                            </p:childTnLst>
                          </p:cTn>
                        </p:par>
                        <p:par>
                          <p:cTn id="38" fill="hold" nodeType="afterGroup">
                            <p:stCondLst>
                              <p:cond delay="4000"/>
                            </p:stCondLst>
                            <p:childTnLst>
                              <p:par>
                                <p:cTn id="39" presetID="1" presetClass="entr" presetSubtype="0" fill="hold" grpId="0" nodeType="afterEffect">
                                  <p:stCondLst>
                                    <p:cond delay="0"/>
                                  </p:stCondLst>
                                  <p:childTnLst>
                                    <p:set>
                                      <p:cBhvr>
                                        <p:cTn id="40" dur="1" fill="hold">
                                          <p:stCondLst>
                                            <p:cond delay="499"/>
                                          </p:stCondLst>
                                        </p:cTn>
                                        <p:tgtEl>
                                          <p:spTgt spid="57355"/>
                                        </p:tgtEl>
                                        <p:attrNameLst>
                                          <p:attrName>style.visibility</p:attrName>
                                        </p:attrNameLst>
                                      </p:cBhvr>
                                      <p:to>
                                        <p:strVal val="visible"/>
                                      </p:to>
                                    </p:set>
                                  </p:childTnLst>
                                </p:cTn>
                              </p:par>
                            </p:childTnLst>
                          </p:cTn>
                        </p:par>
                        <p:par>
                          <p:cTn id="41" fill="hold" nodeType="afterGroup">
                            <p:stCondLst>
                              <p:cond delay="4500"/>
                            </p:stCondLst>
                            <p:childTnLst>
                              <p:par>
                                <p:cTn id="42" presetID="1" presetClass="entr" presetSubtype="0" fill="hold" grpId="0" nodeType="afterEffect">
                                  <p:stCondLst>
                                    <p:cond delay="0"/>
                                  </p:stCondLst>
                                  <p:childTnLst>
                                    <p:set>
                                      <p:cBhvr>
                                        <p:cTn id="43" dur="1" fill="hold">
                                          <p:stCondLst>
                                            <p:cond delay="499"/>
                                          </p:stCondLst>
                                        </p:cTn>
                                        <p:tgtEl>
                                          <p:spTgt spid="57356"/>
                                        </p:tgtEl>
                                        <p:attrNameLst>
                                          <p:attrName>style.visibility</p:attrName>
                                        </p:attrNameLst>
                                      </p:cBhvr>
                                      <p:to>
                                        <p:strVal val="visible"/>
                                      </p:to>
                                    </p:set>
                                  </p:childTnLst>
                                </p:cTn>
                              </p:par>
                            </p:childTnLst>
                          </p:cTn>
                        </p:par>
                        <p:par>
                          <p:cTn id="44" fill="hold" nodeType="afterGroup">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57357"/>
                                        </p:tgtEl>
                                        <p:attrNameLst>
                                          <p:attrName>style.visibility</p:attrName>
                                        </p:attrNameLst>
                                      </p:cBhvr>
                                      <p:to>
                                        <p:strVal val="visible"/>
                                      </p:to>
                                    </p:set>
                                    <p:animEffect transition="in" filter="wipe(left)">
                                      <p:cBhvr>
                                        <p:cTn id="47" dur="500"/>
                                        <p:tgtEl>
                                          <p:spTgt spid="57357"/>
                                        </p:tgtEl>
                                      </p:cBhvr>
                                    </p:animEffect>
                                  </p:childTnLst>
                                </p:cTn>
                              </p:par>
                            </p:childTnLst>
                          </p:cTn>
                        </p:par>
                        <p:par>
                          <p:cTn id="48" fill="hold" nodeType="afterGroup">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57362"/>
                                        </p:tgtEl>
                                        <p:attrNameLst>
                                          <p:attrName>style.visibility</p:attrName>
                                        </p:attrNameLst>
                                      </p:cBhvr>
                                      <p:to>
                                        <p:strVal val="visible"/>
                                      </p:to>
                                    </p:set>
                                    <p:animEffect transition="in" filter="wipe(left)">
                                      <p:cBhvr>
                                        <p:cTn id="51" dur="500"/>
                                        <p:tgtEl>
                                          <p:spTgt spid="57362"/>
                                        </p:tgtEl>
                                      </p:cBhvr>
                                    </p:animEffect>
                                  </p:childTnLst>
                                </p:cTn>
                              </p:par>
                            </p:childTnLst>
                          </p:cTn>
                        </p:par>
                        <p:par>
                          <p:cTn id="52" fill="hold" nodeType="afterGroup">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57363"/>
                                        </p:tgtEl>
                                        <p:attrNameLst>
                                          <p:attrName>style.visibility</p:attrName>
                                        </p:attrNameLst>
                                      </p:cBhvr>
                                      <p:to>
                                        <p:strVal val="visible"/>
                                      </p:to>
                                    </p:set>
                                    <p:animEffect transition="in" filter="wipe(left)">
                                      <p:cBhvr>
                                        <p:cTn id="55" dur="500"/>
                                        <p:tgtEl>
                                          <p:spTgt spid="57363"/>
                                        </p:tgtEl>
                                      </p:cBhvr>
                                    </p:animEffect>
                                  </p:childTnLst>
                                </p:cTn>
                              </p:par>
                            </p:childTnLst>
                          </p:cTn>
                        </p:par>
                        <p:par>
                          <p:cTn id="56" fill="hold" nodeType="afterGroup">
                            <p:stCondLst>
                              <p:cond delay="6500"/>
                            </p:stCondLst>
                            <p:childTnLst>
                              <p:par>
                                <p:cTn id="57" presetID="22" presetClass="entr" presetSubtype="8" fill="hold" grpId="0" nodeType="afterEffect">
                                  <p:stCondLst>
                                    <p:cond delay="0"/>
                                  </p:stCondLst>
                                  <p:childTnLst>
                                    <p:set>
                                      <p:cBhvr>
                                        <p:cTn id="58" dur="1" fill="hold">
                                          <p:stCondLst>
                                            <p:cond delay="0"/>
                                          </p:stCondLst>
                                        </p:cTn>
                                        <p:tgtEl>
                                          <p:spTgt spid="57364"/>
                                        </p:tgtEl>
                                        <p:attrNameLst>
                                          <p:attrName>style.visibility</p:attrName>
                                        </p:attrNameLst>
                                      </p:cBhvr>
                                      <p:to>
                                        <p:strVal val="visible"/>
                                      </p:to>
                                    </p:set>
                                    <p:animEffect transition="in" filter="wipe(left)">
                                      <p:cBhvr>
                                        <p:cTn id="59" dur="500"/>
                                        <p:tgtEl>
                                          <p:spTgt spid="57364"/>
                                        </p:tgtEl>
                                      </p:cBhvr>
                                    </p:animEffect>
                                  </p:childTnLst>
                                </p:cTn>
                              </p:par>
                            </p:childTnLst>
                          </p:cTn>
                        </p:par>
                        <p:par>
                          <p:cTn id="60" fill="hold" nodeType="afterGroup">
                            <p:stCondLst>
                              <p:cond delay="7000"/>
                            </p:stCondLst>
                            <p:childTnLst>
                              <p:par>
                                <p:cTn id="61" presetID="22" presetClass="entr" presetSubtype="8" fill="hold" grpId="0" nodeType="afterEffect">
                                  <p:stCondLst>
                                    <p:cond delay="0"/>
                                  </p:stCondLst>
                                  <p:childTnLst>
                                    <p:set>
                                      <p:cBhvr>
                                        <p:cTn id="62" dur="1" fill="hold">
                                          <p:stCondLst>
                                            <p:cond delay="0"/>
                                          </p:stCondLst>
                                        </p:cTn>
                                        <p:tgtEl>
                                          <p:spTgt spid="57365"/>
                                        </p:tgtEl>
                                        <p:attrNameLst>
                                          <p:attrName>style.visibility</p:attrName>
                                        </p:attrNameLst>
                                      </p:cBhvr>
                                      <p:to>
                                        <p:strVal val="visible"/>
                                      </p:to>
                                    </p:set>
                                    <p:animEffect transition="in" filter="wipe(left)">
                                      <p:cBhvr>
                                        <p:cTn id="63" dur="500"/>
                                        <p:tgtEl>
                                          <p:spTgt spid="57365"/>
                                        </p:tgtEl>
                                      </p:cBhvr>
                                    </p:animEffect>
                                  </p:childTnLst>
                                </p:cTn>
                              </p:par>
                            </p:childTnLst>
                          </p:cTn>
                        </p:par>
                        <p:par>
                          <p:cTn id="64" fill="hold" nodeType="afterGroup">
                            <p:stCondLst>
                              <p:cond delay="7500"/>
                            </p:stCondLst>
                            <p:childTnLst>
                              <p:par>
                                <p:cTn id="65" presetID="2" presetClass="entr" presetSubtype="6" fill="hold" grpId="0" nodeType="afterEffect">
                                  <p:stCondLst>
                                    <p:cond delay="0"/>
                                  </p:stCondLst>
                                  <p:childTnLst>
                                    <p:set>
                                      <p:cBhvr>
                                        <p:cTn id="66" dur="1" fill="hold">
                                          <p:stCondLst>
                                            <p:cond delay="0"/>
                                          </p:stCondLst>
                                        </p:cTn>
                                        <p:tgtEl>
                                          <p:spTgt spid="57389"/>
                                        </p:tgtEl>
                                        <p:attrNameLst>
                                          <p:attrName>style.visibility</p:attrName>
                                        </p:attrNameLst>
                                      </p:cBhvr>
                                      <p:to>
                                        <p:strVal val="visible"/>
                                      </p:to>
                                    </p:set>
                                    <p:anim calcmode="lin" valueType="num">
                                      <p:cBhvr additive="base">
                                        <p:cTn id="67" dur="500" fill="hold"/>
                                        <p:tgtEl>
                                          <p:spTgt spid="57389"/>
                                        </p:tgtEl>
                                        <p:attrNameLst>
                                          <p:attrName>ppt_x</p:attrName>
                                        </p:attrNameLst>
                                      </p:cBhvr>
                                      <p:tavLst>
                                        <p:tav tm="0">
                                          <p:val>
                                            <p:strVal val="1+#ppt_w/2"/>
                                          </p:val>
                                        </p:tav>
                                        <p:tav tm="100000">
                                          <p:val>
                                            <p:strVal val="#ppt_x"/>
                                          </p:val>
                                        </p:tav>
                                      </p:tavLst>
                                    </p:anim>
                                    <p:anim calcmode="lin" valueType="num">
                                      <p:cBhvr additive="base">
                                        <p:cTn id="68" dur="500" fill="hold"/>
                                        <p:tgtEl>
                                          <p:spTgt spid="57389"/>
                                        </p:tgtEl>
                                        <p:attrNameLst>
                                          <p:attrName>ppt_y</p:attrName>
                                        </p:attrNameLst>
                                      </p:cBhvr>
                                      <p:tavLst>
                                        <p:tav tm="0">
                                          <p:val>
                                            <p:strVal val="1+#ppt_h/2"/>
                                          </p:val>
                                        </p:tav>
                                        <p:tav tm="100000">
                                          <p:val>
                                            <p:strVal val="#ppt_y"/>
                                          </p:val>
                                        </p:tav>
                                      </p:tavLst>
                                    </p:anim>
                                  </p:childTnLst>
                                </p:cTn>
                              </p:par>
                            </p:childTnLst>
                          </p:cTn>
                        </p:par>
                        <p:par>
                          <p:cTn id="69" fill="hold" nodeType="afterGroup">
                            <p:stCondLst>
                              <p:cond delay="8000"/>
                            </p:stCondLst>
                            <p:childTnLst>
                              <p:par>
                                <p:cTn id="70" presetID="22" presetClass="entr" presetSubtype="8" fill="hold" grpId="0" nodeType="afterEffect">
                                  <p:stCondLst>
                                    <p:cond delay="0"/>
                                  </p:stCondLst>
                                  <p:childTnLst>
                                    <p:set>
                                      <p:cBhvr>
                                        <p:cTn id="71" dur="1" fill="hold">
                                          <p:stCondLst>
                                            <p:cond delay="0"/>
                                          </p:stCondLst>
                                        </p:cTn>
                                        <p:tgtEl>
                                          <p:spTgt spid="57366"/>
                                        </p:tgtEl>
                                        <p:attrNameLst>
                                          <p:attrName>style.visibility</p:attrName>
                                        </p:attrNameLst>
                                      </p:cBhvr>
                                      <p:to>
                                        <p:strVal val="visible"/>
                                      </p:to>
                                    </p:set>
                                    <p:animEffect transition="in" filter="wipe(left)">
                                      <p:cBhvr>
                                        <p:cTn id="72" dur="500"/>
                                        <p:tgtEl>
                                          <p:spTgt spid="5736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57359"/>
                                        </p:tgtEl>
                                        <p:attrNameLst>
                                          <p:attrName>style.visibility</p:attrName>
                                        </p:attrNameLst>
                                      </p:cBhvr>
                                      <p:to>
                                        <p:strVal val="visible"/>
                                      </p:to>
                                    </p:set>
                                    <p:animEffect transition="in" filter="wipe(left)">
                                      <p:cBhvr>
                                        <p:cTn id="77" dur="500"/>
                                        <p:tgtEl>
                                          <p:spTgt spid="5735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7367"/>
                                        </p:tgtEl>
                                        <p:attrNameLst>
                                          <p:attrName>style.visibility</p:attrName>
                                        </p:attrNameLst>
                                      </p:cBhvr>
                                      <p:to>
                                        <p:strVal val="visible"/>
                                      </p:to>
                                    </p:set>
                                    <p:animEffect transition="in" filter="wipe(left)">
                                      <p:cBhvr>
                                        <p:cTn id="82" dur="500"/>
                                        <p:tgtEl>
                                          <p:spTgt spid="57367"/>
                                        </p:tgtEl>
                                      </p:cBhvr>
                                    </p:animEffect>
                                  </p:childTnLst>
                                </p:cTn>
                              </p:par>
                            </p:childTnLst>
                          </p:cTn>
                        </p:par>
                        <p:par>
                          <p:cTn id="83" fill="hold" nodeType="afterGroup">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57368"/>
                                        </p:tgtEl>
                                        <p:attrNameLst>
                                          <p:attrName>style.visibility</p:attrName>
                                        </p:attrNameLst>
                                      </p:cBhvr>
                                      <p:to>
                                        <p:strVal val="visible"/>
                                      </p:to>
                                    </p:set>
                                    <p:animEffect transition="in" filter="wipe(left)">
                                      <p:cBhvr>
                                        <p:cTn id="86" dur="500"/>
                                        <p:tgtEl>
                                          <p:spTgt spid="57368"/>
                                        </p:tgtEl>
                                      </p:cBhvr>
                                    </p:animEffect>
                                  </p:childTnLst>
                                </p:cTn>
                              </p:par>
                            </p:childTnLst>
                          </p:cTn>
                        </p:par>
                        <p:par>
                          <p:cTn id="87" fill="hold" nodeType="afterGroup">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57369"/>
                                        </p:tgtEl>
                                        <p:attrNameLst>
                                          <p:attrName>style.visibility</p:attrName>
                                        </p:attrNameLst>
                                      </p:cBhvr>
                                      <p:to>
                                        <p:strVal val="visible"/>
                                      </p:to>
                                    </p:set>
                                    <p:animEffect transition="in" filter="wipe(left)">
                                      <p:cBhvr>
                                        <p:cTn id="90" dur="500"/>
                                        <p:tgtEl>
                                          <p:spTgt spid="57369"/>
                                        </p:tgtEl>
                                      </p:cBhvr>
                                    </p:animEffect>
                                  </p:childTnLst>
                                </p:cTn>
                              </p:par>
                            </p:childTnLst>
                          </p:cTn>
                        </p:par>
                        <p:par>
                          <p:cTn id="91" fill="hold" nodeType="afterGroup">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57370"/>
                                        </p:tgtEl>
                                        <p:attrNameLst>
                                          <p:attrName>style.visibility</p:attrName>
                                        </p:attrNameLst>
                                      </p:cBhvr>
                                      <p:to>
                                        <p:strVal val="visible"/>
                                      </p:to>
                                    </p:set>
                                    <p:animEffect transition="in" filter="wipe(left)">
                                      <p:cBhvr>
                                        <p:cTn id="94" dur="500"/>
                                        <p:tgtEl>
                                          <p:spTgt spid="57370"/>
                                        </p:tgtEl>
                                      </p:cBhvr>
                                    </p:animEffect>
                                  </p:childTnLst>
                                </p:cTn>
                              </p:par>
                            </p:childTnLst>
                          </p:cTn>
                        </p:par>
                        <p:par>
                          <p:cTn id="95" fill="hold" nodeType="afterGroup">
                            <p:stCondLst>
                              <p:cond delay="2000"/>
                            </p:stCondLst>
                            <p:childTnLst>
                              <p:par>
                                <p:cTn id="96" presetID="22" presetClass="entr" presetSubtype="8" fill="hold" grpId="0" nodeType="afterEffect">
                                  <p:stCondLst>
                                    <p:cond delay="0"/>
                                  </p:stCondLst>
                                  <p:childTnLst>
                                    <p:set>
                                      <p:cBhvr>
                                        <p:cTn id="97" dur="1" fill="hold">
                                          <p:stCondLst>
                                            <p:cond delay="0"/>
                                          </p:stCondLst>
                                        </p:cTn>
                                        <p:tgtEl>
                                          <p:spTgt spid="57372"/>
                                        </p:tgtEl>
                                        <p:attrNameLst>
                                          <p:attrName>style.visibility</p:attrName>
                                        </p:attrNameLst>
                                      </p:cBhvr>
                                      <p:to>
                                        <p:strVal val="visible"/>
                                      </p:to>
                                    </p:set>
                                    <p:animEffect transition="in" filter="wipe(left)">
                                      <p:cBhvr>
                                        <p:cTn id="98" dur="500"/>
                                        <p:tgtEl>
                                          <p:spTgt spid="5737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7360"/>
                                        </p:tgtEl>
                                        <p:attrNameLst>
                                          <p:attrName>style.visibility</p:attrName>
                                        </p:attrNameLst>
                                      </p:cBhvr>
                                      <p:to>
                                        <p:strVal val="visible"/>
                                      </p:to>
                                    </p:set>
                                    <p:animEffect transition="in" filter="wipe(left)">
                                      <p:cBhvr>
                                        <p:cTn id="103" dur="500"/>
                                        <p:tgtEl>
                                          <p:spTgt spid="5736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57373"/>
                                        </p:tgtEl>
                                        <p:attrNameLst>
                                          <p:attrName>style.visibility</p:attrName>
                                        </p:attrNameLst>
                                      </p:cBhvr>
                                      <p:to>
                                        <p:strVal val="visible"/>
                                      </p:to>
                                    </p:set>
                                    <p:animEffect transition="in" filter="wipe(left)">
                                      <p:cBhvr>
                                        <p:cTn id="108" dur="500"/>
                                        <p:tgtEl>
                                          <p:spTgt spid="57373"/>
                                        </p:tgtEl>
                                      </p:cBhvr>
                                    </p:animEffect>
                                  </p:childTnLst>
                                </p:cTn>
                              </p:par>
                            </p:childTnLst>
                          </p:cTn>
                        </p:par>
                        <p:par>
                          <p:cTn id="109" fill="hold" nodeType="afterGroup">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57374"/>
                                        </p:tgtEl>
                                        <p:attrNameLst>
                                          <p:attrName>style.visibility</p:attrName>
                                        </p:attrNameLst>
                                      </p:cBhvr>
                                      <p:to>
                                        <p:strVal val="visible"/>
                                      </p:to>
                                    </p:set>
                                    <p:animEffect transition="in" filter="wipe(left)">
                                      <p:cBhvr>
                                        <p:cTn id="112" dur="500"/>
                                        <p:tgtEl>
                                          <p:spTgt spid="57374"/>
                                        </p:tgtEl>
                                      </p:cBhvr>
                                    </p:animEffect>
                                  </p:childTnLst>
                                </p:cTn>
                              </p:par>
                            </p:childTnLst>
                          </p:cTn>
                        </p:par>
                        <p:par>
                          <p:cTn id="113" fill="hold" nodeType="afterGroup">
                            <p:stCondLst>
                              <p:cond delay="1000"/>
                            </p:stCondLst>
                            <p:childTnLst>
                              <p:par>
                                <p:cTn id="114" presetID="22" presetClass="entr" presetSubtype="8" fill="hold" grpId="0" nodeType="afterEffect">
                                  <p:stCondLst>
                                    <p:cond delay="0"/>
                                  </p:stCondLst>
                                  <p:childTnLst>
                                    <p:set>
                                      <p:cBhvr>
                                        <p:cTn id="115" dur="1" fill="hold">
                                          <p:stCondLst>
                                            <p:cond delay="0"/>
                                          </p:stCondLst>
                                        </p:cTn>
                                        <p:tgtEl>
                                          <p:spTgt spid="57375"/>
                                        </p:tgtEl>
                                        <p:attrNameLst>
                                          <p:attrName>style.visibility</p:attrName>
                                        </p:attrNameLst>
                                      </p:cBhvr>
                                      <p:to>
                                        <p:strVal val="visible"/>
                                      </p:to>
                                    </p:set>
                                    <p:animEffect transition="in" filter="wipe(left)">
                                      <p:cBhvr>
                                        <p:cTn id="116" dur="500"/>
                                        <p:tgtEl>
                                          <p:spTgt spid="57375"/>
                                        </p:tgtEl>
                                      </p:cBhvr>
                                    </p:animEffect>
                                  </p:childTnLst>
                                </p:cTn>
                              </p:par>
                            </p:childTnLst>
                          </p:cTn>
                        </p:par>
                        <p:par>
                          <p:cTn id="117" fill="hold" nodeType="afterGroup">
                            <p:stCondLst>
                              <p:cond delay="1500"/>
                            </p:stCondLst>
                            <p:childTnLst>
                              <p:par>
                                <p:cTn id="118" presetID="22" presetClass="entr" presetSubtype="8" fill="hold" grpId="0" nodeType="afterEffect">
                                  <p:stCondLst>
                                    <p:cond delay="0"/>
                                  </p:stCondLst>
                                  <p:childTnLst>
                                    <p:set>
                                      <p:cBhvr>
                                        <p:cTn id="119" dur="1" fill="hold">
                                          <p:stCondLst>
                                            <p:cond delay="0"/>
                                          </p:stCondLst>
                                        </p:cTn>
                                        <p:tgtEl>
                                          <p:spTgt spid="57376"/>
                                        </p:tgtEl>
                                        <p:attrNameLst>
                                          <p:attrName>style.visibility</p:attrName>
                                        </p:attrNameLst>
                                      </p:cBhvr>
                                      <p:to>
                                        <p:strVal val="visible"/>
                                      </p:to>
                                    </p:set>
                                    <p:animEffect transition="in" filter="wipe(left)">
                                      <p:cBhvr>
                                        <p:cTn id="120" dur="500"/>
                                        <p:tgtEl>
                                          <p:spTgt spid="57376"/>
                                        </p:tgtEl>
                                      </p:cBhvr>
                                    </p:animEffect>
                                  </p:childTnLst>
                                </p:cTn>
                              </p:par>
                            </p:childTnLst>
                          </p:cTn>
                        </p:par>
                        <p:par>
                          <p:cTn id="121" fill="hold" nodeType="afterGroup">
                            <p:stCondLst>
                              <p:cond delay="2000"/>
                            </p:stCondLst>
                            <p:childTnLst>
                              <p:par>
                                <p:cTn id="122" presetID="22" presetClass="entr" presetSubtype="8" fill="hold" grpId="0" nodeType="afterEffect">
                                  <p:stCondLst>
                                    <p:cond delay="0"/>
                                  </p:stCondLst>
                                  <p:childTnLst>
                                    <p:set>
                                      <p:cBhvr>
                                        <p:cTn id="123" dur="1" fill="hold">
                                          <p:stCondLst>
                                            <p:cond delay="0"/>
                                          </p:stCondLst>
                                        </p:cTn>
                                        <p:tgtEl>
                                          <p:spTgt spid="57377"/>
                                        </p:tgtEl>
                                        <p:attrNameLst>
                                          <p:attrName>style.visibility</p:attrName>
                                        </p:attrNameLst>
                                      </p:cBhvr>
                                      <p:to>
                                        <p:strVal val="visible"/>
                                      </p:to>
                                    </p:set>
                                    <p:animEffect transition="in" filter="wipe(left)">
                                      <p:cBhvr>
                                        <p:cTn id="124" dur="500"/>
                                        <p:tgtEl>
                                          <p:spTgt spid="57377"/>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57361"/>
                                        </p:tgtEl>
                                        <p:attrNameLst>
                                          <p:attrName>style.visibility</p:attrName>
                                        </p:attrNameLst>
                                      </p:cBhvr>
                                      <p:to>
                                        <p:strVal val="visible"/>
                                      </p:to>
                                    </p:set>
                                    <p:animEffect transition="in" filter="wipe(left)">
                                      <p:cBhvr>
                                        <p:cTn id="129" dur="500"/>
                                        <p:tgtEl>
                                          <p:spTgt spid="57361"/>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57378"/>
                                        </p:tgtEl>
                                        <p:attrNameLst>
                                          <p:attrName>style.visibility</p:attrName>
                                        </p:attrNameLst>
                                      </p:cBhvr>
                                      <p:to>
                                        <p:strVal val="visible"/>
                                      </p:to>
                                    </p:set>
                                    <p:animEffect transition="in" filter="wipe(left)">
                                      <p:cBhvr>
                                        <p:cTn id="134" dur="500"/>
                                        <p:tgtEl>
                                          <p:spTgt spid="57378"/>
                                        </p:tgtEl>
                                      </p:cBhvr>
                                    </p:animEffect>
                                  </p:childTnLst>
                                </p:cTn>
                              </p:par>
                            </p:childTnLst>
                          </p:cTn>
                        </p:par>
                        <p:par>
                          <p:cTn id="135" fill="hold" nodeType="afterGroup">
                            <p:stCondLst>
                              <p:cond delay="500"/>
                            </p:stCondLst>
                            <p:childTnLst>
                              <p:par>
                                <p:cTn id="136" presetID="22" presetClass="entr" presetSubtype="8" fill="hold" grpId="0" nodeType="afterEffect">
                                  <p:stCondLst>
                                    <p:cond delay="0"/>
                                  </p:stCondLst>
                                  <p:childTnLst>
                                    <p:set>
                                      <p:cBhvr>
                                        <p:cTn id="137" dur="1" fill="hold">
                                          <p:stCondLst>
                                            <p:cond delay="0"/>
                                          </p:stCondLst>
                                        </p:cTn>
                                        <p:tgtEl>
                                          <p:spTgt spid="57382"/>
                                        </p:tgtEl>
                                        <p:attrNameLst>
                                          <p:attrName>style.visibility</p:attrName>
                                        </p:attrNameLst>
                                      </p:cBhvr>
                                      <p:to>
                                        <p:strVal val="visible"/>
                                      </p:to>
                                    </p:set>
                                    <p:animEffect transition="in" filter="wipe(left)">
                                      <p:cBhvr>
                                        <p:cTn id="138" dur="500"/>
                                        <p:tgtEl>
                                          <p:spTgt spid="57382"/>
                                        </p:tgtEl>
                                      </p:cBhvr>
                                    </p:animEffect>
                                  </p:childTnLst>
                                </p:cTn>
                              </p:par>
                            </p:childTnLst>
                          </p:cTn>
                        </p:par>
                        <p:par>
                          <p:cTn id="139" fill="hold" nodeType="afterGroup">
                            <p:stCondLst>
                              <p:cond delay="1000"/>
                            </p:stCondLst>
                            <p:childTnLst>
                              <p:par>
                                <p:cTn id="140" presetID="22" presetClass="entr" presetSubtype="8" fill="hold" grpId="0" nodeType="afterEffect">
                                  <p:stCondLst>
                                    <p:cond delay="0"/>
                                  </p:stCondLst>
                                  <p:childTnLst>
                                    <p:set>
                                      <p:cBhvr>
                                        <p:cTn id="141" dur="1" fill="hold">
                                          <p:stCondLst>
                                            <p:cond delay="0"/>
                                          </p:stCondLst>
                                        </p:cTn>
                                        <p:tgtEl>
                                          <p:spTgt spid="57383"/>
                                        </p:tgtEl>
                                        <p:attrNameLst>
                                          <p:attrName>style.visibility</p:attrName>
                                        </p:attrNameLst>
                                      </p:cBhvr>
                                      <p:to>
                                        <p:strVal val="visible"/>
                                      </p:to>
                                    </p:set>
                                    <p:animEffect transition="in" filter="wipe(left)">
                                      <p:cBhvr>
                                        <p:cTn id="142" dur="500"/>
                                        <p:tgtEl>
                                          <p:spTgt spid="57383"/>
                                        </p:tgtEl>
                                      </p:cBhvr>
                                    </p:animEffect>
                                  </p:childTnLst>
                                </p:cTn>
                              </p:par>
                            </p:childTnLst>
                          </p:cTn>
                        </p:par>
                        <p:par>
                          <p:cTn id="143" fill="hold" nodeType="afterGroup">
                            <p:stCondLst>
                              <p:cond delay="1500"/>
                            </p:stCondLst>
                            <p:childTnLst>
                              <p:par>
                                <p:cTn id="144" presetID="22" presetClass="entr" presetSubtype="8" fill="hold" grpId="0" nodeType="afterEffect">
                                  <p:stCondLst>
                                    <p:cond delay="0"/>
                                  </p:stCondLst>
                                  <p:childTnLst>
                                    <p:set>
                                      <p:cBhvr>
                                        <p:cTn id="145" dur="1" fill="hold">
                                          <p:stCondLst>
                                            <p:cond delay="0"/>
                                          </p:stCondLst>
                                        </p:cTn>
                                        <p:tgtEl>
                                          <p:spTgt spid="57384"/>
                                        </p:tgtEl>
                                        <p:attrNameLst>
                                          <p:attrName>style.visibility</p:attrName>
                                        </p:attrNameLst>
                                      </p:cBhvr>
                                      <p:to>
                                        <p:strVal val="visible"/>
                                      </p:to>
                                    </p:set>
                                    <p:animEffect transition="in" filter="wipe(left)">
                                      <p:cBhvr>
                                        <p:cTn id="146" dur="500"/>
                                        <p:tgtEl>
                                          <p:spTgt spid="57384"/>
                                        </p:tgtEl>
                                      </p:cBhvr>
                                    </p:animEffect>
                                  </p:childTnLst>
                                </p:cTn>
                              </p:par>
                            </p:childTnLst>
                          </p:cTn>
                        </p:par>
                        <p:par>
                          <p:cTn id="147" fill="hold" nodeType="afterGroup">
                            <p:stCondLst>
                              <p:cond delay="2000"/>
                            </p:stCondLst>
                            <p:childTnLst>
                              <p:par>
                                <p:cTn id="148" presetID="22" presetClass="entr" presetSubtype="8" fill="hold" grpId="0" nodeType="afterEffect">
                                  <p:stCondLst>
                                    <p:cond delay="0"/>
                                  </p:stCondLst>
                                  <p:childTnLst>
                                    <p:set>
                                      <p:cBhvr>
                                        <p:cTn id="149" dur="1" fill="hold">
                                          <p:stCondLst>
                                            <p:cond delay="0"/>
                                          </p:stCondLst>
                                        </p:cTn>
                                        <p:tgtEl>
                                          <p:spTgt spid="57385"/>
                                        </p:tgtEl>
                                        <p:attrNameLst>
                                          <p:attrName>style.visibility</p:attrName>
                                        </p:attrNameLst>
                                      </p:cBhvr>
                                      <p:to>
                                        <p:strVal val="visible"/>
                                      </p:to>
                                    </p:set>
                                    <p:animEffect transition="in" filter="wipe(left)">
                                      <p:cBhvr>
                                        <p:cTn id="150" dur="500"/>
                                        <p:tgtEl>
                                          <p:spTgt spid="57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47" grpId="0" animBg="1" autoUpdateAnimBg="0"/>
      <p:bldP spid="57348" grpId="0" animBg="1"/>
      <p:bldP spid="57349" grpId="0" animBg="1"/>
      <p:bldP spid="57350" grpId="0" animBg="1"/>
      <p:bldP spid="57352" grpId="0" animBg="1"/>
      <p:bldP spid="57353" grpId="0" animBg="1"/>
      <p:bldP spid="57354" grpId="0" animBg="1"/>
      <p:bldP spid="57355" grpId="0" animBg="1"/>
      <p:bldP spid="57356" grpId="0" animBg="1"/>
      <p:bldP spid="57357" grpId="0" autoUpdateAnimBg="0"/>
      <p:bldP spid="57359" grpId="0" autoUpdateAnimBg="0"/>
      <p:bldP spid="57360" grpId="0" autoUpdateAnimBg="0"/>
      <p:bldP spid="57361" grpId="0" autoUpdateAnimBg="0"/>
      <p:bldP spid="57362" grpId="0" autoUpdateAnimBg="0"/>
      <p:bldP spid="57363" grpId="0" autoUpdateAnimBg="0"/>
      <p:bldP spid="57364" grpId="0" autoUpdateAnimBg="0"/>
      <p:bldP spid="57365" grpId="0" autoUpdateAnimBg="0"/>
      <p:bldP spid="57366" grpId="0" autoUpdateAnimBg="0"/>
      <p:bldP spid="57367" grpId="0" autoUpdateAnimBg="0"/>
      <p:bldP spid="57368" grpId="0" autoUpdateAnimBg="0"/>
      <p:bldP spid="57369" grpId="0" autoUpdateAnimBg="0"/>
      <p:bldP spid="57370" grpId="0" autoUpdateAnimBg="0"/>
      <p:bldP spid="57372" grpId="0" autoUpdateAnimBg="0"/>
      <p:bldP spid="57373" grpId="0" autoUpdateAnimBg="0"/>
      <p:bldP spid="57374" grpId="0" autoUpdateAnimBg="0"/>
      <p:bldP spid="57375" grpId="0" autoUpdateAnimBg="0"/>
      <p:bldP spid="57376" grpId="0" autoUpdateAnimBg="0"/>
      <p:bldP spid="57377" grpId="0" autoUpdateAnimBg="0"/>
      <p:bldP spid="57378" grpId="0" autoUpdateAnimBg="0"/>
      <p:bldP spid="57382" grpId="0" autoUpdateAnimBg="0"/>
      <p:bldP spid="57383" grpId="0" autoUpdateAnimBg="0"/>
      <p:bldP spid="57384" grpId="0" autoUpdateAnimBg="0"/>
      <p:bldP spid="57385" grpId="0" autoUpdateAnimBg="0"/>
      <p:bldP spid="57388" grpId="0" autoUpdateAnimBg="0"/>
      <p:bldP spid="5738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742950" y="228600"/>
            <a:ext cx="42862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二、链式基数排序</a:t>
            </a:r>
          </a:p>
        </p:txBody>
      </p:sp>
      <p:sp>
        <p:nvSpPr>
          <p:cNvPr id="58371" name="Text Box 3"/>
          <p:cNvSpPr txBox="1">
            <a:spLocks noChangeArrowheads="1"/>
          </p:cNvSpPr>
          <p:nvPr/>
        </p:nvSpPr>
        <p:spPr bwMode="auto">
          <a:xfrm>
            <a:off x="381000" y="914400"/>
            <a:ext cx="8626475"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ea typeface="楷体_GB2312" charset="0"/>
              </a:rPr>
              <a:t>　　假如多关键字的记录序列中，每个关键字的取值范围相同，则按</a:t>
            </a:r>
            <a:r>
              <a:rPr lang="en-US" altLang="zh-CN" sz="3600">
                <a:ea typeface="楷体_GB2312" charset="0"/>
              </a:rPr>
              <a:t>LSD</a:t>
            </a:r>
            <a:r>
              <a:rPr lang="zh-CN" altLang="en-US" sz="3600">
                <a:ea typeface="楷体_GB2312" charset="0"/>
              </a:rPr>
              <a:t>法进行排序时，可以采用</a:t>
            </a:r>
            <a:r>
              <a:rPr lang="zh-CN" altLang="en-US" sz="3600" b="1">
                <a:solidFill>
                  <a:srgbClr val="FF0000"/>
                </a:solidFill>
                <a:ea typeface="楷体_GB2312" charset="0"/>
              </a:rPr>
              <a:t>“分配</a:t>
            </a:r>
            <a:r>
              <a:rPr lang="en-US" altLang="zh-CN" sz="3600" b="1">
                <a:solidFill>
                  <a:srgbClr val="FF0000"/>
                </a:solidFill>
                <a:latin typeface="楷体_GB2312" charset="0"/>
                <a:ea typeface="楷体_GB2312" charset="0"/>
              </a:rPr>
              <a:t>-</a:t>
            </a:r>
            <a:r>
              <a:rPr lang="zh-CN" altLang="en-US" sz="3600" b="1">
                <a:solidFill>
                  <a:srgbClr val="FF0000"/>
                </a:solidFill>
                <a:latin typeface="楷体_GB2312" charset="0"/>
                <a:ea typeface="楷体_GB2312" charset="0"/>
              </a:rPr>
              <a:t>收集</a:t>
            </a:r>
            <a:r>
              <a:rPr lang="zh-CN" altLang="en-US" sz="3600" b="1">
                <a:solidFill>
                  <a:srgbClr val="FF0000"/>
                </a:solidFill>
                <a:ea typeface="楷体_GB2312" charset="0"/>
              </a:rPr>
              <a:t>”</a:t>
            </a:r>
            <a:r>
              <a:rPr lang="zh-CN" altLang="en-US" sz="3600">
                <a:ea typeface="楷体_GB2312" charset="0"/>
              </a:rPr>
              <a:t>的方法，其好处是不需要进行关键字间的比较。</a:t>
            </a:r>
          </a:p>
        </p:txBody>
      </p:sp>
      <p:sp>
        <p:nvSpPr>
          <p:cNvPr id="58372" name="Text Box 4"/>
          <p:cNvSpPr txBox="1">
            <a:spLocks noChangeArrowheads="1"/>
          </p:cNvSpPr>
          <p:nvPr/>
        </p:nvSpPr>
        <p:spPr bwMode="auto">
          <a:xfrm>
            <a:off x="381000" y="3787775"/>
            <a:ext cx="8626475"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3600">
                <a:solidFill>
                  <a:srgbClr val="0000FF"/>
                </a:solidFill>
                <a:ea typeface="楷体_GB2312" charset="0"/>
              </a:rPr>
              <a:t>　　对于数字型或字符型的</a:t>
            </a:r>
            <a:r>
              <a:rPr lang="zh-CN" altLang="en-US" sz="3600" b="1">
                <a:solidFill>
                  <a:srgbClr val="000080"/>
                </a:solidFill>
                <a:ea typeface="楷体_GB2312" charset="0"/>
              </a:rPr>
              <a:t>单关键字</a:t>
            </a:r>
            <a:r>
              <a:rPr lang="zh-CN" altLang="en-US" sz="3600">
                <a:solidFill>
                  <a:srgbClr val="0000FF"/>
                </a:solidFill>
                <a:ea typeface="楷体_GB2312" charset="0"/>
              </a:rPr>
              <a:t>，可以</a:t>
            </a:r>
            <a:r>
              <a:rPr lang="zh-CN" altLang="en-US" sz="3600" b="1">
                <a:solidFill>
                  <a:srgbClr val="000080"/>
                </a:solidFill>
                <a:ea typeface="楷体_GB2312" charset="0"/>
              </a:rPr>
              <a:t>看成</a:t>
            </a:r>
            <a:r>
              <a:rPr lang="zh-CN" altLang="en-US" sz="3600">
                <a:solidFill>
                  <a:srgbClr val="0000FF"/>
                </a:solidFill>
                <a:ea typeface="楷体_GB2312" charset="0"/>
              </a:rPr>
              <a:t>是由多个数位或多个字符构成的</a:t>
            </a:r>
            <a:r>
              <a:rPr lang="zh-CN" altLang="en-US" sz="3600" b="1">
                <a:solidFill>
                  <a:srgbClr val="000080"/>
                </a:solidFill>
                <a:ea typeface="楷体_GB2312" charset="0"/>
              </a:rPr>
              <a:t>多关键字</a:t>
            </a:r>
            <a:r>
              <a:rPr lang="zh-CN" altLang="en-US" sz="3600">
                <a:solidFill>
                  <a:srgbClr val="0000FF"/>
                </a:solidFill>
                <a:ea typeface="楷体_GB2312" charset="0"/>
              </a:rPr>
              <a:t>，此时可以</a:t>
            </a:r>
            <a:r>
              <a:rPr lang="zh-CN" altLang="en-US" sz="3600" b="1">
                <a:solidFill>
                  <a:srgbClr val="000080"/>
                </a:solidFill>
                <a:ea typeface="楷体_GB2312" charset="0"/>
              </a:rPr>
              <a:t>采用</a:t>
            </a:r>
            <a:r>
              <a:rPr lang="zh-CN" altLang="en-US" sz="3600">
                <a:solidFill>
                  <a:srgbClr val="0000FF"/>
                </a:solidFill>
                <a:ea typeface="楷体_GB2312" charset="0"/>
              </a:rPr>
              <a:t>这种</a:t>
            </a:r>
            <a:r>
              <a:rPr lang="zh-CN" altLang="en-US" sz="3600" b="1">
                <a:solidFill>
                  <a:srgbClr val="000080"/>
                </a:solidFill>
                <a:ea typeface="楷体_GB2312" charset="0"/>
              </a:rPr>
              <a:t>“分配</a:t>
            </a:r>
            <a:r>
              <a:rPr lang="en-US" altLang="zh-CN" sz="3600" b="1">
                <a:solidFill>
                  <a:srgbClr val="000080"/>
                </a:solidFill>
                <a:latin typeface="楷体_GB2312" charset="0"/>
                <a:ea typeface="楷体_GB2312" charset="0"/>
              </a:rPr>
              <a:t>-</a:t>
            </a:r>
            <a:r>
              <a:rPr lang="zh-CN" altLang="en-US" sz="3600" b="1">
                <a:solidFill>
                  <a:srgbClr val="000080"/>
                </a:solidFill>
                <a:ea typeface="楷体_GB2312" charset="0"/>
              </a:rPr>
              <a:t>收集”</a:t>
            </a:r>
            <a:r>
              <a:rPr lang="zh-CN" altLang="en-US" sz="3600">
                <a:solidFill>
                  <a:srgbClr val="0000FF"/>
                </a:solidFill>
                <a:ea typeface="楷体_GB2312" charset="0"/>
              </a:rPr>
              <a:t>的办法</a:t>
            </a:r>
            <a:r>
              <a:rPr lang="zh-CN" altLang="en-US" sz="3600" b="1">
                <a:solidFill>
                  <a:srgbClr val="000080"/>
                </a:solidFill>
                <a:ea typeface="楷体_GB2312" charset="0"/>
              </a:rPr>
              <a:t>进行排序</a:t>
            </a:r>
            <a:r>
              <a:rPr lang="zh-CN" altLang="en-US" sz="3600">
                <a:solidFill>
                  <a:srgbClr val="0000FF"/>
                </a:solidFill>
                <a:ea typeface="楷体_GB2312" charset="0"/>
              </a:rPr>
              <a:t>，</a:t>
            </a:r>
            <a:r>
              <a:rPr lang="zh-CN" altLang="en-US" sz="3600" b="1">
                <a:solidFill>
                  <a:srgbClr val="000080"/>
                </a:solidFill>
                <a:ea typeface="楷体_GB2312" charset="0"/>
              </a:rPr>
              <a:t>称作基数排序法</a:t>
            </a:r>
            <a:r>
              <a:rPr lang="zh-CN" altLang="en-US" sz="3600">
                <a:solidFill>
                  <a:srgbClr val="0000FF"/>
                </a:solidFill>
                <a:ea typeface="楷体_GB2312" charset="0"/>
              </a:rPr>
              <a:t>。</a:t>
            </a:r>
          </a:p>
        </p:txBody>
      </p:sp>
    </p:spTree>
    <p:extLst>
      <p:ext uri="{BB962C8B-B14F-4D97-AF65-F5344CB8AC3E}">
        <p14:creationId xmlns:p14="http://schemas.microsoft.com/office/powerpoint/2010/main" val="9755399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8370"/>
                                        </p:tgtEl>
                                        <p:attrNameLst>
                                          <p:attrName>style.visibility</p:attrName>
                                        </p:attrNameLst>
                                      </p:cBhvr>
                                      <p:to>
                                        <p:strVal val="visible"/>
                                      </p:to>
                                    </p:set>
                                    <p:anim calcmode="lin" valueType="num">
                                      <p:cBhvr additive="base">
                                        <p:cTn id="7" dur="500" fill="hold"/>
                                        <p:tgtEl>
                                          <p:spTgt spid="58370"/>
                                        </p:tgtEl>
                                        <p:attrNameLst>
                                          <p:attrName>ppt_x</p:attrName>
                                        </p:attrNameLst>
                                      </p:cBhvr>
                                      <p:tavLst>
                                        <p:tav tm="0">
                                          <p:val>
                                            <p:strVal val="#ppt_x"/>
                                          </p:val>
                                        </p:tav>
                                        <p:tav tm="100000">
                                          <p:val>
                                            <p:strVal val="#ppt_x"/>
                                          </p:val>
                                        </p:tav>
                                      </p:tavLst>
                                    </p:anim>
                                    <p:anim calcmode="lin" valueType="num">
                                      <p:cBhvr additive="base">
                                        <p:cTn id="8" dur="500" fill="hold"/>
                                        <p:tgtEl>
                                          <p:spTgt spid="5837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8371"/>
                                        </p:tgtEl>
                                        <p:attrNameLst>
                                          <p:attrName>style.visibility</p:attrName>
                                        </p:attrNameLst>
                                      </p:cBhvr>
                                      <p:to>
                                        <p:strVal val="visible"/>
                                      </p:to>
                                    </p:set>
                                    <p:animEffect transition="in" filter="wipe(left)">
                                      <p:cBhvr>
                                        <p:cTn id="13" dur="500"/>
                                        <p:tgtEl>
                                          <p:spTgt spid="5837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58372"/>
                                        </p:tgtEl>
                                        <p:attrNameLst>
                                          <p:attrName>style.visibility</p:attrName>
                                        </p:attrNameLst>
                                      </p:cBhvr>
                                      <p:to>
                                        <p:strVal val="visible"/>
                                      </p:to>
                                    </p:set>
                                    <p:animEffect transition="in" filter="strips(downRight)">
                                      <p:cBhvr>
                                        <p:cTn id="18" dur="500"/>
                                        <p:tgtEl>
                                          <p:spTgt spid="58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autoUpdateAnimBg="0"/>
      <p:bldP spid="58371" grpId="0" autoUpdateAnimBg="0"/>
      <p:bldP spid="58372"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228600" y="114300"/>
            <a:ext cx="88519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3600" b="1">
                <a:solidFill>
                  <a:srgbClr val="990033"/>
                </a:solidFill>
                <a:ea typeface="楷体_GB2312" charset="0"/>
              </a:rPr>
              <a:t>例如：</a:t>
            </a:r>
            <a:r>
              <a:rPr lang="zh-CN" altLang="en-US" sz="3600">
                <a:solidFill>
                  <a:srgbClr val="990000"/>
                </a:solidFill>
                <a:ea typeface="楷体_GB2312" charset="0"/>
              </a:rPr>
              <a:t>对下列这组关键字</a:t>
            </a:r>
            <a:endParaRPr lang="zh-CN" altLang="en-US" sz="4000">
              <a:solidFill>
                <a:srgbClr val="990000"/>
              </a:solidFill>
              <a:ea typeface="楷体_GB2312" charset="0"/>
            </a:endParaRPr>
          </a:p>
          <a:p>
            <a:pPr algn="l">
              <a:lnSpc>
                <a:spcPct val="120000"/>
              </a:lnSpc>
            </a:pPr>
            <a:r>
              <a:rPr lang="zh-CN" altLang="en-US" sz="3600">
                <a:solidFill>
                  <a:srgbClr val="0000FF"/>
                </a:solidFill>
                <a:ea typeface="楷体_GB2312" charset="0"/>
              </a:rPr>
              <a:t> </a:t>
            </a:r>
            <a:r>
              <a:rPr lang="en-US" altLang="zh-CN" sz="3600">
                <a:solidFill>
                  <a:srgbClr val="0000FF"/>
                </a:solidFill>
                <a:ea typeface="楷体_GB2312" charset="0"/>
              </a:rPr>
              <a:t>{209, 386, 768, 185, 247, 606, 230, 834, 539 }</a:t>
            </a:r>
            <a:endParaRPr lang="en-US" altLang="zh-CN" sz="3600">
              <a:ea typeface="楷体_GB2312" charset="0"/>
            </a:endParaRPr>
          </a:p>
        </p:txBody>
      </p:sp>
      <p:sp>
        <p:nvSpPr>
          <p:cNvPr id="59395" name="Text Box 3"/>
          <p:cNvSpPr txBox="1">
            <a:spLocks noChangeArrowheads="1"/>
          </p:cNvSpPr>
          <p:nvPr/>
        </p:nvSpPr>
        <p:spPr bwMode="auto">
          <a:xfrm>
            <a:off x="441325" y="1524000"/>
            <a:ext cx="8321675"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200">
                <a:solidFill>
                  <a:srgbClr val="990000"/>
                </a:solidFill>
                <a:ea typeface="楷体_GB2312" charset="0"/>
              </a:rPr>
              <a:t>    </a:t>
            </a:r>
            <a:r>
              <a:rPr lang="zh-CN" altLang="en-US" sz="3200">
                <a:solidFill>
                  <a:srgbClr val="990000"/>
                </a:solidFill>
                <a:ea typeface="楷体_GB2312" charset="0"/>
              </a:rPr>
              <a:t>首先按其 </a:t>
            </a:r>
            <a:r>
              <a:rPr lang="zh-CN" altLang="en-US" sz="3200">
                <a:solidFill>
                  <a:srgbClr val="0000FF"/>
                </a:solidFill>
                <a:ea typeface="楷体_GB2312" charset="0"/>
              </a:rPr>
              <a:t>“个位数”</a:t>
            </a:r>
            <a:r>
              <a:rPr lang="zh-CN" altLang="en-US" sz="3200">
                <a:solidFill>
                  <a:srgbClr val="990000"/>
                </a:solidFill>
                <a:ea typeface="楷体_GB2312" charset="0"/>
              </a:rPr>
              <a:t>  取值分别为 </a:t>
            </a:r>
            <a:r>
              <a:rPr lang="en-US" altLang="zh-CN" sz="3200">
                <a:solidFill>
                  <a:srgbClr val="990000"/>
                </a:solidFill>
                <a:ea typeface="楷体_GB2312" charset="0"/>
              </a:rPr>
              <a:t>0, 1, …,  9</a:t>
            </a:r>
            <a:r>
              <a:rPr lang="zh-CN" altLang="en-US" sz="3200">
                <a:solidFill>
                  <a:srgbClr val="990000"/>
                </a:solidFill>
                <a:ea typeface="楷体_GB2312" charset="0"/>
              </a:rPr>
              <a:t>　         </a:t>
            </a:r>
            <a:r>
              <a:rPr lang="zh-CN" altLang="en-US" sz="3200" b="1">
                <a:solidFill>
                  <a:srgbClr val="FF0000"/>
                </a:solidFill>
                <a:ea typeface="楷体_GB2312" charset="0"/>
              </a:rPr>
              <a:t>“分配” </a:t>
            </a:r>
            <a:r>
              <a:rPr lang="zh-CN" altLang="en-US" sz="3200">
                <a:solidFill>
                  <a:srgbClr val="990000"/>
                </a:solidFill>
                <a:ea typeface="楷体_GB2312" charset="0"/>
              </a:rPr>
              <a:t>成 </a:t>
            </a:r>
            <a:r>
              <a:rPr lang="en-US" altLang="zh-CN" sz="3200">
                <a:solidFill>
                  <a:srgbClr val="990000"/>
                </a:solidFill>
                <a:ea typeface="楷体_GB2312" charset="0"/>
              </a:rPr>
              <a:t>10 </a:t>
            </a:r>
            <a:r>
              <a:rPr lang="zh-CN" altLang="en-US" sz="3200">
                <a:solidFill>
                  <a:srgbClr val="990000"/>
                </a:solidFill>
                <a:ea typeface="楷体_GB2312" charset="0"/>
              </a:rPr>
              <a:t>组，之后按从 </a:t>
            </a:r>
            <a:r>
              <a:rPr lang="en-US" altLang="zh-CN" sz="3200">
                <a:solidFill>
                  <a:srgbClr val="990000"/>
                </a:solidFill>
                <a:ea typeface="楷体_GB2312" charset="0"/>
              </a:rPr>
              <a:t>0 </a:t>
            </a:r>
            <a:r>
              <a:rPr lang="zh-CN" altLang="en-US" sz="3200">
                <a:solidFill>
                  <a:srgbClr val="990000"/>
                </a:solidFill>
                <a:ea typeface="楷体_GB2312" charset="0"/>
              </a:rPr>
              <a:t>至 </a:t>
            </a:r>
            <a:r>
              <a:rPr lang="en-US" altLang="zh-CN" sz="3200">
                <a:solidFill>
                  <a:srgbClr val="990000"/>
                </a:solidFill>
                <a:ea typeface="楷体_GB2312" charset="0"/>
              </a:rPr>
              <a:t>9 </a:t>
            </a:r>
            <a:r>
              <a:rPr lang="zh-CN" altLang="en-US" sz="3200">
                <a:solidFill>
                  <a:srgbClr val="990000"/>
                </a:solidFill>
                <a:ea typeface="楷体_GB2312" charset="0"/>
              </a:rPr>
              <a:t>的顺序将  它们 </a:t>
            </a:r>
            <a:r>
              <a:rPr lang="zh-CN" altLang="en-US" sz="3200" b="1">
                <a:solidFill>
                  <a:srgbClr val="FF0000"/>
                </a:solidFill>
                <a:ea typeface="楷体_GB2312" charset="0"/>
              </a:rPr>
              <a:t>“收集”</a:t>
            </a:r>
            <a:r>
              <a:rPr lang="zh-CN" altLang="en-US" sz="3200">
                <a:solidFill>
                  <a:srgbClr val="990000"/>
                </a:solidFill>
                <a:ea typeface="楷体_GB2312" charset="0"/>
              </a:rPr>
              <a:t> 在一起；</a:t>
            </a:r>
            <a:endParaRPr lang="zh-CN" altLang="en-US" sz="3200">
              <a:solidFill>
                <a:srgbClr val="990000"/>
              </a:solidFill>
              <a:latin typeface="楷体_GB2312" charset="0"/>
              <a:ea typeface="楷体_GB2312" charset="0"/>
            </a:endParaRPr>
          </a:p>
        </p:txBody>
      </p:sp>
      <p:sp>
        <p:nvSpPr>
          <p:cNvPr id="59396" name="Rectangle 4"/>
          <p:cNvSpPr>
            <a:spLocks noChangeArrowheads="1"/>
          </p:cNvSpPr>
          <p:nvPr/>
        </p:nvSpPr>
        <p:spPr bwMode="auto">
          <a:xfrm>
            <a:off x="381000" y="3581400"/>
            <a:ext cx="8534400"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200">
                <a:solidFill>
                  <a:srgbClr val="990000"/>
                </a:solidFill>
                <a:ea typeface="楷体_GB2312" charset="0"/>
              </a:rPr>
              <a:t>     </a:t>
            </a:r>
            <a:r>
              <a:rPr lang="zh-CN" altLang="en-US" sz="3200">
                <a:solidFill>
                  <a:srgbClr val="990000"/>
                </a:solidFill>
                <a:ea typeface="楷体_GB2312" charset="0"/>
              </a:rPr>
              <a:t>然后按其 </a:t>
            </a:r>
            <a:r>
              <a:rPr lang="zh-CN" altLang="en-US" sz="3200">
                <a:solidFill>
                  <a:srgbClr val="0000FF"/>
                </a:solidFill>
                <a:ea typeface="楷体_GB2312" charset="0"/>
              </a:rPr>
              <a:t>“十位数”</a:t>
            </a:r>
            <a:r>
              <a:rPr lang="zh-CN" altLang="en-US" sz="3200">
                <a:solidFill>
                  <a:srgbClr val="990000"/>
                </a:solidFill>
                <a:ea typeface="楷体_GB2312" charset="0"/>
              </a:rPr>
              <a:t>  取值分别为 </a:t>
            </a:r>
            <a:r>
              <a:rPr lang="en-US" altLang="zh-CN" sz="3200">
                <a:solidFill>
                  <a:srgbClr val="990000"/>
                </a:solidFill>
                <a:ea typeface="楷体_GB2312" charset="0"/>
              </a:rPr>
              <a:t>0, 1, …, 9   </a:t>
            </a:r>
            <a:r>
              <a:rPr lang="en-US" altLang="zh-CN" sz="3200" b="1">
                <a:solidFill>
                  <a:srgbClr val="FF0000"/>
                </a:solidFill>
                <a:ea typeface="楷体_GB2312" charset="0"/>
              </a:rPr>
              <a:t>“</a:t>
            </a:r>
            <a:r>
              <a:rPr lang="zh-CN" altLang="en-US" sz="3200" b="1">
                <a:solidFill>
                  <a:srgbClr val="FF0000"/>
                </a:solidFill>
                <a:ea typeface="楷体_GB2312" charset="0"/>
              </a:rPr>
              <a:t>分配”</a:t>
            </a:r>
            <a:r>
              <a:rPr lang="zh-CN" altLang="en-US" sz="3200">
                <a:solidFill>
                  <a:srgbClr val="FF0000"/>
                </a:solidFill>
                <a:ea typeface="楷体_GB2312" charset="0"/>
              </a:rPr>
              <a:t> </a:t>
            </a:r>
            <a:r>
              <a:rPr lang="zh-CN" altLang="en-US" sz="3200">
                <a:solidFill>
                  <a:srgbClr val="990000"/>
                </a:solidFill>
                <a:ea typeface="楷体_GB2312" charset="0"/>
              </a:rPr>
              <a:t>成 </a:t>
            </a:r>
            <a:r>
              <a:rPr lang="en-US" altLang="zh-CN" sz="3200">
                <a:solidFill>
                  <a:srgbClr val="990000"/>
                </a:solidFill>
                <a:ea typeface="楷体_GB2312" charset="0"/>
              </a:rPr>
              <a:t>10 </a:t>
            </a:r>
            <a:r>
              <a:rPr lang="zh-CN" altLang="en-US" sz="3200">
                <a:solidFill>
                  <a:srgbClr val="990000"/>
                </a:solidFill>
                <a:ea typeface="楷体_GB2312" charset="0"/>
              </a:rPr>
              <a:t>组，之后再按从 </a:t>
            </a:r>
            <a:r>
              <a:rPr lang="en-US" altLang="zh-CN" sz="3200">
                <a:solidFill>
                  <a:srgbClr val="990000"/>
                </a:solidFill>
                <a:ea typeface="楷体_GB2312" charset="0"/>
              </a:rPr>
              <a:t>0 </a:t>
            </a:r>
            <a:r>
              <a:rPr lang="zh-CN" altLang="en-US" sz="3200">
                <a:solidFill>
                  <a:srgbClr val="990000"/>
                </a:solidFill>
                <a:ea typeface="楷体_GB2312" charset="0"/>
              </a:rPr>
              <a:t>至 </a:t>
            </a:r>
            <a:r>
              <a:rPr lang="en-US" altLang="zh-CN" sz="3200">
                <a:solidFill>
                  <a:srgbClr val="990000"/>
                </a:solidFill>
                <a:ea typeface="楷体_GB2312" charset="0"/>
              </a:rPr>
              <a:t>9 </a:t>
            </a:r>
            <a:r>
              <a:rPr lang="zh-CN" altLang="en-US" sz="3200">
                <a:solidFill>
                  <a:srgbClr val="990000"/>
                </a:solidFill>
                <a:latin typeface="楷体_GB2312" charset="0"/>
                <a:ea typeface="楷体_GB2312" charset="0"/>
              </a:rPr>
              <a:t>的顺序将它们 </a:t>
            </a:r>
            <a:r>
              <a:rPr lang="zh-CN" altLang="en-US" sz="3200" b="1">
                <a:solidFill>
                  <a:srgbClr val="FF0000"/>
                </a:solidFill>
                <a:ea typeface="楷体_GB2312" charset="0"/>
              </a:rPr>
              <a:t>“</a:t>
            </a:r>
            <a:r>
              <a:rPr lang="zh-CN" altLang="en-US" sz="3200" b="1">
                <a:solidFill>
                  <a:srgbClr val="FF0000"/>
                </a:solidFill>
                <a:latin typeface="楷体_GB2312" charset="0"/>
                <a:ea typeface="楷体_GB2312" charset="0"/>
              </a:rPr>
              <a:t>收集</a:t>
            </a:r>
            <a:r>
              <a:rPr lang="zh-CN" altLang="en-US" sz="3200" b="1">
                <a:solidFill>
                  <a:srgbClr val="FF0000"/>
                </a:solidFill>
                <a:ea typeface="楷体_GB2312" charset="0"/>
              </a:rPr>
              <a:t>”</a:t>
            </a:r>
            <a:r>
              <a:rPr lang="zh-CN" altLang="en-US" sz="3200" b="1">
                <a:solidFill>
                  <a:srgbClr val="FF0000"/>
                </a:solidFill>
                <a:latin typeface="楷体_GB2312" charset="0"/>
                <a:ea typeface="楷体_GB2312" charset="0"/>
              </a:rPr>
              <a:t> </a:t>
            </a:r>
            <a:r>
              <a:rPr lang="zh-CN" altLang="en-US" sz="3200">
                <a:solidFill>
                  <a:srgbClr val="990000"/>
                </a:solidFill>
                <a:latin typeface="楷体_GB2312" charset="0"/>
                <a:ea typeface="楷体_GB2312" charset="0"/>
              </a:rPr>
              <a:t>在一起；</a:t>
            </a:r>
          </a:p>
        </p:txBody>
      </p:sp>
      <p:sp>
        <p:nvSpPr>
          <p:cNvPr id="59397" name="Rectangle 5"/>
          <p:cNvSpPr>
            <a:spLocks noChangeArrowheads="1"/>
          </p:cNvSpPr>
          <p:nvPr/>
        </p:nvSpPr>
        <p:spPr bwMode="auto">
          <a:xfrm>
            <a:off x="876300" y="5867400"/>
            <a:ext cx="7048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200">
                <a:solidFill>
                  <a:srgbClr val="990000"/>
                </a:solidFill>
                <a:latin typeface="楷体_GB2312" charset="0"/>
                <a:ea typeface="楷体_GB2312" charset="0"/>
              </a:rPr>
              <a:t>最后按其</a:t>
            </a:r>
            <a:r>
              <a:rPr lang="zh-CN" altLang="en-US" sz="3200">
                <a:solidFill>
                  <a:srgbClr val="0000FF"/>
                </a:solidFill>
                <a:ea typeface="楷体_GB2312" charset="0"/>
              </a:rPr>
              <a:t>“</a:t>
            </a:r>
            <a:r>
              <a:rPr lang="zh-CN" altLang="en-US" sz="3200">
                <a:solidFill>
                  <a:srgbClr val="0000FF"/>
                </a:solidFill>
                <a:latin typeface="楷体_GB2312" charset="0"/>
                <a:ea typeface="楷体_GB2312" charset="0"/>
              </a:rPr>
              <a:t>百位数</a:t>
            </a:r>
            <a:r>
              <a:rPr lang="zh-CN" altLang="en-US" sz="3200">
                <a:solidFill>
                  <a:srgbClr val="0000FF"/>
                </a:solidFill>
                <a:ea typeface="楷体_GB2312" charset="0"/>
              </a:rPr>
              <a:t>”</a:t>
            </a:r>
            <a:r>
              <a:rPr lang="zh-CN" altLang="en-US" sz="3200">
                <a:solidFill>
                  <a:srgbClr val="990000"/>
                </a:solidFill>
                <a:latin typeface="楷体_GB2312" charset="0"/>
                <a:ea typeface="楷体_GB2312" charset="0"/>
              </a:rPr>
              <a:t>重复一遍上述操作。</a:t>
            </a:r>
          </a:p>
        </p:txBody>
      </p:sp>
    </p:spTree>
    <p:extLst>
      <p:ext uri="{BB962C8B-B14F-4D97-AF65-F5344CB8AC3E}">
        <p14:creationId xmlns:p14="http://schemas.microsoft.com/office/powerpoint/2010/main" val="13366580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4"/>
                                        </p:tgtEl>
                                        <p:attrNameLst>
                                          <p:attrName>style.visibility</p:attrName>
                                        </p:attrNameLst>
                                      </p:cBhvr>
                                      <p:to>
                                        <p:strVal val="visible"/>
                                      </p:to>
                                    </p:set>
                                    <p:animEffect transition="in" filter="wipe(left)">
                                      <p:cBhvr>
                                        <p:cTn id="7" dur="500"/>
                                        <p:tgtEl>
                                          <p:spTgt spid="593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9395"/>
                                        </p:tgtEl>
                                        <p:attrNameLst>
                                          <p:attrName>style.visibility</p:attrName>
                                        </p:attrNameLst>
                                      </p:cBhvr>
                                      <p:to>
                                        <p:strVal val="visible"/>
                                      </p:to>
                                    </p:set>
                                    <p:animEffect transition="in" filter="wipe(left)">
                                      <p:cBhvr>
                                        <p:cTn id="12" dur="300"/>
                                        <p:tgtEl>
                                          <p:spTgt spid="59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9396"/>
                                        </p:tgtEl>
                                        <p:attrNameLst>
                                          <p:attrName>style.visibility</p:attrName>
                                        </p:attrNameLst>
                                      </p:cBhvr>
                                      <p:to>
                                        <p:strVal val="visible"/>
                                      </p:to>
                                    </p:set>
                                    <p:animEffect transition="in" filter="wipe(left)">
                                      <p:cBhvr>
                                        <p:cTn id="17" dur="300"/>
                                        <p:tgtEl>
                                          <p:spTgt spid="593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59397"/>
                                        </p:tgtEl>
                                        <p:attrNameLst>
                                          <p:attrName>style.visibility</p:attrName>
                                        </p:attrNameLst>
                                      </p:cBhvr>
                                      <p:to>
                                        <p:strVal val="visible"/>
                                      </p:to>
                                    </p:set>
                                    <p:animEffect transition="in" filter="wipe(left)">
                                      <p:cBhvr>
                                        <p:cTn id="22" dur="3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395" grpId="0" autoUpdateAnimBg="0"/>
      <p:bldP spid="59396" grpId="0" autoUpdateAnimBg="0"/>
      <p:bldP spid="59397"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304800" y="228600"/>
            <a:ext cx="8626475"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500">
                <a:solidFill>
                  <a:srgbClr val="0000FF"/>
                </a:solidFill>
                <a:latin typeface="楷体_GB2312" charset="0"/>
                <a:ea typeface="楷体_GB2312" charset="0"/>
              </a:rPr>
              <a:t>　　</a:t>
            </a:r>
            <a:r>
              <a:rPr lang="zh-CN" altLang="en-US" sz="3500">
                <a:solidFill>
                  <a:srgbClr val="0000FF"/>
                </a:solidFill>
                <a:latin typeface="隶书" charset="0"/>
                <a:ea typeface="隶书" charset="0"/>
              </a:rPr>
              <a:t>在计算机上实现基数排序时，为减少所需辅助存储空间，应采用链表作存储结构</a:t>
            </a:r>
            <a:r>
              <a:rPr lang="zh-CN" altLang="en-US" sz="3500">
                <a:latin typeface="隶书" charset="0"/>
                <a:ea typeface="隶书" charset="0"/>
              </a:rPr>
              <a:t>，即链式基数排序，具体作法为：</a:t>
            </a:r>
            <a:endParaRPr lang="zh-CN" altLang="en-US" sz="3500">
              <a:latin typeface="楷体_GB2312" charset="0"/>
              <a:ea typeface="楷体_GB2312" charset="0"/>
            </a:endParaRPr>
          </a:p>
        </p:txBody>
      </p:sp>
      <p:sp>
        <p:nvSpPr>
          <p:cNvPr id="60419" name="Text Box 3"/>
          <p:cNvSpPr txBox="1">
            <a:spLocks noChangeArrowheads="1"/>
          </p:cNvSpPr>
          <p:nvPr/>
        </p:nvSpPr>
        <p:spPr bwMode="auto">
          <a:xfrm>
            <a:off x="92075" y="1905000"/>
            <a:ext cx="8645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latin typeface="楷体_GB2312" charset="0"/>
                <a:ea typeface="楷体_GB2312" charset="0"/>
              </a:rPr>
              <a:t> </a:t>
            </a:r>
            <a:r>
              <a:rPr lang="zh-CN" altLang="en-US" sz="3600" b="1">
                <a:solidFill>
                  <a:srgbClr val="FF00FF"/>
                </a:solidFill>
                <a:latin typeface="楷体_GB2312" charset="0"/>
                <a:ea typeface="楷体_GB2312" charset="0"/>
              </a:rPr>
              <a:t>１．</a:t>
            </a:r>
            <a:r>
              <a:rPr lang="zh-CN" altLang="en-US" sz="3200">
                <a:solidFill>
                  <a:srgbClr val="990000"/>
                </a:solidFill>
                <a:latin typeface="楷体_GB2312" charset="0"/>
                <a:ea typeface="楷体_GB2312" charset="0"/>
              </a:rPr>
              <a:t>待排序记录以指针相链，构成一个链表；</a:t>
            </a:r>
            <a:endParaRPr lang="zh-CN" altLang="en-US" sz="3600">
              <a:latin typeface="楷体_GB2312" charset="0"/>
              <a:ea typeface="楷体_GB2312" charset="0"/>
            </a:endParaRPr>
          </a:p>
        </p:txBody>
      </p:sp>
      <p:sp>
        <p:nvSpPr>
          <p:cNvPr id="60420" name="Text Box 4"/>
          <p:cNvSpPr txBox="1">
            <a:spLocks noChangeArrowheads="1"/>
          </p:cNvSpPr>
          <p:nvPr/>
        </p:nvSpPr>
        <p:spPr bwMode="auto">
          <a:xfrm>
            <a:off x="366713" y="2667000"/>
            <a:ext cx="8624887" cy="19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3600" b="1">
                <a:solidFill>
                  <a:srgbClr val="FF00FF"/>
                </a:solidFill>
                <a:latin typeface="楷体_GB2312" charset="0"/>
                <a:ea typeface="楷体_GB2312" charset="0"/>
              </a:rPr>
              <a:t>２</a:t>
            </a:r>
            <a:r>
              <a:rPr lang="zh-CN" altLang="en-US" sz="3200" b="1">
                <a:solidFill>
                  <a:srgbClr val="990000"/>
                </a:solidFill>
                <a:latin typeface="楷体_GB2312" charset="0"/>
                <a:ea typeface="楷体_GB2312" charset="0"/>
              </a:rPr>
              <a:t>．</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分配</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 时，按当前</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关键字位</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所取值，将记录分配到不同的 </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链队列</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 中，每个队列中记录的 </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关键字位</a:t>
            </a:r>
            <a:r>
              <a:rPr lang="zh-CN" altLang="en-US" sz="3200">
                <a:solidFill>
                  <a:srgbClr val="990000"/>
                </a:solidFill>
                <a:ea typeface="楷体_GB2312" charset="0"/>
              </a:rPr>
              <a:t>”</a:t>
            </a:r>
            <a:r>
              <a:rPr lang="zh-CN" altLang="en-US" sz="3200">
                <a:solidFill>
                  <a:srgbClr val="990000"/>
                </a:solidFill>
                <a:latin typeface="楷体_GB2312" charset="0"/>
                <a:ea typeface="楷体_GB2312" charset="0"/>
              </a:rPr>
              <a:t> 相同；</a:t>
            </a:r>
            <a:endParaRPr lang="zh-CN" altLang="en-US" sz="3600">
              <a:solidFill>
                <a:srgbClr val="CC3300"/>
              </a:solidFill>
              <a:latin typeface="楷体_GB2312" charset="0"/>
              <a:ea typeface="楷体_GB2312" charset="0"/>
            </a:endParaRPr>
          </a:p>
        </p:txBody>
      </p:sp>
      <p:sp>
        <p:nvSpPr>
          <p:cNvPr id="60421" name="Text Box 5"/>
          <p:cNvSpPr txBox="1">
            <a:spLocks noChangeArrowheads="1"/>
          </p:cNvSpPr>
          <p:nvPr/>
        </p:nvSpPr>
        <p:spPr bwMode="auto">
          <a:xfrm>
            <a:off x="293688" y="4495800"/>
            <a:ext cx="8474075" cy="133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3600" b="1">
                <a:solidFill>
                  <a:srgbClr val="FF00FF"/>
                </a:solidFill>
                <a:latin typeface="楷体_GB2312" charset="0"/>
                <a:ea typeface="楷体_GB2312" charset="0"/>
              </a:rPr>
              <a:t>３</a:t>
            </a:r>
            <a:r>
              <a:rPr lang="zh-CN" altLang="en-US" sz="3200" b="1">
                <a:solidFill>
                  <a:srgbClr val="FF00FF"/>
                </a:solidFill>
                <a:latin typeface="楷体_GB2312" charset="0"/>
                <a:ea typeface="楷体_GB2312" charset="0"/>
              </a:rPr>
              <a:t>．</a:t>
            </a:r>
            <a:r>
              <a:rPr lang="zh-CN" altLang="en-US" sz="3200">
                <a:ea typeface="楷体_GB2312" charset="0"/>
              </a:rPr>
              <a:t>“</a:t>
            </a:r>
            <a:r>
              <a:rPr lang="zh-CN" altLang="en-US" sz="3200">
                <a:latin typeface="楷体_GB2312" charset="0"/>
                <a:ea typeface="楷体_GB2312" charset="0"/>
              </a:rPr>
              <a:t>收集</a:t>
            </a:r>
            <a:r>
              <a:rPr lang="zh-CN" altLang="en-US" sz="3200">
                <a:ea typeface="楷体_GB2312" charset="0"/>
              </a:rPr>
              <a:t>”</a:t>
            </a:r>
            <a:r>
              <a:rPr lang="zh-CN" altLang="en-US" sz="3200">
                <a:latin typeface="楷体_GB2312" charset="0"/>
                <a:ea typeface="楷体_GB2312" charset="0"/>
              </a:rPr>
              <a:t>时，按当前关键字位取值从小到大</a:t>
            </a:r>
            <a:r>
              <a:rPr lang="zh-CN" altLang="en-US" sz="3200">
                <a:solidFill>
                  <a:srgbClr val="CC3300"/>
                </a:solidFill>
                <a:latin typeface="楷体_GB2312" charset="0"/>
                <a:ea typeface="楷体_GB2312" charset="0"/>
              </a:rPr>
              <a:t>将各队列首尾相链成一个链表</a:t>
            </a:r>
            <a:r>
              <a:rPr lang="en-US" altLang="zh-CN" sz="3200">
                <a:latin typeface="楷体_GB2312" charset="0"/>
                <a:ea typeface="楷体_GB2312" charset="0"/>
              </a:rPr>
              <a:t>;</a:t>
            </a:r>
          </a:p>
        </p:txBody>
      </p:sp>
      <p:sp>
        <p:nvSpPr>
          <p:cNvPr id="60422" name="Text Box 6"/>
          <p:cNvSpPr txBox="1">
            <a:spLocks noChangeArrowheads="1"/>
          </p:cNvSpPr>
          <p:nvPr/>
        </p:nvSpPr>
        <p:spPr bwMode="auto">
          <a:xfrm>
            <a:off x="290513" y="5911850"/>
            <a:ext cx="8074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FF00FF"/>
                </a:solidFill>
                <a:latin typeface="楷体_GB2312" charset="0"/>
                <a:ea typeface="楷体_GB2312" charset="0"/>
              </a:rPr>
              <a:t>４．</a:t>
            </a:r>
            <a:r>
              <a:rPr lang="zh-CN" altLang="en-US" sz="3200">
                <a:latin typeface="楷体_GB2312" charset="0"/>
                <a:ea typeface="楷体_GB2312" charset="0"/>
              </a:rPr>
              <a:t>对每个关键字位均重复 </a:t>
            </a:r>
            <a:r>
              <a:rPr lang="en-US" altLang="zh-CN" sz="3200">
                <a:ea typeface="楷体_GB2312" charset="0"/>
              </a:rPr>
              <a:t>2) </a:t>
            </a:r>
            <a:r>
              <a:rPr lang="zh-CN" altLang="en-US" sz="3200">
                <a:latin typeface="楷体_GB2312" charset="0"/>
                <a:ea typeface="楷体_GB2312" charset="0"/>
              </a:rPr>
              <a:t>和 </a:t>
            </a:r>
            <a:r>
              <a:rPr lang="en-US" altLang="zh-CN" sz="3200">
                <a:ea typeface="楷体_GB2312" charset="0"/>
              </a:rPr>
              <a:t>3) </a:t>
            </a:r>
            <a:r>
              <a:rPr lang="zh-CN" altLang="en-US" sz="3200">
                <a:latin typeface="楷体_GB2312" charset="0"/>
                <a:ea typeface="楷体_GB2312" charset="0"/>
              </a:rPr>
              <a:t>两步。</a:t>
            </a:r>
            <a:endParaRPr lang="zh-CN" altLang="en-US" sz="3600">
              <a:latin typeface="楷体_GB2312" charset="0"/>
              <a:ea typeface="楷体_GB2312" charset="0"/>
            </a:endParaRPr>
          </a:p>
        </p:txBody>
      </p:sp>
    </p:spTree>
    <p:extLst>
      <p:ext uri="{BB962C8B-B14F-4D97-AF65-F5344CB8AC3E}">
        <p14:creationId xmlns:p14="http://schemas.microsoft.com/office/powerpoint/2010/main" val="7802245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0419"/>
                                        </p:tgtEl>
                                        <p:attrNameLst>
                                          <p:attrName>style.visibility</p:attrName>
                                        </p:attrNameLst>
                                      </p:cBhvr>
                                      <p:to>
                                        <p:strVal val="visible"/>
                                      </p:to>
                                    </p:set>
                                    <p:animEffect transition="in" filter="wipe(left)">
                                      <p:cBhvr>
                                        <p:cTn id="12" dur="300"/>
                                        <p:tgtEl>
                                          <p:spTgt spid="60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0420"/>
                                        </p:tgtEl>
                                        <p:attrNameLst>
                                          <p:attrName>style.visibility</p:attrName>
                                        </p:attrNameLst>
                                      </p:cBhvr>
                                      <p:to>
                                        <p:strVal val="visible"/>
                                      </p:to>
                                    </p:set>
                                    <p:animEffect transition="in" filter="wipe(left)">
                                      <p:cBhvr>
                                        <p:cTn id="17" dur="300"/>
                                        <p:tgtEl>
                                          <p:spTgt spid="604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0421"/>
                                        </p:tgtEl>
                                        <p:attrNameLst>
                                          <p:attrName>style.visibility</p:attrName>
                                        </p:attrNameLst>
                                      </p:cBhvr>
                                      <p:to>
                                        <p:strVal val="visible"/>
                                      </p:to>
                                    </p:set>
                                    <p:animEffect transition="in" filter="wipe(left)">
                                      <p:cBhvr>
                                        <p:cTn id="22" dur="300"/>
                                        <p:tgtEl>
                                          <p:spTgt spid="604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60422"/>
                                        </p:tgtEl>
                                        <p:attrNameLst>
                                          <p:attrName>style.visibility</p:attrName>
                                        </p:attrNameLst>
                                      </p:cBhvr>
                                      <p:to>
                                        <p:strVal val="visible"/>
                                      </p:to>
                                    </p:set>
                                    <p:animEffect transition="in" filter="wipe(left)">
                                      <p:cBhvr>
                                        <p:cTn id="27" dur="30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utoUpdateAnimBg="0"/>
      <p:bldP spid="60419" grpId="0" autoUpdateAnimBg="0"/>
      <p:bldP spid="60420" grpId="0" autoUpdateAnimBg="0"/>
      <p:bldP spid="60421" grpId="0" autoUpdateAnimBg="0"/>
      <p:bldP spid="60422"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52400" y="0"/>
            <a:ext cx="170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9933FF"/>
                </a:solidFill>
                <a:latin typeface="隶书" charset="0"/>
                <a:ea typeface="隶书" charset="0"/>
              </a:rPr>
              <a:t>例如：</a:t>
            </a:r>
            <a:endParaRPr lang="zh-CN" altLang="en-US" sz="4000">
              <a:latin typeface="楷体_GB2312" charset="0"/>
              <a:ea typeface="楷体_GB2312" charset="0"/>
            </a:endParaRPr>
          </a:p>
        </p:txBody>
      </p:sp>
      <p:sp>
        <p:nvSpPr>
          <p:cNvPr id="61443" name="Text Box 3"/>
          <p:cNvSpPr txBox="1">
            <a:spLocks noChangeArrowheads="1"/>
          </p:cNvSpPr>
          <p:nvPr/>
        </p:nvSpPr>
        <p:spPr bwMode="auto">
          <a:xfrm>
            <a:off x="400050" y="685800"/>
            <a:ext cx="8515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a:ea typeface="楷体_GB2312" charset="0"/>
              </a:rPr>
              <a:t>p</a:t>
            </a:r>
            <a:r>
              <a:rPr lang="en-US" altLang="zh-CN" sz="3200">
                <a:latin typeface="楷体_GB2312" charset="0"/>
                <a:ea typeface="楷体_GB2312" charset="0"/>
              </a:rPr>
              <a:t>→</a:t>
            </a:r>
            <a:r>
              <a:rPr lang="en-US" altLang="zh-CN" sz="3200">
                <a:ea typeface="楷体_GB2312" charset="0"/>
              </a:rPr>
              <a:t>369</a:t>
            </a:r>
            <a:r>
              <a:rPr lang="en-US" altLang="zh-CN" sz="3200">
                <a:latin typeface="楷体_GB2312" charset="0"/>
                <a:ea typeface="楷体_GB2312" charset="0"/>
              </a:rPr>
              <a:t>→</a:t>
            </a:r>
            <a:r>
              <a:rPr lang="en-US" altLang="zh-CN" sz="3200">
                <a:ea typeface="楷体_GB2312" charset="0"/>
              </a:rPr>
              <a:t>367</a:t>
            </a:r>
            <a:r>
              <a:rPr lang="en-US" altLang="zh-CN" sz="3200">
                <a:latin typeface="楷体_GB2312" charset="0"/>
                <a:ea typeface="楷体_GB2312" charset="0"/>
              </a:rPr>
              <a:t>→</a:t>
            </a:r>
            <a:r>
              <a:rPr lang="en-US" altLang="zh-CN" sz="3200">
                <a:ea typeface="楷体_GB2312" charset="0"/>
              </a:rPr>
              <a:t>167</a:t>
            </a:r>
            <a:r>
              <a:rPr lang="en-US" altLang="zh-CN" sz="3200">
                <a:latin typeface="楷体_GB2312" charset="0"/>
                <a:ea typeface="楷体_GB2312" charset="0"/>
              </a:rPr>
              <a:t>→</a:t>
            </a:r>
            <a:r>
              <a:rPr lang="en-US" altLang="zh-CN" sz="3200">
                <a:ea typeface="楷体_GB2312" charset="0"/>
              </a:rPr>
              <a:t>239</a:t>
            </a:r>
            <a:r>
              <a:rPr lang="en-US" altLang="zh-CN" sz="3200">
                <a:latin typeface="楷体_GB2312" charset="0"/>
                <a:ea typeface="楷体_GB2312" charset="0"/>
              </a:rPr>
              <a:t>→</a:t>
            </a:r>
            <a:r>
              <a:rPr lang="en-US" altLang="zh-CN" sz="3200">
                <a:ea typeface="楷体_GB2312" charset="0"/>
              </a:rPr>
              <a:t>237</a:t>
            </a:r>
            <a:r>
              <a:rPr lang="en-US" altLang="zh-CN" sz="3200">
                <a:latin typeface="楷体_GB2312" charset="0"/>
                <a:ea typeface="楷体_GB2312" charset="0"/>
              </a:rPr>
              <a:t>→</a:t>
            </a:r>
            <a:r>
              <a:rPr lang="en-US" altLang="zh-CN" sz="3200">
                <a:ea typeface="楷体_GB2312" charset="0"/>
              </a:rPr>
              <a:t>138</a:t>
            </a:r>
            <a:r>
              <a:rPr lang="en-US" altLang="zh-CN" sz="3200">
                <a:latin typeface="楷体_GB2312" charset="0"/>
                <a:ea typeface="楷体_GB2312" charset="0"/>
              </a:rPr>
              <a:t>→</a:t>
            </a:r>
            <a:r>
              <a:rPr lang="en-US" altLang="zh-CN" sz="3200">
                <a:ea typeface="楷体_GB2312" charset="0"/>
              </a:rPr>
              <a:t>230</a:t>
            </a:r>
            <a:r>
              <a:rPr lang="en-US" altLang="zh-CN" sz="3200">
                <a:latin typeface="楷体_GB2312" charset="0"/>
                <a:ea typeface="楷体_GB2312" charset="0"/>
              </a:rPr>
              <a:t>→</a:t>
            </a:r>
            <a:r>
              <a:rPr lang="en-US" altLang="zh-CN" sz="3200">
                <a:ea typeface="楷体_GB2312" charset="0"/>
              </a:rPr>
              <a:t>139</a:t>
            </a:r>
          </a:p>
        </p:txBody>
      </p:sp>
      <p:sp>
        <p:nvSpPr>
          <p:cNvPr id="61444" name="Text Box 4"/>
          <p:cNvSpPr txBox="1">
            <a:spLocks noChangeArrowheads="1"/>
          </p:cNvSpPr>
          <p:nvPr/>
        </p:nvSpPr>
        <p:spPr bwMode="auto">
          <a:xfrm>
            <a:off x="228600" y="1174750"/>
            <a:ext cx="3406775"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zh-CN" altLang="en-US" sz="3600" b="1">
                <a:solidFill>
                  <a:srgbClr val="990000"/>
                </a:solidFill>
                <a:ea typeface="隶书" charset="0"/>
              </a:rPr>
              <a:t>进行第一次分配</a:t>
            </a:r>
            <a:endParaRPr lang="zh-CN" altLang="en-US" sz="4000">
              <a:ea typeface="楷体_GB2312" charset="0"/>
            </a:endParaRPr>
          </a:p>
        </p:txBody>
      </p:sp>
      <p:sp>
        <p:nvSpPr>
          <p:cNvPr id="61445" name="Text Box 5"/>
          <p:cNvSpPr txBox="1">
            <a:spLocks noChangeArrowheads="1"/>
          </p:cNvSpPr>
          <p:nvPr/>
        </p:nvSpPr>
        <p:spPr bwMode="auto">
          <a:xfrm>
            <a:off x="107950" y="5111750"/>
            <a:ext cx="340677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5000"/>
              </a:lnSpc>
            </a:pPr>
            <a:r>
              <a:rPr lang="zh-CN" altLang="en-US" sz="3600" b="1">
                <a:solidFill>
                  <a:srgbClr val="990000"/>
                </a:solidFill>
                <a:ea typeface="隶书" charset="0"/>
              </a:rPr>
              <a:t>进行第一次收集</a:t>
            </a:r>
          </a:p>
        </p:txBody>
      </p:sp>
      <p:sp>
        <p:nvSpPr>
          <p:cNvPr id="61446" name="Rectangle 6"/>
          <p:cNvSpPr>
            <a:spLocks noChangeArrowheads="1"/>
          </p:cNvSpPr>
          <p:nvPr/>
        </p:nvSpPr>
        <p:spPr bwMode="auto">
          <a:xfrm>
            <a:off x="1143000" y="1936750"/>
            <a:ext cx="3155950"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600">
                <a:solidFill>
                  <a:srgbClr val="006666"/>
                </a:solidFill>
                <a:ea typeface="楷体_GB2312" charset="0"/>
              </a:rPr>
              <a:t>f[</a:t>
            </a:r>
            <a:r>
              <a:rPr lang="en-US" altLang="zh-CN" sz="3600" b="1">
                <a:solidFill>
                  <a:srgbClr val="FF0000"/>
                </a:solidFill>
                <a:ea typeface="楷体_GB2312" charset="0"/>
              </a:rPr>
              <a:t>0</a:t>
            </a:r>
            <a:r>
              <a:rPr lang="en-US" altLang="zh-CN" sz="3600">
                <a:solidFill>
                  <a:srgbClr val="006666"/>
                </a:solidFill>
                <a:ea typeface="楷体_GB2312" charset="0"/>
              </a:rPr>
              <a:t>]              r[</a:t>
            </a:r>
            <a:r>
              <a:rPr lang="en-US" altLang="zh-CN" sz="3600" b="1">
                <a:solidFill>
                  <a:srgbClr val="FF0000"/>
                </a:solidFill>
                <a:ea typeface="楷体_GB2312" charset="0"/>
              </a:rPr>
              <a:t>0</a:t>
            </a:r>
            <a:r>
              <a:rPr lang="en-US" altLang="zh-CN" sz="3600">
                <a:solidFill>
                  <a:srgbClr val="006666"/>
                </a:solidFill>
                <a:ea typeface="楷体_GB2312" charset="0"/>
              </a:rPr>
              <a:t>]</a:t>
            </a:r>
            <a:endParaRPr lang="en-US" altLang="zh-CN" sz="4000">
              <a:solidFill>
                <a:srgbClr val="006666"/>
              </a:solidFill>
              <a:ea typeface="楷体_GB2312" charset="0"/>
            </a:endParaRPr>
          </a:p>
        </p:txBody>
      </p:sp>
      <p:sp>
        <p:nvSpPr>
          <p:cNvPr id="61447" name="Rectangle 7"/>
          <p:cNvSpPr>
            <a:spLocks noChangeArrowheads="1"/>
          </p:cNvSpPr>
          <p:nvPr/>
        </p:nvSpPr>
        <p:spPr bwMode="auto">
          <a:xfrm>
            <a:off x="1143000" y="2808288"/>
            <a:ext cx="5441950" cy="69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a:solidFill>
                  <a:srgbClr val="006666"/>
                </a:solidFill>
                <a:ea typeface="楷体_GB2312" charset="0"/>
              </a:rPr>
              <a:t>f[</a:t>
            </a:r>
            <a:r>
              <a:rPr lang="en-US" altLang="zh-CN" sz="3600">
                <a:solidFill>
                  <a:srgbClr val="0000FF"/>
                </a:solidFill>
                <a:ea typeface="楷体_GB2312" charset="0"/>
              </a:rPr>
              <a:t>7</a:t>
            </a:r>
            <a:r>
              <a:rPr lang="en-US" altLang="zh-CN" sz="3600">
                <a:solidFill>
                  <a:srgbClr val="006666"/>
                </a:solidFill>
                <a:ea typeface="楷体_GB2312" charset="0"/>
              </a:rPr>
              <a:t>]                                  r[</a:t>
            </a:r>
            <a:r>
              <a:rPr lang="en-US" altLang="zh-CN" sz="3600" b="1">
                <a:solidFill>
                  <a:srgbClr val="0000FF"/>
                </a:solidFill>
                <a:ea typeface="楷体_GB2312" charset="0"/>
              </a:rPr>
              <a:t>7</a:t>
            </a:r>
            <a:r>
              <a:rPr lang="en-US" altLang="zh-CN" sz="3600">
                <a:solidFill>
                  <a:srgbClr val="006666"/>
                </a:solidFill>
                <a:ea typeface="楷体_GB2312" charset="0"/>
              </a:rPr>
              <a:t>]</a:t>
            </a:r>
            <a:endParaRPr lang="en-US" altLang="zh-CN" sz="4000">
              <a:solidFill>
                <a:srgbClr val="006666"/>
              </a:solidFill>
              <a:ea typeface="楷体_GB2312" charset="0"/>
            </a:endParaRPr>
          </a:p>
        </p:txBody>
      </p:sp>
      <p:sp>
        <p:nvSpPr>
          <p:cNvPr id="61448" name="Rectangle 8"/>
          <p:cNvSpPr>
            <a:spLocks noChangeArrowheads="1"/>
          </p:cNvSpPr>
          <p:nvPr/>
        </p:nvSpPr>
        <p:spPr bwMode="auto">
          <a:xfrm>
            <a:off x="1143000" y="3581400"/>
            <a:ext cx="315595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10000"/>
              </a:lnSpc>
            </a:pPr>
            <a:r>
              <a:rPr lang="en-US" altLang="zh-CN" sz="3600">
                <a:solidFill>
                  <a:srgbClr val="006666"/>
                </a:solidFill>
                <a:ea typeface="楷体_GB2312" charset="0"/>
              </a:rPr>
              <a:t>f[</a:t>
            </a:r>
            <a:r>
              <a:rPr lang="en-US" altLang="zh-CN" sz="3600" b="1">
                <a:solidFill>
                  <a:srgbClr val="FF00FF"/>
                </a:solidFill>
                <a:ea typeface="楷体_GB2312" charset="0"/>
              </a:rPr>
              <a:t>8</a:t>
            </a:r>
            <a:r>
              <a:rPr lang="en-US" altLang="zh-CN" sz="3600">
                <a:solidFill>
                  <a:srgbClr val="006666"/>
                </a:solidFill>
                <a:ea typeface="楷体_GB2312" charset="0"/>
              </a:rPr>
              <a:t>]              r[</a:t>
            </a:r>
            <a:r>
              <a:rPr lang="en-US" altLang="zh-CN" sz="3600" b="1">
                <a:solidFill>
                  <a:srgbClr val="FF00FF"/>
                </a:solidFill>
                <a:ea typeface="楷体_GB2312" charset="0"/>
              </a:rPr>
              <a:t>8</a:t>
            </a:r>
            <a:r>
              <a:rPr lang="en-US" altLang="zh-CN" sz="3600">
                <a:solidFill>
                  <a:srgbClr val="006666"/>
                </a:solidFill>
                <a:ea typeface="楷体_GB2312" charset="0"/>
              </a:rPr>
              <a:t>]</a:t>
            </a:r>
            <a:endParaRPr lang="en-US" altLang="zh-CN" sz="4000">
              <a:solidFill>
                <a:srgbClr val="006666"/>
              </a:solidFill>
              <a:ea typeface="楷体_GB2312" charset="0"/>
            </a:endParaRPr>
          </a:p>
        </p:txBody>
      </p:sp>
      <p:sp>
        <p:nvSpPr>
          <p:cNvPr id="61449" name="Rectangle 9"/>
          <p:cNvSpPr>
            <a:spLocks noChangeArrowheads="1"/>
          </p:cNvSpPr>
          <p:nvPr/>
        </p:nvSpPr>
        <p:spPr bwMode="auto">
          <a:xfrm>
            <a:off x="1143000" y="441960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f[</a:t>
            </a:r>
            <a:r>
              <a:rPr lang="en-US" altLang="zh-CN" sz="3600" b="1">
                <a:solidFill>
                  <a:srgbClr val="CC3300"/>
                </a:solidFill>
                <a:ea typeface="楷体_GB2312" charset="0"/>
              </a:rPr>
              <a:t>9</a:t>
            </a:r>
            <a:r>
              <a:rPr lang="en-US" altLang="zh-CN" sz="3600">
                <a:solidFill>
                  <a:srgbClr val="006666"/>
                </a:solidFill>
                <a:ea typeface="楷体_GB2312" charset="0"/>
              </a:rPr>
              <a:t>]                                  r[</a:t>
            </a:r>
            <a:r>
              <a:rPr lang="en-US" altLang="zh-CN" sz="3600" b="1">
                <a:solidFill>
                  <a:srgbClr val="CC3300"/>
                </a:solidFill>
                <a:ea typeface="楷体_GB2312" charset="0"/>
              </a:rPr>
              <a:t>9</a:t>
            </a:r>
            <a:r>
              <a:rPr lang="en-US" altLang="zh-CN" sz="3600">
                <a:solidFill>
                  <a:srgbClr val="006666"/>
                </a:solidFill>
                <a:ea typeface="楷体_GB2312" charset="0"/>
              </a:rPr>
              <a:t>]</a:t>
            </a:r>
            <a:endParaRPr lang="en-US" altLang="zh-CN" sz="4000">
              <a:solidFill>
                <a:srgbClr val="006666"/>
              </a:solidFill>
              <a:ea typeface="楷体_GB2312" charset="0"/>
            </a:endParaRPr>
          </a:p>
        </p:txBody>
      </p:sp>
      <p:sp>
        <p:nvSpPr>
          <p:cNvPr id="61450" name="Rectangle 10"/>
          <p:cNvSpPr>
            <a:spLocks noChangeArrowheads="1"/>
          </p:cNvSpPr>
          <p:nvPr/>
        </p:nvSpPr>
        <p:spPr bwMode="auto">
          <a:xfrm>
            <a:off x="304800" y="5943600"/>
            <a:ext cx="1428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p→230</a:t>
            </a:r>
          </a:p>
        </p:txBody>
      </p:sp>
      <p:sp>
        <p:nvSpPr>
          <p:cNvPr id="61451" name="Rectangle 11"/>
          <p:cNvSpPr>
            <a:spLocks noChangeArrowheads="1"/>
          </p:cNvSpPr>
          <p:nvPr/>
        </p:nvSpPr>
        <p:spPr bwMode="auto">
          <a:xfrm>
            <a:off x="1828800" y="2057400"/>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a:ea typeface="楷体_GB2312" charset="0"/>
              </a:rPr>
              <a:t>23</a:t>
            </a:r>
            <a:r>
              <a:rPr lang="en-US" altLang="zh-CN" sz="3600" b="1">
                <a:solidFill>
                  <a:srgbClr val="FF0000"/>
                </a:solidFill>
                <a:ea typeface="楷体_GB2312" charset="0"/>
              </a:rPr>
              <a:t>0</a:t>
            </a:r>
            <a:r>
              <a:rPr lang="en-US" altLang="zh-CN" sz="3600">
                <a:solidFill>
                  <a:srgbClr val="006666"/>
                </a:solidFill>
                <a:ea typeface="楷体_GB2312" charset="0"/>
              </a:rPr>
              <a:t>←</a:t>
            </a:r>
          </a:p>
        </p:txBody>
      </p:sp>
      <p:sp>
        <p:nvSpPr>
          <p:cNvPr id="61452" name="Rectangle 12"/>
          <p:cNvSpPr>
            <a:spLocks noChangeArrowheads="1"/>
          </p:cNvSpPr>
          <p:nvPr/>
        </p:nvSpPr>
        <p:spPr bwMode="auto">
          <a:xfrm>
            <a:off x="1828800" y="28638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a:ea typeface="楷体_GB2312" charset="0"/>
              </a:rPr>
              <a:t>36</a:t>
            </a:r>
            <a:r>
              <a:rPr lang="en-US" altLang="zh-CN" sz="3600" b="1">
                <a:solidFill>
                  <a:srgbClr val="0000FF"/>
                </a:solidFill>
                <a:ea typeface="楷体_GB2312" charset="0"/>
              </a:rPr>
              <a:t>7                    </a:t>
            </a:r>
            <a:r>
              <a:rPr lang="en-US" altLang="zh-CN" sz="3600">
                <a:solidFill>
                  <a:srgbClr val="006666"/>
                </a:solidFill>
                <a:ea typeface="楷体_GB2312" charset="0"/>
              </a:rPr>
              <a:t>←</a:t>
            </a:r>
          </a:p>
        </p:txBody>
      </p:sp>
      <p:sp>
        <p:nvSpPr>
          <p:cNvPr id="61453" name="Rectangle 13"/>
          <p:cNvSpPr>
            <a:spLocks noChangeArrowheads="1"/>
          </p:cNvSpPr>
          <p:nvPr/>
        </p:nvSpPr>
        <p:spPr bwMode="auto">
          <a:xfrm>
            <a:off x="2971800" y="2863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→16</a:t>
            </a:r>
            <a:r>
              <a:rPr lang="en-US" altLang="zh-CN" sz="3600" b="1">
                <a:solidFill>
                  <a:srgbClr val="0000FF"/>
                </a:solidFill>
                <a:ea typeface="楷体_GB2312" charset="0"/>
              </a:rPr>
              <a:t>7</a:t>
            </a:r>
          </a:p>
        </p:txBody>
      </p:sp>
      <p:sp>
        <p:nvSpPr>
          <p:cNvPr id="61454" name="Rectangle 14"/>
          <p:cNvSpPr>
            <a:spLocks noChangeArrowheads="1"/>
          </p:cNvSpPr>
          <p:nvPr/>
        </p:nvSpPr>
        <p:spPr bwMode="auto">
          <a:xfrm>
            <a:off x="4114800" y="28638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→23</a:t>
            </a:r>
            <a:r>
              <a:rPr lang="en-US" altLang="zh-CN" sz="3600" b="1">
                <a:solidFill>
                  <a:srgbClr val="0000FF"/>
                </a:solidFill>
                <a:ea typeface="楷体_GB2312" charset="0"/>
              </a:rPr>
              <a:t>7</a:t>
            </a:r>
          </a:p>
        </p:txBody>
      </p:sp>
      <p:sp>
        <p:nvSpPr>
          <p:cNvPr id="61455" name="Rectangle 15"/>
          <p:cNvSpPr>
            <a:spLocks noChangeArrowheads="1"/>
          </p:cNvSpPr>
          <p:nvPr/>
        </p:nvSpPr>
        <p:spPr bwMode="auto">
          <a:xfrm>
            <a:off x="1524000" y="5943600"/>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→367→167→237</a:t>
            </a:r>
          </a:p>
        </p:txBody>
      </p:sp>
      <p:sp>
        <p:nvSpPr>
          <p:cNvPr id="61456" name="Rectangle 16"/>
          <p:cNvSpPr>
            <a:spLocks noChangeArrowheads="1"/>
          </p:cNvSpPr>
          <p:nvPr/>
        </p:nvSpPr>
        <p:spPr bwMode="auto">
          <a:xfrm>
            <a:off x="4648200" y="5943600"/>
            <a:ext cx="1203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→138</a:t>
            </a:r>
          </a:p>
        </p:txBody>
      </p:sp>
      <p:sp>
        <p:nvSpPr>
          <p:cNvPr id="61457" name="Rectangle 17"/>
          <p:cNvSpPr>
            <a:spLocks noChangeArrowheads="1"/>
          </p:cNvSpPr>
          <p:nvPr/>
        </p:nvSpPr>
        <p:spPr bwMode="auto">
          <a:xfrm>
            <a:off x="5715000" y="5943600"/>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→368→239→139</a:t>
            </a:r>
          </a:p>
        </p:txBody>
      </p:sp>
      <p:sp>
        <p:nvSpPr>
          <p:cNvPr id="61458" name="Rectangle 18"/>
          <p:cNvSpPr>
            <a:spLocks noChangeArrowheads="1"/>
          </p:cNvSpPr>
          <p:nvPr/>
        </p:nvSpPr>
        <p:spPr bwMode="auto">
          <a:xfrm>
            <a:off x="1828800" y="441960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a:ea typeface="楷体_GB2312" charset="0"/>
              </a:rPr>
              <a:t>36</a:t>
            </a:r>
            <a:r>
              <a:rPr lang="en-US" altLang="zh-CN" sz="3600" b="1">
                <a:solidFill>
                  <a:srgbClr val="CC3300"/>
                </a:solidFill>
                <a:ea typeface="楷体_GB2312" charset="0"/>
              </a:rPr>
              <a:t>9                    </a:t>
            </a:r>
            <a:r>
              <a:rPr lang="en-US" altLang="zh-CN" sz="3600">
                <a:solidFill>
                  <a:srgbClr val="006666"/>
                </a:solidFill>
                <a:ea typeface="楷体_GB2312" charset="0"/>
              </a:rPr>
              <a:t>←</a:t>
            </a:r>
          </a:p>
        </p:txBody>
      </p:sp>
      <p:sp>
        <p:nvSpPr>
          <p:cNvPr id="61459" name="Rectangle 19"/>
          <p:cNvSpPr>
            <a:spLocks noChangeArrowheads="1"/>
          </p:cNvSpPr>
          <p:nvPr/>
        </p:nvSpPr>
        <p:spPr bwMode="auto">
          <a:xfrm>
            <a:off x="2971800" y="4464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→23</a:t>
            </a:r>
            <a:r>
              <a:rPr lang="en-US" altLang="zh-CN" sz="3600" b="1">
                <a:solidFill>
                  <a:srgbClr val="CC3300"/>
                </a:solidFill>
                <a:ea typeface="楷体_GB2312" charset="0"/>
              </a:rPr>
              <a:t>9</a:t>
            </a:r>
          </a:p>
        </p:txBody>
      </p:sp>
      <p:sp>
        <p:nvSpPr>
          <p:cNvPr id="61460" name="Rectangle 20"/>
          <p:cNvSpPr>
            <a:spLocks noChangeArrowheads="1"/>
          </p:cNvSpPr>
          <p:nvPr/>
        </p:nvSpPr>
        <p:spPr bwMode="auto">
          <a:xfrm>
            <a:off x="4114800" y="4464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→13</a:t>
            </a:r>
            <a:r>
              <a:rPr lang="en-US" altLang="zh-CN" sz="3600" b="1">
                <a:solidFill>
                  <a:srgbClr val="CC3300"/>
                </a:solidFill>
                <a:ea typeface="楷体_GB2312" charset="0"/>
              </a:rPr>
              <a:t>9</a:t>
            </a:r>
          </a:p>
        </p:txBody>
      </p:sp>
      <p:sp>
        <p:nvSpPr>
          <p:cNvPr id="61461" name="Rectangle 21"/>
          <p:cNvSpPr>
            <a:spLocks noChangeArrowheads="1"/>
          </p:cNvSpPr>
          <p:nvPr/>
        </p:nvSpPr>
        <p:spPr bwMode="auto">
          <a:xfrm>
            <a:off x="1797050" y="3657600"/>
            <a:ext cx="1784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a:ea typeface="楷体_GB2312" charset="0"/>
              </a:rPr>
              <a:t>13</a:t>
            </a:r>
            <a:r>
              <a:rPr lang="en-US" altLang="zh-CN" sz="3600" b="1">
                <a:solidFill>
                  <a:srgbClr val="FF00FF"/>
                </a:solidFill>
                <a:ea typeface="楷体_GB2312" charset="0"/>
              </a:rPr>
              <a:t>8</a:t>
            </a:r>
            <a:r>
              <a:rPr lang="en-US" altLang="zh-CN" sz="3600">
                <a:solidFill>
                  <a:srgbClr val="006666"/>
                </a:solidFill>
                <a:ea typeface="楷体_GB2312" charset="0"/>
              </a:rPr>
              <a:t>←</a:t>
            </a:r>
          </a:p>
        </p:txBody>
      </p:sp>
    </p:spTree>
    <p:extLst>
      <p:ext uri="{BB962C8B-B14F-4D97-AF65-F5344CB8AC3E}">
        <p14:creationId xmlns:p14="http://schemas.microsoft.com/office/powerpoint/2010/main" val="18186042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wipe(left)">
                                      <p:cBhvr>
                                        <p:cTn id="7" dur="500"/>
                                        <p:tgtEl>
                                          <p:spTgt spid="61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gtEl>
                                        <p:attrNameLst>
                                          <p:attrName>style.visibility</p:attrName>
                                        </p:attrNameLst>
                                      </p:cBhvr>
                                      <p:to>
                                        <p:strVal val="visible"/>
                                      </p:to>
                                    </p:set>
                                    <p:animEffect transition="in" filter="wipe(left)">
                                      <p:cBhvr>
                                        <p:cTn id="12" dur="500"/>
                                        <p:tgtEl>
                                          <p:spTgt spid="614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4"/>
                                        </p:tgtEl>
                                        <p:attrNameLst>
                                          <p:attrName>style.visibility</p:attrName>
                                        </p:attrNameLst>
                                      </p:cBhvr>
                                      <p:to>
                                        <p:strVal val="visible"/>
                                      </p:to>
                                    </p:set>
                                    <p:animEffect transition="in" filter="wipe(left)">
                                      <p:cBhvr>
                                        <p:cTn id="17" dur="500"/>
                                        <p:tgtEl>
                                          <p:spTgt spid="614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46"/>
                                        </p:tgtEl>
                                        <p:attrNameLst>
                                          <p:attrName>style.visibility</p:attrName>
                                        </p:attrNameLst>
                                      </p:cBhvr>
                                      <p:to>
                                        <p:strVal val="visible"/>
                                      </p:to>
                                    </p:set>
                                    <p:animEffect transition="in" filter="wipe(left)">
                                      <p:cBhvr>
                                        <p:cTn id="22" dur="500"/>
                                        <p:tgtEl>
                                          <p:spTgt spid="61446"/>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1447"/>
                                        </p:tgtEl>
                                        <p:attrNameLst>
                                          <p:attrName>style.visibility</p:attrName>
                                        </p:attrNameLst>
                                      </p:cBhvr>
                                      <p:to>
                                        <p:strVal val="visible"/>
                                      </p:to>
                                    </p:set>
                                    <p:animEffect transition="in" filter="wipe(left)">
                                      <p:cBhvr>
                                        <p:cTn id="26" dur="500"/>
                                        <p:tgtEl>
                                          <p:spTgt spid="61447"/>
                                        </p:tgtEl>
                                      </p:cBhvr>
                                    </p:animEffect>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1448"/>
                                        </p:tgtEl>
                                        <p:attrNameLst>
                                          <p:attrName>style.visibility</p:attrName>
                                        </p:attrNameLst>
                                      </p:cBhvr>
                                      <p:to>
                                        <p:strVal val="visible"/>
                                      </p:to>
                                    </p:set>
                                    <p:animEffect transition="in" filter="wipe(left)">
                                      <p:cBhvr>
                                        <p:cTn id="30" dur="500"/>
                                        <p:tgtEl>
                                          <p:spTgt spid="61448"/>
                                        </p:tgtEl>
                                      </p:cBhvr>
                                    </p:animEffect>
                                  </p:childTnLst>
                                </p:cTn>
                              </p:par>
                            </p:childTnLst>
                          </p:cTn>
                        </p:par>
                        <p:par>
                          <p:cTn id="31" fill="hold" nodeType="afterGroup">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61449"/>
                                        </p:tgtEl>
                                        <p:attrNameLst>
                                          <p:attrName>style.visibility</p:attrName>
                                        </p:attrNameLst>
                                      </p:cBhvr>
                                      <p:to>
                                        <p:strVal val="visible"/>
                                      </p:to>
                                    </p:set>
                                    <p:animEffect transition="in" filter="wipe(left)">
                                      <p:cBhvr>
                                        <p:cTn id="34" dur="500"/>
                                        <p:tgtEl>
                                          <p:spTgt spid="614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1458"/>
                                        </p:tgtEl>
                                        <p:attrNameLst>
                                          <p:attrName>style.visibility</p:attrName>
                                        </p:attrNameLst>
                                      </p:cBhvr>
                                      <p:to>
                                        <p:strVal val="visible"/>
                                      </p:to>
                                    </p:set>
                                    <p:animEffect transition="in" filter="wipe(left)">
                                      <p:cBhvr>
                                        <p:cTn id="39" dur="500"/>
                                        <p:tgtEl>
                                          <p:spTgt spid="6145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1452"/>
                                        </p:tgtEl>
                                        <p:attrNameLst>
                                          <p:attrName>style.visibility</p:attrName>
                                        </p:attrNameLst>
                                      </p:cBhvr>
                                      <p:to>
                                        <p:strVal val="visible"/>
                                      </p:to>
                                    </p:set>
                                    <p:animEffect transition="in" filter="wipe(left)">
                                      <p:cBhvr>
                                        <p:cTn id="44" dur="500"/>
                                        <p:tgtEl>
                                          <p:spTgt spid="6145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1453"/>
                                        </p:tgtEl>
                                        <p:attrNameLst>
                                          <p:attrName>style.visibility</p:attrName>
                                        </p:attrNameLst>
                                      </p:cBhvr>
                                      <p:to>
                                        <p:strVal val="visible"/>
                                      </p:to>
                                    </p:set>
                                    <p:animEffect transition="in" filter="wipe(left)">
                                      <p:cBhvr>
                                        <p:cTn id="49" dur="500"/>
                                        <p:tgtEl>
                                          <p:spTgt spid="6145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1459"/>
                                        </p:tgtEl>
                                        <p:attrNameLst>
                                          <p:attrName>style.visibility</p:attrName>
                                        </p:attrNameLst>
                                      </p:cBhvr>
                                      <p:to>
                                        <p:strVal val="visible"/>
                                      </p:to>
                                    </p:set>
                                    <p:animEffect transition="in" filter="wipe(left)">
                                      <p:cBhvr>
                                        <p:cTn id="54" dur="500"/>
                                        <p:tgtEl>
                                          <p:spTgt spid="6145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1454"/>
                                        </p:tgtEl>
                                        <p:attrNameLst>
                                          <p:attrName>style.visibility</p:attrName>
                                        </p:attrNameLst>
                                      </p:cBhvr>
                                      <p:to>
                                        <p:strVal val="visible"/>
                                      </p:to>
                                    </p:set>
                                    <p:animEffect transition="in" filter="wipe(left)">
                                      <p:cBhvr>
                                        <p:cTn id="59" dur="500"/>
                                        <p:tgtEl>
                                          <p:spTgt spid="6145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1461"/>
                                        </p:tgtEl>
                                        <p:attrNameLst>
                                          <p:attrName>style.visibility</p:attrName>
                                        </p:attrNameLst>
                                      </p:cBhvr>
                                      <p:to>
                                        <p:strVal val="visible"/>
                                      </p:to>
                                    </p:set>
                                    <p:animEffect transition="in" filter="wipe(left)">
                                      <p:cBhvr>
                                        <p:cTn id="64" dur="500"/>
                                        <p:tgtEl>
                                          <p:spTgt spid="6146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61451"/>
                                        </p:tgtEl>
                                        <p:attrNameLst>
                                          <p:attrName>style.visibility</p:attrName>
                                        </p:attrNameLst>
                                      </p:cBhvr>
                                      <p:to>
                                        <p:strVal val="visible"/>
                                      </p:to>
                                    </p:set>
                                    <p:animEffect transition="in" filter="wipe(left)">
                                      <p:cBhvr>
                                        <p:cTn id="69" dur="500"/>
                                        <p:tgtEl>
                                          <p:spTgt spid="6145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61460"/>
                                        </p:tgtEl>
                                        <p:attrNameLst>
                                          <p:attrName>style.visibility</p:attrName>
                                        </p:attrNameLst>
                                      </p:cBhvr>
                                      <p:to>
                                        <p:strVal val="visible"/>
                                      </p:to>
                                    </p:set>
                                    <p:animEffect transition="in" filter="wipe(left)">
                                      <p:cBhvr>
                                        <p:cTn id="74" dur="500"/>
                                        <p:tgtEl>
                                          <p:spTgt spid="6146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1445"/>
                                        </p:tgtEl>
                                        <p:attrNameLst>
                                          <p:attrName>style.visibility</p:attrName>
                                        </p:attrNameLst>
                                      </p:cBhvr>
                                      <p:to>
                                        <p:strVal val="visible"/>
                                      </p:to>
                                    </p:set>
                                    <p:animEffect transition="in" filter="wipe(left)">
                                      <p:cBhvr>
                                        <p:cTn id="79" dur="500"/>
                                        <p:tgtEl>
                                          <p:spTgt spid="6144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61450"/>
                                        </p:tgtEl>
                                        <p:attrNameLst>
                                          <p:attrName>style.visibility</p:attrName>
                                        </p:attrNameLst>
                                      </p:cBhvr>
                                      <p:to>
                                        <p:strVal val="visible"/>
                                      </p:to>
                                    </p:set>
                                    <p:animEffect transition="in" filter="wipe(left)">
                                      <p:cBhvr>
                                        <p:cTn id="84" dur="500"/>
                                        <p:tgtEl>
                                          <p:spTgt spid="6145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61455"/>
                                        </p:tgtEl>
                                        <p:attrNameLst>
                                          <p:attrName>style.visibility</p:attrName>
                                        </p:attrNameLst>
                                      </p:cBhvr>
                                      <p:to>
                                        <p:strVal val="visible"/>
                                      </p:to>
                                    </p:set>
                                    <p:animEffect transition="in" filter="wipe(left)">
                                      <p:cBhvr>
                                        <p:cTn id="89" dur="500"/>
                                        <p:tgtEl>
                                          <p:spTgt spid="6145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61456"/>
                                        </p:tgtEl>
                                        <p:attrNameLst>
                                          <p:attrName>style.visibility</p:attrName>
                                        </p:attrNameLst>
                                      </p:cBhvr>
                                      <p:to>
                                        <p:strVal val="visible"/>
                                      </p:to>
                                    </p:set>
                                    <p:animEffect transition="in" filter="wipe(left)">
                                      <p:cBhvr>
                                        <p:cTn id="94" dur="500"/>
                                        <p:tgtEl>
                                          <p:spTgt spid="6145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61457"/>
                                        </p:tgtEl>
                                        <p:attrNameLst>
                                          <p:attrName>style.visibility</p:attrName>
                                        </p:attrNameLst>
                                      </p:cBhvr>
                                      <p:to>
                                        <p:strVal val="visible"/>
                                      </p:to>
                                    </p:set>
                                    <p:animEffect transition="in" filter="wipe(left)">
                                      <p:cBhvr>
                                        <p:cTn id="99" dur="500"/>
                                        <p:tgtEl>
                                          <p:spTgt spid="61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P spid="61443" grpId="0" autoUpdateAnimBg="0"/>
      <p:bldP spid="61444" grpId="0" autoUpdateAnimBg="0"/>
      <p:bldP spid="61445" grpId="0" autoUpdateAnimBg="0"/>
      <p:bldP spid="61446" grpId="0" autoUpdateAnimBg="0"/>
      <p:bldP spid="61447" grpId="0" autoUpdateAnimBg="0"/>
      <p:bldP spid="61448" grpId="0" autoUpdateAnimBg="0"/>
      <p:bldP spid="61449" grpId="0" autoUpdateAnimBg="0"/>
      <p:bldP spid="61450" grpId="0" autoUpdateAnimBg="0"/>
      <p:bldP spid="61451" grpId="0" autoUpdateAnimBg="0"/>
      <p:bldP spid="61452" grpId="0" autoUpdateAnimBg="0"/>
      <p:bldP spid="61453" grpId="0" autoUpdateAnimBg="0"/>
      <p:bldP spid="61454" grpId="0" autoUpdateAnimBg="0"/>
      <p:bldP spid="61455" grpId="0" autoUpdateAnimBg="0"/>
      <p:bldP spid="61456" grpId="0" autoUpdateAnimBg="0"/>
      <p:bldP spid="61457" grpId="0" autoUpdateAnimBg="0"/>
      <p:bldP spid="61458" grpId="0" autoUpdateAnimBg="0"/>
      <p:bldP spid="61459" grpId="0" autoUpdateAnimBg="0"/>
      <p:bldP spid="61460" grpId="0" autoUpdateAnimBg="0"/>
      <p:bldP spid="61461"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304800" y="1143000"/>
            <a:ext cx="37734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4000" b="1">
                <a:solidFill>
                  <a:srgbClr val="990000"/>
                </a:solidFill>
                <a:ea typeface="隶书" charset="0"/>
              </a:rPr>
              <a:t>进行第二次分配</a:t>
            </a:r>
            <a:endParaRPr lang="zh-CN" altLang="en-US" sz="4000">
              <a:ea typeface="楷体_GB2312" charset="0"/>
            </a:endParaRPr>
          </a:p>
        </p:txBody>
      </p:sp>
      <p:sp>
        <p:nvSpPr>
          <p:cNvPr id="62467" name="Text Box 3"/>
          <p:cNvSpPr txBox="1">
            <a:spLocks noChangeArrowheads="1"/>
          </p:cNvSpPr>
          <p:nvPr/>
        </p:nvSpPr>
        <p:spPr bwMode="auto">
          <a:xfrm>
            <a:off x="361950" y="5191125"/>
            <a:ext cx="550545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200" b="1">
                <a:solidFill>
                  <a:srgbClr val="660033"/>
                </a:solidFill>
                <a:ea typeface="楷体_GB2312" charset="0"/>
              </a:rPr>
              <a:t>p→230→237→138→239→139</a:t>
            </a:r>
            <a:endParaRPr lang="en-US" altLang="zh-CN" sz="3400">
              <a:ea typeface="楷体_GB2312" charset="0"/>
            </a:endParaRPr>
          </a:p>
        </p:txBody>
      </p:sp>
      <p:sp>
        <p:nvSpPr>
          <p:cNvPr id="62469" name="Text Box 5"/>
          <p:cNvSpPr txBox="1">
            <a:spLocks noChangeArrowheads="1"/>
          </p:cNvSpPr>
          <p:nvPr/>
        </p:nvSpPr>
        <p:spPr bwMode="auto">
          <a:xfrm>
            <a:off x="288925" y="400050"/>
            <a:ext cx="8562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p→230→367→167→237→138→368→239→139</a:t>
            </a:r>
          </a:p>
        </p:txBody>
      </p:sp>
      <p:sp>
        <p:nvSpPr>
          <p:cNvPr id="62470" name="Rectangle 6"/>
          <p:cNvSpPr>
            <a:spLocks noChangeArrowheads="1"/>
          </p:cNvSpPr>
          <p:nvPr/>
        </p:nvSpPr>
        <p:spPr bwMode="auto">
          <a:xfrm>
            <a:off x="381000" y="2057400"/>
            <a:ext cx="8569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4000">
                <a:solidFill>
                  <a:srgbClr val="006666"/>
                </a:solidFill>
                <a:ea typeface="楷体_GB2312" charset="0"/>
              </a:rPr>
              <a:t>f[</a:t>
            </a:r>
            <a:r>
              <a:rPr lang="en-US" altLang="zh-CN" sz="4000" b="1">
                <a:solidFill>
                  <a:srgbClr val="FF0000"/>
                </a:solidFill>
                <a:ea typeface="楷体_GB2312" charset="0"/>
              </a:rPr>
              <a:t>3</a:t>
            </a:r>
            <a:r>
              <a:rPr lang="en-US" altLang="zh-CN" sz="4000">
                <a:solidFill>
                  <a:srgbClr val="006666"/>
                </a:solidFill>
                <a:ea typeface="楷体_GB2312" charset="0"/>
              </a:rPr>
              <a:t>]                                                      r[</a:t>
            </a:r>
            <a:r>
              <a:rPr lang="en-US" altLang="zh-CN" sz="4000" b="1">
                <a:solidFill>
                  <a:srgbClr val="FF0000"/>
                </a:solidFill>
                <a:ea typeface="楷体_GB2312" charset="0"/>
              </a:rPr>
              <a:t>3</a:t>
            </a:r>
            <a:r>
              <a:rPr lang="en-US" altLang="zh-CN" sz="4000">
                <a:solidFill>
                  <a:srgbClr val="006666"/>
                </a:solidFill>
                <a:ea typeface="楷体_GB2312" charset="0"/>
              </a:rPr>
              <a:t>]</a:t>
            </a:r>
            <a:endParaRPr lang="en-US" altLang="zh-CN" sz="4000">
              <a:ea typeface="楷体_GB2312" charset="0"/>
            </a:endParaRPr>
          </a:p>
        </p:txBody>
      </p:sp>
      <p:sp>
        <p:nvSpPr>
          <p:cNvPr id="62471" name="Rectangle 7"/>
          <p:cNvSpPr>
            <a:spLocks noChangeArrowheads="1"/>
          </p:cNvSpPr>
          <p:nvPr/>
        </p:nvSpPr>
        <p:spPr bwMode="auto">
          <a:xfrm>
            <a:off x="381000" y="3200400"/>
            <a:ext cx="6029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4000">
                <a:solidFill>
                  <a:srgbClr val="006666"/>
                </a:solidFill>
                <a:ea typeface="楷体_GB2312" charset="0"/>
              </a:rPr>
              <a:t>f[</a:t>
            </a:r>
            <a:r>
              <a:rPr lang="en-US" altLang="zh-CN" sz="4000" b="1">
                <a:solidFill>
                  <a:srgbClr val="0000FF"/>
                </a:solidFill>
                <a:ea typeface="楷体_GB2312" charset="0"/>
              </a:rPr>
              <a:t>6</a:t>
            </a:r>
            <a:r>
              <a:rPr lang="en-US" altLang="zh-CN" sz="4000">
                <a:solidFill>
                  <a:srgbClr val="006666"/>
                </a:solidFill>
                <a:ea typeface="楷体_GB2312" charset="0"/>
              </a:rPr>
              <a:t>]                                  r[</a:t>
            </a:r>
            <a:r>
              <a:rPr lang="en-US" altLang="zh-CN" sz="4000" b="1">
                <a:solidFill>
                  <a:srgbClr val="0000FF"/>
                </a:solidFill>
                <a:ea typeface="楷体_GB2312" charset="0"/>
              </a:rPr>
              <a:t>6</a:t>
            </a:r>
            <a:r>
              <a:rPr lang="en-US" altLang="zh-CN" sz="4000">
                <a:solidFill>
                  <a:srgbClr val="006666"/>
                </a:solidFill>
                <a:ea typeface="楷体_GB2312" charset="0"/>
              </a:rPr>
              <a:t>]</a:t>
            </a:r>
          </a:p>
        </p:txBody>
      </p:sp>
      <p:sp>
        <p:nvSpPr>
          <p:cNvPr id="62472" name="Rectangle 8"/>
          <p:cNvSpPr>
            <a:spLocks noChangeArrowheads="1"/>
          </p:cNvSpPr>
          <p:nvPr/>
        </p:nvSpPr>
        <p:spPr bwMode="auto">
          <a:xfrm>
            <a:off x="1143000" y="2193925"/>
            <a:ext cx="704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solidFill>
                  <a:srgbClr val="006666"/>
                </a:solidFill>
                <a:ea typeface="楷体_GB2312" charset="0"/>
              </a:rPr>
              <a:t>→</a:t>
            </a:r>
            <a:r>
              <a:rPr lang="en-US" altLang="zh-CN" sz="4000">
                <a:ea typeface="楷体_GB2312" charset="0"/>
              </a:rPr>
              <a:t>2</a:t>
            </a:r>
            <a:r>
              <a:rPr lang="en-US" altLang="zh-CN" sz="4000" b="1">
                <a:solidFill>
                  <a:srgbClr val="FF0000"/>
                </a:solidFill>
                <a:ea typeface="楷体_GB2312" charset="0"/>
              </a:rPr>
              <a:t>3</a:t>
            </a:r>
            <a:r>
              <a:rPr lang="en-US" altLang="zh-CN" sz="4000">
                <a:ea typeface="楷体_GB2312" charset="0"/>
              </a:rPr>
              <a:t>0                                        </a:t>
            </a:r>
            <a:r>
              <a:rPr lang="en-US" altLang="zh-CN" sz="4000">
                <a:solidFill>
                  <a:srgbClr val="006666"/>
                </a:solidFill>
                <a:ea typeface="楷体_GB2312" charset="0"/>
              </a:rPr>
              <a:t>←</a:t>
            </a:r>
          </a:p>
        </p:txBody>
      </p:sp>
      <p:sp>
        <p:nvSpPr>
          <p:cNvPr id="62473" name="Rectangle 9"/>
          <p:cNvSpPr>
            <a:spLocks noChangeArrowheads="1"/>
          </p:cNvSpPr>
          <p:nvPr/>
        </p:nvSpPr>
        <p:spPr bwMode="auto">
          <a:xfrm>
            <a:off x="243205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→2</a:t>
            </a:r>
            <a:r>
              <a:rPr lang="en-US" altLang="zh-CN" sz="4000" b="1">
                <a:solidFill>
                  <a:srgbClr val="FF0000"/>
                </a:solidFill>
                <a:ea typeface="楷体_GB2312" charset="0"/>
              </a:rPr>
              <a:t>3</a:t>
            </a:r>
            <a:r>
              <a:rPr lang="en-US" altLang="zh-CN" sz="4000">
                <a:ea typeface="楷体_GB2312" charset="0"/>
              </a:rPr>
              <a:t>7</a:t>
            </a:r>
          </a:p>
        </p:txBody>
      </p:sp>
      <p:sp>
        <p:nvSpPr>
          <p:cNvPr id="62474" name="Rectangle 10"/>
          <p:cNvSpPr>
            <a:spLocks noChangeArrowheads="1"/>
          </p:cNvSpPr>
          <p:nvPr/>
        </p:nvSpPr>
        <p:spPr bwMode="auto">
          <a:xfrm>
            <a:off x="36576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→1</a:t>
            </a:r>
            <a:r>
              <a:rPr lang="en-US" altLang="zh-CN" sz="4000" b="1">
                <a:solidFill>
                  <a:srgbClr val="FF0000"/>
                </a:solidFill>
                <a:ea typeface="楷体_GB2312" charset="0"/>
              </a:rPr>
              <a:t>3</a:t>
            </a:r>
            <a:r>
              <a:rPr lang="en-US" altLang="zh-CN" sz="4000">
                <a:ea typeface="楷体_GB2312" charset="0"/>
              </a:rPr>
              <a:t>8</a:t>
            </a:r>
          </a:p>
        </p:txBody>
      </p:sp>
      <p:sp>
        <p:nvSpPr>
          <p:cNvPr id="62475" name="Rectangle 11"/>
          <p:cNvSpPr>
            <a:spLocks noChangeArrowheads="1"/>
          </p:cNvSpPr>
          <p:nvPr/>
        </p:nvSpPr>
        <p:spPr bwMode="auto">
          <a:xfrm>
            <a:off x="48768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→2</a:t>
            </a:r>
            <a:r>
              <a:rPr lang="en-US" altLang="zh-CN" sz="4000" b="1">
                <a:solidFill>
                  <a:srgbClr val="FF0000"/>
                </a:solidFill>
                <a:ea typeface="楷体_GB2312" charset="0"/>
              </a:rPr>
              <a:t>3</a:t>
            </a:r>
            <a:r>
              <a:rPr lang="en-US" altLang="zh-CN" sz="4000">
                <a:ea typeface="楷体_GB2312" charset="0"/>
              </a:rPr>
              <a:t>9</a:t>
            </a:r>
          </a:p>
        </p:txBody>
      </p:sp>
      <p:sp>
        <p:nvSpPr>
          <p:cNvPr id="62476" name="Rectangle 12"/>
          <p:cNvSpPr>
            <a:spLocks noChangeArrowheads="1"/>
          </p:cNvSpPr>
          <p:nvPr/>
        </p:nvSpPr>
        <p:spPr bwMode="auto">
          <a:xfrm>
            <a:off x="6172200" y="2193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→1</a:t>
            </a:r>
            <a:r>
              <a:rPr lang="en-US" altLang="zh-CN" sz="4000" b="1">
                <a:solidFill>
                  <a:srgbClr val="FF0000"/>
                </a:solidFill>
                <a:ea typeface="楷体_GB2312" charset="0"/>
              </a:rPr>
              <a:t>3</a:t>
            </a:r>
            <a:r>
              <a:rPr lang="en-US" altLang="zh-CN" sz="4000">
                <a:ea typeface="楷体_GB2312" charset="0"/>
              </a:rPr>
              <a:t>9</a:t>
            </a:r>
          </a:p>
        </p:txBody>
      </p:sp>
      <p:sp>
        <p:nvSpPr>
          <p:cNvPr id="62477" name="Rectangle 13"/>
          <p:cNvSpPr>
            <a:spLocks noChangeArrowheads="1"/>
          </p:cNvSpPr>
          <p:nvPr/>
        </p:nvSpPr>
        <p:spPr bwMode="auto">
          <a:xfrm>
            <a:off x="1143000" y="3336925"/>
            <a:ext cx="450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solidFill>
                  <a:srgbClr val="006666"/>
                </a:solidFill>
                <a:ea typeface="楷体_GB2312" charset="0"/>
              </a:rPr>
              <a:t>→</a:t>
            </a:r>
            <a:r>
              <a:rPr lang="en-US" altLang="zh-CN" sz="4000">
                <a:ea typeface="楷体_GB2312" charset="0"/>
              </a:rPr>
              <a:t>3</a:t>
            </a:r>
            <a:r>
              <a:rPr lang="en-US" altLang="zh-CN" sz="4000" b="1">
                <a:solidFill>
                  <a:srgbClr val="0000FF"/>
                </a:solidFill>
                <a:ea typeface="楷体_GB2312" charset="0"/>
              </a:rPr>
              <a:t>6</a:t>
            </a:r>
            <a:r>
              <a:rPr lang="en-US" altLang="zh-CN" sz="4000">
                <a:ea typeface="楷体_GB2312" charset="0"/>
              </a:rPr>
              <a:t>7                    </a:t>
            </a:r>
            <a:r>
              <a:rPr lang="en-US" altLang="zh-CN" sz="4000">
                <a:solidFill>
                  <a:srgbClr val="006666"/>
                </a:solidFill>
                <a:ea typeface="楷体_GB2312" charset="0"/>
              </a:rPr>
              <a:t>←</a:t>
            </a:r>
          </a:p>
        </p:txBody>
      </p:sp>
      <p:sp>
        <p:nvSpPr>
          <p:cNvPr id="62478" name="Rectangle 14"/>
          <p:cNvSpPr>
            <a:spLocks noChangeArrowheads="1"/>
          </p:cNvSpPr>
          <p:nvPr/>
        </p:nvSpPr>
        <p:spPr bwMode="auto">
          <a:xfrm>
            <a:off x="2362200" y="3336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→1</a:t>
            </a:r>
            <a:r>
              <a:rPr lang="en-US" altLang="zh-CN" sz="4000" b="1">
                <a:solidFill>
                  <a:srgbClr val="0000FF"/>
                </a:solidFill>
                <a:ea typeface="楷体_GB2312" charset="0"/>
              </a:rPr>
              <a:t>6</a:t>
            </a:r>
            <a:r>
              <a:rPr lang="en-US" altLang="zh-CN" sz="4000">
                <a:ea typeface="楷体_GB2312" charset="0"/>
              </a:rPr>
              <a:t>7</a:t>
            </a:r>
          </a:p>
        </p:txBody>
      </p:sp>
      <p:sp>
        <p:nvSpPr>
          <p:cNvPr id="62479" name="Rectangle 15"/>
          <p:cNvSpPr>
            <a:spLocks noChangeArrowheads="1"/>
          </p:cNvSpPr>
          <p:nvPr/>
        </p:nvSpPr>
        <p:spPr bwMode="auto">
          <a:xfrm>
            <a:off x="3657600" y="3336925"/>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000">
                <a:ea typeface="楷体_GB2312" charset="0"/>
              </a:rPr>
              <a:t>→3</a:t>
            </a:r>
            <a:r>
              <a:rPr lang="en-US" altLang="zh-CN" sz="4000" b="1">
                <a:solidFill>
                  <a:srgbClr val="0000FF"/>
                </a:solidFill>
                <a:ea typeface="楷体_GB2312" charset="0"/>
              </a:rPr>
              <a:t>6</a:t>
            </a:r>
            <a:r>
              <a:rPr lang="en-US" altLang="zh-CN" sz="4000">
                <a:ea typeface="楷体_GB2312" charset="0"/>
              </a:rPr>
              <a:t>8</a:t>
            </a:r>
          </a:p>
        </p:txBody>
      </p:sp>
      <p:sp>
        <p:nvSpPr>
          <p:cNvPr id="62480" name="Rectangle 16"/>
          <p:cNvSpPr>
            <a:spLocks noChangeArrowheads="1"/>
          </p:cNvSpPr>
          <p:nvPr/>
        </p:nvSpPr>
        <p:spPr bwMode="auto">
          <a:xfrm>
            <a:off x="5791200" y="5287963"/>
            <a:ext cx="3241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→367→167→368</a:t>
            </a:r>
          </a:p>
        </p:txBody>
      </p:sp>
      <p:sp>
        <p:nvSpPr>
          <p:cNvPr id="62481" name="Rectangle 17"/>
          <p:cNvSpPr>
            <a:spLocks noChangeArrowheads="1"/>
          </p:cNvSpPr>
          <p:nvPr/>
        </p:nvSpPr>
        <p:spPr bwMode="auto">
          <a:xfrm>
            <a:off x="457200" y="4191000"/>
            <a:ext cx="374015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zh-CN" altLang="en-US" sz="4000">
                <a:solidFill>
                  <a:srgbClr val="990000"/>
                </a:solidFill>
                <a:ea typeface="隶书" charset="0"/>
              </a:rPr>
              <a:t>进行第二次收集</a:t>
            </a:r>
          </a:p>
        </p:txBody>
      </p:sp>
    </p:spTree>
    <p:extLst>
      <p:ext uri="{BB962C8B-B14F-4D97-AF65-F5344CB8AC3E}">
        <p14:creationId xmlns:p14="http://schemas.microsoft.com/office/powerpoint/2010/main" val="13572036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469"/>
                                        </p:tgtEl>
                                        <p:attrNameLst>
                                          <p:attrName>style.visibility</p:attrName>
                                        </p:attrNameLst>
                                      </p:cBhvr>
                                      <p:to>
                                        <p:strVal val="visible"/>
                                      </p:to>
                                    </p:set>
                                    <p:animEffect transition="in" filter="wipe(left)">
                                      <p:cBhvr>
                                        <p:cTn id="7" dur="500"/>
                                        <p:tgtEl>
                                          <p:spTgt spid="624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6"/>
                                        </p:tgtEl>
                                        <p:attrNameLst>
                                          <p:attrName>style.visibility</p:attrName>
                                        </p:attrNameLst>
                                      </p:cBhvr>
                                      <p:to>
                                        <p:strVal val="visible"/>
                                      </p:to>
                                    </p:set>
                                    <p:animEffect transition="in" filter="wipe(left)">
                                      <p:cBhvr>
                                        <p:cTn id="12" dur="500"/>
                                        <p:tgtEl>
                                          <p:spTgt spid="624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70"/>
                                        </p:tgtEl>
                                        <p:attrNameLst>
                                          <p:attrName>style.visibility</p:attrName>
                                        </p:attrNameLst>
                                      </p:cBhvr>
                                      <p:to>
                                        <p:strVal val="visible"/>
                                      </p:to>
                                    </p:set>
                                    <p:animEffect transition="in" filter="wipe(left)">
                                      <p:cBhvr>
                                        <p:cTn id="17" dur="500"/>
                                        <p:tgtEl>
                                          <p:spTgt spid="62470"/>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2471"/>
                                        </p:tgtEl>
                                        <p:attrNameLst>
                                          <p:attrName>style.visibility</p:attrName>
                                        </p:attrNameLst>
                                      </p:cBhvr>
                                      <p:to>
                                        <p:strVal val="visible"/>
                                      </p:to>
                                    </p:set>
                                    <p:animEffect transition="in" filter="wipe(left)">
                                      <p:cBhvr>
                                        <p:cTn id="21" dur="500"/>
                                        <p:tgtEl>
                                          <p:spTgt spid="6247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2472"/>
                                        </p:tgtEl>
                                        <p:attrNameLst>
                                          <p:attrName>style.visibility</p:attrName>
                                        </p:attrNameLst>
                                      </p:cBhvr>
                                      <p:to>
                                        <p:strVal val="visible"/>
                                      </p:to>
                                    </p:set>
                                    <p:animEffect transition="in" filter="wipe(left)">
                                      <p:cBhvr>
                                        <p:cTn id="26" dur="500"/>
                                        <p:tgtEl>
                                          <p:spTgt spid="6247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2477"/>
                                        </p:tgtEl>
                                        <p:attrNameLst>
                                          <p:attrName>style.visibility</p:attrName>
                                        </p:attrNameLst>
                                      </p:cBhvr>
                                      <p:to>
                                        <p:strVal val="visible"/>
                                      </p:to>
                                    </p:set>
                                    <p:animEffect transition="in" filter="wipe(left)">
                                      <p:cBhvr>
                                        <p:cTn id="31" dur="500"/>
                                        <p:tgtEl>
                                          <p:spTgt spid="6247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2478"/>
                                        </p:tgtEl>
                                        <p:attrNameLst>
                                          <p:attrName>style.visibility</p:attrName>
                                        </p:attrNameLst>
                                      </p:cBhvr>
                                      <p:to>
                                        <p:strVal val="visible"/>
                                      </p:to>
                                    </p:set>
                                    <p:animEffect transition="in" filter="wipe(left)">
                                      <p:cBhvr>
                                        <p:cTn id="36" dur="500"/>
                                        <p:tgtEl>
                                          <p:spTgt spid="6247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2473"/>
                                        </p:tgtEl>
                                        <p:attrNameLst>
                                          <p:attrName>style.visibility</p:attrName>
                                        </p:attrNameLst>
                                      </p:cBhvr>
                                      <p:to>
                                        <p:strVal val="visible"/>
                                      </p:to>
                                    </p:set>
                                    <p:animEffect transition="in" filter="wipe(left)">
                                      <p:cBhvr>
                                        <p:cTn id="41" dur="500"/>
                                        <p:tgtEl>
                                          <p:spTgt spid="6247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2474"/>
                                        </p:tgtEl>
                                        <p:attrNameLst>
                                          <p:attrName>style.visibility</p:attrName>
                                        </p:attrNameLst>
                                      </p:cBhvr>
                                      <p:to>
                                        <p:strVal val="visible"/>
                                      </p:to>
                                    </p:set>
                                    <p:animEffect transition="in" filter="wipe(left)">
                                      <p:cBhvr>
                                        <p:cTn id="46" dur="500"/>
                                        <p:tgtEl>
                                          <p:spTgt spid="6247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2479"/>
                                        </p:tgtEl>
                                        <p:attrNameLst>
                                          <p:attrName>style.visibility</p:attrName>
                                        </p:attrNameLst>
                                      </p:cBhvr>
                                      <p:to>
                                        <p:strVal val="visible"/>
                                      </p:to>
                                    </p:set>
                                    <p:animEffect transition="in" filter="wipe(left)">
                                      <p:cBhvr>
                                        <p:cTn id="51" dur="500"/>
                                        <p:tgtEl>
                                          <p:spTgt spid="6247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2475"/>
                                        </p:tgtEl>
                                        <p:attrNameLst>
                                          <p:attrName>style.visibility</p:attrName>
                                        </p:attrNameLst>
                                      </p:cBhvr>
                                      <p:to>
                                        <p:strVal val="visible"/>
                                      </p:to>
                                    </p:set>
                                    <p:animEffect transition="in" filter="wipe(left)">
                                      <p:cBhvr>
                                        <p:cTn id="56" dur="500"/>
                                        <p:tgtEl>
                                          <p:spTgt spid="6247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62476"/>
                                        </p:tgtEl>
                                        <p:attrNameLst>
                                          <p:attrName>style.visibility</p:attrName>
                                        </p:attrNameLst>
                                      </p:cBhvr>
                                      <p:to>
                                        <p:strVal val="visible"/>
                                      </p:to>
                                    </p:set>
                                    <p:animEffect transition="in" filter="wipe(left)">
                                      <p:cBhvr>
                                        <p:cTn id="61" dur="500"/>
                                        <p:tgtEl>
                                          <p:spTgt spid="6247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62481"/>
                                        </p:tgtEl>
                                        <p:attrNameLst>
                                          <p:attrName>style.visibility</p:attrName>
                                        </p:attrNameLst>
                                      </p:cBhvr>
                                      <p:to>
                                        <p:strVal val="visible"/>
                                      </p:to>
                                    </p:set>
                                    <p:animEffect transition="in" filter="wipe(left)">
                                      <p:cBhvr>
                                        <p:cTn id="66" dur="500"/>
                                        <p:tgtEl>
                                          <p:spTgt spid="6248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62467"/>
                                        </p:tgtEl>
                                        <p:attrNameLst>
                                          <p:attrName>style.visibility</p:attrName>
                                        </p:attrNameLst>
                                      </p:cBhvr>
                                      <p:to>
                                        <p:strVal val="visible"/>
                                      </p:to>
                                    </p:set>
                                    <p:animEffect transition="in" filter="wipe(left)">
                                      <p:cBhvr>
                                        <p:cTn id="71" dur="500"/>
                                        <p:tgtEl>
                                          <p:spTgt spid="6246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62480"/>
                                        </p:tgtEl>
                                        <p:attrNameLst>
                                          <p:attrName>style.visibility</p:attrName>
                                        </p:attrNameLst>
                                      </p:cBhvr>
                                      <p:to>
                                        <p:strVal val="visible"/>
                                      </p:to>
                                    </p:set>
                                    <p:animEffect transition="in" filter="wipe(left)">
                                      <p:cBhvr>
                                        <p:cTn id="76" dur="500"/>
                                        <p:tgtEl>
                                          <p:spTgt spid="62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P spid="62467" grpId="0" autoUpdateAnimBg="0"/>
      <p:bldP spid="62469" grpId="0" autoUpdateAnimBg="0"/>
      <p:bldP spid="62470" grpId="0" autoUpdateAnimBg="0"/>
      <p:bldP spid="62471" grpId="0" autoUpdateAnimBg="0"/>
      <p:bldP spid="62472" grpId="0" autoUpdateAnimBg="0"/>
      <p:bldP spid="62473" grpId="0" autoUpdateAnimBg="0"/>
      <p:bldP spid="62474" grpId="0" autoUpdateAnimBg="0"/>
      <p:bldP spid="62475" grpId="0" autoUpdateAnimBg="0"/>
      <p:bldP spid="62476" grpId="0" autoUpdateAnimBg="0"/>
      <p:bldP spid="62477" grpId="0" autoUpdateAnimBg="0"/>
      <p:bldP spid="62478" grpId="0" autoUpdateAnimBg="0"/>
      <p:bldP spid="62479" grpId="0" autoUpdateAnimBg="0"/>
      <p:bldP spid="62480" grpId="0" autoUpdateAnimBg="0"/>
      <p:bldP spid="62481"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0" y="4616450"/>
            <a:ext cx="9172575" cy="84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30000"/>
              </a:lnSpc>
            </a:pPr>
            <a:r>
              <a:rPr lang="en-US" altLang="zh-CN" sz="3800">
                <a:ea typeface="楷体_GB2312" charset="0"/>
              </a:rPr>
              <a:t>  </a:t>
            </a:r>
            <a:r>
              <a:rPr lang="zh-CN" altLang="en-US" sz="3600" b="1">
                <a:solidFill>
                  <a:srgbClr val="990000"/>
                </a:solidFill>
                <a:ea typeface="隶书" charset="0"/>
              </a:rPr>
              <a:t>进行第三次收集之后便得到记录的有序序列</a:t>
            </a:r>
            <a:endParaRPr lang="zh-CN" altLang="en-US" sz="3400">
              <a:solidFill>
                <a:srgbClr val="990000"/>
              </a:solidFill>
              <a:ea typeface="楷体_GB2312" charset="0"/>
            </a:endParaRPr>
          </a:p>
        </p:txBody>
      </p:sp>
      <p:sp>
        <p:nvSpPr>
          <p:cNvPr id="63491" name="Text Box 3"/>
          <p:cNvSpPr txBox="1">
            <a:spLocks noChangeArrowheads="1"/>
          </p:cNvSpPr>
          <p:nvPr/>
        </p:nvSpPr>
        <p:spPr bwMode="auto">
          <a:xfrm>
            <a:off x="1143000" y="1752600"/>
            <a:ext cx="5441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a:solidFill>
                  <a:srgbClr val="006666"/>
                </a:solidFill>
                <a:ea typeface="楷体_GB2312" charset="0"/>
              </a:rPr>
              <a:t>f[</a:t>
            </a:r>
            <a:r>
              <a:rPr lang="en-US" altLang="zh-CN" sz="3600" b="1">
                <a:solidFill>
                  <a:srgbClr val="FF0000"/>
                </a:solidFill>
                <a:ea typeface="楷体_GB2312" charset="0"/>
              </a:rPr>
              <a:t>1</a:t>
            </a:r>
            <a:r>
              <a:rPr lang="en-US" altLang="zh-CN" sz="3600">
                <a:solidFill>
                  <a:srgbClr val="006666"/>
                </a:solidFill>
                <a:ea typeface="楷体_GB2312" charset="0"/>
              </a:rPr>
              <a:t>]                                  r[</a:t>
            </a:r>
            <a:r>
              <a:rPr lang="en-US" altLang="zh-CN" sz="3600" b="1">
                <a:solidFill>
                  <a:srgbClr val="FF0000"/>
                </a:solidFill>
                <a:ea typeface="楷体_GB2312" charset="0"/>
              </a:rPr>
              <a:t>1</a:t>
            </a:r>
            <a:r>
              <a:rPr lang="en-US" altLang="zh-CN" sz="3600">
                <a:solidFill>
                  <a:srgbClr val="006666"/>
                </a:solidFill>
                <a:ea typeface="楷体_GB2312" charset="0"/>
              </a:rPr>
              <a:t>]</a:t>
            </a:r>
            <a:endParaRPr lang="en-US" altLang="zh-CN" sz="3600">
              <a:ea typeface="楷体_GB2312" charset="0"/>
            </a:endParaRPr>
          </a:p>
        </p:txBody>
      </p:sp>
      <p:sp>
        <p:nvSpPr>
          <p:cNvPr id="63492" name="Text Box 4"/>
          <p:cNvSpPr txBox="1">
            <a:spLocks noChangeArrowheads="1"/>
          </p:cNvSpPr>
          <p:nvPr/>
        </p:nvSpPr>
        <p:spPr bwMode="auto">
          <a:xfrm>
            <a:off x="288925" y="171450"/>
            <a:ext cx="8562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p→230→237→138→239→139→367→167→368</a:t>
            </a:r>
          </a:p>
        </p:txBody>
      </p:sp>
      <p:sp>
        <p:nvSpPr>
          <p:cNvPr id="63493" name="Rectangle 5"/>
          <p:cNvSpPr>
            <a:spLocks noChangeArrowheads="1"/>
          </p:cNvSpPr>
          <p:nvPr/>
        </p:nvSpPr>
        <p:spPr bwMode="auto">
          <a:xfrm>
            <a:off x="533400" y="990600"/>
            <a:ext cx="37734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990000"/>
                </a:solidFill>
                <a:ea typeface="隶书" charset="0"/>
              </a:rPr>
              <a:t>进行第三次分配</a:t>
            </a:r>
          </a:p>
        </p:txBody>
      </p:sp>
      <p:sp>
        <p:nvSpPr>
          <p:cNvPr id="63494" name="Rectangle 6"/>
          <p:cNvSpPr>
            <a:spLocks noChangeArrowheads="1"/>
          </p:cNvSpPr>
          <p:nvPr/>
        </p:nvSpPr>
        <p:spPr bwMode="auto">
          <a:xfrm>
            <a:off x="1143000" y="2667000"/>
            <a:ext cx="5441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a:solidFill>
                  <a:srgbClr val="006666"/>
                </a:solidFill>
                <a:ea typeface="楷体_GB2312" charset="0"/>
              </a:rPr>
              <a:t>f[</a:t>
            </a:r>
            <a:r>
              <a:rPr lang="en-US" altLang="zh-CN" sz="3600" b="1">
                <a:solidFill>
                  <a:srgbClr val="0000FF"/>
                </a:solidFill>
                <a:ea typeface="楷体_GB2312" charset="0"/>
              </a:rPr>
              <a:t>2</a:t>
            </a:r>
            <a:r>
              <a:rPr lang="en-US" altLang="zh-CN" sz="3600">
                <a:solidFill>
                  <a:srgbClr val="006666"/>
                </a:solidFill>
                <a:ea typeface="楷体_GB2312" charset="0"/>
              </a:rPr>
              <a:t>]                                  r[</a:t>
            </a:r>
            <a:r>
              <a:rPr lang="en-US" altLang="zh-CN" sz="3600" b="1">
                <a:solidFill>
                  <a:srgbClr val="0000FF"/>
                </a:solidFill>
                <a:ea typeface="楷体_GB2312" charset="0"/>
              </a:rPr>
              <a:t>2</a:t>
            </a:r>
            <a:r>
              <a:rPr lang="en-US" altLang="zh-CN" sz="3600">
                <a:solidFill>
                  <a:srgbClr val="006666"/>
                </a:solidFill>
                <a:ea typeface="楷体_GB2312" charset="0"/>
              </a:rPr>
              <a:t>]</a:t>
            </a:r>
            <a:endParaRPr lang="en-US" altLang="zh-CN" sz="3600">
              <a:ea typeface="楷体_GB2312" charset="0"/>
            </a:endParaRPr>
          </a:p>
        </p:txBody>
      </p:sp>
      <p:sp>
        <p:nvSpPr>
          <p:cNvPr id="63495" name="Rectangle 7"/>
          <p:cNvSpPr>
            <a:spLocks noChangeArrowheads="1"/>
          </p:cNvSpPr>
          <p:nvPr/>
        </p:nvSpPr>
        <p:spPr bwMode="auto">
          <a:xfrm>
            <a:off x="1143000" y="3581400"/>
            <a:ext cx="429895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20000"/>
              </a:lnSpc>
            </a:pPr>
            <a:r>
              <a:rPr lang="en-US" altLang="zh-CN" sz="3600">
                <a:solidFill>
                  <a:srgbClr val="006666"/>
                </a:solidFill>
                <a:ea typeface="楷体_GB2312" charset="0"/>
              </a:rPr>
              <a:t>f[</a:t>
            </a:r>
            <a:r>
              <a:rPr lang="en-US" altLang="zh-CN" sz="3600" b="1">
                <a:solidFill>
                  <a:srgbClr val="FF00FF"/>
                </a:solidFill>
                <a:ea typeface="楷体_GB2312" charset="0"/>
              </a:rPr>
              <a:t>3</a:t>
            </a:r>
            <a:r>
              <a:rPr lang="en-US" altLang="zh-CN" sz="3600">
                <a:solidFill>
                  <a:srgbClr val="006666"/>
                </a:solidFill>
                <a:ea typeface="楷体_GB2312" charset="0"/>
              </a:rPr>
              <a:t>]                        r[</a:t>
            </a:r>
            <a:r>
              <a:rPr lang="en-US" altLang="zh-CN" sz="3600" b="1">
                <a:solidFill>
                  <a:srgbClr val="FF00FF"/>
                </a:solidFill>
                <a:ea typeface="楷体_GB2312" charset="0"/>
              </a:rPr>
              <a:t>3</a:t>
            </a:r>
            <a:r>
              <a:rPr lang="en-US" altLang="zh-CN" sz="3600">
                <a:solidFill>
                  <a:srgbClr val="006666"/>
                </a:solidFill>
                <a:ea typeface="楷体_GB2312" charset="0"/>
              </a:rPr>
              <a:t>]</a:t>
            </a:r>
          </a:p>
        </p:txBody>
      </p:sp>
      <p:sp>
        <p:nvSpPr>
          <p:cNvPr id="63496" name="Rectangle 8"/>
          <p:cNvSpPr>
            <a:spLocks noChangeArrowheads="1"/>
          </p:cNvSpPr>
          <p:nvPr/>
        </p:nvSpPr>
        <p:spPr bwMode="auto">
          <a:xfrm>
            <a:off x="1797050" y="182880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b="1">
                <a:solidFill>
                  <a:srgbClr val="FF0000"/>
                </a:solidFill>
                <a:ea typeface="楷体_GB2312" charset="0"/>
              </a:rPr>
              <a:t>1</a:t>
            </a:r>
            <a:r>
              <a:rPr lang="en-US" altLang="zh-CN" sz="3600">
                <a:ea typeface="楷体_GB2312" charset="0"/>
              </a:rPr>
              <a:t>38                    </a:t>
            </a:r>
            <a:r>
              <a:rPr lang="en-US" altLang="zh-CN" sz="3600">
                <a:solidFill>
                  <a:srgbClr val="006666"/>
                </a:solidFill>
                <a:ea typeface="楷体_GB2312" charset="0"/>
              </a:rPr>
              <a:t>←</a:t>
            </a:r>
          </a:p>
        </p:txBody>
      </p:sp>
      <p:sp>
        <p:nvSpPr>
          <p:cNvPr id="63497" name="Rectangle 9"/>
          <p:cNvSpPr>
            <a:spLocks noChangeArrowheads="1"/>
          </p:cNvSpPr>
          <p:nvPr/>
        </p:nvSpPr>
        <p:spPr bwMode="auto">
          <a:xfrm>
            <a:off x="2940050" y="18288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a:t>
            </a:r>
            <a:r>
              <a:rPr lang="en-US" altLang="zh-CN" sz="3600" b="1">
                <a:solidFill>
                  <a:srgbClr val="FF0000"/>
                </a:solidFill>
                <a:ea typeface="楷体_GB2312" charset="0"/>
              </a:rPr>
              <a:t>1</a:t>
            </a:r>
            <a:r>
              <a:rPr lang="en-US" altLang="zh-CN" sz="3600">
                <a:ea typeface="楷体_GB2312" charset="0"/>
              </a:rPr>
              <a:t>39</a:t>
            </a:r>
          </a:p>
        </p:txBody>
      </p:sp>
      <p:sp>
        <p:nvSpPr>
          <p:cNvPr id="63498" name="Rectangle 10"/>
          <p:cNvSpPr>
            <a:spLocks noChangeArrowheads="1"/>
          </p:cNvSpPr>
          <p:nvPr/>
        </p:nvSpPr>
        <p:spPr bwMode="auto">
          <a:xfrm>
            <a:off x="4114800" y="18605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a:t>
            </a:r>
            <a:r>
              <a:rPr lang="en-US" altLang="zh-CN" sz="3600" b="1">
                <a:solidFill>
                  <a:srgbClr val="FF0000"/>
                </a:solidFill>
                <a:ea typeface="楷体_GB2312" charset="0"/>
              </a:rPr>
              <a:t>1</a:t>
            </a:r>
            <a:r>
              <a:rPr lang="en-US" altLang="zh-CN" sz="3600">
                <a:ea typeface="楷体_GB2312" charset="0"/>
              </a:rPr>
              <a:t>67</a:t>
            </a:r>
          </a:p>
        </p:txBody>
      </p:sp>
      <p:sp>
        <p:nvSpPr>
          <p:cNvPr id="63499" name="Rectangle 11"/>
          <p:cNvSpPr>
            <a:spLocks noChangeArrowheads="1"/>
          </p:cNvSpPr>
          <p:nvPr/>
        </p:nvSpPr>
        <p:spPr bwMode="auto">
          <a:xfrm>
            <a:off x="1797050" y="2787650"/>
            <a:ext cx="4070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b="1">
                <a:solidFill>
                  <a:srgbClr val="0000FF"/>
                </a:solidFill>
                <a:ea typeface="楷体_GB2312" charset="0"/>
              </a:rPr>
              <a:t>2</a:t>
            </a:r>
            <a:r>
              <a:rPr lang="en-US" altLang="zh-CN" sz="3600">
                <a:ea typeface="楷体_GB2312" charset="0"/>
              </a:rPr>
              <a:t>30                    </a:t>
            </a:r>
            <a:r>
              <a:rPr lang="en-US" altLang="zh-CN" sz="3600">
                <a:solidFill>
                  <a:srgbClr val="006666"/>
                </a:solidFill>
                <a:ea typeface="楷体_GB2312" charset="0"/>
              </a:rPr>
              <a:t>←</a:t>
            </a:r>
          </a:p>
        </p:txBody>
      </p:sp>
      <p:sp>
        <p:nvSpPr>
          <p:cNvPr id="63500" name="Rectangle 12"/>
          <p:cNvSpPr>
            <a:spLocks noChangeArrowheads="1"/>
          </p:cNvSpPr>
          <p:nvPr/>
        </p:nvSpPr>
        <p:spPr bwMode="auto">
          <a:xfrm>
            <a:off x="2940050" y="27876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a:t>
            </a:r>
            <a:r>
              <a:rPr lang="en-US" altLang="zh-CN" sz="3600" b="1">
                <a:solidFill>
                  <a:srgbClr val="0000FF"/>
                </a:solidFill>
                <a:ea typeface="楷体_GB2312" charset="0"/>
              </a:rPr>
              <a:t>2</a:t>
            </a:r>
            <a:r>
              <a:rPr lang="en-US" altLang="zh-CN" sz="3600">
                <a:ea typeface="楷体_GB2312" charset="0"/>
              </a:rPr>
              <a:t>37</a:t>
            </a:r>
          </a:p>
        </p:txBody>
      </p:sp>
      <p:sp>
        <p:nvSpPr>
          <p:cNvPr id="63501" name="Rectangle 13"/>
          <p:cNvSpPr>
            <a:spLocks noChangeArrowheads="1"/>
          </p:cNvSpPr>
          <p:nvPr/>
        </p:nvSpPr>
        <p:spPr bwMode="auto">
          <a:xfrm>
            <a:off x="4083050" y="27876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a:t>
            </a:r>
            <a:r>
              <a:rPr lang="en-US" altLang="zh-CN" sz="3600" b="1">
                <a:solidFill>
                  <a:srgbClr val="0000FF"/>
                </a:solidFill>
                <a:ea typeface="楷体_GB2312" charset="0"/>
              </a:rPr>
              <a:t>2</a:t>
            </a:r>
            <a:r>
              <a:rPr lang="en-US" altLang="zh-CN" sz="3600">
                <a:ea typeface="楷体_GB2312" charset="0"/>
              </a:rPr>
              <a:t>39</a:t>
            </a:r>
          </a:p>
        </p:txBody>
      </p:sp>
      <p:sp>
        <p:nvSpPr>
          <p:cNvPr id="63502" name="Rectangle 14"/>
          <p:cNvSpPr>
            <a:spLocks noChangeArrowheads="1"/>
          </p:cNvSpPr>
          <p:nvPr/>
        </p:nvSpPr>
        <p:spPr bwMode="auto">
          <a:xfrm>
            <a:off x="1828800" y="3702050"/>
            <a:ext cx="2927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6666"/>
                </a:solidFill>
                <a:ea typeface="楷体_GB2312" charset="0"/>
              </a:rPr>
              <a:t>→</a:t>
            </a:r>
            <a:r>
              <a:rPr lang="en-US" altLang="zh-CN" sz="3600" b="1">
                <a:solidFill>
                  <a:srgbClr val="FF00FF"/>
                </a:solidFill>
                <a:ea typeface="楷体_GB2312" charset="0"/>
              </a:rPr>
              <a:t>3</a:t>
            </a:r>
            <a:r>
              <a:rPr lang="en-US" altLang="zh-CN" sz="3600">
                <a:ea typeface="楷体_GB2312" charset="0"/>
              </a:rPr>
              <a:t>67          </a:t>
            </a:r>
            <a:r>
              <a:rPr lang="en-US" altLang="zh-CN" sz="3600">
                <a:solidFill>
                  <a:srgbClr val="006666"/>
                </a:solidFill>
                <a:ea typeface="楷体_GB2312" charset="0"/>
              </a:rPr>
              <a:t>←</a:t>
            </a:r>
          </a:p>
        </p:txBody>
      </p:sp>
      <p:sp>
        <p:nvSpPr>
          <p:cNvPr id="63503" name="Rectangle 15"/>
          <p:cNvSpPr>
            <a:spLocks noChangeArrowheads="1"/>
          </p:cNvSpPr>
          <p:nvPr/>
        </p:nvSpPr>
        <p:spPr bwMode="auto">
          <a:xfrm>
            <a:off x="2971800" y="370205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ea typeface="楷体_GB2312" charset="0"/>
              </a:rPr>
              <a:t>→</a:t>
            </a:r>
            <a:r>
              <a:rPr lang="en-US" altLang="zh-CN" sz="3600" b="1">
                <a:solidFill>
                  <a:srgbClr val="FF00FF"/>
                </a:solidFill>
                <a:ea typeface="楷体_GB2312" charset="0"/>
              </a:rPr>
              <a:t>3</a:t>
            </a:r>
            <a:r>
              <a:rPr lang="en-US" altLang="zh-CN" sz="3600">
                <a:ea typeface="楷体_GB2312" charset="0"/>
              </a:rPr>
              <a:t>68</a:t>
            </a:r>
          </a:p>
        </p:txBody>
      </p:sp>
      <p:sp>
        <p:nvSpPr>
          <p:cNvPr id="63504" name="Rectangle 16"/>
          <p:cNvSpPr>
            <a:spLocks noChangeArrowheads="1"/>
          </p:cNvSpPr>
          <p:nvPr/>
        </p:nvSpPr>
        <p:spPr bwMode="auto">
          <a:xfrm>
            <a:off x="304800" y="5715000"/>
            <a:ext cx="3467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p→138→139→167</a:t>
            </a:r>
          </a:p>
        </p:txBody>
      </p:sp>
      <p:sp>
        <p:nvSpPr>
          <p:cNvPr id="63505" name="Rectangle 17"/>
          <p:cNvSpPr>
            <a:spLocks noChangeArrowheads="1"/>
          </p:cNvSpPr>
          <p:nvPr/>
        </p:nvSpPr>
        <p:spPr bwMode="auto">
          <a:xfrm>
            <a:off x="3581400" y="5715000"/>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→230→237→239</a:t>
            </a:r>
          </a:p>
        </p:txBody>
      </p:sp>
      <p:sp>
        <p:nvSpPr>
          <p:cNvPr id="63506" name="Rectangle 18"/>
          <p:cNvSpPr>
            <a:spLocks noChangeArrowheads="1"/>
          </p:cNvSpPr>
          <p:nvPr/>
        </p:nvSpPr>
        <p:spPr bwMode="auto">
          <a:xfrm>
            <a:off x="6629400" y="5715000"/>
            <a:ext cx="2222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200" b="1">
                <a:solidFill>
                  <a:srgbClr val="660033"/>
                </a:solidFill>
                <a:ea typeface="楷体_GB2312" charset="0"/>
              </a:rPr>
              <a:t>→367→368</a:t>
            </a:r>
          </a:p>
        </p:txBody>
      </p:sp>
    </p:spTree>
    <p:extLst>
      <p:ext uri="{BB962C8B-B14F-4D97-AF65-F5344CB8AC3E}">
        <p14:creationId xmlns:p14="http://schemas.microsoft.com/office/powerpoint/2010/main" val="6444441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wipe(left)">
                                      <p:cBhvr>
                                        <p:cTn id="7" dur="500"/>
                                        <p:tgtEl>
                                          <p:spTgt spid="63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3"/>
                                        </p:tgtEl>
                                        <p:attrNameLst>
                                          <p:attrName>style.visibility</p:attrName>
                                        </p:attrNameLst>
                                      </p:cBhvr>
                                      <p:to>
                                        <p:strVal val="visible"/>
                                      </p:to>
                                    </p:set>
                                    <p:animEffect transition="in" filter="wipe(left)">
                                      <p:cBhvr>
                                        <p:cTn id="12" dur="500"/>
                                        <p:tgtEl>
                                          <p:spTgt spid="634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1"/>
                                        </p:tgtEl>
                                        <p:attrNameLst>
                                          <p:attrName>style.visibility</p:attrName>
                                        </p:attrNameLst>
                                      </p:cBhvr>
                                      <p:to>
                                        <p:strVal val="visible"/>
                                      </p:to>
                                    </p:set>
                                    <p:animEffect transition="in" filter="wipe(left)">
                                      <p:cBhvr>
                                        <p:cTn id="17" dur="500"/>
                                        <p:tgtEl>
                                          <p:spTgt spid="63491"/>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3494"/>
                                        </p:tgtEl>
                                        <p:attrNameLst>
                                          <p:attrName>style.visibility</p:attrName>
                                        </p:attrNameLst>
                                      </p:cBhvr>
                                      <p:to>
                                        <p:strVal val="visible"/>
                                      </p:to>
                                    </p:set>
                                    <p:animEffect transition="in" filter="wipe(left)">
                                      <p:cBhvr>
                                        <p:cTn id="21" dur="500"/>
                                        <p:tgtEl>
                                          <p:spTgt spid="63494"/>
                                        </p:tgtEl>
                                      </p:cBhvr>
                                    </p:animEffect>
                                  </p:childTnLst>
                                </p:cTn>
                              </p:par>
                            </p:childTnLst>
                          </p:cTn>
                        </p:par>
                        <p:par>
                          <p:cTn id="22" fill="hold" nodeType="afterGroup">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63495"/>
                                        </p:tgtEl>
                                        <p:attrNameLst>
                                          <p:attrName>style.visibility</p:attrName>
                                        </p:attrNameLst>
                                      </p:cBhvr>
                                      <p:to>
                                        <p:strVal val="visible"/>
                                      </p:to>
                                    </p:set>
                                    <p:animEffect transition="in" filter="wipe(left)">
                                      <p:cBhvr>
                                        <p:cTn id="25" dur="500"/>
                                        <p:tgtEl>
                                          <p:spTgt spid="6349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3499"/>
                                        </p:tgtEl>
                                        <p:attrNameLst>
                                          <p:attrName>style.visibility</p:attrName>
                                        </p:attrNameLst>
                                      </p:cBhvr>
                                      <p:to>
                                        <p:strVal val="visible"/>
                                      </p:to>
                                    </p:set>
                                    <p:animEffect transition="in" filter="wipe(left)">
                                      <p:cBhvr>
                                        <p:cTn id="30" dur="500"/>
                                        <p:tgtEl>
                                          <p:spTgt spid="6349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3500"/>
                                        </p:tgtEl>
                                        <p:attrNameLst>
                                          <p:attrName>style.visibility</p:attrName>
                                        </p:attrNameLst>
                                      </p:cBhvr>
                                      <p:to>
                                        <p:strVal val="visible"/>
                                      </p:to>
                                    </p:set>
                                    <p:animEffect transition="in" filter="wipe(left)">
                                      <p:cBhvr>
                                        <p:cTn id="35" dur="500"/>
                                        <p:tgtEl>
                                          <p:spTgt spid="6350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3496"/>
                                        </p:tgtEl>
                                        <p:attrNameLst>
                                          <p:attrName>style.visibility</p:attrName>
                                        </p:attrNameLst>
                                      </p:cBhvr>
                                      <p:to>
                                        <p:strVal val="visible"/>
                                      </p:to>
                                    </p:set>
                                    <p:animEffect transition="in" filter="wipe(left)">
                                      <p:cBhvr>
                                        <p:cTn id="40" dur="500"/>
                                        <p:tgtEl>
                                          <p:spTgt spid="6349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3501"/>
                                        </p:tgtEl>
                                        <p:attrNameLst>
                                          <p:attrName>style.visibility</p:attrName>
                                        </p:attrNameLst>
                                      </p:cBhvr>
                                      <p:to>
                                        <p:strVal val="visible"/>
                                      </p:to>
                                    </p:set>
                                    <p:animEffect transition="in" filter="wipe(left)">
                                      <p:cBhvr>
                                        <p:cTn id="45" dur="500"/>
                                        <p:tgtEl>
                                          <p:spTgt spid="6350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3497"/>
                                        </p:tgtEl>
                                        <p:attrNameLst>
                                          <p:attrName>style.visibility</p:attrName>
                                        </p:attrNameLst>
                                      </p:cBhvr>
                                      <p:to>
                                        <p:strVal val="visible"/>
                                      </p:to>
                                    </p:set>
                                    <p:animEffect transition="in" filter="wipe(left)">
                                      <p:cBhvr>
                                        <p:cTn id="50" dur="500"/>
                                        <p:tgtEl>
                                          <p:spTgt spid="6349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3502"/>
                                        </p:tgtEl>
                                        <p:attrNameLst>
                                          <p:attrName>style.visibility</p:attrName>
                                        </p:attrNameLst>
                                      </p:cBhvr>
                                      <p:to>
                                        <p:strVal val="visible"/>
                                      </p:to>
                                    </p:set>
                                    <p:animEffect transition="in" filter="wipe(left)">
                                      <p:cBhvr>
                                        <p:cTn id="55" dur="500"/>
                                        <p:tgtEl>
                                          <p:spTgt spid="6350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3498"/>
                                        </p:tgtEl>
                                        <p:attrNameLst>
                                          <p:attrName>style.visibility</p:attrName>
                                        </p:attrNameLst>
                                      </p:cBhvr>
                                      <p:to>
                                        <p:strVal val="visible"/>
                                      </p:to>
                                    </p:set>
                                    <p:animEffect transition="in" filter="wipe(left)">
                                      <p:cBhvr>
                                        <p:cTn id="60" dur="500"/>
                                        <p:tgtEl>
                                          <p:spTgt spid="6349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3503"/>
                                        </p:tgtEl>
                                        <p:attrNameLst>
                                          <p:attrName>style.visibility</p:attrName>
                                        </p:attrNameLst>
                                      </p:cBhvr>
                                      <p:to>
                                        <p:strVal val="visible"/>
                                      </p:to>
                                    </p:set>
                                    <p:animEffect transition="in" filter="wipe(left)">
                                      <p:cBhvr>
                                        <p:cTn id="65" dur="500"/>
                                        <p:tgtEl>
                                          <p:spTgt spid="6350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3490"/>
                                        </p:tgtEl>
                                        <p:attrNameLst>
                                          <p:attrName>style.visibility</p:attrName>
                                        </p:attrNameLst>
                                      </p:cBhvr>
                                      <p:to>
                                        <p:strVal val="visible"/>
                                      </p:to>
                                    </p:set>
                                    <p:animEffect transition="in" filter="wipe(left)">
                                      <p:cBhvr>
                                        <p:cTn id="70" dur="500"/>
                                        <p:tgtEl>
                                          <p:spTgt spid="6349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3504"/>
                                        </p:tgtEl>
                                        <p:attrNameLst>
                                          <p:attrName>style.visibility</p:attrName>
                                        </p:attrNameLst>
                                      </p:cBhvr>
                                      <p:to>
                                        <p:strVal val="visible"/>
                                      </p:to>
                                    </p:set>
                                    <p:animEffect transition="in" filter="wipe(left)">
                                      <p:cBhvr>
                                        <p:cTn id="75" dur="500"/>
                                        <p:tgtEl>
                                          <p:spTgt spid="6350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3505"/>
                                        </p:tgtEl>
                                        <p:attrNameLst>
                                          <p:attrName>style.visibility</p:attrName>
                                        </p:attrNameLst>
                                      </p:cBhvr>
                                      <p:to>
                                        <p:strVal val="visible"/>
                                      </p:to>
                                    </p:set>
                                    <p:animEffect transition="in" filter="wipe(left)">
                                      <p:cBhvr>
                                        <p:cTn id="80" dur="500"/>
                                        <p:tgtEl>
                                          <p:spTgt spid="63505"/>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63506"/>
                                        </p:tgtEl>
                                        <p:attrNameLst>
                                          <p:attrName>style.visibility</p:attrName>
                                        </p:attrNameLst>
                                      </p:cBhvr>
                                      <p:to>
                                        <p:strVal val="visible"/>
                                      </p:to>
                                    </p:set>
                                    <p:animEffect transition="in" filter="wipe(left)">
                                      <p:cBhvr>
                                        <p:cTn id="85" dur="500"/>
                                        <p:tgtEl>
                                          <p:spTgt spid="63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utoUpdateAnimBg="0"/>
      <p:bldP spid="63491" grpId="0" autoUpdateAnimBg="0"/>
      <p:bldP spid="63492" grpId="0" autoUpdateAnimBg="0"/>
      <p:bldP spid="63493" grpId="0" autoUpdateAnimBg="0"/>
      <p:bldP spid="63494" grpId="0" autoUpdateAnimBg="0"/>
      <p:bldP spid="63495" grpId="0" autoUpdateAnimBg="0"/>
      <p:bldP spid="63496" grpId="0" autoUpdateAnimBg="0"/>
      <p:bldP spid="63497" grpId="0" autoUpdateAnimBg="0"/>
      <p:bldP spid="63498" grpId="0" autoUpdateAnimBg="0"/>
      <p:bldP spid="63499" grpId="0" autoUpdateAnimBg="0"/>
      <p:bldP spid="63500" grpId="0" autoUpdateAnimBg="0"/>
      <p:bldP spid="63501" grpId="0" autoUpdateAnimBg="0"/>
      <p:bldP spid="63502" grpId="0" autoUpdateAnimBg="0"/>
      <p:bldP spid="63503" grpId="0" autoUpdateAnimBg="0"/>
      <p:bldP spid="63504" grpId="0" autoUpdateAnimBg="0"/>
      <p:bldP spid="63505" grpId="0" autoUpdateAnimBg="0"/>
      <p:bldP spid="63506"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386" name="Group 2"/>
          <p:cNvGrpSpPr>
            <a:grpSpLocks/>
          </p:cNvGrpSpPr>
          <p:nvPr/>
        </p:nvGrpSpPr>
        <p:grpSpPr bwMode="auto">
          <a:xfrm>
            <a:off x="671513" y="211138"/>
            <a:ext cx="8226425" cy="1025525"/>
            <a:chOff x="333" y="351"/>
            <a:chExt cx="5182" cy="646"/>
          </a:xfrm>
        </p:grpSpPr>
        <p:sp>
          <p:nvSpPr>
            <p:cNvPr id="144387" name="Text Box 3"/>
            <p:cNvSpPr txBox="1">
              <a:spLocks noChangeArrowheads="1"/>
            </p:cNvSpPr>
            <p:nvPr/>
          </p:nvSpPr>
          <p:spPr bwMode="auto">
            <a:xfrm>
              <a:off x="442" y="351"/>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r>
                <a:rPr lang="zh-CN" altLang="en-US" sz="2000"/>
                <a:t>初始状态：</a:t>
              </a:r>
            </a:p>
          </p:txBody>
        </p:sp>
        <p:sp>
          <p:nvSpPr>
            <p:cNvPr id="144388" name="Text Box 4"/>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grpSp>
          <p:nvGrpSpPr>
            <p:cNvPr id="144389" name="Group 5"/>
            <p:cNvGrpSpPr>
              <a:grpSpLocks/>
            </p:cNvGrpSpPr>
            <p:nvPr/>
          </p:nvGrpSpPr>
          <p:grpSpPr bwMode="auto">
            <a:xfrm>
              <a:off x="333" y="728"/>
              <a:ext cx="5182" cy="269"/>
              <a:chOff x="333" y="728"/>
              <a:chExt cx="5182" cy="269"/>
            </a:xfrm>
          </p:grpSpPr>
          <p:sp>
            <p:nvSpPr>
              <p:cNvPr id="144390" name="Rectangle 6"/>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grpSp>
            <p:nvGrpSpPr>
              <p:cNvPr id="144391" name="Group 7"/>
              <p:cNvGrpSpPr>
                <a:grpSpLocks/>
              </p:cNvGrpSpPr>
              <p:nvPr/>
            </p:nvGrpSpPr>
            <p:grpSpPr bwMode="auto">
              <a:xfrm>
                <a:off x="679" y="734"/>
                <a:ext cx="542" cy="256"/>
                <a:chOff x="1133" y="1389"/>
                <a:chExt cx="542" cy="256"/>
              </a:xfrm>
            </p:grpSpPr>
            <p:sp>
              <p:nvSpPr>
                <p:cNvPr id="144392" name="Rectangle 8"/>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4393" name="Line 9"/>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394" name="Group 10"/>
              <p:cNvGrpSpPr>
                <a:grpSpLocks/>
              </p:cNvGrpSpPr>
              <p:nvPr/>
            </p:nvGrpSpPr>
            <p:grpSpPr bwMode="auto">
              <a:xfrm>
                <a:off x="1205" y="734"/>
                <a:ext cx="542" cy="256"/>
                <a:chOff x="1133" y="1389"/>
                <a:chExt cx="542" cy="256"/>
              </a:xfrm>
            </p:grpSpPr>
            <p:sp>
              <p:nvSpPr>
                <p:cNvPr id="144395" name="Rectangle 11"/>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4396" name="Line 12"/>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397" name="Group 13"/>
              <p:cNvGrpSpPr>
                <a:grpSpLocks/>
              </p:cNvGrpSpPr>
              <p:nvPr/>
            </p:nvGrpSpPr>
            <p:grpSpPr bwMode="auto">
              <a:xfrm>
                <a:off x="1730" y="734"/>
                <a:ext cx="542" cy="256"/>
                <a:chOff x="1133" y="1389"/>
                <a:chExt cx="542" cy="256"/>
              </a:xfrm>
            </p:grpSpPr>
            <p:sp>
              <p:nvSpPr>
                <p:cNvPr id="144398" name="Rectangle 1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930</a:t>
                  </a:r>
                </a:p>
              </p:txBody>
            </p:sp>
            <p:sp>
              <p:nvSpPr>
                <p:cNvPr id="144399" name="Line 1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00" name="Group 16"/>
              <p:cNvGrpSpPr>
                <a:grpSpLocks/>
              </p:cNvGrpSpPr>
              <p:nvPr/>
            </p:nvGrpSpPr>
            <p:grpSpPr bwMode="auto">
              <a:xfrm>
                <a:off x="2256" y="734"/>
                <a:ext cx="542" cy="256"/>
                <a:chOff x="1133" y="1389"/>
                <a:chExt cx="542" cy="256"/>
              </a:xfrm>
            </p:grpSpPr>
            <p:sp>
              <p:nvSpPr>
                <p:cNvPr id="144401" name="Rectangle 17"/>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589</a:t>
                  </a:r>
                </a:p>
              </p:txBody>
            </p:sp>
            <p:sp>
              <p:nvSpPr>
                <p:cNvPr id="144402" name="Line 18"/>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03" name="Group 19"/>
              <p:cNvGrpSpPr>
                <a:grpSpLocks/>
              </p:cNvGrpSpPr>
              <p:nvPr/>
            </p:nvGrpSpPr>
            <p:grpSpPr bwMode="auto">
              <a:xfrm>
                <a:off x="2782" y="734"/>
                <a:ext cx="542" cy="256"/>
                <a:chOff x="1133" y="1389"/>
                <a:chExt cx="542" cy="256"/>
              </a:xfrm>
            </p:grpSpPr>
            <p:sp>
              <p:nvSpPr>
                <p:cNvPr id="144404" name="Rectangle 20"/>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4405" name="Line 21"/>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06" name="Group 22"/>
              <p:cNvGrpSpPr>
                <a:grpSpLocks/>
              </p:cNvGrpSpPr>
              <p:nvPr/>
            </p:nvGrpSpPr>
            <p:grpSpPr bwMode="auto">
              <a:xfrm>
                <a:off x="3307" y="734"/>
                <a:ext cx="542" cy="256"/>
                <a:chOff x="1133" y="1389"/>
                <a:chExt cx="542" cy="256"/>
              </a:xfrm>
            </p:grpSpPr>
            <p:sp>
              <p:nvSpPr>
                <p:cNvPr id="144407" name="Rectangle 23"/>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sp>
              <p:nvSpPr>
                <p:cNvPr id="144408" name="Line 24"/>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09" name="Group 25"/>
              <p:cNvGrpSpPr>
                <a:grpSpLocks/>
              </p:cNvGrpSpPr>
              <p:nvPr/>
            </p:nvGrpSpPr>
            <p:grpSpPr bwMode="auto">
              <a:xfrm>
                <a:off x="3833" y="734"/>
                <a:ext cx="542" cy="256"/>
                <a:chOff x="1133" y="1389"/>
                <a:chExt cx="542" cy="256"/>
              </a:xfrm>
            </p:grpSpPr>
            <p:sp>
              <p:nvSpPr>
                <p:cNvPr id="144410" name="Rectangle 26"/>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269</a:t>
                  </a:r>
                </a:p>
              </p:txBody>
            </p:sp>
            <p:sp>
              <p:nvSpPr>
                <p:cNvPr id="144411" name="Line 27"/>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12" name="Group 28"/>
              <p:cNvGrpSpPr>
                <a:grpSpLocks/>
              </p:cNvGrpSpPr>
              <p:nvPr/>
            </p:nvGrpSpPr>
            <p:grpSpPr bwMode="auto">
              <a:xfrm>
                <a:off x="4359" y="734"/>
                <a:ext cx="542" cy="256"/>
                <a:chOff x="1133" y="1389"/>
                <a:chExt cx="542" cy="256"/>
              </a:xfrm>
            </p:grpSpPr>
            <p:sp>
              <p:nvSpPr>
                <p:cNvPr id="144413" name="Rectangle 2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sp>
              <p:nvSpPr>
                <p:cNvPr id="144414" name="Line 3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4415" name="Rectangle 31"/>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083</a:t>
                </a:r>
              </a:p>
            </p:txBody>
          </p:sp>
          <p:sp>
            <p:nvSpPr>
              <p:cNvPr id="144416" name="Line 32"/>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4417" name="Line 33"/>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18" name="Line 34"/>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19" name="Line 35"/>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0" name="Line 36"/>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1" name="Line 37"/>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2" name="Line 38"/>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3" name="Line 39"/>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4" name="Line 40"/>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5" name="Line 41"/>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6" name="Line 42"/>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27" name="Text Box 43"/>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4428" name="Text Box 44"/>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4429" name="Text Box 45"/>
            <p:cNvSpPr txBox="1">
              <a:spLocks noChangeArrowheads="1"/>
            </p:cNvSpPr>
            <p:nvPr/>
          </p:nvSpPr>
          <p:spPr bwMode="auto">
            <a:xfrm>
              <a:off x="148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4430" name="Text Box 46"/>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sp>
          <p:nvSpPr>
            <p:cNvPr id="144431" name="Text Box 47"/>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sp>
          <p:nvSpPr>
            <p:cNvPr id="144432" name="Text Box 48"/>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4433" name="Text Box 49"/>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sp>
          <p:nvSpPr>
            <p:cNvPr id="144434" name="Text Box 50"/>
            <p:cNvSpPr txBox="1">
              <a:spLocks noChangeArrowheads="1"/>
            </p:cNvSpPr>
            <p:nvPr/>
          </p:nvSpPr>
          <p:spPr bwMode="auto">
            <a:xfrm>
              <a:off x="4109"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sp>
          <p:nvSpPr>
            <p:cNvPr id="144435" name="Text Box 51"/>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sp>
          <p:nvSpPr>
            <p:cNvPr id="144436" name="Text Box 52"/>
            <p:cNvSpPr txBox="1">
              <a:spLocks noChangeArrowheads="1"/>
            </p:cNvSpPr>
            <p:nvPr/>
          </p:nvSpPr>
          <p:spPr bwMode="auto">
            <a:xfrm>
              <a:off x="5161"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grpSp>
      <p:graphicFrame>
        <p:nvGraphicFramePr>
          <p:cNvPr id="144437" name="Object 53">
            <a:hlinkClick r:id="" action="ppaction://ole?verb=0"/>
          </p:cNvPr>
          <p:cNvGraphicFramePr>
            <a:graphicFrameLocks noChangeAspect="1"/>
          </p:cNvGraphicFramePr>
          <p:nvPr/>
        </p:nvGraphicFramePr>
        <p:xfrm>
          <a:off x="7667625" y="2309813"/>
          <a:ext cx="914400" cy="601662"/>
        </p:xfrm>
        <a:graphic>
          <a:graphicData uri="http://schemas.openxmlformats.org/presentationml/2006/ole">
            <mc:AlternateContent xmlns:mc="http://schemas.openxmlformats.org/markup-compatibility/2006">
              <mc:Choice xmlns:v="urn:schemas-microsoft-com:vml" Requires="v">
                <p:oleObj spid="_x0000_s1750019" name="软件包" r:id="rId4" imgW="723960" imgH="476280" progId="Package">
                  <p:embed/>
                </p:oleObj>
              </mc:Choice>
              <mc:Fallback>
                <p:oleObj name="软件包" r:id="rId4" imgW="723960" imgH="476280" progId="Pack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309813"/>
                        <a:ext cx="9144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44438" name="Text Box 54"/>
          <p:cNvSpPr txBox="1">
            <a:spLocks noChangeArrowheads="1"/>
          </p:cNvSpPr>
          <p:nvPr/>
        </p:nvSpPr>
        <p:spPr bwMode="auto">
          <a:xfrm>
            <a:off x="1301750" y="1625600"/>
            <a:ext cx="2389188" cy="374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a:t>f[0]=0        e[0]=0</a:t>
            </a:r>
          </a:p>
          <a:p>
            <a:pPr algn="l"/>
            <a:r>
              <a:rPr lang="en-US" altLang="zh-CN"/>
              <a:t>f[1]=0        e[1]=0</a:t>
            </a:r>
          </a:p>
          <a:p>
            <a:pPr algn="l"/>
            <a:r>
              <a:rPr lang="en-US" altLang="zh-CN"/>
              <a:t>f[2]=0        e[2]=0</a:t>
            </a:r>
          </a:p>
          <a:p>
            <a:pPr algn="l"/>
            <a:r>
              <a:rPr lang="en-US" altLang="zh-CN"/>
              <a:t>f[3]=0        e[3]=0</a:t>
            </a:r>
          </a:p>
          <a:p>
            <a:pPr algn="l"/>
            <a:r>
              <a:rPr lang="en-US" altLang="zh-CN"/>
              <a:t>f[4]=0        e[4]=0</a:t>
            </a:r>
          </a:p>
          <a:p>
            <a:pPr algn="l"/>
            <a:r>
              <a:rPr lang="en-US" altLang="zh-CN"/>
              <a:t>f[5]=0        e[5]=0</a:t>
            </a:r>
          </a:p>
          <a:p>
            <a:pPr algn="l"/>
            <a:r>
              <a:rPr lang="en-US" altLang="zh-CN"/>
              <a:t>f[6]=0        e[6]=0</a:t>
            </a:r>
          </a:p>
          <a:p>
            <a:pPr algn="l"/>
            <a:r>
              <a:rPr lang="en-US" altLang="zh-CN"/>
              <a:t>f[7]=0        e[7]=0</a:t>
            </a:r>
          </a:p>
          <a:p>
            <a:pPr algn="l"/>
            <a:r>
              <a:rPr lang="en-US" altLang="zh-CN"/>
              <a:t>f[8]=0        e[8]=0</a:t>
            </a:r>
          </a:p>
          <a:p>
            <a:pPr algn="l"/>
            <a:r>
              <a:rPr lang="en-US" altLang="zh-CN"/>
              <a:t>f[9]=0        e[9]=0</a:t>
            </a:r>
            <a:endParaRPr lang="en-US" altLang="zh-CN" sz="2000"/>
          </a:p>
        </p:txBody>
      </p:sp>
      <p:sp>
        <p:nvSpPr>
          <p:cNvPr id="144439" name="Text Box 55"/>
          <p:cNvSpPr txBox="1">
            <a:spLocks noChangeArrowheads="1"/>
          </p:cNvSpPr>
          <p:nvPr/>
        </p:nvSpPr>
        <p:spPr bwMode="auto">
          <a:xfrm>
            <a:off x="1954213" y="46021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a:t>
            </a:r>
          </a:p>
        </p:txBody>
      </p:sp>
      <p:sp>
        <p:nvSpPr>
          <p:cNvPr id="144440" name="Text Box 56"/>
          <p:cNvSpPr txBox="1">
            <a:spLocks noChangeArrowheads="1"/>
          </p:cNvSpPr>
          <p:nvPr/>
        </p:nvSpPr>
        <p:spPr bwMode="auto">
          <a:xfrm>
            <a:off x="3394075" y="457993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a:t>
            </a:r>
          </a:p>
        </p:txBody>
      </p:sp>
      <p:sp>
        <p:nvSpPr>
          <p:cNvPr id="144441" name="Text Box 57"/>
          <p:cNvSpPr txBox="1">
            <a:spLocks noChangeArrowheads="1"/>
          </p:cNvSpPr>
          <p:nvPr/>
        </p:nvSpPr>
        <p:spPr bwMode="auto">
          <a:xfrm>
            <a:off x="1936750" y="49911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2</a:t>
            </a:r>
          </a:p>
        </p:txBody>
      </p:sp>
      <p:sp>
        <p:nvSpPr>
          <p:cNvPr id="144442" name="Text Box 58"/>
          <p:cNvSpPr txBox="1">
            <a:spLocks noChangeArrowheads="1"/>
          </p:cNvSpPr>
          <p:nvPr/>
        </p:nvSpPr>
        <p:spPr bwMode="auto">
          <a:xfrm>
            <a:off x="3378200" y="49498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2</a:t>
            </a:r>
          </a:p>
        </p:txBody>
      </p:sp>
      <p:sp>
        <p:nvSpPr>
          <p:cNvPr id="144443" name="Text Box 59"/>
          <p:cNvSpPr txBox="1">
            <a:spLocks noChangeArrowheads="1"/>
          </p:cNvSpPr>
          <p:nvPr/>
        </p:nvSpPr>
        <p:spPr bwMode="auto">
          <a:xfrm>
            <a:off x="1954213" y="273367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3</a:t>
            </a:r>
          </a:p>
        </p:txBody>
      </p:sp>
      <p:sp>
        <p:nvSpPr>
          <p:cNvPr id="144444" name="Text Box 60"/>
          <p:cNvSpPr txBox="1">
            <a:spLocks noChangeArrowheads="1"/>
          </p:cNvSpPr>
          <p:nvPr/>
        </p:nvSpPr>
        <p:spPr bwMode="auto">
          <a:xfrm>
            <a:off x="3376613" y="27273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3</a:t>
            </a:r>
          </a:p>
        </p:txBody>
      </p:sp>
      <p:sp>
        <p:nvSpPr>
          <p:cNvPr id="144445" name="Text Box 61"/>
          <p:cNvSpPr txBox="1">
            <a:spLocks noChangeArrowheads="1"/>
          </p:cNvSpPr>
          <p:nvPr/>
        </p:nvSpPr>
        <p:spPr bwMode="auto">
          <a:xfrm>
            <a:off x="1976438" y="16271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sp>
        <p:nvSpPr>
          <p:cNvPr id="144446" name="Text Box 62"/>
          <p:cNvSpPr txBox="1">
            <a:spLocks noChangeArrowheads="1"/>
          </p:cNvSpPr>
          <p:nvPr/>
        </p:nvSpPr>
        <p:spPr bwMode="auto">
          <a:xfrm>
            <a:off x="3362325" y="16383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grpSp>
        <p:nvGrpSpPr>
          <p:cNvPr id="144447" name="Group 63"/>
          <p:cNvGrpSpPr>
            <a:grpSpLocks/>
          </p:cNvGrpSpPr>
          <p:nvPr/>
        </p:nvGrpSpPr>
        <p:grpSpPr bwMode="auto">
          <a:xfrm>
            <a:off x="2011363" y="1171575"/>
            <a:ext cx="2239962" cy="246063"/>
            <a:chOff x="1256" y="1000"/>
            <a:chExt cx="1411" cy="155"/>
          </a:xfrm>
        </p:grpSpPr>
        <p:sp>
          <p:nvSpPr>
            <p:cNvPr id="144448" name="Line 64"/>
            <p:cNvSpPr>
              <a:spLocks noChangeShapeType="1"/>
            </p:cNvSpPr>
            <p:nvPr/>
          </p:nvSpPr>
          <p:spPr bwMode="auto">
            <a:xfrm>
              <a:off x="1256" y="1000"/>
              <a:ext cx="0" cy="1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49" name="Line 65"/>
            <p:cNvSpPr>
              <a:spLocks noChangeShapeType="1"/>
            </p:cNvSpPr>
            <p:nvPr/>
          </p:nvSpPr>
          <p:spPr bwMode="auto">
            <a:xfrm>
              <a:off x="1256" y="1155"/>
              <a:ext cx="14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50" name="Line 66"/>
            <p:cNvSpPr>
              <a:spLocks noChangeShapeType="1"/>
            </p:cNvSpPr>
            <p:nvPr/>
          </p:nvSpPr>
          <p:spPr bwMode="auto">
            <a:xfrm flipV="1">
              <a:off x="2656" y="1033"/>
              <a:ext cx="0" cy="1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4451" name="Text Box 67"/>
          <p:cNvSpPr txBox="1">
            <a:spLocks noChangeArrowheads="1"/>
          </p:cNvSpPr>
          <p:nvPr/>
        </p:nvSpPr>
        <p:spPr bwMode="auto">
          <a:xfrm>
            <a:off x="3363913" y="498951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5</a:t>
            </a:r>
            <a:endParaRPr lang="en-US" altLang="zh-CN" sz="2000"/>
          </a:p>
        </p:txBody>
      </p:sp>
      <p:sp>
        <p:nvSpPr>
          <p:cNvPr id="144452" name="Text Box 68"/>
          <p:cNvSpPr txBox="1">
            <a:spLocks noChangeArrowheads="1"/>
          </p:cNvSpPr>
          <p:nvPr/>
        </p:nvSpPr>
        <p:spPr bwMode="auto">
          <a:xfrm>
            <a:off x="3384550" y="315595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6</a:t>
            </a:r>
            <a:endParaRPr lang="en-US" altLang="zh-CN" sz="2000"/>
          </a:p>
        </p:txBody>
      </p:sp>
      <p:sp>
        <p:nvSpPr>
          <p:cNvPr id="144453" name="Text Box 69"/>
          <p:cNvSpPr txBox="1">
            <a:spLocks noChangeArrowheads="1"/>
          </p:cNvSpPr>
          <p:nvPr/>
        </p:nvSpPr>
        <p:spPr bwMode="auto">
          <a:xfrm>
            <a:off x="1966913" y="31845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6</a:t>
            </a:r>
            <a:endParaRPr lang="en-US" altLang="zh-CN" sz="2000"/>
          </a:p>
        </p:txBody>
      </p:sp>
      <p:sp>
        <p:nvSpPr>
          <p:cNvPr id="144454" name="Text Box 70"/>
          <p:cNvSpPr txBox="1">
            <a:spLocks noChangeArrowheads="1"/>
          </p:cNvSpPr>
          <p:nvPr/>
        </p:nvSpPr>
        <p:spPr bwMode="auto">
          <a:xfrm>
            <a:off x="3389313" y="35321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sp>
        <p:nvSpPr>
          <p:cNvPr id="144455" name="Text Box 71"/>
          <p:cNvSpPr txBox="1">
            <a:spLocks noChangeArrowheads="1"/>
          </p:cNvSpPr>
          <p:nvPr/>
        </p:nvSpPr>
        <p:spPr bwMode="auto">
          <a:xfrm>
            <a:off x="1954213" y="35433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grpSp>
        <p:nvGrpSpPr>
          <p:cNvPr id="144456" name="Group 72"/>
          <p:cNvGrpSpPr>
            <a:grpSpLocks/>
          </p:cNvGrpSpPr>
          <p:nvPr/>
        </p:nvGrpSpPr>
        <p:grpSpPr bwMode="auto">
          <a:xfrm>
            <a:off x="4516438" y="1189038"/>
            <a:ext cx="2328862" cy="211137"/>
            <a:chOff x="2834" y="1011"/>
            <a:chExt cx="1467" cy="133"/>
          </a:xfrm>
        </p:grpSpPr>
        <p:sp>
          <p:nvSpPr>
            <p:cNvPr id="144457" name="Line 73"/>
            <p:cNvSpPr>
              <a:spLocks noChangeShapeType="1"/>
            </p:cNvSpPr>
            <p:nvPr/>
          </p:nvSpPr>
          <p:spPr bwMode="auto">
            <a:xfrm>
              <a:off x="2834" y="1011"/>
              <a:ext cx="0" cy="1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58" name="Line 74"/>
            <p:cNvSpPr>
              <a:spLocks noChangeShapeType="1"/>
            </p:cNvSpPr>
            <p:nvPr/>
          </p:nvSpPr>
          <p:spPr bwMode="auto">
            <a:xfrm>
              <a:off x="2834" y="1144"/>
              <a:ext cx="14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59" name="Line 75"/>
            <p:cNvSpPr>
              <a:spLocks noChangeShapeType="1"/>
            </p:cNvSpPr>
            <p:nvPr/>
          </p:nvSpPr>
          <p:spPr bwMode="auto">
            <a:xfrm flipV="1">
              <a:off x="4301" y="1033"/>
              <a:ext cx="0" cy="1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4460" name="Text Box 76"/>
          <p:cNvSpPr txBox="1">
            <a:spLocks noChangeArrowheads="1"/>
          </p:cNvSpPr>
          <p:nvPr/>
        </p:nvSpPr>
        <p:spPr bwMode="auto">
          <a:xfrm>
            <a:off x="3368675" y="497363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FF3300"/>
                </a:solidFill>
              </a:rPr>
              <a:t>8</a:t>
            </a:r>
          </a:p>
        </p:txBody>
      </p:sp>
      <p:grpSp>
        <p:nvGrpSpPr>
          <p:cNvPr id="144461" name="Group 77"/>
          <p:cNvGrpSpPr>
            <a:grpSpLocks/>
          </p:cNvGrpSpPr>
          <p:nvPr/>
        </p:nvGrpSpPr>
        <p:grpSpPr bwMode="auto">
          <a:xfrm>
            <a:off x="917575" y="1223963"/>
            <a:ext cx="6704013" cy="300037"/>
            <a:chOff x="567" y="1033"/>
            <a:chExt cx="4223" cy="189"/>
          </a:xfrm>
        </p:grpSpPr>
        <p:sp>
          <p:nvSpPr>
            <p:cNvPr id="144462" name="Line 78"/>
            <p:cNvSpPr>
              <a:spLocks noChangeShapeType="1"/>
            </p:cNvSpPr>
            <p:nvPr/>
          </p:nvSpPr>
          <p:spPr bwMode="auto">
            <a:xfrm>
              <a:off x="578" y="1044"/>
              <a:ext cx="0" cy="1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63" name="Line 79"/>
            <p:cNvSpPr>
              <a:spLocks noChangeShapeType="1"/>
            </p:cNvSpPr>
            <p:nvPr/>
          </p:nvSpPr>
          <p:spPr bwMode="auto">
            <a:xfrm>
              <a:off x="567" y="1222"/>
              <a:ext cx="42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64" name="Line 80"/>
            <p:cNvSpPr>
              <a:spLocks noChangeShapeType="1"/>
            </p:cNvSpPr>
            <p:nvPr/>
          </p:nvSpPr>
          <p:spPr bwMode="auto">
            <a:xfrm flipV="1">
              <a:off x="4790" y="1033"/>
              <a:ext cx="0" cy="18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4465" name="Text Box 81"/>
          <p:cNvSpPr txBox="1">
            <a:spLocks noChangeArrowheads="1"/>
          </p:cNvSpPr>
          <p:nvPr/>
        </p:nvSpPr>
        <p:spPr bwMode="auto">
          <a:xfrm>
            <a:off x="3367088" y="46021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9</a:t>
            </a:r>
          </a:p>
        </p:txBody>
      </p:sp>
      <p:grpSp>
        <p:nvGrpSpPr>
          <p:cNvPr id="144466" name="Group 82"/>
          <p:cNvGrpSpPr>
            <a:grpSpLocks/>
          </p:cNvGrpSpPr>
          <p:nvPr/>
        </p:nvGrpSpPr>
        <p:grpSpPr bwMode="auto">
          <a:xfrm>
            <a:off x="2592388" y="1223963"/>
            <a:ext cx="5857875" cy="458787"/>
            <a:chOff x="1622" y="1033"/>
            <a:chExt cx="3690" cy="289"/>
          </a:xfrm>
        </p:grpSpPr>
        <p:sp>
          <p:nvSpPr>
            <p:cNvPr id="144467" name="Line 83"/>
            <p:cNvSpPr>
              <a:spLocks noChangeShapeType="1"/>
            </p:cNvSpPr>
            <p:nvPr/>
          </p:nvSpPr>
          <p:spPr bwMode="auto">
            <a:xfrm>
              <a:off x="1622" y="1033"/>
              <a:ext cx="0" cy="2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68" name="Line 84"/>
            <p:cNvSpPr>
              <a:spLocks noChangeShapeType="1"/>
            </p:cNvSpPr>
            <p:nvPr/>
          </p:nvSpPr>
          <p:spPr bwMode="auto">
            <a:xfrm>
              <a:off x="1622" y="1311"/>
              <a:ext cx="36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469" name="Line 85"/>
            <p:cNvSpPr>
              <a:spLocks noChangeShapeType="1"/>
            </p:cNvSpPr>
            <p:nvPr/>
          </p:nvSpPr>
          <p:spPr bwMode="auto">
            <a:xfrm flipV="1">
              <a:off x="5312" y="1033"/>
              <a:ext cx="0" cy="2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4470" name="Text Box 86"/>
          <p:cNvSpPr txBox="1">
            <a:spLocks noChangeArrowheads="1"/>
          </p:cNvSpPr>
          <p:nvPr/>
        </p:nvSpPr>
        <p:spPr bwMode="auto">
          <a:xfrm>
            <a:off x="3367088" y="2733675"/>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10</a:t>
            </a:r>
            <a:endParaRPr lang="en-US" altLang="zh-CN" sz="2000"/>
          </a:p>
        </p:txBody>
      </p:sp>
      <p:grpSp>
        <p:nvGrpSpPr>
          <p:cNvPr id="144471" name="Group 87"/>
          <p:cNvGrpSpPr>
            <a:grpSpLocks/>
          </p:cNvGrpSpPr>
          <p:nvPr/>
        </p:nvGrpSpPr>
        <p:grpSpPr bwMode="auto">
          <a:xfrm>
            <a:off x="523875" y="5416550"/>
            <a:ext cx="8226425" cy="1025525"/>
            <a:chOff x="333" y="351"/>
            <a:chExt cx="5182" cy="646"/>
          </a:xfrm>
        </p:grpSpPr>
        <p:sp>
          <p:nvSpPr>
            <p:cNvPr id="144472" name="Text Box 88"/>
            <p:cNvSpPr txBox="1">
              <a:spLocks noChangeArrowheads="1"/>
            </p:cNvSpPr>
            <p:nvPr/>
          </p:nvSpPr>
          <p:spPr bwMode="auto">
            <a:xfrm>
              <a:off x="442" y="351"/>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44473" name="Text Box 89"/>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grpSp>
          <p:nvGrpSpPr>
            <p:cNvPr id="144474" name="Group 90"/>
            <p:cNvGrpSpPr>
              <a:grpSpLocks/>
            </p:cNvGrpSpPr>
            <p:nvPr/>
          </p:nvGrpSpPr>
          <p:grpSpPr bwMode="auto">
            <a:xfrm>
              <a:off x="333" y="728"/>
              <a:ext cx="5182" cy="269"/>
              <a:chOff x="333" y="728"/>
              <a:chExt cx="5182" cy="269"/>
            </a:xfrm>
          </p:grpSpPr>
          <p:sp>
            <p:nvSpPr>
              <p:cNvPr id="144475" name="Rectangle 91"/>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930</a:t>
                </a:r>
              </a:p>
            </p:txBody>
          </p:sp>
          <p:grpSp>
            <p:nvGrpSpPr>
              <p:cNvPr id="144476" name="Group 92"/>
              <p:cNvGrpSpPr>
                <a:grpSpLocks/>
              </p:cNvGrpSpPr>
              <p:nvPr/>
            </p:nvGrpSpPr>
            <p:grpSpPr bwMode="auto">
              <a:xfrm>
                <a:off x="679" y="734"/>
                <a:ext cx="542" cy="256"/>
                <a:chOff x="1133" y="1389"/>
                <a:chExt cx="542" cy="256"/>
              </a:xfrm>
            </p:grpSpPr>
            <p:sp>
              <p:nvSpPr>
                <p:cNvPr id="144477" name="Rectangle 93"/>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4478" name="Line 94"/>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79" name="Group 95"/>
              <p:cNvGrpSpPr>
                <a:grpSpLocks/>
              </p:cNvGrpSpPr>
              <p:nvPr/>
            </p:nvGrpSpPr>
            <p:grpSpPr bwMode="auto">
              <a:xfrm>
                <a:off x="1205" y="734"/>
                <a:ext cx="542" cy="256"/>
                <a:chOff x="1133" y="1389"/>
                <a:chExt cx="542" cy="256"/>
              </a:xfrm>
            </p:grpSpPr>
            <p:sp>
              <p:nvSpPr>
                <p:cNvPr id="144480" name="Rectangle 96"/>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083</a:t>
                  </a:r>
                </a:p>
              </p:txBody>
            </p:sp>
            <p:sp>
              <p:nvSpPr>
                <p:cNvPr id="144481" name="Line 97"/>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82" name="Group 98"/>
              <p:cNvGrpSpPr>
                <a:grpSpLocks/>
              </p:cNvGrpSpPr>
              <p:nvPr/>
            </p:nvGrpSpPr>
            <p:grpSpPr bwMode="auto">
              <a:xfrm>
                <a:off x="1730" y="734"/>
                <a:ext cx="542" cy="256"/>
                <a:chOff x="1133" y="1389"/>
                <a:chExt cx="542" cy="256"/>
              </a:xfrm>
            </p:grpSpPr>
            <p:sp>
              <p:nvSpPr>
                <p:cNvPr id="144483" name="Rectangle 9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4484" name="Line 10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85" name="Group 101"/>
              <p:cNvGrpSpPr>
                <a:grpSpLocks/>
              </p:cNvGrpSpPr>
              <p:nvPr/>
            </p:nvGrpSpPr>
            <p:grpSpPr bwMode="auto">
              <a:xfrm>
                <a:off x="2256" y="734"/>
                <a:ext cx="542" cy="256"/>
                <a:chOff x="1133" y="1389"/>
                <a:chExt cx="542" cy="256"/>
              </a:xfrm>
            </p:grpSpPr>
            <p:sp>
              <p:nvSpPr>
                <p:cNvPr id="144486" name="Rectangle 102"/>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sp>
              <p:nvSpPr>
                <p:cNvPr id="144487" name="Line 103"/>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88" name="Group 104"/>
              <p:cNvGrpSpPr>
                <a:grpSpLocks/>
              </p:cNvGrpSpPr>
              <p:nvPr/>
            </p:nvGrpSpPr>
            <p:grpSpPr bwMode="auto">
              <a:xfrm>
                <a:off x="2782" y="734"/>
                <a:ext cx="542" cy="256"/>
                <a:chOff x="1133" y="1389"/>
                <a:chExt cx="542" cy="256"/>
              </a:xfrm>
            </p:grpSpPr>
            <p:sp>
              <p:nvSpPr>
                <p:cNvPr id="144489" name="Rectangle 105"/>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sp>
              <p:nvSpPr>
                <p:cNvPr id="144490" name="Line 106"/>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91" name="Group 107"/>
              <p:cNvGrpSpPr>
                <a:grpSpLocks/>
              </p:cNvGrpSpPr>
              <p:nvPr/>
            </p:nvGrpSpPr>
            <p:grpSpPr bwMode="auto">
              <a:xfrm>
                <a:off x="3307" y="734"/>
                <a:ext cx="542" cy="256"/>
                <a:chOff x="1133" y="1389"/>
                <a:chExt cx="542" cy="256"/>
              </a:xfrm>
            </p:grpSpPr>
            <p:sp>
              <p:nvSpPr>
                <p:cNvPr id="144492" name="Rectangle 108"/>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sp>
              <p:nvSpPr>
                <p:cNvPr id="144493" name="Line 109"/>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94" name="Group 110"/>
              <p:cNvGrpSpPr>
                <a:grpSpLocks/>
              </p:cNvGrpSpPr>
              <p:nvPr/>
            </p:nvGrpSpPr>
            <p:grpSpPr bwMode="auto">
              <a:xfrm>
                <a:off x="3833" y="734"/>
                <a:ext cx="542" cy="256"/>
                <a:chOff x="1133" y="1389"/>
                <a:chExt cx="542" cy="256"/>
              </a:xfrm>
            </p:grpSpPr>
            <p:sp>
              <p:nvSpPr>
                <p:cNvPr id="144495" name="Rectangle 111"/>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4496" name="Line 112"/>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4497" name="Group 113"/>
              <p:cNvGrpSpPr>
                <a:grpSpLocks/>
              </p:cNvGrpSpPr>
              <p:nvPr/>
            </p:nvGrpSpPr>
            <p:grpSpPr bwMode="auto">
              <a:xfrm>
                <a:off x="4359" y="734"/>
                <a:ext cx="542" cy="256"/>
                <a:chOff x="1133" y="1389"/>
                <a:chExt cx="542" cy="256"/>
              </a:xfrm>
            </p:grpSpPr>
            <p:sp>
              <p:nvSpPr>
                <p:cNvPr id="144498" name="Rectangle 11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589</a:t>
                  </a:r>
                </a:p>
              </p:txBody>
            </p:sp>
            <p:sp>
              <p:nvSpPr>
                <p:cNvPr id="144499" name="Line 11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4500" name="Rectangle 116"/>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269</a:t>
                </a:r>
              </a:p>
            </p:txBody>
          </p:sp>
          <p:sp>
            <p:nvSpPr>
              <p:cNvPr id="144501" name="Line 117"/>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4502" name="Line 118"/>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3" name="Line 119"/>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4" name="Line 120"/>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5" name="Line 121"/>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6" name="Line 122"/>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7" name="Line 123"/>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8" name="Line 124"/>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09" name="Line 125"/>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10" name="Line 126"/>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11" name="Line 127"/>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4512" name="Text Box 128"/>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4513" name="Text Box 129"/>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4514" name="Text Box 130"/>
            <p:cNvSpPr txBox="1">
              <a:spLocks noChangeArrowheads="1"/>
            </p:cNvSpPr>
            <p:nvPr/>
          </p:nvSpPr>
          <p:spPr bwMode="auto">
            <a:xfrm>
              <a:off x="1481"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sp>
          <p:nvSpPr>
            <p:cNvPr id="144515" name="Text Box 131"/>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4516" name="Text Box 132"/>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sp>
          <p:nvSpPr>
            <p:cNvPr id="144517" name="Text Box 133"/>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sp>
          <p:nvSpPr>
            <p:cNvPr id="144518" name="Text Box 134"/>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sp>
          <p:nvSpPr>
            <p:cNvPr id="144519" name="Text Box 135"/>
            <p:cNvSpPr txBox="1">
              <a:spLocks noChangeArrowheads="1"/>
            </p:cNvSpPr>
            <p:nvPr/>
          </p:nvSpPr>
          <p:spPr bwMode="auto">
            <a:xfrm>
              <a:off x="4109"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4520" name="Text Box 136"/>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sp>
          <p:nvSpPr>
            <p:cNvPr id="144521" name="Text Box 137"/>
            <p:cNvSpPr txBox="1">
              <a:spLocks noChangeArrowheads="1"/>
            </p:cNvSpPr>
            <p:nvPr/>
          </p:nvSpPr>
          <p:spPr bwMode="auto">
            <a:xfrm>
              <a:off x="516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grpSp>
    </p:spTree>
    <p:extLst>
      <p:ext uri="{BB962C8B-B14F-4D97-AF65-F5344CB8AC3E}">
        <p14:creationId xmlns:p14="http://schemas.microsoft.com/office/powerpoint/2010/main" val="6922911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box(out)">
                                      <p:cBhvr>
                                        <p:cTn id="7" dur="500"/>
                                        <p:tgtEl>
                                          <p:spTgt spid="14438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4438"/>
                                        </p:tgtEl>
                                        <p:attrNameLst>
                                          <p:attrName>style.visibility</p:attrName>
                                        </p:attrNameLst>
                                      </p:cBhvr>
                                      <p:to>
                                        <p:strVal val="visible"/>
                                      </p:to>
                                    </p:set>
                                    <p:animEffect transition="in" filter="box(out)">
                                      <p:cBhvr>
                                        <p:cTn id="12" dur="500"/>
                                        <p:tgtEl>
                                          <p:spTgt spid="14443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4439"/>
                                        </p:tgtEl>
                                        <p:attrNameLst>
                                          <p:attrName>style.visibility</p:attrName>
                                        </p:attrNameLst>
                                      </p:cBhvr>
                                      <p:to>
                                        <p:strVal val="visible"/>
                                      </p:to>
                                    </p:set>
                                    <p:animEffect transition="in" filter="box(out)">
                                      <p:cBhvr>
                                        <p:cTn id="17" dur="500"/>
                                        <p:tgtEl>
                                          <p:spTgt spid="144439"/>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44440"/>
                                        </p:tgtEl>
                                        <p:attrNameLst>
                                          <p:attrName>style.visibility</p:attrName>
                                        </p:attrNameLst>
                                      </p:cBhvr>
                                      <p:to>
                                        <p:strVal val="visible"/>
                                      </p:to>
                                    </p:set>
                                    <p:animEffect transition="in" filter="box(out)">
                                      <p:cBhvr>
                                        <p:cTn id="22" dur="500"/>
                                        <p:tgtEl>
                                          <p:spTgt spid="144440"/>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4441"/>
                                        </p:tgtEl>
                                        <p:attrNameLst>
                                          <p:attrName>style.visibility</p:attrName>
                                        </p:attrNameLst>
                                      </p:cBhvr>
                                      <p:to>
                                        <p:strVal val="visible"/>
                                      </p:to>
                                    </p:set>
                                    <p:animEffect transition="in" filter="box(out)">
                                      <p:cBhvr>
                                        <p:cTn id="27" dur="500"/>
                                        <p:tgtEl>
                                          <p:spTgt spid="144441"/>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4442"/>
                                        </p:tgtEl>
                                        <p:attrNameLst>
                                          <p:attrName>style.visibility</p:attrName>
                                        </p:attrNameLst>
                                      </p:cBhvr>
                                      <p:to>
                                        <p:strVal val="visible"/>
                                      </p:to>
                                    </p:set>
                                    <p:animEffect transition="in" filter="box(out)">
                                      <p:cBhvr>
                                        <p:cTn id="32" dur="500"/>
                                        <p:tgtEl>
                                          <p:spTgt spid="14444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44443"/>
                                        </p:tgtEl>
                                        <p:attrNameLst>
                                          <p:attrName>style.visibility</p:attrName>
                                        </p:attrNameLst>
                                      </p:cBhvr>
                                      <p:to>
                                        <p:strVal val="visible"/>
                                      </p:to>
                                    </p:set>
                                    <p:animEffect transition="in" filter="box(out)">
                                      <p:cBhvr>
                                        <p:cTn id="37" dur="500"/>
                                        <p:tgtEl>
                                          <p:spTgt spid="14444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44444"/>
                                        </p:tgtEl>
                                        <p:attrNameLst>
                                          <p:attrName>style.visibility</p:attrName>
                                        </p:attrNameLst>
                                      </p:cBhvr>
                                      <p:to>
                                        <p:strVal val="visible"/>
                                      </p:to>
                                    </p:set>
                                    <p:animEffect transition="in" filter="box(out)">
                                      <p:cBhvr>
                                        <p:cTn id="42" dur="500"/>
                                        <p:tgtEl>
                                          <p:spTgt spid="14444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44445"/>
                                        </p:tgtEl>
                                        <p:attrNameLst>
                                          <p:attrName>style.visibility</p:attrName>
                                        </p:attrNameLst>
                                      </p:cBhvr>
                                      <p:to>
                                        <p:strVal val="visible"/>
                                      </p:to>
                                    </p:set>
                                    <p:animEffect transition="in" filter="box(out)">
                                      <p:cBhvr>
                                        <p:cTn id="47" dur="500"/>
                                        <p:tgtEl>
                                          <p:spTgt spid="144445"/>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44446"/>
                                        </p:tgtEl>
                                        <p:attrNameLst>
                                          <p:attrName>style.visibility</p:attrName>
                                        </p:attrNameLst>
                                      </p:cBhvr>
                                      <p:to>
                                        <p:strVal val="visible"/>
                                      </p:to>
                                    </p:set>
                                    <p:animEffect transition="in" filter="box(out)">
                                      <p:cBhvr>
                                        <p:cTn id="52" dur="500"/>
                                        <p:tgtEl>
                                          <p:spTgt spid="14444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144447"/>
                                        </p:tgtEl>
                                        <p:attrNameLst>
                                          <p:attrName>style.visibility</p:attrName>
                                        </p:attrNameLst>
                                      </p:cBhvr>
                                      <p:to>
                                        <p:strVal val="visible"/>
                                      </p:to>
                                    </p:set>
                                    <p:animEffect transition="in" filter="box(out)">
                                      <p:cBhvr>
                                        <p:cTn id="57" dur="500"/>
                                        <p:tgtEl>
                                          <p:spTgt spid="144447"/>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44451"/>
                                        </p:tgtEl>
                                        <p:attrNameLst>
                                          <p:attrName>style.visibility</p:attrName>
                                        </p:attrNameLst>
                                      </p:cBhvr>
                                      <p:to>
                                        <p:strVal val="visible"/>
                                      </p:to>
                                    </p:set>
                                    <p:animEffect transition="in" filter="box(out)">
                                      <p:cBhvr>
                                        <p:cTn id="62" dur="500"/>
                                        <p:tgtEl>
                                          <p:spTgt spid="144451"/>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44453"/>
                                        </p:tgtEl>
                                        <p:attrNameLst>
                                          <p:attrName>style.visibility</p:attrName>
                                        </p:attrNameLst>
                                      </p:cBhvr>
                                      <p:to>
                                        <p:strVal val="visible"/>
                                      </p:to>
                                    </p:set>
                                    <p:animEffect transition="in" filter="box(out)">
                                      <p:cBhvr>
                                        <p:cTn id="67" dur="500"/>
                                        <p:tgtEl>
                                          <p:spTgt spid="144453"/>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44452"/>
                                        </p:tgtEl>
                                        <p:attrNameLst>
                                          <p:attrName>style.visibility</p:attrName>
                                        </p:attrNameLst>
                                      </p:cBhvr>
                                      <p:to>
                                        <p:strVal val="visible"/>
                                      </p:to>
                                    </p:set>
                                    <p:animEffect transition="in" filter="box(out)">
                                      <p:cBhvr>
                                        <p:cTn id="72" dur="500"/>
                                        <p:tgtEl>
                                          <p:spTgt spid="144452"/>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44455"/>
                                        </p:tgtEl>
                                        <p:attrNameLst>
                                          <p:attrName>style.visibility</p:attrName>
                                        </p:attrNameLst>
                                      </p:cBhvr>
                                      <p:to>
                                        <p:strVal val="visible"/>
                                      </p:to>
                                    </p:set>
                                    <p:animEffect transition="in" filter="box(out)">
                                      <p:cBhvr>
                                        <p:cTn id="77" dur="500"/>
                                        <p:tgtEl>
                                          <p:spTgt spid="144455"/>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44454"/>
                                        </p:tgtEl>
                                        <p:attrNameLst>
                                          <p:attrName>style.visibility</p:attrName>
                                        </p:attrNameLst>
                                      </p:cBhvr>
                                      <p:to>
                                        <p:strVal val="visible"/>
                                      </p:to>
                                    </p:set>
                                    <p:animEffect transition="in" filter="box(out)">
                                      <p:cBhvr>
                                        <p:cTn id="82" dur="500"/>
                                        <p:tgtEl>
                                          <p:spTgt spid="144454"/>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nodeType="clickEffect">
                                  <p:stCondLst>
                                    <p:cond delay="0"/>
                                  </p:stCondLst>
                                  <p:childTnLst>
                                    <p:set>
                                      <p:cBhvr>
                                        <p:cTn id="86" dur="1" fill="hold">
                                          <p:stCondLst>
                                            <p:cond delay="0"/>
                                          </p:stCondLst>
                                        </p:cTn>
                                        <p:tgtEl>
                                          <p:spTgt spid="144456"/>
                                        </p:tgtEl>
                                        <p:attrNameLst>
                                          <p:attrName>style.visibility</p:attrName>
                                        </p:attrNameLst>
                                      </p:cBhvr>
                                      <p:to>
                                        <p:strVal val="visible"/>
                                      </p:to>
                                    </p:set>
                                    <p:animEffect transition="in" filter="box(out)">
                                      <p:cBhvr>
                                        <p:cTn id="87" dur="500"/>
                                        <p:tgtEl>
                                          <p:spTgt spid="144456"/>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44460"/>
                                        </p:tgtEl>
                                        <p:attrNameLst>
                                          <p:attrName>style.visibility</p:attrName>
                                        </p:attrNameLst>
                                      </p:cBhvr>
                                      <p:to>
                                        <p:strVal val="visible"/>
                                      </p:to>
                                    </p:set>
                                    <p:animEffect transition="in" filter="box(out)">
                                      <p:cBhvr>
                                        <p:cTn id="92" dur="500"/>
                                        <p:tgtEl>
                                          <p:spTgt spid="144460"/>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32" fill="hold" nodeType="clickEffect">
                                  <p:stCondLst>
                                    <p:cond delay="0"/>
                                  </p:stCondLst>
                                  <p:childTnLst>
                                    <p:set>
                                      <p:cBhvr>
                                        <p:cTn id="96" dur="1" fill="hold">
                                          <p:stCondLst>
                                            <p:cond delay="0"/>
                                          </p:stCondLst>
                                        </p:cTn>
                                        <p:tgtEl>
                                          <p:spTgt spid="144461"/>
                                        </p:tgtEl>
                                        <p:attrNameLst>
                                          <p:attrName>style.visibility</p:attrName>
                                        </p:attrNameLst>
                                      </p:cBhvr>
                                      <p:to>
                                        <p:strVal val="visible"/>
                                      </p:to>
                                    </p:set>
                                    <p:animEffect transition="in" filter="box(out)">
                                      <p:cBhvr>
                                        <p:cTn id="97" dur="500"/>
                                        <p:tgtEl>
                                          <p:spTgt spid="144461"/>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44465"/>
                                        </p:tgtEl>
                                        <p:attrNameLst>
                                          <p:attrName>style.visibility</p:attrName>
                                        </p:attrNameLst>
                                      </p:cBhvr>
                                      <p:to>
                                        <p:strVal val="visible"/>
                                      </p:to>
                                    </p:set>
                                    <p:animEffect transition="in" filter="box(out)">
                                      <p:cBhvr>
                                        <p:cTn id="102" dur="500"/>
                                        <p:tgtEl>
                                          <p:spTgt spid="144465"/>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32" fill="hold" nodeType="clickEffect">
                                  <p:stCondLst>
                                    <p:cond delay="0"/>
                                  </p:stCondLst>
                                  <p:childTnLst>
                                    <p:set>
                                      <p:cBhvr>
                                        <p:cTn id="106" dur="1" fill="hold">
                                          <p:stCondLst>
                                            <p:cond delay="0"/>
                                          </p:stCondLst>
                                        </p:cTn>
                                        <p:tgtEl>
                                          <p:spTgt spid="144466"/>
                                        </p:tgtEl>
                                        <p:attrNameLst>
                                          <p:attrName>style.visibility</p:attrName>
                                        </p:attrNameLst>
                                      </p:cBhvr>
                                      <p:to>
                                        <p:strVal val="visible"/>
                                      </p:to>
                                    </p:set>
                                    <p:animEffect transition="in" filter="box(out)">
                                      <p:cBhvr>
                                        <p:cTn id="107" dur="500"/>
                                        <p:tgtEl>
                                          <p:spTgt spid="144466"/>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par>
                    <p:cTn id="108" fill="hold" nodeType="clickPar">
                      <p:stCondLst>
                        <p:cond delay="indefinite"/>
                      </p:stCondLst>
                      <p:childTnLst>
                        <p:par>
                          <p:cTn id="109" fill="hold" nodeType="withGroup">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44470"/>
                                        </p:tgtEl>
                                        <p:attrNameLst>
                                          <p:attrName>style.visibility</p:attrName>
                                        </p:attrNameLst>
                                      </p:cBhvr>
                                      <p:to>
                                        <p:strVal val="visible"/>
                                      </p:to>
                                    </p:set>
                                    <p:animEffect transition="in" filter="box(out)">
                                      <p:cBhvr>
                                        <p:cTn id="112" dur="500"/>
                                        <p:tgtEl>
                                          <p:spTgt spid="144470"/>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nodeType="clickPar">
                      <p:stCondLst>
                        <p:cond delay="indefinite"/>
                      </p:stCondLst>
                      <p:childTnLst>
                        <p:par>
                          <p:cTn id="114" fill="hold" nodeType="withGroup">
                            <p:stCondLst>
                              <p:cond delay="0"/>
                            </p:stCondLst>
                            <p:childTnLst>
                              <p:par>
                                <p:cTn id="115" presetID="4" presetClass="entr" presetSubtype="32" fill="hold" nodeType="clickEffect">
                                  <p:stCondLst>
                                    <p:cond delay="0"/>
                                  </p:stCondLst>
                                  <p:childTnLst>
                                    <p:set>
                                      <p:cBhvr>
                                        <p:cTn id="116" dur="1" fill="hold">
                                          <p:stCondLst>
                                            <p:cond delay="0"/>
                                          </p:stCondLst>
                                        </p:cTn>
                                        <p:tgtEl>
                                          <p:spTgt spid="144471"/>
                                        </p:tgtEl>
                                        <p:attrNameLst>
                                          <p:attrName>style.visibility</p:attrName>
                                        </p:attrNameLst>
                                      </p:cBhvr>
                                      <p:to>
                                        <p:strVal val="visible"/>
                                      </p:to>
                                    </p:set>
                                    <p:animEffect transition="in" filter="box(out)">
                                      <p:cBhvr>
                                        <p:cTn id="117" dur="500"/>
                                        <p:tgtEl>
                                          <p:spTgt spid="144471"/>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38" grpId="0" autoUpdateAnimBg="0"/>
      <p:bldP spid="144439" grpId="0" animBg="1" autoUpdateAnimBg="0"/>
      <p:bldP spid="144440" grpId="0" animBg="1" autoUpdateAnimBg="0"/>
      <p:bldP spid="144441" grpId="0" animBg="1" autoUpdateAnimBg="0"/>
      <p:bldP spid="144442" grpId="0" animBg="1" autoUpdateAnimBg="0"/>
      <p:bldP spid="144443" grpId="0" animBg="1" autoUpdateAnimBg="0"/>
      <p:bldP spid="144444" grpId="0" animBg="1" autoUpdateAnimBg="0"/>
      <p:bldP spid="144445" grpId="0" animBg="1" autoUpdateAnimBg="0"/>
      <p:bldP spid="144446" grpId="0" animBg="1" autoUpdateAnimBg="0"/>
      <p:bldP spid="144451" grpId="0" animBg="1" autoUpdateAnimBg="0"/>
      <p:bldP spid="144452" grpId="0" animBg="1" autoUpdateAnimBg="0"/>
      <p:bldP spid="144453" grpId="0" animBg="1" autoUpdateAnimBg="0"/>
      <p:bldP spid="144454" grpId="0" animBg="1" autoUpdateAnimBg="0"/>
      <p:bldP spid="144455" grpId="0" animBg="1" autoUpdateAnimBg="0"/>
      <p:bldP spid="144460" grpId="0" animBg="1" autoUpdateAnimBg="0"/>
      <p:bldP spid="144465" grpId="0" animBg="1" autoUpdateAnimBg="0"/>
      <p:bldP spid="144470"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410" name="Object 2">
            <a:hlinkClick r:id="" action="ppaction://ole?verb=0"/>
          </p:cNvPr>
          <p:cNvGraphicFramePr>
            <a:graphicFrameLocks noChangeAspect="1"/>
          </p:cNvGraphicFramePr>
          <p:nvPr/>
        </p:nvGraphicFramePr>
        <p:xfrm>
          <a:off x="7667625" y="2309813"/>
          <a:ext cx="914400" cy="601662"/>
        </p:xfrm>
        <a:graphic>
          <a:graphicData uri="http://schemas.openxmlformats.org/presentationml/2006/ole">
            <mc:AlternateContent xmlns:mc="http://schemas.openxmlformats.org/markup-compatibility/2006">
              <mc:Choice xmlns:v="urn:schemas-microsoft-com:vml" Requires="v">
                <p:oleObj spid="_x0000_s1751043" name="软件包" r:id="rId4" imgW="723960" imgH="476280" progId="Package">
                  <p:embed/>
                </p:oleObj>
              </mc:Choice>
              <mc:Fallback>
                <p:oleObj name="软件包" r:id="rId4" imgW="723960" imgH="476280" progId="Pack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309813"/>
                        <a:ext cx="9144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45411" name="Text Box 3"/>
          <p:cNvSpPr txBox="1">
            <a:spLocks noChangeArrowheads="1"/>
          </p:cNvSpPr>
          <p:nvPr/>
        </p:nvSpPr>
        <p:spPr bwMode="auto">
          <a:xfrm>
            <a:off x="1373188" y="1854200"/>
            <a:ext cx="2389187" cy="374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a:t>f[0]=0        e[0]=0</a:t>
            </a:r>
          </a:p>
          <a:p>
            <a:pPr algn="l"/>
            <a:r>
              <a:rPr lang="en-US" altLang="zh-CN"/>
              <a:t>f[1]=0        e[1]=0</a:t>
            </a:r>
          </a:p>
          <a:p>
            <a:pPr algn="l"/>
            <a:r>
              <a:rPr lang="en-US" altLang="zh-CN"/>
              <a:t>f[2]=0        e[2]=0</a:t>
            </a:r>
          </a:p>
          <a:p>
            <a:pPr algn="l"/>
            <a:r>
              <a:rPr lang="en-US" altLang="zh-CN"/>
              <a:t>f[3]=0        e[3]=0</a:t>
            </a:r>
          </a:p>
          <a:p>
            <a:pPr algn="l"/>
            <a:r>
              <a:rPr lang="en-US" altLang="zh-CN"/>
              <a:t>f[4]=0        e[4]=0</a:t>
            </a:r>
          </a:p>
          <a:p>
            <a:pPr algn="l"/>
            <a:r>
              <a:rPr lang="en-US" altLang="zh-CN"/>
              <a:t>f[5]=0        e[5]=0</a:t>
            </a:r>
          </a:p>
          <a:p>
            <a:pPr algn="l"/>
            <a:r>
              <a:rPr lang="en-US" altLang="zh-CN"/>
              <a:t>f[6]=0        e[6]=0</a:t>
            </a:r>
          </a:p>
          <a:p>
            <a:pPr algn="l"/>
            <a:r>
              <a:rPr lang="en-US" altLang="zh-CN"/>
              <a:t>f[7]=0        e[7]=0</a:t>
            </a:r>
          </a:p>
          <a:p>
            <a:pPr algn="l"/>
            <a:r>
              <a:rPr lang="en-US" altLang="zh-CN"/>
              <a:t>f[8]=0        e[8]=0</a:t>
            </a:r>
          </a:p>
          <a:p>
            <a:pPr algn="l"/>
            <a:r>
              <a:rPr lang="en-US" altLang="zh-CN"/>
              <a:t>f[9]=0        e[9]=0</a:t>
            </a:r>
            <a:endParaRPr lang="en-US" altLang="zh-CN" sz="2000"/>
          </a:p>
        </p:txBody>
      </p:sp>
      <p:sp>
        <p:nvSpPr>
          <p:cNvPr id="145412" name="Text Box 4"/>
          <p:cNvSpPr txBox="1">
            <a:spLocks noChangeArrowheads="1"/>
          </p:cNvSpPr>
          <p:nvPr/>
        </p:nvSpPr>
        <p:spPr bwMode="auto">
          <a:xfrm>
            <a:off x="2074863" y="44418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a:t>
            </a:r>
          </a:p>
        </p:txBody>
      </p:sp>
      <p:sp>
        <p:nvSpPr>
          <p:cNvPr id="145413" name="Text Box 5"/>
          <p:cNvSpPr txBox="1">
            <a:spLocks noChangeArrowheads="1"/>
          </p:cNvSpPr>
          <p:nvPr/>
        </p:nvSpPr>
        <p:spPr bwMode="auto">
          <a:xfrm>
            <a:off x="2074863" y="40894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3</a:t>
            </a:r>
          </a:p>
        </p:txBody>
      </p:sp>
      <p:sp>
        <p:nvSpPr>
          <p:cNvPr id="145414" name="Text Box 6"/>
          <p:cNvSpPr txBox="1">
            <a:spLocks noChangeArrowheads="1"/>
          </p:cNvSpPr>
          <p:nvPr/>
        </p:nvSpPr>
        <p:spPr bwMode="auto">
          <a:xfrm>
            <a:off x="3524250" y="30019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sp>
        <p:nvSpPr>
          <p:cNvPr id="145415" name="Text Box 7"/>
          <p:cNvSpPr txBox="1">
            <a:spLocks noChangeArrowheads="1"/>
          </p:cNvSpPr>
          <p:nvPr/>
        </p:nvSpPr>
        <p:spPr bwMode="auto">
          <a:xfrm>
            <a:off x="2074863" y="30114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sp>
        <p:nvSpPr>
          <p:cNvPr id="145416" name="Text Box 8"/>
          <p:cNvSpPr txBox="1">
            <a:spLocks noChangeArrowheads="1"/>
          </p:cNvSpPr>
          <p:nvPr/>
        </p:nvSpPr>
        <p:spPr bwMode="auto">
          <a:xfrm>
            <a:off x="2074863" y="18891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sp>
        <p:nvSpPr>
          <p:cNvPr id="145417" name="Text Box 9"/>
          <p:cNvSpPr txBox="1">
            <a:spLocks noChangeArrowheads="1"/>
          </p:cNvSpPr>
          <p:nvPr/>
        </p:nvSpPr>
        <p:spPr bwMode="auto">
          <a:xfrm>
            <a:off x="3541713" y="184943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sp>
        <p:nvSpPr>
          <p:cNvPr id="145418" name="Text Box 10"/>
          <p:cNvSpPr txBox="1">
            <a:spLocks noChangeArrowheads="1"/>
          </p:cNvSpPr>
          <p:nvPr/>
        </p:nvSpPr>
        <p:spPr bwMode="auto">
          <a:xfrm>
            <a:off x="3543300" y="184785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9</a:t>
            </a:r>
          </a:p>
        </p:txBody>
      </p:sp>
      <p:sp>
        <p:nvSpPr>
          <p:cNvPr id="145419" name="Text Box 11"/>
          <p:cNvSpPr txBox="1">
            <a:spLocks noChangeArrowheads="1"/>
          </p:cNvSpPr>
          <p:nvPr/>
        </p:nvSpPr>
        <p:spPr bwMode="auto">
          <a:xfrm>
            <a:off x="2074863" y="4795838"/>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10</a:t>
            </a:r>
          </a:p>
        </p:txBody>
      </p:sp>
      <p:grpSp>
        <p:nvGrpSpPr>
          <p:cNvPr id="145420" name="Group 12"/>
          <p:cNvGrpSpPr>
            <a:grpSpLocks/>
          </p:cNvGrpSpPr>
          <p:nvPr/>
        </p:nvGrpSpPr>
        <p:grpSpPr bwMode="auto">
          <a:xfrm>
            <a:off x="682625" y="115888"/>
            <a:ext cx="8226425" cy="1157287"/>
            <a:chOff x="430" y="73"/>
            <a:chExt cx="5182" cy="729"/>
          </a:xfrm>
        </p:grpSpPr>
        <p:grpSp>
          <p:nvGrpSpPr>
            <p:cNvPr id="145421" name="Group 13"/>
            <p:cNvGrpSpPr>
              <a:grpSpLocks/>
            </p:cNvGrpSpPr>
            <p:nvPr/>
          </p:nvGrpSpPr>
          <p:grpSpPr bwMode="auto">
            <a:xfrm>
              <a:off x="430" y="156"/>
              <a:ext cx="5182" cy="646"/>
              <a:chOff x="333" y="351"/>
              <a:chExt cx="5182" cy="646"/>
            </a:xfrm>
          </p:grpSpPr>
          <p:sp>
            <p:nvSpPr>
              <p:cNvPr id="145422" name="Text Box 14"/>
              <p:cNvSpPr txBox="1">
                <a:spLocks noChangeArrowheads="1"/>
              </p:cNvSpPr>
              <p:nvPr/>
            </p:nvSpPr>
            <p:spPr bwMode="auto">
              <a:xfrm>
                <a:off x="442" y="351"/>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45423" name="Text Box 15"/>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grpSp>
            <p:nvGrpSpPr>
              <p:cNvPr id="145424" name="Group 16"/>
              <p:cNvGrpSpPr>
                <a:grpSpLocks/>
              </p:cNvGrpSpPr>
              <p:nvPr/>
            </p:nvGrpSpPr>
            <p:grpSpPr bwMode="auto">
              <a:xfrm>
                <a:off x="333" y="728"/>
                <a:ext cx="5182" cy="269"/>
                <a:chOff x="333" y="728"/>
                <a:chExt cx="5182" cy="269"/>
              </a:xfrm>
            </p:grpSpPr>
            <p:sp>
              <p:nvSpPr>
                <p:cNvPr id="145425" name="Rectangle 17"/>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930</a:t>
                  </a:r>
                </a:p>
              </p:txBody>
            </p:sp>
            <p:grpSp>
              <p:nvGrpSpPr>
                <p:cNvPr id="145426" name="Group 18"/>
                <p:cNvGrpSpPr>
                  <a:grpSpLocks/>
                </p:cNvGrpSpPr>
                <p:nvPr/>
              </p:nvGrpSpPr>
              <p:grpSpPr bwMode="auto">
                <a:xfrm>
                  <a:off x="679" y="734"/>
                  <a:ext cx="542" cy="256"/>
                  <a:chOff x="1133" y="1389"/>
                  <a:chExt cx="542" cy="256"/>
                </a:xfrm>
              </p:grpSpPr>
              <p:sp>
                <p:nvSpPr>
                  <p:cNvPr id="145427" name="Rectangle 1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5428" name="Line 2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29" name="Group 21"/>
                <p:cNvGrpSpPr>
                  <a:grpSpLocks/>
                </p:cNvGrpSpPr>
                <p:nvPr/>
              </p:nvGrpSpPr>
              <p:grpSpPr bwMode="auto">
                <a:xfrm>
                  <a:off x="1205" y="734"/>
                  <a:ext cx="542" cy="256"/>
                  <a:chOff x="1133" y="1389"/>
                  <a:chExt cx="542" cy="256"/>
                </a:xfrm>
              </p:grpSpPr>
              <p:sp>
                <p:nvSpPr>
                  <p:cNvPr id="145430" name="Rectangle 22"/>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083</a:t>
                    </a:r>
                  </a:p>
                </p:txBody>
              </p:sp>
              <p:sp>
                <p:nvSpPr>
                  <p:cNvPr id="145431" name="Line 23"/>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32" name="Group 24"/>
                <p:cNvGrpSpPr>
                  <a:grpSpLocks/>
                </p:cNvGrpSpPr>
                <p:nvPr/>
              </p:nvGrpSpPr>
              <p:grpSpPr bwMode="auto">
                <a:xfrm>
                  <a:off x="1730" y="734"/>
                  <a:ext cx="542" cy="256"/>
                  <a:chOff x="1133" y="1389"/>
                  <a:chExt cx="542" cy="256"/>
                </a:xfrm>
              </p:grpSpPr>
              <p:sp>
                <p:nvSpPr>
                  <p:cNvPr id="145433" name="Rectangle 25"/>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5434" name="Line 26"/>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35" name="Group 27"/>
                <p:cNvGrpSpPr>
                  <a:grpSpLocks/>
                </p:cNvGrpSpPr>
                <p:nvPr/>
              </p:nvGrpSpPr>
              <p:grpSpPr bwMode="auto">
                <a:xfrm>
                  <a:off x="2256" y="734"/>
                  <a:ext cx="542" cy="256"/>
                  <a:chOff x="1133" y="1389"/>
                  <a:chExt cx="542" cy="256"/>
                </a:xfrm>
              </p:grpSpPr>
              <p:sp>
                <p:nvSpPr>
                  <p:cNvPr id="145436" name="Rectangle 28"/>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sp>
                <p:nvSpPr>
                  <p:cNvPr id="145437" name="Line 29"/>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38" name="Group 30"/>
                <p:cNvGrpSpPr>
                  <a:grpSpLocks/>
                </p:cNvGrpSpPr>
                <p:nvPr/>
              </p:nvGrpSpPr>
              <p:grpSpPr bwMode="auto">
                <a:xfrm>
                  <a:off x="2782" y="734"/>
                  <a:ext cx="542" cy="256"/>
                  <a:chOff x="1133" y="1389"/>
                  <a:chExt cx="542" cy="256"/>
                </a:xfrm>
              </p:grpSpPr>
              <p:sp>
                <p:nvSpPr>
                  <p:cNvPr id="145439" name="Rectangle 31"/>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sp>
                <p:nvSpPr>
                  <p:cNvPr id="145440" name="Line 32"/>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41" name="Group 33"/>
                <p:cNvGrpSpPr>
                  <a:grpSpLocks/>
                </p:cNvGrpSpPr>
                <p:nvPr/>
              </p:nvGrpSpPr>
              <p:grpSpPr bwMode="auto">
                <a:xfrm>
                  <a:off x="3307" y="734"/>
                  <a:ext cx="542" cy="256"/>
                  <a:chOff x="1133" y="1389"/>
                  <a:chExt cx="542" cy="256"/>
                </a:xfrm>
              </p:grpSpPr>
              <p:sp>
                <p:nvSpPr>
                  <p:cNvPr id="145442" name="Rectangle 3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sp>
                <p:nvSpPr>
                  <p:cNvPr id="145443" name="Line 3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44" name="Group 36"/>
                <p:cNvGrpSpPr>
                  <a:grpSpLocks/>
                </p:cNvGrpSpPr>
                <p:nvPr/>
              </p:nvGrpSpPr>
              <p:grpSpPr bwMode="auto">
                <a:xfrm>
                  <a:off x="3833" y="734"/>
                  <a:ext cx="542" cy="256"/>
                  <a:chOff x="1133" y="1389"/>
                  <a:chExt cx="542" cy="256"/>
                </a:xfrm>
              </p:grpSpPr>
              <p:sp>
                <p:nvSpPr>
                  <p:cNvPr id="145445" name="Rectangle 37"/>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5446" name="Line 38"/>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447" name="Group 39"/>
                <p:cNvGrpSpPr>
                  <a:grpSpLocks/>
                </p:cNvGrpSpPr>
                <p:nvPr/>
              </p:nvGrpSpPr>
              <p:grpSpPr bwMode="auto">
                <a:xfrm>
                  <a:off x="4359" y="734"/>
                  <a:ext cx="542" cy="256"/>
                  <a:chOff x="1133" y="1389"/>
                  <a:chExt cx="542" cy="256"/>
                </a:xfrm>
              </p:grpSpPr>
              <p:sp>
                <p:nvSpPr>
                  <p:cNvPr id="145448" name="Rectangle 40"/>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589</a:t>
                    </a:r>
                  </a:p>
                </p:txBody>
              </p:sp>
              <p:sp>
                <p:nvSpPr>
                  <p:cNvPr id="145449" name="Line 41"/>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5450" name="Rectangle 42"/>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269</a:t>
                  </a:r>
                </a:p>
              </p:txBody>
            </p:sp>
            <p:sp>
              <p:nvSpPr>
                <p:cNvPr id="145451" name="Line 43"/>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5452" name="Line 44"/>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3" name="Line 45"/>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4" name="Line 46"/>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5" name="Line 47"/>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6" name="Line 48"/>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7" name="Line 49"/>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8" name="Line 50"/>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59" name="Line 51"/>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60" name="Line 52"/>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61" name="Line 53"/>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62" name="Text Box 54"/>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5463" name="Text Box 55"/>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5464" name="Text Box 56"/>
              <p:cNvSpPr txBox="1">
                <a:spLocks noChangeArrowheads="1"/>
              </p:cNvSpPr>
              <p:nvPr/>
            </p:nvSpPr>
            <p:spPr bwMode="auto">
              <a:xfrm>
                <a:off x="1481"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sp>
            <p:nvSpPr>
              <p:cNvPr id="145465" name="Text Box 57"/>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5466" name="Text Box 58"/>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sp>
            <p:nvSpPr>
              <p:cNvPr id="145467" name="Text Box 59"/>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sp>
            <p:nvSpPr>
              <p:cNvPr id="145468" name="Text Box 60"/>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sp>
            <p:nvSpPr>
              <p:cNvPr id="145469" name="Text Box 61"/>
              <p:cNvSpPr txBox="1">
                <a:spLocks noChangeArrowheads="1"/>
              </p:cNvSpPr>
              <p:nvPr/>
            </p:nvSpPr>
            <p:spPr bwMode="auto">
              <a:xfrm>
                <a:off x="4109"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5470" name="Text Box 62"/>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sp>
            <p:nvSpPr>
              <p:cNvPr id="145471" name="Text Box 63"/>
              <p:cNvSpPr txBox="1">
                <a:spLocks noChangeArrowheads="1"/>
              </p:cNvSpPr>
              <p:nvPr/>
            </p:nvSpPr>
            <p:spPr bwMode="auto">
              <a:xfrm>
                <a:off x="516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grpSp>
        <p:sp>
          <p:nvSpPr>
            <p:cNvPr id="145472" name="Text Box 64"/>
            <p:cNvSpPr txBox="1">
              <a:spLocks noChangeArrowheads="1"/>
            </p:cNvSpPr>
            <p:nvPr/>
          </p:nvSpPr>
          <p:spPr bwMode="auto">
            <a:xfrm>
              <a:off x="453" y="73"/>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2000"/>
                <a:t>一趟收集：</a:t>
              </a:r>
            </a:p>
          </p:txBody>
        </p:sp>
      </p:grpSp>
      <p:sp>
        <p:nvSpPr>
          <p:cNvPr id="145473" name="Text Box 65"/>
          <p:cNvSpPr txBox="1">
            <a:spLocks noChangeArrowheads="1"/>
          </p:cNvSpPr>
          <p:nvPr/>
        </p:nvSpPr>
        <p:spPr bwMode="auto">
          <a:xfrm>
            <a:off x="3541713" y="410051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3</a:t>
            </a:r>
          </a:p>
        </p:txBody>
      </p:sp>
      <p:sp>
        <p:nvSpPr>
          <p:cNvPr id="145474" name="Text Box 66"/>
          <p:cNvSpPr txBox="1">
            <a:spLocks noChangeArrowheads="1"/>
          </p:cNvSpPr>
          <p:nvPr/>
        </p:nvSpPr>
        <p:spPr bwMode="auto">
          <a:xfrm>
            <a:off x="3414713" y="4808538"/>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10</a:t>
            </a:r>
          </a:p>
        </p:txBody>
      </p:sp>
      <p:grpSp>
        <p:nvGrpSpPr>
          <p:cNvPr id="145475" name="Group 67"/>
          <p:cNvGrpSpPr>
            <a:grpSpLocks/>
          </p:cNvGrpSpPr>
          <p:nvPr/>
        </p:nvGrpSpPr>
        <p:grpSpPr bwMode="auto">
          <a:xfrm>
            <a:off x="2628900" y="1252538"/>
            <a:ext cx="900113" cy="211137"/>
            <a:chOff x="1656" y="789"/>
            <a:chExt cx="567" cy="133"/>
          </a:xfrm>
        </p:grpSpPr>
        <p:sp>
          <p:nvSpPr>
            <p:cNvPr id="145476" name="Line 68"/>
            <p:cNvSpPr>
              <a:spLocks noChangeShapeType="1"/>
            </p:cNvSpPr>
            <p:nvPr/>
          </p:nvSpPr>
          <p:spPr bwMode="auto">
            <a:xfrm>
              <a:off x="1656" y="800"/>
              <a:ext cx="0" cy="1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77" name="Line 69"/>
            <p:cNvSpPr>
              <a:spLocks noChangeShapeType="1"/>
            </p:cNvSpPr>
            <p:nvPr/>
          </p:nvSpPr>
          <p:spPr bwMode="auto">
            <a:xfrm>
              <a:off x="1656" y="922"/>
              <a:ext cx="5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78" name="Line 70"/>
            <p:cNvSpPr>
              <a:spLocks noChangeShapeType="1"/>
            </p:cNvSpPr>
            <p:nvPr/>
          </p:nvSpPr>
          <p:spPr bwMode="auto">
            <a:xfrm flipV="1">
              <a:off x="2223" y="789"/>
              <a:ext cx="0" cy="1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5479" name="Text Box 71"/>
          <p:cNvSpPr txBox="1">
            <a:spLocks noChangeArrowheads="1"/>
          </p:cNvSpPr>
          <p:nvPr/>
        </p:nvSpPr>
        <p:spPr bwMode="auto">
          <a:xfrm>
            <a:off x="3541713" y="44878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1</a:t>
            </a:r>
          </a:p>
        </p:txBody>
      </p:sp>
      <p:grpSp>
        <p:nvGrpSpPr>
          <p:cNvPr id="145480" name="Group 72"/>
          <p:cNvGrpSpPr>
            <a:grpSpLocks/>
          </p:cNvGrpSpPr>
          <p:nvPr/>
        </p:nvGrpSpPr>
        <p:grpSpPr bwMode="auto">
          <a:xfrm>
            <a:off x="4286250" y="1270000"/>
            <a:ext cx="1641475" cy="228600"/>
            <a:chOff x="2700" y="800"/>
            <a:chExt cx="1034" cy="144"/>
          </a:xfrm>
        </p:grpSpPr>
        <p:sp>
          <p:nvSpPr>
            <p:cNvPr id="145481" name="Line 73"/>
            <p:cNvSpPr>
              <a:spLocks noChangeShapeType="1"/>
            </p:cNvSpPr>
            <p:nvPr/>
          </p:nvSpPr>
          <p:spPr bwMode="auto">
            <a:xfrm>
              <a:off x="2700" y="800"/>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82" name="Line 74"/>
            <p:cNvSpPr>
              <a:spLocks noChangeShapeType="1"/>
            </p:cNvSpPr>
            <p:nvPr/>
          </p:nvSpPr>
          <p:spPr bwMode="auto">
            <a:xfrm>
              <a:off x="2700" y="944"/>
              <a:ext cx="10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83" name="Line 75"/>
            <p:cNvSpPr>
              <a:spLocks noChangeShapeType="1"/>
            </p:cNvSpPr>
            <p:nvPr/>
          </p:nvSpPr>
          <p:spPr bwMode="auto">
            <a:xfrm flipV="1">
              <a:off x="3734" y="80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5484" name="Group 76"/>
          <p:cNvGrpSpPr>
            <a:grpSpLocks/>
          </p:cNvGrpSpPr>
          <p:nvPr/>
        </p:nvGrpSpPr>
        <p:grpSpPr bwMode="auto">
          <a:xfrm>
            <a:off x="6008688" y="1281113"/>
            <a:ext cx="900112" cy="211137"/>
            <a:chOff x="1656" y="789"/>
            <a:chExt cx="567" cy="133"/>
          </a:xfrm>
        </p:grpSpPr>
        <p:sp>
          <p:nvSpPr>
            <p:cNvPr id="145485" name="Line 77"/>
            <p:cNvSpPr>
              <a:spLocks noChangeShapeType="1"/>
            </p:cNvSpPr>
            <p:nvPr/>
          </p:nvSpPr>
          <p:spPr bwMode="auto">
            <a:xfrm>
              <a:off x="1656" y="800"/>
              <a:ext cx="0" cy="1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86" name="Line 78"/>
            <p:cNvSpPr>
              <a:spLocks noChangeShapeType="1"/>
            </p:cNvSpPr>
            <p:nvPr/>
          </p:nvSpPr>
          <p:spPr bwMode="auto">
            <a:xfrm>
              <a:off x="1656" y="922"/>
              <a:ext cx="5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87" name="Line 79"/>
            <p:cNvSpPr>
              <a:spLocks noChangeShapeType="1"/>
            </p:cNvSpPr>
            <p:nvPr/>
          </p:nvSpPr>
          <p:spPr bwMode="auto">
            <a:xfrm flipV="1">
              <a:off x="2223" y="789"/>
              <a:ext cx="0" cy="1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5488" name="Group 80"/>
          <p:cNvGrpSpPr>
            <a:grpSpLocks/>
          </p:cNvGrpSpPr>
          <p:nvPr/>
        </p:nvGrpSpPr>
        <p:grpSpPr bwMode="auto">
          <a:xfrm>
            <a:off x="3616325" y="1270000"/>
            <a:ext cx="3951288" cy="352425"/>
            <a:chOff x="2278" y="800"/>
            <a:chExt cx="2489" cy="222"/>
          </a:xfrm>
        </p:grpSpPr>
        <p:sp>
          <p:nvSpPr>
            <p:cNvPr id="145489" name="Line 81"/>
            <p:cNvSpPr>
              <a:spLocks noChangeShapeType="1"/>
            </p:cNvSpPr>
            <p:nvPr/>
          </p:nvSpPr>
          <p:spPr bwMode="auto">
            <a:xfrm flipH="1">
              <a:off x="2278" y="811"/>
              <a:ext cx="0" cy="1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90" name="Line 82"/>
            <p:cNvSpPr>
              <a:spLocks noChangeShapeType="1"/>
            </p:cNvSpPr>
            <p:nvPr/>
          </p:nvSpPr>
          <p:spPr bwMode="auto">
            <a:xfrm>
              <a:off x="2278" y="1011"/>
              <a:ext cx="2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91" name="Line 83"/>
            <p:cNvSpPr>
              <a:spLocks noChangeShapeType="1"/>
            </p:cNvSpPr>
            <p:nvPr/>
          </p:nvSpPr>
          <p:spPr bwMode="auto">
            <a:xfrm flipV="1">
              <a:off x="4767" y="800"/>
              <a:ext cx="0" cy="2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5492" name="Group 84"/>
          <p:cNvGrpSpPr>
            <a:grpSpLocks/>
          </p:cNvGrpSpPr>
          <p:nvPr/>
        </p:nvGrpSpPr>
        <p:grpSpPr bwMode="auto">
          <a:xfrm>
            <a:off x="1746250" y="1270000"/>
            <a:ext cx="6704013" cy="476250"/>
            <a:chOff x="1100" y="800"/>
            <a:chExt cx="4223" cy="300"/>
          </a:xfrm>
        </p:grpSpPr>
        <p:sp>
          <p:nvSpPr>
            <p:cNvPr id="145493" name="Line 85"/>
            <p:cNvSpPr>
              <a:spLocks noChangeShapeType="1"/>
            </p:cNvSpPr>
            <p:nvPr/>
          </p:nvSpPr>
          <p:spPr bwMode="auto">
            <a:xfrm>
              <a:off x="1100" y="800"/>
              <a:ext cx="0" cy="2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94" name="Line 86"/>
            <p:cNvSpPr>
              <a:spLocks noChangeShapeType="1"/>
            </p:cNvSpPr>
            <p:nvPr/>
          </p:nvSpPr>
          <p:spPr bwMode="auto">
            <a:xfrm>
              <a:off x="1100" y="1089"/>
              <a:ext cx="422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495" name="Line 87"/>
            <p:cNvSpPr>
              <a:spLocks noChangeShapeType="1"/>
            </p:cNvSpPr>
            <p:nvPr/>
          </p:nvSpPr>
          <p:spPr bwMode="auto">
            <a:xfrm flipV="1">
              <a:off x="5323" y="800"/>
              <a:ext cx="0" cy="3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5496" name="Text Box 88"/>
          <p:cNvSpPr txBox="1">
            <a:spLocks noChangeArrowheads="1"/>
          </p:cNvSpPr>
          <p:nvPr/>
        </p:nvSpPr>
        <p:spPr bwMode="auto">
          <a:xfrm>
            <a:off x="3527425" y="48148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6</a:t>
            </a:r>
          </a:p>
        </p:txBody>
      </p:sp>
      <p:sp>
        <p:nvSpPr>
          <p:cNvPr id="145497" name="Text Box 89"/>
          <p:cNvSpPr txBox="1">
            <a:spLocks noChangeArrowheads="1"/>
          </p:cNvSpPr>
          <p:nvPr/>
        </p:nvSpPr>
        <p:spPr bwMode="auto">
          <a:xfrm>
            <a:off x="3524250" y="18510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FF3300"/>
                </a:solidFill>
              </a:rPr>
              <a:t>2</a:t>
            </a:r>
          </a:p>
        </p:txBody>
      </p:sp>
      <p:sp>
        <p:nvSpPr>
          <p:cNvPr id="145498" name="Text Box 90"/>
          <p:cNvSpPr txBox="1">
            <a:spLocks noChangeArrowheads="1"/>
          </p:cNvSpPr>
          <p:nvPr/>
        </p:nvSpPr>
        <p:spPr bwMode="auto">
          <a:xfrm>
            <a:off x="3492500" y="48656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FF3300"/>
                </a:solidFill>
              </a:rPr>
              <a:t>5</a:t>
            </a:r>
          </a:p>
        </p:txBody>
      </p:sp>
      <p:sp>
        <p:nvSpPr>
          <p:cNvPr id="145499" name="Text Box 91"/>
          <p:cNvSpPr txBox="1">
            <a:spLocks noChangeArrowheads="1"/>
          </p:cNvSpPr>
          <p:nvPr/>
        </p:nvSpPr>
        <p:spPr bwMode="auto">
          <a:xfrm>
            <a:off x="3465513" y="410051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8</a:t>
            </a:r>
            <a:endParaRPr lang="en-US" altLang="zh-CN" sz="2000"/>
          </a:p>
        </p:txBody>
      </p:sp>
      <p:grpSp>
        <p:nvGrpSpPr>
          <p:cNvPr id="145500" name="Group 92"/>
          <p:cNvGrpSpPr>
            <a:grpSpLocks/>
          </p:cNvGrpSpPr>
          <p:nvPr/>
        </p:nvGrpSpPr>
        <p:grpSpPr bwMode="auto">
          <a:xfrm>
            <a:off x="393700" y="5400675"/>
            <a:ext cx="8226425" cy="1157288"/>
            <a:chOff x="430" y="73"/>
            <a:chExt cx="5182" cy="729"/>
          </a:xfrm>
        </p:grpSpPr>
        <p:grpSp>
          <p:nvGrpSpPr>
            <p:cNvPr id="145501" name="Group 93"/>
            <p:cNvGrpSpPr>
              <a:grpSpLocks/>
            </p:cNvGrpSpPr>
            <p:nvPr/>
          </p:nvGrpSpPr>
          <p:grpSpPr bwMode="auto">
            <a:xfrm>
              <a:off x="430" y="156"/>
              <a:ext cx="5182" cy="646"/>
              <a:chOff x="333" y="351"/>
              <a:chExt cx="5182" cy="646"/>
            </a:xfrm>
          </p:grpSpPr>
          <p:sp>
            <p:nvSpPr>
              <p:cNvPr id="145502" name="Text Box 94"/>
              <p:cNvSpPr txBox="1">
                <a:spLocks noChangeArrowheads="1"/>
              </p:cNvSpPr>
              <p:nvPr/>
            </p:nvSpPr>
            <p:spPr bwMode="auto">
              <a:xfrm>
                <a:off x="442" y="351"/>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45503" name="Text Box 95"/>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grpSp>
            <p:nvGrpSpPr>
              <p:cNvPr id="145504" name="Group 96"/>
              <p:cNvGrpSpPr>
                <a:grpSpLocks/>
              </p:cNvGrpSpPr>
              <p:nvPr/>
            </p:nvGrpSpPr>
            <p:grpSpPr bwMode="auto">
              <a:xfrm>
                <a:off x="333" y="728"/>
                <a:ext cx="5182" cy="269"/>
                <a:chOff x="333" y="728"/>
                <a:chExt cx="5182" cy="269"/>
              </a:xfrm>
            </p:grpSpPr>
            <p:sp>
              <p:nvSpPr>
                <p:cNvPr id="145505" name="Rectangle 97"/>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grpSp>
              <p:nvGrpSpPr>
                <p:cNvPr id="145506" name="Group 98"/>
                <p:cNvGrpSpPr>
                  <a:grpSpLocks/>
                </p:cNvGrpSpPr>
                <p:nvPr/>
              </p:nvGrpSpPr>
              <p:grpSpPr bwMode="auto">
                <a:xfrm>
                  <a:off x="679" y="734"/>
                  <a:ext cx="542" cy="256"/>
                  <a:chOff x="1133" y="1389"/>
                  <a:chExt cx="542" cy="256"/>
                </a:xfrm>
              </p:grpSpPr>
              <p:sp>
                <p:nvSpPr>
                  <p:cNvPr id="145507" name="Rectangle 9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sp>
                <p:nvSpPr>
                  <p:cNvPr id="145508" name="Line 10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09" name="Group 101"/>
                <p:cNvGrpSpPr>
                  <a:grpSpLocks/>
                </p:cNvGrpSpPr>
                <p:nvPr/>
              </p:nvGrpSpPr>
              <p:grpSpPr bwMode="auto">
                <a:xfrm>
                  <a:off x="1205" y="734"/>
                  <a:ext cx="542" cy="256"/>
                  <a:chOff x="1133" y="1389"/>
                  <a:chExt cx="542" cy="256"/>
                </a:xfrm>
              </p:grpSpPr>
              <p:sp>
                <p:nvSpPr>
                  <p:cNvPr id="145510" name="Rectangle 102"/>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5511" name="Line 103"/>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12" name="Group 104"/>
                <p:cNvGrpSpPr>
                  <a:grpSpLocks/>
                </p:cNvGrpSpPr>
                <p:nvPr/>
              </p:nvGrpSpPr>
              <p:grpSpPr bwMode="auto">
                <a:xfrm>
                  <a:off x="1730" y="734"/>
                  <a:ext cx="542" cy="256"/>
                  <a:chOff x="1133" y="1389"/>
                  <a:chExt cx="542" cy="256"/>
                </a:xfrm>
              </p:grpSpPr>
              <p:sp>
                <p:nvSpPr>
                  <p:cNvPr id="145513" name="Rectangle 105"/>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930</a:t>
                    </a:r>
                  </a:p>
                </p:txBody>
              </p:sp>
              <p:sp>
                <p:nvSpPr>
                  <p:cNvPr id="145514" name="Line 106"/>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15" name="Group 107"/>
                <p:cNvGrpSpPr>
                  <a:grpSpLocks/>
                </p:cNvGrpSpPr>
                <p:nvPr/>
              </p:nvGrpSpPr>
              <p:grpSpPr bwMode="auto">
                <a:xfrm>
                  <a:off x="2256" y="734"/>
                  <a:ext cx="542" cy="256"/>
                  <a:chOff x="1133" y="1389"/>
                  <a:chExt cx="542" cy="256"/>
                </a:xfrm>
              </p:grpSpPr>
              <p:sp>
                <p:nvSpPr>
                  <p:cNvPr id="145516" name="Rectangle 108"/>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5517" name="Line 109"/>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18" name="Group 110"/>
                <p:cNvGrpSpPr>
                  <a:grpSpLocks/>
                </p:cNvGrpSpPr>
                <p:nvPr/>
              </p:nvGrpSpPr>
              <p:grpSpPr bwMode="auto">
                <a:xfrm>
                  <a:off x="2782" y="734"/>
                  <a:ext cx="542" cy="256"/>
                  <a:chOff x="1133" y="1389"/>
                  <a:chExt cx="542" cy="256"/>
                </a:xfrm>
              </p:grpSpPr>
              <p:sp>
                <p:nvSpPr>
                  <p:cNvPr id="145519" name="Rectangle 111"/>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269</a:t>
                    </a:r>
                  </a:p>
                </p:txBody>
              </p:sp>
              <p:sp>
                <p:nvSpPr>
                  <p:cNvPr id="145520" name="Line 112"/>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21" name="Group 113"/>
                <p:cNvGrpSpPr>
                  <a:grpSpLocks/>
                </p:cNvGrpSpPr>
                <p:nvPr/>
              </p:nvGrpSpPr>
              <p:grpSpPr bwMode="auto">
                <a:xfrm>
                  <a:off x="3307" y="734"/>
                  <a:ext cx="542" cy="256"/>
                  <a:chOff x="1133" y="1389"/>
                  <a:chExt cx="542" cy="256"/>
                </a:xfrm>
              </p:grpSpPr>
              <p:sp>
                <p:nvSpPr>
                  <p:cNvPr id="145522" name="Rectangle 11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sp>
                <p:nvSpPr>
                  <p:cNvPr id="145523" name="Line 11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24" name="Group 116"/>
                <p:cNvGrpSpPr>
                  <a:grpSpLocks/>
                </p:cNvGrpSpPr>
                <p:nvPr/>
              </p:nvGrpSpPr>
              <p:grpSpPr bwMode="auto">
                <a:xfrm>
                  <a:off x="3833" y="734"/>
                  <a:ext cx="542" cy="256"/>
                  <a:chOff x="1133" y="1389"/>
                  <a:chExt cx="542" cy="256"/>
                </a:xfrm>
              </p:grpSpPr>
              <p:sp>
                <p:nvSpPr>
                  <p:cNvPr id="145525" name="Rectangle 117"/>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083</a:t>
                    </a:r>
                  </a:p>
                </p:txBody>
              </p:sp>
              <p:sp>
                <p:nvSpPr>
                  <p:cNvPr id="145526" name="Line 118"/>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5527" name="Group 119"/>
                <p:cNvGrpSpPr>
                  <a:grpSpLocks/>
                </p:cNvGrpSpPr>
                <p:nvPr/>
              </p:nvGrpSpPr>
              <p:grpSpPr bwMode="auto">
                <a:xfrm>
                  <a:off x="4359" y="734"/>
                  <a:ext cx="542" cy="256"/>
                  <a:chOff x="1133" y="1389"/>
                  <a:chExt cx="542" cy="256"/>
                </a:xfrm>
              </p:grpSpPr>
              <p:sp>
                <p:nvSpPr>
                  <p:cNvPr id="145528" name="Rectangle 120"/>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5529" name="Line 121"/>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5530" name="Rectangle 122"/>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589</a:t>
                  </a:r>
                </a:p>
              </p:txBody>
            </p:sp>
            <p:sp>
              <p:nvSpPr>
                <p:cNvPr id="145531" name="Line 123"/>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5532" name="Line 124"/>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3" name="Line 125"/>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4" name="Line 126"/>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5" name="Line 127"/>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6" name="Line 128"/>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7" name="Line 129"/>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8" name="Line 130"/>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39" name="Line 131"/>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40" name="Line 132"/>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41" name="Line 133"/>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5542" name="Text Box 134"/>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5543" name="Text Box 135"/>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sp>
            <p:nvSpPr>
              <p:cNvPr id="145544" name="Text Box 136"/>
              <p:cNvSpPr txBox="1">
                <a:spLocks noChangeArrowheads="1"/>
              </p:cNvSpPr>
              <p:nvPr/>
            </p:nvSpPr>
            <p:spPr bwMode="auto">
              <a:xfrm>
                <a:off x="148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5545" name="Text Box 137"/>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sp>
            <p:nvSpPr>
              <p:cNvPr id="145546" name="Text Box 138"/>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5547" name="Text Box 139"/>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sp>
            <p:nvSpPr>
              <p:cNvPr id="145548" name="Text Box 140"/>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sp>
            <p:nvSpPr>
              <p:cNvPr id="145549" name="Text Box 141"/>
              <p:cNvSpPr txBox="1">
                <a:spLocks noChangeArrowheads="1"/>
              </p:cNvSpPr>
              <p:nvPr/>
            </p:nvSpPr>
            <p:spPr bwMode="auto">
              <a:xfrm>
                <a:off x="4109"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sp>
            <p:nvSpPr>
              <p:cNvPr id="145550" name="Text Box 142"/>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5551" name="Text Box 143"/>
              <p:cNvSpPr txBox="1">
                <a:spLocks noChangeArrowheads="1"/>
              </p:cNvSpPr>
              <p:nvPr/>
            </p:nvSpPr>
            <p:spPr bwMode="auto">
              <a:xfrm>
                <a:off x="516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grpSp>
        <p:sp>
          <p:nvSpPr>
            <p:cNvPr id="145552" name="Text Box 144"/>
            <p:cNvSpPr txBox="1">
              <a:spLocks noChangeArrowheads="1"/>
            </p:cNvSpPr>
            <p:nvPr/>
          </p:nvSpPr>
          <p:spPr bwMode="auto">
            <a:xfrm>
              <a:off x="453" y="73"/>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2000"/>
                <a:t>二趟收集：</a:t>
              </a:r>
            </a:p>
          </p:txBody>
        </p:sp>
      </p:grpSp>
    </p:spTree>
    <p:extLst>
      <p:ext uri="{BB962C8B-B14F-4D97-AF65-F5344CB8AC3E}">
        <p14:creationId xmlns:p14="http://schemas.microsoft.com/office/powerpoint/2010/main" val="12234417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45420"/>
                                        </p:tgtEl>
                                        <p:attrNameLst>
                                          <p:attrName>style.visibility</p:attrName>
                                        </p:attrNameLst>
                                      </p:cBhvr>
                                      <p:to>
                                        <p:strVal val="visible"/>
                                      </p:to>
                                    </p:set>
                                    <p:animEffect transition="in" filter="box(out)">
                                      <p:cBhvr>
                                        <p:cTn id="7" dur="500"/>
                                        <p:tgtEl>
                                          <p:spTgt spid="14542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5411"/>
                                        </p:tgtEl>
                                        <p:attrNameLst>
                                          <p:attrName>style.visibility</p:attrName>
                                        </p:attrNameLst>
                                      </p:cBhvr>
                                      <p:to>
                                        <p:strVal val="visible"/>
                                      </p:to>
                                    </p:set>
                                    <p:animEffect transition="in" filter="box(out)">
                                      <p:cBhvr>
                                        <p:cTn id="12" dur="500"/>
                                        <p:tgtEl>
                                          <p:spTgt spid="14541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5415"/>
                                        </p:tgtEl>
                                        <p:attrNameLst>
                                          <p:attrName>style.visibility</p:attrName>
                                        </p:attrNameLst>
                                      </p:cBhvr>
                                      <p:to>
                                        <p:strVal val="visible"/>
                                      </p:to>
                                    </p:set>
                                    <p:animEffect transition="in" filter="box(out)">
                                      <p:cBhvr>
                                        <p:cTn id="17" dur="500"/>
                                        <p:tgtEl>
                                          <p:spTgt spid="14541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45414"/>
                                        </p:tgtEl>
                                        <p:attrNameLst>
                                          <p:attrName>style.visibility</p:attrName>
                                        </p:attrNameLst>
                                      </p:cBhvr>
                                      <p:to>
                                        <p:strVal val="visible"/>
                                      </p:to>
                                    </p:set>
                                    <p:animEffect transition="in" filter="box(out)">
                                      <p:cBhvr>
                                        <p:cTn id="22" dur="500"/>
                                        <p:tgtEl>
                                          <p:spTgt spid="14541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5413"/>
                                        </p:tgtEl>
                                        <p:attrNameLst>
                                          <p:attrName>style.visibility</p:attrName>
                                        </p:attrNameLst>
                                      </p:cBhvr>
                                      <p:to>
                                        <p:strVal val="visible"/>
                                      </p:to>
                                    </p:set>
                                    <p:animEffect transition="in" filter="box(out)">
                                      <p:cBhvr>
                                        <p:cTn id="27" dur="500"/>
                                        <p:tgtEl>
                                          <p:spTgt spid="14541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5473"/>
                                        </p:tgtEl>
                                        <p:attrNameLst>
                                          <p:attrName>style.visibility</p:attrName>
                                        </p:attrNameLst>
                                      </p:cBhvr>
                                      <p:to>
                                        <p:strVal val="visible"/>
                                      </p:to>
                                    </p:set>
                                    <p:animEffect transition="in" filter="box(out)">
                                      <p:cBhvr>
                                        <p:cTn id="32" dur="500"/>
                                        <p:tgtEl>
                                          <p:spTgt spid="145473"/>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45419"/>
                                        </p:tgtEl>
                                        <p:attrNameLst>
                                          <p:attrName>style.visibility</p:attrName>
                                        </p:attrNameLst>
                                      </p:cBhvr>
                                      <p:to>
                                        <p:strVal val="visible"/>
                                      </p:to>
                                    </p:set>
                                    <p:animEffect transition="in" filter="box(out)">
                                      <p:cBhvr>
                                        <p:cTn id="37" dur="500"/>
                                        <p:tgtEl>
                                          <p:spTgt spid="145419"/>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45474"/>
                                        </p:tgtEl>
                                        <p:attrNameLst>
                                          <p:attrName>style.visibility</p:attrName>
                                        </p:attrNameLst>
                                      </p:cBhvr>
                                      <p:to>
                                        <p:strVal val="visible"/>
                                      </p:to>
                                    </p:set>
                                    <p:animEffect transition="in" filter="box(out)">
                                      <p:cBhvr>
                                        <p:cTn id="42" dur="500"/>
                                        <p:tgtEl>
                                          <p:spTgt spid="14547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145475"/>
                                        </p:tgtEl>
                                        <p:attrNameLst>
                                          <p:attrName>style.visibility</p:attrName>
                                        </p:attrNameLst>
                                      </p:cBhvr>
                                      <p:to>
                                        <p:strVal val="visible"/>
                                      </p:to>
                                    </p:set>
                                    <p:animEffect transition="in" filter="box(out)">
                                      <p:cBhvr>
                                        <p:cTn id="47" dur="500"/>
                                        <p:tgtEl>
                                          <p:spTgt spid="145475"/>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45496"/>
                                        </p:tgtEl>
                                        <p:attrNameLst>
                                          <p:attrName>style.visibility</p:attrName>
                                        </p:attrNameLst>
                                      </p:cBhvr>
                                      <p:to>
                                        <p:strVal val="visible"/>
                                      </p:to>
                                    </p:set>
                                    <p:animEffect transition="in" filter="box(out)">
                                      <p:cBhvr>
                                        <p:cTn id="52" dur="500"/>
                                        <p:tgtEl>
                                          <p:spTgt spid="14549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145416"/>
                                        </p:tgtEl>
                                        <p:attrNameLst>
                                          <p:attrName>style.visibility</p:attrName>
                                        </p:attrNameLst>
                                      </p:cBhvr>
                                      <p:to>
                                        <p:strVal val="visible"/>
                                      </p:to>
                                    </p:set>
                                    <p:animEffect transition="in" filter="box(out)">
                                      <p:cBhvr>
                                        <p:cTn id="57" dur="500"/>
                                        <p:tgtEl>
                                          <p:spTgt spid="145416"/>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45417"/>
                                        </p:tgtEl>
                                        <p:attrNameLst>
                                          <p:attrName>style.visibility</p:attrName>
                                        </p:attrNameLst>
                                      </p:cBhvr>
                                      <p:to>
                                        <p:strVal val="visible"/>
                                      </p:to>
                                    </p:set>
                                    <p:animEffect transition="in" filter="box(out)">
                                      <p:cBhvr>
                                        <p:cTn id="62" dur="500"/>
                                        <p:tgtEl>
                                          <p:spTgt spid="145417"/>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45412"/>
                                        </p:tgtEl>
                                        <p:attrNameLst>
                                          <p:attrName>style.visibility</p:attrName>
                                        </p:attrNameLst>
                                      </p:cBhvr>
                                      <p:to>
                                        <p:strVal val="visible"/>
                                      </p:to>
                                    </p:set>
                                    <p:animEffect transition="in" filter="box(out)">
                                      <p:cBhvr>
                                        <p:cTn id="67" dur="500"/>
                                        <p:tgtEl>
                                          <p:spTgt spid="145412"/>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45479"/>
                                        </p:tgtEl>
                                        <p:attrNameLst>
                                          <p:attrName>style.visibility</p:attrName>
                                        </p:attrNameLst>
                                      </p:cBhvr>
                                      <p:to>
                                        <p:strVal val="visible"/>
                                      </p:to>
                                    </p:set>
                                    <p:animEffect transition="in" filter="box(out)">
                                      <p:cBhvr>
                                        <p:cTn id="72" dur="500"/>
                                        <p:tgtEl>
                                          <p:spTgt spid="145479"/>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nodeType="clickEffect">
                                  <p:stCondLst>
                                    <p:cond delay="0"/>
                                  </p:stCondLst>
                                  <p:childTnLst>
                                    <p:set>
                                      <p:cBhvr>
                                        <p:cTn id="76" dur="1" fill="hold">
                                          <p:stCondLst>
                                            <p:cond delay="0"/>
                                          </p:stCondLst>
                                        </p:cTn>
                                        <p:tgtEl>
                                          <p:spTgt spid="145480"/>
                                        </p:tgtEl>
                                        <p:attrNameLst>
                                          <p:attrName>style.visibility</p:attrName>
                                        </p:attrNameLst>
                                      </p:cBhvr>
                                      <p:to>
                                        <p:strVal val="visible"/>
                                      </p:to>
                                    </p:set>
                                    <p:animEffect transition="in" filter="box(out)">
                                      <p:cBhvr>
                                        <p:cTn id="77" dur="500"/>
                                        <p:tgtEl>
                                          <p:spTgt spid="145480"/>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45418"/>
                                        </p:tgtEl>
                                        <p:attrNameLst>
                                          <p:attrName>style.visibility</p:attrName>
                                        </p:attrNameLst>
                                      </p:cBhvr>
                                      <p:to>
                                        <p:strVal val="visible"/>
                                      </p:to>
                                    </p:set>
                                    <p:animEffect transition="in" filter="box(out)">
                                      <p:cBhvr>
                                        <p:cTn id="82" dur="500"/>
                                        <p:tgtEl>
                                          <p:spTgt spid="145418"/>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nodeType="clickEffect">
                                  <p:stCondLst>
                                    <p:cond delay="0"/>
                                  </p:stCondLst>
                                  <p:childTnLst>
                                    <p:set>
                                      <p:cBhvr>
                                        <p:cTn id="86" dur="1" fill="hold">
                                          <p:stCondLst>
                                            <p:cond delay="0"/>
                                          </p:stCondLst>
                                        </p:cTn>
                                        <p:tgtEl>
                                          <p:spTgt spid="145484"/>
                                        </p:tgtEl>
                                        <p:attrNameLst>
                                          <p:attrName>style.visibility</p:attrName>
                                        </p:attrNameLst>
                                      </p:cBhvr>
                                      <p:to>
                                        <p:strVal val="visible"/>
                                      </p:to>
                                    </p:set>
                                    <p:animEffect transition="in" filter="box(out)">
                                      <p:cBhvr>
                                        <p:cTn id="87" dur="500"/>
                                        <p:tgtEl>
                                          <p:spTgt spid="145484"/>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45497"/>
                                        </p:tgtEl>
                                        <p:attrNameLst>
                                          <p:attrName>style.visibility</p:attrName>
                                        </p:attrNameLst>
                                      </p:cBhvr>
                                      <p:to>
                                        <p:strVal val="visible"/>
                                      </p:to>
                                    </p:set>
                                    <p:animEffect transition="in" filter="box(out)">
                                      <p:cBhvr>
                                        <p:cTn id="92" dur="500"/>
                                        <p:tgtEl>
                                          <p:spTgt spid="145497"/>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32" fill="hold" nodeType="clickEffect">
                                  <p:stCondLst>
                                    <p:cond delay="0"/>
                                  </p:stCondLst>
                                  <p:childTnLst>
                                    <p:set>
                                      <p:cBhvr>
                                        <p:cTn id="96" dur="1" fill="hold">
                                          <p:stCondLst>
                                            <p:cond delay="0"/>
                                          </p:stCondLst>
                                        </p:cTn>
                                        <p:tgtEl>
                                          <p:spTgt spid="145488"/>
                                        </p:tgtEl>
                                        <p:attrNameLst>
                                          <p:attrName>style.visibility</p:attrName>
                                        </p:attrNameLst>
                                      </p:cBhvr>
                                      <p:to>
                                        <p:strVal val="visible"/>
                                      </p:to>
                                    </p:set>
                                    <p:animEffect transition="in" filter="box(out)">
                                      <p:cBhvr>
                                        <p:cTn id="97" dur="500"/>
                                        <p:tgtEl>
                                          <p:spTgt spid="145488"/>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45498"/>
                                        </p:tgtEl>
                                        <p:attrNameLst>
                                          <p:attrName>style.visibility</p:attrName>
                                        </p:attrNameLst>
                                      </p:cBhvr>
                                      <p:to>
                                        <p:strVal val="visible"/>
                                      </p:to>
                                    </p:set>
                                    <p:animEffect transition="in" filter="box(out)">
                                      <p:cBhvr>
                                        <p:cTn id="102" dur="500"/>
                                        <p:tgtEl>
                                          <p:spTgt spid="145498"/>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32" fill="hold" nodeType="clickEffect">
                                  <p:stCondLst>
                                    <p:cond delay="0"/>
                                  </p:stCondLst>
                                  <p:childTnLst>
                                    <p:set>
                                      <p:cBhvr>
                                        <p:cTn id="106" dur="1" fill="hold">
                                          <p:stCondLst>
                                            <p:cond delay="0"/>
                                          </p:stCondLst>
                                        </p:cTn>
                                        <p:tgtEl>
                                          <p:spTgt spid="145492"/>
                                        </p:tgtEl>
                                        <p:attrNameLst>
                                          <p:attrName>style.visibility</p:attrName>
                                        </p:attrNameLst>
                                      </p:cBhvr>
                                      <p:to>
                                        <p:strVal val="visible"/>
                                      </p:to>
                                    </p:set>
                                    <p:animEffect transition="in" filter="box(out)">
                                      <p:cBhvr>
                                        <p:cTn id="107" dur="500"/>
                                        <p:tgtEl>
                                          <p:spTgt spid="145492"/>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par>
                    <p:cTn id="108" fill="hold" nodeType="clickPar">
                      <p:stCondLst>
                        <p:cond delay="indefinite"/>
                      </p:stCondLst>
                      <p:childTnLst>
                        <p:par>
                          <p:cTn id="109" fill="hold" nodeType="withGroup">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45499"/>
                                        </p:tgtEl>
                                        <p:attrNameLst>
                                          <p:attrName>style.visibility</p:attrName>
                                        </p:attrNameLst>
                                      </p:cBhvr>
                                      <p:to>
                                        <p:strVal val="visible"/>
                                      </p:to>
                                    </p:set>
                                    <p:animEffect transition="in" filter="box(out)">
                                      <p:cBhvr>
                                        <p:cTn id="112" dur="500"/>
                                        <p:tgtEl>
                                          <p:spTgt spid="145499"/>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nodeType="clickPar">
                      <p:stCondLst>
                        <p:cond delay="indefinite"/>
                      </p:stCondLst>
                      <p:childTnLst>
                        <p:par>
                          <p:cTn id="114" fill="hold" nodeType="withGroup">
                            <p:stCondLst>
                              <p:cond delay="0"/>
                            </p:stCondLst>
                            <p:childTnLst>
                              <p:par>
                                <p:cTn id="115" presetID="4" presetClass="entr" presetSubtype="32" fill="hold" nodeType="clickEffect">
                                  <p:stCondLst>
                                    <p:cond delay="0"/>
                                  </p:stCondLst>
                                  <p:childTnLst>
                                    <p:set>
                                      <p:cBhvr>
                                        <p:cTn id="116" dur="1" fill="hold">
                                          <p:stCondLst>
                                            <p:cond delay="0"/>
                                          </p:stCondLst>
                                        </p:cTn>
                                        <p:tgtEl>
                                          <p:spTgt spid="145500"/>
                                        </p:tgtEl>
                                        <p:attrNameLst>
                                          <p:attrName>style.visibility</p:attrName>
                                        </p:attrNameLst>
                                      </p:cBhvr>
                                      <p:to>
                                        <p:strVal val="visible"/>
                                      </p:to>
                                    </p:set>
                                    <p:animEffect transition="in" filter="box(out)">
                                      <p:cBhvr>
                                        <p:cTn id="117" dur="500"/>
                                        <p:tgtEl>
                                          <p:spTgt spid="145500"/>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autoUpdateAnimBg="0"/>
      <p:bldP spid="145412" grpId="0" animBg="1" autoUpdateAnimBg="0"/>
      <p:bldP spid="145413" grpId="0" animBg="1" autoUpdateAnimBg="0"/>
      <p:bldP spid="145414" grpId="0" animBg="1" autoUpdateAnimBg="0"/>
      <p:bldP spid="145415" grpId="0" animBg="1" autoUpdateAnimBg="0"/>
      <p:bldP spid="145416" grpId="0" animBg="1" autoUpdateAnimBg="0"/>
      <p:bldP spid="145417" grpId="0" animBg="1" autoUpdateAnimBg="0"/>
      <p:bldP spid="145418" grpId="0" animBg="1" autoUpdateAnimBg="0"/>
      <p:bldP spid="145419" grpId="0" animBg="1" autoUpdateAnimBg="0"/>
      <p:bldP spid="145473" grpId="0" animBg="1" autoUpdateAnimBg="0"/>
      <p:bldP spid="145474" grpId="0" animBg="1" autoUpdateAnimBg="0"/>
      <p:bldP spid="145479" grpId="0" animBg="1" autoUpdateAnimBg="0"/>
      <p:bldP spid="145496" grpId="0" animBg="1" autoUpdateAnimBg="0"/>
      <p:bldP spid="145497" grpId="0" animBg="1" autoUpdateAnimBg="0"/>
      <p:bldP spid="145498" grpId="0" animBg="1" autoUpdateAnimBg="0"/>
      <p:bldP spid="145499" grpId="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4" name="Group 2"/>
          <p:cNvGrpSpPr>
            <a:grpSpLocks/>
          </p:cNvGrpSpPr>
          <p:nvPr/>
        </p:nvGrpSpPr>
        <p:grpSpPr bwMode="auto">
          <a:xfrm>
            <a:off x="693738" y="233363"/>
            <a:ext cx="8226425" cy="1157287"/>
            <a:chOff x="430" y="73"/>
            <a:chExt cx="5182" cy="729"/>
          </a:xfrm>
        </p:grpSpPr>
        <p:grpSp>
          <p:nvGrpSpPr>
            <p:cNvPr id="146435" name="Group 3"/>
            <p:cNvGrpSpPr>
              <a:grpSpLocks/>
            </p:cNvGrpSpPr>
            <p:nvPr/>
          </p:nvGrpSpPr>
          <p:grpSpPr bwMode="auto">
            <a:xfrm>
              <a:off x="430" y="156"/>
              <a:ext cx="5182" cy="646"/>
              <a:chOff x="333" y="351"/>
              <a:chExt cx="5182" cy="646"/>
            </a:xfrm>
          </p:grpSpPr>
          <p:sp>
            <p:nvSpPr>
              <p:cNvPr id="146436" name="Text Box 4"/>
              <p:cNvSpPr txBox="1">
                <a:spLocks noChangeArrowheads="1"/>
              </p:cNvSpPr>
              <p:nvPr/>
            </p:nvSpPr>
            <p:spPr bwMode="auto">
              <a:xfrm>
                <a:off x="442" y="351"/>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46437" name="Text Box 5"/>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grpSp>
            <p:nvGrpSpPr>
              <p:cNvPr id="146438" name="Group 6"/>
              <p:cNvGrpSpPr>
                <a:grpSpLocks/>
              </p:cNvGrpSpPr>
              <p:nvPr/>
            </p:nvGrpSpPr>
            <p:grpSpPr bwMode="auto">
              <a:xfrm>
                <a:off x="333" y="728"/>
                <a:ext cx="5182" cy="269"/>
                <a:chOff x="333" y="728"/>
                <a:chExt cx="5182" cy="269"/>
              </a:xfrm>
            </p:grpSpPr>
            <p:sp>
              <p:nvSpPr>
                <p:cNvPr id="146439" name="Rectangle 7"/>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grpSp>
              <p:nvGrpSpPr>
                <p:cNvPr id="146440" name="Group 8"/>
                <p:cNvGrpSpPr>
                  <a:grpSpLocks/>
                </p:cNvGrpSpPr>
                <p:nvPr/>
              </p:nvGrpSpPr>
              <p:grpSpPr bwMode="auto">
                <a:xfrm>
                  <a:off x="679" y="734"/>
                  <a:ext cx="542" cy="256"/>
                  <a:chOff x="1133" y="1389"/>
                  <a:chExt cx="542" cy="256"/>
                </a:xfrm>
              </p:grpSpPr>
              <p:sp>
                <p:nvSpPr>
                  <p:cNvPr id="146441" name="Rectangle 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sp>
                <p:nvSpPr>
                  <p:cNvPr id="146442" name="Line 1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43" name="Group 11"/>
                <p:cNvGrpSpPr>
                  <a:grpSpLocks/>
                </p:cNvGrpSpPr>
                <p:nvPr/>
              </p:nvGrpSpPr>
              <p:grpSpPr bwMode="auto">
                <a:xfrm>
                  <a:off x="1205" y="734"/>
                  <a:ext cx="542" cy="256"/>
                  <a:chOff x="1133" y="1389"/>
                  <a:chExt cx="542" cy="256"/>
                </a:xfrm>
              </p:grpSpPr>
              <p:sp>
                <p:nvSpPr>
                  <p:cNvPr id="146444" name="Rectangle 12"/>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6445" name="Line 13"/>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46" name="Group 14"/>
                <p:cNvGrpSpPr>
                  <a:grpSpLocks/>
                </p:cNvGrpSpPr>
                <p:nvPr/>
              </p:nvGrpSpPr>
              <p:grpSpPr bwMode="auto">
                <a:xfrm>
                  <a:off x="1730" y="734"/>
                  <a:ext cx="542" cy="256"/>
                  <a:chOff x="1133" y="1389"/>
                  <a:chExt cx="542" cy="256"/>
                </a:xfrm>
              </p:grpSpPr>
              <p:sp>
                <p:nvSpPr>
                  <p:cNvPr id="146447" name="Rectangle 15"/>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930</a:t>
                    </a:r>
                  </a:p>
                </p:txBody>
              </p:sp>
              <p:sp>
                <p:nvSpPr>
                  <p:cNvPr id="146448" name="Line 16"/>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49" name="Group 17"/>
                <p:cNvGrpSpPr>
                  <a:grpSpLocks/>
                </p:cNvGrpSpPr>
                <p:nvPr/>
              </p:nvGrpSpPr>
              <p:grpSpPr bwMode="auto">
                <a:xfrm>
                  <a:off x="2256" y="734"/>
                  <a:ext cx="542" cy="256"/>
                  <a:chOff x="1133" y="1389"/>
                  <a:chExt cx="542" cy="256"/>
                </a:xfrm>
              </p:grpSpPr>
              <p:sp>
                <p:nvSpPr>
                  <p:cNvPr id="146450" name="Rectangle 18"/>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6451" name="Line 19"/>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52" name="Group 20"/>
                <p:cNvGrpSpPr>
                  <a:grpSpLocks/>
                </p:cNvGrpSpPr>
                <p:nvPr/>
              </p:nvGrpSpPr>
              <p:grpSpPr bwMode="auto">
                <a:xfrm>
                  <a:off x="2782" y="734"/>
                  <a:ext cx="542" cy="256"/>
                  <a:chOff x="1133" y="1389"/>
                  <a:chExt cx="542" cy="256"/>
                </a:xfrm>
              </p:grpSpPr>
              <p:sp>
                <p:nvSpPr>
                  <p:cNvPr id="146453" name="Rectangle 21"/>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269</a:t>
                    </a:r>
                  </a:p>
                </p:txBody>
              </p:sp>
              <p:sp>
                <p:nvSpPr>
                  <p:cNvPr id="146454" name="Line 22"/>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55" name="Group 23"/>
                <p:cNvGrpSpPr>
                  <a:grpSpLocks/>
                </p:cNvGrpSpPr>
                <p:nvPr/>
              </p:nvGrpSpPr>
              <p:grpSpPr bwMode="auto">
                <a:xfrm>
                  <a:off x="3307" y="734"/>
                  <a:ext cx="542" cy="256"/>
                  <a:chOff x="1133" y="1389"/>
                  <a:chExt cx="542" cy="256"/>
                </a:xfrm>
              </p:grpSpPr>
              <p:sp>
                <p:nvSpPr>
                  <p:cNvPr id="146456" name="Rectangle 2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sp>
                <p:nvSpPr>
                  <p:cNvPr id="146457" name="Line 2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58" name="Group 26"/>
                <p:cNvGrpSpPr>
                  <a:grpSpLocks/>
                </p:cNvGrpSpPr>
                <p:nvPr/>
              </p:nvGrpSpPr>
              <p:grpSpPr bwMode="auto">
                <a:xfrm>
                  <a:off x="3833" y="734"/>
                  <a:ext cx="542" cy="256"/>
                  <a:chOff x="1133" y="1389"/>
                  <a:chExt cx="542" cy="256"/>
                </a:xfrm>
              </p:grpSpPr>
              <p:sp>
                <p:nvSpPr>
                  <p:cNvPr id="146459" name="Rectangle 27"/>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083</a:t>
                    </a:r>
                  </a:p>
                </p:txBody>
              </p:sp>
              <p:sp>
                <p:nvSpPr>
                  <p:cNvPr id="146460" name="Line 28"/>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461" name="Group 29"/>
                <p:cNvGrpSpPr>
                  <a:grpSpLocks/>
                </p:cNvGrpSpPr>
                <p:nvPr/>
              </p:nvGrpSpPr>
              <p:grpSpPr bwMode="auto">
                <a:xfrm>
                  <a:off x="4359" y="734"/>
                  <a:ext cx="542" cy="256"/>
                  <a:chOff x="1133" y="1389"/>
                  <a:chExt cx="542" cy="256"/>
                </a:xfrm>
              </p:grpSpPr>
              <p:sp>
                <p:nvSpPr>
                  <p:cNvPr id="146462" name="Rectangle 30"/>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6463" name="Line 31"/>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6464" name="Rectangle 32"/>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589</a:t>
                  </a:r>
                </a:p>
              </p:txBody>
            </p:sp>
            <p:sp>
              <p:nvSpPr>
                <p:cNvPr id="146465" name="Line 33"/>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6466" name="Line 34"/>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67" name="Line 35"/>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68" name="Line 36"/>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69" name="Line 37"/>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0" name="Line 38"/>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1" name="Line 39"/>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2" name="Line 40"/>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3" name="Line 41"/>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4" name="Line 42"/>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5" name="Line 43"/>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476" name="Text Box 44"/>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6477" name="Text Box 45"/>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sp>
            <p:nvSpPr>
              <p:cNvPr id="146478" name="Text Box 46"/>
              <p:cNvSpPr txBox="1">
                <a:spLocks noChangeArrowheads="1"/>
              </p:cNvSpPr>
              <p:nvPr/>
            </p:nvSpPr>
            <p:spPr bwMode="auto">
              <a:xfrm>
                <a:off x="148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6479" name="Text Box 47"/>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sp>
            <p:nvSpPr>
              <p:cNvPr id="146480" name="Text Box 48"/>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6481" name="Text Box 49"/>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sp>
            <p:nvSpPr>
              <p:cNvPr id="146482" name="Text Box 50"/>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sp>
            <p:nvSpPr>
              <p:cNvPr id="146483" name="Text Box 51"/>
              <p:cNvSpPr txBox="1">
                <a:spLocks noChangeArrowheads="1"/>
              </p:cNvSpPr>
              <p:nvPr/>
            </p:nvSpPr>
            <p:spPr bwMode="auto">
              <a:xfrm>
                <a:off x="4109"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sp>
            <p:nvSpPr>
              <p:cNvPr id="146484" name="Text Box 52"/>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6485" name="Text Box 53"/>
              <p:cNvSpPr txBox="1">
                <a:spLocks noChangeArrowheads="1"/>
              </p:cNvSpPr>
              <p:nvPr/>
            </p:nvSpPr>
            <p:spPr bwMode="auto">
              <a:xfrm>
                <a:off x="516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grpSp>
        <p:sp>
          <p:nvSpPr>
            <p:cNvPr id="146486" name="Text Box 54"/>
            <p:cNvSpPr txBox="1">
              <a:spLocks noChangeArrowheads="1"/>
            </p:cNvSpPr>
            <p:nvPr/>
          </p:nvSpPr>
          <p:spPr bwMode="auto">
            <a:xfrm>
              <a:off x="453" y="73"/>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2000"/>
                <a:t>二趟收集：</a:t>
              </a:r>
            </a:p>
          </p:txBody>
        </p:sp>
      </p:grpSp>
      <p:graphicFrame>
        <p:nvGraphicFramePr>
          <p:cNvPr id="146487" name="Object 55">
            <a:hlinkClick r:id="" action="ppaction://ole?verb=0"/>
          </p:cNvPr>
          <p:cNvGraphicFramePr>
            <a:graphicFrameLocks noChangeAspect="1"/>
          </p:cNvGraphicFramePr>
          <p:nvPr/>
        </p:nvGraphicFramePr>
        <p:xfrm>
          <a:off x="7667625" y="2309813"/>
          <a:ext cx="914400" cy="601662"/>
        </p:xfrm>
        <a:graphic>
          <a:graphicData uri="http://schemas.openxmlformats.org/presentationml/2006/ole">
            <mc:AlternateContent xmlns:mc="http://schemas.openxmlformats.org/markup-compatibility/2006">
              <mc:Choice xmlns:v="urn:schemas-microsoft-com:vml" Requires="v">
                <p:oleObj spid="_x0000_s1752067" name="软件包" r:id="rId4" imgW="723960" imgH="476280" progId="Package">
                  <p:embed/>
                </p:oleObj>
              </mc:Choice>
              <mc:Fallback>
                <p:oleObj name="软件包" r:id="rId4" imgW="723960" imgH="476280" progId="Pack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7625" y="2309813"/>
                        <a:ext cx="9144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46488" name="Text Box 56"/>
          <p:cNvSpPr txBox="1">
            <a:spLocks noChangeArrowheads="1"/>
          </p:cNvSpPr>
          <p:nvPr/>
        </p:nvSpPr>
        <p:spPr bwMode="auto">
          <a:xfrm>
            <a:off x="2378075" y="2012950"/>
            <a:ext cx="2389188" cy="374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a:t>f[0]=0        e[0]=0</a:t>
            </a:r>
          </a:p>
          <a:p>
            <a:pPr algn="l"/>
            <a:r>
              <a:rPr lang="en-US" altLang="zh-CN"/>
              <a:t>f[1]=0        e[1]=0</a:t>
            </a:r>
          </a:p>
          <a:p>
            <a:pPr algn="l"/>
            <a:r>
              <a:rPr lang="en-US" altLang="zh-CN"/>
              <a:t>f[2]=0        e[2]=0</a:t>
            </a:r>
          </a:p>
          <a:p>
            <a:pPr algn="l"/>
            <a:r>
              <a:rPr lang="en-US" altLang="zh-CN"/>
              <a:t>f[3]=0        e[3]=0</a:t>
            </a:r>
          </a:p>
          <a:p>
            <a:pPr algn="l"/>
            <a:r>
              <a:rPr lang="en-US" altLang="zh-CN"/>
              <a:t>f[4]=0        e[4]=0</a:t>
            </a:r>
          </a:p>
          <a:p>
            <a:pPr algn="l"/>
            <a:r>
              <a:rPr lang="en-US" altLang="zh-CN"/>
              <a:t>f[5]=0        e[5]=0</a:t>
            </a:r>
          </a:p>
          <a:p>
            <a:pPr algn="l"/>
            <a:r>
              <a:rPr lang="en-US" altLang="zh-CN"/>
              <a:t>f[6]=0        e[6]=0</a:t>
            </a:r>
          </a:p>
          <a:p>
            <a:pPr algn="l"/>
            <a:r>
              <a:rPr lang="en-US" altLang="zh-CN"/>
              <a:t>f[7]=0        e[7]=0</a:t>
            </a:r>
          </a:p>
          <a:p>
            <a:pPr algn="l"/>
            <a:r>
              <a:rPr lang="en-US" altLang="zh-CN"/>
              <a:t>f[8]=0        e[8]=0</a:t>
            </a:r>
          </a:p>
          <a:p>
            <a:pPr algn="l"/>
            <a:r>
              <a:rPr lang="en-US" altLang="zh-CN"/>
              <a:t>f[9]=0        e[9]=0</a:t>
            </a:r>
            <a:endParaRPr lang="en-US" altLang="zh-CN" sz="2000"/>
          </a:p>
        </p:txBody>
      </p:sp>
      <p:sp>
        <p:nvSpPr>
          <p:cNvPr id="146489" name="Text Box 57"/>
          <p:cNvSpPr txBox="1">
            <a:spLocks noChangeArrowheads="1"/>
          </p:cNvSpPr>
          <p:nvPr/>
        </p:nvSpPr>
        <p:spPr bwMode="auto">
          <a:xfrm>
            <a:off x="3063875" y="53482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sp>
        <p:nvSpPr>
          <p:cNvPr id="146490" name="Text Box 58"/>
          <p:cNvSpPr txBox="1">
            <a:spLocks noChangeArrowheads="1"/>
          </p:cNvSpPr>
          <p:nvPr/>
        </p:nvSpPr>
        <p:spPr bwMode="auto">
          <a:xfrm>
            <a:off x="4471988" y="53736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4</a:t>
            </a:r>
          </a:p>
        </p:txBody>
      </p:sp>
      <p:sp>
        <p:nvSpPr>
          <p:cNvPr id="146491" name="Text Box 59"/>
          <p:cNvSpPr txBox="1">
            <a:spLocks noChangeArrowheads="1"/>
          </p:cNvSpPr>
          <p:nvPr/>
        </p:nvSpPr>
        <p:spPr bwMode="auto">
          <a:xfrm>
            <a:off x="3062288" y="39163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sp>
        <p:nvSpPr>
          <p:cNvPr id="146492" name="Text Box 60"/>
          <p:cNvSpPr txBox="1">
            <a:spLocks noChangeArrowheads="1"/>
          </p:cNvSpPr>
          <p:nvPr/>
        </p:nvSpPr>
        <p:spPr bwMode="auto">
          <a:xfrm>
            <a:off x="3028950" y="20367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9</a:t>
            </a:r>
          </a:p>
        </p:txBody>
      </p:sp>
      <p:sp>
        <p:nvSpPr>
          <p:cNvPr id="146493" name="Text Box 61"/>
          <p:cNvSpPr txBox="1">
            <a:spLocks noChangeArrowheads="1"/>
          </p:cNvSpPr>
          <p:nvPr/>
        </p:nvSpPr>
        <p:spPr bwMode="auto">
          <a:xfrm>
            <a:off x="3046413" y="24511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2</a:t>
            </a:r>
            <a:endParaRPr lang="en-US" altLang="zh-CN" sz="2000">
              <a:solidFill>
                <a:srgbClr val="FF3300"/>
              </a:solidFill>
            </a:endParaRPr>
          </a:p>
        </p:txBody>
      </p:sp>
      <p:sp>
        <p:nvSpPr>
          <p:cNvPr id="146494" name="Text Box 62"/>
          <p:cNvSpPr txBox="1">
            <a:spLocks noChangeArrowheads="1"/>
          </p:cNvSpPr>
          <p:nvPr/>
        </p:nvSpPr>
        <p:spPr bwMode="auto">
          <a:xfrm>
            <a:off x="3040063" y="27955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8</a:t>
            </a:r>
            <a:endParaRPr lang="en-US" altLang="zh-CN" sz="2000"/>
          </a:p>
        </p:txBody>
      </p:sp>
      <p:sp>
        <p:nvSpPr>
          <p:cNvPr id="146495" name="Text Box 63"/>
          <p:cNvSpPr txBox="1">
            <a:spLocks noChangeArrowheads="1"/>
          </p:cNvSpPr>
          <p:nvPr/>
        </p:nvSpPr>
        <p:spPr bwMode="auto">
          <a:xfrm>
            <a:off x="4486275" y="38750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7</a:t>
            </a:r>
            <a:endParaRPr lang="en-US" altLang="zh-CN" sz="2000"/>
          </a:p>
        </p:txBody>
      </p:sp>
      <p:sp>
        <p:nvSpPr>
          <p:cNvPr id="146496" name="Text Box 64"/>
          <p:cNvSpPr txBox="1">
            <a:spLocks noChangeArrowheads="1"/>
          </p:cNvSpPr>
          <p:nvPr/>
        </p:nvSpPr>
        <p:spPr bwMode="auto">
          <a:xfrm>
            <a:off x="4468813" y="204787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9</a:t>
            </a:r>
          </a:p>
        </p:txBody>
      </p:sp>
      <p:sp>
        <p:nvSpPr>
          <p:cNvPr id="146497" name="Text Box 65"/>
          <p:cNvSpPr txBox="1">
            <a:spLocks noChangeArrowheads="1"/>
          </p:cNvSpPr>
          <p:nvPr/>
        </p:nvSpPr>
        <p:spPr bwMode="auto">
          <a:xfrm>
            <a:off x="4503738" y="246221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2</a:t>
            </a:r>
            <a:endParaRPr lang="en-US" altLang="zh-CN" sz="2000">
              <a:solidFill>
                <a:srgbClr val="FF3300"/>
              </a:solidFill>
            </a:endParaRPr>
          </a:p>
        </p:txBody>
      </p:sp>
      <p:grpSp>
        <p:nvGrpSpPr>
          <p:cNvPr id="146498" name="Group 66"/>
          <p:cNvGrpSpPr>
            <a:grpSpLocks/>
          </p:cNvGrpSpPr>
          <p:nvPr/>
        </p:nvGrpSpPr>
        <p:grpSpPr bwMode="auto">
          <a:xfrm>
            <a:off x="1798638" y="1376363"/>
            <a:ext cx="2382837" cy="176212"/>
            <a:chOff x="1133" y="867"/>
            <a:chExt cx="1501" cy="111"/>
          </a:xfrm>
        </p:grpSpPr>
        <p:sp>
          <p:nvSpPr>
            <p:cNvPr id="146499" name="Line 67"/>
            <p:cNvSpPr>
              <a:spLocks noChangeShapeType="1"/>
            </p:cNvSpPr>
            <p:nvPr/>
          </p:nvSpPr>
          <p:spPr bwMode="auto">
            <a:xfrm>
              <a:off x="1133" y="867"/>
              <a:ext cx="0" cy="1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00" name="Line 68"/>
            <p:cNvSpPr>
              <a:spLocks noChangeShapeType="1"/>
            </p:cNvSpPr>
            <p:nvPr/>
          </p:nvSpPr>
          <p:spPr bwMode="auto">
            <a:xfrm>
              <a:off x="1133" y="978"/>
              <a:ext cx="1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01" name="Line 69"/>
            <p:cNvSpPr>
              <a:spLocks noChangeShapeType="1"/>
            </p:cNvSpPr>
            <p:nvPr/>
          </p:nvSpPr>
          <p:spPr bwMode="auto">
            <a:xfrm flipV="1">
              <a:off x="2634" y="867"/>
              <a:ext cx="0" cy="11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sp>
        <p:nvSpPr>
          <p:cNvPr id="146502" name="Text Box 70"/>
          <p:cNvSpPr txBox="1">
            <a:spLocks noChangeArrowheads="1"/>
          </p:cNvSpPr>
          <p:nvPr/>
        </p:nvSpPr>
        <p:spPr bwMode="auto">
          <a:xfrm>
            <a:off x="4498975" y="284321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0000FF"/>
                </a:solidFill>
              </a:rPr>
              <a:t>8</a:t>
            </a:r>
            <a:endParaRPr lang="en-US" altLang="zh-CN" sz="2000"/>
          </a:p>
        </p:txBody>
      </p:sp>
      <p:grpSp>
        <p:nvGrpSpPr>
          <p:cNvPr id="146503" name="Group 71"/>
          <p:cNvGrpSpPr>
            <a:grpSpLocks/>
          </p:cNvGrpSpPr>
          <p:nvPr/>
        </p:nvGrpSpPr>
        <p:grpSpPr bwMode="auto">
          <a:xfrm>
            <a:off x="5099050" y="1358900"/>
            <a:ext cx="900113" cy="211138"/>
            <a:chOff x="1656" y="789"/>
            <a:chExt cx="567" cy="133"/>
          </a:xfrm>
        </p:grpSpPr>
        <p:sp>
          <p:nvSpPr>
            <p:cNvPr id="146504" name="Line 72"/>
            <p:cNvSpPr>
              <a:spLocks noChangeShapeType="1"/>
            </p:cNvSpPr>
            <p:nvPr/>
          </p:nvSpPr>
          <p:spPr bwMode="auto">
            <a:xfrm>
              <a:off x="1656" y="800"/>
              <a:ext cx="0" cy="1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05" name="Line 73"/>
            <p:cNvSpPr>
              <a:spLocks noChangeShapeType="1"/>
            </p:cNvSpPr>
            <p:nvPr/>
          </p:nvSpPr>
          <p:spPr bwMode="auto">
            <a:xfrm>
              <a:off x="1656" y="922"/>
              <a:ext cx="5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06" name="Line 74"/>
            <p:cNvSpPr>
              <a:spLocks noChangeShapeType="1"/>
            </p:cNvSpPr>
            <p:nvPr/>
          </p:nvSpPr>
          <p:spPr bwMode="auto">
            <a:xfrm flipV="1">
              <a:off x="2223" y="789"/>
              <a:ext cx="0" cy="13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6507" name="Group 75"/>
          <p:cNvGrpSpPr>
            <a:grpSpLocks/>
          </p:cNvGrpSpPr>
          <p:nvPr/>
        </p:nvGrpSpPr>
        <p:grpSpPr bwMode="auto">
          <a:xfrm>
            <a:off x="4386263" y="1352550"/>
            <a:ext cx="2382837" cy="280988"/>
            <a:chOff x="2763" y="852"/>
            <a:chExt cx="1501" cy="177"/>
          </a:xfrm>
        </p:grpSpPr>
        <p:sp>
          <p:nvSpPr>
            <p:cNvPr id="146508" name="Line 76"/>
            <p:cNvSpPr>
              <a:spLocks noChangeShapeType="1"/>
            </p:cNvSpPr>
            <p:nvPr/>
          </p:nvSpPr>
          <p:spPr bwMode="auto">
            <a:xfrm>
              <a:off x="2763" y="852"/>
              <a:ext cx="0" cy="17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09" name="Line 77"/>
            <p:cNvSpPr>
              <a:spLocks noChangeShapeType="1"/>
            </p:cNvSpPr>
            <p:nvPr/>
          </p:nvSpPr>
          <p:spPr bwMode="auto">
            <a:xfrm>
              <a:off x="2763" y="1029"/>
              <a:ext cx="1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10" name="Line 78"/>
            <p:cNvSpPr>
              <a:spLocks noChangeShapeType="1"/>
            </p:cNvSpPr>
            <p:nvPr/>
          </p:nvSpPr>
          <p:spPr bwMode="auto">
            <a:xfrm flipV="1">
              <a:off x="4264" y="874"/>
              <a:ext cx="0" cy="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6511" name="Group 79"/>
          <p:cNvGrpSpPr>
            <a:grpSpLocks/>
          </p:cNvGrpSpPr>
          <p:nvPr/>
        </p:nvGrpSpPr>
        <p:grpSpPr bwMode="auto">
          <a:xfrm>
            <a:off x="2663825" y="1357313"/>
            <a:ext cx="4868863" cy="371475"/>
            <a:chOff x="1678" y="855"/>
            <a:chExt cx="3067" cy="234"/>
          </a:xfrm>
        </p:grpSpPr>
        <p:sp>
          <p:nvSpPr>
            <p:cNvPr id="146512" name="Line 80"/>
            <p:cNvSpPr>
              <a:spLocks noChangeShapeType="1"/>
            </p:cNvSpPr>
            <p:nvPr/>
          </p:nvSpPr>
          <p:spPr bwMode="auto">
            <a:xfrm>
              <a:off x="1678" y="855"/>
              <a:ext cx="0" cy="23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13" name="Line 81"/>
            <p:cNvSpPr>
              <a:spLocks noChangeShapeType="1"/>
            </p:cNvSpPr>
            <p:nvPr/>
          </p:nvSpPr>
          <p:spPr bwMode="auto">
            <a:xfrm>
              <a:off x="1678" y="1089"/>
              <a:ext cx="30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14" name="Line 82"/>
            <p:cNvSpPr>
              <a:spLocks noChangeShapeType="1"/>
            </p:cNvSpPr>
            <p:nvPr/>
          </p:nvSpPr>
          <p:spPr bwMode="auto">
            <a:xfrm flipV="1">
              <a:off x="4745" y="867"/>
              <a:ext cx="0" cy="2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6515" name="Group 83"/>
          <p:cNvGrpSpPr>
            <a:grpSpLocks/>
          </p:cNvGrpSpPr>
          <p:nvPr/>
        </p:nvGrpSpPr>
        <p:grpSpPr bwMode="auto">
          <a:xfrm>
            <a:off x="917575" y="1376363"/>
            <a:ext cx="7480300" cy="457200"/>
            <a:chOff x="578" y="867"/>
            <a:chExt cx="4712" cy="288"/>
          </a:xfrm>
        </p:grpSpPr>
        <p:sp>
          <p:nvSpPr>
            <p:cNvPr id="146516" name="Line 84"/>
            <p:cNvSpPr>
              <a:spLocks noChangeShapeType="1"/>
            </p:cNvSpPr>
            <p:nvPr/>
          </p:nvSpPr>
          <p:spPr bwMode="auto">
            <a:xfrm>
              <a:off x="589" y="867"/>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17" name="Line 85"/>
            <p:cNvSpPr>
              <a:spLocks noChangeShapeType="1"/>
            </p:cNvSpPr>
            <p:nvPr/>
          </p:nvSpPr>
          <p:spPr bwMode="auto">
            <a:xfrm>
              <a:off x="578" y="1155"/>
              <a:ext cx="4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18" name="Line 86"/>
            <p:cNvSpPr>
              <a:spLocks noChangeShapeType="1"/>
            </p:cNvSpPr>
            <p:nvPr/>
          </p:nvSpPr>
          <p:spPr bwMode="auto">
            <a:xfrm flipV="1">
              <a:off x="5278" y="867"/>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46519" name="Group 87"/>
          <p:cNvGrpSpPr>
            <a:grpSpLocks/>
          </p:cNvGrpSpPr>
          <p:nvPr/>
        </p:nvGrpSpPr>
        <p:grpSpPr bwMode="auto">
          <a:xfrm>
            <a:off x="528638" y="5411788"/>
            <a:ext cx="8226425" cy="1157287"/>
            <a:chOff x="430" y="73"/>
            <a:chExt cx="5182" cy="729"/>
          </a:xfrm>
        </p:grpSpPr>
        <p:grpSp>
          <p:nvGrpSpPr>
            <p:cNvPr id="146520" name="Group 88"/>
            <p:cNvGrpSpPr>
              <a:grpSpLocks/>
            </p:cNvGrpSpPr>
            <p:nvPr/>
          </p:nvGrpSpPr>
          <p:grpSpPr bwMode="auto">
            <a:xfrm>
              <a:off x="430" y="156"/>
              <a:ext cx="5182" cy="646"/>
              <a:chOff x="333" y="351"/>
              <a:chExt cx="5182" cy="646"/>
            </a:xfrm>
          </p:grpSpPr>
          <p:sp>
            <p:nvSpPr>
              <p:cNvPr id="146521" name="Text Box 89"/>
              <p:cNvSpPr txBox="1">
                <a:spLocks noChangeArrowheads="1"/>
              </p:cNvSpPr>
              <p:nvPr/>
            </p:nvSpPr>
            <p:spPr bwMode="auto">
              <a:xfrm>
                <a:off x="442" y="351"/>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l"/>
                <a:endParaRPr lang="zh-CN" altLang="zh-CN" sz="2000"/>
              </a:p>
            </p:txBody>
          </p:sp>
          <p:sp>
            <p:nvSpPr>
              <p:cNvPr id="146522" name="Text Box 90"/>
              <p:cNvSpPr txBox="1">
                <a:spLocks noChangeArrowheads="1"/>
              </p:cNvSpPr>
              <p:nvPr/>
            </p:nvSpPr>
            <p:spPr bwMode="auto">
              <a:xfrm>
                <a:off x="430"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9</a:t>
                </a:r>
              </a:p>
            </p:txBody>
          </p:sp>
          <p:grpSp>
            <p:nvGrpSpPr>
              <p:cNvPr id="146523" name="Group 91"/>
              <p:cNvGrpSpPr>
                <a:grpSpLocks/>
              </p:cNvGrpSpPr>
              <p:nvPr/>
            </p:nvGrpSpPr>
            <p:grpSpPr bwMode="auto">
              <a:xfrm>
                <a:off x="333" y="728"/>
                <a:ext cx="5182" cy="269"/>
                <a:chOff x="333" y="728"/>
                <a:chExt cx="5182" cy="269"/>
              </a:xfrm>
            </p:grpSpPr>
            <p:sp>
              <p:nvSpPr>
                <p:cNvPr id="146524" name="Rectangle 92"/>
                <p:cNvSpPr>
                  <a:spLocks noChangeArrowheads="1"/>
                </p:cNvSpPr>
                <p:nvPr/>
              </p:nvSpPr>
              <p:spPr bwMode="auto">
                <a:xfrm>
                  <a:off x="333" y="734"/>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008</a:t>
                  </a:r>
                </a:p>
              </p:txBody>
            </p:sp>
            <p:grpSp>
              <p:nvGrpSpPr>
                <p:cNvPr id="146525" name="Group 93"/>
                <p:cNvGrpSpPr>
                  <a:grpSpLocks/>
                </p:cNvGrpSpPr>
                <p:nvPr/>
              </p:nvGrpSpPr>
              <p:grpSpPr bwMode="auto">
                <a:xfrm>
                  <a:off x="679" y="734"/>
                  <a:ext cx="542" cy="256"/>
                  <a:chOff x="1133" y="1389"/>
                  <a:chExt cx="542" cy="256"/>
                </a:xfrm>
              </p:grpSpPr>
              <p:sp>
                <p:nvSpPr>
                  <p:cNvPr id="146526" name="Rectangle 94"/>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063</a:t>
                    </a:r>
                  </a:p>
                </p:txBody>
              </p:sp>
              <p:sp>
                <p:nvSpPr>
                  <p:cNvPr id="146527" name="Line 95"/>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28" name="Group 96"/>
                <p:cNvGrpSpPr>
                  <a:grpSpLocks/>
                </p:cNvGrpSpPr>
                <p:nvPr/>
              </p:nvGrpSpPr>
              <p:grpSpPr bwMode="auto">
                <a:xfrm>
                  <a:off x="1205" y="734"/>
                  <a:ext cx="542" cy="256"/>
                  <a:chOff x="1133" y="1389"/>
                  <a:chExt cx="542" cy="256"/>
                </a:xfrm>
              </p:grpSpPr>
              <p:sp>
                <p:nvSpPr>
                  <p:cNvPr id="146529" name="Rectangle 97"/>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083</a:t>
                    </a:r>
                  </a:p>
                </p:txBody>
              </p:sp>
              <p:sp>
                <p:nvSpPr>
                  <p:cNvPr id="146530" name="Line 98"/>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31" name="Group 99"/>
                <p:cNvGrpSpPr>
                  <a:grpSpLocks/>
                </p:cNvGrpSpPr>
                <p:nvPr/>
              </p:nvGrpSpPr>
              <p:grpSpPr bwMode="auto">
                <a:xfrm>
                  <a:off x="1730" y="734"/>
                  <a:ext cx="542" cy="256"/>
                  <a:chOff x="1133" y="1389"/>
                  <a:chExt cx="542" cy="256"/>
                </a:xfrm>
              </p:grpSpPr>
              <p:sp>
                <p:nvSpPr>
                  <p:cNvPr id="146532" name="Rectangle 100"/>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109</a:t>
                    </a:r>
                  </a:p>
                </p:txBody>
              </p:sp>
              <p:sp>
                <p:nvSpPr>
                  <p:cNvPr id="146533" name="Line 101"/>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34" name="Group 102"/>
                <p:cNvGrpSpPr>
                  <a:grpSpLocks/>
                </p:cNvGrpSpPr>
                <p:nvPr/>
              </p:nvGrpSpPr>
              <p:grpSpPr bwMode="auto">
                <a:xfrm>
                  <a:off x="2256" y="734"/>
                  <a:ext cx="542" cy="256"/>
                  <a:chOff x="1133" y="1389"/>
                  <a:chExt cx="542" cy="256"/>
                </a:xfrm>
              </p:grpSpPr>
              <p:sp>
                <p:nvSpPr>
                  <p:cNvPr id="146535" name="Rectangle 103"/>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184</a:t>
                    </a:r>
                  </a:p>
                </p:txBody>
              </p:sp>
              <p:sp>
                <p:nvSpPr>
                  <p:cNvPr id="146536" name="Line 104"/>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37" name="Group 105"/>
                <p:cNvGrpSpPr>
                  <a:grpSpLocks/>
                </p:cNvGrpSpPr>
                <p:nvPr/>
              </p:nvGrpSpPr>
              <p:grpSpPr bwMode="auto">
                <a:xfrm>
                  <a:off x="2782" y="734"/>
                  <a:ext cx="542" cy="256"/>
                  <a:chOff x="1133" y="1389"/>
                  <a:chExt cx="542" cy="256"/>
                </a:xfrm>
              </p:grpSpPr>
              <p:sp>
                <p:nvSpPr>
                  <p:cNvPr id="146538" name="Rectangle 106"/>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269</a:t>
                    </a:r>
                  </a:p>
                </p:txBody>
              </p:sp>
              <p:sp>
                <p:nvSpPr>
                  <p:cNvPr id="146539" name="Line 107"/>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40" name="Group 108"/>
                <p:cNvGrpSpPr>
                  <a:grpSpLocks/>
                </p:cNvGrpSpPr>
                <p:nvPr/>
              </p:nvGrpSpPr>
              <p:grpSpPr bwMode="auto">
                <a:xfrm>
                  <a:off x="3307" y="734"/>
                  <a:ext cx="542" cy="256"/>
                  <a:chOff x="1133" y="1389"/>
                  <a:chExt cx="542" cy="256"/>
                </a:xfrm>
              </p:grpSpPr>
              <p:sp>
                <p:nvSpPr>
                  <p:cNvPr id="146541" name="Rectangle 109"/>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278</a:t>
                    </a:r>
                  </a:p>
                </p:txBody>
              </p:sp>
              <p:sp>
                <p:nvSpPr>
                  <p:cNvPr id="146542" name="Line 110"/>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43" name="Group 111"/>
                <p:cNvGrpSpPr>
                  <a:grpSpLocks/>
                </p:cNvGrpSpPr>
                <p:nvPr/>
              </p:nvGrpSpPr>
              <p:grpSpPr bwMode="auto">
                <a:xfrm>
                  <a:off x="3833" y="734"/>
                  <a:ext cx="542" cy="256"/>
                  <a:chOff x="1133" y="1389"/>
                  <a:chExt cx="542" cy="256"/>
                </a:xfrm>
              </p:grpSpPr>
              <p:sp>
                <p:nvSpPr>
                  <p:cNvPr id="146544" name="Rectangle 112"/>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505</a:t>
                    </a:r>
                  </a:p>
                </p:txBody>
              </p:sp>
              <p:sp>
                <p:nvSpPr>
                  <p:cNvPr id="146545" name="Line 113"/>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6546" name="Group 114"/>
                <p:cNvGrpSpPr>
                  <a:grpSpLocks/>
                </p:cNvGrpSpPr>
                <p:nvPr/>
              </p:nvGrpSpPr>
              <p:grpSpPr bwMode="auto">
                <a:xfrm>
                  <a:off x="4359" y="734"/>
                  <a:ext cx="542" cy="256"/>
                  <a:chOff x="1133" y="1389"/>
                  <a:chExt cx="542" cy="256"/>
                </a:xfrm>
              </p:grpSpPr>
              <p:sp>
                <p:nvSpPr>
                  <p:cNvPr id="146547" name="Rectangle 115"/>
                  <p:cNvSpPr>
                    <a:spLocks noChangeArrowheads="1"/>
                  </p:cNvSpPr>
                  <p:nvPr/>
                </p:nvSpPr>
                <p:spPr bwMode="auto">
                  <a:xfrm>
                    <a:off x="1313" y="1389"/>
                    <a:ext cx="362"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r>
                      <a:rPr lang="en-US" altLang="zh-CN" sz="2000"/>
                      <a:t>589</a:t>
                    </a:r>
                  </a:p>
                </p:txBody>
              </p:sp>
              <p:sp>
                <p:nvSpPr>
                  <p:cNvPr id="146548" name="Line 116"/>
                  <p:cNvSpPr>
                    <a:spLocks noChangeShapeType="1"/>
                  </p:cNvSpPr>
                  <p:nvPr/>
                </p:nvSpPr>
                <p:spPr bwMode="auto">
                  <a:xfrm>
                    <a:off x="1133" y="1511"/>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sp>
              <p:nvSpPr>
                <p:cNvPr id="146549" name="Rectangle 117"/>
                <p:cNvSpPr>
                  <a:spLocks noChangeArrowheads="1"/>
                </p:cNvSpPr>
                <p:nvPr/>
              </p:nvSpPr>
              <p:spPr bwMode="auto">
                <a:xfrm>
                  <a:off x="5064" y="734"/>
                  <a:ext cx="408" cy="25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8000" anchor="ctr"/>
                <a:lstStyle/>
                <a:p>
                  <a:r>
                    <a:rPr lang="en-US" altLang="zh-CN" sz="2000"/>
                    <a:t>930</a:t>
                  </a:r>
                </a:p>
              </p:txBody>
            </p:sp>
            <p:sp>
              <p:nvSpPr>
                <p:cNvPr id="146550" name="Line 118"/>
                <p:cNvSpPr>
                  <a:spLocks noChangeShapeType="1"/>
                </p:cNvSpPr>
                <p:nvPr/>
              </p:nvSpPr>
              <p:spPr bwMode="auto">
                <a:xfrm>
                  <a:off x="4884" y="856"/>
                  <a:ext cx="17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46551" name="Line 119"/>
                <p:cNvSpPr>
                  <a:spLocks noChangeShapeType="1"/>
                </p:cNvSpPr>
                <p:nvPr/>
              </p:nvSpPr>
              <p:spPr bwMode="auto">
                <a:xfrm>
                  <a:off x="622"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2" name="Line 120"/>
                <p:cNvSpPr>
                  <a:spLocks noChangeShapeType="1"/>
                </p:cNvSpPr>
                <p:nvPr/>
              </p:nvSpPr>
              <p:spPr bwMode="auto">
                <a:xfrm>
                  <a:off x="114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3" name="Line 121"/>
                <p:cNvSpPr>
                  <a:spLocks noChangeShapeType="1"/>
                </p:cNvSpPr>
                <p:nvPr/>
              </p:nvSpPr>
              <p:spPr bwMode="auto">
                <a:xfrm>
                  <a:off x="167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4" name="Line 122"/>
                <p:cNvSpPr>
                  <a:spLocks noChangeShapeType="1"/>
                </p:cNvSpPr>
                <p:nvPr/>
              </p:nvSpPr>
              <p:spPr bwMode="auto">
                <a:xfrm>
                  <a:off x="2199"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5" name="Line 123"/>
                <p:cNvSpPr>
                  <a:spLocks noChangeShapeType="1"/>
                </p:cNvSpPr>
                <p:nvPr/>
              </p:nvSpPr>
              <p:spPr bwMode="auto">
                <a:xfrm>
                  <a:off x="2724"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6" name="Line 124"/>
                <p:cNvSpPr>
                  <a:spLocks noChangeShapeType="1"/>
                </p:cNvSpPr>
                <p:nvPr/>
              </p:nvSpPr>
              <p:spPr bwMode="auto">
                <a:xfrm>
                  <a:off x="3250"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7" name="Line 125"/>
                <p:cNvSpPr>
                  <a:spLocks noChangeShapeType="1"/>
                </p:cNvSpPr>
                <p:nvPr/>
              </p:nvSpPr>
              <p:spPr bwMode="auto">
                <a:xfrm>
                  <a:off x="3776"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8" name="Line 126"/>
                <p:cNvSpPr>
                  <a:spLocks noChangeShapeType="1"/>
                </p:cNvSpPr>
                <p:nvPr/>
              </p:nvSpPr>
              <p:spPr bwMode="auto">
                <a:xfrm>
                  <a:off x="4301"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59" name="Line 127"/>
                <p:cNvSpPr>
                  <a:spLocks noChangeShapeType="1"/>
                </p:cNvSpPr>
                <p:nvPr/>
              </p:nvSpPr>
              <p:spPr bwMode="auto">
                <a:xfrm>
                  <a:off x="4827"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60" name="Line 128"/>
                <p:cNvSpPr>
                  <a:spLocks noChangeShapeType="1"/>
                </p:cNvSpPr>
                <p:nvPr/>
              </p:nvSpPr>
              <p:spPr bwMode="auto">
                <a:xfrm>
                  <a:off x="5353" y="730"/>
                  <a:ext cx="0" cy="2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6561" name="Text Box 129"/>
                <p:cNvSpPr txBox="1">
                  <a:spLocks noChangeArrowheads="1"/>
                </p:cNvSpPr>
                <p:nvPr/>
              </p:nvSpPr>
              <p:spPr bwMode="auto">
                <a:xfrm>
                  <a:off x="5319" y="728"/>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0</a:t>
                  </a:r>
                </a:p>
              </p:txBody>
            </p:sp>
          </p:grpSp>
          <p:sp>
            <p:nvSpPr>
              <p:cNvPr id="146562" name="Text Box 130"/>
              <p:cNvSpPr txBox="1">
                <a:spLocks noChangeArrowheads="1"/>
              </p:cNvSpPr>
              <p:nvPr/>
            </p:nvSpPr>
            <p:spPr bwMode="auto">
              <a:xfrm>
                <a:off x="95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3</a:t>
                </a:r>
              </a:p>
            </p:txBody>
          </p:sp>
          <p:sp>
            <p:nvSpPr>
              <p:cNvPr id="146563" name="Text Box 131"/>
              <p:cNvSpPr txBox="1">
                <a:spLocks noChangeArrowheads="1"/>
              </p:cNvSpPr>
              <p:nvPr/>
            </p:nvSpPr>
            <p:spPr bwMode="auto">
              <a:xfrm>
                <a:off x="1481" y="514"/>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10</a:t>
                </a:r>
              </a:p>
            </p:txBody>
          </p:sp>
          <p:sp>
            <p:nvSpPr>
              <p:cNvPr id="146564" name="Text Box 132"/>
              <p:cNvSpPr txBox="1">
                <a:spLocks noChangeArrowheads="1"/>
              </p:cNvSpPr>
              <p:nvPr/>
            </p:nvSpPr>
            <p:spPr bwMode="auto">
              <a:xfrm>
                <a:off x="2007"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2</a:t>
                </a:r>
              </a:p>
            </p:txBody>
          </p:sp>
          <p:sp>
            <p:nvSpPr>
              <p:cNvPr id="146565" name="Text Box 133"/>
              <p:cNvSpPr txBox="1">
                <a:spLocks noChangeArrowheads="1"/>
              </p:cNvSpPr>
              <p:nvPr/>
            </p:nvSpPr>
            <p:spPr bwMode="auto">
              <a:xfrm>
                <a:off x="2532"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6</a:t>
                </a:r>
              </a:p>
            </p:txBody>
          </p:sp>
          <p:sp>
            <p:nvSpPr>
              <p:cNvPr id="146566" name="Text Box 134"/>
              <p:cNvSpPr txBox="1">
                <a:spLocks noChangeArrowheads="1"/>
              </p:cNvSpPr>
              <p:nvPr/>
            </p:nvSpPr>
            <p:spPr bwMode="auto">
              <a:xfrm>
                <a:off x="3058"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8</a:t>
                </a:r>
              </a:p>
            </p:txBody>
          </p:sp>
          <p:sp>
            <p:nvSpPr>
              <p:cNvPr id="146567" name="Text Box 135"/>
              <p:cNvSpPr txBox="1">
                <a:spLocks noChangeArrowheads="1"/>
              </p:cNvSpPr>
              <p:nvPr/>
            </p:nvSpPr>
            <p:spPr bwMode="auto">
              <a:xfrm>
                <a:off x="3584"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1</a:t>
                </a:r>
              </a:p>
            </p:txBody>
          </p:sp>
          <p:sp>
            <p:nvSpPr>
              <p:cNvPr id="146568" name="Text Box 136"/>
              <p:cNvSpPr txBox="1">
                <a:spLocks noChangeArrowheads="1"/>
              </p:cNvSpPr>
              <p:nvPr/>
            </p:nvSpPr>
            <p:spPr bwMode="auto">
              <a:xfrm>
                <a:off x="4109"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7</a:t>
                </a:r>
              </a:p>
            </p:txBody>
          </p:sp>
          <p:sp>
            <p:nvSpPr>
              <p:cNvPr id="146569" name="Text Box 137"/>
              <p:cNvSpPr txBox="1">
                <a:spLocks noChangeArrowheads="1"/>
              </p:cNvSpPr>
              <p:nvPr/>
            </p:nvSpPr>
            <p:spPr bwMode="auto">
              <a:xfrm>
                <a:off x="4635"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5</a:t>
                </a:r>
              </a:p>
            </p:txBody>
          </p:sp>
          <p:sp>
            <p:nvSpPr>
              <p:cNvPr id="146570" name="Text Box 138"/>
              <p:cNvSpPr txBox="1">
                <a:spLocks noChangeArrowheads="1"/>
              </p:cNvSpPr>
              <p:nvPr/>
            </p:nvSpPr>
            <p:spPr bwMode="auto">
              <a:xfrm>
                <a:off x="5161" y="51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t>4</a:t>
                </a:r>
              </a:p>
            </p:txBody>
          </p:sp>
        </p:grpSp>
        <p:sp>
          <p:nvSpPr>
            <p:cNvPr id="146571" name="Text Box 139"/>
            <p:cNvSpPr txBox="1">
              <a:spLocks noChangeArrowheads="1"/>
            </p:cNvSpPr>
            <p:nvPr/>
          </p:nvSpPr>
          <p:spPr bwMode="auto">
            <a:xfrm>
              <a:off x="453" y="73"/>
              <a:ext cx="9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2000"/>
                <a:t>三趟收集：</a:t>
              </a:r>
            </a:p>
          </p:txBody>
        </p:sp>
      </p:grpSp>
      <p:sp>
        <p:nvSpPr>
          <p:cNvPr id="146572" name="Text Box 140"/>
          <p:cNvSpPr txBox="1">
            <a:spLocks noChangeArrowheads="1"/>
          </p:cNvSpPr>
          <p:nvPr/>
        </p:nvSpPr>
        <p:spPr bwMode="auto">
          <a:xfrm>
            <a:off x="4471988" y="2079625"/>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3</a:t>
            </a:r>
          </a:p>
        </p:txBody>
      </p:sp>
      <p:sp>
        <p:nvSpPr>
          <p:cNvPr id="146573" name="Text Box 141"/>
          <p:cNvSpPr txBox="1">
            <a:spLocks noChangeArrowheads="1"/>
          </p:cNvSpPr>
          <p:nvPr/>
        </p:nvSpPr>
        <p:spPr bwMode="auto">
          <a:xfrm>
            <a:off x="4506913" y="2836863"/>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1</a:t>
            </a:r>
          </a:p>
        </p:txBody>
      </p:sp>
      <p:sp>
        <p:nvSpPr>
          <p:cNvPr id="146574" name="Text Box 142"/>
          <p:cNvSpPr txBox="1">
            <a:spLocks noChangeArrowheads="1"/>
          </p:cNvSpPr>
          <p:nvPr/>
        </p:nvSpPr>
        <p:spPr bwMode="auto">
          <a:xfrm>
            <a:off x="4454525" y="2044700"/>
            <a:ext cx="438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rgbClr val="FF3300"/>
                </a:solidFill>
              </a:rPr>
              <a:t>10</a:t>
            </a:r>
            <a:endParaRPr lang="en-US" altLang="zh-CN" sz="2000">
              <a:solidFill>
                <a:srgbClr val="0000FF"/>
              </a:solidFill>
            </a:endParaRPr>
          </a:p>
        </p:txBody>
      </p:sp>
      <p:sp>
        <p:nvSpPr>
          <p:cNvPr id="146575" name="Text Box 143"/>
          <p:cNvSpPr txBox="1">
            <a:spLocks noChangeArrowheads="1"/>
          </p:cNvSpPr>
          <p:nvPr/>
        </p:nvSpPr>
        <p:spPr bwMode="auto">
          <a:xfrm>
            <a:off x="4476750" y="2501900"/>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6</a:t>
            </a:r>
            <a:endParaRPr lang="en-US" altLang="zh-CN" sz="2000">
              <a:solidFill>
                <a:srgbClr val="FF3300"/>
              </a:solidFill>
            </a:endParaRPr>
          </a:p>
        </p:txBody>
      </p:sp>
      <p:sp>
        <p:nvSpPr>
          <p:cNvPr id="146576" name="Text Box 144"/>
          <p:cNvSpPr txBox="1">
            <a:spLocks noChangeArrowheads="1"/>
          </p:cNvSpPr>
          <p:nvPr/>
        </p:nvSpPr>
        <p:spPr bwMode="auto">
          <a:xfrm>
            <a:off x="4478338" y="3862388"/>
            <a:ext cx="311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2000">
                <a:solidFill>
                  <a:schemeClr val="folHlink"/>
                </a:solidFill>
              </a:rPr>
              <a:t>5</a:t>
            </a:r>
          </a:p>
        </p:txBody>
      </p:sp>
    </p:spTree>
    <p:extLst>
      <p:ext uri="{BB962C8B-B14F-4D97-AF65-F5344CB8AC3E}">
        <p14:creationId xmlns:p14="http://schemas.microsoft.com/office/powerpoint/2010/main" val="14504461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46434"/>
                                        </p:tgtEl>
                                        <p:attrNameLst>
                                          <p:attrName>style.visibility</p:attrName>
                                        </p:attrNameLst>
                                      </p:cBhvr>
                                      <p:to>
                                        <p:strVal val="visible"/>
                                      </p:to>
                                    </p:set>
                                    <p:animEffect transition="in" filter="box(out)">
                                      <p:cBhvr>
                                        <p:cTn id="7" dur="500"/>
                                        <p:tgtEl>
                                          <p:spTgt spid="14643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6488"/>
                                        </p:tgtEl>
                                        <p:attrNameLst>
                                          <p:attrName>style.visibility</p:attrName>
                                        </p:attrNameLst>
                                      </p:cBhvr>
                                      <p:to>
                                        <p:strVal val="visible"/>
                                      </p:to>
                                    </p:set>
                                    <p:animEffect transition="in" filter="box(out)">
                                      <p:cBhvr>
                                        <p:cTn id="12" dur="500"/>
                                        <p:tgtEl>
                                          <p:spTgt spid="14648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6491"/>
                                        </p:tgtEl>
                                        <p:attrNameLst>
                                          <p:attrName>style.visibility</p:attrName>
                                        </p:attrNameLst>
                                      </p:cBhvr>
                                      <p:to>
                                        <p:strVal val="visible"/>
                                      </p:to>
                                    </p:set>
                                    <p:animEffect transition="in" filter="box(out)">
                                      <p:cBhvr>
                                        <p:cTn id="17" dur="500"/>
                                        <p:tgtEl>
                                          <p:spTgt spid="14649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46495"/>
                                        </p:tgtEl>
                                        <p:attrNameLst>
                                          <p:attrName>style.visibility</p:attrName>
                                        </p:attrNameLst>
                                      </p:cBhvr>
                                      <p:to>
                                        <p:strVal val="visible"/>
                                      </p:to>
                                    </p:set>
                                    <p:animEffect transition="in" filter="box(out)">
                                      <p:cBhvr>
                                        <p:cTn id="22" dur="500"/>
                                        <p:tgtEl>
                                          <p:spTgt spid="146495"/>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6492"/>
                                        </p:tgtEl>
                                        <p:attrNameLst>
                                          <p:attrName>style.visibility</p:attrName>
                                        </p:attrNameLst>
                                      </p:cBhvr>
                                      <p:to>
                                        <p:strVal val="visible"/>
                                      </p:to>
                                    </p:set>
                                    <p:animEffect transition="in" filter="box(out)">
                                      <p:cBhvr>
                                        <p:cTn id="27" dur="500"/>
                                        <p:tgtEl>
                                          <p:spTgt spid="146492"/>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6496"/>
                                        </p:tgtEl>
                                        <p:attrNameLst>
                                          <p:attrName>style.visibility</p:attrName>
                                        </p:attrNameLst>
                                      </p:cBhvr>
                                      <p:to>
                                        <p:strVal val="visible"/>
                                      </p:to>
                                    </p:set>
                                    <p:animEffect transition="in" filter="box(out)">
                                      <p:cBhvr>
                                        <p:cTn id="32" dur="500"/>
                                        <p:tgtEl>
                                          <p:spTgt spid="146496"/>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46493"/>
                                        </p:tgtEl>
                                        <p:attrNameLst>
                                          <p:attrName>style.visibility</p:attrName>
                                        </p:attrNameLst>
                                      </p:cBhvr>
                                      <p:to>
                                        <p:strVal val="visible"/>
                                      </p:to>
                                    </p:set>
                                    <p:animEffect transition="in" filter="box(out)">
                                      <p:cBhvr>
                                        <p:cTn id="37" dur="500"/>
                                        <p:tgtEl>
                                          <p:spTgt spid="14649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46497"/>
                                        </p:tgtEl>
                                        <p:attrNameLst>
                                          <p:attrName>style.visibility</p:attrName>
                                        </p:attrNameLst>
                                      </p:cBhvr>
                                      <p:to>
                                        <p:strVal val="visible"/>
                                      </p:to>
                                    </p:set>
                                    <p:animEffect transition="in" filter="box(out)">
                                      <p:cBhvr>
                                        <p:cTn id="42" dur="500"/>
                                        <p:tgtEl>
                                          <p:spTgt spid="14649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46489"/>
                                        </p:tgtEl>
                                        <p:attrNameLst>
                                          <p:attrName>style.visibility</p:attrName>
                                        </p:attrNameLst>
                                      </p:cBhvr>
                                      <p:to>
                                        <p:strVal val="visible"/>
                                      </p:to>
                                    </p:set>
                                    <p:animEffect transition="in" filter="box(out)">
                                      <p:cBhvr>
                                        <p:cTn id="47" dur="500"/>
                                        <p:tgtEl>
                                          <p:spTgt spid="146489"/>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146490"/>
                                        </p:tgtEl>
                                        <p:attrNameLst>
                                          <p:attrName>style.visibility</p:attrName>
                                        </p:attrNameLst>
                                      </p:cBhvr>
                                      <p:to>
                                        <p:strVal val="visible"/>
                                      </p:to>
                                    </p:set>
                                    <p:animEffect transition="in" filter="box(out)">
                                      <p:cBhvr>
                                        <p:cTn id="52" dur="500"/>
                                        <p:tgtEl>
                                          <p:spTgt spid="146490"/>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146498"/>
                                        </p:tgtEl>
                                        <p:attrNameLst>
                                          <p:attrName>style.visibility</p:attrName>
                                        </p:attrNameLst>
                                      </p:cBhvr>
                                      <p:to>
                                        <p:strVal val="visible"/>
                                      </p:to>
                                    </p:set>
                                    <p:animEffect transition="in" filter="box(out)">
                                      <p:cBhvr>
                                        <p:cTn id="57" dur="500"/>
                                        <p:tgtEl>
                                          <p:spTgt spid="146498"/>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46572"/>
                                        </p:tgtEl>
                                        <p:attrNameLst>
                                          <p:attrName>style.visibility</p:attrName>
                                        </p:attrNameLst>
                                      </p:cBhvr>
                                      <p:to>
                                        <p:strVal val="visible"/>
                                      </p:to>
                                    </p:set>
                                    <p:animEffect transition="in" filter="box(out)">
                                      <p:cBhvr>
                                        <p:cTn id="62" dur="500"/>
                                        <p:tgtEl>
                                          <p:spTgt spid="146572"/>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46494"/>
                                        </p:tgtEl>
                                        <p:attrNameLst>
                                          <p:attrName>style.visibility</p:attrName>
                                        </p:attrNameLst>
                                      </p:cBhvr>
                                      <p:to>
                                        <p:strVal val="visible"/>
                                      </p:to>
                                    </p:set>
                                    <p:animEffect transition="in" filter="box(out)">
                                      <p:cBhvr>
                                        <p:cTn id="67" dur="500"/>
                                        <p:tgtEl>
                                          <p:spTgt spid="146494"/>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46502"/>
                                        </p:tgtEl>
                                        <p:attrNameLst>
                                          <p:attrName>style.visibility</p:attrName>
                                        </p:attrNameLst>
                                      </p:cBhvr>
                                      <p:to>
                                        <p:strVal val="visible"/>
                                      </p:to>
                                    </p:set>
                                    <p:animEffect transition="in" filter="box(out)">
                                      <p:cBhvr>
                                        <p:cTn id="72" dur="500"/>
                                        <p:tgtEl>
                                          <p:spTgt spid="146502"/>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nodeType="clickEffect">
                                  <p:stCondLst>
                                    <p:cond delay="0"/>
                                  </p:stCondLst>
                                  <p:childTnLst>
                                    <p:set>
                                      <p:cBhvr>
                                        <p:cTn id="76" dur="1" fill="hold">
                                          <p:stCondLst>
                                            <p:cond delay="0"/>
                                          </p:stCondLst>
                                        </p:cTn>
                                        <p:tgtEl>
                                          <p:spTgt spid="146503"/>
                                        </p:tgtEl>
                                        <p:attrNameLst>
                                          <p:attrName>style.visibility</p:attrName>
                                        </p:attrNameLst>
                                      </p:cBhvr>
                                      <p:to>
                                        <p:strVal val="visible"/>
                                      </p:to>
                                    </p:set>
                                    <p:animEffect transition="in" filter="box(out)">
                                      <p:cBhvr>
                                        <p:cTn id="77" dur="500"/>
                                        <p:tgtEl>
                                          <p:spTgt spid="146503"/>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46573"/>
                                        </p:tgtEl>
                                        <p:attrNameLst>
                                          <p:attrName>style.visibility</p:attrName>
                                        </p:attrNameLst>
                                      </p:cBhvr>
                                      <p:to>
                                        <p:strVal val="visible"/>
                                      </p:to>
                                    </p:set>
                                    <p:animEffect transition="in" filter="box(out)">
                                      <p:cBhvr>
                                        <p:cTn id="82" dur="500"/>
                                        <p:tgtEl>
                                          <p:spTgt spid="146573"/>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nodeType="clickEffect">
                                  <p:stCondLst>
                                    <p:cond delay="0"/>
                                  </p:stCondLst>
                                  <p:childTnLst>
                                    <p:set>
                                      <p:cBhvr>
                                        <p:cTn id="86" dur="1" fill="hold">
                                          <p:stCondLst>
                                            <p:cond delay="0"/>
                                          </p:stCondLst>
                                        </p:cTn>
                                        <p:tgtEl>
                                          <p:spTgt spid="146507"/>
                                        </p:tgtEl>
                                        <p:attrNameLst>
                                          <p:attrName>style.visibility</p:attrName>
                                        </p:attrNameLst>
                                      </p:cBhvr>
                                      <p:to>
                                        <p:strVal val="visible"/>
                                      </p:to>
                                    </p:set>
                                    <p:animEffect transition="in" filter="box(out)">
                                      <p:cBhvr>
                                        <p:cTn id="87" dur="500"/>
                                        <p:tgtEl>
                                          <p:spTgt spid="146507"/>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46574"/>
                                        </p:tgtEl>
                                        <p:attrNameLst>
                                          <p:attrName>style.visibility</p:attrName>
                                        </p:attrNameLst>
                                      </p:cBhvr>
                                      <p:to>
                                        <p:strVal val="visible"/>
                                      </p:to>
                                    </p:set>
                                    <p:animEffect transition="in" filter="box(out)">
                                      <p:cBhvr>
                                        <p:cTn id="92" dur="500"/>
                                        <p:tgtEl>
                                          <p:spTgt spid="146574"/>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32" fill="hold" nodeType="clickEffect">
                                  <p:stCondLst>
                                    <p:cond delay="0"/>
                                  </p:stCondLst>
                                  <p:childTnLst>
                                    <p:set>
                                      <p:cBhvr>
                                        <p:cTn id="96" dur="1" fill="hold">
                                          <p:stCondLst>
                                            <p:cond delay="0"/>
                                          </p:stCondLst>
                                        </p:cTn>
                                        <p:tgtEl>
                                          <p:spTgt spid="146511"/>
                                        </p:tgtEl>
                                        <p:attrNameLst>
                                          <p:attrName>style.visibility</p:attrName>
                                        </p:attrNameLst>
                                      </p:cBhvr>
                                      <p:to>
                                        <p:strVal val="visible"/>
                                      </p:to>
                                    </p:set>
                                    <p:animEffect transition="in" filter="box(out)">
                                      <p:cBhvr>
                                        <p:cTn id="97" dur="500"/>
                                        <p:tgtEl>
                                          <p:spTgt spid="146511"/>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46575"/>
                                        </p:tgtEl>
                                        <p:attrNameLst>
                                          <p:attrName>style.visibility</p:attrName>
                                        </p:attrNameLst>
                                      </p:cBhvr>
                                      <p:to>
                                        <p:strVal val="visible"/>
                                      </p:to>
                                    </p:set>
                                    <p:animEffect transition="in" filter="box(out)">
                                      <p:cBhvr>
                                        <p:cTn id="102" dur="500"/>
                                        <p:tgtEl>
                                          <p:spTgt spid="146575"/>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32" fill="hold" nodeType="clickEffect">
                                  <p:stCondLst>
                                    <p:cond delay="0"/>
                                  </p:stCondLst>
                                  <p:childTnLst>
                                    <p:set>
                                      <p:cBhvr>
                                        <p:cTn id="106" dur="1" fill="hold">
                                          <p:stCondLst>
                                            <p:cond delay="0"/>
                                          </p:stCondLst>
                                        </p:cTn>
                                        <p:tgtEl>
                                          <p:spTgt spid="146515"/>
                                        </p:tgtEl>
                                        <p:attrNameLst>
                                          <p:attrName>style.visibility</p:attrName>
                                        </p:attrNameLst>
                                      </p:cBhvr>
                                      <p:to>
                                        <p:strVal val="visible"/>
                                      </p:to>
                                    </p:set>
                                    <p:animEffect transition="in" filter="box(out)">
                                      <p:cBhvr>
                                        <p:cTn id="107" dur="500"/>
                                        <p:tgtEl>
                                          <p:spTgt spid="146515"/>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par>
                    <p:cTn id="108" fill="hold" nodeType="clickPar">
                      <p:stCondLst>
                        <p:cond delay="indefinite"/>
                      </p:stCondLst>
                      <p:childTnLst>
                        <p:par>
                          <p:cTn id="109" fill="hold" nodeType="withGroup">
                            <p:stCondLst>
                              <p:cond delay="0"/>
                            </p:stCondLst>
                            <p:childTnLst>
                              <p:par>
                                <p:cTn id="110" presetID="4" presetClass="entr" presetSubtype="32" fill="hold" grpId="0" nodeType="clickEffect">
                                  <p:stCondLst>
                                    <p:cond delay="0"/>
                                  </p:stCondLst>
                                  <p:childTnLst>
                                    <p:set>
                                      <p:cBhvr>
                                        <p:cTn id="111" dur="1" fill="hold">
                                          <p:stCondLst>
                                            <p:cond delay="0"/>
                                          </p:stCondLst>
                                        </p:cTn>
                                        <p:tgtEl>
                                          <p:spTgt spid="146576"/>
                                        </p:tgtEl>
                                        <p:attrNameLst>
                                          <p:attrName>style.visibility</p:attrName>
                                        </p:attrNameLst>
                                      </p:cBhvr>
                                      <p:to>
                                        <p:strVal val="visible"/>
                                      </p:to>
                                    </p:set>
                                    <p:animEffect transition="in" filter="box(out)">
                                      <p:cBhvr>
                                        <p:cTn id="112" dur="500"/>
                                        <p:tgtEl>
                                          <p:spTgt spid="146576"/>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childTnLst>
                    </p:cTn>
                  </p:par>
                  <p:par>
                    <p:cTn id="113" fill="hold" nodeType="clickPar">
                      <p:stCondLst>
                        <p:cond delay="indefinite"/>
                      </p:stCondLst>
                      <p:childTnLst>
                        <p:par>
                          <p:cTn id="114" fill="hold" nodeType="withGroup">
                            <p:stCondLst>
                              <p:cond delay="0"/>
                            </p:stCondLst>
                            <p:childTnLst>
                              <p:par>
                                <p:cTn id="115" presetID="4" presetClass="entr" presetSubtype="32" fill="hold" nodeType="clickEffect">
                                  <p:stCondLst>
                                    <p:cond delay="0"/>
                                  </p:stCondLst>
                                  <p:childTnLst>
                                    <p:set>
                                      <p:cBhvr>
                                        <p:cTn id="116" dur="1" fill="hold">
                                          <p:stCondLst>
                                            <p:cond delay="0"/>
                                          </p:stCondLst>
                                        </p:cTn>
                                        <p:tgtEl>
                                          <p:spTgt spid="146519"/>
                                        </p:tgtEl>
                                        <p:attrNameLst>
                                          <p:attrName>style.visibility</p:attrName>
                                        </p:attrNameLst>
                                      </p:cBhvr>
                                      <p:to>
                                        <p:strVal val="visible"/>
                                      </p:to>
                                    </p:set>
                                    <p:animEffect transition="in" filter="box(out)">
                                      <p:cBhvr>
                                        <p:cTn id="117" dur="500"/>
                                        <p:tgtEl>
                                          <p:spTgt spid="146519"/>
                                        </p:tgtEl>
                                      </p:cBhvr>
                                    </p:animEffect>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88" grpId="0" autoUpdateAnimBg="0"/>
      <p:bldP spid="146489" grpId="0" animBg="1" autoUpdateAnimBg="0"/>
      <p:bldP spid="146490" grpId="0" animBg="1" autoUpdateAnimBg="0"/>
      <p:bldP spid="146491" grpId="0" animBg="1" autoUpdateAnimBg="0"/>
      <p:bldP spid="146492" grpId="0" animBg="1" autoUpdateAnimBg="0"/>
      <p:bldP spid="146493" grpId="0" animBg="1" autoUpdateAnimBg="0"/>
      <p:bldP spid="146494" grpId="0" animBg="1" autoUpdateAnimBg="0"/>
      <p:bldP spid="146495" grpId="0" animBg="1" autoUpdateAnimBg="0"/>
      <p:bldP spid="146496" grpId="0" animBg="1" autoUpdateAnimBg="0"/>
      <p:bldP spid="146497" grpId="0" animBg="1" autoUpdateAnimBg="0"/>
      <p:bldP spid="146502" grpId="0" animBg="1" autoUpdateAnimBg="0"/>
      <p:bldP spid="146572" grpId="0" animBg="1" autoUpdateAnimBg="0"/>
      <p:bldP spid="146573" grpId="0" animBg="1" autoUpdateAnimBg="0"/>
      <p:bldP spid="146574" grpId="0" animBg="1" autoUpdateAnimBg="0"/>
      <p:bldP spid="146575" grpId="0" animBg="1" autoUpdateAnimBg="0"/>
      <p:bldP spid="146576" grpId="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381000" y="455613"/>
            <a:ext cx="36369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5400" b="1">
                <a:solidFill>
                  <a:srgbClr val="000080"/>
                </a:solidFill>
                <a:ea typeface="隶书" charset="0"/>
              </a:rPr>
              <a:t>提醒注意：</a:t>
            </a:r>
            <a:endParaRPr lang="zh-CN" altLang="en-US" sz="4800" b="1">
              <a:solidFill>
                <a:srgbClr val="000080"/>
              </a:solidFill>
              <a:ea typeface="楷体_GB2312" charset="0"/>
            </a:endParaRPr>
          </a:p>
        </p:txBody>
      </p:sp>
      <p:sp>
        <p:nvSpPr>
          <p:cNvPr id="64515" name="Text Box 3"/>
          <p:cNvSpPr txBox="1">
            <a:spLocks noChangeArrowheads="1"/>
          </p:cNvSpPr>
          <p:nvPr/>
        </p:nvSpPr>
        <p:spPr bwMode="auto">
          <a:xfrm>
            <a:off x="381000" y="1600200"/>
            <a:ext cx="8550275" cy="228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0000"/>
              </a:lnSpc>
            </a:pPr>
            <a:r>
              <a:rPr lang="zh-CN" altLang="en-US" sz="4000" b="1">
                <a:solidFill>
                  <a:srgbClr val="990033"/>
                </a:solidFill>
                <a:ea typeface="楷体_GB2312" charset="0"/>
              </a:rPr>
              <a:t>１．“</a:t>
            </a:r>
            <a:r>
              <a:rPr lang="zh-CN" altLang="en-US" sz="4000" b="1">
                <a:solidFill>
                  <a:srgbClr val="990033"/>
                </a:solidFill>
                <a:latin typeface="楷体_GB2312" charset="0"/>
                <a:ea typeface="楷体_GB2312" charset="0"/>
              </a:rPr>
              <a:t>分配</a:t>
            </a:r>
            <a:r>
              <a:rPr lang="zh-CN" altLang="en-US" sz="4000" b="1">
                <a:solidFill>
                  <a:srgbClr val="990033"/>
                </a:solidFill>
                <a:ea typeface="楷体_GB2312" charset="0"/>
              </a:rPr>
              <a:t>”</a:t>
            </a:r>
            <a:r>
              <a:rPr lang="zh-CN" altLang="en-US" sz="4000" b="1">
                <a:solidFill>
                  <a:srgbClr val="990033"/>
                </a:solidFill>
                <a:latin typeface="楷体_GB2312" charset="0"/>
                <a:ea typeface="楷体_GB2312" charset="0"/>
              </a:rPr>
              <a:t>和</a:t>
            </a:r>
            <a:r>
              <a:rPr lang="zh-CN" altLang="en-US" sz="4000" b="1">
                <a:solidFill>
                  <a:srgbClr val="990033"/>
                </a:solidFill>
                <a:ea typeface="楷体_GB2312" charset="0"/>
              </a:rPr>
              <a:t>“</a:t>
            </a:r>
            <a:r>
              <a:rPr lang="zh-CN" altLang="en-US" sz="4000" b="1">
                <a:solidFill>
                  <a:srgbClr val="990033"/>
                </a:solidFill>
                <a:latin typeface="楷体_GB2312" charset="0"/>
                <a:ea typeface="楷体_GB2312" charset="0"/>
              </a:rPr>
              <a:t>收集</a:t>
            </a:r>
            <a:r>
              <a:rPr lang="zh-CN" altLang="en-US" sz="4000" b="1">
                <a:solidFill>
                  <a:srgbClr val="990033"/>
                </a:solidFill>
                <a:ea typeface="楷体_GB2312" charset="0"/>
              </a:rPr>
              <a:t>”</a:t>
            </a:r>
            <a:r>
              <a:rPr lang="zh-CN" altLang="en-US" sz="4000" b="1">
                <a:solidFill>
                  <a:srgbClr val="990033"/>
                </a:solidFill>
                <a:latin typeface="楷体_GB2312" charset="0"/>
                <a:ea typeface="楷体_GB2312" charset="0"/>
              </a:rPr>
              <a:t>的实际操作仅为修改链表中的指针和设置队列的头、尾指针；</a:t>
            </a:r>
          </a:p>
        </p:txBody>
      </p:sp>
      <p:sp>
        <p:nvSpPr>
          <p:cNvPr id="64516" name="Text Box 4"/>
          <p:cNvSpPr txBox="1">
            <a:spLocks noChangeArrowheads="1"/>
          </p:cNvSpPr>
          <p:nvPr/>
        </p:nvSpPr>
        <p:spPr bwMode="auto">
          <a:xfrm>
            <a:off x="365125" y="4054475"/>
            <a:ext cx="87788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zh-CN" altLang="en-US" sz="4000" b="1">
                <a:solidFill>
                  <a:srgbClr val="990033"/>
                </a:solidFill>
                <a:ea typeface="楷体_GB2312" charset="0"/>
              </a:rPr>
              <a:t>２．为查找使用，该链表尚需应用算法</a:t>
            </a:r>
            <a:r>
              <a:rPr lang="en-US" altLang="zh-CN" sz="4000" b="1">
                <a:solidFill>
                  <a:srgbClr val="990033"/>
                </a:solidFill>
                <a:ea typeface="楷体_GB2312" charset="0"/>
              </a:rPr>
              <a:t>Arrange </a:t>
            </a:r>
            <a:r>
              <a:rPr lang="zh-CN" altLang="en-US" sz="4000" b="1">
                <a:solidFill>
                  <a:srgbClr val="990033"/>
                </a:solidFill>
                <a:latin typeface="楷体_GB2312" charset="0"/>
                <a:ea typeface="楷体_GB2312" charset="0"/>
              </a:rPr>
              <a:t>将它调整为有序表。</a:t>
            </a:r>
            <a:endParaRPr lang="zh-CN" altLang="en-US" sz="4000">
              <a:latin typeface="楷体_GB2312" charset="0"/>
              <a:ea typeface="楷体_GB2312" charset="0"/>
            </a:endParaRPr>
          </a:p>
        </p:txBody>
      </p:sp>
    </p:spTree>
    <p:extLst>
      <p:ext uri="{BB962C8B-B14F-4D97-AF65-F5344CB8AC3E}">
        <p14:creationId xmlns:p14="http://schemas.microsoft.com/office/powerpoint/2010/main" val="8908926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additive="base">
                                        <p:cTn id="7" dur="500" fill="hold"/>
                                        <p:tgtEl>
                                          <p:spTgt spid="64514"/>
                                        </p:tgtEl>
                                        <p:attrNameLst>
                                          <p:attrName>ppt_x</p:attrName>
                                        </p:attrNameLst>
                                      </p:cBhvr>
                                      <p:tavLst>
                                        <p:tav tm="0">
                                          <p:val>
                                            <p:strVal val="#ppt_x"/>
                                          </p:val>
                                        </p:tav>
                                        <p:tav tm="100000">
                                          <p:val>
                                            <p:strVal val="#ppt_x"/>
                                          </p:val>
                                        </p:tav>
                                      </p:tavLst>
                                    </p:anim>
                                    <p:anim calcmode="lin" valueType="num">
                                      <p:cBhvr additive="base">
                                        <p:cTn id="8" dur="500" fill="hold"/>
                                        <p:tgtEl>
                                          <p:spTgt spid="6451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4515"/>
                                        </p:tgtEl>
                                        <p:attrNameLst>
                                          <p:attrName>style.visibility</p:attrName>
                                        </p:attrNameLst>
                                      </p:cBhvr>
                                      <p:to>
                                        <p:strVal val="visible"/>
                                      </p:to>
                                    </p:set>
                                    <p:animEffect transition="in" filter="wipe(left)">
                                      <p:cBhvr>
                                        <p:cTn id="13" dur="500"/>
                                        <p:tgtEl>
                                          <p:spTgt spid="6451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516"/>
                                        </p:tgtEl>
                                        <p:attrNameLst>
                                          <p:attrName>style.visibility</p:attrName>
                                        </p:attrNameLst>
                                      </p:cBhvr>
                                      <p:to>
                                        <p:strVal val="visible"/>
                                      </p:to>
                                    </p:set>
                                    <p:animEffect transition="in" filter="wipe(left)">
                                      <p:cBhvr>
                                        <p:cTn id="18"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p:bldP spid="64515" grpId="0" autoUpdateAnimBg="0"/>
      <p:bldP spid="64516"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0" y="1143000"/>
            <a:ext cx="892175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4200">
                <a:latin typeface="楷体_GB2312" charset="0"/>
                <a:ea typeface="楷体_GB2312" charset="0"/>
              </a:rPr>
              <a:t> </a:t>
            </a:r>
            <a:r>
              <a:rPr lang="zh-CN" altLang="en-US" sz="4200" b="1">
                <a:solidFill>
                  <a:srgbClr val="000080"/>
                </a:solidFill>
                <a:latin typeface="楷体_GB2312" charset="0"/>
                <a:ea typeface="楷体_GB2312" charset="0"/>
              </a:rPr>
              <a:t>基数排序的时间复杂度为</a:t>
            </a:r>
            <a:r>
              <a:rPr lang="en-US" altLang="zh-CN" sz="4200" b="1">
                <a:solidFill>
                  <a:schemeClr val="accent2"/>
                </a:solidFill>
                <a:ea typeface="楷体_GB2312" charset="0"/>
              </a:rPr>
              <a:t>O(d(n+rd))</a:t>
            </a:r>
            <a:endParaRPr lang="en-US" altLang="zh-CN" sz="4200">
              <a:ea typeface="楷体_GB2312" charset="0"/>
            </a:endParaRPr>
          </a:p>
        </p:txBody>
      </p:sp>
      <p:sp>
        <p:nvSpPr>
          <p:cNvPr id="65539" name="Text Box 3"/>
          <p:cNvSpPr txBox="1">
            <a:spLocks noChangeArrowheads="1"/>
          </p:cNvSpPr>
          <p:nvPr/>
        </p:nvSpPr>
        <p:spPr bwMode="auto">
          <a:xfrm>
            <a:off x="609600" y="2362200"/>
            <a:ext cx="7615238" cy="324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lnSpc>
                <a:spcPct val="150000"/>
              </a:lnSpc>
            </a:pPr>
            <a:r>
              <a:rPr lang="zh-CN" altLang="en-US" sz="4600">
                <a:ea typeface="楷体_GB2312" charset="0"/>
              </a:rPr>
              <a:t>其中：分配为</a:t>
            </a:r>
            <a:r>
              <a:rPr lang="en-US" altLang="zh-CN" sz="4600">
                <a:solidFill>
                  <a:srgbClr val="9933FF"/>
                </a:solidFill>
                <a:ea typeface="楷体_GB2312" charset="0"/>
              </a:rPr>
              <a:t>O(n)</a:t>
            </a:r>
            <a:endParaRPr lang="en-US" altLang="zh-CN" sz="4600">
              <a:ea typeface="楷体_GB2312" charset="0"/>
            </a:endParaRPr>
          </a:p>
          <a:p>
            <a:pPr algn="l">
              <a:lnSpc>
                <a:spcPct val="150000"/>
              </a:lnSpc>
            </a:pPr>
            <a:r>
              <a:rPr lang="en-US" altLang="zh-CN" sz="4600">
                <a:ea typeface="楷体_GB2312" charset="0"/>
              </a:rPr>
              <a:t>      </a:t>
            </a:r>
            <a:r>
              <a:rPr lang="zh-CN" altLang="en-US" sz="4600">
                <a:ea typeface="楷体_GB2312" charset="0"/>
              </a:rPr>
              <a:t>　  收集为</a:t>
            </a:r>
            <a:r>
              <a:rPr lang="en-US" altLang="zh-CN" sz="4600">
                <a:solidFill>
                  <a:srgbClr val="9933FF"/>
                </a:solidFill>
                <a:ea typeface="楷体_GB2312" charset="0"/>
              </a:rPr>
              <a:t>O(rd)</a:t>
            </a:r>
            <a:r>
              <a:rPr lang="en-US" altLang="zh-CN" sz="4600">
                <a:solidFill>
                  <a:schemeClr val="tx2"/>
                </a:solidFill>
                <a:ea typeface="楷体_GB2312" charset="0"/>
              </a:rPr>
              <a:t>(</a:t>
            </a:r>
            <a:r>
              <a:rPr lang="en-US" altLang="zh-CN" sz="4600">
                <a:ea typeface="楷体_GB2312" charset="0"/>
              </a:rPr>
              <a:t>rd</a:t>
            </a:r>
            <a:r>
              <a:rPr lang="zh-CN" altLang="en-US" sz="4600">
                <a:ea typeface="楷体_GB2312" charset="0"/>
              </a:rPr>
              <a:t>为“基”</a:t>
            </a:r>
            <a:r>
              <a:rPr lang="en-US" altLang="zh-CN" sz="4600">
                <a:ea typeface="楷体_GB2312" charset="0"/>
              </a:rPr>
              <a:t>)</a:t>
            </a:r>
          </a:p>
          <a:p>
            <a:pPr algn="l">
              <a:lnSpc>
                <a:spcPct val="150000"/>
              </a:lnSpc>
            </a:pPr>
            <a:r>
              <a:rPr lang="en-US" altLang="zh-CN" sz="4600">
                <a:ea typeface="楷体_GB2312" charset="0"/>
              </a:rPr>
              <a:t>     </a:t>
            </a:r>
            <a:r>
              <a:rPr lang="en-US" altLang="zh-CN" sz="4600">
                <a:solidFill>
                  <a:srgbClr val="9900CC"/>
                </a:solidFill>
                <a:ea typeface="楷体_GB2312" charset="0"/>
              </a:rPr>
              <a:t> </a:t>
            </a:r>
            <a:r>
              <a:rPr lang="zh-CN" altLang="en-US" sz="4600">
                <a:solidFill>
                  <a:srgbClr val="9900CC"/>
                </a:solidFill>
                <a:ea typeface="楷体_GB2312" charset="0"/>
              </a:rPr>
              <a:t>　  </a:t>
            </a:r>
            <a:r>
              <a:rPr lang="en-US" altLang="zh-CN" sz="4600">
                <a:solidFill>
                  <a:srgbClr val="9900CC"/>
                </a:solidFill>
                <a:ea typeface="楷体_GB2312" charset="0"/>
              </a:rPr>
              <a:t>d</a:t>
            </a:r>
            <a:r>
              <a:rPr lang="zh-CN" altLang="en-US" sz="4600">
                <a:ea typeface="楷体_GB2312" charset="0"/>
              </a:rPr>
              <a:t>为“分配</a:t>
            </a:r>
            <a:r>
              <a:rPr lang="en-US" altLang="zh-CN" sz="4600">
                <a:ea typeface="楷体_GB2312" charset="0"/>
              </a:rPr>
              <a:t>-</a:t>
            </a:r>
            <a:r>
              <a:rPr lang="zh-CN" altLang="en-US" sz="4600">
                <a:ea typeface="楷体_GB2312" charset="0"/>
              </a:rPr>
              <a:t>收集”的趟数</a:t>
            </a:r>
          </a:p>
        </p:txBody>
      </p:sp>
      <p:sp>
        <p:nvSpPr>
          <p:cNvPr id="65543" name="AutoShape 7">
            <a:hlinkClick r:id="rId2" action="ppaction://hlinksldjump" highlightClick="1"/>
          </p:cNvPr>
          <p:cNvSpPr>
            <a:spLocks noChangeArrowheads="1"/>
          </p:cNvSpPr>
          <p:nvPr/>
        </p:nvSpPr>
        <p:spPr bwMode="auto">
          <a:xfrm>
            <a:off x="85344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591022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wipe(left)">
                                      <p:cBhvr>
                                        <p:cTn id="7" dur="500"/>
                                        <p:tgtEl>
                                          <p:spTgt spid="655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5539"/>
                                        </p:tgtEl>
                                        <p:attrNameLst>
                                          <p:attrName>style.visibility</p:attrName>
                                        </p:attrNameLst>
                                      </p:cBhvr>
                                      <p:to>
                                        <p:strVal val="visible"/>
                                      </p:to>
                                    </p:set>
                                    <p:animEffect transition="in" filter="dissolve">
                                      <p:cBhvr>
                                        <p:cTn id="12" dur="500"/>
                                        <p:tgtEl>
                                          <p:spTgt spid="65539"/>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65543"/>
                                        </p:tgtEl>
                                        <p:attrNameLst>
                                          <p:attrName>style.visibility</p:attrName>
                                        </p:attrNameLst>
                                      </p:cBhvr>
                                      <p:to>
                                        <p:strVal val="visible"/>
                                      </p:to>
                                    </p:set>
                                    <p:anim calcmode="lin" valueType="num">
                                      <p:cBhvr additive="base">
                                        <p:cTn id="16" dur="500" fill="hold"/>
                                        <p:tgtEl>
                                          <p:spTgt spid="65543"/>
                                        </p:tgtEl>
                                        <p:attrNameLst>
                                          <p:attrName>ppt_x</p:attrName>
                                        </p:attrNameLst>
                                      </p:cBhvr>
                                      <p:tavLst>
                                        <p:tav tm="0">
                                          <p:val>
                                            <p:strVal val="1+#ppt_w/2"/>
                                          </p:val>
                                        </p:tav>
                                        <p:tav tm="100000">
                                          <p:val>
                                            <p:strVal val="#ppt_x"/>
                                          </p:val>
                                        </p:tav>
                                      </p:tavLst>
                                    </p:anim>
                                    <p:anim calcmode="lin" valueType="num">
                                      <p:cBhvr additive="base">
                                        <p:cTn id="17" dur="500" fill="hold"/>
                                        <p:tgtEl>
                                          <p:spTgt spid="655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P spid="65539" grpId="0" autoUpdateAnimBg="0"/>
      <p:bldP spid="65543"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1026"/>
          <p:cNvSpPr txBox="1">
            <a:spLocks noChangeArrowheads="1"/>
          </p:cNvSpPr>
          <p:nvPr/>
        </p:nvSpPr>
        <p:spPr bwMode="auto">
          <a:xfrm>
            <a:off x="609600" y="652463"/>
            <a:ext cx="7780338" cy="269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nSpc>
                <a:spcPct val="150000"/>
              </a:lnSpc>
            </a:pPr>
            <a:r>
              <a:rPr lang="en-US" altLang="zh-CN" sz="6000" b="1">
                <a:solidFill>
                  <a:srgbClr val="0000FF"/>
                </a:solidFill>
                <a:ea typeface="楷体_GB2312" charset="0"/>
              </a:rPr>
              <a:t>10.7 </a:t>
            </a:r>
          </a:p>
          <a:p>
            <a:pPr>
              <a:lnSpc>
                <a:spcPct val="150000"/>
              </a:lnSpc>
            </a:pPr>
            <a:r>
              <a:rPr lang="zh-CN" altLang="en-US" sz="5400" b="1">
                <a:solidFill>
                  <a:srgbClr val="0000FF"/>
                </a:solidFill>
                <a:ea typeface="楷体_GB2312" charset="0"/>
              </a:rPr>
              <a:t>各种排序方法的综合比较</a:t>
            </a:r>
            <a:endParaRPr lang="zh-CN" altLang="en-US" sz="3600" b="1">
              <a:solidFill>
                <a:srgbClr val="0000FF"/>
              </a:solidFill>
              <a:ea typeface="楷体_GB2312" charset="0"/>
            </a:endParaRPr>
          </a:p>
        </p:txBody>
      </p:sp>
    </p:spTree>
    <p:extLst>
      <p:ext uri="{BB962C8B-B14F-4D97-AF65-F5344CB8AC3E}">
        <p14:creationId xmlns:p14="http://schemas.microsoft.com/office/powerpoint/2010/main" val="15324524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dissolve">
                                      <p:cBhvr>
                                        <p:cTn id="7" dur="500"/>
                                        <p:tgtEl>
                                          <p:spTgt spid="94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p:cNvSpPr txBox="1">
            <a:spLocks noChangeArrowheads="1"/>
          </p:cNvSpPr>
          <p:nvPr/>
        </p:nvSpPr>
        <p:spPr bwMode="auto">
          <a:xfrm>
            <a:off x="1158875" y="152400"/>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一、时间性能</a:t>
            </a:r>
          </a:p>
        </p:txBody>
      </p:sp>
      <p:sp>
        <p:nvSpPr>
          <p:cNvPr id="66565" name="Text Box 5"/>
          <p:cNvSpPr txBox="1">
            <a:spLocks noChangeArrowheads="1"/>
          </p:cNvSpPr>
          <p:nvPr/>
        </p:nvSpPr>
        <p:spPr bwMode="auto">
          <a:xfrm>
            <a:off x="-457200" y="914400"/>
            <a:ext cx="5562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lgn="l">
              <a:lnSpc>
                <a:spcPct val="125000"/>
              </a:lnSpc>
            </a:pPr>
            <a:r>
              <a:rPr lang="en-US" altLang="zh-CN" sz="4000" b="1">
                <a:solidFill>
                  <a:schemeClr val="accent2"/>
                </a:solidFill>
                <a:ea typeface="楷体_GB2312" charset="0"/>
              </a:rPr>
              <a:t>1.  </a:t>
            </a:r>
            <a:r>
              <a:rPr lang="zh-CN" altLang="en-US" sz="4000" b="1">
                <a:solidFill>
                  <a:schemeClr val="accent2"/>
                </a:solidFill>
                <a:ea typeface="楷体_GB2312" charset="0"/>
              </a:rPr>
              <a:t>平均的时间性能</a:t>
            </a:r>
            <a:endParaRPr lang="zh-CN" altLang="en-US" sz="3600">
              <a:ea typeface="楷体_GB2312" charset="0"/>
            </a:endParaRPr>
          </a:p>
        </p:txBody>
      </p:sp>
      <p:sp>
        <p:nvSpPr>
          <p:cNvPr id="66568" name="Rectangle 8"/>
          <p:cNvSpPr>
            <a:spLocks noChangeArrowheads="1"/>
          </p:cNvSpPr>
          <p:nvPr/>
        </p:nvSpPr>
        <p:spPr bwMode="auto">
          <a:xfrm>
            <a:off x="1143000" y="5867400"/>
            <a:ext cx="294005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lgn="l">
              <a:lnSpc>
                <a:spcPct val="125000"/>
              </a:lnSpc>
            </a:pPr>
            <a:r>
              <a:rPr lang="zh-CN" altLang="en-US" sz="3600" b="1">
                <a:solidFill>
                  <a:srgbClr val="0000FF"/>
                </a:solidFill>
                <a:ea typeface="楷体_GB2312" charset="0"/>
              </a:rPr>
              <a:t>基数排序</a:t>
            </a:r>
            <a:endParaRPr lang="zh-CN" altLang="en-US" sz="3600">
              <a:ea typeface="楷体_GB2312" charset="0"/>
            </a:endParaRPr>
          </a:p>
        </p:txBody>
      </p:sp>
      <p:sp>
        <p:nvSpPr>
          <p:cNvPr id="66569" name="Rectangle 9"/>
          <p:cNvSpPr>
            <a:spLocks noChangeArrowheads="1"/>
          </p:cNvSpPr>
          <p:nvPr/>
        </p:nvSpPr>
        <p:spPr bwMode="auto">
          <a:xfrm>
            <a:off x="1143000" y="1905000"/>
            <a:ext cx="5273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时间复杂度为 </a:t>
            </a:r>
            <a:r>
              <a:rPr lang="en-US" altLang="zh-CN" sz="3600" b="1">
                <a:solidFill>
                  <a:srgbClr val="990000"/>
                </a:solidFill>
                <a:ea typeface="楷体_GB2312" charset="0"/>
              </a:rPr>
              <a:t>O(</a:t>
            </a:r>
            <a:r>
              <a:rPr lang="en-US" altLang="zh-CN" sz="3600" b="1" i="1">
                <a:solidFill>
                  <a:srgbClr val="990000"/>
                </a:solidFill>
                <a:ea typeface="楷体_GB2312" charset="0"/>
              </a:rPr>
              <a:t>n</a:t>
            </a:r>
            <a:r>
              <a:rPr lang="en-US" altLang="zh-CN" sz="3600" b="1">
                <a:solidFill>
                  <a:srgbClr val="990000"/>
                </a:solidFill>
                <a:ea typeface="楷体_GB2312" charset="0"/>
              </a:rPr>
              <a:t>log</a:t>
            </a:r>
            <a:r>
              <a:rPr lang="en-US" altLang="zh-CN" sz="3600" b="1" i="1">
                <a:solidFill>
                  <a:srgbClr val="990000"/>
                </a:solidFill>
                <a:ea typeface="楷体_GB2312" charset="0"/>
              </a:rPr>
              <a:t>n</a:t>
            </a:r>
            <a:r>
              <a:rPr lang="en-US" altLang="zh-CN" sz="3600" b="1">
                <a:solidFill>
                  <a:srgbClr val="990000"/>
                </a:solidFill>
                <a:ea typeface="楷体_GB2312" charset="0"/>
              </a:rPr>
              <a:t>)</a:t>
            </a:r>
            <a:r>
              <a:rPr lang="zh-CN" altLang="en-US" sz="3600" b="1">
                <a:solidFill>
                  <a:srgbClr val="990000"/>
                </a:solidFill>
                <a:ea typeface="楷体_GB2312" charset="0"/>
              </a:rPr>
              <a:t>：</a:t>
            </a:r>
            <a:endParaRPr lang="zh-CN" altLang="en-US" sz="3600">
              <a:ea typeface="楷体_GB2312" charset="0"/>
            </a:endParaRPr>
          </a:p>
        </p:txBody>
      </p:sp>
      <p:sp>
        <p:nvSpPr>
          <p:cNvPr id="66570" name="Rectangle 10"/>
          <p:cNvSpPr>
            <a:spLocks noChangeArrowheads="1"/>
          </p:cNvSpPr>
          <p:nvPr/>
        </p:nvSpPr>
        <p:spPr bwMode="auto">
          <a:xfrm>
            <a:off x="1143000" y="2438400"/>
            <a:ext cx="70834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lgn="l">
              <a:lnSpc>
                <a:spcPct val="125000"/>
              </a:lnSpc>
            </a:pPr>
            <a:r>
              <a:rPr lang="zh-CN" altLang="en-US" sz="3600" b="1">
                <a:solidFill>
                  <a:srgbClr val="FF0000"/>
                </a:solidFill>
                <a:ea typeface="楷体_GB2312" charset="0"/>
              </a:rPr>
              <a:t>快速排序、堆排序和归并排序</a:t>
            </a:r>
            <a:endParaRPr lang="zh-CN" altLang="en-US" sz="3600">
              <a:solidFill>
                <a:srgbClr val="FF0000"/>
              </a:solidFill>
              <a:ea typeface="楷体_GB2312" charset="0"/>
            </a:endParaRPr>
          </a:p>
        </p:txBody>
      </p:sp>
      <p:sp>
        <p:nvSpPr>
          <p:cNvPr id="66571" name="Rectangle 11"/>
          <p:cNvSpPr>
            <a:spLocks noChangeArrowheads="1"/>
          </p:cNvSpPr>
          <p:nvPr/>
        </p:nvSpPr>
        <p:spPr bwMode="auto">
          <a:xfrm>
            <a:off x="1143000" y="3305175"/>
            <a:ext cx="4705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latin typeface="隶书" charset="0"/>
                <a:ea typeface="隶书" charset="0"/>
              </a:rPr>
              <a:t>时间复杂度为 </a:t>
            </a:r>
            <a:r>
              <a:rPr lang="en-US" altLang="zh-CN" sz="3600" b="1">
                <a:solidFill>
                  <a:srgbClr val="990000"/>
                </a:solidFill>
                <a:ea typeface="隶书" charset="0"/>
              </a:rPr>
              <a:t>O(</a:t>
            </a:r>
            <a:r>
              <a:rPr lang="en-US" altLang="zh-CN" sz="3600" b="1" i="1">
                <a:solidFill>
                  <a:srgbClr val="990000"/>
                </a:solidFill>
                <a:ea typeface="隶书" charset="0"/>
              </a:rPr>
              <a:t>n</a:t>
            </a:r>
            <a:r>
              <a:rPr lang="en-US" altLang="zh-CN" sz="3600" b="1" baseline="30000">
                <a:solidFill>
                  <a:srgbClr val="990000"/>
                </a:solidFill>
                <a:ea typeface="隶书" charset="0"/>
              </a:rPr>
              <a:t>2</a:t>
            </a:r>
            <a:r>
              <a:rPr lang="en-US" altLang="zh-CN" sz="3600" b="1">
                <a:solidFill>
                  <a:srgbClr val="990000"/>
                </a:solidFill>
                <a:ea typeface="隶书" charset="0"/>
              </a:rPr>
              <a:t>)</a:t>
            </a:r>
            <a:r>
              <a:rPr lang="zh-CN" altLang="en-US" sz="3600" b="1">
                <a:solidFill>
                  <a:srgbClr val="990000"/>
                </a:solidFill>
                <a:ea typeface="隶书" charset="0"/>
              </a:rPr>
              <a:t>：</a:t>
            </a:r>
            <a:endParaRPr lang="zh-CN" altLang="en-US" sz="3600" b="1">
              <a:latin typeface="隶书" charset="0"/>
              <a:ea typeface="隶书" charset="0"/>
            </a:endParaRPr>
          </a:p>
        </p:txBody>
      </p:sp>
      <p:sp>
        <p:nvSpPr>
          <p:cNvPr id="66572" name="Rectangle 12"/>
          <p:cNvSpPr>
            <a:spLocks noChangeArrowheads="1"/>
          </p:cNvSpPr>
          <p:nvPr/>
        </p:nvSpPr>
        <p:spPr bwMode="auto">
          <a:xfrm>
            <a:off x="1143000" y="3810000"/>
            <a:ext cx="66230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lvl="2" algn="l">
              <a:lnSpc>
                <a:spcPct val="125000"/>
              </a:lnSpc>
            </a:pPr>
            <a:r>
              <a:rPr lang="zh-CN" altLang="en-US" sz="3600" b="1">
                <a:solidFill>
                  <a:srgbClr val="008784"/>
                </a:solidFill>
                <a:ea typeface="楷体_GB2312" charset="0"/>
              </a:rPr>
              <a:t>直接插入排序、起泡排序和</a:t>
            </a:r>
          </a:p>
          <a:p>
            <a:pPr lvl="2" algn="l">
              <a:lnSpc>
                <a:spcPct val="125000"/>
              </a:lnSpc>
            </a:pPr>
            <a:r>
              <a:rPr lang="zh-CN" altLang="en-US" sz="3600" b="1">
                <a:solidFill>
                  <a:srgbClr val="008784"/>
                </a:solidFill>
                <a:ea typeface="楷体_GB2312" charset="0"/>
              </a:rPr>
              <a:t>简单选择排序</a:t>
            </a:r>
          </a:p>
        </p:txBody>
      </p:sp>
      <p:sp>
        <p:nvSpPr>
          <p:cNvPr id="66573" name="Rectangle 13"/>
          <p:cNvSpPr>
            <a:spLocks noChangeArrowheads="1"/>
          </p:cNvSpPr>
          <p:nvPr/>
        </p:nvSpPr>
        <p:spPr bwMode="auto">
          <a:xfrm>
            <a:off x="1143000" y="5378450"/>
            <a:ext cx="4127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3600" b="1">
                <a:solidFill>
                  <a:srgbClr val="990000"/>
                </a:solidFill>
                <a:ea typeface="隶书" charset="0"/>
              </a:rPr>
              <a:t>时间复杂度为 </a:t>
            </a:r>
            <a:r>
              <a:rPr lang="en-US" altLang="zh-CN" sz="3600" b="1">
                <a:solidFill>
                  <a:srgbClr val="990000"/>
                </a:solidFill>
                <a:ea typeface="楷体_GB2312" charset="0"/>
              </a:rPr>
              <a:t>O(n):</a:t>
            </a:r>
            <a:endParaRPr lang="en-US" altLang="zh-CN" sz="3600">
              <a:ea typeface="楷体_GB2312" charset="0"/>
            </a:endParaRPr>
          </a:p>
        </p:txBody>
      </p:sp>
    </p:spTree>
    <p:extLst>
      <p:ext uri="{BB962C8B-B14F-4D97-AF65-F5344CB8AC3E}">
        <p14:creationId xmlns:p14="http://schemas.microsoft.com/office/powerpoint/2010/main" val="9451555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wipe(left)">
                                      <p:cBhvr>
                                        <p:cTn id="7" dur="500"/>
                                        <p:tgtEl>
                                          <p:spTgt spid="665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5"/>
                                        </p:tgtEl>
                                        <p:attrNameLst>
                                          <p:attrName>style.visibility</p:attrName>
                                        </p:attrNameLst>
                                      </p:cBhvr>
                                      <p:to>
                                        <p:strVal val="visible"/>
                                      </p:to>
                                    </p:set>
                                    <p:animEffect transition="in" filter="wipe(left)">
                                      <p:cBhvr>
                                        <p:cTn id="12" dur="500"/>
                                        <p:tgtEl>
                                          <p:spTgt spid="665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69"/>
                                        </p:tgtEl>
                                        <p:attrNameLst>
                                          <p:attrName>style.visibility</p:attrName>
                                        </p:attrNameLst>
                                      </p:cBhvr>
                                      <p:to>
                                        <p:strVal val="visible"/>
                                      </p:to>
                                    </p:set>
                                    <p:animEffect transition="in" filter="wipe(left)">
                                      <p:cBhvr>
                                        <p:cTn id="17" dur="500"/>
                                        <p:tgtEl>
                                          <p:spTgt spid="665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6570"/>
                                        </p:tgtEl>
                                        <p:attrNameLst>
                                          <p:attrName>style.visibility</p:attrName>
                                        </p:attrNameLst>
                                      </p:cBhvr>
                                      <p:to>
                                        <p:strVal val="visible"/>
                                      </p:to>
                                    </p:set>
                                    <p:animEffect transition="in" filter="wipe(left)">
                                      <p:cBhvr>
                                        <p:cTn id="22" dur="300"/>
                                        <p:tgtEl>
                                          <p:spTgt spid="665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6571"/>
                                        </p:tgtEl>
                                        <p:attrNameLst>
                                          <p:attrName>style.visibility</p:attrName>
                                        </p:attrNameLst>
                                      </p:cBhvr>
                                      <p:to>
                                        <p:strVal val="visible"/>
                                      </p:to>
                                    </p:set>
                                    <p:animEffect transition="in" filter="wipe(left)">
                                      <p:cBhvr>
                                        <p:cTn id="27" dur="500"/>
                                        <p:tgtEl>
                                          <p:spTgt spid="665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66572"/>
                                        </p:tgtEl>
                                        <p:attrNameLst>
                                          <p:attrName>style.visibility</p:attrName>
                                        </p:attrNameLst>
                                      </p:cBhvr>
                                      <p:to>
                                        <p:strVal val="visible"/>
                                      </p:to>
                                    </p:set>
                                    <p:animEffect transition="in" filter="wipe(left)">
                                      <p:cBhvr>
                                        <p:cTn id="32" dur="300"/>
                                        <p:tgtEl>
                                          <p:spTgt spid="665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6573"/>
                                        </p:tgtEl>
                                        <p:attrNameLst>
                                          <p:attrName>style.visibility</p:attrName>
                                        </p:attrNameLst>
                                      </p:cBhvr>
                                      <p:to>
                                        <p:strVal val="visible"/>
                                      </p:to>
                                    </p:set>
                                    <p:animEffect transition="in" filter="wipe(left)">
                                      <p:cBhvr>
                                        <p:cTn id="37" dur="500"/>
                                        <p:tgtEl>
                                          <p:spTgt spid="6657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66568"/>
                                        </p:tgtEl>
                                        <p:attrNameLst>
                                          <p:attrName>style.visibility</p:attrName>
                                        </p:attrNameLst>
                                      </p:cBhvr>
                                      <p:to>
                                        <p:strVal val="visible"/>
                                      </p:to>
                                    </p:set>
                                    <p:animEffect transition="in" filter="wipe(left)">
                                      <p:cBhvr>
                                        <p:cTn id="42" dur="300"/>
                                        <p:tgtEl>
                                          <p:spTgt spid="66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utoUpdateAnimBg="0"/>
      <p:bldP spid="66565" grpId="0" autoUpdateAnimBg="0"/>
      <p:bldP spid="66568" grpId="0" autoUpdateAnimBg="0"/>
      <p:bldP spid="66569" grpId="0" autoUpdateAnimBg="0"/>
      <p:bldP spid="66570" grpId="0" autoUpdateAnimBg="0"/>
      <p:bldP spid="66571" grpId="0" autoUpdateAnimBg="0"/>
      <p:bldP spid="66572" grpId="0" autoUpdateAnimBg="0"/>
      <p:bldP spid="66573"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1026"/>
          <p:cNvSpPr txBox="1">
            <a:spLocks noChangeArrowheads="1"/>
          </p:cNvSpPr>
          <p:nvPr/>
        </p:nvSpPr>
        <p:spPr bwMode="auto">
          <a:xfrm>
            <a:off x="517525" y="381000"/>
            <a:ext cx="8093075"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b="1">
                <a:solidFill>
                  <a:schemeClr val="accent2"/>
                </a:solidFill>
                <a:ea typeface="楷体_GB2312" charset="0"/>
              </a:rPr>
              <a:t>2. </a:t>
            </a:r>
            <a:r>
              <a:rPr lang="zh-CN" altLang="en-US" sz="3600" b="1">
                <a:solidFill>
                  <a:schemeClr val="accent2"/>
                </a:solidFill>
                <a:ea typeface="楷体_GB2312" charset="0"/>
              </a:rPr>
              <a:t>当待排记录序列按关键字顺序有序时</a:t>
            </a:r>
            <a:endParaRPr lang="zh-CN" altLang="en-US" sz="3600">
              <a:solidFill>
                <a:srgbClr val="800000"/>
              </a:solidFill>
              <a:ea typeface="楷体_GB2312" charset="0"/>
            </a:endParaRPr>
          </a:p>
        </p:txBody>
      </p:sp>
      <p:sp>
        <p:nvSpPr>
          <p:cNvPr id="95235" name="Text Box 1027"/>
          <p:cNvSpPr txBox="1">
            <a:spLocks noChangeArrowheads="1"/>
          </p:cNvSpPr>
          <p:nvPr/>
        </p:nvSpPr>
        <p:spPr bwMode="auto">
          <a:xfrm>
            <a:off x="533400" y="3810000"/>
            <a:ext cx="83058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b="1">
                <a:solidFill>
                  <a:schemeClr val="accent2"/>
                </a:solidFill>
                <a:ea typeface="楷体_GB2312" charset="0"/>
              </a:rPr>
              <a:t>3.</a:t>
            </a:r>
            <a:r>
              <a:rPr lang="en-US" altLang="zh-CN" sz="3600" b="1">
                <a:ea typeface="楷体_GB2312" charset="0"/>
              </a:rPr>
              <a:t> </a:t>
            </a:r>
            <a:r>
              <a:rPr lang="zh-CN" altLang="en-US" sz="3600" b="1">
                <a:solidFill>
                  <a:srgbClr val="800000"/>
                </a:solidFill>
                <a:ea typeface="楷体_GB2312" charset="0"/>
              </a:rPr>
              <a:t>简单选择排序、堆排序和归并排序</a:t>
            </a:r>
            <a:r>
              <a:rPr lang="zh-CN" altLang="en-US" sz="3600">
                <a:solidFill>
                  <a:srgbClr val="800000"/>
                </a:solidFill>
                <a:ea typeface="楷体_GB2312" charset="0"/>
              </a:rPr>
              <a:t>的时间性能</a:t>
            </a:r>
            <a:r>
              <a:rPr lang="zh-CN" altLang="en-US" sz="3600" b="1">
                <a:solidFill>
                  <a:srgbClr val="800000"/>
                </a:solidFill>
                <a:ea typeface="楷体_GB2312" charset="0"/>
              </a:rPr>
              <a:t>不随</a:t>
            </a:r>
            <a:r>
              <a:rPr lang="zh-CN" altLang="en-US" sz="3600">
                <a:solidFill>
                  <a:srgbClr val="800000"/>
                </a:solidFill>
                <a:ea typeface="楷体_GB2312" charset="0"/>
              </a:rPr>
              <a:t>记录序列中关键字的分布而改变</a:t>
            </a:r>
            <a:r>
              <a:rPr lang="zh-CN" altLang="en-US" sz="3600">
                <a:ea typeface="楷体_GB2312" charset="0"/>
              </a:rPr>
              <a:t>。</a:t>
            </a:r>
            <a:endParaRPr lang="zh-CN" altLang="en-US" sz="3400">
              <a:ea typeface="楷体_GB2312" charset="0"/>
            </a:endParaRPr>
          </a:p>
        </p:txBody>
      </p:sp>
      <p:sp>
        <p:nvSpPr>
          <p:cNvPr id="95236" name="Rectangle 1028"/>
          <p:cNvSpPr>
            <a:spLocks noChangeArrowheads="1"/>
          </p:cNvSpPr>
          <p:nvPr/>
        </p:nvSpPr>
        <p:spPr bwMode="auto">
          <a:xfrm>
            <a:off x="609600" y="1219200"/>
            <a:ext cx="83058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a:solidFill>
                  <a:srgbClr val="FF00FF"/>
                </a:solidFill>
                <a:ea typeface="楷体_GB2312" charset="0"/>
              </a:rPr>
              <a:t>    </a:t>
            </a:r>
            <a:r>
              <a:rPr lang="zh-CN" altLang="en-US" sz="3600" b="1">
                <a:solidFill>
                  <a:srgbClr val="FF00FF"/>
                </a:solidFill>
                <a:ea typeface="楷体_GB2312" charset="0"/>
              </a:rPr>
              <a:t>直接插入排序</a:t>
            </a:r>
            <a:r>
              <a:rPr lang="zh-CN" altLang="en-US" sz="3600">
                <a:solidFill>
                  <a:srgbClr val="FF00FF"/>
                </a:solidFill>
                <a:ea typeface="楷体_GB2312" charset="0"/>
              </a:rPr>
              <a:t>和</a:t>
            </a:r>
            <a:r>
              <a:rPr lang="zh-CN" altLang="en-US" sz="3600" b="1">
                <a:solidFill>
                  <a:srgbClr val="FF00FF"/>
                </a:solidFill>
                <a:ea typeface="楷体_GB2312" charset="0"/>
              </a:rPr>
              <a:t>起泡排序</a:t>
            </a:r>
            <a:r>
              <a:rPr lang="zh-CN" altLang="en-US" sz="3600">
                <a:ea typeface="楷体_GB2312" charset="0"/>
              </a:rPr>
              <a:t>能达到</a:t>
            </a:r>
            <a:r>
              <a:rPr lang="en-US" altLang="zh-CN" sz="3600" b="1">
                <a:solidFill>
                  <a:srgbClr val="FF00FF"/>
                </a:solidFill>
                <a:ea typeface="楷体_GB2312" charset="0"/>
              </a:rPr>
              <a:t>O(</a:t>
            </a:r>
            <a:r>
              <a:rPr lang="en-US" altLang="zh-CN" sz="3600" b="1" i="1">
                <a:solidFill>
                  <a:srgbClr val="FF00FF"/>
                </a:solidFill>
                <a:ea typeface="楷体_GB2312" charset="0"/>
              </a:rPr>
              <a:t>n</a:t>
            </a:r>
            <a:r>
              <a:rPr lang="en-US" altLang="zh-CN" sz="3600" b="1">
                <a:solidFill>
                  <a:srgbClr val="FF00FF"/>
                </a:solidFill>
                <a:ea typeface="楷体_GB2312" charset="0"/>
              </a:rPr>
              <a:t>)</a:t>
            </a:r>
            <a:r>
              <a:rPr lang="zh-CN" altLang="en-US" sz="3600">
                <a:ea typeface="楷体_GB2312" charset="0"/>
              </a:rPr>
              <a:t>的时间复杂度，    </a:t>
            </a:r>
          </a:p>
          <a:p>
            <a:pPr algn="l">
              <a:lnSpc>
                <a:spcPct val="140000"/>
              </a:lnSpc>
            </a:pPr>
            <a:r>
              <a:rPr lang="zh-CN" altLang="en-US" sz="3600">
                <a:solidFill>
                  <a:srgbClr val="800000"/>
                </a:solidFill>
                <a:ea typeface="楷体_GB2312" charset="0"/>
              </a:rPr>
              <a:t>    </a:t>
            </a:r>
            <a:r>
              <a:rPr lang="zh-CN" altLang="en-US" sz="3600" b="1">
                <a:solidFill>
                  <a:srgbClr val="800000"/>
                </a:solidFill>
                <a:ea typeface="楷体_GB2312" charset="0"/>
              </a:rPr>
              <a:t>快速排序</a:t>
            </a:r>
            <a:r>
              <a:rPr lang="zh-CN" altLang="en-US" sz="3600">
                <a:ea typeface="楷体_GB2312" charset="0"/>
              </a:rPr>
              <a:t>的时间性能</a:t>
            </a:r>
            <a:r>
              <a:rPr lang="zh-CN" altLang="en-US" sz="3600">
                <a:solidFill>
                  <a:srgbClr val="800000"/>
                </a:solidFill>
                <a:ea typeface="楷体_GB2312" charset="0"/>
              </a:rPr>
              <a:t>蜕化为</a:t>
            </a:r>
            <a:r>
              <a:rPr lang="en-US" altLang="zh-CN" sz="3600" b="1">
                <a:solidFill>
                  <a:srgbClr val="800000"/>
                </a:solidFill>
                <a:ea typeface="楷体_GB2312" charset="0"/>
              </a:rPr>
              <a:t>O(</a:t>
            </a:r>
            <a:r>
              <a:rPr lang="en-US" altLang="zh-CN" sz="3600" b="1" i="1">
                <a:solidFill>
                  <a:srgbClr val="800000"/>
                </a:solidFill>
                <a:ea typeface="楷体_GB2312" charset="0"/>
              </a:rPr>
              <a:t>n</a:t>
            </a:r>
            <a:r>
              <a:rPr lang="en-US" altLang="zh-CN" sz="3600" b="1" baseline="30000">
                <a:solidFill>
                  <a:srgbClr val="800000"/>
                </a:solidFill>
                <a:ea typeface="楷体_GB2312" charset="0"/>
              </a:rPr>
              <a:t>2</a:t>
            </a:r>
            <a:r>
              <a:rPr lang="en-US" altLang="zh-CN" sz="3600" b="1">
                <a:solidFill>
                  <a:srgbClr val="800000"/>
                </a:solidFill>
                <a:ea typeface="楷体_GB2312" charset="0"/>
              </a:rPr>
              <a:t>)</a:t>
            </a:r>
            <a:r>
              <a:rPr lang="en-US" altLang="zh-CN" sz="3600">
                <a:solidFill>
                  <a:srgbClr val="800000"/>
                </a:solidFill>
                <a:ea typeface="楷体_GB2312" charset="0"/>
              </a:rPr>
              <a:t> </a:t>
            </a:r>
            <a:r>
              <a:rPr lang="zh-CN" altLang="en-US" sz="3600">
                <a:solidFill>
                  <a:srgbClr val="800000"/>
                </a:solidFill>
                <a:ea typeface="楷体_GB2312" charset="0"/>
              </a:rPr>
              <a:t>。</a:t>
            </a:r>
          </a:p>
        </p:txBody>
      </p:sp>
    </p:spTree>
    <p:extLst>
      <p:ext uri="{BB962C8B-B14F-4D97-AF65-F5344CB8AC3E}">
        <p14:creationId xmlns:p14="http://schemas.microsoft.com/office/powerpoint/2010/main" val="229075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strips(downRight)">
                                      <p:cBhvr>
                                        <p:cTn id="7" dur="500"/>
                                        <p:tgtEl>
                                          <p:spTgt spid="95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5236"/>
                                        </p:tgtEl>
                                        <p:attrNameLst>
                                          <p:attrName>style.visibility</p:attrName>
                                        </p:attrNameLst>
                                      </p:cBhvr>
                                      <p:to>
                                        <p:strVal val="visible"/>
                                      </p:to>
                                    </p:set>
                                    <p:animEffect transition="in" filter="strips(downRight)">
                                      <p:cBhvr>
                                        <p:cTn id="12" dur="500"/>
                                        <p:tgtEl>
                                          <p:spTgt spid="95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5235"/>
                                        </p:tgtEl>
                                        <p:attrNameLst>
                                          <p:attrName>style.visibility</p:attrName>
                                        </p:attrNameLst>
                                      </p:cBhvr>
                                      <p:to>
                                        <p:strVal val="visible"/>
                                      </p:to>
                                    </p:set>
                                    <p:animEffect transition="in" filter="strips(downRight)">
                                      <p:cBhvr>
                                        <p:cTn id="17" dur="500"/>
                                        <p:tgtEl>
                                          <p:spTgt spid="95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5" grpId="0" autoUpdateAnimBg="0"/>
      <p:bldP spid="95236"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1158875" y="457200"/>
            <a:ext cx="3260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二、空间性能</a:t>
            </a:r>
          </a:p>
        </p:txBody>
      </p:sp>
      <p:sp>
        <p:nvSpPr>
          <p:cNvPr id="67587" name="Text Box 3"/>
          <p:cNvSpPr txBox="1">
            <a:spLocks noChangeArrowheads="1"/>
          </p:cNvSpPr>
          <p:nvPr/>
        </p:nvSpPr>
        <p:spPr bwMode="auto">
          <a:xfrm>
            <a:off x="349250" y="1268413"/>
            <a:ext cx="882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solidFill>
                  <a:srgbClr val="990000"/>
                </a:solidFill>
                <a:ea typeface="隶书" charset="0"/>
              </a:rPr>
              <a:t>指的是排序过程中所需的辅助空间大小</a:t>
            </a:r>
            <a:endParaRPr lang="zh-CN" altLang="en-US" sz="3800">
              <a:ea typeface="楷体_GB2312" charset="0"/>
            </a:endParaRPr>
          </a:p>
        </p:txBody>
      </p:sp>
      <p:sp>
        <p:nvSpPr>
          <p:cNvPr id="67588" name="Text Box 4"/>
          <p:cNvSpPr txBox="1">
            <a:spLocks noChangeArrowheads="1"/>
          </p:cNvSpPr>
          <p:nvPr/>
        </p:nvSpPr>
        <p:spPr bwMode="auto">
          <a:xfrm>
            <a:off x="593725" y="2133600"/>
            <a:ext cx="8550275"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4000" b="1">
                <a:solidFill>
                  <a:schemeClr val="accent2"/>
                </a:solidFill>
                <a:ea typeface="楷体_GB2312" charset="0"/>
              </a:rPr>
              <a:t>1.</a:t>
            </a:r>
            <a:r>
              <a:rPr lang="en-US" altLang="zh-CN" sz="4000">
                <a:solidFill>
                  <a:schemeClr val="accent2"/>
                </a:solidFill>
                <a:ea typeface="楷体_GB2312" charset="0"/>
              </a:rPr>
              <a:t> </a:t>
            </a:r>
            <a:r>
              <a:rPr lang="zh-CN" altLang="en-US" sz="3600">
                <a:solidFill>
                  <a:schemeClr val="accent2"/>
                </a:solidFill>
                <a:ea typeface="楷体_GB2312" charset="0"/>
              </a:rPr>
              <a:t>所有的</a:t>
            </a:r>
            <a:r>
              <a:rPr lang="zh-CN" altLang="en-US" sz="3600" b="1">
                <a:solidFill>
                  <a:srgbClr val="FF0000"/>
                </a:solidFill>
                <a:ea typeface="楷体_GB2312" charset="0"/>
              </a:rPr>
              <a:t>简单排序方法</a:t>
            </a:r>
            <a:r>
              <a:rPr lang="en-US" altLang="zh-CN" sz="3600">
                <a:solidFill>
                  <a:schemeClr val="accent2"/>
                </a:solidFill>
                <a:ea typeface="楷体_GB2312" charset="0"/>
              </a:rPr>
              <a:t>(</a:t>
            </a:r>
            <a:r>
              <a:rPr lang="zh-CN" altLang="en-US" sz="3600">
                <a:solidFill>
                  <a:schemeClr val="accent2"/>
                </a:solidFill>
                <a:ea typeface="楷体_GB2312" charset="0"/>
              </a:rPr>
              <a:t>包括：直接插入、起泡和简单选择</a:t>
            </a:r>
            <a:r>
              <a:rPr lang="en-US" altLang="zh-CN" sz="3600">
                <a:solidFill>
                  <a:schemeClr val="accent2"/>
                </a:solidFill>
                <a:ea typeface="楷体_GB2312" charset="0"/>
              </a:rPr>
              <a:t>) </a:t>
            </a:r>
            <a:r>
              <a:rPr lang="zh-CN" altLang="en-US" sz="3600">
                <a:solidFill>
                  <a:srgbClr val="FF0000"/>
                </a:solidFill>
                <a:ea typeface="楷体_GB2312" charset="0"/>
              </a:rPr>
              <a:t>和</a:t>
            </a:r>
            <a:r>
              <a:rPr lang="zh-CN" altLang="en-US" sz="3600" b="1">
                <a:solidFill>
                  <a:srgbClr val="FF0000"/>
                </a:solidFill>
                <a:ea typeface="楷体_GB2312" charset="0"/>
              </a:rPr>
              <a:t>堆排序</a:t>
            </a:r>
            <a:r>
              <a:rPr lang="zh-CN" altLang="en-US" sz="3600">
                <a:solidFill>
                  <a:schemeClr val="accent2"/>
                </a:solidFill>
                <a:ea typeface="楷体_GB2312" charset="0"/>
              </a:rPr>
              <a:t>的空间复杂度</a:t>
            </a:r>
            <a:r>
              <a:rPr lang="zh-CN" altLang="en-US" sz="3600" b="1">
                <a:solidFill>
                  <a:srgbClr val="FF0000"/>
                </a:solidFill>
                <a:ea typeface="楷体_GB2312" charset="0"/>
              </a:rPr>
              <a:t>为</a:t>
            </a:r>
            <a:r>
              <a:rPr lang="en-US" altLang="zh-CN" sz="3600" b="1">
                <a:solidFill>
                  <a:srgbClr val="FF0000"/>
                </a:solidFill>
                <a:ea typeface="楷体_GB2312" charset="0"/>
              </a:rPr>
              <a:t>O(1)</a:t>
            </a:r>
            <a:r>
              <a:rPr lang="zh-CN" altLang="en-US" sz="3600">
                <a:ea typeface="楷体_GB2312" charset="0"/>
              </a:rPr>
              <a:t>；</a:t>
            </a:r>
          </a:p>
        </p:txBody>
      </p:sp>
      <p:sp>
        <p:nvSpPr>
          <p:cNvPr id="67589" name="Text Box 5"/>
          <p:cNvSpPr txBox="1">
            <a:spLocks noChangeArrowheads="1"/>
          </p:cNvSpPr>
          <p:nvPr/>
        </p:nvSpPr>
        <p:spPr bwMode="auto">
          <a:xfrm>
            <a:off x="609600" y="4756150"/>
            <a:ext cx="85344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4000" b="1">
                <a:solidFill>
                  <a:schemeClr val="accent2"/>
                </a:solidFill>
                <a:ea typeface="楷体_GB2312" charset="0"/>
              </a:rPr>
              <a:t>2.</a:t>
            </a:r>
            <a:r>
              <a:rPr lang="en-US" altLang="zh-CN" sz="4000">
                <a:ea typeface="楷体_GB2312" charset="0"/>
              </a:rPr>
              <a:t> </a:t>
            </a:r>
            <a:r>
              <a:rPr lang="zh-CN" altLang="en-US" sz="3600" b="1">
                <a:solidFill>
                  <a:srgbClr val="FF0000"/>
                </a:solidFill>
                <a:ea typeface="楷体_GB2312" charset="0"/>
              </a:rPr>
              <a:t>快速排序为</a:t>
            </a:r>
            <a:r>
              <a:rPr lang="en-US" altLang="zh-CN" sz="3600" b="1">
                <a:solidFill>
                  <a:srgbClr val="FF0000"/>
                </a:solidFill>
                <a:ea typeface="楷体_GB2312" charset="0"/>
              </a:rPr>
              <a:t>O(log</a:t>
            </a:r>
            <a:r>
              <a:rPr lang="en-US" altLang="zh-CN" sz="3600" b="1" i="1">
                <a:solidFill>
                  <a:srgbClr val="FF0000"/>
                </a:solidFill>
                <a:ea typeface="楷体_GB2312" charset="0"/>
              </a:rPr>
              <a:t>n</a:t>
            </a:r>
            <a:r>
              <a:rPr lang="en-US" altLang="zh-CN" sz="3600" b="1">
                <a:solidFill>
                  <a:srgbClr val="FF0000"/>
                </a:solidFill>
                <a:ea typeface="楷体_GB2312" charset="0"/>
              </a:rPr>
              <a:t>)</a:t>
            </a:r>
            <a:r>
              <a:rPr lang="zh-CN" altLang="en-US" sz="3600" b="1">
                <a:solidFill>
                  <a:srgbClr val="FF0000"/>
                </a:solidFill>
                <a:ea typeface="楷体_GB2312" charset="0"/>
              </a:rPr>
              <a:t>，</a:t>
            </a:r>
            <a:r>
              <a:rPr lang="zh-CN" altLang="en-US" sz="3600">
                <a:solidFill>
                  <a:schemeClr val="accent2"/>
                </a:solidFill>
                <a:ea typeface="楷体_GB2312" charset="0"/>
              </a:rPr>
              <a:t>为递归程序执行过程中，栈所需的辅助空间；</a:t>
            </a:r>
          </a:p>
        </p:txBody>
      </p:sp>
    </p:spTree>
    <p:extLst>
      <p:ext uri="{BB962C8B-B14F-4D97-AF65-F5344CB8AC3E}">
        <p14:creationId xmlns:p14="http://schemas.microsoft.com/office/powerpoint/2010/main" val="4412937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strips(downRight)">
                                      <p:cBhvr>
                                        <p:cTn id="7" dur="500"/>
                                        <p:tgtEl>
                                          <p:spTgt spid="67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7587"/>
                                        </p:tgtEl>
                                        <p:attrNameLst>
                                          <p:attrName>style.visibility</p:attrName>
                                        </p:attrNameLst>
                                      </p:cBhvr>
                                      <p:to>
                                        <p:strVal val="visible"/>
                                      </p:to>
                                    </p:set>
                                    <p:animEffect transition="in" filter="strips(downRight)">
                                      <p:cBhvr>
                                        <p:cTn id="12" dur="500"/>
                                        <p:tgtEl>
                                          <p:spTgt spid="675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7588"/>
                                        </p:tgtEl>
                                        <p:attrNameLst>
                                          <p:attrName>style.visibility</p:attrName>
                                        </p:attrNameLst>
                                      </p:cBhvr>
                                      <p:to>
                                        <p:strVal val="visible"/>
                                      </p:to>
                                    </p:set>
                                    <p:animEffect transition="in" filter="strips(downRight)">
                                      <p:cBhvr>
                                        <p:cTn id="17" dur="500"/>
                                        <p:tgtEl>
                                          <p:spTgt spid="675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7589"/>
                                        </p:tgtEl>
                                        <p:attrNameLst>
                                          <p:attrName>style.visibility</p:attrName>
                                        </p:attrNameLst>
                                      </p:cBhvr>
                                      <p:to>
                                        <p:strVal val="visible"/>
                                      </p:to>
                                    </p:set>
                                    <p:animEffect transition="in" filter="strips(downRight)">
                                      <p:cBhvr>
                                        <p:cTn id="22" dur="500"/>
                                        <p:tgtEl>
                                          <p:spTgt spid="67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utoUpdateAnimBg="0"/>
      <p:bldP spid="67587" grpId="0" autoUpdateAnimBg="0"/>
      <p:bldP spid="67588" grpId="0" autoUpdateAnimBg="0"/>
      <p:bldP spid="67589"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609600" y="914400"/>
            <a:ext cx="8305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50000"/>
              </a:lnSpc>
            </a:pPr>
            <a:r>
              <a:rPr lang="en-US" altLang="zh-CN" sz="4000" b="1">
                <a:solidFill>
                  <a:schemeClr val="accent2"/>
                </a:solidFill>
                <a:ea typeface="楷体_GB2312" charset="0"/>
              </a:rPr>
              <a:t>3.</a:t>
            </a:r>
            <a:r>
              <a:rPr lang="en-US" altLang="zh-CN" sz="4000">
                <a:solidFill>
                  <a:schemeClr val="accent2"/>
                </a:solidFill>
                <a:ea typeface="楷体_GB2312" charset="0"/>
              </a:rPr>
              <a:t> </a:t>
            </a:r>
            <a:r>
              <a:rPr lang="zh-CN" altLang="en-US" sz="4000" b="1">
                <a:solidFill>
                  <a:srgbClr val="990000"/>
                </a:solidFill>
                <a:ea typeface="楷体_GB2312" charset="0"/>
              </a:rPr>
              <a:t>归并排序</a:t>
            </a:r>
            <a:r>
              <a:rPr lang="zh-CN" altLang="en-US" sz="4000">
                <a:solidFill>
                  <a:schemeClr val="accent2"/>
                </a:solidFill>
                <a:ea typeface="楷体_GB2312" charset="0"/>
              </a:rPr>
              <a:t>所需辅助空间最多，其空间复杂度为 </a:t>
            </a:r>
            <a:r>
              <a:rPr lang="en-US" altLang="zh-CN" sz="4000" b="1">
                <a:solidFill>
                  <a:srgbClr val="990000"/>
                </a:solidFill>
                <a:ea typeface="楷体_GB2312" charset="0"/>
              </a:rPr>
              <a:t>O(</a:t>
            </a:r>
            <a:r>
              <a:rPr lang="en-US" altLang="zh-CN" sz="4000" b="1" i="1">
                <a:solidFill>
                  <a:srgbClr val="990000"/>
                </a:solidFill>
                <a:ea typeface="楷体_GB2312" charset="0"/>
              </a:rPr>
              <a:t>n</a:t>
            </a:r>
            <a:r>
              <a:rPr lang="en-US" altLang="zh-CN" sz="4000" b="1">
                <a:solidFill>
                  <a:srgbClr val="990000"/>
                </a:solidFill>
                <a:ea typeface="楷体_GB2312" charset="0"/>
              </a:rPr>
              <a:t>);</a:t>
            </a:r>
            <a:endParaRPr lang="en-US" altLang="zh-CN" sz="4000">
              <a:solidFill>
                <a:schemeClr val="accent2"/>
              </a:solidFill>
              <a:ea typeface="楷体_GB2312" charset="0"/>
            </a:endParaRPr>
          </a:p>
        </p:txBody>
      </p:sp>
      <p:sp>
        <p:nvSpPr>
          <p:cNvPr id="96259" name="Text Box 3"/>
          <p:cNvSpPr txBox="1">
            <a:spLocks noChangeArrowheads="1"/>
          </p:cNvSpPr>
          <p:nvPr/>
        </p:nvSpPr>
        <p:spPr bwMode="auto">
          <a:xfrm>
            <a:off x="641350" y="3276600"/>
            <a:ext cx="82740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50000"/>
              </a:lnSpc>
            </a:pPr>
            <a:r>
              <a:rPr lang="en-US" altLang="zh-CN" sz="4000" b="1">
                <a:solidFill>
                  <a:schemeClr val="accent2"/>
                </a:solidFill>
                <a:ea typeface="楷体_GB2312" charset="0"/>
              </a:rPr>
              <a:t>4. </a:t>
            </a:r>
            <a:r>
              <a:rPr lang="zh-CN" altLang="en-US" sz="4000" b="1">
                <a:solidFill>
                  <a:srgbClr val="990000"/>
                </a:solidFill>
                <a:ea typeface="楷体_GB2312" charset="0"/>
              </a:rPr>
              <a:t>链式基数排序</a:t>
            </a:r>
            <a:r>
              <a:rPr lang="zh-CN" altLang="en-US" sz="4000">
                <a:solidFill>
                  <a:schemeClr val="accent2"/>
                </a:solidFill>
                <a:ea typeface="楷体_GB2312" charset="0"/>
              </a:rPr>
              <a:t>需附设队列首尾指针，则空间复杂度为 </a:t>
            </a:r>
            <a:r>
              <a:rPr lang="en-US" altLang="zh-CN" sz="4000" b="1">
                <a:solidFill>
                  <a:srgbClr val="990000"/>
                </a:solidFill>
                <a:ea typeface="楷体_GB2312" charset="0"/>
              </a:rPr>
              <a:t>O(</a:t>
            </a:r>
            <a:r>
              <a:rPr lang="en-US" altLang="zh-CN" sz="4000" b="1" i="1">
                <a:solidFill>
                  <a:srgbClr val="990000"/>
                </a:solidFill>
                <a:ea typeface="楷体_GB2312" charset="0"/>
              </a:rPr>
              <a:t>rd</a:t>
            </a:r>
            <a:r>
              <a:rPr lang="en-US" altLang="zh-CN" sz="4000" b="1">
                <a:solidFill>
                  <a:srgbClr val="990000"/>
                </a:solidFill>
                <a:ea typeface="楷体_GB2312" charset="0"/>
              </a:rPr>
              <a:t>)</a:t>
            </a:r>
            <a:r>
              <a:rPr lang="zh-CN" altLang="en-US" sz="4000" b="1">
                <a:solidFill>
                  <a:srgbClr val="990000"/>
                </a:solidFill>
                <a:ea typeface="楷体_GB2312" charset="0"/>
              </a:rPr>
              <a:t>。</a:t>
            </a:r>
            <a:endParaRPr lang="zh-CN" altLang="en-US" sz="3600">
              <a:ea typeface="楷体_GB2312" charset="0"/>
            </a:endParaRPr>
          </a:p>
        </p:txBody>
      </p:sp>
    </p:spTree>
    <p:extLst>
      <p:ext uri="{BB962C8B-B14F-4D97-AF65-F5344CB8AC3E}">
        <p14:creationId xmlns:p14="http://schemas.microsoft.com/office/powerpoint/2010/main" val="9006797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wipe(left)">
                                      <p:cBhvr>
                                        <p:cTn id="7" dur="500"/>
                                        <p:tgtEl>
                                          <p:spTgt spid="962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gtEl>
                                        <p:attrNameLst>
                                          <p:attrName>style.visibility</p:attrName>
                                        </p:attrNameLst>
                                      </p:cBhvr>
                                      <p:to>
                                        <p:strVal val="visible"/>
                                      </p:to>
                                    </p:set>
                                    <p:animEffect transition="in" filter="wipe(left)">
                                      <p:cBhvr>
                                        <p:cTn id="12" dur="500"/>
                                        <p:tgtEl>
                                          <p:spTgt spid="96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utoUpdateAnimBg="0"/>
      <p:bldP spid="96259"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28600" y="44450"/>
            <a:ext cx="577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b="1">
                <a:solidFill>
                  <a:srgbClr val="FF00FF"/>
                </a:solidFill>
                <a:ea typeface="楷体_GB2312" charset="0"/>
              </a:rPr>
              <a:t>三、排序方法的稳定性能</a:t>
            </a:r>
          </a:p>
        </p:txBody>
      </p:sp>
      <p:sp>
        <p:nvSpPr>
          <p:cNvPr id="68612" name="Text Box 4"/>
          <p:cNvSpPr txBox="1">
            <a:spLocks noChangeArrowheads="1"/>
          </p:cNvSpPr>
          <p:nvPr/>
        </p:nvSpPr>
        <p:spPr bwMode="auto">
          <a:xfrm>
            <a:off x="441325" y="836613"/>
            <a:ext cx="8702675" cy="154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4000" b="1">
                <a:ea typeface="楷体_GB2312" charset="0"/>
              </a:rPr>
              <a:t>  1.</a:t>
            </a:r>
            <a:r>
              <a:rPr lang="en-US" altLang="zh-CN" sz="4000">
                <a:ea typeface="楷体_GB2312" charset="0"/>
              </a:rPr>
              <a:t> </a:t>
            </a:r>
            <a:r>
              <a:rPr lang="zh-CN" altLang="en-US" sz="3600">
                <a:ea typeface="楷体_GB2312" charset="0"/>
              </a:rPr>
              <a:t>当</a:t>
            </a:r>
            <a:r>
              <a:rPr lang="zh-CN" altLang="en-US" sz="3600">
                <a:solidFill>
                  <a:srgbClr val="0000FF"/>
                </a:solidFill>
                <a:ea typeface="楷体_GB2312" charset="0"/>
              </a:rPr>
              <a:t>对多关键字的记录序列进行</a:t>
            </a:r>
            <a:r>
              <a:rPr lang="en-US" altLang="zh-CN" sz="3600">
                <a:solidFill>
                  <a:srgbClr val="0000FF"/>
                </a:solidFill>
                <a:ea typeface="楷体_GB2312" charset="0"/>
              </a:rPr>
              <a:t>LSD</a:t>
            </a:r>
            <a:r>
              <a:rPr lang="zh-CN" altLang="en-US" sz="3600">
                <a:solidFill>
                  <a:srgbClr val="0000FF"/>
                </a:solidFill>
                <a:ea typeface="楷体_GB2312" charset="0"/>
              </a:rPr>
              <a:t>方法排序时，必须采用稳定的排序方法</a:t>
            </a:r>
            <a:r>
              <a:rPr lang="zh-CN" altLang="en-US" sz="3600">
                <a:ea typeface="楷体_GB2312" charset="0"/>
              </a:rPr>
              <a:t>。</a:t>
            </a:r>
          </a:p>
        </p:txBody>
      </p:sp>
      <p:sp>
        <p:nvSpPr>
          <p:cNvPr id="68619" name="AutoShape 11">
            <a:hlinkClick r:id="" action="ppaction://hlinkshowjump?jump=nextslide" highlightClick="1"/>
          </p:cNvPr>
          <p:cNvSpPr>
            <a:spLocks noChangeArrowheads="1"/>
          </p:cNvSpPr>
          <p:nvPr/>
        </p:nvSpPr>
        <p:spPr bwMode="auto">
          <a:xfrm>
            <a:off x="8382000" y="6248400"/>
            <a:ext cx="381000" cy="381000"/>
          </a:xfrm>
          <a:prstGeom prst="actionButtonForwardNext">
            <a:avLst/>
          </a:prstGeom>
          <a:solidFill>
            <a:srgbClr val="FFCC00"/>
          </a:solidFill>
          <a:ln w="9525">
            <a:solidFill>
              <a:schemeClr val="tx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68620" name="Text Box 12"/>
          <p:cNvSpPr txBox="1">
            <a:spLocks noChangeArrowheads="1"/>
          </p:cNvSpPr>
          <p:nvPr/>
        </p:nvSpPr>
        <p:spPr bwMode="auto">
          <a:xfrm>
            <a:off x="515938" y="2276475"/>
            <a:ext cx="8628062" cy="154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4000" b="1">
                <a:ea typeface="楷体_GB2312" charset="0"/>
              </a:rPr>
              <a:t>  2.</a:t>
            </a:r>
            <a:r>
              <a:rPr lang="en-US" altLang="zh-CN" sz="4000">
                <a:ea typeface="楷体_GB2312" charset="0"/>
              </a:rPr>
              <a:t>  </a:t>
            </a:r>
            <a:r>
              <a:rPr lang="zh-CN" altLang="en-US" sz="3600">
                <a:solidFill>
                  <a:srgbClr val="003366"/>
                </a:solidFill>
                <a:ea typeface="楷体_GB2312" charset="0"/>
              </a:rPr>
              <a:t>对于不稳定的排序方法，只要能举出一个实例说明即可。</a:t>
            </a:r>
            <a:endParaRPr lang="zh-CN" altLang="en-US" sz="3600">
              <a:ea typeface="楷体_GB2312" charset="0"/>
            </a:endParaRPr>
          </a:p>
        </p:txBody>
      </p:sp>
      <p:sp>
        <p:nvSpPr>
          <p:cNvPr id="68621" name="Text Box 13"/>
          <p:cNvSpPr txBox="1">
            <a:spLocks noChangeArrowheads="1"/>
          </p:cNvSpPr>
          <p:nvPr/>
        </p:nvSpPr>
        <p:spPr bwMode="auto">
          <a:xfrm>
            <a:off x="323850" y="5346700"/>
            <a:ext cx="8555038"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b="1">
                <a:ea typeface="楷体_GB2312" charset="0"/>
              </a:rPr>
              <a:t>  3.  </a:t>
            </a:r>
            <a:r>
              <a:rPr lang="zh-CN" altLang="en-US" sz="3600" b="1">
                <a:solidFill>
                  <a:srgbClr val="000080"/>
                </a:solidFill>
                <a:ea typeface="楷体_GB2312" charset="0"/>
              </a:rPr>
              <a:t>快速排序、堆排序和希尔排序是不稳定的排序方法</a:t>
            </a:r>
            <a:r>
              <a:rPr lang="zh-CN" altLang="en-US" sz="3600">
                <a:ea typeface="楷体_GB2312" charset="0"/>
              </a:rPr>
              <a:t>。</a:t>
            </a:r>
          </a:p>
        </p:txBody>
      </p:sp>
      <p:sp>
        <p:nvSpPr>
          <p:cNvPr id="68622" name="Text Box 14"/>
          <p:cNvSpPr txBox="1">
            <a:spLocks noChangeArrowheads="1"/>
          </p:cNvSpPr>
          <p:nvPr/>
        </p:nvSpPr>
        <p:spPr bwMode="auto">
          <a:xfrm>
            <a:off x="381000" y="3908425"/>
            <a:ext cx="8512175"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spcBef>
                <a:spcPct val="50000"/>
              </a:spcBef>
            </a:pPr>
            <a:r>
              <a:rPr lang="zh-CN" altLang="en-US" sz="3600" b="1">
                <a:solidFill>
                  <a:srgbClr val="003366"/>
                </a:solidFill>
                <a:ea typeface="楷体_GB2312" charset="0"/>
              </a:rPr>
              <a:t>例如 </a:t>
            </a:r>
            <a:r>
              <a:rPr lang="en-US" altLang="zh-CN" sz="3600" b="1">
                <a:solidFill>
                  <a:srgbClr val="003366"/>
                </a:solidFill>
                <a:ea typeface="楷体_GB2312" charset="0"/>
              </a:rPr>
              <a:t>:   </a:t>
            </a:r>
            <a:r>
              <a:rPr lang="zh-CN" altLang="en-US" sz="3600">
                <a:solidFill>
                  <a:srgbClr val="003366"/>
                </a:solidFill>
                <a:ea typeface="楷体_GB2312" charset="0"/>
              </a:rPr>
              <a:t>对 </a:t>
            </a:r>
            <a:r>
              <a:rPr lang="en-US" altLang="zh-CN" sz="3600">
                <a:solidFill>
                  <a:srgbClr val="003366"/>
                </a:solidFill>
                <a:ea typeface="楷体_GB2312" charset="0"/>
              </a:rPr>
              <a:t>{ </a:t>
            </a:r>
            <a:r>
              <a:rPr lang="en-US" altLang="zh-CN" sz="3600" b="1">
                <a:solidFill>
                  <a:srgbClr val="FF6600"/>
                </a:solidFill>
                <a:ea typeface="楷体_GB2312" charset="0"/>
              </a:rPr>
              <a:t>4</a:t>
            </a:r>
            <a:r>
              <a:rPr lang="en-US" altLang="zh-CN" sz="3600">
                <a:solidFill>
                  <a:srgbClr val="003366"/>
                </a:solidFill>
                <a:ea typeface="楷体_GB2312" charset="0"/>
              </a:rPr>
              <a:t>, 3, 4, 2 } </a:t>
            </a:r>
            <a:r>
              <a:rPr lang="zh-CN" altLang="en-US" sz="3600">
                <a:solidFill>
                  <a:srgbClr val="003366"/>
                </a:solidFill>
                <a:ea typeface="楷体_GB2312" charset="0"/>
              </a:rPr>
              <a:t>进行快速排序，</a:t>
            </a:r>
          </a:p>
          <a:p>
            <a:pPr algn="l">
              <a:spcBef>
                <a:spcPct val="50000"/>
              </a:spcBef>
            </a:pPr>
            <a:r>
              <a:rPr lang="zh-CN" altLang="en-US" sz="3600">
                <a:solidFill>
                  <a:srgbClr val="003366"/>
                </a:solidFill>
                <a:ea typeface="楷体_GB2312" charset="0"/>
              </a:rPr>
              <a:t>         得到 </a:t>
            </a:r>
            <a:r>
              <a:rPr lang="en-US" altLang="zh-CN" sz="3600">
                <a:solidFill>
                  <a:srgbClr val="003366"/>
                </a:solidFill>
                <a:ea typeface="楷体_GB2312" charset="0"/>
              </a:rPr>
              <a:t>{ 2, 3, 4, </a:t>
            </a:r>
            <a:r>
              <a:rPr lang="en-US" altLang="zh-CN" sz="3600" b="1">
                <a:solidFill>
                  <a:srgbClr val="FF6600"/>
                </a:solidFill>
                <a:ea typeface="楷体_GB2312" charset="0"/>
              </a:rPr>
              <a:t>4</a:t>
            </a:r>
            <a:r>
              <a:rPr lang="en-US" altLang="zh-CN" sz="3600">
                <a:solidFill>
                  <a:srgbClr val="003366"/>
                </a:solidFill>
                <a:ea typeface="楷体_GB2312" charset="0"/>
              </a:rPr>
              <a:t> }</a:t>
            </a:r>
          </a:p>
        </p:txBody>
      </p:sp>
    </p:spTree>
    <p:extLst>
      <p:ext uri="{BB962C8B-B14F-4D97-AF65-F5344CB8AC3E}">
        <p14:creationId xmlns:p14="http://schemas.microsoft.com/office/powerpoint/2010/main" val="15187699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68610"/>
                                        </p:tgtEl>
                                        <p:attrNameLst>
                                          <p:attrName>style.visibility</p:attrName>
                                        </p:attrNameLst>
                                      </p:cBhvr>
                                      <p:to>
                                        <p:strVal val="visible"/>
                                      </p:to>
                                    </p:set>
                                    <p:animEffect transition="in" filter="strips(downRight)">
                                      <p:cBhvr>
                                        <p:cTn id="7" dur="500"/>
                                        <p:tgtEl>
                                          <p:spTgt spid="6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wipe(left)">
                                      <p:cBhvr>
                                        <p:cTn id="12" dur="500"/>
                                        <p:tgtEl>
                                          <p:spTgt spid="68612"/>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68619"/>
                                        </p:tgtEl>
                                        <p:attrNameLst>
                                          <p:attrName>style.visibility</p:attrName>
                                        </p:attrNameLst>
                                      </p:cBhvr>
                                      <p:to>
                                        <p:strVal val="visible"/>
                                      </p:to>
                                    </p:set>
                                    <p:anim calcmode="lin" valueType="num">
                                      <p:cBhvr additive="base">
                                        <p:cTn id="16" dur="500" fill="hold"/>
                                        <p:tgtEl>
                                          <p:spTgt spid="68619"/>
                                        </p:tgtEl>
                                        <p:attrNameLst>
                                          <p:attrName>ppt_x</p:attrName>
                                        </p:attrNameLst>
                                      </p:cBhvr>
                                      <p:tavLst>
                                        <p:tav tm="0">
                                          <p:val>
                                            <p:strVal val="1+#ppt_w/2"/>
                                          </p:val>
                                        </p:tav>
                                        <p:tav tm="100000">
                                          <p:val>
                                            <p:strVal val="#ppt_x"/>
                                          </p:val>
                                        </p:tav>
                                      </p:tavLst>
                                    </p:anim>
                                    <p:anim calcmode="lin" valueType="num">
                                      <p:cBhvr additive="base">
                                        <p:cTn id="17" dur="500" fill="hold"/>
                                        <p:tgtEl>
                                          <p:spTgt spid="68619"/>
                                        </p:tgtEl>
                                        <p:attrNameLst>
                                          <p:attrName>ppt_y</p:attrName>
                                        </p:attrNameLst>
                                      </p:cBhvr>
                                      <p:tavLst>
                                        <p:tav tm="0">
                                          <p:val>
                                            <p:strVal val="1+#ppt_h/2"/>
                                          </p:val>
                                        </p:tav>
                                        <p:tav tm="100000">
                                          <p:val>
                                            <p:strVal val="#ppt_y"/>
                                          </p:val>
                                        </p:tav>
                                      </p:tavLst>
                                    </p:anim>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68620"/>
                                        </p:tgtEl>
                                        <p:attrNameLst>
                                          <p:attrName>style.visibility</p:attrName>
                                        </p:attrNameLst>
                                      </p:cBhvr>
                                      <p:to>
                                        <p:strVal val="visible"/>
                                      </p:to>
                                    </p:set>
                                    <p:animEffect transition="in" filter="wipe(left)">
                                      <p:cBhvr>
                                        <p:cTn id="21" dur="500"/>
                                        <p:tgtEl>
                                          <p:spTgt spid="6862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22"/>
                                        </p:tgtEl>
                                        <p:attrNameLst>
                                          <p:attrName>style.visibility</p:attrName>
                                        </p:attrNameLst>
                                      </p:cBhvr>
                                      <p:to>
                                        <p:strVal val="visible"/>
                                      </p:to>
                                    </p:set>
                                    <p:animEffect transition="in" filter="wipe(left)">
                                      <p:cBhvr>
                                        <p:cTn id="26" dur="500"/>
                                        <p:tgtEl>
                                          <p:spTgt spid="6862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8621"/>
                                        </p:tgtEl>
                                        <p:attrNameLst>
                                          <p:attrName>style.visibility</p:attrName>
                                        </p:attrNameLst>
                                      </p:cBhvr>
                                      <p:to>
                                        <p:strVal val="visible"/>
                                      </p:to>
                                    </p:set>
                                    <p:animEffect transition="in" filter="wipe(left)">
                                      <p:cBhvr>
                                        <p:cTn id="31" dur="500"/>
                                        <p:tgtEl>
                                          <p:spTgt spid="68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autoUpdateAnimBg="0"/>
      <p:bldP spid="68612" grpId="0" autoUpdateAnimBg="0"/>
      <p:bldP spid="68619" grpId="0" animBg="1"/>
      <p:bldP spid="68620" grpId="0" autoUpdateAnimBg="0"/>
      <p:bldP spid="68621" grpId="0" autoUpdateAnimBg="0"/>
      <p:bldP spid="68622"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684213" y="404813"/>
            <a:ext cx="7772400" cy="947737"/>
          </a:xfrm>
        </p:spPr>
        <p:txBody>
          <a:bodyPr/>
          <a:lstStyle/>
          <a:p>
            <a:r>
              <a:rPr lang="zh-CN" altLang="en-US"/>
              <a:t>各种排序方法的比较</a:t>
            </a:r>
          </a:p>
        </p:txBody>
      </p:sp>
      <p:sp>
        <p:nvSpPr>
          <p:cNvPr id="142339" name="Rectangle 3"/>
          <p:cNvSpPr>
            <a:spLocks noGrp="1" noChangeArrowheads="1"/>
          </p:cNvSpPr>
          <p:nvPr>
            <p:ph type="body" idx="1"/>
          </p:nvPr>
        </p:nvSpPr>
        <p:spPr/>
        <p:txBody>
          <a:bodyPr/>
          <a:lstStyle/>
          <a:p>
            <a:endParaRPr lang="zh-CN" altLang="zh-CN"/>
          </a:p>
        </p:txBody>
      </p:sp>
      <p:pic>
        <p:nvPicPr>
          <p:cNvPr id="142340" name="Picture 4" descr="10-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773238"/>
            <a:ext cx="7026275" cy="4676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1748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684213" y="0"/>
            <a:ext cx="7772400" cy="1341438"/>
          </a:xfrm>
        </p:spPr>
        <p:txBody>
          <a:bodyPr/>
          <a:lstStyle/>
          <a:p>
            <a:pPr algn="l"/>
            <a:r>
              <a:rPr lang="zh-CN" altLang="en-US" sz="3600" b="1">
                <a:solidFill>
                  <a:srgbClr val="990033"/>
                </a:solidFill>
                <a:ea typeface="楷体_GB2312" charset="0"/>
              </a:rPr>
              <a:t>排序方法的选用</a:t>
            </a:r>
            <a:r>
              <a:rPr lang="zh-CN" altLang="en-US"/>
              <a:t> </a:t>
            </a:r>
          </a:p>
        </p:txBody>
      </p:sp>
      <p:sp>
        <p:nvSpPr>
          <p:cNvPr id="141315" name="Rectangle 3"/>
          <p:cNvSpPr>
            <a:spLocks noGrp="1" noChangeArrowheads="1"/>
          </p:cNvSpPr>
          <p:nvPr>
            <p:ph type="body" idx="1"/>
          </p:nvPr>
        </p:nvSpPr>
        <p:spPr>
          <a:xfrm>
            <a:off x="323850" y="1341438"/>
            <a:ext cx="8135938" cy="6092825"/>
          </a:xfrm>
        </p:spPr>
        <p:txBody>
          <a:bodyPr/>
          <a:lstStyle/>
          <a:p>
            <a:pPr marL="457200" indent="-457200">
              <a:lnSpc>
                <a:spcPct val="90000"/>
              </a:lnSpc>
            </a:pPr>
            <a:r>
              <a:rPr lang="zh-CN" altLang="en-US" sz="2800" b="1">
                <a:solidFill>
                  <a:srgbClr val="990033"/>
                </a:solidFill>
                <a:ea typeface="楷体_GB2312" charset="0"/>
              </a:rPr>
              <a:t>一般情况下考虑的原则有：（</a:t>
            </a:r>
            <a:r>
              <a:rPr lang="en-US" altLang="zh-CN" sz="2800" b="1">
                <a:solidFill>
                  <a:srgbClr val="990033"/>
                </a:solidFill>
                <a:ea typeface="楷体_GB2312" charset="0"/>
              </a:rPr>
              <a:t>1</a:t>
            </a:r>
            <a:r>
              <a:rPr lang="zh-CN" altLang="en-US" sz="2800" b="1">
                <a:solidFill>
                  <a:srgbClr val="990033"/>
                </a:solidFill>
                <a:ea typeface="楷体_GB2312" charset="0"/>
              </a:rPr>
              <a:t>）待排序的记录个数</a:t>
            </a:r>
            <a:r>
              <a:rPr lang="en-US" altLang="zh-CN" sz="2800" b="1">
                <a:solidFill>
                  <a:srgbClr val="990033"/>
                </a:solidFill>
                <a:ea typeface="楷体_GB2312" charset="0"/>
              </a:rPr>
              <a:t>n</a:t>
            </a:r>
            <a:r>
              <a:rPr lang="zh-CN" altLang="en-US" sz="2800" b="1">
                <a:solidFill>
                  <a:srgbClr val="990033"/>
                </a:solidFill>
                <a:ea typeface="楷体_GB2312" charset="0"/>
              </a:rPr>
              <a:t>；（</a:t>
            </a:r>
            <a:r>
              <a:rPr lang="en-US" altLang="zh-CN" sz="2800" b="1">
                <a:solidFill>
                  <a:srgbClr val="990033"/>
                </a:solidFill>
                <a:ea typeface="楷体_GB2312" charset="0"/>
              </a:rPr>
              <a:t>2</a:t>
            </a:r>
            <a:r>
              <a:rPr lang="zh-CN" altLang="en-US" sz="2800" b="1">
                <a:solidFill>
                  <a:srgbClr val="990033"/>
                </a:solidFill>
                <a:ea typeface="楷体_GB2312" charset="0"/>
              </a:rPr>
              <a:t>）记录本身的大小；（</a:t>
            </a:r>
            <a:r>
              <a:rPr lang="en-US" altLang="zh-CN" sz="2800" b="1">
                <a:solidFill>
                  <a:srgbClr val="990033"/>
                </a:solidFill>
                <a:ea typeface="楷体_GB2312" charset="0"/>
              </a:rPr>
              <a:t>3</a:t>
            </a:r>
            <a:r>
              <a:rPr lang="zh-CN" altLang="en-US" sz="2800" b="1">
                <a:solidFill>
                  <a:srgbClr val="990033"/>
                </a:solidFill>
                <a:ea typeface="楷体_GB2312" charset="0"/>
              </a:rPr>
              <a:t>）关键字的分布情况；（</a:t>
            </a:r>
            <a:r>
              <a:rPr lang="en-US" altLang="zh-CN" sz="2800" b="1">
                <a:solidFill>
                  <a:srgbClr val="990033"/>
                </a:solidFill>
                <a:ea typeface="楷体_GB2312" charset="0"/>
              </a:rPr>
              <a:t>4</a:t>
            </a:r>
            <a:r>
              <a:rPr lang="zh-CN" altLang="en-US" sz="2800" b="1">
                <a:solidFill>
                  <a:srgbClr val="990033"/>
                </a:solidFill>
                <a:ea typeface="楷体_GB2312" charset="0"/>
              </a:rPr>
              <a:t>）对排序稳定性的要求等。</a:t>
            </a:r>
          </a:p>
          <a:p>
            <a:pPr marL="457200" indent="-457200">
              <a:lnSpc>
                <a:spcPct val="90000"/>
              </a:lnSpc>
            </a:pPr>
            <a:r>
              <a:rPr lang="zh-CN" altLang="en-US" sz="2800" b="1">
                <a:solidFill>
                  <a:srgbClr val="990033"/>
                </a:solidFill>
                <a:ea typeface="楷体_GB2312" charset="0"/>
              </a:rPr>
              <a:t>一般来说，在选择排序方法时，可有下列几种选择：</a:t>
            </a:r>
          </a:p>
          <a:p>
            <a:pPr marL="457200" indent="-457200">
              <a:lnSpc>
                <a:spcPct val="90000"/>
              </a:lnSpc>
            </a:pPr>
            <a:endParaRPr lang="zh-CN" altLang="en-US" sz="2800" b="1">
              <a:solidFill>
                <a:srgbClr val="990033"/>
              </a:solidFill>
              <a:ea typeface="楷体_GB2312" charset="0"/>
            </a:endParaRPr>
          </a:p>
          <a:p>
            <a:pPr marL="838200" lvl="1" indent="-381000">
              <a:lnSpc>
                <a:spcPct val="90000"/>
              </a:lnSpc>
              <a:buFontTx/>
              <a:buAutoNum type="arabicPeriod"/>
            </a:pPr>
            <a:r>
              <a:rPr lang="zh-CN" altLang="en-US" sz="2400" b="1">
                <a:solidFill>
                  <a:srgbClr val="990033"/>
                </a:solidFill>
                <a:ea typeface="楷体_GB2312" charset="0"/>
              </a:rPr>
              <a:t> 若待排序的记录个数</a:t>
            </a:r>
            <a:r>
              <a:rPr lang="en-US" altLang="zh-CN" sz="2400" b="1">
                <a:solidFill>
                  <a:srgbClr val="990033"/>
                </a:solidFill>
                <a:ea typeface="楷体_GB2312" charset="0"/>
              </a:rPr>
              <a:t>n</a:t>
            </a:r>
            <a:r>
              <a:rPr lang="zh-CN" altLang="en-US" sz="2400" b="1">
                <a:solidFill>
                  <a:srgbClr val="990033"/>
                </a:solidFill>
                <a:ea typeface="楷体_GB2312" charset="0"/>
              </a:rPr>
              <a:t>值较小（例如</a:t>
            </a:r>
            <a:r>
              <a:rPr lang="en-US" altLang="zh-CN" sz="2400" b="1">
                <a:solidFill>
                  <a:srgbClr val="990033"/>
                </a:solidFill>
                <a:ea typeface="楷体_GB2312" charset="0"/>
              </a:rPr>
              <a:t>n&lt;30</a:t>
            </a:r>
            <a:r>
              <a:rPr lang="zh-CN" altLang="en-US" sz="2400" b="1">
                <a:solidFill>
                  <a:srgbClr val="990033"/>
                </a:solidFill>
                <a:ea typeface="楷体_GB2312" charset="0"/>
              </a:rPr>
              <a:t>），则可选用插入排序法，但若记录所含数据项较多，所占存储量大时，应选用选择排序法。反之，若待排序的记录个数</a:t>
            </a:r>
            <a:r>
              <a:rPr lang="en-US" altLang="zh-CN" sz="2400" b="1">
                <a:solidFill>
                  <a:srgbClr val="990033"/>
                </a:solidFill>
                <a:ea typeface="楷体_GB2312" charset="0"/>
              </a:rPr>
              <a:t>n</a:t>
            </a:r>
            <a:r>
              <a:rPr lang="zh-CN" altLang="en-US" sz="2400" b="1">
                <a:solidFill>
                  <a:srgbClr val="990033"/>
                </a:solidFill>
                <a:ea typeface="楷体_GB2312" charset="0"/>
              </a:rPr>
              <a:t>值较大时，应选用快速排序法。但若待排序记录关键字有</a:t>
            </a:r>
            <a:r>
              <a:rPr lang="en-US" altLang="zh-CN" sz="2400" b="1">
                <a:solidFill>
                  <a:srgbClr val="990033"/>
                </a:solidFill>
                <a:ea typeface="楷体_GB2312" charset="0"/>
              </a:rPr>
              <a:t>"</a:t>
            </a:r>
            <a:r>
              <a:rPr lang="zh-CN" altLang="en-US" sz="2400" b="1">
                <a:solidFill>
                  <a:srgbClr val="990033"/>
                </a:solidFill>
                <a:ea typeface="楷体_GB2312" charset="0"/>
              </a:rPr>
              <a:t>有序</a:t>
            </a:r>
            <a:r>
              <a:rPr lang="en-US" altLang="zh-CN" sz="2400" b="1">
                <a:solidFill>
                  <a:srgbClr val="990033"/>
                </a:solidFill>
                <a:ea typeface="楷体_GB2312" charset="0"/>
              </a:rPr>
              <a:t>"</a:t>
            </a:r>
            <a:r>
              <a:rPr lang="zh-CN" altLang="en-US" sz="2400" b="1">
                <a:solidFill>
                  <a:srgbClr val="990033"/>
                </a:solidFill>
                <a:ea typeface="楷体_GB2312" charset="0"/>
              </a:rPr>
              <a:t>倾向时，就慎用快速排序，而宁可选用堆排序或归并排序，而后两者的最大差别是所需辅助空间不等。</a:t>
            </a:r>
          </a:p>
          <a:p>
            <a:pPr marL="457200" indent="-457200">
              <a:lnSpc>
                <a:spcPct val="90000"/>
              </a:lnSpc>
            </a:pPr>
            <a:r>
              <a:rPr lang="zh-CN" altLang="en-US" sz="2800" b="1">
                <a:solidFill>
                  <a:srgbClr val="990033"/>
                </a:solidFill>
                <a:ea typeface="楷体_GB2312" charset="0"/>
              </a:rPr>
              <a:t>　</a:t>
            </a:r>
          </a:p>
        </p:txBody>
      </p:sp>
    </p:spTree>
    <p:extLst>
      <p:ext uri="{BB962C8B-B14F-4D97-AF65-F5344CB8AC3E}">
        <p14:creationId xmlns:p14="http://schemas.microsoft.com/office/powerpoint/2010/main" val="13070352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idx="1"/>
          </p:nvPr>
        </p:nvSpPr>
        <p:spPr>
          <a:xfrm>
            <a:off x="685800" y="836613"/>
            <a:ext cx="7772400" cy="5259387"/>
          </a:xfrm>
        </p:spPr>
        <p:txBody>
          <a:bodyPr>
            <a:normAutofit lnSpcReduction="10000"/>
          </a:bodyPr>
          <a:lstStyle/>
          <a:p>
            <a:pPr marL="381000" indent="-381000">
              <a:lnSpc>
                <a:spcPct val="80000"/>
              </a:lnSpc>
              <a:buFontTx/>
              <a:buAutoNum type="arabicPeriod" startAt="2"/>
            </a:pPr>
            <a:r>
              <a:rPr lang="en-US" altLang="zh-CN" sz="2400" b="1">
                <a:solidFill>
                  <a:srgbClr val="990033"/>
                </a:solidFill>
                <a:ea typeface="楷体_GB2312" charset="0"/>
              </a:rPr>
              <a:t> </a:t>
            </a:r>
            <a:r>
              <a:rPr lang="zh-CN" altLang="en-US" sz="2400" b="1">
                <a:solidFill>
                  <a:srgbClr val="990033"/>
                </a:solidFill>
                <a:ea typeface="楷体_GB2312" charset="0"/>
              </a:rPr>
              <a:t>快速排序和归并排序在</a:t>
            </a:r>
            <a:r>
              <a:rPr lang="en-US" altLang="zh-CN" sz="2400" b="1">
                <a:solidFill>
                  <a:srgbClr val="990033"/>
                </a:solidFill>
                <a:ea typeface="楷体_GB2312" charset="0"/>
              </a:rPr>
              <a:t>n</a:t>
            </a:r>
            <a:r>
              <a:rPr lang="zh-CN" altLang="en-US" sz="2400" b="1">
                <a:solidFill>
                  <a:srgbClr val="990033"/>
                </a:solidFill>
                <a:ea typeface="楷体_GB2312" charset="0"/>
              </a:rPr>
              <a:t>值较小时的性能不及直接插入排序，因此在实际应用时，可将它们和插入排序</a:t>
            </a:r>
            <a:r>
              <a:rPr lang="en-US" altLang="zh-CN" sz="2400" b="1">
                <a:solidFill>
                  <a:srgbClr val="990033"/>
                </a:solidFill>
                <a:ea typeface="楷体_GB2312" charset="0"/>
              </a:rPr>
              <a:t>"</a:t>
            </a:r>
            <a:r>
              <a:rPr lang="zh-CN" altLang="en-US" sz="2400" b="1">
                <a:solidFill>
                  <a:srgbClr val="990033"/>
                </a:solidFill>
                <a:ea typeface="楷体_GB2312" charset="0"/>
              </a:rPr>
              <a:t>混合</a:t>
            </a:r>
            <a:r>
              <a:rPr lang="en-US" altLang="zh-CN" sz="2400" b="1">
                <a:solidFill>
                  <a:srgbClr val="990033"/>
                </a:solidFill>
                <a:ea typeface="楷体_GB2312" charset="0"/>
              </a:rPr>
              <a:t>"</a:t>
            </a:r>
            <a:r>
              <a:rPr lang="zh-CN" altLang="en-US" sz="2400" b="1">
                <a:solidFill>
                  <a:srgbClr val="990033"/>
                </a:solidFill>
                <a:ea typeface="楷体_GB2312" charset="0"/>
              </a:rPr>
              <a:t>使用。如在快速排序划分子区间的长度小于某值时，转而调用直接插入排序；或者对待排记录序列先逐段进行直接插入排序，然后再利用</a:t>
            </a:r>
            <a:r>
              <a:rPr lang="en-US" altLang="zh-CN" sz="2400" b="1">
                <a:solidFill>
                  <a:srgbClr val="990033"/>
                </a:solidFill>
                <a:ea typeface="楷体_GB2312" charset="0"/>
              </a:rPr>
              <a:t>"</a:t>
            </a:r>
            <a:r>
              <a:rPr lang="zh-CN" altLang="en-US" sz="2400" b="1">
                <a:solidFill>
                  <a:srgbClr val="990033"/>
                </a:solidFill>
                <a:ea typeface="楷体_GB2312" charset="0"/>
              </a:rPr>
              <a:t>归并操作</a:t>
            </a:r>
            <a:r>
              <a:rPr lang="en-US" altLang="zh-CN" sz="2400" b="1">
                <a:solidFill>
                  <a:srgbClr val="990033"/>
                </a:solidFill>
                <a:ea typeface="楷体_GB2312" charset="0"/>
              </a:rPr>
              <a:t>"</a:t>
            </a:r>
            <a:r>
              <a:rPr lang="zh-CN" altLang="en-US" sz="2400" b="1">
                <a:solidFill>
                  <a:srgbClr val="990033"/>
                </a:solidFill>
                <a:ea typeface="楷体_GB2312" charset="0"/>
              </a:rPr>
              <a:t>进行两两归并直至整个序列有序为止。</a:t>
            </a:r>
          </a:p>
          <a:p>
            <a:pPr marL="381000" indent="-381000">
              <a:lnSpc>
                <a:spcPct val="80000"/>
              </a:lnSpc>
              <a:buFontTx/>
              <a:buAutoNum type="arabicPeriod" startAt="2"/>
            </a:pPr>
            <a:endParaRPr lang="zh-CN" altLang="en-US" sz="2400" b="1">
              <a:solidFill>
                <a:srgbClr val="990033"/>
              </a:solidFill>
              <a:ea typeface="楷体_GB2312" charset="0"/>
            </a:endParaRPr>
          </a:p>
          <a:p>
            <a:pPr marL="381000" indent="-381000">
              <a:lnSpc>
                <a:spcPct val="80000"/>
              </a:lnSpc>
              <a:buFontTx/>
              <a:buAutoNum type="arabicPeriod" startAt="2"/>
            </a:pPr>
            <a:r>
              <a:rPr lang="zh-CN" altLang="en-US" sz="2400" b="1">
                <a:solidFill>
                  <a:srgbClr val="990033"/>
                </a:solidFill>
                <a:ea typeface="楷体_GB2312" charset="0"/>
              </a:rPr>
              <a:t> 基数排序的时间复杂度为</a:t>
            </a:r>
            <a:r>
              <a:rPr lang="en-US" altLang="zh-CN" sz="2400" b="1">
                <a:solidFill>
                  <a:srgbClr val="990033"/>
                </a:solidFill>
                <a:ea typeface="楷体_GB2312" charset="0"/>
              </a:rPr>
              <a:t>O (d×n)</a:t>
            </a:r>
            <a:r>
              <a:rPr lang="zh-CN" altLang="en-US" sz="2400" b="1">
                <a:solidFill>
                  <a:srgbClr val="990033"/>
                </a:solidFill>
                <a:ea typeface="楷体_GB2312" charset="0"/>
              </a:rPr>
              <a:t>，因此特别适合于待排记录数 </a:t>
            </a:r>
            <a:r>
              <a:rPr lang="en-US" altLang="zh-CN" sz="2400" b="1">
                <a:solidFill>
                  <a:srgbClr val="990033"/>
                </a:solidFill>
                <a:ea typeface="楷体_GB2312" charset="0"/>
              </a:rPr>
              <a:t>n </a:t>
            </a:r>
            <a:r>
              <a:rPr lang="zh-CN" altLang="en-US" sz="2400" b="1">
                <a:solidFill>
                  <a:srgbClr val="990033"/>
                </a:solidFill>
                <a:ea typeface="楷体_GB2312" charset="0"/>
              </a:rPr>
              <a:t>值很大，而关键字</a:t>
            </a:r>
            <a:r>
              <a:rPr lang="en-US" altLang="zh-CN" sz="2400" b="1">
                <a:solidFill>
                  <a:srgbClr val="990033"/>
                </a:solidFill>
                <a:ea typeface="楷体_GB2312" charset="0"/>
              </a:rPr>
              <a:t>"</a:t>
            </a:r>
            <a:r>
              <a:rPr lang="zh-CN" altLang="en-US" sz="2400" b="1">
                <a:solidFill>
                  <a:srgbClr val="990033"/>
                </a:solidFill>
                <a:ea typeface="楷体_GB2312" charset="0"/>
              </a:rPr>
              <a:t>位数 </a:t>
            </a:r>
            <a:r>
              <a:rPr lang="en-US" altLang="zh-CN" sz="2400" b="1">
                <a:solidFill>
                  <a:srgbClr val="990033"/>
                </a:solidFill>
                <a:ea typeface="楷体_GB2312" charset="0"/>
              </a:rPr>
              <a:t>d "</a:t>
            </a:r>
            <a:r>
              <a:rPr lang="zh-CN" altLang="en-US" sz="2400" b="1">
                <a:solidFill>
                  <a:srgbClr val="990033"/>
                </a:solidFill>
                <a:ea typeface="楷体_GB2312" charset="0"/>
              </a:rPr>
              <a:t>较小的情况。并且还可以调整</a:t>
            </a:r>
            <a:r>
              <a:rPr lang="en-US" altLang="zh-CN" sz="2400" b="1">
                <a:solidFill>
                  <a:srgbClr val="990033"/>
                </a:solidFill>
                <a:ea typeface="楷体_GB2312" charset="0"/>
              </a:rPr>
              <a:t>"</a:t>
            </a:r>
            <a:r>
              <a:rPr lang="zh-CN" altLang="en-US" sz="2400" b="1">
                <a:solidFill>
                  <a:srgbClr val="990033"/>
                </a:solidFill>
                <a:ea typeface="楷体_GB2312" charset="0"/>
              </a:rPr>
              <a:t>基数</a:t>
            </a:r>
            <a:r>
              <a:rPr lang="en-US" altLang="zh-CN" sz="2400" b="1">
                <a:solidFill>
                  <a:srgbClr val="990033"/>
                </a:solidFill>
                <a:ea typeface="楷体_GB2312" charset="0"/>
              </a:rPr>
              <a:t>"</a:t>
            </a:r>
            <a:r>
              <a:rPr lang="zh-CN" altLang="en-US" sz="2400" b="1">
                <a:solidFill>
                  <a:srgbClr val="990033"/>
                </a:solidFill>
                <a:ea typeface="楷体_GB2312" charset="0"/>
              </a:rPr>
              <a:t>（如将基数定为</a:t>
            </a:r>
            <a:r>
              <a:rPr lang="en-US" altLang="zh-CN" sz="2400" b="1">
                <a:solidFill>
                  <a:srgbClr val="990033"/>
                </a:solidFill>
                <a:ea typeface="楷体_GB2312" charset="0"/>
              </a:rPr>
              <a:t>100</a:t>
            </a:r>
            <a:r>
              <a:rPr lang="zh-CN" altLang="en-US" sz="2400" b="1">
                <a:solidFill>
                  <a:srgbClr val="990033"/>
                </a:solidFill>
                <a:ea typeface="楷体_GB2312" charset="0"/>
              </a:rPr>
              <a:t>或</a:t>
            </a:r>
            <a:r>
              <a:rPr lang="en-US" altLang="zh-CN" sz="2400" b="1">
                <a:solidFill>
                  <a:srgbClr val="990033"/>
                </a:solidFill>
                <a:ea typeface="楷体_GB2312" charset="0"/>
              </a:rPr>
              <a:t>1000</a:t>
            </a:r>
            <a:r>
              <a:rPr lang="zh-CN" altLang="en-US" sz="2400" b="1">
                <a:solidFill>
                  <a:srgbClr val="990033"/>
                </a:solidFill>
                <a:ea typeface="楷体_GB2312" charset="0"/>
              </a:rPr>
              <a:t>等）以减少基数排序的趟数</a:t>
            </a:r>
            <a:r>
              <a:rPr lang="en-US" altLang="zh-CN" sz="2400" b="1">
                <a:solidFill>
                  <a:srgbClr val="990033"/>
                </a:solidFill>
                <a:ea typeface="楷体_GB2312" charset="0"/>
              </a:rPr>
              <a:t>d</a:t>
            </a:r>
            <a:r>
              <a:rPr lang="zh-CN" altLang="en-US" sz="2400" b="1">
                <a:solidFill>
                  <a:srgbClr val="990033"/>
                </a:solidFill>
                <a:ea typeface="楷体_GB2312" charset="0"/>
              </a:rPr>
              <a:t>的值。</a:t>
            </a:r>
          </a:p>
          <a:p>
            <a:pPr marL="381000" indent="-381000">
              <a:lnSpc>
                <a:spcPct val="80000"/>
              </a:lnSpc>
              <a:buFontTx/>
              <a:buAutoNum type="arabicPeriod" startAt="2"/>
            </a:pPr>
            <a:endParaRPr lang="zh-CN" altLang="en-US" sz="2400" b="1">
              <a:solidFill>
                <a:srgbClr val="990033"/>
              </a:solidFill>
              <a:ea typeface="楷体_GB2312" charset="0"/>
            </a:endParaRPr>
          </a:p>
          <a:p>
            <a:pPr marL="381000" indent="-381000">
              <a:lnSpc>
                <a:spcPct val="80000"/>
              </a:lnSpc>
              <a:buFontTx/>
              <a:buAutoNum type="arabicPeriod" startAt="2"/>
            </a:pPr>
            <a:r>
              <a:rPr lang="zh-CN" altLang="en-US" sz="2400" b="1">
                <a:solidFill>
                  <a:srgbClr val="990033"/>
                </a:solidFill>
                <a:ea typeface="楷体_GB2312" charset="0"/>
              </a:rPr>
              <a:t> 一般情况下，对单关键字进行排序时，所用的排序方法是否稳定无关紧要。但当按</a:t>
            </a:r>
            <a:r>
              <a:rPr lang="en-US" altLang="zh-CN" sz="2400" b="1">
                <a:solidFill>
                  <a:srgbClr val="990033"/>
                </a:solidFill>
                <a:ea typeface="楷体_GB2312" charset="0"/>
              </a:rPr>
              <a:t>"</a:t>
            </a:r>
            <a:r>
              <a:rPr lang="zh-CN" altLang="en-US" sz="2400" b="1">
                <a:solidFill>
                  <a:srgbClr val="990033"/>
                </a:solidFill>
                <a:ea typeface="楷体_GB2312" charset="0"/>
              </a:rPr>
              <a:t>最次位优先</a:t>
            </a:r>
            <a:r>
              <a:rPr lang="en-US" altLang="zh-CN" sz="2400" b="1">
                <a:solidFill>
                  <a:srgbClr val="990033"/>
                </a:solidFill>
                <a:ea typeface="楷体_GB2312" charset="0"/>
              </a:rPr>
              <a:t>"</a:t>
            </a:r>
            <a:r>
              <a:rPr lang="zh-CN" altLang="en-US" sz="2400" b="1">
                <a:solidFill>
                  <a:srgbClr val="990033"/>
                </a:solidFill>
                <a:ea typeface="楷体_GB2312" charset="0"/>
              </a:rPr>
              <a:t>进行多关键字排序时</a:t>
            </a:r>
            <a:r>
              <a:rPr lang="en-US" altLang="zh-CN" sz="2400" b="1">
                <a:solidFill>
                  <a:srgbClr val="990033"/>
                </a:solidFill>
                <a:ea typeface="楷体_GB2312" charset="0"/>
              </a:rPr>
              <a:t>(</a:t>
            </a:r>
            <a:r>
              <a:rPr lang="zh-CN" altLang="en-US" sz="2400" b="1">
                <a:solidFill>
                  <a:srgbClr val="990033"/>
                </a:solidFill>
                <a:ea typeface="楷体_GB2312" charset="0"/>
              </a:rPr>
              <a:t>除第一趟外</a:t>
            </a:r>
            <a:r>
              <a:rPr lang="en-US" altLang="zh-CN" sz="2400" b="1">
                <a:solidFill>
                  <a:srgbClr val="990033"/>
                </a:solidFill>
                <a:ea typeface="楷体_GB2312" charset="0"/>
              </a:rPr>
              <a:t>)</a:t>
            </a:r>
            <a:r>
              <a:rPr lang="zh-CN" altLang="en-US" sz="2400" b="1">
                <a:solidFill>
                  <a:srgbClr val="990033"/>
                </a:solidFill>
                <a:ea typeface="楷体_GB2312" charset="0"/>
              </a:rPr>
              <a:t>必须选用稳定的排序方法。 </a:t>
            </a:r>
          </a:p>
          <a:p>
            <a:pPr marL="381000" indent="-381000">
              <a:lnSpc>
                <a:spcPct val="80000"/>
              </a:lnSpc>
              <a:buFontTx/>
              <a:buAutoNum type="arabicPeriod" startAt="2"/>
            </a:pPr>
            <a:endParaRPr lang="zh-CN" altLang="en-US" sz="2000"/>
          </a:p>
        </p:txBody>
      </p:sp>
    </p:spTree>
    <p:extLst>
      <p:ext uri="{BB962C8B-B14F-4D97-AF65-F5344CB8AC3E}">
        <p14:creationId xmlns:p14="http://schemas.microsoft.com/office/powerpoint/2010/main" val="6600330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457200" y="428625"/>
            <a:ext cx="868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r>
              <a:rPr lang="zh-CN" altLang="en-US" sz="3600" b="1">
                <a:solidFill>
                  <a:srgbClr val="FF00FF"/>
                </a:solidFill>
                <a:ea typeface="楷体_GB2312" charset="0"/>
              </a:rPr>
              <a:t>四、关于“排序方法的时间复杂度的下限”</a:t>
            </a:r>
            <a:endParaRPr lang="zh-CN" altLang="en-US" sz="3800" b="1">
              <a:solidFill>
                <a:srgbClr val="FF00FF"/>
              </a:solidFill>
              <a:ea typeface="楷体_GB2312" charset="0"/>
            </a:endParaRPr>
          </a:p>
        </p:txBody>
      </p:sp>
      <p:sp>
        <p:nvSpPr>
          <p:cNvPr id="69636" name="Text Box 4"/>
          <p:cNvSpPr txBox="1">
            <a:spLocks noChangeArrowheads="1"/>
          </p:cNvSpPr>
          <p:nvPr/>
        </p:nvSpPr>
        <p:spPr bwMode="auto">
          <a:xfrm>
            <a:off x="381000" y="1219200"/>
            <a:ext cx="8763000"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3600">
                <a:ea typeface="楷体_GB2312" charset="0"/>
              </a:rPr>
              <a:t>    </a:t>
            </a:r>
            <a:r>
              <a:rPr lang="zh-CN" altLang="en-US" sz="3600">
                <a:ea typeface="楷体_GB2312" charset="0"/>
              </a:rPr>
              <a:t>本章讨论的各种排序方法，除基数排序外，其它方法都是</a:t>
            </a:r>
            <a:r>
              <a:rPr lang="zh-CN" altLang="en-US" sz="3600" b="1">
                <a:solidFill>
                  <a:schemeClr val="accent2"/>
                </a:solidFill>
                <a:ea typeface="楷体_GB2312" charset="0"/>
              </a:rPr>
              <a:t>基于“比较关键字”进行排序的排序方法。</a:t>
            </a:r>
            <a:endParaRPr lang="zh-CN" altLang="en-US" sz="3600">
              <a:ea typeface="楷体_GB2312" charset="0"/>
            </a:endParaRPr>
          </a:p>
        </p:txBody>
      </p:sp>
      <p:sp>
        <p:nvSpPr>
          <p:cNvPr id="69637" name="Rectangle 5"/>
          <p:cNvSpPr>
            <a:spLocks noChangeArrowheads="1"/>
          </p:cNvSpPr>
          <p:nvPr/>
        </p:nvSpPr>
        <p:spPr bwMode="auto">
          <a:xfrm>
            <a:off x="381000" y="3505200"/>
            <a:ext cx="8534400"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3600">
                <a:ea typeface="楷体_GB2312" charset="0"/>
              </a:rPr>
              <a:t>    </a:t>
            </a:r>
            <a:r>
              <a:rPr lang="zh-CN" altLang="en-US" sz="3600">
                <a:ea typeface="楷体_GB2312" charset="0"/>
              </a:rPr>
              <a:t>可以证明，  这类排序法</a:t>
            </a:r>
            <a:r>
              <a:rPr lang="zh-CN" altLang="en-US" sz="3600" b="1">
                <a:solidFill>
                  <a:schemeClr val="accent2"/>
                </a:solidFill>
                <a:ea typeface="楷体_GB2312" charset="0"/>
              </a:rPr>
              <a:t>可能达到的最快的时间复杂度为</a:t>
            </a:r>
            <a:r>
              <a:rPr lang="en-US" altLang="zh-CN" sz="3600" b="1">
                <a:solidFill>
                  <a:schemeClr val="accent2"/>
                </a:solidFill>
                <a:ea typeface="楷体_GB2312" charset="0"/>
              </a:rPr>
              <a:t>O(</a:t>
            </a:r>
            <a:r>
              <a:rPr lang="en-US" altLang="zh-CN" sz="3600" b="1" i="1">
                <a:solidFill>
                  <a:schemeClr val="accent2"/>
                </a:solidFill>
                <a:ea typeface="楷体_GB2312" charset="0"/>
              </a:rPr>
              <a:t>n</a:t>
            </a:r>
            <a:r>
              <a:rPr lang="en-US" altLang="zh-CN" sz="3600" b="1">
                <a:solidFill>
                  <a:schemeClr val="accent2"/>
                </a:solidFill>
                <a:ea typeface="楷体_GB2312" charset="0"/>
              </a:rPr>
              <a:t>log</a:t>
            </a:r>
            <a:r>
              <a:rPr lang="en-US" altLang="zh-CN" sz="3600" b="1" i="1">
                <a:solidFill>
                  <a:schemeClr val="accent2"/>
                </a:solidFill>
                <a:ea typeface="楷体_GB2312" charset="0"/>
              </a:rPr>
              <a:t>n</a:t>
            </a:r>
            <a:r>
              <a:rPr lang="en-US" altLang="zh-CN" sz="3600" b="1">
                <a:solidFill>
                  <a:schemeClr val="accent2"/>
                </a:solidFill>
                <a:ea typeface="楷体_GB2312" charset="0"/>
              </a:rPr>
              <a:t>)</a:t>
            </a:r>
            <a:r>
              <a:rPr lang="zh-CN" altLang="en-US" sz="3600">
                <a:solidFill>
                  <a:schemeClr val="accent2"/>
                </a:solidFill>
                <a:ea typeface="楷体_GB2312" charset="0"/>
              </a:rPr>
              <a:t>。</a:t>
            </a:r>
            <a:r>
              <a:rPr lang="zh-CN" altLang="en-US" sz="3600">
                <a:ea typeface="楷体_GB2312" charset="0"/>
              </a:rPr>
              <a:t>  </a:t>
            </a:r>
            <a:r>
              <a:rPr lang="en-US" altLang="zh-CN" sz="3600">
                <a:ea typeface="楷体_GB2312" charset="0"/>
              </a:rPr>
              <a:t>(</a:t>
            </a:r>
            <a:r>
              <a:rPr lang="zh-CN" altLang="en-US" sz="3600">
                <a:ea typeface="楷体_GB2312" charset="0"/>
              </a:rPr>
              <a:t>基数排序不是基于“比较关键字”的排序方法，所以它不受这个限制。</a:t>
            </a:r>
            <a:r>
              <a:rPr lang="en-US" altLang="zh-CN" sz="3600">
                <a:ea typeface="楷体_GB2312" charset="0"/>
              </a:rPr>
              <a:t>)</a:t>
            </a:r>
          </a:p>
        </p:txBody>
      </p:sp>
    </p:spTree>
    <p:extLst>
      <p:ext uri="{BB962C8B-B14F-4D97-AF65-F5344CB8AC3E}">
        <p14:creationId xmlns:p14="http://schemas.microsoft.com/office/powerpoint/2010/main" val="1932263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p:cTn id="7" dur="500" fill="hold"/>
                                        <p:tgtEl>
                                          <p:spTgt spid="69634"/>
                                        </p:tgtEl>
                                        <p:attrNameLst>
                                          <p:attrName>ppt_w</p:attrName>
                                        </p:attrNameLst>
                                      </p:cBhvr>
                                      <p:tavLst>
                                        <p:tav tm="0">
                                          <p:val>
                                            <p:fltVal val="0"/>
                                          </p:val>
                                        </p:tav>
                                        <p:tav tm="100000">
                                          <p:val>
                                            <p:strVal val="#ppt_w"/>
                                          </p:val>
                                        </p:tav>
                                      </p:tavLst>
                                    </p:anim>
                                    <p:anim calcmode="lin" valueType="num">
                                      <p:cBhvr>
                                        <p:cTn id="8" dur="500" fill="hold"/>
                                        <p:tgtEl>
                                          <p:spTgt spid="6963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69636"/>
                                        </p:tgtEl>
                                        <p:attrNameLst>
                                          <p:attrName>style.visibility</p:attrName>
                                        </p:attrNameLst>
                                      </p:cBhvr>
                                      <p:to>
                                        <p:strVal val="visible"/>
                                      </p:to>
                                    </p:set>
                                    <p:animEffect transition="in" filter="strips(downLeft)">
                                      <p:cBhvr>
                                        <p:cTn id="13" dur="500"/>
                                        <p:tgtEl>
                                          <p:spTgt spid="6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69636"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0" y="381000"/>
            <a:ext cx="9340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600">
                <a:solidFill>
                  <a:srgbClr val="0000FF"/>
                </a:solidFill>
                <a:ea typeface="楷体_GB2312" charset="0"/>
              </a:rPr>
              <a:t>   </a:t>
            </a:r>
            <a:r>
              <a:rPr lang="zh-CN" altLang="en-US" sz="3600">
                <a:solidFill>
                  <a:srgbClr val="0000FF"/>
                </a:solidFill>
                <a:ea typeface="楷体_GB2312" charset="0"/>
              </a:rPr>
              <a:t>例如</a:t>
            </a:r>
            <a:r>
              <a:rPr lang="en-US" altLang="zh-CN" sz="3600">
                <a:solidFill>
                  <a:srgbClr val="0000FF"/>
                </a:solidFill>
                <a:ea typeface="楷体_GB2312" charset="0"/>
              </a:rPr>
              <a:t>:</a:t>
            </a:r>
            <a:r>
              <a:rPr lang="zh-CN" altLang="en-US" sz="3600">
                <a:solidFill>
                  <a:srgbClr val="0000FF"/>
                </a:solidFill>
                <a:ea typeface="楷体_GB2312" charset="0"/>
              </a:rPr>
              <a:t>对三个关键字进行排序的判定树</a:t>
            </a:r>
            <a:r>
              <a:rPr lang="zh-CN" altLang="en-US" sz="3600">
                <a:ea typeface="楷体_GB2312" charset="0"/>
              </a:rPr>
              <a:t>如下：</a:t>
            </a:r>
          </a:p>
        </p:txBody>
      </p:sp>
      <p:sp>
        <p:nvSpPr>
          <p:cNvPr id="70659" name="Oval 3"/>
          <p:cNvSpPr>
            <a:spLocks noChangeArrowheads="1"/>
          </p:cNvSpPr>
          <p:nvPr/>
        </p:nvSpPr>
        <p:spPr bwMode="auto">
          <a:xfrm>
            <a:off x="2209800" y="1952625"/>
            <a:ext cx="1600200" cy="533400"/>
          </a:xfrm>
          <a:prstGeom prst="ellipse">
            <a:avLst/>
          </a:prstGeom>
          <a:noFill/>
          <a:ln w="28575">
            <a:solidFill>
              <a:srgbClr val="9900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0" name="Oval 4"/>
          <p:cNvSpPr>
            <a:spLocks noChangeArrowheads="1"/>
          </p:cNvSpPr>
          <p:nvPr/>
        </p:nvSpPr>
        <p:spPr bwMode="auto">
          <a:xfrm>
            <a:off x="3733800" y="1190625"/>
            <a:ext cx="1600200" cy="533400"/>
          </a:xfrm>
          <a:prstGeom prst="ellipse">
            <a:avLst/>
          </a:prstGeom>
          <a:noFill/>
          <a:ln w="28575">
            <a:solidFill>
              <a:srgbClr val="9900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zh-CN">
              <a:solidFill>
                <a:srgbClr val="FF00FF"/>
              </a:solidFill>
            </a:endParaRPr>
          </a:p>
        </p:txBody>
      </p:sp>
      <p:sp>
        <p:nvSpPr>
          <p:cNvPr id="70661" name="Oval 5"/>
          <p:cNvSpPr>
            <a:spLocks noChangeArrowheads="1"/>
          </p:cNvSpPr>
          <p:nvPr/>
        </p:nvSpPr>
        <p:spPr bwMode="auto">
          <a:xfrm>
            <a:off x="5486400" y="1952625"/>
            <a:ext cx="1600200" cy="533400"/>
          </a:xfrm>
          <a:prstGeom prst="ellipse">
            <a:avLst/>
          </a:prstGeom>
          <a:noFill/>
          <a:ln w="28575">
            <a:solidFill>
              <a:srgbClr val="9900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2" name="Oval 6"/>
          <p:cNvSpPr>
            <a:spLocks noChangeArrowheads="1"/>
          </p:cNvSpPr>
          <p:nvPr/>
        </p:nvSpPr>
        <p:spPr bwMode="auto">
          <a:xfrm>
            <a:off x="4953000" y="2943225"/>
            <a:ext cx="1600200" cy="533400"/>
          </a:xfrm>
          <a:prstGeom prst="ellipse">
            <a:avLst/>
          </a:prstGeom>
          <a:noFill/>
          <a:ln w="28575">
            <a:solidFill>
              <a:srgbClr val="9900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r>
              <a:rPr lang="en-US" altLang="zh-CN" sz="3000">
                <a:ea typeface="楷体_GB2312" charset="0"/>
              </a:rPr>
              <a: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3</a:t>
            </a:r>
          </a:p>
        </p:txBody>
      </p:sp>
      <p:sp>
        <p:nvSpPr>
          <p:cNvPr id="70663" name="Oval 7"/>
          <p:cNvSpPr>
            <a:spLocks noChangeArrowheads="1"/>
          </p:cNvSpPr>
          <p:nvPr/>
        </p:nvSpPr>
        <p:spPr bwMode="auto">
          <a:xfrm>
            <a:off x="1066800" y="2943225"/>
            <a:ext cx="1600200" cy="533400"/>
          </a:xfrm>
          <a:prstGeom prst="ellipse">
            <a:avLst/>
          </a:prstGeom>
          <a:noFill/>
          <a:ln w="28575">
            <a:solidFill>
              <a:srgbClr val="9900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4" name="Rectangle 8"/>
          <p:cNvSpPr>
            <a:spLocks noChangeArrowheads="1"/>
          </p:cNvSpPr>
          <p:nvPr/>
        </p:nvSpPr>
        <p:spPr bwMode="auto">
          <a:xfrm>
            <a:off x="2895600" y="2943225"/>
            <a:ext cx="16764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zh-CN">
              <a:solidFill>
                <a:srgbClr val="9933FF"/>
              </a:solidFill>
            </a:endParaRPr>
          </a:p>
        </p:txBody>
      </p:sp>
      <p:sp>
        <p:nvSpPr>
          <p:cNvPr id="70666" name="Rectangle 10"/>
          <p:cNvSpPr>
            <a:spLocks noChangeArrowheads="1"/>
          </p:cNvSpPr>
          <p:nvPr/>
        </p:nvSpPr>
        <p:spPr bwMode="auto">
          <a:xfrm>
            <a:off x="7010400" y="2943225"/>
            <a:ext cx="16764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7" name="Rectangle 11"/>
          <p:cNvSpPr>
            <a:spLocks noChangeArrowheads="1"/>
          </p:cNvSpPr>
          <p:nvPr/>
        </p:nvSpPr>
        <p:spPr bwMode="auto">
          <a:xfrm>
            <a:off x="6629400" y="4010025"/>
            <a:ext cx="18288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8" name="Rectangle 12"/>
          <p:cNvSpPr>
            <a:spLocks noChangeArrowheads="1"/>
          </p:cNvSpPr>
          <p:nvPr/>
        </p:nvSpPr>
        <p:spPr bwMode="auto">
          <a:xfrm>
            <a:off x="4572000" y="4010025"/>
            <a:ext cx="18288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69" name="Rectangle 13"/>
          <p:cNvSpPr>
            <a:spLocks noChangeArrowheads="1"/>
          </p:cNvSpPr>
          <p:nvPr/>
        </p:nvSpPr>
        <p:spPr bwMode="auto">
          <a:xfrm>
            <a:off x="2286000" y="4010025"/>
            <a:ext cx="17526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70" name="Rectangle 14"/>
          <p:cNvSpPr>
            <a:spLocks noChangeArrowheads="1"/>
          </p:cNvSpPr>
          <p:nvPr/>
        </p:nvSpPr>
        <p:spPr bwMode="auto">
          <a:xfrm>
            <a:off x="457200" y="4010025"/>
            <a:ext cx="1676400" cy="609600"/>
          </a:xfrm>
          <a:prstGeom prst="rect">
            <a:avLst/>
          </a:prstGeom>
          <a:noFill/>
          <a:ln w="28575">
            <a:solidFill>
              <a:srgbClr val="9933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71" name="Text Box 15"/>
          <p:cNvSpPr txBox="1">
            <a:spLocks noChangeArrowheads="1"/>
          </p:cNvSpPr>
          <p:nvPr/>
        </p:nvSpPr>
        <p:spPr bwMode="auto">
          <a:xfrm>
            <a:off x="3979863" y="1174750"/>
            <a:ext cx="12017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2</a:t>
            </a:r>
          </a:p>
        </p:txBody>
      </p:sp>
      <p:sp>
        <p:nvSpPr>
          <p:cNvPr id="70672" name="Text Box 16"/>
          <p:cNvSpPr txBox="1">
            <a:spLocks noChangeArrowheads="1"/>
          </p:cNvSpPr>
          <p:nvPr/>
        </p:nvSpPr>
        <p:spPr bwMode="auto">
          <a:xfrm>
            <a:off x="2455863" y="1876425"/>
            <a:ext cx="12017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3</a:t>
            </a:r>
          </a:p>
        </p:txBody>
      </p:sp>
      <p:sp>
        <p:nvSpPr>
          <p:cNvPr id="70673" name="Text Box 17"/>
          <p:cNvSpPr txBox="1">
            <a:spLocks noChangeArrowheads="1"/>
          </p:cNvSpPr>
          <p:nvPr/>
        </p:nvSpPr>
        <p:spPr bwMode="auto">
          <a:xfrm>
            <a:off x="5732463" y="1876425"/>
            <a:ext cx="120173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2</a:t>
            </a:r>
            <a:r>
              <a:rPr lang="en-US" altLang="zh-CN" sz="3000">
                <a:ea typeface="楷体_GB2312" charset="0"/>
              </a:rPr>
              <a:t>&lt;K</a:t>
            </a:r>
            <a:r>
              <a:rPr lang="en-US" altLang="zh-CN" sz="3000" baseline="-25000">
                <a:ea typeface="楷体_GB2312" charset="0"/>
              </a:rPr>
              <a:t>3</a:t>
            </a:r>
          </a:p>
        </p:txBody>
      </p:sp>
      <p:sp>
        <p:nvSpPr>
          <p:cNvPr id="70674" name="Text Box 18"/>
          <p:cNvSpPr txBox="1">
            <a:spLocks noChangeArrowheads="1"/>
          </p:cNvSpPr>
          <p:nvPr/>
        </p:nvSpPr>
        <p:spPr bwMode="auto">
          <a:xfrm>
            <a:off x="1203325" y="2927350"/>
            <a:ext cx="12969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2</a:t>
            </a:r>
            <a:r>
              <a:rPr lang="en-US" altLang="zh-CN" sz="3000">
                <a:ea typeface="楷体_GB2312" charset="0"/>
              </a:rPr>
              <a:t>&lt; K</a:t>
            </a:r>
            <a:r>
              <a:rPr lang="en-US" altLang="zh-CN" sz="3000" baseline="-25000">
                <a:ea typeface="楷体_GB2312" charset="0"/>
              </a:rPr>
              <a:t>3</a:t>
            </a:r>
          </a:p>
        </p:txBody>
      </p:sp>
      <p:sp>
        <p:nvSpPr>
          <p:cNvPr id="70675" name="Text Box 19"/>
          <p:cNvSpPr txBox="1">
            <a:spLocks noChangeArrowheads="1"/>
          </p:cNvSpPr>
          <p:nvPr/>
        </p:nvSpPr>
        <p:spPr bwMode="auto">
          <a:xfrm>
            <a:off x="2830513" y="2927350"/>
            <a:ext cx="18176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2</a:t>
            </a:r>
            <a:r>
              <a:rPr lang="en-US" altLang="zh-CN" sz="3000">
                <a:ea typeface="楷体_GB2312" charset="0"/>
              </a:rPr>
              <a:t>&lt;K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3</a:t>
            </a:r>
          </a:p>
        </p:txBody>
      </p:sp>
      <p:sp>
        <p:nvSpPr>
          <p:cNvPr id="70677" name="Text Box 21"/>
          <p:cNvSpPr txBox="1">
            <a:spLocks noChangeArrowheads="1"/>
          </p:cNvSpPr>
          <p:nvPr/>
        </p:nvSpPr>
        <p:spPr bwMode="auto">
          <a:xfrm>
            <a:off x="6945313" y="2909888"/>
            <a:ext cx="18176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solidFill>
                  <a:schemeClr val="tx2"/>
                </a:solidFill>
                <a:ea typeface="楷体_GB2312" charset="0"/>
              </a:rPr>
              <a:t>K</a:t>
            </a:r>
            <a:r>
              <a:rPr lang="en-US" altLang="zh-CN" sz="3000" baseline="-25000">
                <a:solidFill>
                  <a:schemeClr val="tx2"/>
                </a:solidFill>
                <a:ea typeface="楷体_GB2312" charset="0"/>
              </a:rPr>
              <a:t>1</a:t>
            </a:r>
            <a:r>
              <a:rPr lang="en-US" altLang="zh-CN" sz="3000">
                <a:solidFill>
                  <a:schemeClr val="tx2"/>
                </a:solidFill>
                <a:ea typeface="楷体_GB2312" charset="0"/>
              </a:rPr>
              <a:t>&lt;K</a:t>
            </a:r>
            <a:r>
              <a:rPr lang="en-US" altLang="zh-CN" sz="3000" baseline="-25000">
                <a:solidFill>
                  <a:schemeClr val="tx2"/>
                </a:solidFill>
                <a:ea typeface="楷体_GB2312" charset="0"/>
              </a:rPr>
              <a:t>2</a:t>
            </a:r>
            <a:r>
              <a:rPr lang="en-US" altLang="zh-CN" sz="3000">
                <a:solidFill>
                  <a:schemeClr val="tx2"/>
                </a:solidFill>
                <a:ea typeface="楷体_GB2312" charset="0"/>
              </a:rPr>
              <a:t>&lt;K</a:t>
            </a:r>
            <a:r>
              <a:rPr lang="en-US" altLang="zh-CN" sz="3000" baseline="-25000">
                <a:solidFill>
                  <a:schemeClr val="tx2"/>
                </a:solidFill>
                <a:ea typeface="楷体_GB2312" charset="0"/>
              </a:rPr>
              <a:t>3</a:t>
            </a:r>
          </a:p>
        </p:txBody>
      </p:sp>
      <p:sp>
        <p:nvSpPr>
          <p:cNvPr id="70678" name="Text Box 22"/>
          <p:cNvSpPr txBox="1">
            <a:spLocks noChangeArrowheads="1"/>
          </p:cNvSpPr>
          <p:nvPr/>
        </p:nvSpPr>
        <p:spPr bwMode="auto">
          <a:xfrm>
            <a:off x="381000" y="4010025"/>
            <a:ext cx="18176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3</a:t>
            </a:r>
            <a:r>
              <a:rPr lang="en-US" altLang="zh-CN" sz="3000">
                <a:ea typeface="楷体_GB2312" charset="0"/>
              </a:rPr>
              <a:t>&lt;K</a:t>
            </a:r>
            <a:r>
              <a:rPr lang="en-US" altLang="zh-CN" sz="3000" baseline="-25000">
                <a:ea typeface="楷体_GB2312" charset="0"/>
              </a:rPr>
              <a:t>2</a:t>
            </a:r>
            <a:r>
              <a:rPr lang="en-US" altLang="zh-CN" sz="3000">
                <a:ea typeface="楷体_GB2312" charset="0"/>
              </a:rPr>
              <a:t>&lt;K</a:t>
            </a:r>
            <a:r>
              <a:rPr lang="en-US" altLang="zh-CN" sz="3000" baseline="-25000">
                <a:ea typeface="楷体_GB2312" charset="0"/>
              </a:rPr>
              <a:t>1</a:t>
            </a:r>
          </a:p>
        </p:txBody>
      </p:sp>
      <p:sp>
        <p:nvSpPr>
          <p:cNvPr id="70679" name="Text Box 23"/>
          <p:cNvSpPr txBox="1">
            <a:spLocks noChangeArrowheads="1"/>
          </p:cNvSpPr>
          <p:nvPr/>
        </p:nvSpPr>
        <p:spPr bwMode="auto">
          <a:xfrm>
            <a:off x="2270125" y="3994150"/>
            <a:ext cx="18176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2</a:t>
            </a:r>
            <a:r>
              <a:rPr lang="en-US" altLang="zh-CN" sz="3000">
                <a:ea typeface="楷体_GB2312" charset="0"/>
              </a:rPr>
              <a:t>&lt;K</a:t>
            </a:r>
            <a:r>
              <a:rPr lang="en-US" altLang="zh-CN" sz="3000" baseline="-25000">
                <a:ea typeface="楷体_GB2312" charset="0"/>
              </a:rPr>
              <a:t>3</a:t>
            </a:r>
            <a:r>
              <a:rPr lang="en-US" altLang="zh-CN" sz="3000">
                <a:ea typeface="楷体_GB2312" charset="0"/>
              </a:rPr>
              <a:t>&lt;K</a:t>
            </a:r>
            <a:r>
              <a:rPr lang="en-US" altLang="zh-CN" sz="3000" baseline="-25000">
                <a:ea typeface="楷体_GB2312" charset="0"/>
              </a:rPr>
              <a:t>1</a:t>
            </a:r>
          </a:p>
        </p:txBody>
      </p:sp>
      <p:sp>
        <p:nvSpPr>
          <p:cNvPr id="70680" name="Text Box 24"/>
          <p:cNvSpPr txBox="1">
            <a:spLocks noChangeArrowheads="1"/>
          </p:cNvSpPr>
          <p:nvPr/>
        </p:nvSpPr>
        <p:spPr bwMode="auto">
          <a:xfrm>
            <a:off x="4572000" y="4010025"/>
            <a:ext cx="18176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3</a:t>
            </a:r>
            <a:r>
              <a:rPr lang="en-US" altLang="zh-CN" sz="3000">
                <a:ea typeface="楷体_GB2312" charset="0"/>
              </a:rPr>
              <a:t>&lt;K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2</a:t>
            </a:r>
          </a:p>
        </p:txBody>
      </p:sp>
      <p:sp>
        <p:nvSpPr>
          <p:cNvPr id="70682" name="Text Box 26"/>
          <p:cNvSpPr txBox="1">
            <a:spLocks noChangeArrowheads="1"/>
          </p:cNvSpPr>
          <p:nvPr/>
        </p:nvSpPr>
        <p:spPr bwMode="auto">
          <a:xfrm>
            <a:off x="6629400" y="4010025"/>
            <a:ext cx="18176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altLang="zh-CN" sz="3000">
                <a:ea typeface="楷体_GB2312" charset="0"/>
              </a:rPr>
              <a:t>K</a:t>
            </a:r>
            <a:r>
              <a:rPr lang="en-US" altLang="zh-CN" sz="3000" baseline="-25000">
                <a:ea typeface="楷体_GB2312" charset="0"/>
              </a:rPr>
              <a:t>1</a:t>
            </a:r>
            <a:r>
              <a:rPr lang="en-US" altLang="zh-CN" sz="3000">
                <a:ea typeface="楷体_GB2312" charset="0"/>
              </a:rPr>
              <a:t>&lt;K</a:t>
            </a:r>
            <a:r>
              <a:rPr lang="en-US" altLang="zh-CN" sz="3000" baseline="-25000">
                <a:ea typeface="楷体_GB2312" charset="0"/>
              </a:rPr>
              <a:t>3</a:t>
            </a:r>
            <a:r>
              <a:rPr lang="en-US" altLang="zh-CN" sz="3000">
                <a:ea typeface="楷体_GB2312" charset="0"/>
              </a:rPr>
              <a:t>&lt;K</a:t>
            </a:r>
            <a:r>
              <a:rPr lang="en-US" altLang="zh-CN" sz="3000" baseline="-25000">
                <a:ea typeface="楷体_GB2312" charset="0"/>
              </a:rPr>
              <a:t>2</a:t>
            </a:r>
          </a:p>
        </p:txBody>
      </p:sp>
      <p:sp>
        <p:nvSpPr>
          <p:cNvPr id="70683" name="Line 27"/>
          <p:cNvSpPr>
            <a:spLocks noChangeShapeType="1"/>
          </p:cNvSpPr>
          <p:nvPr/>
        </p:nvSpPr>
        <p:spPr bwMode="auto">
          <a:xfrm flipH="1">
            <a:off x="3429000" y="1647825"/>
            <a:ext cx="457200" cy="38100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4" name="Line 28"/>
          <p:cNvSpPr>
            <a:spLocks noChangeShapeType="1"/>
          </p:cNvSpPr>
          <p:nvPr/>
        </p:nvSpPr>
        <p:spPr bwMode="auto">
          <a:xfrm>
            <a:off x="5257800" y="1571625"/>
            <a:ext cx="914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5" name="Line 29"/>
          <p:cNvSpPr>
            <a:spLocks noChangeShapeType="1"/>
          </p:cNvSpPr>
          <p:nvPr/>
        </p:nvSpPr>
        <p:spPr bwMode="auto">
          <a:xfrm flipH="1">
            <a:off x="1828800" y="2333625"/>
            <a:ext cx="45720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6" name="Line 30"/>
          <p:cNvSpPr>
            <a:spLocks noChangeShapeType="1"/>
          </p:cNvSpPr>
          <p:nvPr/>
        </p:nvSpPr>
        <p:spPr bwMode="auto">
          <a:xfrm>
            <a:off x="3581400" y="2409825"/>
            <a:ext cx="3048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7" name="Line 31"/>
          <p:cNvSpPr>
            <a:spLocks noChangeShapeType="1"/>
          </p:cNvSpPr>
          <p:nvPr/>
        </p:nvSpPr>
        <p:spPr bwMode="auto">
          <a:xfrm flipH="1">
            <a:off x="5791200" y="2409825"/>
            <a:ext cx="762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8" name="Line 32"/>
          <p:cNvSpPr>
            <a:spLocks noChangeShapeType="1"/>
          </p:cNvSpPr>
          <p:nvPr/>
        </p:nvSpPr>
        <p:spPr bwMode="auto">
          <a:xfrm>
            <a:off x="6934200" y="2409825"/>
            <a:ext cx="762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89" name="Line 33"/>
          <p:cNvSpPr>
            <a:spLocks noChangeShapeType="1"/>
          </p:cNvSpPr>
          <p:nvPr/>
        </p:nvSpPr>
        <p:spPr bwMode="auto">
          <a:xfrm flipH="1">
            <a:off x="1219200" y="3476625"/>
            <a:ext cx="381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90" name="Line 34"/>
          <p:cNvSpPr>
            <a:spLocks noChangeShapeType="1"/>
          </p:cNvSpPr>
          <p:nvPr/>
        </p:nvSpPr>
        <p:spPr bwMode="auto">
          <a:xfrm>
            <a:off x="2209800" y="3476625"/>
            <a:ext cx="8382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91" name="Line 35"/>
          <p:cNvSpPr>
            <a:spLocks noChangeShapeType="1"/>
          </p:cNvSpPr>
          <p:nvPr/>
        </p:nvSpPr>
        <p:spPr bwMode="auto">
          <a:xfrm flipH="1">
            <a:off x="5257800" y="3476625"/>
            <a:ext cx="2286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92" name="Line 36"/>
          <p:cNvSpPr>
            <a:spLocks noChangeShapeType="1"/>
          </p:cNvSpPr>
          <p:nvPr/>
        </p:nvSpPr>
        <p:spPr bwMode="auto">
          <a:xfrm>
            <a:off x="6248400" y="3400425"/>
            <a:ext cx="83820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0693" name="Text Box 37"/>
          <p:cNvSpPr txBox="1">
            <a:spLocks noChangeArrowheads="1"/>
          </p:cNvSpPr>
          <p:nvPr/>
        </p:nvSpPr>
        <p:spPr bwMode="auto">
          <a:xfrm>
            <a:off x="381000" y="4953000"/>
            <a:ext cx="8396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ea typeface="楷体_GB2312" charset="0"/>
              </a:rPr>
              <a:t>１．树上的</a:t>
            </a:r>
            <a:r>
              <a:rPr lang="zh-CN" altLang="en-US" sz="4000">
                <a:solidFill>
                  <a:srgbClr val="0000FF"/>
                </a:solidFill>
                <a:ea typeface="楷体_GB2312" charset="0"/>
              </a:rPr>
              <a:t>每一次“比较”都是必要的</a:t>
            </a:r>
            <a:r>
              <a:rPr lang="en-US" altLang="zh-CN" sz="4000">
                <a:ea typeface="楷体_GB2312" charset="0"/>
              </a:rPr>
              <a:t>;</a:t>
            </a:r>
          </a:p>
        </p:txBody>
      </p:sp>
      <p:sp>
        <p:nvSpPr>
          <p:cNvPr id="70694" name="Text Box 38"/>
          <p:cNvSpPr txBox="1">
            <a:spLocks noChangeArrowheads="1"/>
          </p:cNvSpPr>
          <p:nvPr/>
        </p:nvSpPr>
        <p:spPr bwMode="auto">
          <a:xfrm>
            <a:off x="381000" y="5638800"/>
            <a:ext cx="8515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zh-CN" altLang="en-US" sz="4000">
                <a:ea typeface="楷体_GB2312" charset="0"/>
              </a:rPr>
              <a:t>２．</a:t>
            </a:r>
            <a:r>
              <a:rPr lang="zh-CN" altLang="en-US" sz="3600">
                <a:ea typeface="楷体_GB2312" charset="0"/>
              </a:rPr>
              <a:t>树上的</a:t>
            </a:r>
            <a:r>
              <a:rPr lang="zh-CN" altLang="en-US" sz="3600">
                <a:solidFill>
                  <a:srgbClr val="0000FF"/>
                </a:solidFill>
                <a:ea typeface="楷体_GB2312" charset="0"/>
              </a:rPr>
              <a:t>叶子结点包含所有可能情况</a:t>
            </a:r>
            <a:r>
              <a:rPr lang="zh-CN" altLang="en-US" sz="3600">
                <a:ea typeface="楷体_GB2312" charset="0"/>
              </a:rPr>
              <a:t>。</a:t>
            </a:r>
            <a:endParaRPr lang="zh-CN" altLang="en-US" sz="4000">
              <a:ea typeface="楷体_GB2312" charset="0"/>
            </a:endParaRPr>
          </a:p>
        </p:txBody>
      </p:sp>
    </p:spTree>
    <p:extLst>
      <p:ext uri="{BB962C8B-B14F-4D97-AF65-F5344CB8AC3E}">
        <p14:creationId xmlns:p14="http://schemas.microsoft.com/office/powerpoint/2010/main" val="14419190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wipe(up)">
                                      <p:cBhvr>
                                        <p:cTn id="7" dur="500"/>
                                        <p:tgtEl>
                                          <p:spTgt spid="706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0659"/>
                                        </p:tgtEl>
                                        <p:attrNameLst>
                                          <p:attrName>style.visibility</p:attrName>
                                        </p:attrNameLst>
                                      </p:cBhvr>
                                      <p:to>
                                        <p:strVal val="visible"/>
                                      </p:to>
                                    </p:se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70660"/>
                                        </p:tgtEl>
                                        <p:attrNameLst>
                                          <p:attrName>style.visibility</p:attrName>
                                        </p:attrNameLst>
                                      </p:cBhvr>
                                      <p:to>
                                        <p:strVal val="visible"/>
                                      </p:to>
                                    </p:set>
                                  </p:childTnLst>
                                </p:cTn>
                              </p:par>
                            </p:childTnLst>
                          </p:cTn>
                        </p:par>
                        <p:par>
                          <p:cTn id="15" fill="hold" nodeType="afterGroup">
                            <p:stCondLst>
                              <p:cond delay="1000"/>
                            </p:stCondLst>
                            <p:childTnLst>
                              <p:par>
                                <p:cTn id="16" presetID="1" presetClass="entr" presetSubtype="0" fill="hold" grpId="0" nodeType="afterEffect">
                                  <p:stCondLst>
                                    <p:cond delay="0"/>
                                  </p:stCondLst>
                                  <p:childTnLst>
                                    <p:set>
                                      <p:cBhvr>
                                        <p:cTn id="17" dur="1" fill="hold">
                                          <p:stCondLst>
                                            <p:cond delay="499"/>
                                          </p:stCondLst>
                                        </p:cTn>
                                        <p:tgtEl>
                                          <p:spTgt spid="70661"/>
                                        </p:tgtEl>
                                        <p:attrNameLst>
                                          <p:attrName>style.visibility</p:attrName>
                                        </p:attrNameLst>
                                      </p:cBhvr>
                                      <p:to>
                                        <p:strVal val="visible"/>
                                      </p:to>
                                    </p:set>
                                  </p:childTnLst>
                                </p:cTn>
                              </p:par>
                            </p:childTnLst>
                          </p:cTn>
                        </p:par>
                        <p:par>
                          <p:cTn id="18" fill="hold" nodeType="afterGroup">
                            <p:stCondLst>
                              <p:cond delay="1500"/>
                            </p:stCondLst>
                            <p:childTnLst>
                              <p:par>
                                <p:cTn id="19" presetID="1" presetClass="entr" presetSubtype="0" fill="hold" grpId="0" nodeType="afterEffect">
                                  <p:stCondLst>
                                    <p:cond delay="0"/>
                                  </p:stCondLst>
                                  <p:childTnLst>
                                    <p:set>
                                      <p:cBhvr>
                                        <p:cTn id="20" dur="1" fill="hold">
                                          <p:stCondLst>
                                            <p:cond delay="499"/>
                                          </p:stCondLst>
                                        </p:cTn>
                                        <p:tgtEl>
                                          <p:spTgt spid="70662"/>
                                        </p:tgtEl>
                                        <p:attrNameLst>
                                          <p:attrName>style.visibility</p:attrName>
                                        </p:attrNameLst>
                                      </p:cBhvr>
                                      <p:to>
                                        <p:strVal val="visible"/>
                                      </p:to>
                                    </p:set>
                                  </p:childTnLst>
                                </p:cTn>
                              </p:par>
                            </p:childTnLst>
                          </p:cTn>
                        </p:par>
                        <p:par>
                          <p:cTn id="21" fill="hold" nodeType="afterGroup">
                            <p:stCondLst>
                              <p:cond delay="2000"/>
                            </p:stCondLst>
                            <p:childTnLst>
                              <p:par>
                                <p:cTn id="22" presetID="1" presetClass="entr" presetSubtype="0" fill="hold" grpId="0" nodeType="afterEffect">
                                  <p:stCondLst>
                                    <p:cond delay="0"/>
                                  </p:stCondLst>
                                  <p:childTnLst>
                                    <p:set>
                                      <p:cBhvr>
                                        <p:cTn id="23" dur="1" fill="hold">
                                          <p:stCondLst>
                                            <p:cond delay="499"/>
                                          </p:stCondLst>
                                        </p:cTn>
                                        <p:tgtEl>
                                          <p:spTgt spid="70663"/>
                                        </p:tgtEl>
                                        <p:attrNameLst>
                                          <p:attrName>style.visibility</p:attrName>
                                        </p:attrNameLst>
                                      </p:cBhvr>
                                      <p:to>
                                        <p:strVal val="visible"/>
                                      </p:to>
                                    </p:set>
                                  </p:childTnLst>
                                </p:cTn>
                              </p:par>
                            </p:childTnLst>
                          </p:cTn>
                        </p:par>
                        <p:par>
                          <p:cTn id="24" fill="hold" nodeType="afterGroup">
                            <p:stCondLst>
                              <p:cond delay="2500"/>
                            </p:stCondLst>
                            <p:childTnLst>
                              <p:par>
                                <p:cTn id="25" presetID="1" presetClass="entr" presetSubtype="0" fill="hold" grpId="0" nodeType="afterEffect">
                                  <p:stCondLst>
                                    <p:cond delay="0"/>
                                  </p:stCondLst>
                                  <p:childTnLst>
                                    <p:set>
                                      <p:cBhvr>
                                        <p:cTn id="26" dur="1" fill="hold">
                                          <p:stCondLst>
                                            <p:cond delay="499"/>
                                          </p:stCondLst>
                                        </p:cTn>
                                        <p:tgtEl>
                                          <p:spTgt spid="70664"/>
                                        </p:tgtEl>
                                        <p:attrNameLst>
                                          <p:attrName>style.visibility</p:attrName>
                                        </p:attrNameLst>
                                      </p:cBhvr>
                                      <p:to>
                                        <p:strVal val="visible"/>
                                      </p:to>
                                    </p:set>
                                  </p:childTnLst>
                                </p:cTn>
                              </p:par>
                            </p:childTnLst>
                          </p:cTn>
                        </p:par>
                        <p:par>
                          <p:cTn id="27" fill="hold" nodeType="afterGroup">
                            <p:stCondLst>
                              <p:cond delay="3000"/>
                            </p:stCondLst>
                            <p:childTnLst>
                              <p:par>
                                <p:cTn id="28" presetID="1" presetClass="entr" presetSubtype="0" fill="hold" grpId="0" nodeType="afterEffect">
                                  <p:stCondLst>
                                    <p:cond delay="0"/>
                                  </p:stCondLst>
                                  <p:childTnLst>
                                    <p:set>
                                      <p:cBhvr>
                                        <p:cTn id="29" dur="1" fill="hold">
                                          <p:stCondLst>
                                            <p:cond delay="499"/>
                                          </p:stCondLst>
                                        </p:cTn>
                                        <p:tgtEl>
                                          <p:spTgt spid="70666"/>
                                        </p:tgtEl>
                                        <p:attrNameLst>
                                          <p:attrName>style.visibility</p:attrName>
                                        </p:attrNameLst>
                                      </p:cBhvr>
                                      <p:to>
                                        <p:strVal val="visible"/>
                                      </p:to>
                                    </p:set>
                                  </p:childTnLst>
                                </p:cTn>
                              </p:par>
                            </p:childTnLst>
                          </p:cTn>
                        </p:par>
                        <p:par>
                          <p:cTn id="30" fill="hold" nodeType="afterGroup">
                            <p:stCondLst>
                              <p:cond delay="3500"/>
                            </p:stCondLst>
                            <p:childTnLst>
                              <p:par>
                                <p:cTn id="31" presetID="1" presetClass="entr" presetSubtype="0" fill="hold" grpId="0" nodeType="afterEffect">
                                  <p:stCondLst>
                                    <p:cond delay="0"/>
                                  </p:stCondLst>
                                  <p:childTnLst>
                                    <p:set>
                                      <p:cBhvr>
                                        <p:cTn id="32" dur="1" fill="hold">
                                          <p:stCondLst>
                                            <p:cond delay="499"/>
                                          </p:stCondLst>
                                        </p:cTn>
                                        <p:tgtEl>
                                          <p:spTgt spid="70667"/>
                                        </p:tgtEl>
                                        <p:attrNameLst>
                                          <p:attrName>style.visibility</p:attrName>
                                        </p:attrNameLst>
                                      </p:cBhvr>
                                      <p:to>
                                        <p:strVal val="visible"/>
                                      </p:to>
                                    </p:se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499"/>
                                          </p:stCondLst>
                                        </p:cTn>
                                        <p:tgtEl>
                                          <p:spTgt spid="70668"/>
                                        </p:tgtEl>
                                        <p:attrNameLst>
                                          <p:attrName>style.visibility</p:attrName>
                                        </p:attrNameLst>
                                      </p:cBhvr>
                                      <p:to>
                                        <p:strVal val="visible"/>
                                      </p:to>
                                    </p:set>
                                  </p:childTnLst>
                                </p:cTn>
                              </p:par>
                            </p:childTnLst>
                          </p:cTn>
                        </p:par>
                        <p:par>
                          <p:cTn id="36" fill="hold" nodeType="afterGroup">
                            <p:stCondLst>
                              <p:cond delay="4500"/>
                            </p:stCondLst>
                            <p:childTnLst>
                              <p:par>
                                <p:cTn id="37" presetID="1" presetClass="entr" presetSubtype="0" fill="hold" grpId="0" nodeType="afterEffect">
                                  <p:stCondLst>
                                    <p:cond delay="0"/>
                                  </p:stCondLst>
                                  <p:childTnLst>
                                    <p:set>
                                      <p:cBhvr>
                                        <p:cTn id="38" dur="1" fill="hold">
                                          <p:stCondLst>
                                            <p:cond delay="499"/>
                                          </p:stCondLst>
                                        </p:cTn>
                                        <p:tgtEl>
                                          <p:spTgt spid="70669"/>
                                        </p:tgtEl>
                                        <p:attrNameLst>
                                          <p:attrName>style.visibility</p:attrName>
                                        </p:attrNameLst>
                                      </p:cBhvr>
                                      <p:to>
                                        <p:strVal val="visible"/>
                                      </p:to>
                                    </p:set>
                                  </p:childTnLst>
                                </p:cTn>
                              </p:par>
                            </p:childTnLst>
                          </p:cTn>
                        </p:par>
                        <p:par>
                          <p:cTn id="39" fill="hold" nodeType="afterGroup">
                            <p:stCondLst>
                              <p:cond delay="5000"/>
                            </p:stCondLst>
                            <p:childTnLst>
                              <p:par>
                                <p:cTn id="40" presetID="1" presetClass="entr" presetSubtype="0" fill="hold" grpId="0" nodeType="afterEffect">
                                  <p:stCondLst>
                                    <p:cond delay="0"/>
                                  </p:stCondLst>
                                  <p:childTnLst>
                                    <p:set>
                                      <p:cBhvr>
                                        <p:cTn id="41" dur="1" fill="hold">
                                          <p:stCondLst>
                                            <p:cond delay="499"/>
                                          </p:stCondLst>
                                        </p:cTn>
                                        <p:tgtEl>
                                          <p:spTgt spid="70670"/>
                                        </p:tgtEl>
                                        <p:attrNameLst>
                                          <p:attrName>style.visibility</p:attrName>
                                        </p:attrNameLst>
                                      </p:cBhvr>
                                      <p:to>
                                        <p:strVal val="visible"/>
                                      </p:to>
                                    </p:set>
                                  </p:childTnLst>
                                </p:cTn>
                              </p:par>
                            </p:childTnLst>
                          </p:cTn>
                        </p:par>
                        <p:par>
                          <p:cTn id="42" fill="hold" nodeType="afterGroup">
                            <p:stCondLst>
                              <p:cond delay="5500"/>
                            </p:stCondLst>
                            <p:childTnLst>
                              <p:par>
                                <p:cTn id="43" presetID="1" presetClass="entr" presetSubtype="0" fill="hold" grpId="0" nodeType="afterEffect">
                                  <p:stCondLst>
                                    <p:cond delay="0"/>
                                  </p:stCondLst>
                                  <p:childTnLst>
                                    <p:set>
                                      <p:cBhvr>
                                        <p:cTn id="44" dur="1" fill="hold">
                                          <p:stCondLst>
                                            <p:cond delay="499"/>
                                          </p:stCondLst>
                                        </p:cTn>
                                        <p:tgtEl>
                                          <p:spTgt spid="70671"/>
                                        </p:tgtEl>
                                        <p:attrNameLst>
                                          <p:attrName>style.visibility</p:attrName>
                                        </p:attrNameLst>
                                      </p:cBhvr>
                                      <p:to>
                                        <p:strVal val="visible"/>
                                      </p:to>
                                    </p:set>
                                  </p:childTnLst>
                                </p:cTn>
                              </p:par>
                            </p:childTnLst>
                          </p:cTn>
                        </p:par>
                        <p:par>
                          <p:cTn id="45" fill="hold" nodeType="afterGroup">
                            <p:stCondLst>
                              <p:cond delay="6000"/>
                            </p:stCondLst>
                            <p:childTnLst>
                              <p:par>
                                <p:cTn id="46" presetID="1" presetClass="entr" presetSubtype="0" fill="hold" grpId="0" nodeType="afterEffect">
                                  <p:stCondLst>
                                    <p:cond delay="0"/>
                                  </p:stCondLst>
                                  <p:childTnLst>
                                    <p:set>
                                      <p:cBhvr>
                                        <p:cTn id="47" dur="1" fill="hold">
                                          <p:stCondLst>
                                            <p:cond delay="499"/>
                                          </p:stCondLst>
                                        </p:cTn>
                                        <p:tgtEl>
                                          <p:spTgt spid="70672"/>
                                        </p:tgtEl>
                                        <p:attrNameLst>
                                          <p:attrName>style.visibility</p:attrName>
                                        </p:attrNameLst>
                                      </p:cBhvr>
                                      <p:to>
                                        <p:strVal val="visible"/>
                                      </p:to>
                                    </p:set>
                                  </p:childTnLst>
                                </p:cTn>
                              </p:par>
                            </p:childTnLst>
                          </p:cTn>
                        </p:par>
                        <p:par>
                          <p:cTn id="48" fill="hold" nodeType="afterGroup">
                            <p:stCondLst>
                              <p:cond delay="6500"/>
                            </p:stCondLst>
                            <p:childTnLst>
                              <p:par>
                                <p:cTn id="49" presetID="1" presetClass="entr" presetSubtype="0" fill="hold" grpId="0" nodeType="afterEffect">
                                  <p:stCondLst>
                                    <p:cond delay="0"/>
                                  </p:stCondLst>
                                  <p:childTnLst>
                                    <p:set>
                                      <p:cBhvr>
                                        <p:cTn id="50" dur="1" fill="hold">
                                          <p:stCondLst>
                                            <p:cond delay="499"/>
                                          </p:stCondLst>
                                        </p:cTn>
                                        <p:tgtEl>
                                          <p:spTgt spid="70673"/>
                                        </p:tgtEl>
                                        <p:attrNameLst>
                                          <p:attrName>style.visibility</p:attrName>
                                        </p:attrNameLst>
                                      </p:cBhvr>
                                      <p:to>
                                        <p:strVal val="visible"/>
                                      </p:to>
                                    </p:set>
                                  </p:childTnLst>
                                </p:cTn>
                              </p:par>
                            </p:childTnLst>
                          </p:cTn>
                        </p:par>
                        <p:par>
                          <p:cTn id="51" fill="hold" nodeType="afterGroup">
                            <p:stCondLst>
                              <p:cond delay="7000"/>
                            </p:stCondLst>
                            <p:childTnLst>
                              <p:par>
                                <p:cTn id="52" presetID="1" presetClass="entr" presetSubtype="0" fill="hold" grpId="0" nodeType="afterEffect">
                                  <p:stCondLst>
                                    <p:cond delay="0"/>
                                  </p:stCondLst>
                                  <p:childTnLst>
                                    <p:set>
                                      <p:cBhvr>
                                        <p:cTn id="53" dur="1" fill="hold">
                                          <p:stCondLst>
                                            <p:cond delay="499"/>
                                          </p:stCondLst>
                                        </p:cTn>
                                        <p:tgtEl>
                                          <p:spTgt spid="70674"/>
                                        </p:tgtEl>
                                        <p:attrNameLst>
                                          <p:attrName>style.visibility</p:attrName>
                                        </p:attrNameLst>
                                      </p:cBhvr>
                                      <p:to>
                                        <p:strVal val="visible"/>
                                      </p:to>
                                    </p:set>
                                  </p:childTnLst>
                                </p:cTn>
                              </p:par>
                            </p:childTnLst>
                          </p:cTn>
                        </p:par>
                        <p:par>
                          <p:cTn id="54" fill="hold" nodeType="afterGroup">
                            <p:stCondLst>
                              <p:cond delay="7500"/>
                            </p:stCondLst>
                            <p:childTnLst>
                              <p:par>
                                <p:cTn id="55" presetID="1" presetClass="entr" presetSubtype="0" fill="hold" grpId="0" nodeType="afterEffect">
                                  <p:stCondLst>
                                    <p:cond delay="0"/>
                                  </p:stCondLst>
                                  <p:childTnLst>
                                    <p:set>
                                      <p:cBhvr>
                                        <p:cTn id="56" dur="1" fill="hold">
                                          <p:stCondLst>
                                            <p:cond delay="499"/>
                                          </p:stCondLst>
                                        </p:cTn>
                                        <p:tgtEl>
                                          <p:spTgt spid="70675"/>
                                        </p:tgtEl>
                                        <p:attrNameLst>
                                          <p:attrName>style.visibility</p:attrName>
                                        </p:attrNameLst>
                                      </p:cBhvr>
                                      <p:to>
                                        <p:strVal val="visible"/>
                                      </p:to>
                                    </p:set>
                                  </p:childTnLst>
                                </p:cTn>
                              </p:par>
                            </p:childTnLst>
                          </p:cTn>
                        </p:par>
                        <p:par>
                          <p:cTn id="57" fill="hold" nodeType="afterGroup">
                            <p:stCondLst>
                              <p:cond delay="8000"/>
                            </p:stCondLst>
                            <p:childTnLst>
                              <p:par>
                                <p:cTn id="58" presetID="1" presetClass="entr" presetSubtype="0" fill="hold" grpId="0" nodeType="afterEffect">
                                  <p:stCondLst>
                                    <p:cond delay="0"/>
                                  </p:stCondLst>
                                  <p:childTnLst>
                                    <p:set>
                                      <p:cBhvr>
                                        <p:cTn id="59" dur="1" fill="hold">
                                          <p:stCondLst>
                                            <p:cond delay="499"/>
                                          </p:stCondLst>
                                        </p:cTn>
                                        <p:tgtEl>
                                          <p:spTgt spid="70677"/>
                                        </p:tgtEl>
                                        <p:attrNameLst>
                                          <p:attrName>style.visibility</p:attrName>
                                        </p:attrNameLst>
                                      </p:cBhvr>
                                      <p:to>
                                        <p:strVal val="visible"/>
                                      </p:to>
                                    </p:set>
                                  </p:childTnLst>
                                </p:cTn>
                              </p:par>
                            </p:childTnLst>
                          </p:cTn>
                        </p:par>
                        <p:par>
                          <p:cTn id="60" fill="hold" nodeType="afterGroup">
                            <p:stCondLst>
                              <p:cond delay="8500"/>
                            </p:stCondLst>
                            <p:childTnLst>
                              <p:par>
                                <p:cTn id="61" presetID="1" presetClass="entr" presetSubtype="0" fill="hold" grpId="0" nodeType="afterEffect">
                                  <p:stCondLst>
                                    <p:cond delay="0"/>
                                  </p:stCondLst>
                                  <p:childTnLst>
                                    <p:set>
                                      <p:cBhvr>
                                        <p:cTn id="62" dur="1" fill="hold">
                                          <p:stCondLst>
                                            <p:cond delay="499"/>
                                          </p:stCondLst>
                                        </p:cTn>
                                        <p:tgtEl>
                                          <p:spTgt spid="70678"/>
                                        </p:tgtEl>
                                        <p:attrNameLst>
                                          <p:attrName>style.visibility</p:attrName>
                                        </p:attrNameLst>
                                      </p:cBhvr>
                                      <p:to>
                                        <p:strVal val="visible"/>
                                      </p:to>
                                    </p:set>
                                  </p:childTnLst>
                                </p:cTn>
                              </p:par>
                            </p:childTnLst>
                          </p:cTn>
                        </p:par>
                        <p:par>
                          <p:cTn id="63" fill="hold" nodeType="afterGroup">
                            <p:stCondLst>
                              <p:cond delay="9000"/>
                            </p:stCondLst>
                            <p:childTnLst>
                              <p:par>
                                <p:cTn id="64" presetID="1" presetClass="entr" presetSubtype="0" fill="hold" grpId="0" nodeType="afterEffect">
                                  <p:stCondLst>
                                    <p:cond delay="0"/>
                                  </p:stCondLst>
                                  <p:childTnLst>
                                    <p:set>
                                      <p:cBhvr>
                                        <p:cTn id="65" dur="1" fill="hold">
                                          <p:stCondLst>
                                            <p:cond delay="499"/>
                                          </p:stCondLst>
                                        </p:cTn>
                                        <p:tgtEl>
                                          <p:spTgt spid="70679"/>
                                        </p:tgtEl>
                                        <p:attrNameLst>
                                          <p:attrName>style.visibility</p:attrName>
                                        </p:attrNameLst>
                                      </p:cBhvr>
                                      <p:to>
                                        <p:strVal val="visible"/>
                                      </p:to>
                                    </p:set>
                                  </p:childTnLst>
                                </p:cTn>
                              </p:par>
                            </p:childTnLst>
                          </p:cTn>
                        </p:par>
                        <p:par>
                          <p:cTn id="66" fill="hold" nodeType="afterGroup">
                            <p:stCondLst>
                              <p:cond delay="9500"/>
                            </p:stCondLst>
                            <p:childTnLst>
                              <p:par>
                                <p:cTn id="67" presetID="1" presetClass="entr" presetSubtype="0" fill="hold" grpId="0" nodeType="afterEffect">
                                  <p:stCondLst>
                                    <p:cond delay="0"/>
                                  </p:stCondLst>
                                  <p:childTnLst>
                                    <p:set>
                                      <p:cBhvr>
                                        <p:cTn id="68" dur="1" fill="hold">
                                          <p:stCondLst>
                                            <p:cond delay="499"/>
                                          </p:stCondLst>
                                        </p:cTn>
                                        <p:tgtEl>
                                          <p:spTgt spid="70680"/>
                                        </p:tgtEl>
                                        <p:attrNameLst>
                                          <p:attrName>style.visibility</p:attrName>
                                        </p:attrNameLst>
                                      </p:cBhvr>
                                      <p:to>
                                        <p:strVal val="visible"/>
                                      </p:to>
                                    </p:set>
                                  </p:childTnLst>
                                </p:cTn>
                              </p:par>
                            </p:childTnLst>
                          </p:cTn>
                        </p:par>
                        <p:par>
                          <p:cTn id="69" fill="hold" nodeType="afterGroup">
                            <p:stCondLst>
                              <p:cond delay="10000"/>
                            </p:stCondLst>
                            <p:childTnLst>
                              <p:par>
                                <p:cTn id="70" presetID="1" presetClass="entr" presetSubtype="0" fill="hold" grpId="0" nodeType="afterEffect">
                                  <p:stCondLst>
                                    <p:cond delay="0"/>
                                  </p:stCondLst>
                                  <p:childTnLst>
                                    <p:set>
                                      <p:cBhvr>
                                        <p:cTn id="71" dur="1" fill="hold">
                                          <p:stCondLst>
                                            <p:cond delay="499"/>
                                          </p:stCondLst>
                                        </p:cTn>
                                        <p:tgtEl>
                                          <p:spTgt spid="70682"/>
                                        </p:tgtEl>
                                        <p:attrNameLst>
                                          <p:attrName>style.visibility</p:attrName>
                                        </p:attrNameLst>
                                      </p:cBhvr>
                                      <p:to>
                                        <p:strVal val="visible"/>
                                      </p:to>
                                    </p:set>
                                  </p:childTnLst>
                                </p:cTn>
                              </p:par>
                            </p:childTnLst>
                          </p:cTn>
                        </p:par>
                        <p:par>
                          <p:cTn id="72" fill="hold" nodeType="afterGroup">
                            <p:stCondLst>
                              <p:cond delay="10500"/>
                            </p:stCondLst>
                            <p:childTnLst>
                              <p:par>
                                <p:cTn id="73" presetID="1" presetClass="entr" presetSubtype="0" fill="hold" grpId="0" nodeType="afterEffect">
                                  <p:stCondLst>
                                    <p:cond delay="0"/>
                                  </p:stCondLst>
                                  <p:childTnLst>
                                    <p:set>
                                      <p:cBhvr>
                                        <p:cTn id="74" dur="1" fill="hold">
                                          <p:stCondLst>
                                            <p:cond delay="499"/>
                                          </p:stCondLst>
                                        </p:cTn>
                                        <p:tgtEl>
                                          <p:spTgt spid="70683"/>
                                        </p:tgtEl>
                                        <p:attrNameLst>
                                          <p:attrName>style.visibility</p:attrName>
                                        </p:attrNameLst>
                                      </p:cBhvr>
                                      <p:to>
                                        <p:strVal val="visible"/>
                                      </p:to>
                                    </p:set>
                                  </p:childTnLst>
                                </p:cTn>
                              </p:par>
                            </p:childTnLst>
                          </p:cTn>
                        </p:par>
                        <p:par>
                          <p:cTn id="75" fill="hold" nodeType="afterGroup">
                            <p:stCondLst>
                              <p:cond delay="11000"/>
                            </p:stCondLst>
                            <p:childTnLst>
                              <p:par>
                                <p:cTn id="76" presetID="1" presetClass="entr" presetSubtype="0" fill="hold" grpId="0" nodeType="afterEffect">
                                  <p:stCondLst>
                                    <p:cond delay="0"/>
                                  </p:stCondLst>
                                  <p:childTnLst>
                                    <p:set>
                                      <p:cBhvr>
                                        <p:cTn id="77" dur="1" fill="hold">
                                          <p:stCondLst>
                                            <p:cond delay="499"/>
                                          </p:stCondLst>
                                        </p:cTn>
                                        <p:tgtEl>
                                          <p:spTgt spid="70684"/>
                                        </p:tgtEl>
                                        <p:attrNameLst>
                                          <p:attrName>style.visibility</p:attrName>
                                        </p:attrNameLst>
                                      </p:cBhvr>
                                      <p:to>
                                        <p:strVal val="visible"/>
                                      </p:to>
                                    </p:set>
                                  </p:childTnLst>
                                </p:cTn>
                              </p:par>
                            </p:childTnLst>
                          </p:cTn>
                        </p:par>
                        <p:par>
                          <p:cTn id="78" fill="hold" nodeType="afterGroup">
                            <p:stCondLst>
                              <p:cond delay="11500"/>
                            </p:stCondLst>
                            <p:childTnLst>
                              <p:par>
                                <p:cTn id="79" presetID="1" presetClass="entr" presetSubtype="0" fill="hold" grpId="0" nodeType="afterEffect">
                                  <p:stCondLst>
                                    <p:cond delay="0"/>
                                  </p:stCondLst>
                                  <p:childTnLst>
                                    <p:set>
                                      <p:cBhvr>
                                        <p:cTn id="80" dur="1" fill="hold">
                                          <p:stCondLst>
                                            <p:cond delay="499"/>
                                          </p:stCondLst>
                                        </p:cTn>
                                        <p:tgtEl>
                                          <p:spTgt spid="70685"/>
                                        </p:tgtEl>
                                        <p:attrNameLst>
                                          <p:attrName>style.visibility</p:attrName>
                                        </p:attrNameLst>
                                      </p:cBhvr>
                                      <p:to>
                                        <p:strVal val="visible"/>
                                      </p:to>
                                    </p:set>
                                  </p:childTnLst>
                                </p:cTn>
                              </p:par>
                            </p:childTnLst>
                          </p:cTn>
                        </p:par>
                        <p:par>
                          <p:cTn id="81" fill="hold" nodeType="afterGroup">
                            <p:stCondLst>
                              <p:cond delay="12000"/>
                            </p:stCondLst>
                            <p:childTnLst>
                              <p:par>
                                <p:cTn id="82" presetID="1" presetClass="entr" presetSubtype="0" fill="hold" grpId="0" nodeType="afterEffect">
                                  <p:stCondLst>
                                    <p:cond delay="0"/>
                                  </p:stCondLst>
                                  <p:childTnLst>
                                    <p:set>
                                      <p:cBhvr>
                                        <p:cTn id="83" dur="1" fill="hold">
                                          <p:stCondLst>
                                            <p:cond delay="499"/>
                                          </p:stCondLst>
                                        </p:cTn>
                                        <p:tgtEl>
                                          <p:spTgt spid="70686"/>
                                        </p:tgtEl>
                                        <p:attrNameLst>
                                          <p:attrName>style.visibility</p:attrName>
                                        </p:attrNameLst>
                                      </p:cBhvr>
                                      <p:to>
                                        <p:strVal val="visible"/>
                                      </p:to>
                                    </p:set>
                                  </p:childTnLst>
                                </p:cTn>
                              </p:par>
                            </p:childTnLst>
                          </p:cTn>
                        </p:par>
                        <p:par>
                          <p:cTn id="84" fill="hold" nodeType="afterGroup">
                            <p:stCondLst>
                              <p:cond delay="12500"/>
                            </p:stCondLst>
                            <p:childTnLst>
                              <p:par>
                                <p:cTn id="85" presetID="1" presetClass="entr" presetSubtype="0" fill="hold" grpId="0" nodeType="afterEffect">
                                  <p:stCondLst>
                                    <p:cond delay="0"/>
                                  </p:stCondLst>
                                  <p:childTnLst>
                                    <p:set>
                                      <p:cBhvr>
                                        <p:cTn id="86" dur="1" fill="hold">
                                          <p:stCondLst>
                                            <p:cond delay="499"/>
                                          </p:stCondLst>
                                        </p:cTn>
                                        <p:tgtEl>
                                          <p:spTgt spid="70687"/>
                                        </p:tgtEl>
                                        <p:attrNameLst>
                                          <p:attrName>style.visibility</p:attrName>
                                        </p:attrNameLst>
                                      </p:cBhvr>
                                      <p:to>
                                        <p:strVal val="visible"/>
                                      </p:to>
                                    </p:set>
                                  </p:childTnLst>
                                </p:cTn>
                              </p:par>
                            </p:childTnLst>
                          </p:cTn>
                        </p:par>
                        <p:par>
                          <p:cTn id="87" fill="hold" nodeType="afterGroup">
                            <p:stCondLst>
                              <p:cond delay="13000"/>
                            </p:stCondLst>
                            <p:childTnLst>
                              <p:par>
                                <p:cTn id="88" presetID="1" presetClass="entr" presetSubtype="0" fill="hold" grpId="0" nodeType="afterEffect">
                                  <p:stCondLst>
                                    <p:cond delay="0"/>
                                  </p:stCondLst>
                                  <p:childTnLst>
                                    <p:set>
                                      <p:cBhvr>
                                        <p:cTn id="89" dur="1" fill="hold">
                                          <p:stCondLst>
                                            <p:cond delay="499"/>
                                          </p:stCondLst>
                                        </p:cTn>
                                        <p:tgtEl>
                                          <p:spTgt spid="70688"/>
                                        </p:tgtEl>
                                        <p:attrNameLst>
                                          <p:attrName>style.visibility</p:attrName>
                                        </p:attrNameLst>
                                      </p:cBhvr>
                                      <p:to>
                                        <p:strVal val="visible"/>
                                      </p:to>
                                    </p:set>
                                  </p:childTnLst>
                                </p:cTn>
                              </p:par>
                            </p:childTnLst>
                          </p:cTn>
                        </p:par>
                        <p:par>
                          <p:cTn id="90" fill="hold" nodeType="afterGroup">
                            <p:stCondLst>
                              <p:cond delay="13500"/>
                            </p:stCondLst>
                            <p:childTnLst>
                              <p:par>
                                <p:cTn id="91" presetID="1" presetClass="entr" presetSubtype="0" fill="hold" grpId="0" nodeType="afterEffect">
                                  <p:stCondLst>
                                    <p:cond delay="0"/>
                                  </p:stCondLst>
                                  <p:childTnLst>
                                    <p:set>
                                      <p:cBhvr>
                                        <p:cTn id="92" dur="1" fill="hold">
                                          <p:stCondLst>
                                            <p:cond delay="499"/>
                                          </p:stCondLst>
                                        </p:cTn>
                                        <p:tgtEl>
                                          <p:spTgt spid="70689"/>
                                        </p:tgtEl>
                                        <p:attrNameLst>
                                          <p:attrName>style.visibility</p:attrName>
                                        </p:attrNameLst>
                                      </p:cBhvr>
                                      <p:to>
                                        <p:strVal val="visible"/>
                                      </p:to>
                                    </p:set>
                                  </p:childTnLst>
                                </p:cTn>
                              </p:par>
                            </p:childTnLst>
                          </p:cTn>
                        </p:par>
                        <p:par>
                          <p:cTn id="93" fill="hold" nodeType="afterGroup">
                            <p:stCondLst>
                              <p:cond delay="14000"/>
                            </p:stCondLst>
                            <p:childTnLst>
                              <p:par>
                                <p:cTn id="94" presetID="1" presetClass="entr" presetSubtype="0" fill="hold" grpId="0" nodeType="afterEffect">
                                  <p:stCondLst>
                                    <p:cond delay="0"/>
                                  </p:stCondLst>
                                  <p:childTnLst>
                                    <p:set>
                                      <p:cBhvr>
                                        <p:cTn id="95" dur="1" fill="hold">
                                          <p:stCondLst>
                                            <p:cond delay="499"/>
                                          </p:stCondLst>
                                        </p:cTn>
                                        <p:tgtEl>
                                          <p:spTgt spid="70690"/>
                                        </p:tgtEl>
                                        <p:attrNameLst>
                                          <p:attrName>style.visibility</p:attrName>
                                        </p:attrNameLst>
                                      </p:cBhvr>
                                      <p:to>
                                        <p:strVal val="visible"/>
                                      </p:to>
                                    </p:set>
                                  </p:childTnLst>
                                </p:cTn>
                              </p:par>
                            </p:childTnLst>
                          </p:cTn>
                        </p:par>
                        <p:par>
                          <p:cTn id="96" fill="hold" nodeType="afterGroup">
                            <p:stCondLst>
                              <p:cond delay="14500"/>
                            </p:stCondLst>
                            <p:childTnLst>
                              <p:par>
                                <p:cTn id="97" presetID="1" presetClass="entr" presetSubtype="0" fill="hold" grpId="0" nodeType="afterEffect">
                                  <p:stCondLst>
                                    <p:cond delay="0"/>
                                  </p:stCondLst>
                                  <p:childTnLst>
                                    <p:set>
                                      <p:cBhvr>
                                        <p:cTn id="98" dur="1" fill="hold">
                                          <p:stCondLst>
                                            <p:cond delay="499"/>
                                          </p:stCondLst>
                                        </p:cTn>
                                        <p:tgtEl>
                                          <p:spTgt spid="70691"/>
                                        </p:tgtEl>
                                        <p:attrNameLst>
                                          <p:attrName>style.visibility</p:attrName>
                                        </p:attrNameLst>
                                      </p:cBhvr>
                                      <p:to>
                                        <p:strVal val="visible"/>
                                      </p:to>
                                    </p:set>
                                  </p:childTnLst>
                                </p:cTn>
                              </p:par>
                            </p:childTnLst>
                          </p:cTn>
                        </p:par>
                        <p:par>
                          <p:cTn id="99" fill="hold" nodeType="afterGroup">
                            <p:stCondLst>
                              <p:cond delay="15000"/>
                            </p:stCondLst>
                            <p:childTnLst>
                              <p:par>
                                <p:cTn id="100" presetID="1" presetClass="entr" presetSubtype="0" fill="hold" grpId="0" nodeType="afterEffect">
                                  <p:stCondLst>
                                    <p:cond delay="0"/>
                                  </p:stCondLst>
                                  <p:childTnLst>
                                    <p:set>
                                      <p:cBhvr>
                                        <p:cTn id="101" dur="1" fill="hold">
                                          <p:stCondLst>
                                            <p:cond delay="499"/>
                                          </p:stCondLst>
                                        </p:cTn>
                                        <p:tgtEl>
                                          <p:spTgt spid="70692"/>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70693"/>
                                        </p:tgtEl>
                                        <p:attrNameLst>
                                          <p:attrName>style.visibility</p:attrName>
                                        </p:attrNameLst>
                                      </p:cBhvr>
                                      <p:to>
                                        <p:strVal val="visible"/>
                                      </p:to>
                                    </p:set>
                                    <p:animEffect transition="in" filter="wipe(left)">
                                      <p:cBhvr>
                                        <p:cTn id="106" dur="500"/>
                                        <p:tgtEl>
                                          <p:spTgt spid="70693"/>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70694"/>
                                        </p:tgtEl>
                                        <p:attrNameLst>
                                          <p:attrName>style.visibility</p:attrName>
                                        </p:attrNameLst>
                                      </p:cBhvr>
                                      <p:to>
                                        <p:strVal val="visible"/>
                                      </p:to>
                                    </p:set>
                                    <p:animEffect transition="in" filter="wipe(left)">
                                      <p:cBhvr>
                                        <p:cTn id="111" dur="500"/>
                                        <p:tgtEl>
                                          <p:spTgt spid="70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utoUpdateAnimBg="0"/>
      <p:bldP spid="70659" grpId="0" animBg="1"/>
      <p:bldP spid="70660" grpId="0" animBg="1" autoUpdateAnimBg="0"/>
      <p:bldP spid="70661" grpId="0" animBg="1"/>
      <p:bldP spid="70662" grpId="0" animBg="1" autoUpdateAnimBg="0"/>
      <p:bldP spid="70663" grpId="0" animBg="1"/>
      <p:bldP spid="70664" grpId="0" animBg="1" autoUpdateAnimBg="0"/>
      <p:bldP spid="70666" grpId="0" animBg="1"/>
      <p:bldP spid="70667" grpId="0" animBg="1"/>
      <p:bldP spid="70668" grpId="0" animBg="1"/>
      <p:bldP spid="70669" grpId="0" animBg="1"/>
      <p:bldP spid="70670" grpId="0" animBg="1"/>
      <p:bldP spid="70671" grpId="0" autoUpdateAnimBg="0"/>
      <p:bldP spid="70672" grpId="0" autoUpdateAnimBg="0"/>
      <p:bldP spid="70673" grpId="0" autoUpdateAnimBg="0"/>
      <p:bldP spid="70674" grpId="0" autoUpdateAnimBg="0"/>
      <p:bldP spid="70675" grpId="0" autoUpdateAnimBg="0"/>
      <p:bldP spid="70677" grpId="0" autoUpdateAnimBg="0"/>
      <p:bldP spid="70678" grpId="0" autoUpdateAnimBg="0"/>
      <p:bldP spid="70679" grpId="0" autoUpdateAnimBg="0"/>
      <p:bldP spid="70680" grpId="0" autoUpdateAnimBg="0"/>
      <p:bldP spid="70682" grpId="0" autoUpdateAnimBg="0"/>
      <p:bldP spid="70683" grpId="0" animBg="1"/>
      <p:bldP spid="70684" grpId="0" animBg="1"/>
      <p:bldP spid="70685" grpId="0" animBg="1"/>
      <p:bldP spid="70686" grpId="0" animBg="1"/>
      <p:bldP spid="70687" grpId="0" animBg="1"/>
      <p:bldP spid="70688" grpId="0" animBg="1"/>
      <p:bldP spid="70689" grpId="0" animBg="1"/>
      <p:bldP spid="70690" grpId="0" animBg="1"/>
      <p:bldP spid="70691" grpId="0" animBg="1"/>
      <p:bldP spid="70692" grpId="0" animBg="1"/>
      <p:bldP spid="70693" grpId="0" autoUpdateAnimBg="0"/>
      <p:bldP spid="70694"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304800" y="239713"/>
            <a:ext cx="8534400" cy="379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5000"/>
              </a:lnSpc>
            </a:pPr>
            <a:r>
              <a:rPr lang="en-US" altLang="zh-CN">
                <a:ea typeface="楷体_GB2312" charset="0"/>
              </a:rPr>
              <a:t>              </a:t>
            </a:r>
            <a:r>
              <a:rPr lang="zh-CN" altLang="en-US" sz="3600">
                <a:solidFill>
                  <a:srgbClr val="FF0000"/>
                </a:solidFill>
                <a:ea typeface="楷体_GB2312" charset="0"/>
              </a:rPr>
              <a:t>一般情况下，对</a:t>
            </a:r>
            <a:r>
              <a:rPr lang="en-US" altLang="zh-CN" sz="3600" i="1">
                <a:solidFill>
                  <a:srgbClr val="FF0000"/>
                </a:solidFill>
                <a:ea typeface="楷体_GB2312" charset="0"/>
              </a:rPr>
              <a:t>n</a:t>
            </a:r>
            <a:r>
              <a:rPr lang="zh-CN" altLang="en-US" sz="3600">
                <a:solidFill>
                  <a:srgbClr val="FF0000"/>
                </a:solidFill>
                <a:ea typeface="楷体_GB2312" charset="0"/>
              </a:rPr>
              <a:t>个关键字进行排序，可能得到的结果有</a:t>
            </a:r>
            <a:r>
              <a:rPr lang="en-US" altLang="zh-CN" sz="3600" i="1">
                <a:solidFill>
                  <a:srgbClr val="FF0000"/>
                </a:solidFill>
                <a:ea typeface="楷体_GB2312" charset="0"/>
              </a:rPr>
              <a:t>n!</a:t>
            </a:r>
            <a:r>
              <a:rPr lang="en-US" altLang="zh-CN" sz="3600">
                <a:solidFill>
                  <a:srgbClr val="FF0000"/>
                </a:solidFill>
                <a:ea typeface="楷体_GB2312" charset="0"/>
              </a:rPr>
              <a:t> </a:t>
            </a:r>
            <a:r>
              <a:rPr lang="zh-CN" altLang="en-US" sz="3600">
                <a:solidFill>
                  <a:srgbClr val="FF0000"/>
                </a:solidFill>
                <a:ea typeface="楷体_GB2312" charset="0"/>
              </a:rPr>
              <a:t>种，由于含</a:t>
            </a:r>
            <a:r>
              <a:rPr lang="en-US" altLang="zh-CN" sz="3600" i="1">
                <a:solidFill>
                  <a:srgbClr val="FF0000"/>
                </a:solidFill>
                <a:ea typeface="楷体_GB2312" charset="0"/>
              </a:rPr>
              <a:t>n!</a:t>
            </a:r>
            <a:r>
              <a:rPr lang="en-US" altLang="zh-CN" sz="3600">
                <a:solidFill>
                  <a:srgbClr val="FF0000"/>
                </a:solidFill>
                <a:ea typeface="楷体_GB2312" charset="0"/>
              </a:rPr>
              <a:t> </a:t>
            </a:r>
            <a:r>
              <a:rPr lang="zh-CN" altLang="en-US" sz="3600">
                <a:solidFill>
                  <a:srgbClr val="FF0000"/>
                </a:solidFill>
                <a:ea typeface="楷体_GB2312" charset="0"/>
              </a:rPr>
              <a:t>个叶子结点的二叉树的深度不小于</a:t>
            </a:r>
            <a:r>
              <a:rPr lang="zh-CN" altLang="en-US" sz="3600">
                <a:solidFill>
                  <a:srgbClr val="FF0000"/>
                </a:solidFill>
                <a:ea typeface="楷体_GB2312" charset="0"/>
                <a:sym typeface="Symbol" charset="2"/>
              </a:rPr>
              <a:t></a:t>
            </a:r>
            <a:r>
              <a:rPr lang="en-US" altLang="zh-CN" sz="3600">
                <a:solidFill>
                  <a:srgbClr val="FF0000"/>
                </a:solidFill>
                <a:ea typeface="楷体_GB2312" charset="0"/>
              </a:rPr>
              <a:t>log</a:t>
            </a:r>
            <a:r>
              <a:rPr lang="en-US" altLang="zh-CN" sz="3600" baseline="-25000">
                <a:solidFill>
                  <a:srgbClr val="FF0000"/>
                </a:solidFill>
                <a:ea typeface="楷体_GB2312" charset="0"/>
              </a:rPr>
              <a:t>2</a:t>
            </a:r>
            <a:r>
              <a:rPr lang="en-US" altLang="zh-CN" sz="3600">
                <a:solidFill>
                  <a:srgbClr val="FF0000"/>
                </a:solidFill>
                <a:ea typeface="楷体_GB2312" charset="0"/>
              </a:rPr>
              <a:t>(</a:t>
            </a:r>
            <a:r>
              <a:rPr lang="en-US" altLang="zh-CN" sz="3600" i="1">
                <a:solidFill>
                  <a:srgbClr val="FF0000"/>
                </a:solidFill>
                <a:ea typeface="楷体_GB2312" charset="0"/>
              </a:rPr>
              <a:t>n!</a:t>
            </a:r>
            <a:r>
              <a:rPr lang="en-US" altLang="zh-CN" sz="3600">
                <a:solidFill>
                  <a:srgbClr val="FF0000"/>
                </a:solidFill>
                <a:ea typeface="楷体_GB2312" charset="0"/>
              </a:rPr>
              <a:t>)</a:t>
            </a:r>
            <a:r>
              <a:rPr lang="en-US" altLang="zh-CN" sz="3600">
                <a:solidFill>
                  <a:srgbClr val="FF0000"/>
                </a:solidFill>
                <a:ea typeface="楷体_GB2312" charset="0"/>
                <a:sym typeface="Symbol" charset="2"/>
              </a:rPr>
              <a:t></a:t>
            </a:r>
            <a:r>
              <a:rPr lang="en-US" altLang="zh-CN" sz="3600">
                <a:solidFill>
                  <a:srgbClr val="FF0000"/>
                </a:solidFill>
                <a:ea typeface="楷体_GB2312" charset="0"/>
              </a:rPr>
              <a:t> +1, </a:t>
            </a:r>
            <a:r>
              <a:rPr lang="zh-CN" altLang="en-US" sz="3600">
                <a:solidFill>
                  <a:srgbClr val="FF0000"/>
                </a:solidFill>
                <a:ea typeface="楷体_GB2312" charset="0"/>
              </a:rPr>
              <a:t>则对 </a:t>
            </a:r>
            <a:r>
              <a:rPr lang="en-US" altLang="zh-CN" sz="3600" i="1">
                <a:solidFill>
                  <a:srgbClr val="FF0000"/>
                </a:solidFill>
                <a:ea typeface="楷体_GB2312" charset="0"/>
              </a:rPr>
              <a:t>n </a:t>
            </a:r>
            <a:r>
              <a:rPr lang="zh-CN" altLang="en-US" sz="3600">
                <a:solidFill>
                  <a:srgbClr val="FF0000"/>
                </a:solidFill>
                <a:ea typeface="楷体_GB2312" charset="0"/>
              </a:rPr>
              <a:t>个关键字进行排序的比较次数至少是 </a:t>
            </a:r>
            <a:r>
              <a:rPr lang="zh-CN" altLang="en-US" sz="3600">
                <a:solidFill>
                  <a:srgbClr val="FF0000"/>
                </a:solidFill>
                <a:ea typeface="楷体_GB2312" charset="0"/>
                <a:sym typeface="Symbol" charset="2"/>
              </a:rPr>
              <a:t></a:t>
            </a:r>
            <a:r>
              <a:rPr lang="en-US" altLang="zh-CN" sz="3600">
                <a:solidFill>
                  <a:srgbClr val="FF0000"/>
                </a:solidFill>
                <a:ea typeface="楷体_GB2312" charset="0"/>
              </a:rPr>
              <a:t>log</a:t>
            </a:r>
            <a:r>
              <a:rPr lang="en-US" altLang="zh-CN" sz="3600" baseline="-25000">
                <a:solidFill>
                  <a:srgbClr val="FF0000"/>
                </a:solidFill>
                <a:ea typeface="楷体_GB2312" charset="0"/>
              </a:rPr>
              <a:t>2</a:t>
            </a:r>
            <a:r>
              <a:rPr lang="en-US" altLang="zh-CN" sz="3600">
                <a:solidFill>
                  <a:srgbClr val="FF0000"/>
                </a:solidFill>
                <a:ea typeface="楷体_GB2312" charset="0"/>
              </a:rPr>
              <a:t>(</a:t>
            </a:r>
            <a:r>
              <a:rPr lang="en-US" altLang="zh-CN" sz="3600" i="1">
                <a:solidFill>
                  <a:srgbClr val="FF0000"/>
                </a:solidFill>
                <a:ea typeface="楷体_GB2312" charset="0"/>
              </a:rPr>
              <a:t>n!</a:t>
            </a:r>
            <a:r>
              <a:rPr lang="en-US" altLang="zh-CN" sz="3600">
                <a:solidFill>
                  <a:srgbClr val="FF0000"/>
                </a:solidFill>
                <a:ea typeface="楷体_GB2312" charset="0"/>
              </a:rPr>
              <a:t>)</a:t>
            </a:r>
            <a:r>
              <a:rPr lang="en-US" altLang="zh-CN" sz="3600">
                <a:solidFill>
                  <a:srgbClr val="FF0000"/>
                </a:solidFill>
                <a:ea typeface="楷体_GB2312" charset="0"/>
                <a:sym typeface="Symbol" charset="2"/>
              </a:rPr>
              <a:t></a:t>
            </a:r>
            <a:r>
              <a:rPr lang="en-US" altLang="zh-CN" sz="3600">
                <a:solidFill>
                  <a:srgbClr val="FF0000"/>
                </a:solidFill>
                <a:ea typeface="楷体_GB2312" charset="0"/>
              </a:rPr>
              <a:t> </a:t>
            </a:r>
            <a:r>
              <a:rPr lang="en-US" altLang="zh-CN" sz="3600">
                <a:solidFill>
                  <a:srgbClr val="FF0000"/>
                </a:solidFill>
                <a:ea typeface="楷体_GB2312" charset="0"/>
                <a:sym typeface="Symbol" charset="2"/>
              </a:rPr>
              <a:t></a:t>
            </a:r>
            <a:r>
              <a:rPr lang="en-US" altLang="zh-CN" sz="3600" i="1">
                <a:solidFill>
                  <a:srgbClr val="FF0000"/>
                </a:solidFill>
                <a:ea typeface="楷体_GB2312" charset="0"/>
              </a:rPr>
              <a:t> n</a:t>
            </a:r>
            <a:r>
              <a:rPr lang="en-US" altLang="zh-CN" sz="3600">
                <a:solidFill>
                  <a:srgbClr val="FF0000"/>
                </a:solidFill>
                <a:ea typeface="楷体_GB2312" charset="0"/>
              </a:rPr>
              <a:t>log</a:t>
            </a:r>
            <a:r>
              <a:rPr lang="en-US" altLang="zh-CN" sz="3600" baseline="-25000">
                <a:solidFill>
                  <a:srgbClr val="FF0000"/>
                </a:solidFill>
                <a:ea typeface="楷体_GB2312" charset="0"/>
              </a:rPr>
              <a:t>2</a:t>
            </a:r>
            <a:r>
              <a:rPr lang="en-US" altLang="zh-CN" sz="3600" i="1">
                <a:solidFill>
                  <a:srgbClr val="FF0000"/>
                </a:solidFill>
                <a:ea typeface="楷体_GB2312" charset="0"/>
              </a:rPr>
              <a:t>n</a:t>
            </a:r>
            <a:r>
              <a:rPr lang="en-US" altLang="zh-CN" sz="3600" i="1">
                <a:ea typeface="楷体_GB2312" charset="0"/>
              </a:rPr>
              <a:t> </a:t>
            </a:r>
            <a:r>
              <a:rPr lang="en-US" altLang="zh-CN" sz="3600">
                <a:ea typeface="楷体_GB2312" charset="0"/>
              </a:rPr>
              <a:t>(</a:t>
            </a:r>
            <a:r>
              <a:rPr lang="zh-CN" altLang="en-US" sz="3600">
                <a:ea typeface="楷体_GB2312" charset="0"/>
              </a:rPr>
              <a:t>斯蒂林近似公式</a:t>
            </a:r>
            <a:r>
              <a:rPr lang="en-US" altLang="zh-CN" sz="3600">
                <a:ea typeface="楷体_GB2312" charset="0"/>
              </a:rPr>
              <a:t>)</a:t>
            </a:r>
            <a:r>
              <a:rPr lang="zh-CN" altLang="en-US" sz="3600">
                <a:ea typeface="楷体_GB2312" charset="0"/>
              </a:rPr>
              <a:t>。</a:t>
            </a:r>
          </a:p>
        </p:txBody>
      </p:sp>
      <p:sp>
        <p:nvSpPr>
          <p:cNvPr id="98307" name="Rectangle 3"/>
          <p:cNvSpPr>
            <a:spLocks noChangeArrowheads="1"/>
          </p:cNvSpPr>
          <p:nvPr/>
        </p:nvSpPr>
        <p:spPr bwMode="auto">
          <a:xfrm>
            <a:off x="468313" y="4508500"/>
            <a:ext cx="83058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25000"/>
              </a:lnSpc>
            </a:pPr>
            <a:r>
              <a:rPr lang="en-US" altLang="zh-CN" sz="3600">
                <a:ea typeface="楷体_GB2312" charset="0"/>
              </a:rPr>
              <a:t>    </a:t>
            </a:r>
            <a:r>
              <a:rPr lang="zh-CN" altLang="en-US" sz="3600">
                <a:ea typeface="楷体_GB2312" charset="0"/>
              </a:rPr>
              <a:t>所以，</a:t>
            </a:r>
            <a:r>
              <a:rPr lang="zh-CN" altLang="en-US" sz="3600" b="1">
                <a:solidFill>
                  <a:srgbClr val="990033"/>
                </a:solidFill>
                <a:ea typeface="楷体_GB2312" charset="0"/>
              </a:rPr>
              <a:t>基于“比较关键字”进行排序的</a:t>
            </a:r>
          </a:p>
          <a:p>
            <a:pPr algn="l">
              <a:lnSpc>
                <a:spcPct val="125000"/>
              </a:lnSpc>
            </a:pPr>
            <a:r>
              <a:rPr lang="zh-CN" altLang="en-US" sz="3600" b="1">
                <a:solidFill>
                  <a:srgbClr val="990033"/>
                </a:solidFill>
                <a:ea typeface="楷体_GB2312" charset="0"/>
              </a:rPr>
              <a:t>排序方法，可能达到的最快的时间复杂度为 </a:t>
            </a:r>
            <a:r>
              <a:rPr lang="en-US" altLang="zh-CN" sz="3600" b="1">
                <a:solidFill>
                  <a:srgbClr val="990033"/>
                </a:solidFill>
                <a:ea typeface="楷体_GB2312" charset="0"/>
              </a:rPr>
              <a:t>O(</a:t>
            </a:r>
            <a:r>
              <a:rPr lang="en-US" altLang="zh-CN" sz="3600" b="1" i="1">
                <a:solidFill>
                  <a:srgbClr val="990033"/>
                </a:solidFill>
                <a:ea typeface="楷体_GB2312" charset="0"/>
              </a:rPr>
              <a:t>n</a:t>
            </a:r>
            <a:r>
              <a:rPr lang="en-US" altLang="zh-CN" sz="3600" b="1">
                <a:solidFill>
                  <a:srgbClr val="990033"/>
                </a:solidFill>
                <a:ea typeface="楷体_GB2312" charset="0"/>
              </a:rPr>
              <a:t>log</a:t>
            </a:r>
            <a:r>
              <a:rPr lang="en-US" altLang="zh-CN" sz="3600" b="1" i="1">
                <a:solidFill>
                  <a:srgbClr val="990033"/>
                </a:solidFill>
                <a:ea typeface="楷体_GB2312" charset="0"/>
              </a:rPr>
              <a:t>n</a:t>
            </a:r>
            <a:r>
              <a:rPr lang="en-US" altLang="zh-CN" sz="3600" b="1">
                <a:solidFill>
                  <a:srgbClr val="990033"/>
                </a:solidFill>
                <a:ea typeface="楷体_GB2312" charset="0"/>
              </a:rPr>
              <a:t>)</a:t>
            </a:r>
            <a:r>
              <a:rPr lang="zh-CN" altLang="en-US" sz="3600" b="1">
                <a:solidFill>
                  <a:srgbClr val="990033"/>
                </a:solidFill>
                <a:ea typeface="楷体_GB2312" charset="0"/>
              </a:rPr>
              <a:t>。</a:t>
            </a:r>
            <a:endParaRPr lang="zh-CN" altLang="en-US" sz="4000" b="1">
              <a:solidFill>
                <a:srgbClr val="008080"/>
              </a:solidFill>
              <a:ea typeface="楷体_GB2312" charset="0"/>
            </a:endParaRPr>
          </a:p>
        </p:txBody>
      </p:sp>
      <p:sp>
        <p:nvSpPr>
          <p:cNvPr id="98309" name="AutoShape 5">
            <a:hlinkClick r:id="rId3" action="ppaction://hlinksldjump" highlightClick="1"/>
          </p:cNvPr>
          <p:cNvSpPr>
            <a:spLocks noChangeArrowheads="1"/>
          </p:cNvSpPr>
          <p:nvPr/>
        </p:nvSpPr>
        <p:spPr bwMode="auto">
          <a:xfrm>
            <a:off x="8153400" y="6172200"/>
            <a:ext cx="685800" cy="381000"/>
          </a:xfrm>
          <a:prstGeom prst="actionButtonBeginning">
            <a:avLst/>
          </a:prstGeom>
          <a:solidFill>
            <a:schemeClr val="bg2"/>
          </a:solidFill>
          <a:ln>
            <a:noFill/>
          </a:ln>
          <a:effectLst>
            <a:prstShdw prst="shdw17" dist="17961" dir="2700000">
              <a:schemeClr val="bg2">
                <a:gamma/>
                <a:shade val="60000"/>
                <a:invGamma/>
                <a:alpha val="74998"/>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Tree>
    <p:extLst>
      <p:ext uri="{BB962C8B-B14F-4D97-AF65-F5344CB8AC3E}">
        <p14:creationId xmlns:p14="http://schemas.microsoft.com/office/powerpoint/2010/main" val="1682508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grpId="0" nodeType="clickEffect">
                                  <p:stCondLst>
                                    <p:cond delay="0"/>
                                  </p:stCondLst>
                                  <p:childTnLst>
                                    <p:set>
                                      <p:cBhvr>
                                        <p:cTn id="6" dur="1" fill="hold">
                                          <p:stCondLst>
                                            <p:cond delay="0"/>
                                          </p:stCondLst>
                                        </p:cTn>
                                        <p:tgtEl>
                                          <p:spTgt spid="98306"/>
                                        </p:tgtEl>
                                        <p:attrNameLst>
                                          <p:attrName>style.visibility</p:attrName>
                                        </p:attrNameLst>
                                      </p:cBhvr>
                                      <p:to>
                                        <p:strVal val="visible"/>
                                      </p:to>
                                    </p:set>
                                    <p:anim calcmode="lin" valueType="num">
                                      <p:cBhvr additive="base">
                                        <p:cTn id="7" dur="500" fill="hold"/>
                                        <p:tgtEl>
                                          <p:spTgt spid="98306"/>
                                        </p:tgtEl>
                                        <p:attrNameLst>
                                          <p:attrName>ppt_x</p:attrName>
                                        </p:attrNameLst>
                                      </p:cBhvr>
                                      <p:tavLst>
                                        <p:tav tm="0">
                                          <p:val>
                                            <p:strVal val="1+#ppt_w/2"/>
                                          </p:val>
                                        </p:tav>
                                        <p:tav tm="100000">
                                          <p:val>
                                            <p:strVal val="#ppt_x"/>
                                          </p:val>
                                        </p:tav>
                                      </p:tavLst>
                                    </p:anim>
                                    <p:anim calcmode="lin" valueType="num">
                                      <p:cBhvr additive="base">
                                        <p:cTn id="8" dur="500" fill="hold"/>
                                        <p:tgtEl>
                                          <p:spTgt spid="9830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98307"/>
                                        </p:tgtEl>
                                        <p:attrNameLst>
                                          <p:attrName>style.visibility</p:attrName>
                                        </p:attrNameLst>
                                      </p:cBhvr>
                                      <p:to>
                                        <p:strVal val="visible"/>
                                      </p:to>
                                    </p:set>
                                    <p:animEffect transition="in" filter="wipe(down)">
                                      <p:cBhvr>
                                        <p:cTn id="13" dur="500"/>
                                        <p:tgtEl>
                                          <p:spTgt spid="98307"/>
                                        </p:tgtEl>
                                      </p:cBhvr>
                                    </p:animEffect>
                                  </p:childTnLst>
                                </p:cTn>
                              </p:par>
                            </p:childTnLst>
                          </p:cTn>
                        </p:par>
                        <p:par>
                          <p:cTn id="14" fill="hold" nodeType="afterGroup">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98309"/>
                                        </p:tgtEl>
                                        <p:attrNameLst>
                                          <p:attrName>style.visibility</p:attrName>
                                        </p:attrNameLst>
                                      </p:cBhvr>
                                      <p:to>
                                        <p:strVal val="visible"/>
                                      </p:to>
                                    </p:set>
                                    <p:anim calcmode="lin" valueType="num">
                                      <p:cBhvr additive="base">
                                        <p:cTn id="17" dur="500" fill="hold"/>
                                        <p:tgtEl>
                                          <p:spTgt spid="98309"/>
                                        </p:tgtEl>
                                        <p:attrNameLst>
                                          <p:attrName>ppt_x</p:attrName>
                                        </p:attrNameLst>
                                      </p:cBhvr>
                                      <p:tavLst>
                                        <p:tav tm="0">
                                          <p:val>
                                            <p:strVal val="0-#ppt_w/2"/>
                                          </p:val>
                                        </p:tav>
                                        <p:tav tm="100000">
                                          <p:val>
                                            <p:strVal val="#ppt_x"/>
                                          </p:val>
                                        </p:tav>
                                      </p:tavLst>
                                    </p:anim>
                                    <p:anim calcmode="lin" valueType="num">
                                      <p:cBhvr additive="base">
                                        <p:cTn id="18" dur="500" fill="hold"/>
                                        <p:tgtEl>
                                          <p:spTgt spid="983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7" grpId="0" autoUpdateAnimBg="0"/>
      <p:bldP spid="98309"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609600" y="914400"/>
            <a:ext cx="8153400" cy="470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b="1">
                <a:solidFill>
                  <a:srgbClr val="990000"/>
                </a:solidFill>
                <a:ea typeface="楷体_GB2312" charset="0"/>
              </a:rPr>
              <a:t>   1.</a:t>
            </a:r>
            <a:r>
              <a:rPr lang="en-US" altLang="zh-CN" sz="3600">
                <a:solidFill>
                  <a:srgbClr val="990000"/>
                </a:solidFill>
                <a:latin typeface="楷体_GB2312" charset="0"/>
                <a:ea typeface="楷体_GB2312" charset="0"/>
              </a:rPr>
              <a:t> </a:t>
            </a:r>
            <a:r>
              <a:rPr lang="zh-CN" altLang="en-US" sz="3600">
                <a:solidFill>
                  <a:srgbClr val="990000"/>
                </a:solidFill>
                <a:latin typeface="楷体_GB2312" charset="0"/>
                <a:ea typeface="楷体_GB2312" charset="0"/>
              </a:rPr>
              <a:t>了解排序的</a:t>
            </a:r>
            <a:r>
              <a:rPr lang="zh-CN" altLang="en-US" sz="3600" b="1">
                <a:solidFill>
                  <a:srgbClr val="990000"/>
                </a:solidFill>
                <a:latin typeface="楷体_GB2312" charset="0"/>
                <a:ea typeface="楷体_GB2312" charset="0"/>
              </a:rPr>
              <a:t>定义</a:t>
            </a:r>
            <a:r>
              <a:rPr lang="zh-CN" altLang="en-US" sz="3600">
                <a:solidFill>
                  <a:srgbClr val="990000"/>
                </a:solidFill>
                <a:latin typeface="楷体_GB2312" charset="0"/>
                <a:ea typeface="楷体_GB2312" charset="0"/>
              </a:rPr>
              <a:t>和各种排序方法的特点。熟悉各种</a:t>
            </a:r>
            <a:r>
              <a:rPr lang="zh-CN" altLang="en-US" sz="3600" b="1">
                <a:solidFill>
                  <a:srgbClr val="990000"/>
                </a:solidFill>
                <a:latin typeface="楷体_GB2312" charset="0"/>
                <a:ea typeface="楷体_GB2312" charset="0"/>
              </a:rPr>
              <a:t>方法的排序过程及其依据的原则</a:t>
            </a:r>
            <a:r>
              <a:rPr lang="zh-CN" altLang="en-US" sz="3600">
                <a:solidFill>
                  <a:srgbClr val="990000"/>
                </a:solidFill>
                <a:latin typeface="楷体_GB2312" charset="0"/>
                <a:ea typeface="楷体_GB2312" charset="0"/>
              </a:rPr>
              <a:t>。基于</a:t>
            </a:r>
            <a:r>
              <a:rPr lang="zh-CN" altLang="en-US" sz="3600">
                <a:solidFill>
                  <a:srgbClr val="990000"/>
                </a:solidFill>
                <a:ea typeface="楷体_GB2312" charset="0"/>
              </a:rPr>
              <a:t>“</a:t>
            </a:r>
            <a:r>
              <a:rPr lang="zh-CN" altLang="en-US" sz="3600" b="1">
                <a:solidFill>
                  <a:srgbClr val="990000"/>
                </a:solidFill>
                <a:latin typeface="楷体_GB2312" charset="0"/>
                <a:ea typeface="楷体_GB2312" charset="0"/>
              </a:rPr>
              <a:t>关键字间的比较</a:t>
            </a:r>
            <a:r>
              <a:rPr lang="zh-CN" altLang="en-US" sz="3600">
                <a:solidFill>
                  <a:srgbClr val="990000"/>
                </a:solidFill>
                <a:ea typeface="楷体_GB2312" charset="0"/>
              </a:rPr>
              <a:t>”</a:t>
            </a:r>
            <a:r>
              <a:rPr lang="zh-CN" altLang="en-US" sz="3600">
                <a:solidFill>
                  <a:srgbClr val="990000"/>
                </a:solidFill>
                <a:latin typeface="楷体_GB2312" charset="0"/>
                <a:ea typeface="楷体_GB2312" charset="0"/>
              </a:rPr>
              <a:t>进行排序的方法可以按排序过程所依据的不同原则分为</a:t>
            </a:r>
            <a:r>
              <a:rPr lang="zh-CN" altLang="en-US" sz="3600" b="1">
                <a:solidFill>
                  <a:srgbClr val="990000"/>
                </a:solidFill>
                <a:latin typeface="楷体_GB2312" charset="0"/>
                <a:ea typeface="楷体_GB2312" charset="0"/>
              </a:rPr>
              <a:t>插入排序</a:t>
            </a:r>
            <a:r>
              <a:rPr lang="zh-CN" altLang="en-US" sz="3600">
                <a:solidFill>
                  <a:srgbClr val="990000"/>
                </a:solidFill>
                <a:latin typeface="楷体_GB2312" charset="0"/>
                <a:ea typeface="楷体_GB2312" charset="0"/>
              </a:rPr>
              <a:t>、</a:t>
            </a:r>
            <a:r>
              <a:rPr lang="zh-CN" altLang="en-US" sz="3600" b="1">
                <a:solidFill>
                  <a:srgbClr val="990000"/>
                </a:solidFill>
                <a:latin typeface="楷体_GB2312" charset="0"/>
                <a:ea typeface="楷体_GB2312" charset="0"/>
              </a:rPr>
              <a:t>交换排序</a:t>
            </a:r>
            <a:r>
              <a:rPr lang="zh-CN" altLang="en-US" sz="3600">
                <a:solidFill>
                  <a:srgbClr val="990000"/>
                </a:solidFill>
                <a:latin typeface="楷体_GB2312" charset="0"/>
                <a:ea typeface="楷体_GB2312" charset="0"/>
              </a:rPr>
              <a:t>、</a:t>
            </a:r>
            <a:r>
              <a:rPr lang="zh-CN" altLang="en-US" sz="3600" b="1">
                <a:solidFill>
                  <a:srgbClr val="990000"/>
                </a:solidFill>
                <a:latin typeface="楷体_GB2312" charset="0"/>
                <a:ea typeface="楷体_GB2312" charset="0"/>
              </a:rPr>
              <a:t>选择排序</a:t>
            </a:r>
            <a:r>
              <a:rPr lang="zh-CN" altLang="en-US" sz="3600">
                <a:solidFill>
                  <a:srgbClr val="990000"/>
                </a:solidFill>
                <a:latin typeface="楷体_GB2312" charset="0"/>
                <a:ea typeface="楷体_GB2312" charset="0"/>
              </a:rPr>
              <a:t>、</a:t>
            </a:r>
            <a:r>
              <a:rPr lang="zh-CN" altLang="en-US" sz="3600" b="1">
                <a:solidFill>
                  <a:srgbClr val="990000"/>
                </a:solidFill>
                <a:latin typeface="楷体_GB2312" charset="0"/>
                <a:ea typeface="楷体_GB2312" charset="0"/>
              </a:rPr>
              <a:t>归并排序</a:t>
            </a:r>
            <a:r>
              <a:rPr lang="zh-CN" altLang="en-US" sz="3600">
                <a:solidFill>
                  <a:srgbClr val="990000"/>
                </a:solidFill>
                <a:latin typeface="楷体_GB2312" charset="0"/>
                <a:ea typeface="楷体_GB2312" charset="0"/>
              </a:rPr>
              <a:t>和计数排序等五类。</a:t>
            </a:r>
            <a:endParaRPr lang="zh-CN" altLang="en-US">
              <a:solidFill>
                <a:srgbClr val="990000"/>
              </a:solidFill>
            </a:endParaRPr>
          </a:p>
        </p:txBody>
      </p:sp>
    </p:spTree>
    <p:extLst>
      <p:ext uri="{BB962C8B-B14F-4D97-AF65-F5344CB8AC3E}">
        <p14:creationId xmlns:p14="http://schemas.microsoft.com/office/powerpoint/2010/main" val="20671609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762000" y="457200"/>
            <a:ext cx="7924800" cy="302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4000" b="1">
                <a:solidFill>
                  <a:srgbClr val="990000"/>
                </a:solidFill>
                <a:ea typeface="楷体_GB2312" charset="0"/>
              </a:rPr>
              <a:t>    2.</a:t>
            </a:r>
            <a:r>
              <a:rPr lang="en-US" altLang="zh-CN" sz="4000">
                <a:solidFill>
                  <a:srgbClr val="990000"/>
                </a:solidFill>
                <a:latin typeface="楷体_GB2312" charset="0"/>
                <a:ea typeface="楷体_GB2312" charset="0"/>
              </a:rPr>
              <a:t> </a:t>
            </a:r>
            <a:r>
              <a:rPr lang="zh-CN" altLang="en-US" sz="3600">
                <a:solidFill>
                  <a:srgbClr val="990000"/>
                </a:solidFill>
                <a:latin typeface="楷体_GB2312" charset="0"/>
                <a:ea typeface="楷体_GB2312" charset="0"/>
              </a:rPr>
              <a:t>掌握各种排序方法的</a:t>
            </a:r>
            <a:r>
              <a:rPr lang="zh-CN" altLang="en-US" sz="3600" b="1">
                <a:solidFill>
                  <a:srgbClr val="990000"/>
                </a:solidFill>
                <a:latin typeface="楷体_GB2312" charset="0"/>
                <a:ea typeface="楷体_GB2312" charset="0"/>
              </a:rPr>
              <a:t>时间复杂度</a:t>
            </a:r>
            <a:r>
              <a:rPr lang="zh-CN" altLang="en-US" sz="3600">
                <a:solidFill>
                  <a:srgbClr val="990000"/>
                </a:solidFill>
                <a:latin typeface="楷体_GB2312" charset="0"/>
                <a:ea typeface="楷体_GB2312" charset="0"/>
              </a:rPr>
              <a:t>的分析方法。能从</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关键字间的比较次数</a:t>
            </a:r>
            <a:r>
              <a:rPr lang="zh-CN" altLang="en-US" sz="3600" b="1">
                <a:solidFill>
                  <a:srgbClr val="990000"/>
                </a:solidFill>
                <a:ea typeface="楷体_GB2312" charset="0"/>
              </a:rPr>
              <a:t>”</a:t>
            </a:r>
            <a:r>
              <a:rPr lang="zh-CN" altLang="en-US" sz="3600">
                <a:solidFill>
                  <a:srgbClr val="990000"/>
                </a:solidFill>
                <a:latin typeface="楷体_GB2312" charset="0"/>
                <a:ea typeface="楷体_GB2312" charset="0"/>
              </a:rPr>
              <a:t>分析排序算法的</a:t>
            </a:r>
            <a:r>
              <a:rPr lang="zh-CN" altLang="en-US" sz="3600" b="1">
                <a:solidFill>
                  <a:srgbClr val="990000"/>
                </a:solidFill>
                <a:latin typeface="楷体_GB2312" charset="0"/>
                <a:ea typeface="楷体_GB2312" charset="0"/>
              </a:rPr>
              <a:t>平均</a:t>
            </a:r>
            <a:r>
              <a:rPr lang="zh-CN" altLang="en-US" sz="3600">
                <a:solidFill>
                  <a:srgbClr val="990000"/>
                </a:solidFill>
                <a:latin typeface="楷体_GB2312" charset="0"/>
                <a:ea typeface="楷体_GB2312" charset="0"/>
              </a:rPr>
              <a:t>情况和</a:t>
            </a:r>
            <a:r>
              <a:rPr lang="zh-CN" altLang="en-US" sz="3600" b="1">
                <a:solidFill>
                  <a:srgbClr val="990000"/>
                </a:solidFill>
                <a:latin typeface="楷体_GB2312" charset="0"/>
                <a:ea typeface="楷体_GB2312" charset="0"/>
              </a:rPr>
              <a:t>最坏</a:t>
            </a:r>
            <a:r>
              <a:rPr lang="zh-CN" altLang="en-US" sz="3600">
                <a:solidFill>
                  <a:srgbClr val="990000"/>
                </a:solidFill>
                <a:latin typeface="楷体_GB2312" charset="0"/>
                <a:ea typeface="楷体_GB2312" charset="0"/>
              </a:rPr>
              <a:t>情况的时间性能。</a:t>
            </a:r>
          </a:p>
        </p:txBody>
      </p:sp>
      <p:sp>
        <p:nvSpPr>
          <p:cNvPr id="130051" name="Rectangle 3"/>
          <p:cNvSpPr>
            <a:spLocks noChangeArrowheads="1"/>
          </p:cNvSpPr>
          <p:nvPr/>
        </p:nvSpPr>
        <p:spPr bwMode="auto">
          <a:xfrm>
            <a:off x="762000" y="3581400"/>
            <a:ext cx="8077200"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30000"/>
              </a:lnSpc>
            </a:pPr>
            <a:r>
              <a:rPr lang="en-US" altLang="zh-CN" sz="3600">
                <a:solidFill>
                  <a:srgbClr val="006666"/>
                </a:solidFill>
                <a:latin typeface="楷体_GB2312" charset="0"/>
                <a:ea typeface="楷体_GB2312" charset="0"/>
              </a:rPr>
              <a:t>  </a:t>
            </a:r>
            <a:r>
              <a:rPr lang="zh-CN" altLang="en-US" sz="3600">
                <a:solidFill>
                  <a:srgbClr val="990000"/>
                </a:solidFill>
                <a:latin typeface="楷体_GB2312" charset="0"/>
                <a:ea typeface="楷体_GB2312" charset="0"/>
              </a:rPr>
              <a:t>按平均时间复杂度划分，内部排序可分为三类：</a:t>
            </a:r>
            <a:r>
              <a:rPr lang="en-US" altLang="zh-CN" sz="3600" b="1">
                <a:solidFill>
                  <a:srgbClr val="990000"/>
                </a:solidFill>
                <a:ea typeface="楷体_GB2312" charset="0"/>
              </a:rPr>
              <a:t>O(n</a:t>
            </a:r>
            <a:r>
              <a:rPr lang="en-US" altLang="zh-CN" sz="3600" b="1" baseline="30000">
                <a:solidFill>
                  <a:srgbClr val="990000"/>
                </a:solidFill>
                <a:ea typeface="楷体_GB2312" charset="0"/>
              </a:rPr>
              <a:t>2</a:t>
            </a:r>
            <a:r>
              <a:rPr lang="en-US" altLang="zh-CN" sz="3600" b="1">
                <a:solidFill>
                  <a:srgbClr val="990000"/>
                </a:solidFill>
                <a:ea typeface="楷体_GB2312" charset="0"/>
              </a:rPr>
              <a:t>)</a:t>
            </a:r>
            <a:r>
              <a:rPr lang="zh-CN" altLang="en-US" sz="3600">
                <a:solidFill>
                  <a:srgbClr val="990000"/>
                </a:solidFill>
                <a:latin typeface="楷体_GB2312" charset="0"/>
                <a:ea typeface="楷体_GB2312" charset="0"/>
              </a:rPr>
              <a:t>的简单排序方法，</a:t>
            </a:r>
            <a:r>
              <a:rPr lang="en-US" altLang="zh-CN" sz="3600" b="1">
                <a:solidFill>
                  <a:srgbClr val="990000"/>
                </a:solidFill>
                <a:ea typeface="楷体_GB2312" charset="0"/>
              </a:rPr>
              <a:t>O(nlogn)</a:t>
            </a:r>
            <a:r>
              <a:rPr lang="zh-CN" altLang="en-US" sz="3600">
                <a:solidFill>
                  <a:srgbClr val="990000"/>
                </a:solidFill>
                <a:latin typeface="楷体_GB2312" charset="0"/>
                <a:ea typeface="楷体_GB2312" charset="0"/>
              </a:rPr>
              <a:t>的高效排序方法 和 </a:t>
            </a:r>
            <a:r>
              <a:rPr lang="en-US" altLang="zh-CN" sz="3600" b="1">
                <a:solidFill>
                  <a:srgbClr val="990000"/>
                </a:solidFill>
                <a:ea typeface="楷体_GB2312" charset="0"/>
              </a:rPr>
              <a:t>O(dn)</a:t>
            </a:r>
            <a:r>
              <a:rPr lang="zh-CN" altLang="en-US" sz="3600">
                <a:solidFill>
                  <a:srgbClr val="990000"/>
                </a:solidFill>
                <a:latin typeface="楷体_GB2312" charset="0"/>
                <a:ea typeface="楷体_GB2312" charset="0"/>
              </a:rPr>
              <a:t>的基数排序方法。</a:t>
            </a:r>
          </a:p>
        </p:txBody>
      </p:sp>
    </p:spTree>
    <p:extLst>
      <p:ext uri="{BB962C8B-B14F-4D97-AF65-F5344CB8AC3E}">
        <p14:creationId xmlns:p14="http://schemas.microsoft.com/office/powerpoint/2010/main" val="15413637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457200" y="990600"/>
            <a:ext cx="8229600"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l">
              <a:lnSpc>
                <a:spcPct val="140000"/>
              </a:lnSpc>
            </a:pPr>
            <a:r>
              <a:rPr lang="en-US" altLang="zh-CN" sz="3600" b="1">
                <a:solidFill>
                  <a:srgbClr val="990000"/>
                </a:solidFill>
                <a:ea typeface="楷体_GB2312" charset="0"/>
              </a:rPr>
              <a:t>    3</a:t>
            </a:r>
            <a:r>
              <a:rPr lang="zh-CN" altLang="en-US" sz="3600" b="1">
                <a:solidFill>
                  <a:srgbClr val="990000"/>
                </a:solidFill>
                <a:latin typeface="楷体_GB2312" charset="0"/>
                <a:ea typeface="楷体_GB2312" charset="0"/>
              </a:rPr>
              <a:t>．</a:t>
            </a:r>
            <a:r>
              <a:rPr lang="zh-CN" altLang="en-US" sz="3600">
                <a:solidFill>
                  <a:srgbClr val="990000"/>
                </a:solidFill>
                <a:latin typeface="楷体_GB2312" charset="0"/>
                <a:ea typeface="楷体_GB2312" charset="0"/>
              </a:rPr>
              <a:t>理解排序方法</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稳定</a:t>
            </a:r>
            <a:r>
              <a:rPr lang="zh-CN" altLang="en-US" sz="3600" b="1">
                <a:solidFill>
                  <a:srgbClr val="990000"/>
                </a:solidFill>
                <a:ea typeface="楷体_GB2312" charset="0"/>
              </a:rPr>
              <a:t>”</a:t>
            </a:r>
            <a:r>
              <a:rPr lang="zh-CN" altLang="en-US" sz="3600">
                <a:solidFill>
                  <a:srgbClr val="990000"/>
                </a:solidFill>
                <a:latin typeface="楷体_GB2312" charset="0"/>
                <a:ea typeface="楷体_GB2312" charset="0"/>
              </a:rPr>
              <a:t>或</a:t>
            </a:r>
            <a:r>
              <a:rPr lang="zh-CN" altLang="en-US" sz="3600" b="1">
                <a:solidFill>
                  <a:srgbClr val="990000"/>
                </a:solidFill>
                <a:ea typeface="楷体_GB2312" charset="0"/>
              </a:rPr>
              <a:t>“</a:t>
            </a:r>
            <a:r>
              <a:rPr lang="zh-CN" altLang="en-US" sz="3600" b="1">
                <a:solidFill>
                  <a:srgbClr val="990000"/>
                </a:solidFill>
                <a:latin typeface="楷体_GB2312" charset="0"/>
                <a:ea typeface="楷体_GB2312" charset="0"/>
              </a:rPr>
              <a:t>不稳定</a:t>
            </a:r>
            <a:r>
              <a:rPr lang="zh-CN" altLang="en-US" sz="3600" b="1">
                <a:solidFill>
                  <a:srgbClr val="990000"/>
                </a:solidFill>
                <a:ea typeface="楷体_GB2312" charset="0"/>
              </a:rPr>
              <a:t>”</a:t>
            </a:r>
            <a:r>
              <a:rPr lang="zh-CN" altLang="en-US" sz="3600">
                <a:solidFill>
                  <a:srgbClr val="990000"/>
                </a:solidFill>
                <a:latin typeface="楷体_GB2312" charset="0"/>
                <a:ea typeface="楷体_GB2312" charset="0"/>
              </a:rPr>
              <a:t>的含义，弄清楚在</a:t>
            </a:r>
            <a:r>
              <a:rPr lang="zh-CN" altLang="en-US" sz="3600" b="1">
                <a:solidFill>
                  <a:srgbClr val="990000"/>
                </a:solidFill>
                <a:latin typeface="楷体_GB2312" charset="0"/>
                <a:ea typeface="楷体_GB2312" charset="0"/>
              </a:rPr>
              <a:t>什么情况下</a:t>
            </a:r>
            <a:r>
              <a:rPr lang="zh-CN" altLang="en-US" sz="3600">
                <a:solidFill>
                  <a:srgbClr val="990000"/>
                </a:solidFill>
                <a:latin typeface="楷体_GB2312" charset="0"/>
                <a:ea typeface="楷体_GB2312" charset="0"/>
              </a:rPr>
              <a:t>要求应用的排序方法必须是稳定的。</a:t>
            </a:r>
            <a:endParaRPr lang="zh-CN" altLang="en-US" sz="3600">
              <a:solidFill>
                <a:srgbClr val="990000"/>
              </a:solidFill>
            </a:endParaRPr>
          </a:p>
        </p:txBody>
      </p:sp>
    </p:spTree>
    <p:extLst>
      <p:ext uri="{BB962C8B-B14F-4D97-AF65-F5344CB8AC3E}">
        <p14:creationId xmlns:p14="http://schemas.microsoft.com/office/powerpoint/2010/main" val="16783564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TM03457496[[fn=视差]]</Template>
  <TotalTime>45</TotalTime>
  <Words>7980</Words>
  <Application>Microsoft Macintosh PowerPoint</Application>
  <PresentationFormat>全屏显示(4:3)</PresentationFormat>
  <Paragraphs>1298</Paragraphs>
  <Slides>126</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126</vt:i4>
      </vt:variant>
    </vt:vector>
  </HeadingPairs>
  <TitlesOfParts>
    <vt:vector size="145" baseType="lpstr">
      <vt:lpstr>Calibri</vt:lpstr>
      <vt:lpstr>Lucida Sans Unicode</vt:lpstr>
      <vt:lpstr>Verdana</vt:lpstr>
      <vt:lpstr>Wingdings 2</vt:lpstr>
      <vt:lpstr>Wingdings 3</vt:lpstr>
      <vt:lpstr>仿宋_GB2312</vt:lpstr>
      <vt:lpstr>黑体</vt:lpstr>
      <vt:lpstr>华文楷体</vt:lpstr>
      <vt:lpstr>楷体_GB2312</vt:lpstr>
      <vt:lpstr>隶书</vt:lpstr>
      <vt:lpstr>宋体</vt:lpstr>
      <vt:lpstr>Arial</vt:lpstr>
      <vt:lpstr>Symbol</vt:lpstr>
      <vt:lpstr>Times New Roman</vt:lpstr>
      <vt:lpstr>聚合</vt:lpstr>
      <vt:lpstr>Microsoft Equation 3.0</vt:lpstr>
      <vt:lpstr>Microsoft 公式 3.0</vt:lpstr>
      <vt:lpstr>Microsoft Word 文档</vt:lpstr>
      <vt:lpstr>软件包</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各种排序方法的比较</vt:lpstr>
      <vt:lpstr>排序方法的选用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Microsoft Office User</cp:lastModifiedBy>
  <cp:revision>78</cp:revision>
  <dcterms:created xsi:type="dcterms:W3CDTF">2021-09-07T07:00:29Z</dcterms:created>
  <dcterms:modified xsi:type="dcterms:W3CDTF">2021-09-12T02:34:48Z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2052-3.0.0.4824</vt:lpwstr>
  </property>
</Properties>
</file>