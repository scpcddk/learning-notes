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ink/ink1.xml" ContentType="application/inkml+xml"/>
  <Override PartName="/ppt/ink/ink2.xml" ContentType="application/inkml+xml"/>
  <Override PartName="/ppt/ink/ink3.xml" ContentType="application/inkml+xml"/>
  <Override PartName="/ppt/ink/ink4.xml" ContentType="application/inkml+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6"/>
  </p:notesMasterIdLst>
  <p:sldIdLst>
    <p:sldId id="256" r:id="rId3"/>
    <p:sldId id="257" r:id="rId4"/>
    <p:sldId id="258" r:id="rId5"/>
    <p:sldId id="260" r:id="rId6"/>
    <p:sldId id="259" r:id="rId7"/>
    <p:sldId id="261" r:id="rId8"/>
    <p:sldId id="262" r:id="rId9"/>
    <p:sldId id="263" r:id="rId10"/>
    <p:sldId id="425" r:id="rId11"/>
    <p:sldId id="426" r:id="rId12"/>
    <p:sldId id="427" r:id="rId13"/>
    <p:sldId id="279" r:id="rId14"/>
    <p:sldId id="280" r:id="rId15"/>
    <p:sldId id="281" r:id="rId16"/>
    <p:sldId id="342" r:id="rId17"/>
    <p:sldId id="343" r:id="rId18"/>
    <p:sldId id="443" r:id="rId19"/>
    <p:sldId id="444" r:id="rId20"/>
    <p:sldId id="446" r:id="rId21"/>
    <p:sldId id="447" r:id="rId22"/>
    <p:sldId id="453" r:id="rId23"/>
    <p:sldId id="455" r:id="rId24"/>
    <p:sldId id="454" r:id="rId25"/>
    <p:sldId id="459" r:id="rId26"/>
    <p:sldId id="456" r:id="rId27"/>
    <p:sldId id="457" r:id="rId28"/>
    <p:sldId id="458" r:id="rId29"/>
    <p:sldId id="448" r:id="rId30"/>
    <p:sldId id="449" r:id="rId31"/>
    <p:sldId id="460" r:id="rId32"/>
    <p:sldId id="450" r:id="rId33"/>
    <p:sldId id="451" r:id="rId34"/>
    <p:sldId id="461" r:id="rId35"/>
    <p:sldId id="452"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412" r:id="rId49"/>
    <p:sldId id="413" r:id="rId50"/>
    <p:sldId id="414" r:id="rId51"/>
    <p:sldId id="294" r:id="rId52"/>
    <p:sldId id="295" r:id="rId53"/>
    <p:sldId id="296" r:id="rId54"/>
    <p:sldId id="297" r:id="rId55"/>
    <p:sldId id="298" r:id="rId56"/>
    <p:sldId id="299" r:id="rId57"/>
    <p:sldId id="300" r:id="rId58"/>
    <p:sldId id="301" r:id="rId59"/>
    <p:sldId id="302" r:id="rId60"/>
    <p:sldId id="303" r:id="rId61"/>
    <p:sldId id="304" r:id="rId62"/>
    <p:sldId id="415" r:id="rId63"/>
    <p:sldId id="306" r:id="rId64"/>
    <p:sldId id="308" r:id="rId65"/>
    <p:sldId id="309" r:id="rId66"/>
    <p:sldId id="310" r:id="rId67"/>
    <p:sldId id="311" r:id="rId68"/>
    <p:sldId id="312" r:id="rId69"/>
    <p:sldId id="313" r:id="rId70"/>
    <p:sldId id="416" r:id="rId71"/>
    <p:sldId id="417" r:id="rId72"/>
    <p:sldId id="439" r:id="rId73"/>
    <p:sldId id="440" r:id="rId74"/>
    <p:sldId id="441" r:id="rId75"/>
    <p:sldId id="442" r:id="rId76"/>
    <p:sldId id="418" r:id="rId77"/>
    <p:sldId id="419" r:id="rId78"/>
    <p:sldId id="424" r:id="rId79"/>
    <p:sldId id="429" r:id="rId80"/>
    <p:sldId id="430" r:id="rId81"/>
    <p:sldId id="431" r:id="rId82"/>
    <p:sldId id="432" r:id="rId83"/>
    <p:sldId id="433" r:id="rId84"/>
    <p:sldId id="434" r:id="rId85"/>
    <p:sldId id="435" r:id="rId86"/>
    <p:sldId id="436" r:id="rId87"/>
    <p:sldId id="437" r:id="rId88"/>
    <p:sldId id="438" r:id="rId89"/>
    <p:sldId id="337" r:id="rId90"/>
    <p:sldId id="325" r:id="rId91"/>
    <p:sldId id="326" r:id="rId92"/>
    <p:sldId id="397" r:id="rId93"/>
    <p:sldId id="327" r:id="rId94"/>
    <p:sldId id="328" r:id="rId95"/>
    <p:sldId id="329" r:id="rId96"/>
    <p:sldId id="330" r:id="rId97"/>
    <p:sldId id="339" r:id="rId98"/>
    <p:sldId id="411" r:id="rId99"/>
    <p:sldId id="341" r:id="rId100"/>
    <p:sldId id="344" r:id="rId101"/>
    <p:sldId id="345" r:id="rId102"/>
    <p:sldId id="331" r:id="rId103"/>
    <p:sldId id="347" r:id="rId104"/>
    <p:sldId id="423" r:id="rId105"/>
  </p:sldIdLst>
  <p:sldSz cx="12192000" cy="6858000"/>
  <p:notesSz cx="12192000" cy="6858000"/>
  <p:custDataLst>
    <p:tags r:id="rId110"/>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8" d="100"/>
          <a:sy n="78" d="100"/>
        </p:scale>
        <p:origin x="658" y="62"/>
      </p:cViewPr>
      <p:guideLst>
        <p:guide orient="horz" pos="2880"/>
        <p:guide pos="217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0" Type="http://schemas.openxmlformats.org/officeDocument/2006/relationships/tags" Target="tags/tag6.xml"/><Relationship Id="rId11" Type="http://schemas.openxmlformats.org/officeDocument/2006/relationships/slide" Target="slides/slide9.xml"/><Relationship Id="rId109" Type="http://schemas.openxmlformats.org/officeDocument/2006/relationships/tableStyles" Target="tableStyles.xml"/><Relationship Id="rId108" Type="http://schemas.openxmlformats.org/officeDocument/2006/relationships/viewProps" Target="viewProps.xml"/><Relationship Id="rId107" Type="http://schemas.openxmlformats.org/officeDocument/2006/relationships/presProps" Target="presProps.xml"/><Relationship Id="rId106" Type="http://schemas.openxmlformats.org/officeDocument/2006/relationships/notesMaster" Target="notesMasters/notesMaster1.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8-12T09:56:24"/>
    </inkml:context>
    <inkml:brush xml:id="br0">
      <inkml:brushProperty name="width" value="0.09701" units="cm"/>
      <inkml:brushProperty name="height" value="0.09701" units="cm"/>
      <inkml:brushProperty name="color" value="#000000"/>
    </inkml:brush>
  </inkml:definitions>
  <inkml:trace contextRef="#ctx0" brushRef="#br0">160.000 641.000,'0.000'0.000,"0.000"0.000,0.000 0.000,0.000 0.000,0.000 0.000,0.000 0.000,0.000 0.000,0.000 0.000,0.000 0.000,0.000 0.000,0.000 0.000,17.000 0.000,-17.000 0.000,0.000 0.000,0.000 0.000,0.000 0.000,0.000 0.000,0.000 0.000,17.000 0.000,-17.000 0.000,0.000 0.000,0.000 0.000,0.000 0.000,0.000 0.000,17.000 0.000,-17.000 0.000,16.000 0.000,1.000 0.000,0.000 0.000,0.000 0.000,17.000 0.000,-17.000-12.000,0.000 12.000,16.000 0.000,-16.000 0.000,17.000 0.000,-17.000 0.000,0.000 0.000,-1.000 0.000,1.000 0.000,-17.000 0.000,17.000 0.000,-17.000-12.000,0.000 12.000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8-12T09:56:24"/>
    </inkml:context>
    <inkml:brush xml:id="br0">
      <inkml:brushProperty name="width" value="0.09701" units="cm"/>
      <inkml:brushProperty name="height" value="0.09701" units="cm"/>
      <inkml:brushProperty name="color" value="#000000"/>
    </inkml:brush>
  </inkml:definitions>
  <inkml:trace contextRef="#ctx0" brushRef="#br0">258.000 616.000,'0.000'0.000,"0.000"0.000,0.000 0.000,0.000 0.000,0.000 0.000,0.000 0.000,0.000 0.000,0.000 0.000,0.000 0.000,0.000 0.000,17.000 0.000,-17.000 0.000,0.000 0.000,0.000 0.000,0.000 0.000,0.000 0.000,17.000 0.000,-17.000 0.000,0.000 0.000,0.000 0.000,0.000 0.000,17.000 0.000,-17.000 0.000,17.000 0.000,0.000 12.000,0.000-12.000,0.000 0.000,0.000 0.000,0.000 0.000,17.000 0.000,-17.000 0.000,0.000 0.000,18.000 0.000,-18.000 0.000,0.000 12.000,17.000-12.000,-17.000 0.000,0.000 0.000,0.000 0.000,0.000 0.000,0.000 0.000,-17.000 0.000,17.000 0.000,0.000 0.000,-17.000 0.000,0.000 0.000,17.000 0.000,-17.000 0.000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8-12T09:56:24"/>
    </inkml:context>
    <inkml:brush xml:id="br0">
      <inkml:brushProperty name="width" value="0.09701" units="cm"/>
      <inkml:brushProperty name="height" value="0.09701" units="cm"/>
      <inkml:brushProperty name="color" value="#000000"/>
    </inkml:brush>
  </inkml:definitions>
  <inkml:trace contextRef="#ctx0" brushRef="#br0">267.000 528.000,'0.000'0.000,"0.000"0.000,0.000 0.000,0.000 0.000,0.000 0.000,0.000 0.000,0.000 0.000,18.000 0.000,-18.000 0.000,0.000 0.000,17.000 0.000,-17.000 0.000,18.000 0.000,-18.000 17.000,17.000-17.000,1.000 18.000,-1.000-1.000,1.000-17.000,-1.000 18.000,1.000-1.000,-18.000-17.000,17.000 18.000,1.000-1.000,-1.000-17.000,1.000 18.000,17.000-1.000,-17.000 18.000,17.000-17.000,-35.000-18.000,35.000 35.000,0.000-18.000,0.000 18.000,0.000-17.000,0.000 17.000,0.000-18.000,0.000 1.000,18.000 17.000,-1.000 0.000,-16.000-18.000,-36.000 1.000,52.000 16.000,1.000-16.000,-18.000 17.000,-35.000-18.000,52.000 18.000,-16.000 0.000,16.000-17.000,-17.000 17.000,18.000 0.000,-1.000 0.000,-52.000-35.000,53.000 35.000,0.000 17.000,-1.000-17.000,1.000-17.000,-18.000 17.000,18.000-1.000,-1.000 1.000,18.000 0.000,0.000 18.000,1.000-18.000,-54.000-35.000,53.000 35.000,0.000 17.000,-17.000-34.000,0.000 17.000,-1.000 0.000,1.000-18.000,0.000 1.000,-18.000 17.000,17.000-18.000,1.000 18.000,-18.000-17.000,18.000-1.000,-18.000 18.000,17.000-18.000,-17.000 1.000,0.000-1.000,18.000 1.000,-18.000-1.000,-17.000-17.000,17.000 18.000,-18.000-18.000,1.000 0.000,-18.000 17.000,17.000-17.000,-17.000 0.000,18.000 0.000,-18.000 18.000,0.000-18.000,0.000 0.000,0.000 0.000,0.000 0.000,0.000 0.000,0.000 17.000,0.000-17.000,0.000 0.000,0.000 0.000,17.000 18.000,-17.000-18.000,0.000 0.000,18.000 0.000,-18.000 17.000,0.000-17.000,17.000 18.000,-17.000-18.000,18.000 17.000,-18.000 1.000,18.000-18.000,-1.000 17.000,1.000 1.000,-18.000-18.000,17.000 17.000,1.000 1.000,-1.000-18.000,-17.000 17.000,18.000 1.000,-1.000-18.000,1.000 17.000,-1.000 1.000,-17.000-18.000,18.000 17.000,-18.000-17.000,0.000 0.000,17.000 0.000,-17.000 18.000,0.000-18.000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4-08-12T09:56:24"/>
    </inkml:context>
    <inkml:brush xml:id="br0">
      <inkml:brushProperty name="width" value="0.09701" units="cm"/>
      <inkml:brushProperty name="height" value="0.09701" units="cm"/>
      <inkml:brushProperty name="color" value="#ff0000"/>
    </inkml:brush>
  </inkml:definitions>
  <inkml:trace contextRef="#ctx0" brushRef="#br0">705.000 1362.000,'0.000'0.000,"0.000"0.000,0.000 0.000,0.000 0.000,0.000 0.000,0.000 0.000,18.000 0.000,-18.000 0.000,0.000 0.000,17.000 0.000,1.000 18.000,17.000-18.000,0.000 0.000,18.000 0.000,18.000 0.000,0.000 17.000,-54.000-17.000,71.000 0.000,18.000 0.000,0.000 0.000,-88.000 0.000,105.000 0.000,1.000 0.000,-18.000 17.000,-18.000-34.000,18.000 17.000,-36.000 0.000,18.000 0.000,18.000 0.000,-18.000 0.000,1.000-17.000,-36.000 17.000,17.000 0.000,-17.000 0.000,-18.000-18.000,-17.000 18.000,35.000 0.000,18.000 0.000,-36.000 0.000,35.000 0.000,-17.000 0.000,0.000-17.000,-18.000 34.000,18.000-17.000,0.000 0.000,-17.000 0.000,17.000 0.000,-1.000 18.000,1.000-18.000,-17.000 17.000,17.000-17.000,0.000 0.000,-1.000 17.000,-16.000-17.000,17.000 17.000,17.000-17.000,-17.000 0.000,-18.000 18.000,18.000-18.000,0.000 0.000,-17.000 0.000,16.000 0.000,1.000 0.000,0.000 17.000,0.000-17.000,18.000 0.000,-1.000 0.000,1.000 0.000,-18.000 0.000,17.000-17.000,-17.000 17.000,0.000 0.000,0.000 0.000,0.000 0.000,-18.000 0.000,1.000-18.000,17.000 18.000,-18.000 0.000,0.000 0.000,1.000 0.000,-36.000 0.000,35.000 0.000,0.000 0.000,0.000-17.000,-17.000 17.000,17.000 0.000,1.000 0.000,-19.000 0.000,36.000 0.000,-18.000 0.000,1.000 0.000,-19.000 0.000,19.000 0.000,-19.000 0.000,19.000 0.000,-19.000 0.000,18.000 0.000,-17.000 0.000,0.000 0.000,-18.000 0.000,17.000 17.000,1.000-17.000,-18.000 0.000,18.000 0.000,-1.000 0.000,-17.000 18.000,18.000-18.000,0.000 0.000,-1.000 0.000,1.000 17.000,0.000-17.000,-1.000 0.000,1.000 0.000,-1.000 0.000,1.000 0.000,-18.000 0.000,18.000 0.000,-18.000 0.000,17.000 0.000,-17.000 0.000,0.000 0.000,18.000 0.000,-18.000 0.000,0.000 0.000,0.000 0.000,18.000 0.000,-18.000 0.000,17.000 0.000,-17.000 0.000,18.000 0.000,0.000 0.000,-1.000-17.000,-17.000 17.000,18.000 0.000,0.000 0.000,-1.000-18.000,-17.000 18.000,18.000 0.000,-1.000 0.000,1.000-17.000,-18.000 17.000,0.000 0.000,18.000 0.000,-18.000 0.000,17.000-17.000,-17.000 17.000,0.000 0.000,0.000 0.000,0.000 0.000,0.000 0.000,0.000 0.000,0.000 0.000,0.000 0.000,0.000 0.000,0.000 0.000,0.000 0.000,0.000 0.000,0.000 0.000,0.000 0.000,0.000-17.000,0.000 17.000,0.000 0.000,0.000-18.000,0.000 18.000,0.000-17.000,0.000 0.000,0.000 0.000,0.000-1.000,0.000 1.000,0.000 0.000,0.000 0.000,-17.000-1.000,17.000 1.000,0.000 0.000,-18.000 0.000,18.000-1.000,-18.000 1.000,18.000 0.000,-17.000-18.000,17.000 18.000,-18.000 0.000,18.000-18.000,-17.000 18.000,-1.000 0.000,18.000 0.000,-18.000-1.000,1.000 1.000,-1.000 0.000,0.000 17.000,1.000-17.000,-1.000 17.000,0.000 0.000,1.000-18.000,-1.000 18.000,-17.000 0.000,35.000 0.000,-35.000 0.000,-1.000 0.000,1.000 0.000,35.000 0.000,-53.000 0.000,18.000 0.000,-1.000 0.000,-16.000 0.000,-1.000 0.000,0.000 0.000,0.000 0.000,0.000 0.000,0.000 0.000,0.000 0.000,-18.000 0.000,1.000 0.000,-1.000 0.000,18.000 0.000,-17.000 0.000,17.000 0.000,0.000 0.000,35.000-17.000,-35.000 17.000,0.000 0.000,1.000 0.000,-1.000 0.000,-18.000-17.000,18.000 17.000,0.000 0.000,0.000 0.000,-17.000 0.000,-1.000 0.000,1.000-17.000,-19.000 17.000,1.000 0.000,18.000 0.000,-1.000 0.000,0.000 0.000,1.000-18.000,-1.000 18.000,1.000 0.000,17.000 0.000,-18.000 0.000,18.000 0.000,-17.000 0.000,-18.000 0.000,17.000-17.000,71.000 17.000,-88.000 0.000,17.000 0.000,1.000 0.000,17.000 0.000,0.000 0.000,0.000 0.000,18.000 0.000,-18.000 0.000,0.000 0.000,17.000 0.000,-16.000 0.000,16.000-17.000,1.000 17.000,0.000 0.000,-1.000 0.000,1.000 0.000,0.000 0.000,17.000-17.000,-17.000 17.000,0.000 0.000,17.000-18.000,-17.000 18.000,17.000 0.000,-17.000 0.000,17.000 0.000,0.000 0.000,1.000-17.000,-1.000 17.000,1.000 0.000,17.000 0.000,-18.000 0.000,0.000 0.000,18.000 0.000,-17.000 0.000,-1.000 0.000,0.000 0.000,1.000 0.000,-1.000 0.000,18.000 0.000,-18.000 0.000,-17.000 0.000,18.000 0.000,-1.000 0.000,0.000 0.000,-17.000 0.000,17.000 0.000,18.000 0.000,-17.000 0.000,-19.000 0.000,19.000 0.000,-1.000 0.000,-17.000 0.000,17.000 17.000,-17.000-17.000,17.000 0.000,-17.000 0.000,0.000 0.000,17.000 0.000,-17.000 18.000,17.000-18.000,-17.000 0.000,17.000 17.000,18.000-17.000,-17.000 0.000,17.000 0.000,-18.000 0.000,18.000 17.000,0.000-17.000,0.000 0.000,0.000 0.000,0.000 0.000,0.000 0.000,0.000 0.000,0.000 0.000,0.000 0.000,0.000 0.000,0.000 0.000,0.000 0.000,0.000 0.000,0.000 0.000,0.000 0.000,0.000 0.000,0.000 0.000,0.000 0.000,0.000 0.000,0.000 0.000,0.000 17.000,-18.000-17.000,18.000 0.000,0.000 0.000,0.000 18.000,-17.000-18.000,17.000 17.000,0.000 0.000,0.000 0.000,0.000 1.000,-18.000-18.000,18.000 17.000,0.000 0.000,0.000 0.000,0.000 1.000,-18.000 16.000,18.000-17.000,0.000 1.000,0.000-1.000,0.000-17.000,0.000 17.000,-17.000 0.000,17.000 1.000,0.000-1.000,0.000 0.000,0.000-17.000,0.000 17.000,0.000 1.000,0.000-1.000,0.000-17.000,0.000 17.000,0.000 0.000,0.000-17.000,0.000 18.000,0.000-1.000,0.000-17.000,0.000 17.000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9392356" cy="25806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12277295" y="0"/>
            <a:ext cx="9392356" cy="25806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294283" y="642938"/>
            <a:ext cx="3086100" cy="1735931"/>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167467" y="2475309"/>
            <a:ext cx="17339733" cy="2025253"/>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4885432"/>
            <a:ext cx="9392356" cy="25806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12277295" y="4885432"/>
            <a:ext cx="9392356" cy="258068"/>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66326" y="0"/>
            <a:ext cx="1228725" cy="6858000"/>
          </a:xfrm>
          <a:custGeom>
            <a:avLst/>
            <a:gdLst/>
            <a:ahLst/>
            <a:cxnLst/>
            <a:rect l="l" t="t" r="r" b="b"/>
            <a:pathLst>
              <a:path w="1228725" h="6858000">
                <a:moveTo>
                  <a:pt x="1228572" y="6858000"/>
                </a:moveTo>
                <a:lnTo>
                  <a:pt x="1219050" y="6858000"/>
                </a:lnTo>
                <a:lnTo>
                  <a:pt x="0" y="838"/>
                </a:lnTo>
                <a:lnTo>
                  <a:pt x="0" y="0"/>
                </a:lnTo>
                <a:lnTo>
                  <a:pt x="9521" y="0"/>
                </a:lnTo>
                <a:lnTo>
                  <a:pt x="1228572" y="6857161"/>
                </a:lnTo>
                <a:lnTo>
                  <a:pt x="1228572" y="6858000"/>
                </a:lnTo>
                <a:close/>
              </a:path>
            </a:pathLst>
          </a:custGeom>
          <a:solidFill>
            <a:srgbClr val="BEBEBE"/>
          </a:solidFill>
        </p:spPr>
        <p:txBody>
          <a:bodyPr wrap="square" lIns="0" tIns="0" rIns="0" bIns="0" rtlCol="0"/>
          <a:lstStyle/>
          <a:p/>
        </p:txBody>
      </p:sp>
      <p:sp>
        <p:nvSpPr>
          <p:cNvPr id="17" name="bg object 17"/>
          <p:cNvSpPr/>
          <p:nvPr/>
        </p:nvSpPr>
        <p:spPr>
          <a:xfrm>
            <a:off x="7420543" y="3676675"/>
            <a:ext cx="4772025" cy="3181350"/>
          </a:xfrm>
          <a:custGeom>
            <a:avLst/>
            <a:gdLst/>
            <a:ahLst/>
            <a:cxnLst/>
            <a:rect l="l" t="t" r="r" b="b"/>
            <a:pathLst>
              <a:path w="4772025" h="3181350">
                <a:moveTo>
                  <a:pt x="13310" y="3181324"/>
                </a:moveTo>
                <a:lnTo>
                  <a:pt x="0" y="3181324"/>
                </a:lnTo>
                <a:lnTo>
                  <a:pt x="155" y="3179991"/>
                </a:lnTo>
                <a:lnTo>
                  <a:pt x="4765639" y="774"/>
                </a:lnTo>
                <a:lnTo>
                  <a:pt x="4768801" y="0"/>
                </a:lnTo>
                <a:lnTo>
                  <a:pt x="4770389" y="469"/>
                </a:lnTo>
                <a:lnTo>
                  <a:pt x="4771456" y="1252"/>
                </a:lnTo>
                <a:lnTo>
                  <a:pt x="4771456" y="8188"/>
                </a:lnTo>
                <a:lnTo>
                  <a:pt x="4770922" y="8699"/>
                </a:lnTo>
                <a:lnTo>
                  <a:pt x="13310" y="3181324"/>
                </a:lnTo>
                <a:close/>
              </a:path>
            </a:pathLst>
          </a:custGeom>
          <a:solidFill>
            <a:srgbClr val="D9D9D9"/>
          </a:solidFill>
        </p:spPr>
        <p:txBody>
          <a:bodyPr wrap="square" lIns="0" tIns="0" rIns="0" bIns="0" rtlCol="0"/>
          <a:lstStyle/>
          <a:p/>
        </p:txBody>
      </p:sp>
      <p:sp>
        <p:nvSpPr>
          <p:cNvPr id="18" name="bg object 18"/>
          <p:cNvSpPr/>
          <p:nvPr/>
        </p:nvSpPr>
        <p:spPr>
          <a:xfrm>
            <a:off x="9181477" y="0"/>
            <a:ext cx="3007360" cy="6858000"/>
          </a:xfrm>
          <a:custGeom>
            <a:avLst/>
            <a:gdLst/>
            <a:ahLst/>
            <a:cxnLst/>
            <a:rect l="l" t="t" r="r" b="b"/>
            <a:pathLst>
              <a:path w="3007359" h="6858000">
                <a:moveTo>
                  <a:pt x="3007347" y="6858000"/>
                </a:moveTo>
                <a:lnTo>
                  <a:pt x="0" y="6858000"/>
                </a:lnTo>
                <a:lnTo>
                  <a:pt x="2043002" y="0"/>
                </a:lnTo>
                <a:lnTo>
                  <a:pt x="3007347" y="0"/>
                </a:lnTo>
                <a:lnTo>
                  <a:pt x="3007347" y="6858000"/>
                </a:lnTo>
                <a:close/>
              </a:path>
            </a:pathLst>
          </a:custGeom>
          <a:solidFill>
            <a:srgbClr val="90C225">
              <a:alpha val="30198"/>
            </a:srgbClr>
          </a:solidFill>
        </p:spPr>
        <p:txBody>
          <a:bodyPr wrap="square" lIns="0" tIns="0" rIns="0" bIns="0" rtlCol="0"/>
          <a:lstStyle/>
          <a:p/>
        </p:txBody>
      </p:sp>
      <p:sp>
        <p:nvSpPr>
          <p:cNvPr id="19" name="bg object 19"/>
          <p:cNvSpPr/>
          <p:nvPr/>
        </p:nvSpPr>
        <p:spPr>
          <a:xfrm>
            <a:off x="9604940" y="0"/>
            <a:ext cx="2587625" cy="6858000"/>
          </a:xfrm>
          <a:custGeom>
            <a:avLst/>
            <a:gdLst/>
            <a:ahLst/>
            <a:cxnLst/>
            <a:rect l="l" t="t" r="r" b="b"/>
            <a:pathLst>
              <a:path w="2587625" h="6858000">
                <a:moveTo>
                  <a:pt x="2587060" y="6858000"/>
                </a:moveTo>
                <a:lnTo>
                  <a:pt x="1207967" y="6858000"/>
                </a:lnTo>
                <a:lnTo>
                  <a:pt x="0" y="0"/>
                </a:lnTo>
                <a:lnTo>
                  <a:pt x="2587060" y="0"/>
                </a:lnTo>
                <a:lnTo>
                  <a:pt x="2587060" y="6858000"/>
                </a:lnTo>
                <a:close/>
              </a:path>
            </a:pathLst>
          </a:custGeom>
          <a:solidFill>
            <a:srgbClr val="90C225">
              <a:alpha val="19999"/>
            </a:srgbClr>
          </a:solidFill>
        </p:spPr>
        <p:txBody>
          <a:bodyPr wrap="square" lIns="0" tIns="0" rIns="0" bIns="0" rtlCol="0"/>
          <a:lstStyle/>
          <a:p/>
        </p:txBody>
      </p:sp>
      <p:sp>
        <p:nvSpPr>
          <p:cNvPr id="20" name="bg object 20"/>
          <p:cNvSpPr/>
          <p:nvPr/>
        </p:nvSpPr>
        <p:spPr>
          <a:xfrm>
            <a:off x="8932164" y="3048000"/>
            <a:ext cx="3260090" cy="3810000"/>
          </a:xfrm>
          <a:custGeom>
            <a:avLst/>
            <a:gdLst/>
            <a:ahLst/>
            <a:cxnLst/>
            <a:rect l="l" t="t" r="r" b="b"/>
            <a:pathLst>
              <a:path w="3260090" h="3810000">
                <a:moveTo>
                  <a:pt x="3259835" y="3810000"/>
                </a:moveTo>
                <a:lnTo>
                  <a:pt x="0" y="3810000"/>
                </a:lnTo>
                <a:lnTo>
                  <a:pt x="3259835" y="0"/>
                </a:lnTo>
                <a:lnTo>
                  <a:pt x="3259835" y="3810000"/>
                </a:lnTo>
                <a:close/>
              </a:path>
            </a:pathLst>
          </a:custGeom>
          <a:solidFill>
            <a:srgbClr val="539F20">
              <a:alpha val="72198"/>
            </a:srgbClr>
          </a:solidFill>
        </p:spPr>
        <p:txBody>
          <a:bodyPr wrap="square" lIns="0" tIns="0" rIns="0" bIns="0" rtlCol="0"/>
          <a:lstStyle/>
          <a:p/>
        </p:txBody>
      </p:sp>
      <p:sp>
        <p:nvSpPr>
          <p:cNvPr id="21" name="bg object 21"/>
          <p:cNvSpPr/>
          <p:nvPr/>
        </p:nvSpPr>
        <p:spPr>
          <a:xfrm>
            <a:off x="9337548" y="0"/>
            <a:ext cx="2851785" cy="6858000"/>
          </a:xfrm>
          <a:custGeom>
            <a:avLst/>
            <a:gdLst/>
            <a:ahLst/>
            <a:cxnLst/>
            <a:rect l="l" t="t" r="r" b="b"/>
            <a:pathLst>
              <a:path w="2851784" h="6858000">
                <a:moveTo>
                  <a:pt x="2851276" y="6858000"/>
                </a:moveTo>
                <a:lnTo>
                  <a:pt x="2467698" y="6858000"/>
                </a:lnTo>
                <a:lnTo>
                  <a:pt x="0" y="0"/>
                </a:lnTo>
                <a:lnTo>
                  <a:pt x="2851276" y="0"/>
                </a:lnTo>
                <a:lnTo>
                  <a:pt x="2851276" y="6858000"/>
                </a:lnTo>
                <a:close/>
              </a:path>
            </a:pathLst>
          </a:custGeom>
          <a:solidFill>
            <a:srgbClr val="3E7818">
              <a:alpha val="70199"/>
            </a:srgbClr>
          </a:solidFill>
        </p:spPr>
        <p:txBody>
          <a:bodyPr wrap="square" lIns="0" tIns="0" rIns="0" bIns="0" rtlCol="0"/>
          <a:lstStyle/>
          <a:p/>
        </p:txBody>
      </p:sp>
      <p:sp>
        <p:nvSpPr>
          <p:cNvPr id="22" name="bg object 22"/>
          <p:cNvSpPr/>
          <p:nvPr/>
        </p:nvSpPr>
        <p:spPr>
          <a:xfrm>
            <a:off x="10898733" y="0"/>
            <a:ext cx="1290320" cy="6858000"/>
          </a:xfrm>
          <a:custGeom>
            <a:avLst/>
            <a:gdLst/>
            <a:ahLst/>
            <a:cxnLst/>
            <a:rect l="l" t="t" r="r" b="b"/>
            <a:pathLst>
              <a:path w="1290320" h="6858000">
                <a:moveTo>
                  <a:pt x="1290091" y="6858000"/>
                </a:moveTo>
                <a:lnTo>
                  <a:pt x="0" y="6858000"/>
                </a:lnTo>
                <a:lnTo>
                  <a:pt x="1018475" y="0"/>
                </a:lnTo>
                <a:lnTo>
                  <a:pt x="1290091" y="0"/>
                </a:lnTo>
                <a:lnTo>
                  <a:pt x="1290091" y="6858000"/>
                </a:lnTo>
                <a:close/>
              </a:path>
            </a:pathLst>
          </a:custGeom>
          <a:solidFill>
            <a:srgbClr val="C0E374">
              <a:alpha val="70199"/>
            </a:srgbClr>
          </a:solidFill>
        </p:spPr>
        <p:txBody>
          <a:bodyPr wrap="square" lIns="0" tIns="0" rIns="0" bIns="0" rtlCol="0"/>
          <a:lstStyle/>
          <a:p/>
        </p:txBody>
      </p:sp>
      <p:sp>
        <p:nvSpPr>
          <p:cNvPr id="23" name="bg object 23"/>
          <p:cNvSpPr/>
          <p:nvPr/>
        </p:nvSpPr>
        <p:spPr>
          <a:xfrm>
            <a:off x="10940374" y="0"/>
            <a:ext cx="1249045" cy="6858000"/>
          </a:xfrm>
          <a:custGeom>
            <a:avLst/>
            <a:gdLst/>
            <a:ahLst/>
            <a:cxnLst/>
            <a:rect l="l" t="t" r="r" b="b"/>
            <a:pathLst>
              <a:path w="1249045" h="6858000">
                <a:moveTo>
                  <a:pt x="1248451" y="6858000"/>
                </a:moveTo>
                <a:lnTo>
                  <a:pt x="1108001" y="6858000"/>
                </a:lnTo>
                <a:lnTo>
                  <a:pt x="0" y="0"/>
                </a:lnTo>
                <a:lnTo>
                  <a:pt x="1248451" y="0"/>
                </a:lnTo>
                <a:lnTo>
                  <a:pt x="1248451" y="6858000"/>
                </a:lnTo>
                <a:close/>
              </a:path>
            </a:pathLst>
          </a:custGeom>
          <a:solidFill>
            <a:srgbClr val="90C225">
              <a:alpha val="65098"/>
            </a:srgbClr>
          </a:solidFill>
        </p:spPr>
        <p:txBody>
          <a:bodyPr wrap="square" lIns="0" tIns="0" rIns="0" bIns="0" rtlCol="0"/>
          <a:lstStyle/>
          <a:p/>
        </p:txBody>
      </p:sp>
      <p:sp>
        <p:nvSpPr>
          <p:cNvPr id="24" name="bg object 24"/>
          <p:cNvSpPr/>
          <p:nvPr/>
        </p:nvSpPr>
        <p:spPr>
          <a:xfrm>
            <a:off x="10372344" y="3590544"/>
            <a:ext cx="1816735" cy="3267710"/>
          </a:xfrm>
          <a:custGeom>
            <a:avLst/>
            <a:gdLst/>
            <a:ahLst/>
            <a:cxnLst/>
            <a:rect l="l" t="t" r="r" b="b"/>
            <a:pathLst>
              <a:path w="1816734" h="3267709">
                <a:moveTo>
                  <a:pt x="1816607" y="3267455"/>
                </a:moveTo>
                <a:lnTo>
                  <a:pt x="0" y="3267455"/>
                </a:lnTo>
                <a:lnTo>
                  <a:pt x="1816607" y="0"/>
                </a:lnTo>
                <a:lnTo>
                  <a:pt x="1816607" y="3267455"/>
                </a:lnTo>
                <a:close/>
              </a:path>
            </a:pathLst>
          </a:custGeom>
          <a:solidFill>
            <a:srgbClr val="90C225">
              <a:alpha val="79998"/>
            </a:srgbClr>
          </a:solidFill>
        </p:spPr>
        <p:txBody>
          <a:bodyPr wrap="square" lIns="0" tIns="0" rIns="0" bIns="0" rtlCol="0"/>
          <a:lstStyle/>
          <a:p/>
        </p:txBody>
      </p:sp>
      <p:sp>
        <p:nvSpPr>
          <p:cNvPr id="2" name="Holder 2"/>
          <p:cNvSpPr>
            <a:spLocks noGrp="1"/>
          </p:cNvSpPr>
          <p:nvPr>
            <p:ph type="ctrTitle"/>
          </p:nvPr>
        </p:nvSpPr>
        <p:spPr>
          <a:xfrm>
            <a:off x="756069" y="645159"/>
            <a:ext cx="10679861" cy="574040"/>
          </a:xfrm>
          <a:prstGeom prst="rect">
            <a:avLst/>
          </a:prstGeom>
        </p:spPr>
        <p:txBody>
          <a:bodyPr wrap="square" lIns="0" tIns="0" rIns="0" bIns="0">
            <a:spAutoFit/>
          </a:bodyPr>
          <a:lstStyle>
            <a:lvl1pPr>
              <a:defRPr b="0" i="0">
                <a:solidFill>
                  <a:schemeClr val="tx1"/>
                </a:solidFill>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90C225"/>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90C225"/>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90C225"/>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D8BD707-D9CF-40AE-B4C6-C98DA3205C09}" type="datetimeFigureOut">
              <a:rPr lang="en-US"/>
            </a:fld>
            <a:endParaRPr lang="en-US"/>
          </a:p>
        </p:txBody>
      </p:sp>
      <p:sp>
        <p:nvSpPr>
          <p:cNvPr id="3" name="页脚占位符 2"/>
          <p:cNvSpPr>
            <a:spLocks noGrp="1"/>
          </p:cNvSpPr>
          <p:nvPr>
            <p:ph type="ftr" sz="quarter" idx="11"/>
          </p:nvPr>
        </p:nvSpPr>
        <p:spPr/>
        <p:txBody>
          <a:bodyPr/>
          <a:lstStyle/>
          <a:p/>
        </p:txBody>
      </p:sp>
      <p:sp>
        <p:nvSpPr>
          <p:cNvPr id="4" name="灯片编号占位符 3"/>
          <p:cNvSpPr>
            <a:spLocks noGrp="1"/>
          </p:cNvSpPr>
          <p:nvPr>
            <p:ph type="sldNum" sz="quarter" idx="12"/>
          </p:nvPr>
        </p:nvSpPr>
        <p:spPr/>
        <p:txBody>
          <a:bodyPr/>
          <a:lstStyle/>
          <a:p>
            <a:fld id="{B6F15528-21DE-4FAA-801E-634DDDAF4B2B}" type="slidenum">
              <a:rPr/>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66326" y="0"/>
            <a:ext cx="1228725" cy="6858000"/>
          </a:xfrm>
          <a:custGeom>
            <a:avLst/>
            <a:gdLst/>
            <a:ahLst/>
            <a:cxnLst/>
            <a:rect l="l" t="t" r="r" b="b"/>
            <a:pathLst>
              <a:path w="1228725" h="6858000">
                <a:moveTo>
                  <a:pt x="1228572" y="6858000"/>
                </a:moveTo>
                <a:lnTo>
                  <a:pt x="1219050" y="6858000"/>
                </a:lnTo>
                <a:lnTo>
                  <a:pt x="0" y="838"/>
                </a:lnTo>
                <a:lnTo>
                  <a:pt x="0" y="0"/>
                </a:lnTo>
                <a:lnTo>
                  <a:pt x="9521" y="0"/>
                </a:lnTo>
                <a:lnTo>
                  <a:pt x="1228572" y="6857161"/>
                </a:lnTo>
                <a:lnTo>
                  <a:pt x="1228572" y="6858000"/>
                </a:lnTo>
                <a:close/>
              </a:path>
            </a:pathLst>
          </a:custGeom>
          <a:solidFill>
            <a:srgbClr val="BEBEBE"/>
          </a:solidFill>
        </p:spPr>
        <p:txBody>
          <a:bodyPr wrap="square" lIns="0" tIns="0" rIns="0" bIns="0" rtlCol="0"/>
          <a:lstStyle/>
          <a:p/>
        </p:txBody>
      </p:sp>
      <p:sp>
        <p:nvSpPr>
          <p:cNvPr id="17" name="bg object 17"/>
          <p:cNvSpPr/>
          <p:nvPr/>
        </p:nvSpPr>
        <p:spPr>
          <a:xfrm>
            <a:off x="7420543" y="3676675"/>
            <a:ext cx="4772025" cy="3181350"/>
          </a:xfrm>
          <a:custGeom>
            <a:avLst/>
            <a:gdLst/>
            <a:ahLst/>
            <a:cxnLst/>
            <a:rect l="l" t="t" r="r" b="b"/>
            <a:pathLst>
              <a:path w="4772025" h="3181350">
                <a:moveTo>
                  <a:pt x="13310" y="3181324"/>
                </a:moveTo>
                <a:lnTo>
                  <a:pt x="0" y="3181324"/>
                </a:lnTo>
                <a:lnTo>
                  <a:pt x="155" y="3179991"/>
                </a:lnTo>
                <a:lnTo>
                  <a:pt x="4765639" y="774"/>
                </a:lnTo>
                <a:lnTo>
                  <a:pt x="4768801" y="0"/>
                </a:lnTo>
                <a:lnTo>
                  <a:pt x="4770389" y="469"/>
                </a:lnTo>
                <a:lnTo>
                  <a:pt x="4771456" y="1252"/>
                </a:lnTo>
                <a:lnTo>
                  <a:pt x="4771456" y="8188"/>
                </a:lnTo>
                <a:lnTo>
                  <a:pt x="4770922" y="8699"/>
                </a:lnTo>
                <a:lnTo>
                  <a:pt x="13310" y="3181324"/>
                </a:lnTo>
                <a:close/>
              </a:path>
            </a:pathLst>
          </a:custGeom>
          <a:solidFill>
            <a:srgbClr val="D9D9D9"/>
          </a:solidFill>
        </p:spPr>
        <p:txBody>
          <a:bodyPr wrap="square" lIns="0" tIns="0" rIns="0" bIns="0" rtlCol="0"/>
          <a:lstStyle/>
          <a:p/>
        </p:txBody>
      </p:sp>
      <p:sp>
        <p:nvSpPr>
          <p:cNvPr id="18" name="bg object 18"/>
          <p:cNvSpPr/>
          <p:nvPr/>
        </p:nvSpPr>
        <p:spPr>
          <a:xfrm>
            <a:off x="9181477" y="0"/>
            <a:ext cx="3007360" cy="6858000"/>
          </a:xfrm>
          <a:custGeom>
            <a:avLst/>
            <a:gdLst/>
            <a:ahLst/>
            <a:cxnLst/>
            <a:rect l="l" t="t" r="r" b="b"/>
            <a:pathLst>
              <a:path w="3007359" h="6858000">
                <a:moveTo>
                  <a:pt x="3007347" y="6858000"/>
                </a:moveTo>
                <a:lnTo>
                  <a:pt x="0" y="6858000"/>
                </a:lnTo>
                <a:lnTo>
                  <a:pt x="2043002" y="0"/>
                </a:lnTo>
                <a:lnTo>
                  <a:pt x="3007347" y="0"/>
                </a:lnTo>
                <a:lnTo>
                  <a:pt x="3007347" y="6858000"/>
                </a:lnTo>
                <a:close/>
              </a:path>
            </a:pathLst>
          </a:custGeom>
          <a:solidFill>
            <a:srgbClr val="90C225">
              <a:alpha val="30198"/>
            </a:srgbClr>
          </a:solidFill>
        </p:spPr>
        <p:txBody>
          <a:bodyPr wrap="square" lIns="0" tIns="0" rIns="0" bIns="0" rtlCol="0"/>
          <a:lstStyle/>
          <a:p/>
        </p:txBody>
      </p:sp>
      <p:sp>
        <p:nvSpPr>
          <p:cNvPr id="19" name="bg object 19"/>
          <p:cNvSpPr/>
          <p:nvPr/>
        </p:nvSpPr>
        <p:spPr>
          <a:xfrm>
            <a:off x="9604940" y="0"/>
            <a:ext cx="2587625" cy="6858000"/>
          </a:xfrm>
          <a:custGeom>
            <a:avLst/>
            <a:gdLst/>
            <a:ahLst/>
            <a:cxnLst/>
            <a:rect l="l" t="t" r="r" b="b"/>
            <a:pathLst>
              <a:path w="2587625" h="6858000">
                <a:moveTo>
                  <a:pt x="2587060" y="6858000"/>
                </a:moveTo>
                <a:lnTo>
                  <a:pt x="1207967" y="6858000"/>
                </a:lnTo>
                <a:lnTo>
                  <a:pt x="0" y="0"/>
                </a:lnTo>
                <a:lnTo>
                  <a:pt x="2587060" y="0"/>
                </a:lnTo>
                <a:lnTo>
                  <a:pt x="2587060" y="6858000"/>
                </a:lnTo>
                <a:close/>
              </a:path>
            </a:pathLst>
          </a:custGeom>
          <a:solidFill>
            <a:srgbClr val="90C225">
              <a:alpha val="19999"/>
            </a:srgbClr>
          </a:solidFill>
        </p:spPr>
        <p:txBody>
          <a:bodyPr wrap="square" lIns="0" tIns="0" rIns="0" bIns="0" rtlCol="0"/>
          <a:lstStyle/>
          <a:p/>
        </p:txBody>
      </p:sp>
      <p:sp>
        <p:nvSpPr>
          <p:cNvPr id="20" name="bg object 20"/>
          <p:cNvSpPr/>
          <p:nvPr/>
        </p:nvSpPr>
        <p:spPr>
          <a:xfrm>
            <a:off x="8932164" y="3048000"/>
            <a:ext cx="3260090" cy="3810000"/>
          </a:xfrm>
          <a:custGeom>
            <a:avLst/>
            <a:gdLst/>
            <a:ahLst/>
            <a:cxnLst/>
            <a:rect l="l" t="t" r="r" b="b"/>
            <a:pathLst>
              <a:path w="3260090" h="3810000">
                <a:moveTo>
                  <a:pt x="3259835" y="3810000"/>
                </a:moveTo>
                <a:lnTo>
                  <a:pt x="0" y="3810000"/>
                </a:lnTo>
                <a:lnTo>
                  <a:pt x="3259835" y="0"/>
                </a:lnTo>
                <a:lnTo>
                  <a:pt x="3259835" y="3810000"/>
                </a:lnTo>
                <a:close/>
              </a:path>
            </a:pathLst>
          </a:custGeom>
          <a:solidFill>
            <a:srgbClr val="539F20">
              <a:alpha val="72198"/>
            </a:srgbClr>
          </a:solidFill>
        </p:spPr>
        <p:txBody>
          <a:bodyPr wrap="square" lIns="0" tIns="0" rIns="0" bIns="0" rtlCol="0"/>
          <a:lstStyle/>
          <a:p/>
        </p:txBody>
      </p:sp>
      <p:sp>
        <p:nvSpPr>
          <p:cNvPr id="21" name="bg object 21"/>
          <p:cNvSpPr/>
          <p:nvPr/>
        </p:nvSpPr>
        <p:spPr>
          <a:xfrm>
            <a:off x="9337548" y="0"/>
            <a:ext cx="2851785" cy="6858000"/>
          </a:xfrm>
          <a:custGeom>
            <a:avLst/>
            <a:gdLst/>
            <a:ahLst/>
            <a:cxnLst/>
            <a:rect l="l" t="t" r="r" b="b"/>
            <a:pathLst>
              <a:path w="2851784" h="6858000">
                <a:moveTo>
                  <a:pt x="2851276" y="6858000"/>
                </a:moveTo>
                <a:lnTo>
                  <a:pt x="2467698" y="6858000"/>
                </a:lnTo>
                <a:lnTo>
                  <a:pt x="0" y="0"/>
                </a:lnTo>
                <a:lnTo>
                  <a:pt x="2851276" y="0"/>
                </a:lnTo>
                <a:lnTo>
                  <a:pt x="2851276" y="6858000"/>
                </a:lnTo>
                <a:close/>
              </a:path>
            </a:pathLst>
          </a:custGeom>
          <a:solidFill>
            <a:srgbClr val="3E7818">
              <a:alpha val="70199"/>
            </a:srgbClr>
          </a:solidFill>
        </p:spPr>
        <p:txBody>
          <a:bodyPr wrap="square" lIns="0" tIns="0" rIns="0" bIns="0" rtlCol="0"/>
          <a:lstStyle/>
          <a:p/>
        </p:txBody>
      </p:sp>
      <p:sp>
        <p:nvSpPr>
          <p:cNvPr id="22" name="bg object 22"/>
          <p:cNvSpPr/>
          <p:nvPr/>
        </p:nvSpPr>
        <p:spPr>
          <a:xfrm>
            <a:off x="10898733" y="0"/>
            <a:ext cx="1290320" cy="6858000"/>
          </a:xfrm>
          <a:custGeom>
            <a:avLst/>
            <a:gdLst/>
            <a:ahLst/>
            <a:cxnLst/>
            <a:rect l="l" t="t" r="r" b="b"/>
            <a:pathLst>
              <a:path w="1290320" h="6858000">
                <a:moveTo>
                  <a:pt x="1290091" y="6858000"/>
                </a:moveTo>
                <a:lnTo>
                  <a:pt x="0" y="6858000"/>
                </a:lnTo>
                <a:lnTo>
                  <a:pt x="1018475" y="0"/>
                </a:lnTo>
                <a:lnTo>
                  <a:pt x="1290091" y="0"/>
                </a:lnTo>
                <a:lnTo>
                  <a:pt x="1290091" y="6858000"/>
                </a:lnTo>
                <a:close/>
              </a:path>
            </a:pathLst>
          </a:custGeom>
          <a:solidFill>
            <a:srgbClr val="C0E374">
              <a:alpha val="70199"/>
            </a:srgbClr>
          </a:solidFill>
        </p:spPr>
        <p:txBody>
          <a:bodyPr wrap="square" lIns="0" tIns="0" rIns="0" bIns="0" rtlCol="0"/>
          <a:lstStyle/>
          <a:p/>
        </p:txBody>
      </p:sp>
      <p:sp>
        <p:nvSpPr>
          <p:cNvPr id="23" name="bg object 23"/>
          <p:cNvSpPr/>
          <p:nvPr/>
        </p:nvSpPr>
        <p:spPr>
          <a:xfrm>
            <a:off x="10940374" y="0"/>
            <a:ext cx="1249045" cy="6858000"/>
          </a:xfrm>
          <a:custGeom>
            <a:avLst/>
            <a:gdLst/>
            <a:ahLst/>
            <a:cxnLst/>
            <a:rect l="l" t="t" r="r" b="b"/>
            <a:pathLst>
              <a:path w="1249045" h="6858000">
                <a:moveTo>
                  <a:pt x="1248451" y="6858000"/>
                </a:moveTo>
                <a:lnTo>
                  <a:pt x="1108001" y="6858000"/>
                </a:lnTo>
                <a:lnTo>
                  <a:pt x="0" y="0"/>
                </a:lnTo>
                <a:lnTo>
                  <a:pt x="1248451" y="0"/>
                </a:lnTo>
                <a:lnTo>
                  <a:pt x="1248451" y="6858000"/>
                </a:lnTo>
                <a:close/>
              </a:path>
            </a:pathLst>
          </a:custGeom>
          <a:solidFill>
            <a:srgbClr val="90C225">
              <a:alpha val="65098"/>
            </a:srgbClr>
          </a:solidFill>
        </p:spPr>
        <p:txBody>
          <a:bodyPr wrap="square" lIns="0" tIns="0" rIns="0" bIns="0" rtlCol="0"/>
          <a:lstStyle/>
          <a:p/>
        </p:txBody>
      </p:sp>
      <p:sp>
        <p:nvSpPr>
          <p:cNvPr id="24" name="bg object 24"/>
          <p:cNvSpPr/>
          <p:nvPr/>
        </p:nvSpPr>
        <p:spPr>
          <a:xfrm>
            <a:off x="10372344" y="3590544"/>
            <a:ext cx="1816735" cy="3267710"/>
          </a:xfrm>
          <a:custGeom>
            <a:avLst/>
            <a:gdLst/>
            <a:ahLst/>
            <a:cxnLst/>
            <a:rect l="l" t="t" r="r" b="b"/>
            <a:pathLst>
              <a:path w="1816734" h="3267709">
                <a:moveTo>
                  <a:pt x="1816607" y="3267455"/>
                </a:moveTo>
                <a:lnTo>
                  <a:pt x="0" y="3267455"/>
                </a:lnTo>
                <a:lnTo>
                  <a:pt x="1816607" y="0"/>
                </a:lnTo>
                <a:lnTo>
                  <a:pt x="1816607" y="3267455"/>
                </a:lnTo>
                <a:close/>
              </a:path>
            </a:pathLst>
          </a:custGeom>
          <a:solidFill>
            <a:srgbClr val="90C225">
              <a:alpha val="79998"/>
            </a:srgbClr>
          </a:solidFill>
        </p:spPr>
        <p:txBody>
          <a:bodyPr wrap="square" lIns="0" tIns="0" rIns="0" bIns="0" rtlCol="0"/>
          <a:lstStyle/>
          <a:p/>
        </p:txBody>
      </p:sp>
      <p:sp>
        <p:nvSpPr>
          <p:cNvPr id="25" name="bg object 25"/>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2" name="Holder 2"/>
          <p:cNvSpPr>
            <a:spLocks noGrp="1"/>
          </p:cNvSpPr>
          <p:nvPr>
            <p:ph type="title"/>
          </p:nvPr>
        </p:nvSpPr>
        <p:spPr>
          <a:xfrm>
            <a:off x="756069" y="635634"/>
            <a:ext cx="3334385" cy="574040"/>
          </a:xfrm>
          <a:prstGeom prst="rect">
            <a:avLst/>
          </a:prstGeom>
        </p:spPr>
        <p:txBody>
          <a:bodyPr wrap="square" lIns="0" tIns="0" rIns="0" bIns="0">
            <a:spAutoFit/>
          </a:bodyPr>
          <a:lstStyle>
            <a:lvl1pPr>
              <a:defRPr sz="3600" b="0" i="0">
                <a:solidFill>
                  <a:srgbClr val="90C225"/>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920419" y="2918010"/>
            <a:ext cx="5576570" cy="3481704"/>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hyperlink" Target="https://oiwiki.com/graph/bi-graph/" TargetMode="Externa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hyperlink" Target="https://codeforces.com/problemset/problem/229/C" TargetMode="External"/><Relationship Id="rId1" Type="http://schemas.openxmlformats.org/officeDocument/2006/relationships/image" Target="../media/image14.jpe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hyperlink" Target="https://codeforces.com/problemset/problem/229/C" TargetMode="External"/><Relationship Id="rId2" Type="http://schemas.openxmlformats.org/officeDocument/2006/relationships/image" Target="../media/image15.jpeg"/><Relationship Id="rId1" Type="http://schemas.openxmlformats.org/officeDocument/2006/relationships/image" Target="../media/image14.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5.jpeg"/><Relationship Id="rId1" Type="http://schemas.openxmlformats.org/officeDocument/2006/relationships/image" Target="../media/image24.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9.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0.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2.GIF"/></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4.GI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6.jpe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7.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8.jpe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hyperlink" Target="http://acm.hdu.edu.cn/showproblem.php?pid=1285" TargetMode="External"/></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1.jpeg"/><Relationship Id="rId2" Type="http://schemas.openxmlformats.org/officeDocument/2006/relationships/image" Target="../media/image49.jpeg"/><Relationship Id="rId1" Type="http://schemas.openxmlformats.org/officeDocument/2006/relationships/hyperlink" Target="http://acm.hdu.edu.cn/showproblem.php?pid=1285" TargetMode="External"/></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2.jpeg"/><Relationship Id="rId2" Type="http://schemas.openxmlformats.org/officeDocument/2006/relationships/image" Target="../media/image49.jpeg"/><Relationship Id="rId1" Type="http://schemas.openxmlformats.org/officeDocument/2006/relationships/hyperlink" Target="http://acm.hdu.edu.cn/showproblem.php?pid=1285" TargetMode="Externa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3.jpeg"/><Relationship Id="rId2" Type="http://schemas.openxmlformats.org/officeDocument/2006/relationships/image" Target="../media/image49.jpeg"/><Relationship Id="rId1" Type="http://schemas.openxmlformats.org/officeDocument/2006/relationships/hyperlink" Target="http://acm.hdu.edu.cn/showproblem.php?pid=1285" TargetMode="External"/></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4.jpeg"/><Relationship Id="rId2" Type="http://schemas.openxmlformats.org/officeDocument/2006/relationships/image" Target="../media/image49.jpeg"/><Relationship Id="rId1" Type="http://schemas.openxmlformats.org/officeDocument/2006/relationships/hyperlink" Target="http://acm.hdu.edu.cn/showproblem.php?pid=1285" TargetMode="External"/></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5.jpeg"/><Relationship Id="rId2" Type="http://schemas.openxmlformats.org/officeDocument/2006/relationships/image" Target="../media/image49.jpeg"/><Relationship Id="rId1" Type="http://schemas.openxmlformats.org/officeDocument/2006/relationships/hyperlink" Target="http://acm.hdu.edu.cn/showproblem.php?pid=1285" TargetMode="Externa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9.jpeg"/><Relationship Id="rId1" Type="http://schemas.openxmlformats.org/officeDocument/2006/relationships/hyperlink" Target="http://acm.hdu.edu.cn/showproblem.php?pid=1285" TargetMode="Externa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6.jpeg"/><Relationship Id="rId1" Type="http://schemas.openxmlformats.org/officeDocument/2006/relationships/hyperlink" Target="https://codeforces.com/problemset/problem/510/C" TargetMode="External"/></Relationships>
</file>

<file path=ppt/slides/_rels/slide4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customXml" Target="../ink/ink2.xml"/><Relationship Id="rId4" Type="http://schemas.openxmlformats.org/officeDocument/2006/relationships/image" Target="../media/image57.png"/><Relationship Id="rId3" Type="http://schemas.openxmlformats.org/officeDocument/2006/relationships/customXml" Target="../ink/ink1.xml"/><Relationship Id="rId2" Type="http://schemas.openxmlformats.org/officeDocument/2006/relationships/image" Target="../media/image56.jpeg"/><Relationship Id="rId1" Type="http://schemas.openxmlformats.org/officeDocument/2006/relationships/hyperlink" Target="https://codeforces.com/problemset/problem/510/C" TargetMode="Externa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codeforces.com/gym/105945/problem/J" TargetMode="External"/><Relationship Id="rId1" Type="http://schemas.openxmlformats.org/officeDocument/2006/relationships/image" Target="../media/image5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0.jpe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1.jpe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2.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jpe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jpe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jpe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jpe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jpe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4.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6.png"/><Relationship Id="rId2" Type="http://schemas.openxmlformats.org/officeDocument/2006/relationships/customXml" Target="../ink/ink3.xml"/><Relationship Id="rId1" Type="http://schemas.openxmlformats.org/officeDocument/2006/relationships/image" Target="../media/image65.jpe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68.jpeg"/><Relationship Id="rId1" Type="http://schemas.openxmlformats.org/officeDocument/2006/relationships/image" Target="../media/image67.jpeg"/></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1.png"/><Relationship Id="rId3" Type="http://schemas.openxmlformats.org/officeDocument/2006/relationships/customXml" Target="../ink/ink4.xml"/><Relationship Id="rId2" Type="http://schemas.openxmlformats.org/officeDocument/2006/relationships/image" Target="../media/image70.jpeg"/><Relationship Id="rId1" Type="http://schemas.openxmlformats.org/officeDocument/2006/relationships/image" Target="../media/image69.jpe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2.jpe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74.jpeg"/><Relationship Id="rId1" Type="http://schemas.openxmlformats.org/officeDocument/2006/relationships/image" Target="../media/image73.jpe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5.jpeg"/><Relationship Id="rId1" Type="http://schemas.openxmlformats.org/officeDocument/2006/relationships/hyperlink" Target="https://acm.hdu.edu.cn/showproblem.php?pid=2544" TargetMode="External"/></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6.jpeg"/><Relationship Id="rId3" Type="http://schemas.openxmlformats.org/officeDocument/2006/relationships/image" Target="../media/image75.jpeg"/><Relationship Id="rId2" Type="http://schemas.openxmlformats.org/officeDocument/2006/relationships/hyperlink" Target="https://acm.hdu.edu.cn/showproblem.php?pid=2544" TargetMode="External"/><Relationship Id="rId1" Type="http://schemas.openxmlformats.org/officeDocument/2006/relationships/hyperlink" Target="https://www.eolymp.com/en/problems/975" TargetMode="Externa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8.png"/><Relationship Id="rId1" Type="http://schemas.openxmlformats.org/officeDocument/2006/relationships/image" Target="../media/image77.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image" Target="../media/image8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6.png"/><Relationship Id="rId1" Type="http://schemas.openxmlformats.org/officeDocument/2006/relationships/image" Target="../media/image8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9.png"/><Relationship Id="rId1" Type="http://schemas.openxmlformats.org/officeDocument/2006/relationships/image" Target="../media/image88.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1.png"/></Relationships>
</file>

<file path=ppt/slides/_rels/slide8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image" Target="../media/image92.png"/></Relationships>
</file>

<file path=ppt/slides/_rels/slide8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8.png"/><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image" Target="../media/image95.png"/></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image" Target="../media/image99.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4.png"/><Relationship Id="rId1" Type="http://schemas.openxmlformats.org/officeDocument/2006/relationships/image" Target="../media/image103.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5.jpeg"/><Relationship Id="rId1" Type="http://schemas.openxmlformats.org/officeDocument/2006/relationships/hyperlink" Target="https://acm.hdu.edu.cn/showproblem.php?pid=2680" TargetMode="External"/></Relationships>
</file>

<file path=ppt/slides/_rels/slide9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6.jpeg"/><Relationship Id="rId2" Type="http://schemas.openxmlformats.org/officeDocument/2006/relationships/image" Target="../media/image105.jpeg"/><Relationship Id="rId1" Type="http://schemas.openxmlformats.org/officeDocument/2006/relationships/hyperlink" Target="https://acm.hdu.edu.cn/showproblem.php?pid=2680" TargetMode="Externa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7.jpeg"/><Relationship Id="rId1" Type="http://schemas.openxmlformats.org/officeDocument/2006/relationships/hyperlink" Target="https://codeforces.com/contest/786/problem/B" TargetMode="External"/></Relationships>
</file>

<file path=ppt/slides/_rels/slide9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08.jpeg"/><Relationship Id="rId2" Type="http://schemas.openxmlformats.org/officeDocument/2006/relationships/image" Target="../media/image107.jpeg"/><Relationship Id="rId1" Type="http://schemas.openxmlformats.org/officeDocument/2006/relationships/hyperlink" Target="https://codeforces.com/contest/786/problem/B" TargetMode="Externa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9.jpe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0.jpeg"/><Relationship Id="rId1" Type="http://schemas.openxmlformats.org/officeDocument/2006/relationships/hyperlink" Target="https://www.luogu.com.cn/problem/P4568" TargetMode="External"/></Relationships>
</file>

<file path=ppt/slides/_rels/slide9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1.jpeg"/><Relationship Id="rId2" Type="http://schemas.openxmlformats.org/officeDocument/2006/relationships/image" Target="../media/image110.jpeg"/><Relationship Id="rId1" Type="http://schemas.openxmlformats.org/officeDocument/2006/relationships/hyperlink" Target="https://www.luogu.com.cn/problem/P4568" TargetMode="Externa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https://codeforces.com/contest/1634/problem/D" TargetMode="External"/></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2.png"/><Relationship Id="rId1" Type="http://schemas.openxmlformats.org/officeDocument/2006/relationships/hyperlink" Target="https://codeforces.com/contest/1634/problem/D" TargetMode="Externa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https://codeforces.com/contest/1634/problem/D" TargetMode="Externa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3.png"/><Relationship Id="rId1" Type="http://schemas.openxmlformats.org/officeDocument/2006/relationships/hyperlink" Target="https://codeforces.com/contest/1468/problem/J" TargetMode="External"/></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13.png"/><Relationship Id="rId1" Type="http://schemas.openxmlformats.org/officeDocument/2006/relationships/hyperlink" Target="https://codeforces.com/contest/1468/problem/J" TargetMode="Externa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843280" cy="5666740"/>
          </a:xfrm>
          <a:custGeom>
            <a:avLst/>
            <a:gdLst/>
            <a:ahLst/>
            <a:cxnLst/>
            <a:rect l="l" t="t" r="r" b="b"/>
            <a:pathLst>
              <a:path w="843280" h="5666740">
                <a:moveTo>
                  <a:pt x="0" y="5666232"/>
                </a:moveTo>
                <a:lnTo>
                  <a:pt x="0" y="0"/>
                </a:lnTo>
                <a:lnTo>
                  <a:pt x="842772" y="0"/>
                </a:lnTo>
                <a:lnTo>
                  <a:pt x="0" y="5666232"/>
                </a:lnTo>
                <a:close/>
              </a:path>
            </a:pathLst>
          </a:custGeom>
          <a:solidFill>
            <a:srgbClr val="90C225">
              <a:alpha val="85099"/>
            </a:srgbClr>
          </a:solidFill>
        </p:spPr>
        <p:txBody>
          <a:bodyPr wrap="square" lIns="0" tIns="0" rIns="0" bIns="0" rtlCol="0"/>
          <a:lstStyle/>
          <a:p/>
        </p:txBody>
      </p:sp>
      <p:sp>
        <p:nvSpPr>
          <p:cNvPr id="3" name="object 3"/>
          <p:cNvSpPr txBox="1"/>
          <p:nvPr/>
        </p:nvSpPr>
        <p:spPr>
          <a:xfrm>
            <a:off x="4005795" y="2476207"/>
            <a:ext cx="2768600" cy="848360"/>
          </a:xfrm>
          <a:prstGeom prst="rect">
            <a:avLst/>
          </a:prstGeom>
        </p:spPr>
        <p:txBody>
          <a:bodyPr vert="horz" wrap="square" lIns="0" tIns="12700" rIns="0" bIns="0" rtlCol="0">
            <a:spAutoFit/>
          </a:bodyPr>
          <a:lstStyle/>
          <a:p>
            <a:pPr marL="12700">
              <a:lnSpc>
                <a:spcPct val="100000"/>
              </a:lnSpc>
              <a:spcBef>
                <a:spcPts val="100"/>
              </a:spcBef>
            </a:pPr>
            <a:r>
              <a:rPr sz="5400" dirty="0">
                <a:solidFill>
                  <a:srgbClr val="90C225"/>
                </a:solidFill>
                <a:latin typeface="宋体" panose="02010600030101010101" pitchFamily="2" charset="-122"/>
                <a:cs typeface="宋体" panose="02010600030101010101" pitchFamily="2" charset="-122"/>
              </a:rPr>
              <a:t>图论基础</a:t>
            </a:r>
            <a:endParaRPr sz="5400">
              <a:latin typeface="宋体" panose="02010600030101010101" pitchFamily="2" charset="-122"/>
              <a:cs typeface="宋体" panose="02010600030101010101" pitchFamily="2" charset="-122"/>
            </a:endParaRPr>
          </a:p>
        </p:txBody>
      </p:sp>
      <p:sp>
        <p:nvSpPr>
          <p:cNvPr id="4" name="object 4"/>
          <p:cNvSpPr txBox="1"/>
          <p:nvPr/>
        </p:nvSpPr>
        <p:spPr>
          <a:xfrm>
            <a:off x="4255135" y="3676015"/>
            <a:ext cx="2269490" cy="1188085"/>
          </a:xfrm>
          <a:prstGeom prst="rect">
            <a:avLst/>
          </a:prstGeom>
        </p:spPr>
        <p:txBody>
          <a:bodyPr vert="horz" wrap="square" lIns="0" tIns="12700" rIns="0" bIns="0" rtlCol="0">
            <a:noAutofit/>
          </a:bodyPr>
          <a:lstStyle/>
          <a:p>
            <a:pPr marL="12700" algn="ctr">
              <a:lnSpc>
                <a:spcPct val="100000"/>
              </a:lnSpc>
              <a:spcBef>
                <a:spcPts val="100"/>
              </a:spcBef>
            </a:pPr>
            <a:r>
              <a:rPr lang="zh-CN" altLang="en-US" sz="1800" dirty="0">
                <a:latin typeface="宋体" panose="02010600030101010101" pitchFamily="2" charset="-122"/>
                <a:cs typeface="宋体" panose="02010600030101010101" pitchFamily="2" charset="-122"/>
              </a:rPr>
              <a:t>李绍澄</a:t>
            </a:r>
            <a:r>
              <a:rPr lang="en-US" altLang="zh-CN" sz="1800" dirty="0">
                <a:latin typeface="宋体" panose="02010600030101010101" pitchFamily="2" charset="-122"/>
                <a:cs typeface="宋体" panose="02010600030101010101" pitchFamily="2" charset="-122"/>
              </a:rPr>
              <a:t>/</a:t>
            </a:r>
            <a:r>
              <a:rPr lang="zh-CN" altLang="en-US" sz="1800" dirty="0">
                <a:latin typeface="宋体" panose="02010600030101010101" pitchFamily="2" charset="-122"/>
                <a:cs typeface="宋体" panose="02010600030101010101" pitchFamily="2" charset="-122"/>
              </a:rPr>
              <a:t>王百汇</a:t>
            </a:r>
            <a:endParaRPr lang="zh-CN" altLang="en-US" sz="1800" dirty="0">
              <a:latin typeface="宋体" panose="02010600030101010101" pitchFamily="2" charset="-122"/>
              <a:cs typeface="宋体" panose="02010600030101010101" pitchFamily="2" charset="-122"/>
            </a:endParaRPr>
          </a:p>
          <a:p>
            <a:pPr marL="12700" algn="ctr">
              <a:lnSpc>
                <a:spcPct val="100000"/>
              </a:lnSpc>
              <a:spcBef>
                <a:spcPts val="100"/>
              </a:spcBef>
            </a:pPr>
            <a:endParaRPr lang="zh-CN" altLang="en-US" sz="1800" dirty="0">
              <a:latin typeface="宋体" panose="02010600030101010101" pitchFamily="2" charset="-122"/>
              <a:cs typeface="宋体" panose="02010600030101010101" pitchFamily="2" charset="-122"/>
            </a:endParaRPr>
          </a:p>
          <a:p>
            <a:pPr marL="12700" algn="ctr">
              <a:lnSpc>
                <a:spcPct val="100000"/>
              </a:lnSpc>
              <a:spcBef>
                <a:spcPts val="100"/>
              </a:spcBef>
            </a:pPr>
            <a:r>
              <a:rPr lang="en-US" altLang="zh-CN" sz="1800" b="1" dirty="0">
                <a:latin typeface="宋体" panose="02010600030101010101" pitchFamily="2" charset="-122"/>
                <a:cs typeface="宋体" panose="02010600030101010101" pitchFamily="2" charset="-122"/>
              </a:rPr>
              <a:t>NEUACM</a:t>
            </a:r>
            <a:endParaRPr lang="zh-CN" altLang="en-US" sz="1800" b="1" dirty="0">
              <a:latin typeface="宋体" panose="02010600030101010101" pitchFamily="2" charset="-122"/>
              <a:cs typeface="宋体" panose="02010600030101010101" pitchFamily="2" charset="-122"/>
            </a:endParaRPr>
          </a:p>
          <a:p>
            <a:pPr marL="12700" algn="ctr">
              <a:lnSpc>
                <a:spcPct val="100000"/>
              </a:lnSpc>
              <a:spcBef>
                <a:spcPts val="100"/>
              </a:spcBef>
            </a:pPr>
            <a:r>
              <a:rPr lang="en-US" altLang="zh-CN" sz="1800" b="1" dirty="0">
                <a:latin typeface="宋体" panose="02010600030101010101" pitchFamily="2" charset="-122"/>
                <a:cs typeface="宋体" panose="02010600030101010101" pitchFamily="2" charset="-122"/>
              </a:rPr>
              <a:t>2026</a:t>
            </a:r>
            <a:r>
              <a:rPr lang="zh-CN" altLang="en-US" sz="1800" b="1" dirty="0">
                <a:latin typeface="宋体" panose="02010600030101010101" pitchFamily="2" charset="-122"/>
                <a:cs typeface="宋体" panose="02010600030101010101" pitchFamily="2" charset="-122"/>
              </a:rPr>
              <a:t>年</a:t>
            </a:r>
            <a:r>
              <a:rPr lang="en-US" altLang="zh-CN" sz="1800" b="1" dirty="0">
                <a:latin typeface="宋体" panose="02010600030101010101" pitchFamily="2" charset="-122"/>
                <a:cs typeface="宋体" panose="02010600030101010101" pitchFamily="2" charset="-122"/>
              </a:rPr>
              <a:t>1</a:t>
            </a:r>
            <a:r>
              <a:rPr lang="zh-CN" altLang="en-US" sz="1800" b="1" dirty="0">
                <a:latin typeface="宋体" panose="02010600030101010101" pitchFamily="2" charset="-122"/>
                <a:cs typeface="宋体" panose="02010600030101010101" pitchFamily="2" charset="-122"/>
              </a:rPr>
              <a:t>月</a:t>
            </a:r>
            <a:endParaRPr lang="zh-CN" altLang="en-US" sz="1800" b="1" dirty="0">
              <a:latin typeface="宋体" panose="02010600030101010101" pitchFamily="2" charset="-122"/>
              <a:cs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图的概念</a:t>
            </a:r>
            <a:endParaRPr dirty="0">
              <a:latin typeface="宋体" panose="02010600030101010101" pitchFamily="2" charset="-122"/>
              <a:cs typeface="宋体" panose="02010600030101010101" pitchFamily="2" charset="-122"/>
            </a:endParaRPr>
          </a:p>
        </p:txBody>
      </p:sp>
      <p:sp>
        <p:nvSpPr>
          <p:cNvPr id="3" name="object 3"/>
          <p:cNvSpPr txBox="1"/>
          <p:nvPr/>
        </p:nvSpPr>
        <p:spPr>
          <a:xfrm>
            <a:off x="756069" y="2025134"/>
            <a:ext cx="5397500" cy="1670050"/>
          </a:xfrm>
          <a:prstGeom prst="rect">
            <a:avLst/>
          </a:prstGeom>
        </p:spPr>
        <p:txBody>
          <a:bodyPr vert="horz" wrap="square" lIns="0" tIns="148590" rIns="0" bIns="0" rtlCol="0">
            <a:spAutoFit/>
          </a:bodyPr>
          <a:lstStyle/>
          <a:p>
            <a:pPr marL="12700">
              <a:lnSpc>
                <a:spcPct val="100000"/>
              </a:lnSpc>
              <a:spcBef>
                <a:spcPts val="1170"/>
              </a:spcBef>
            </a:pPr>
            <a:r>
              <a:rPr sz="1800" dirty="0">
                <a:solidFill>
                  <a:srgbClr val="404040"/>
                </a:solidFill>
                <a:latin typeface="宋体" panose="02010600030101010101" pitchFamily="2" charset="-122"/>
                <a:cs typeface="宋体" panose="02010600030101010101" pitchFamily="2" charset="-122"/>
              </a:rPr>
              <a:t>图是什么？</a:t>
            </a:r>
            <a:endParaRPr sz="1800" dirty="0">
              <a:latin typeface="宋体" panose="02010600030101010101" pitchFamily="2" charset="-122"/>
              <a:cs typeface="宋体" panose="02010600030101010101" pitchFamily="2" charset="-122"/>
            </a:endParaRPr>
          </a:p>
          <a:p>
            <a:pPr marL="12700">
              <a:lnSpc>
                <a:spcPct val="100000"/>
              </a:lnSpc>
              <a:spcBef>
                <a:spcPts val="1165"/>
              </a:spcBef>
              <a:tabLst>
                <a:tab pos="354965" algn="l"/>
              </a:tabLst>
            </a:pPr>
            <a:r>
              <a:rPr sz="1450" spc="-150" dirty="0">
                <a:solidFill>
                  <a:srgbClr val="90C225"/>
                </a:solidFill>
                <a:latin typeface="Lucida Sans Unicode" panose="020B0602030504020204"/>
                <a:cs typeface="Lucida Sans Unicode" panose="020B0602030504020204"/>
              </a:rPr>
              <a:t>▶	</a:t>
            </a:r>
            <a:r>
              <a:rPr sz="1800" spc="-150" dirty="0">
                <a:latin typeface="宋体" panose="02010600030101010101" pitchFamily="2" charset="-122"/>
                <a:cs typeface="宋体" panose="02010600030101010101" pitchFamily="2" charset="-122"/>
              </a:rPr>
              <a:t>图是由顶点</a:t>
            </a:r>
            <a:r>
              <a:rPr sz="1800" spc="-470" dirty="0">
                <a:latin typeface="宋体" panose="02010600030101010101" pitchFamily="2" charset="-122"/>
                <a:cs typeface="宋体" panose="02010600030101010101" pitchFamily="2" charset="-122"/>
              </a:rPr>
              <a:t> </a:t>
            </a:r>
            <a:r>
              <a:rPr sz="1850" spc="-40" dirty="0">
                <a:latin typeface="Segoe Print" panose="02000600000000000000"/>
                <a:cs typeface="Segoe Print" panose="02000600000000000000"/>
              </a:rPr>
              <a:t>V</a:t>
            </a:r>
            <a:r>
              <a:rPr sz="1800" dirty="0">
                <a:latin typeface="宋体" panose="02010600030101010101" pitchFamily="2" charset="-122"/>
                <a:cs typeface="宋体" panose="02010600030101010101" pitchFamily="2" charset="-122"/>
              </a:rPr>
              <a:t>的集合和边</a:t>
            </a:r>
            <a:r>
              <a:rPr sz="1800" spc="-470" dirty="0">
                <a:latin typeface="宋体" panose="02010600030101010101" pitchFamily="2" charset="-122"/>
                <a:cs typeface="宋体" panose="02010600030101010101" pitchFamily="2" charset="-122"/>
              </a:rPr>
              <a:t> </a:t>
            </a:r>
            <a:r>
              <a:rPr sz="1850" spc="-35" dirty="0">
                <a:latin typeface="Segoe Print" panose="02000600000000000000"/>
                <a:cs typeface="Segoe Print" panose="02000600000000000000"/>
              </a:rPr>
              <a:t>E</a:t>
            </a:r>
            <a:r>
              <a:rPr sz="1800" dirty="0">
                <a:latin typeface="宋体" panose="02010600030101010101" pitchFamily="2" charset="-122"/>
                <a:cs typeface="宋体" panose="02010600030101010101" pitchFamily="2" charset="-122"/>
              </a:rPr>
              <a:t>的集合组成的二元组</a:t>
            </a:r>
            <a:endParaRPr sz="1800" dirty="0">
              <a:latin typeface="宋体" panose="02010600030101010101" pitchFamily="2" charset="-122"/>
              <a:cs typeface="宋体" panose="02010600030101010101" pitchFamily="2" charset="-122"/>
            </a:endParaRPr>
          </a:p>
          <a:p>
            <a:pPr marL="12700">
              <a:lnSpc>
                <a:spcPct val="100000"/>
              </a:lnSpc>
              <a:spcBef>
                <a:spcPts val="940"/>
              </a:spcBef>
              <a:tabLst>
                <a:tab pos="354965" algn="l"/>
              </a:tabLst>
            </a:pPr>
            <a:r>
              <a:rPr sz="1450" spc="-150" dirty="0">
                <a:solidFill>
                  <a:srgbClr val="90C225"/>
                </a:solidFill>
                <a:latin typeface="Lucida Sans Unicode" panose="020B0602030504020204"/>
                <a:cs typeface="Lucida Sans Unicode" panose="020B0602030504020204"/>
              </a:rPr>
              <a:t>▶	</a:t>
            </a:r>
            <a:r>
              <a:rPr sz="1800" dirty="0">
                <a:latin typeface="宋体" panose="02010600030101010101" pitchFamily="2" charset="-122"/>
                <a:cs typeface="宋体" panose="02010600030101010101" pitchFamily="2" charset="-122"/>
              </a:rPr>
              <a:t>记</a:t>
            </a:r>
            <a:r>
              <a:rPr sz="1800" spc="-114" dirty="0">
                <a:latin typeface="宋体" panose="02010600030101010101" pitchFamily="2" charset="-122"/>
                <a:cs typeface="宋体" panose="02010600030101010101" pitchFamily="2" charset="-122"/>
              </a:rPr>
              <a:t>：</a:t>
            </a:r>
            <a:r>
              <a:rPr sz="1850" spc="-114" dirty="0">
                <a:latin typeface="Segoe Print" panose="02000600000000000000"/>
                <a:cs typeface="Segoe Print" panose="02000600000000000000"/>
              </a:rPr>
              <a:t>G</a:t>
            </a:r>
            <a:r>
              <a:rPr sz="1800" spc="-114" dirty="0">
                <a:latin typeface="Segoe Print" panose="02000600000000000000"/>
                <a:cs typeface="Segoe Print" panose="02000600000000000000"/>
              </a:rPr>
              <a:t>=</a:t>
            </a:r>
            <a:r>
              <a:rPr sz="1800" spc="-50" dirty="0">
                <a:latin typeface="Segoe Print" panose="02000600000000000000"/>
                <a:cs typeface="Segoe Print" panose="02000600000000000000"/>
              </a:rPr>
              <a:t> </a:t>
            </a:r>
            <a:r>
              <a:rPr sz="1800" spc="-480" dirty="0">
                <a:latin typeface="Segoe Print" panose="02000600000000000000"/>
                <a:cs typeface="Segoe Print" panose="02000600000000000000"/>
              </a:rPr>
              <a:t>(</a:t>
            </a:r>
            <a:r>
              <a:rPr lang="en-US" sz="1800" spc="-480" dirty="0">
                <a:latin typeface="Segoe Print" panose="02000600000000000000"/>
                <a:cs typeface="Segoe Print" panose="02000600000000000000"/>
              </a:rPr>
              <a:t>   </a:t>
            </a:r>
            <a:r>
              <a:rPr sz="1850" spc="-480" dirty="0">
                <a:latin typeface="Segoe Print" panose="02000600000000000000"/>
                <a:cs typeface="Segoe Print" panose="02000600000000000000"/>
              </a:rPr>
              <a:t>V</a:t>
            </a:r>
            <a:r>
              <a:rPr lang="en-US" sz="1850" spc="-480" dirty="0">
                <a:latin typeface="Segoe Print" panose="02000600000000000000"/>
                <a:cs typeface="Segoe Print" panose="02000600000000000000"/>
              </a:rPr>
              <a:t>   </a:t>
            </a:r>
            <a:r>
              <a:rPr sz="1850" spc="-480" dirty="0">
                <a:latin typeface="Segoe Print" panose="02000600000000000000"/>
                <a:cs typeface="Segoe Print" panose="02000600000000000000"/>
              </a:rPr>
              <a:t>,</a:t>
            </a:r>
            <a:r>
              <a:rPr lang="en-US" sz="1850" spc="-480" dirty="0">
                <a:latin typeface="Segoe Print" panose="02000600000000000000"/>
                <a:cs typeface="Segoe Print" panose="02000600000000000000"/>
              </a:rPr>
              <a:t>    </a:t>
            </a:r>
            <a:r>
              <a:rPr sz="1850" spc="-480" dirty="0">
                <a:latin typeface="Segoe Print" panose="02000600000000000000"/>
                <a:cs typeface="Segoe Print" panose="02000600000000000000"/>
              </a:rPr>
              <a:t>E</a:t>
            </a:r>
            <a:r>
              <a:rPr lang="en-US" sz="1850" spc="-480" dirty="0">
                <a:latin typeface="Segoe Print" panose="02000600000000000000"/>
                <a:cs typeface="Segoe Print" panose="02000600000000000000"/>
              </a:rPr>
              <a:t>    </a:t>
            </a:r>
            <a:r>
              <a:rPr sz="1800" spc="-480" dirty="0">
                <a:latin typeface="Segoe Print" panose="02000600000000000000"/>
                <a:cs typeface="Segoe Print" panose="02000600000000000000"/>
              </a:rPr>
              <a:t>)</a:t>
            </a:r>
            <a:r>
              <a:rPr sz="1800" dirty="0">
                <a:latin typeface="宋体" panose="02010600030101010101" pitchFamily="2" charset="-122"/>
                <a:cs typeface="宋体" panose="02010600030101010101" pitchFamily="2" charset="-122"/>
              </a:rPr>
              <a:t>。</a:t>
            </a:r>
            <a:endParaRPr sz="1800" dirty="0">
              <a:latin typeface="宋体" panose="02010600030101010101" pitchFamily="2" charset="-122"/>
              <a:cs typeface="宋体" panose="02010600030101010101" pitchFamily="2" charset="-122"/>
            </a:endParaRPr>
          </a:p>
          <a:p>
            <a:pPr marL="12700">
              <a:lnSpc>
                <a:spcPct val="100000"/>
              </a:lnSpc>
              <a:spcBef>
                <a:spcPts val="940"/>
              </a:spcBef>
              <a:tabLst>
                <a:tab pos="354965" algn="l"/>
              </a:tabLst>
            </a:pPr>
            <a:r>
              <a:rPr sz="1450" spc="-150" dirty="0">
                <a:solidFill>
                  <a:srgbClr val="90C225"/>
                </a:solidFill>
                <a:latin typeface="Lucida Sans Unicode" panose="020B0602030504020204"/>
                <a:cs typeface="Lucida Sans Unicode" panose="020B0602030504020204"/>
              </a:rPr>
              <a:t>▶	</a:t>
            </a:r>
            <a:r>
              <a:rPr sz="1800" spc="-150" dirty="0">
                <a:latin typeface="宋体" panose="02010600030101010101" pitchFamily="2" charset="-122"/>
                <a:cs typeface="宋体" panose="02010600030101010101" pitchFamily="2" charset="-122"/>
              </a:rPr>
              <a:t>存在结点</a:t>
            </a:r>
            <a:r>
              <a:rPr sz="1800" spc="-470" dirty="0">
                <a:latin typeface="宋体" panose="02010600030101010101" pitchFamily="2" charset="-122"/>
                <a:cs typeface="宋体" panose="02010600030101010101" pitchFamily="2" charset="-122"/>
              </a:rPr>
              <a:t> </a:t>
            </a:r>
            <a:r>
              <a:rPr sz="1850" spc="-750" dirty="0">
                <a:latin typeface="Segoe Print" panose="02000600000000000000"/>
                <a:cs typeface="Segoe Print" panose="02000600000000000000"/>
              </a:rPr>
              <a:t>v</a:t>
            </a:r>
            <a:r>
              <a:rPr sz="1800" dirty="0">
                <a:latin typeface="宋体" panose="02010600030101010101" pitchFamily="2" charset="-122"/>
                <a:cs typeface="宋体" panose="02010600030101010101" pitchFamily="2" charset="-122"/>
              </a:rPr>
              <a:t>，可能含有多个前驱与多个后继</a:t>
            </a:r>
            <a:endParaRPr sz="1800" dirty="0">
              <a:latin typeface="宋体" panose="02010600030101010101" pitchFamily="2" charset="-122"/>
              <a:cs typeface="宋体" panose="02010600030101010101" pitchFamily="2" charset="-122"/>
            </a:endParaRPr>
          </a:p>
        </p:txBody>
      </p:sp>
      <p:pic>
        <p:nvPicPr>
          <p:cNvPr id="4" name="object 4"/>
          <p:cNvPicPr/>
          <p:nvPr/>
        </p:nvPicPr>
        <p:blipFill>
          <a:blip r:embed="rId1" cstate="print"/>
          <a:stretch>
            <a:fillRect/>
          </a:stretch>
        </p:blipFill>
        <p:spPr>
          <a:xfrm>
            <a:off x="919674" y="4161855"/>
            <a:ext cx="2247917" cy="1762379"/>
          </a:xfrm>
          <a:prstGeom prst="rect">
            <a:avLst/>
          </a:prstGeom>
        </p:spPr>
      </p:pic>
      <p:pic>
        <p:nvPicPr>
          <p:cNvPr id="5" name="object 5"/>
          <p:cNvPicPr/>
          <p:nvPr/>
        </p:nvPicPr>
        <p:blipFill>
          <a:blip r:embed="rId2" cstate="print"/>
          <a:stretch>
            <a:fillRect/>
          </a:stretch>
        </p:blipFill>
        <p:spPr>
          <a:xfrm>
            <a:off x="4500389" y="4092462"/>
            <a:ext cx="2393914" cy="189021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图的种类</a:t>
            </a:r>
            <a:endParaRPr dirty="0">
              <a:latin typeface="宋体" panose="02010600030101010101" pitchFamily="2" charset="-122"/>
              <a:cs typeface="宋体" panose="02010600030101010101" pitchFamily="2" charset="-122"/>
            </a:endParaRPr>
          </a:p>
        </p:txBody>
      </p:sp>
      <p:sp>
        <p:nvSpPr>
          <p:cNvPr id="3" name="object 3"/>
          <p:cNvSpPr txBox="1"/>
          <p:nvPr/>
        </p:nvSpPr>
        <p:spPr>
          <a:xfrm>
            <a:off x="756069" y="1262506"/>
            <a:ext cx="3683000" cy="2834640"/>
          </a:xfrm>
          <a:prstGeom prst="rect">
            <a:avLst/>
          </a:prstGeom>
        </p:spPr>
        <p:txBody>
          <a:bodyPr vert="horz" wrap="square" lIns="0" tIns="139700" rIns="0" bIns="0" rtlCol="0">
            <a:spAutoFit/>
          </a:bodyPr>
          <a:lstStyle/>
          <a:p>
            <a:pPr marL="12700">
              <a:lnSpc>
                <a:spcPct val="100000"/>
              </a:lnSpc>
              <a:spcBef>
                <a:spcPts val="1100"/>
              </a:spcBef>
            </a:pPr>
            <a:r>
              <a:rPr sz="1800" dirty="0">
                <a:solidFill>
                  <a:srgbClr val="404040"/>
                </a:solidFill>
                <a:latin typeface="宋体" panose="02010600030101010101" pitchFamily="2" charset="-122"/>
                <a:cs typeface="宋体" panose="02010600030101010101" pitchFamily="2" charset="-122"/>
              </a:rPr>
              <a:t>按照不同的区分方法有以下几组分类</a:t>
            </a:r>
            <a:endParaRPr sz="1800">
              <a:latin typeface="宋体" panose="02010600030101010101" pitchFamily="2" charset="-122"/>
              <a:cs typeface="宋体" panose="02010600030101010101" pitchFamily="2" charset="-122"/>
            </a:endParaRPr>
          </a:p>
          <a:p>
            <a:pPr marL="12700">
              <a:lnSpc>
                <a:spcPct val="100000"/>
              </a:lnSpc>
              <a:spcBef>
                <a:spcPts val="1000"/>
              </a:spcBef>
              <a:tabLst>
                <a:tab pos="354965" algn="l"/>
              </a:tabLst>
            </a:pPr>
            <a:r>
              <a:rPr sz="1450" spc="-150" dirty="0">
                <a:solidFill>
                  <a:srgbClr val="90C225"/>
                </a:solidFill>
                <a:latin typeface="Lucida Sans Unicode" panose="020B0602030504020204"/>
                <a:cs typeface="Lucida Sans Unicode" panose="020B0602030504020204"/>
              </a:rPr>
              <a:t>▶	</a:t>
            </a:r>
            <a:r>
              <a:rPr sz="1800" spc="-150" dirty="0">
                <a:solidFill>
                  <a:srgbClr val="404040"/>
                </a:solidFill>
                <a:latin typeface="宋体" panose="02010600030101010101" pitchFamily="2" charset="-122"/>
                <a:cs typeface="宋体" panose="02010600030101010101" pitchFamily="2" charset="-122"/>
              </a:rPr>
              <a:t>有向图，无向图</a:t>
            </a:r>
            <a:endParaRPr sz="1800">
              <a:latin typeface="宋体" panose="02010600030101010101" pitchFamily="2" charset="-122"/>
              <a:cs typeface="宋体" panose="02010600030101010101" pitchFamily="2" charset="-122"/>
            </a:endParaRPr>
          </a:p>
          <a:p>
            <a:pPr marL="12700">
              <a:lnSpc>
                <a:spcPct val="100000"/>
              </a:lnSpc>
              <a:spcBef>
                <a:spcPts val="1000"/>
              </a:spcBef>
              <a:tabLst>
                <a:tab pos="354965" algn="l"/>
              </a:tabLst>
            </a:pPr>
            <a:r>
              <a:rPr sz="1450" spc="-150" dirty="0">
                <a:solidFill>
                  <a:srgbClr val="90C225"/>
                </a:solidFill>
                <a:latin typeface="Lucida Sans Unicode" panose="020B0602030504020204"/>
                <a:cs typeface="Lucida Sans Unicode" panose="020B0602030504020204"/>
              </a:rPr>
              <a:t>▶	</a:t>
            </a:r>
            <a:r>
              <a:rPr sz="1800" spc="-150" dirty="0">
                <a:solidFill>
                  <a:srgbClr val="404040"/>
                </a:solidFill>
                <a:latin typeface="宋体" panose="02010600030101010101" pitchFamily="2" charset="-122"/>
                <a:cs typeface="宋体" panose="02010600030101010101" pitchFamily="2" charset="-122"/>
              </a:rPr>
              <a:t>带权图，无权图</a:t>
            </a:r>
            <a:endParaRPr sz="1800">
              <a:latin typeface="宋体" panose="02010600030101010101" pitchFamily="2" charset="-122"/>
              <a:cs typeface="宋体" panose="02010600030101010101" pitchFamily="2" charset="-122"/>
            </a:endParaRPr>
          </a:p>
          <a:p>
            <a:pPr marL="12700">
              <a:lnSpc>
                <a:spcPct val="100000"/>
              </a:lnSpc>
              <a:spcBef>
                <a:spcPts val="1000"/>
              </a:spcBef>
              <a:tabLst>
                <a:tab pos="354965" algn="l"/>
              </a:tabLst>
            </a:pPr>
            <a:r>
              <a:rPr sz="1450" spc="-150" dirty="0">
                <a:solidFill>
                  <a:srgbClr val="90C225"/>
                </a:solidFill>
                <a:latin typeface="Lucida Sans Unicode" panose="020B0602030504020204"/>
                <a:cs typeface="Lucida Sans Unicode" panose="020B0602030504020204"/>
              </a:rPr>
              <a:t>▶	</a:t>
            </a:r>
            <a:r>
              <a:rPr sz="1800" spc="-150" dirty="0">
                <a:solidFill>
                  <a:srgbClr val="404040"/>
                </a:solidFill>
                <a:latin typeface="宋体" panose="02010600030101010101" pitchFamily="2" charset="-122"/>
                <a:cs typeface="宋体" panose="02010600030101010101" pitchFamily="2" charset="-122"/>
              </a:rPr>
              <a:t>连通图</a:t>
            </a:r>
            <a:endParaRPr sz="1800">
              <a:latin typeface="宋体" panose="02010600030101010101" pitchFamily="2" charset="-122"/>
              <a:cs typeface="宋体" panose="02010600030101010101" pitchFamily="2" charset="-122"/>
            </a:endParaRPr>
          </a:p>
          <a:p>
            <a:pPr marL="12700">
              <a:lnSpc>
                <a:spcPct val="100000"/>
              </a:lnSpc>
              <a:spcBef>
                <a:spcPts val="1000"/>
              </a:spcBef>
              <a:tabLst>
                <a:tab pos="354965" algn="l"/>
              </a:tabLst>
            </a:pPr>
            <a:r>
              <a:rPr sz="1450" spc="-150" dirty="0">
                <a:solidFill>
                  <a:srgbClr val="90C225"/>
                </a:solidFill>
                <a:latin typeface="Lucida Sans Unicode" panose="020B0602030504020204"/>
                <a:cs typeface="Lucida Sans Unicode" panose="020B0602030504020204"/>
              </a:rPr>
              <a:t>▶	</a:t>
            </a:r>
            <a:r>
              <a:rPr sz="1800" spc="-150" dirty="0">
                <a:solidFill>
                  <a:srgbClr val="404040"/>
                </a:solidFill>
                <a:latin typeface="宋体" panose="02010600030101010101" pitchFamily="2" charset="-122"/>
                <a:cs typeface="宋体" panose="02010600030101010101" pitchFamily="2" charset="-122"/>
              </a:rPr>
              <a:t>二分图</a:t>
            </a:r>
            <a:endParaRPr sz="1800">
              <a:latin typeface="宋体" panose="02010600030101010101" pitchFamily="2" charset="-122"/>
              <a:cs typeface="宋体" panose="02010600030101010101" pitchFamily="2" charset="-122"/>
            </a:endParaRPr>
          </a:p>
          <a:p>
            <a:pPr marL="12700">
              <a:lnSpc>
                <a:spcPct val="100000"/>
              </a:lnSpc>
              <a:spcBef>
                <a:spcPts val="1000"/>
              </a:spcBef>
              <a:tabLst>
                <a:tab pos="354965" algn="l"/>
              </a:tabLst>
            </a:pPr>
            <a:r>
              <a:rPr sz="1450" spc="-150" dirty="0">
                <a:solidFill>
                  <a:srgbClr val="90C225"/>
                </a:solidFill>
                <a:latin typeface="Lucida Sans Unicode" panose="020B0602030504020204"/>
                <a:cs typeface="Lucida Sans Unicode" panose="020B0602030504020204"/>
              </a:rPr>
              <a:t>▶	</a:t>
            </a:r>
            <a:r>
              <a:rPr sz="1800" spc="-150" dirty="0">
                <a:solidFill>
                  <a:srgbClr val="404040"/>
                </a:solidFill>
                <a:latin typeface="宋体" panose="02010600030101010101" pitchFamily="2" charset="-122"/>
                <a:cs typeface="宋体" panose="02010600030101010101" pitchFamily="2" charset="-122"/>
              </a:rPr>
              <a:t>完全图</a:t>
            </a:r>
            <a:endParaRPr sz="1800">
              <a:latin typeface="宋体" panose="02010600030101010101" pitchFamily="2" charset="-122"/>
              <a:cs typeface="宋体" panose="02010600030101010101" pitchFamily="2" charset="-122"/>
            </a:endParaRPr>
          </a:p>
          <a:p>
            <a:pPr marL="12700">
              <a:lnSpc>
                <a:spcPct val="100000"/>
              </a:lnSpc>
              <a:spcBef>
                <a:spcPts val="1000"/>
              </a:spcBef>
              <a:tabLst>
                <a:tab pos="354965" algn="l"/>
              </a:tabLst>
            </a:pPr>
            <a:r>
              <a:rPr sz="1450" spc="-150" dirty="0">
                <a:solidFill>
                  <a:srgbClr val="90C225"/>
                </a:solidFill>
                <a:latin typeface="Lucida Sans Unicode" panose="020B0602030504020204"/>
                <a:cs typeface="Lucida Sans Unicode" panose="020B0602030504020204"/>
              </a:rPr>
              <a:t>▶	</a:t>
            </a:r>
            <a:r>
              <a:rPr sz="1800" dirty="0">
                <a:solidFill>
                  <a:srgbClr val="404040"/>
                </a:solidFill>
                <a:latin typeface="宋体" panose="02010600030101010101" pitchFamily="2" charset="-122"/>
                <a:cs typeface="宋体" panose="02010600030101010101" pitchFamily="2" charset="-122"/>
              </a:rPr>
              <a:t>菊花图，轮图</a:t>
            </a:r>
            <a:endParaRPr sz="1800">
              <a:latin typeface="宋体" panose="02010600030101010101" pitchFamily="2" charset="-122"/>
              <a:cs typeface="宋体" panose="02010600030101010101" pitchFamily="2" charset="-122"/>
            </a:endParaRPr>
          </a:p>
        </p:txBody>
      </p:sp>
      <p:pic>
        <p:nvPicPr>
          <p:cNvPr id="4" name="object 4"/>
          <p:cNvPicPr/>
          <p:nvPr/>
        </p:nvPicPr>
        <p:blipFill>
          <a:blip r:embed="rId1" cstate="print"/>
          <a:stretch>
            <a:fillRect/>
          </a:stretch>
        </p:blipFill>
        <p:spPr>
          <a:xfrm>
            <a:off x="4051100" y="1956046"/>
            <a:ext cx="1509184" cy="1832928"/>
          </a:xfrm>
          <a:prstGeom prst="rect">
            <a:avLst/>
          </a:prstGeom>
        </p:spPr>
      </p:pic>
      <p:sp>
        <p:nvSpPr>
          <p:cNvPr id="5" name="object 5"/>
          <p:cNvSpPr txBox="1"/>
          <p:nvPr/>
        </p:nvSpPr>
        <p:spPr>
          <a:xfrm>
            <a:off x="7403147" y="4008666"/>
            <a:ext cx="559435" cy="24002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404040"/>
                </a:solidFill>
                <a:latin typeface="宋体" panose="02010600030101010101" pitchFamily="2" charset="-122"/>
                <a:cs typeface="宋体" panose="02010600030101010101" pitchFamily="2" charset="-122"/>
              </a:rPr>
              <a:t>无权</a:t>
            </a:r>
            <a:r>
              <a:rPr sz="1400" spc="5" dirty="0">
                <a:solidFill>
                  <a:srgbClr val="404040"/>
                </a:solidFill>
                <a:latin typeface="宋体" panose="02010600030101010101" pitchFamily="2" charset="-122"/>
                <a:cs typeface="宋体" panose="02010600030101010101" pitchFamily="2" charset="-122"/>
              </a:rPr>
              <a:t>图</a:t>
            </a:r>
            <a:endParaRPr sz="1400">
              <a:latin typeface="宋体" panose="02010600030101010101" pitchFamily="2" charset="-122"/>
              <a:cs typeface="宋体" panose="02010600030101010101" pitchFamily="2" charset="-122"/>
            </a:endParaRPr>
          </a:p>
        </p:txBody>
      </p:sp>
      <p:pic>
        <p:nvPicPr>
          <p:cNvPr id="6" name="object 6"/>
          <p:cNvPicPr/>
          <p:nvPr/>
        </p:nvPicPr>
        <p:blipFill>
          <a:blip r:embed="rId2" cstate="print"/>
          <a:stretch>
            <a:fillRect/>
          </a:stretch>
        </p:blipFill>
        <p:spPr>
          <a:xfrm>
            <a:off x="6457188" y="1903476"/>
            <a:ext cx="2450591" cy="1783079"/>
          </a:xfrm>
          <a:prstGeom prst="rect">
            <a:avLst/>
          </a:prstGeom>
        </p:spPr>
      </p:pic>
      <p:sp>
        <p:nvSpPr>
          <p:cNvPr id="7" name="object 7"/>
          <p:cNvSpPr txBox="1"/>
          <p:nvPr/>
        </p:nvSpPr>
        <p:spPr>
          <a:xfrm>
            <a:off x="4665700" y="4008666"/>
            <a:ext cx="559435" cy="24002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404040"/>
                </a:solidFill>
                <a:latin typeface="宋体" panose="02010600030101010101" pitchFamily="2" charset="-122"/>
                <a:cs typeface="宋体" panose="02010600030101010101" pitchFamily="2" charset="-122"/>
              </a:rPr>
              <a:t>带权</a:t>
            </a:r>
            <a:r>
              <a:rPr sz="1400" spc="5" dirty="0">
                <a:solidFill>
                  <a:srgbClr val="404040"/>
                </a:solidFill>
                <a:latin typeface="宋体" panose="02010600030101010101" pitchFamily="2" charset="-122"/>
                <a:cs typeface="宋体" panose="02010600030101010101" pitchFamily="2" charset="-122"/>
              </a:rPr>
              <a:t>图</a:t>
            </a:r>
            <a:endParaRPr sz="1400">
              <a:latin typeface="宋体" panose="02010600030101010101" pitchFamily="2" charset="-122"/>
              <a:cs typeface="宋体" panose="02010600030101010101" pitchFamily="2" charset="-122"/>
            </a:endParaRPr>
          </a:p>
        </p:txBody>
      </p:sp>
      <p:pic>
        <p:nvPicPr>
          <p:cNvPr id="8" name="object 8"/>
          <p:cNvPicPr/>
          <p:nvPr/>
        </p:nvPicPr>
        <p:blipFill>
          <a:blip r:embed="rId3" cstate="print"/>
          <a:stretch>
            <a:fillRect/>
          </a:stretch>
        </p:blipFill>
        <p:spPr>
          <a:xfrm>
            <a:off x="786857" y="4200144"/>
            <a:ext cx="967174" cy="1816832"/>
          </a:xfrm>
          <a:prstGeom prst="rect">
            <a:avLst/>
          </a:prstGeom>
        </p:spPr>
      </p:pic>
      <p:sp>
        <p:nvSpPr>
          <p:cNvPr id="9" name="object 9"/>
          <p:cNvSpPr txBox="1"/>
          <p:nvPr/>
        </p:nvSpPr>
        <p:spPr>
          <a:xfrm>
            <a:off x="896124" y="6051524"/>
            <a:ext cx="685165" cy="222885"/>
          </a:xfrm>
          <a:prstGeom prst="rect">
            <a:avLst/>
          </a:prstGeom>
        </p:spPr>
        <p:txBody>
          <a:bodyPr vert="horz" wrap="square" lIns="0" tIns="12065" rIns="0" bIns="0" rtlCol="0">
            <a:spAutoFit/>
          </a:bodyPr>
          <a:lstStyle/>
          <a:p>
            <a:pPr marL="12700">
              <a:lnSpc>
                <a:spcPct val="100000"/>
              </a:lnSpc>
              <a:spcBef>
                <a:spcPts val="95"/>
              </a:spcBef>
            </a:pPr>
            <a:r>
              <a:rPr sz="1300" dirty="0">
                <a:solidFill>
                  <a:srgbClr val="404040"/>
                </a:solidFill>
                <a:latin typeface="宋体" panose="02010600030101010101" pitchFamily="2" charset="-122"/>
                <a:cs typeface="宋体" panose="02010600030101010101" pitchFamily="2" charset="-122"/>
              </a:rPr>
              <a:t>非连通</a:t>
            </a:r>
            <a:r>
              <a:rPr sz="1300" spc="-5" dirty="0">
                <a:solidFill>
                  <a:srgbClr val="404040"/>
                </a:solidFill>
                <a:latin typeface="宋体" panose="02010600030101010101" pitchFamily="2" charset="-122"/>
                <a:cs typeface="宋体" panose="02010600030101010101" pitchFamily="2" charset="-122"/>
              </a:rPr>
              <a:t>图</a:t>
            </a:r>
            <a:endParaRPr sz="1300">
              <a:latin typeface="宋体" panose="02010600030101010101" pitchFamily="2" charset="-122"/>
              <a:cs typeface="宋体" panose="02010600030101010101" pitchFamily="2" charset="-122"/>
            </a:endParaRPr>
          </a:p>
        </p:txBody>
      </p:sp>
      <p:pic>
        <p:nvPicPr>
          <p:cNvPr id="10" name="object 10"/>
          <p:cNvPicPr/>
          <p:nvPr/>
        </p:nvPicPr>
        <p:blipFill>
          <a:blip r:embed="rId4" cstate="print"/>
          <a:stretch>
            <a:fillRect/>
          </a:stretch>
        </p:blipFill>
        <p:spPr>
          <a:xfrm>
            <a:off x="2427877" y="4238313"/>
            <a:ext cx="1569727" cy="1569650"/>
          </a:xfrm>
          <a:prstGeom prst="rect">
            <a:avLst/>
          </a:prstGeom>
        </p:spPr>
      </p:pic>
      <p:sp>
        <p:nvSpPr>
          <p:cNvPr id="11" name="object 11"/>
          <p:cNvSpPr txBox="1"/>
          <p:nvPr/>
        </p:nvSpPr>
        <p:spPr>
          <a:xfrm>
            <a:off x="2927083" y="6048984"/>
            <a:ext cx="559435" cy="24002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404040"/>
                </a:solidFill>
                <a:latin typeface="宋体" panose="02010600030101010101" pitchFamily="2" charset="-122"/>
                <a:cs typeface="宋体" panose="02010600030101010101" pitchFamily="2" charset="-122"/>
              </a:rPr>
              <a:t>完全</a:t>
            </a:r>
            <a:r>
              <a:rPr sz="1400" spc="5" dirty="0">
                <a:solidFill>
                  <a:srgbClr val="404040"/>
                </a:solidFill>
                <a:latin typeface="宋体" panose="02010600030101010101" pitchFamily="2" charset="-122"/>
                <a:cs typeface="宋体" panose="02010600030101010101" pitchFamily="2" charset="-122"/>
              </a:rPr>
              <a:t>图</a:t>
            </a:r>
            <a:endParaRPr sz="1400">
              <a:latin typeface="宋体" panose="02010600030101010101" pitchFamily="2" charset="-122"/>
              <a:cs typeface="宋体" panose="02010600030101010101" pitchFamily="2" charset="-122"/>
            </a:endParaRPr>
          </a:p>
        </p:txBody>
      </p:sp>
      <p:pic>
        <p:nvPicPr>
          <p:cNvPr id="12" name="object 12"/>
          <p:cNvPicPr/>
          <p:nvPr/>
        </p:nvPicPr>
        <p:blipFill>
          <a:blip r:embed="rId5" cstate="print"/>
          <a:stretch>
            <a:fillRect/>
          </a:stretch>
        </p:blipFill>
        <p:spPr>
          <a:xfrm>
            <a:off x="4282440" y="4233671"/>
            <a:ext cx="2036064" cy="1612391"/>
          </a:xfrm>
          <a:prstGeom prst="rect">
            <a:avLst/>
          </a:prstGeom>
        </p:spPr>
      </p:pic>
      <p:sp>
        <p:nvSpPr>
          <p:cNvPr id="13" name="object 13"/>
          <p:cNvSpPr txBox="1"/>
          <p:nvPr/>
        </p:nvSpPr>
        <p:spPr>
          <a:xfrm>
            <a:off x="5021478" y="6038812"/>
            <a:ext cx="559435" cy="24002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404040"/>
                </a:solidFill>
                <a:latin typeface="宋体" panose="02010600030101010101" pitchFamily="2" charset="-122"/>
                <a:cs typeface="宋体" panose="02010600030101010101" pitchFamily="2" charset="-122"/>
              </a:rPr>
              <a:t>菊花</a:t>
            </a:r>
            <a:r>
              <a:rPr sz="1400" spc="5" dirty="0">
                <a:solidFill>
                  <a:srgbClr val="404040"/>
                </a:solidFill>
                <a:latin typeface="宋体" panose="02010600030101010101" pitchFamily="2" charset="-122"/>
                <a:cs typeface="宋体" panose="02010600030101010101" pitchFamily="2" charset="-122"/>
              </a:rPr>
              <a:t>图</a:t>
            </a:r>
            <a:endParaRPr sz="1400">
              <a:latin typeface="宋体" panose="02010600030101010101" pitchFamily="2" charset="-122"/>
              <a:cs typeface="宋体" panose="02010600030101010101" pitchFamily="2" charset="-122"/>
            </a:endParaRPr>
          </a:p>
        </p:txBody>
      </p:sp>
      <p:pic>
        <p:nvPicPr>
          <p:cNvPr id="14" name="object 14"/>
          <p:cNvPicPr/>
          <p:nvPr/>
        </p:nvPicPr>
        <p:blipFill>
          <a:blip r:embed="rId6" cstate="print"/>
          <a:stretch>
            <a:fillRect/>
          </a:stretch>
        </p:blipFill>
        <p:spPr>
          <a:xfrm>
            <a:off x="6822947" y="4309871"/>
            <a:ext cx="1798320" cy="1499615"/>
          </a:xfrm>
          <a:prstGeom prst="rect">
            <a:avLst/>
          </a:prstGeom>
        </p:spPr>
      </p:pic>
      <p:sp>
        <p:nvSpPr>
          <p:cNvPr id="15" name="object 15"/>
          <p:cNvSpPr txBox="1"/>
          <p:nvPr/>
        </p:nvSpPr>
        <p:spPr>
          <a:xfrm>
            <a:off x="7532103" y="6087910"/>
            <a:ext cx="381635" cy="24002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404040"/>
                </a:solidFill>
                <a:latin typeface="宋体" panose="02010600030101010101" pitchFamily="2" charset="-122"/>
                <a:cs typeface="宋体" panose="02010600030101010101" pitchFamily="2" charset="-122"/>
              </a:rPr>
              <a:t>轮</a:t>
            </a:r>
            <a:r>
              <a:rPr sz="1400" spc="5" dirty="0">
                <a:solidFill>
                  <a:srgbClr val="404040"/>
                </a:solidFill>
                <a:latin typeface="宋体" panose="02010600030101010101" pitchFamily="2" charset="-122"/>
                <a:cs typeface="宋体" panose="02010600030101010101" pitchFamily="2" charset="-122"/>
              </a:rPr>
              <a:t>图</a:t>
            </a:r>
            <a:endParaRPr sz="1400">
              <a:latin typeface="宋体" panose="02010600030101010101" pitchFamily="2" charset="-122"/>
              <a:cs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6069" y="645159"/>
            <a:ext cx="9398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路径</a:t>
            </a:r>
            <a:endParaRPr sz="360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678180" y="1380744"/>
            <a:ext cx="8596884" cy="912876"/>
          </a:xfrm>
          <a:prstGeom prst="rect">
            <a:avLst/>
          </a:prstGeom>
        </p:spPr>
      </p:pic>
      <p:pic>
        <p:nvPicPr>
          <p:cNvPr id="4" name="object 4"/>
          <p:cNvPicPr/>
          <p:nvPr/>
        </p:nvPicPr>
        <p:blipFill>
          <a:blip r:embed="rId2" cstate="print"/>
          <a:stretch>
            <a:fillRect/>
          </a:stretch>
        </p:blipFill>
        <p:spPr>
          <a:xfrm>
            <a:off x="797051" y="2406395"/>
            <a:ext cx="5038725" cy="771525"/>
          </a:xfrm>
          <a:prstGeom prst="rect">
            <a:avLst/>
          </a:prstGeom>
        </p:spPr>
      </p:pic>
      <p:pic>
        <p:nvPicPr>
          <p:cNvPr id="5" name="object 5"/>
          <p:cNvPicPr/>
          <p:nvPr/>
        </p:nvPicPr>
        <p:blipFill>
          <a:blip r:embed="rId3" cstate="print"/>
          <a:stretch>
            <a:fillRect/>
          </a:stretch>
        </p:blipFill>
        <p:spPr>
          <a:xfrm>
            <a:off x="676655" y="3479291"/>
            <a:ext cx="8993124" cy="14859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3970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二分图</a:t>
            </a:r>
            <a:endParaRPr dirty="0">
              <a:latin typeface="宋体" panose="02010600030101010101" pitchFamily="2" charset="-122"/>
              <a:cs typeface="宋体" panose="02010600030101010101" pitchFamily="2" charset="-122"/>
            </a:endParaRPr>
          </a:p>
        </p:txBody>
      </p:sp>
      <p:sp>
        <p:nvSpPr>
          <p:cNvPr id="3" name="object 3"/>
          <p:cNvSpPr txBox="1"/>
          <p:nvPr/>
        </p:nvSpPr>
        <p:spPr>
          <a:xfrm>
            <a:off x="756069" y="1653387"/>
            <a:ext cx="8483600" cy="340106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404040"/>
                </a:solidFill>
                <a:latin typeface="宋体" panose="02010600030101010101" pitchFamily="2" charset="-122"/>
                <a:cs typeface="宋体" panose="02010600030101010101" pitchFamily="2" charset="-122"/>
              </a:rPr>
              <a:t>定义：一个无向图，可以分成两个点集合，保证任何两个在同一集合的点没有连边， 那么这个无向图可以被称为二分图</a:t>
            </a:r>
            <a:endParaRPr sz="1800">
              <a:latin typeface="宋体" panose="02010600030101010101" pitchFamily="2" charset="-122"/>
              <a:cs typeface="宋体" panose="02010600030101010101" pitchFamily="2" charset="-122"/>
            </a:endParaRPr>
          </a:p>
          <a:p>
            <a:pPr marL="12700" marR="2519680">
              <a:lnSpc>
                <a:spcPct val="146000"/>
              </a:lnSpc>
            </a:pPr>
            <a:r>
              <a:rPr sz="1800" dirty="0">
                <a:solidFill>
                  <a:srgbClr val="404040"/>
                </a:solidFill>
                <a:latin typeface="宋体" panose="02010600030101010101" pitchFamily="2" charset="-122"/>
                <a:cs typeface="宋体" panose="02010600030101010101" pitchFamily="2" charset="-122"/>
              </a:rPr>
              <a:t>判断二分图的方法：二分图染色（没有奇环一定是二分图） 二分图的性质：没有奇环</a:t>
            </a:r>
            <a:endParaRPr sz="1800">
              <a:latin typeface="宋体" panose="02010600030101010101" pitchFamily="2" charset="-122"/>
              <a:cs typeface="宋体" panose="02010600030101010101" pitchFamily="2" charset="-122"/>
            </a:endParaRPr>
          </a:p>
          <a:p>
            <a:pPr marL="12700" marR="2976880">
              <a:lnSpc>
                <a:spcPct val="146000"/>
              </a:lnSpc>
            </a:pPr>
            <a:r>
              <a:rPr sz="1800" dirty="0">
                <a:solidFill>
                  <a:srgbClr val="404040"/>
                </a:solidFill>
                <a:latin typeface="宋体" panose="02010600030101010101" pitchFamily="2" charset="-122"/>
                <a:cs typeface="宋体" panose="02010600030101010101" pitchFamily="2" charset="-122"/>
              </a:rPr>
              <a:t>证明：</a:t>
            </a:r>
            <a:r>
              <a:rPr sz="1800" dirty="0">
                <a:latin typeface="宋体" panose="02010600030101010101" pitchFamily="2" charset="-122"/>
                <a:cs typeface="宋体" panose="02010600030101010101" pitchFamily="2" charset="-122"/>
              </a:rPr>
              <a:t>因为每一条边都是从一个集合走到另一个集合， 只有走偶数次才可能回到同一个集合。</a:t>
            </a:r>
            <a:endParaRPr sz="1800">
              <a:latin typeface="宋体" panose="02010600030101010101" pitchFamily="2" charset="-122"/>
              <a:cs typeface="宋体" panose="02010600030101010101" pitchFamily="2" charset="-122"/>
            </a:endParaRPr>
          </a:p>
          <a:p>
            <a:pPr marL="12700" marR="3205480">
              <a:lnSpc>
                <a:spcPct val="146000"/>
              </a:lnSpc>
            </a:pPr>
            <a:r>
              <a:rPr sz="1800" dirty="0">
                <a:solidFill>
                  <a:srgbClr val="404040"/>
                </a:solidFill>
                <a:latin typeface="宋体" panose="02010600030101010101" pitchFamily="2" charset="-122"/>
                <a:cs typeface="宋体" panose="02010600030101010101" pitchFamily="2" charset="-122"/>
              </a:rPr>
              <a:t>二分图是图论里一个比较重要的模型，有关二分图的 算法比较多，想要深入了解可以浏览下面的链接</a:t>
            </a:r>
            <a:endParaRPr sz="1800">
              <a:latin typeface="宋体" panose="02010600030101010101" pitchFamily="2" charset="-122"/>
              <a:cs typeface="宋体" panose="02010600030101010101" pitchFamily="2" charset="-122"/>
            </a:endParaRPr>
          </a:p>
          <a:p>
            <a:pPr marL="12700">
              <a:lnSpc>
                <a:spcPct val="100000"/>
              </a:lnSpc>
              <a:spcBef>
                <a:spcPts val="1045"/>
              </a:spcBef>
            </a:pPr>
            <a:r>
              <a:rPr sz="1800" u="sng" spc="-5" dirty="0">
                <a:solidFill>
                  <a:srgbClr val="99C93B"/>
                </a:solidFill>
                <a:uFill>
                  <a:solidFill>
                    <a:srgbClr val="99C93B"/>
                  </a:solidFill>
                </a:uFill>
                <a:latin typeface="Trebuchet MS" panose="020B0603020202020204"/>
                <a:cs typeface="Trebuchet MS" panose="020B0603020202020204"/>
                <a:hlinkClick r:id="rId1"/>
              </a:rPr>
              <a:t>https://oiwiki.com/graph/bi-graph/</a:t>
            </a:r>
            <a:endParaRPr sz="1800">
              <a:latin typeface="Trebuchet MS" panose="020B0603020202020204"/>
              <a:cs typeface="Trebuchet MS" panose="020B0603020202020204"/>
            </a:endParaRPr>
          </a:p>
        </p:txBody>
      </p:sp>
      <p:pic>
        <p:nvPicPr>
          <p:cNvPr id="4" name="object 4"/>
          <p:cNvPicPr/>
          <p:nvPr/>
        </p:nvPicPr>
        <p:blipFill>
          <a:blip r:embed="rId2" cstate="print"/>
          <a:stretch>
            <a:fillRect/>
          </a:stretch>
        </p:blipFill>
        <p:spPr>
          <a:xfrm>
            <a:off x="7310628" y="2627376"/>
            <a:ext cx="1228344" cy="2438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6069" y="645159"/>
            <a:ext cx="4826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度</a:t>
            </a:r>
            <a:endParaRPr sz="360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738863" y="1371600"/>
            <a:ext cx="8214359" cy="4532376"/>
          </a:xfrm>
          <a:prstGeom prst="rect">
            <a:avLst/>
          </a:prstGeom>
        </p:spPr>
      </p:pic>
      <p:sp>
        <p:nvSpPr>
          <p:cNvPr id="4" name="文本框 3"/>
          <p:cNvSpPr txBox="1"/>
          <p:nvPr/>
        </p:nvSpPr>
        <p:spPr>
          <a:xfrm>
            <a:off x="1238669" y="5410200"/>
            <a:ext cx="4781131" cy="369332"/>
          </a:xfrm>
          <a:prstGeom prst="rect">
            <a:avLst/>
          </a:prstGeom>
          <a:noFill/>
        </p:spPr>
        <p:txBody>
          <a:bodyPr wrap="square" rtlCol="0">
            <a:spAutoFit/>
          </a:bodyPr>
          <a:lstStyle/>
          <a:p>
            <a:r>
              <a:rPr lang="zh-CN" altLang="en-US" dirty="0"/>
              <a:t>特别地，若</a:t>
            </a:r>
            <a:r>
              <a:rPr lang="en-US" altLang="zh-CN" dirty="0"/>
              <a:t>d(v) =|V| - 1</a:t>
            </a:r>
            <a:r>
              <a:rPr lang="zh-CN" altLang="en-US" dirty="0"/>
              <a:t>，则称点</a:t>
            </a:r>
            <a:r>
              <a:rPr lang="en-US" altLang="zh-CN" dirty="0"/>
              <a:t>v</a:t>
            </a:r>
            <a:r>
              <a:rPr lang="zh-CN" altLang="en-US" dirty="0"/>
              <a:t>为支配点，</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6069" y="645159"/>
            <a:ext cx="4826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度</a:t>
            </a:r>
            <a:endParaRPr sz="360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676655" y="2340864"/>
            <a:ext cx="8596884" cy="1347215"/>
          </a:xfrm>
          <a:prstGeom prst="rect">
            <a:avLst/>
          </a:prstGeom>
        </p:spPr>
      </p:pic>
      <p:sp>
        <p:nvSpPr>
          <p:cNvPr id="4" name="object 4"/>
          <p:cNvSpPr txBox="1">
            <a:spLocks noGrp="1"/>
          </p:cNvSpPr>
          <p:nvPr>
            <p:ph type="title"/>
          </p:nvPr>
        </p:nvSpPr>
        <p:spPr>
          <a:xfrm>
            <a:off x="756069" y="1670532"/>
            <a:ext cx="4481830" cy="482600"/>
          </a:xfrm>
          <a:prstGeom prst="rect">
            <a:avLst/>
          </a:prstGeom>
        </p:spPr>
        <p:txBody>
          <a:bodyPr vert="horz" wrap="square" lIns="0" tIns="12700" rIns="0" bIns="0" rtlCol="0">
            <a:spAutoFit/>
          </a:bodyPr>
          <a:lstStyle/>
          <a:p>
            <a:pPr marL="12700">
              <a:lnSpc>
                <a:spcPct val="100000"/>
              </a:lnSpc>
              <a:spcBef>
                <a:spcPts val="100"/>
              </a:spcBef>
            </a:pPr>
            <a:r>
              <a:rPr sz="3000" u="heavy" spc="-5" dirty="0">
                <a:solidFill>
                  <a:srgbClr val="99C93B"/>
                </a:solidFill>
                <a:uFill>
                  <a:solidFill>
                    <a:srgbClr val="99C93B"/>
                  </a:solidFill>
                </a:uFill>
                <a:hlinkClick r:id="rId2"/>
              </a:rPr>
              <a:t>Codeforces</a:t>
            </a:r>
            <a:r>
              <a:rPr sz="3000" u="heavy" spc="-40" dirty="0">
                <a:solidFill>
                  <a:srgbClr val="99C93B"/>
                </a:solidFill>
                <a:uFill>
                  <a:solidFill>
                    <a:srgbClr val="99C93B"/>
                  </a:solidFill>
                </a:uFill>
                <a:hlinkClick r:id="rId2"/>
              </a:rPr>
              <a:t> </a:t>
            </a:r>
            <a:r>
              <a:rPr sz="3000" u="heavy" dirty="0">
                <a:solidFill>
                  <a:srgbClr val="99C93B"/>
                </a:solidFill>
                <a:uFill>
                  <a:solidFill>
                    <a:srgbClr val="99C93B"/>
                  </a:solidFill>
                </a:uFill>
                <a:hlinkClick r:id="rId2"/>
              </a:rPr>
              <a:t>229C</a:t>
            </a:r>
            <a:r>
              <a:rPr sz="3000" u="heavy" spc="-85" dirty="0">
                <a:solidFill>
                  <a:srgbClr val="99C93B"/>
                </a:solidFill>
                <a:uFill>
                  <a:solidFill>
                    <a:srgbClr val="99C93B"/>
                  </a:solidFill>
                </a:uFill>
                <a:hlinkClick r:id="rId2"/>
              </a:rPr>
              <a:t> </a:t>
            </a:r>
            <a:r>
              <a:rPr sz="3000" u="heavy" spc="-40" dirty="0">
                <a:solidFill>
                  <a:srgbClr val="99C93B"/>
                </a:solidFill>
                <a:uFill>
                  <a:solidFill>
                    <a:srgbClr val="99C93B"/>
                  </a:solidFill>
                </a:uFill>
                <a:hlinkClick r:id="rId2"/>
              </a:rPr>
              <a:t>Triangles</a:t>
            </a:r>
            <a:endParaRPr sz="3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6069" y="645159"/>
            <a:ext cx="4826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度</a:t>
            </a:r>
            <a:endParaRPr sz="3600">
              <a:latin typeface="宋体" panose="02010600030101010101" pitchFamily="2" charset="-122"/>
              <a:cs typeface="宋体" panose="02010600030101010101" pitchFamily="2" charset="-122"/>
            </a:endParaRPr>
          </a:p>
        </p:txBody>
      </p:sp>
      <p:grpSp>
        <p:nvGrpSpPr>
          <p:cNvPr id="3" name="object 3"/>
          <p:cNvGrpSpPr/>
          <p:nvPr/>
        </p:nvGrpSpPr>
        <p:grpSpPr>
          <a:xfrm>
            <a:off x="676655" y="2340864"/>
            <a:ext cx="8597265" cy="3743325"/>
            <a:chOff x="676655" y="2340864"/>
            <a:chExt cx="8597265" cy="3743325"/>
          </a:xfrm>
        </p:grpSpPr>
        <p:pic>
          <p:nvPicPr>
            <p:cNvPr id="4" name="object 4"/>
            <p:cNvPicPr/>
            <p:nvPr/>
          </p:nvPicPr>
          <p:blipFill>
            <a:blip r:embed="rId1" cstate="print"/>
            <a:stretch>
              <a:fillRect/>
            </a:stretch>
          </p:blipFill>
          <p:spPr>
            <a:xfrm>
              <a:off x="676655" y="2340864"/>
              <a:ext cx="8596884" cy="1347215"/>
            </a:xfrm>
            <a:prstGeom prst="rect">
              <a:avLst/>
            </a:prstGeom>
          </p:spPr>
        </p:pic>
        <p:pic>
          <p:nvPicPr>
            <p:cNvPr id="5" name="object 5"/>
            <p:cNvPicPr/>
            <p:nvPr/>
          </p:nvPicPr>
          <p:blipFill>
            <a:blip r:embed="rId2" cstate="print"/>
            <a:stretch>
              <a:fillRect/>
            </a:stretch>
          </p:blipFill>
          <p:spPr>
            <a:xfrm>
              <a:off x="1267968" y="3717036"/>
              <a:ext cx="7414259" cy="2366772"/>
            </a:xfrm>
            <a:prstGeom prst="rect">
              <a:avLst/>
            </a:prstGeom>
          </p:spPr>
        </p:pic>
      </p:grpSp>
      <p:sp>
        <p:nvSpPr>
          <p:cNvPr id="6" name="object 6"/>
          <p:cNvSpPr txBox="1">
            <a:spLocks noGrp="1"/>
          </p:cNvSpPr>
          <p:nvPr>
            <p:ph type="title"/>
          </p:nvPr>
        </p:nvSpPr>
        <p:spPr>
          <a:xfrm>
            <a:off x="756069" y="1670532"/>
            <a:ext cx="4481830" cy="482600"/>
          </a:xfrm>
          <a:prstGeom prst="rect">
            <a:avLst/>
          </a:prstGeom>
        </p:spPr>
        <p:txBody>
          <a:bodyPr vert="horz" wrap="square" lIns="0" tIns="12700" rIns="0" bIns="0" rtlCol="0">
            <a:spAutoFit/>
          </a:bodyPr>
          <a:lstStyle/>
          <a:p>
            <a:pPr marL="12700">
              <a:lnSpc>
                <a:spcPct val="100000"/>
              </a:lnSpc>
              <a:spcBef>
                <a:spcPts val="100"/>
              </a:spcBef>
            </a:pPr>
            <a:r>
              <a:rPr sz="3000" u="heavy" spc="-5" dirty="0">
                <a:solidFill>
                  <a:srgbClr val="99C93B"/>
                </a:solidFill>
                <a:uFill>
                  <a:solidFill>
                    <a:srgbClr val="99C93B"/>
                  </a:solidFill>
                </a:uFill>
                <a:hlinkClick r:id="rId3"/>
              </a:rPr>
              <a:t>Codeforces</a:t>
            </a:r>
            <a:r>
              <a:rPr sz="3000" u="heavy" spc="-40" dirty="0">
                <a:solidFill>
                  <a:srgbClr val="99C93B"/>
                </a:solidFill>
                <a:uFill>
                  <a:solidFill>
                    <a:srgbClr val="99C93B"/>
                  </a:solidFill>
                </a:uFill>
                <a:hlinkClick r:id="rId3"/>
              </a:rPr>
              <a:t> </a:t>
            </a:r>
            <a:r>
              <a:rPr sz="3000" u="heavy" dirty="0">
                <a:solidFill>
                  <a:srgbClr val="99C93B"/>
                </a:solidFill>
                <a:uFill>
                  <a:solidFill>
                    <a:srgbClr val="99C93B"/>
                  </a:solidFill>
                </a:uFill>
                <a:hlinkClick r:id="rId3"/>
              </a:rPr>
              <a:t>229C</a:t>
            </a:r>
            <a:r>
              <a:rPr sz="3000" u="heavy" spc="-85" dirty="0">
                <a:solidFill>
                  <a:srgbClr val="99C93B"/>
                </a:solidFill>
                <a:uFill>
                  <a:solidFill>
                    <a:srgbClr val="99C93B"/>
                  </a:solidFill>
                </a:uFill>
                <a:hlinkClick r:id="rId3"/>
              </a:rPr>
              <a:t> </a:t>
            </a:r>
            <a:r>
              <a:rPr sz="3000" u="heavy" spc="-40" dirty="0">
                <a:solidFill>
                  <a:srgbClr val="99C93B"/>
                </a:solidFill>
                <a:uFill>
                  <a:solidFill>
                    <a:srgbClr val="99C93B"/>
                  </a:solidFill>
                </a:uFill>
                <a:hlinkClick r:id="rId3"/>
              </a:rPr>
              <a:t>Triangles</a:t>
            </a:r>
            <a:endParaRPr sz="3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子图</a:t>
            </a:r>
            <a:endParaRPr lang="zh-CN" altLang="en-US" dirty="0"/>
          </a:p>
        </p:txBody>
      </p:sp>
      <mc:AlternateContent xmlns:mc="http://schemas.openxmlformats.org/markup-compatibility/2006">
        <mc:Choice xmlns:a14="http://schemas.microsoft.com/office/drawing/2010/main" Requires="a14">
          <p:sp>
            <p:nvSpPr>
              <p:cNvPr id="4" name="文本框 3"/>
              <p:cNvSpPr txBox="1"/>
              <p:nvPr/>
            </p:nvSpPr>
            <p:spPr>
              <a:xfrm>
                <a:off x="756068" y="1752600"/>
                <a:ext cx="6787731" cy="646331"/>
              </a:xfrm>
              <a:prstGeom prst="rect">
                <a:avLst/>
              </a:prstGeom>
              <a:noFill/>
            </p:spPr>
            <p:txBody>
              <a:bodyPr wrap="square">
                <a:spAutoFit/>
              </a:bodyPr>
              <a:lstStyle/>
              <a:p>
                <a:r>
                  <a:rPr lang="zh-CN" altLang="en-US" b="0" dirty="0">
                    <a:effectLst/>
                    <a:latin typeface="Cascadia code Italic" panose="020B0609020000020004" pitchFamily="49" charset="0"/>
                  </a:rPr>
                  <a:t>对一张图</a:t>
                </a:r>
                <a:r>
                  <a:rPr lang="en-US" altLang="zh-CN" b="0" dirty="0">
                    <a:effectLst/>
                    <a:latin typeface="Cascadia code Italic" panose="020B0609020000020004" pitchFamily="49" charset="0"/>
                  </a:rPr>
                  <a:t>G = (V, E)</a:t>
                </a:r>
                <a:r>
                  <a:rPr lang="zh-CN" altLang="en-US" b="0" dirty="0">
                    <a:effectLst/>
                    <a:latin typeface="Cascadia code Italic" panose="020B0609020000020004" pitchFamily="49" charset="0"/>
                  </a:rPr>
                  <a:t>，若存在另一张图</a:t>
                </a:r>
                <a:r>
                  <a:rPr lang="en-US" altLang="zh-CN" b="0" dirty="0">
                    <a:effectLst/>
                    <a:latin typeface="Cascadia code Italic" panose="020B0609020000020004" pitchFamily="49" charset="0"/>
                  </a:rPr>
                  <a:t>H = (V', E')</a:t>
                </a:r>
                <a:r>
                  <a:rPr lang="zh-CN" altLang="en-US" b="0" dirty="0">
                    <a:effectLst/>
                    <a:latin typeface="Cascadia code Italic" panose="020B0609020000020004" pitchFamily="49" charset="0"/>
                  </a:rPr>
                  <a:t>满足 </a:t>
                </a:r>
                <a:r>
                  <a:rPr lang="en-US" altLang="zh-CN" b="0" dirty="0">
                    <a:effectLst/>
                    <a:latin typeface="Cascadia code Italic" panose="020B0609020000020004" pitchFamily="49" charset="0"/>
                  </a:rPr>
                  <a:t>V'</a:t>
                </a:r>
                <a14:m>
                  <m:oMath xmlns:m="http://schemas.openxmlformats.org/officeDocument/2006/math">
                    <m:r>
                      <a:rPr lang="en-US" altLang="zh-CN" b="0" i="1" smtClean="0">
                        <a:effectLst/>
                        <a:latin typeface="Cambria Math" panose="02040503050406030204" pitchFamily="18" charset="0"/>
                        <a:ea typeface="Cambria Math" panose="02040503050406030204" pitchFamily="18" charset="0"/>
                      </a:rPr>
                      <m:t>⊆ </m:t>
                    </m:r>
                  </m:oMath>
                </a14:m>
                <a:r>
                  <a:rPr lang="en-US" altLang="zh-CN" b="0" dirty="0">
                    <a:effectLst/>
                    <a:latin typeface="Cascadia code Italic" panose="020B0609020000020004" pitchFamily="49" charset="0"/>
                  </a:rPr>
                  <a:t>V </a:t>
                </a:r>
                <a:r>
                  <a:rPr lang="zh-CN" altLang="en-US" b="0" dirty="0">
                    <a:effectLst/>
                    <a:latin typeface="Cascadia code Italic" panose="020B0609020000020004" pitchFamily="49" charset="0"/>
                  </a:rPr>
                  <a:t>且 </a:t>
                </a:r>
                <a:r>
                  <a:rPr lang="en-US" altLang="zh-CN" b="0" dirty="0">
                    <a:effectLst/>
                    <a:latin typeface="Cascadia code Italic" panose="020B0609020000020004" pitchFamily="49" charset="0"/>
                  </a:rPr>
                  <a:t>E'</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 </m:t>
                    </m:r>
                  </m:oMath>
                </a14:m>
                <a:r>
                  <a:rPr lang="en-US" altLang="zh-CN" b="0" dirty="0">
                    <a:effectLst/>
                    <a:latin typeface="Cascadia code Italic" panose="020B0609020000020004" pitchFamily="49" charset="0"/>
                  </a:rPr>
                  <a:t>E</a:t>
                </a:r>
                <a:r>
                  <a:rPr lang="zh-CN" altLang="en-US" b="0" dirty="0">
                    <a:effectLst/>
                    <a:latin typeface="Cascadia code Italic" panose="020B0609020000020004" pitchFamily="49" charset="0"/>
                  </a:rPr>
                  <a:t>，则称</a:t>
                </a:r>
                <a:r>
                  <a:rPr lang="en-US" altLang="zh-CN" b="0" dirty="0">
                    <a:effectLst/>
                    <a:latin typeface="Cascadia code Italic" panose="020B0609020000020004" pitchFamily="49" charset="0"/>
                  </a:rPr>
                  <a:t>H</a:t>
                </a:r>
                <a:r>
                  <a:rPr lang="zh-CN" altLang="en-US" b="0" dirty="0">
                    <a:effectLst/>
                    <a:latin typeface="Cascadia code Italic" panose="020B0609020000020004" pitchFamily="49" charset="0"/>
                  </a:rPr>
                  <a:t>是</a:t>
                </a:r>
                <a:r>
                  <a:rPr lang="en-US" altLang="zh-CN" b="0" dirty="0">
                    <a:effectLst/>
                    <a:latin typeface="Cascadia code Italic" panose="020B0609020000020004" pitchFamily="49" charset="0"/>
                  </a:rPr>
                  <a:t>G</a:t>
                </a:r>
                <a:r>
                  <a:rPr lang="zh-CN" altLang="en-US" b="0" dirty="0">
                    <a:effectLst/>
                    <a:latin typeface="Cascadia code Italic" panose="020B0609020000020004" pitchFamily="49" charset="0"/>
                  </a:rPr>
                  <a:t>的子图</a:t>
                </a:r>
                <a:r>
                  <a:rPr lang="en-US" altLang="zh-CN" b="0" dirty="0">
                    <a:effectLst/>
                    <a:latin typeface="Cascadia code Italic" panose="020B0609020000020004" pitchFamily="49" charset="0"/>
                  </a:rPr>
                  <a:t>(subgraph)</a:t>
                </a:r>
                <a:r>
                  <a:rPr lang="zh-CN" altLang="en-US" b="0" dirty="0">
                    <a:effectLst/>
                    <a:latin typeface="Cascadia code Italic" panose="020B0609020000020004" pitchFamily="49" charset="0"/>
                  </a:rPr>
                  <a:t>，记作 </a:t>
                </a:r>
                <a:r>
                  <a:rPr lang="en-US" altLang="zh-CN" b="0" dirty="0">
                    <a:effectLst/>
                    <a:latin typeface="Cascadia code Italic" panose="020B0609020000020004" pitchFamily="49" charset="0"/>
                  </a:rPr>
                  <a:t>H </a:t>
                </a:r>
                <a14:m>
                  <m:oMath xmlns:m="http://schemas.openxmlformats.org/officeDocument/2006/math">
                    <m:r>
                      <a:rPr lang="en-US" altLang="zh-CN" i="1">
                        <a:latin typeface="Cambria Math" panose="02040503050406030204" pitchFamily="18" charset="0"/>
                        <a:ea typeface="Cambria Math" panose="02040503050406030204" pitchFamily="18" charset="0"/>
                      </a:rPr>
                      <m:t>⊆ </m:t>
                    </m:r>
                  </m:oMath>
                </a14:m>
                <a:r>
                  <a:rPr lang="en-US" altLang="zh-CN" b="0" dirty="0">
                    <a:effectLst/>
                    <a:latin typeface="Cascadia code Italic" panose="020B0609020000020004" pitchFamily="49" charset="0"/>
                  </a:rPr>
                  <a:t>G</a:t>
                </a:r>
                <a:endParaRPr lang="en-US" altLang="zh-CN" b="0" dirty="0">
                  <a:effectLst/>
                  <a:latin typeface="Cascadia code Italic" panose="020B0609020000020004" pitchFamily="49"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756068" y="1752600"/>
                <a:ext cx="6787731" cy="646331"/>
              </a:xfrm>
              <a:prstGeom prst="rect">
                <a:avLst/>
              </a:prstGeom>
              <a:blipFill rotWithShape="1">
                <a:blip r:embed="rId1"/>
                <a:stretch>
                  <a:fillRect l="-6" t="-2554" r="9" b="8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731486" y="2895600"/>
                <a:ext cx="7955313" cy="1200329"/>
              </a:xfrm>
              <a:prstGeom prst="rect">
                <a:avLst/>
              </a:prstGeom>
              <a:noFill/>
            </p:spPr>
            <p:txBody>
              <a:bodyPr wrap="square">
                <a:spAutoFit/>
              </a:bodyPr>
              <a:lstStyle/>
              <a:p>
                <a:r>
                  <a:rPr lang="zh-CN" altLang="en-US" b="0" dirty="0">
                    <a:effectLst/>
                    <a:latin typeface="Cascadia code Italic" panose="020B0609020000020004" pitchFamily="49" charset="0"/>
                  </a:rPr>
                  <a:t>若对 </a:t>
                </a:r>
                <a:r>
                  <a:rPr lang="en-US" altLang="zh-CN" b="0" dirty="0">
                    <a:effectLst/>
                    <a:latin typeface="Cascadia code Italic" panose="020B0609020000020004" pitchFamily="49" charset="0"/>
                  </a:rPr>
                  <a:t>H </a:t>
                </a:r>
                <a14:m>
                  <m:oMath xmlns:m="http://schemas.openxmlformats.org/officeDocument/2006/math">
                    <m:r>
                      <a:rPr lang="en-US" altLang="zh-CN" b="0" i="1" smtClean="0">
                        <a:effectLst/>
                        <a:latin typeface="Cambria Math" panose="02040503050406030204" pitchFamily="18" charset="0"/>
                        <a:ea typeface="Cambria Math" panose="02040503050406030204" pitchFamily="18" charset="0"/>
                      </a:rPr>
                      <m:t>⊆ </m:t>
                    </m:r>
                  </m:oMath>
                </a14:m>
                <a:r>
                  <a:rPr lang="en-US" altLang="zh-CN" b="0" dirty="0">
                    <a:effectLst/>
                    <a:latin typeface="Cascadia code Italic" panose="020B0609020000020004" pitchFamily="49" charset="0"/>
                  </a:rPr>
                  <a:t>G</a:t>
                </a:r>
                <a:r>
                  <a:rPr lang="zh-CN" altLang="en-US" b="0" dirty="0">
                    <a:effectLst/>
                    <a:latin typeface="Cascadia code Italic" panose="020B0609020000020004" pitchFamily="49" charset="0"/>
                  </a:rPr>
                  <a:t>，满足 </a:t>
                </a:r>
                <a14:m>
                  <m:oMath xmlns:m="http://schemas.openxmlformats.org/officeDocument/2006/math">
                    <m:r>
                      <a:rPr lang="zh-CN" altLang="en-US" b="0" i="1" smtClean="0">
                        <a:effectLst/>
                        <a:latin typeface="Cambria Math" panose="02040503050406030204" pitchFamily="18" charset="0"/>
                      </a:rPr>
                      <m:t>∀</m:t>
                    </m:r>
                  </m:oMath>
                </a14:m>
                <a:r>
                  <a:rPr lang="en-US" altLang="zh-CN" b="0" dirty="0">
                    <a:effectLst/>
                    <a:latin typeface="Cascadia code Italic" panose="020B0609020000020004" pitchFamily="49" charset="0"/>
                  </a:rPr>
                  <a:t>u, v</a:t>
                </a:r>
                <a14:m>
                  <m:oMath xmlns:m="http://schemas.openxmlformats.org/officeDocument/2006/math">
                    <m:r>
                      <a:rPr lang="en-US" altLang="zh-CN"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 </m:t>
                    </m:r>
                  </m:oMath>
                </a14:m>
                <a:r>
                  <a:rPr lang="en-US" altLang="zh-CN" b="0" dirty="0">
                    <a:effectLst/>
                    <a:latin typeface="Cascadia code Italic" panose="020B0609020000020004" pitchFamily="49" charset="0"/>
                  </a:rPr>
                  <a:t>V‘</a:t>
                </a:r>
                <a:r>
                  <a:rPr lang="zh-CN" altLang="en-US" b="0" dirty="0">
                    <a:effectLst/>
                    <a:latin typeface="Cascadia code Italic" panose="020B0609020000020004" pitchFamily="49" charset="0"/>
                  </a:rPr>
                  <a:t>，只要 </a:t>
                </a:r>
                <a:r>
                  <a:rPr lang="en-US" altLang="zh-CN" b="0" dirty="0">
                    <a:effectLst/>
                    <a:latin typeface="Cascadia code Italic" panose="020B0609020000020004" pitchFamily="49" charset="0"/>
                  </a:rPr>
                  <a:t>(u, v) </a:t>
                </a:r>
                <a14:m>
                  <m:oMath xmlns:m="http://schemas.openxmlformats.org/officeDocument/2006/math">
                    <m:r>
                      <a:rPr lang="en-US" altLang="zh-CN"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 </m:t>
                    </m:r>
                  </m:oMath>
                </a14:m>
                <a:r>
                  <a:rPr lang="en-US" altLang="zh-CN" b="0" dirty="0">
                    <a:effectLst/>
                    <a:latin typeface="Cascadia code Italic" panose="020B0609020000020004" pitchFamily="49" charset="0"/>
                  </a:rPr>
                  <a:t>E</a:t>
                </a:r>
                <a:r>
                  <a:rPr lang="zh-CN" altLang="en-US" b="0" dirty="0">
                    <a:effectLst/>
                    <a:latin typeface="Cascadia code Italic" panose="020B0609020000020004" pitchFamily="49" charset="0"/>
                  </a:rPr>
                  <a:t>，均有 </a:t>
                </a:r>
                <a:r>
                  <a:rPr lang="en-US" altLang="zh-CN" b="0" dirty="0">
                    <a:effectLst/>
                    <a:latin typeface="Cascadia code Italic" panose="020B0609020000020004" pitchFamily="49" charset="0"/>
                  </a:rPr>
                  <a:t>(u, v) </a:t>
                </a:r>
                <a14:m>
                  <m:oMath xmlns:m="http://schemas.openxmlformats.org/officeDocument/2006/math">
                    <m:r>
                      <a:rPr lang="en-US" altLang="zh-CN" dirty="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 </m:t>
                    </m:r>
                  </m:oMath>
                </a14:m>
                <a:r>
                  <a:rPr lang="en-US" altLang="zh-CN" b="0" dirty="0">
                    <a:effectLst/>
                    <a:latin typeface="Cascadia code Italic" panose="020B0609020000020004" pitchFamily="49" charset="0"/>
                  </a:rPr>
                  <a:t>E’</a:t>
                </a:r>
                <a:r>
                  <a:rPr lang="zh-CN" altLang="en-US" b="0" dirty="0">
                    <a:effectLst/>
                    <a:latin typeface="Cascadia code Italic" panose="020B0609020000020004" pitchFamily="49" charset="0"/>
                  </a:rPr>
                  <a:t>，则称</a:t>
                </a:r>
                <a:r>
                  <a:rPr lang="en-US" altLang="zh-CN" b="0" dirty="0">
                    <a:effectLst/>
                    <a:latin typeface="Cascadia code Italic" panose="020B0609020000020004" pitchFamily="49" charset="0"/>
                  </a:rPr>
                  <a:t>H</a:t>
                </a:r>
                <a:r>
                  <a:rPr lang="zh-CN" altLang="en-US" b="0" dirty="0">
                    <a:effectLst/>
                    <a:latin typeface="Cascadia code Italic" panose="020B0609020000020004" pitchFamily="49" charset="0"/>
                  </a:rPr>
                  <a:t>是</a:t>
                </a:r>
                <a:r>
                  <a:rPr lang="en-US" altLang="zh-CN" b="0" dirty="0">
                    <a:effectLst/>
                    <a:latin typeface="Cascadia code Italic" panose="020B0609020000020004" pitchFamily="49" charset="0"/>
                  </a:rPr>
                  <a:t>G</a:t>
                </a:r>
                <a:r>
                  <a:rPr lang="zh-CN" altLang="en-US" b="0" dirty="0">
                    <a:effectLst/>
                    <a:latin typeface="Cascadia code Italic" panose="020B0609020000020004" pitchFamily="49" charset="0"/>
                  </a:rPr>
                  <a:t>的 导出子图</a:t>
                </a:r>
                <a:r>
                  <a:rPr lang="en-US" altLang="zh-CN" b="0" dirty="0">
                    <a:effectLst/>
                    <a:latin typeface="Cascadia code Italic" panose="020B0609020000020004" pitchFamily="49" charset="0"/>
                  </a:rPr>
                  <a:t>/</a:t>
                </a:r>
                <a:r>
                  <a:rPr lang="zh-CN" altLang="en-US" b="0" dirty="0">
                    <a:effectLst/>
                    <a:latin typeface="Cascadia code Italic" panose="020B0609020000020004" pitchFamily="49" charset="0"/>
                  </a:rPr>
                  <a:t>诱导子图 </a:t>
                </a:r>
                <a:r>
                  <a:rPr lang="en-US" altLang="zh-CN" b="0" dirty="0">
                    <a:effectLst/>
                    <a:latin typeface="Cascadia code Italic" panose="020B0609020000020004" pitchFamily="49" charset="0"/>
                  </a:rPr>
                  <a:t>(induced subgraph)</a:t>
                </a:r>
                <a:r>
                  <a:rPr lang="zh-CN" altLang="en-US" b="0" dirty="0">
                    <a:effectLst/>
                    <a:latin typeface="Cascadia code Italic" panose="020B0609020000020004" pitchFamily="49" charset="0"/>
                  </a:rPr>
                  <a:t>。翻译过来就是，对于子图来说，</a:t>
                </a:r>
                <a:r>
                  <a:rPr lang="en-US" altLang="zh-CN" b="0" dirty="0">
                    <a:effectLst/>
                    <a:latin typeface="Cascadia code Italic" panose="020B0609020000020004" pitchFamily="49" charset="0"/>
                  </a:rPr>
                  <a:t>H</a:t>
                </a:r>
                <a:r>
                  <a:rPr lang="zh-CN" altLang="en-US" b="0" dirty="0">
                    <a:effectLst/>
                    <a:latin typeface="Cascadia code Italic" panose="020B0609020000020004" pitchFamily="49" charset="0"/>
                  </a:rPr>
                  <a:t>中点集和边集都是</a:t>
                </a:r>
                <a:r>
                  <a:rPr lang="en-US" altLang="zh-CN" b="0" dirty="0">
                    <a:effectLst/>
                    <a:latin typeface="Cascadia code Italic" panose="020B0609020000020004" pitchFamily="49" charset="0"/>
                  </a:rPr>
                  <a:t>G</a:t>
                </a:r>
                <a:r>
                  <a:rPr lang="zh-CN" altLang="en-US" b="0" dirty="0">
                    <a:effectLst/>
                    <a:latin typeface="Cascadia code Italic" panose="020B0609020000020004" pitchFamily="49" charset="0"/>
                  </a:rPr>
                  <a:t>的子集，而在导出子图中，仅有点集是</a:t>
                </a:r>
                <a:r>
                  <a:rPr lang="en-US" altLang="zh-CN" b="0" dirty="0">
                    <a:effectLst/>
                    <a:latin typeface="Cascadia code Italic" panose="020B0609020000020004" pitchFamily="49" charset="0"/>
                  </a:rPr>
                  <a:t>G</a:t>
                </a:r>
                <a:r>
                  <a:rPr lang="zh-CN" altLang="en-US" b="0" dirty="0">
                    <a:effectLst/>
                    <a:latin typeface="Cascadia code Italic" panose="020B0609020000020004" pitchFamily="49" charset="0"/>
                  </a:rPr>
                  <a:t>的子集，也就是所有与被选出来的点</a:t>
                </a:r>
                <a:r>
                  <a:rPr lang="en-US" altLang="zh-CN" b="0" dirty="0">
                    <a:effectLst/>
                    <a:latin typeface="Cascadia code Italic" panose="020B0609020000020004" pitchFamily="49" charset="0"/>
                  </a:rPr>
                  <a:t>V</a:t>
                </a:r>
                <a:r>
                  <a:rPr lang="zh-CN" altLang="en-US" b="0" dirty="0">
                    <a:effectLst/>
                    <a:latin typeface="Cascadia code Italic" panose="020B0609020000020004" pitchFamily="49" charset="0"/>
                  </a:rPr>
                  <a:t>相连的边都要被加入到导出子图中</a:t>
                </a:r>
                <a:endParaRPr lang="en-US" altLang="zh-CN" b="0" dirty="0">
                  <a:effectLst/>
                  <a:latin typeface="Cascadia code Italic" panose="020B0609020000020004" pitchFamily="49"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731486" y="2895600"/>
                <a:ext cx="7955313" cy="1200329"/>
              </a:xfrm>
              <a:prstGeom prst="rect">
                <a:avLst/>
              </a:prstGeom>
              <a:blipFill rotWithShape="1">
                <a:blip r:embed="rId2"/>
                <a:stretch>
                  <a:fillRect l="-8" t="-1375" r="8" b="1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731486" y="4495800"/>
                <a:ext cx="7421914" cy="369332"/>
              </a:xfrm>
              <a:prstGeom prst="rect">
                <a:avLst/>
              </a:prstGeom>
              <a:noFill/>
            </p:spPr>
            <p:txBody>
              <a:bodyPr wrap="square">
                <a:spAutoFit/>
              </a:bodyPr>
              <a:lstStyle/>
              <a:p>
                <a:r>
                  <a:rPr lang="zh-CN" altLang="en-US" b="0" dirty="0">
                    <a:effectLst/>
                    <a:latin typeface="Cascadia code Italic" panose="020B0609020000020004" pitchFamily="49" charset="0"/>
                  </a:rPr>
                  <a:t>若 </a:t>
                </a:r>
                <a:r>
                  <a:rPr lang="en-US" altLang="zh-CN" b="0" dirty="0">
                    <a:effectLst/>
                    <a:latin typeface="Cascadia code Italic" panose="020B0609020000020004" pitchFamily="49" charset="0"/>
                  </a:rPr>
                  <a:t>H </a:t>
                </a:r>
                <a14:m>
                  <m:oMath xmlns:m="http://schemas.openxmlformats.org/officeDocument/2006/math">
                    <m:r>
                      <a:rPr lang="en-US" altLang="zh-CN" b="0" i="1" smtClean="0">
                        <a:effectLst/>
                        <a:latin typeface="Cambria Math" panose="02040503050406030204" pitchFamily="18" charset="0"/>
                        <a:ea typeface="Cambria Math" panose="02040503050406030204" pitchFamily="18" charset="0"/>
                      </a:rPr>
                      <m:t>⊆ </m:t>
                    </m:r>
                  </m:oMath>
                </a14:m>
                <a:r>
                  <a:rPr lang="en-US" altLang="zh-CN" b="0" dirty="0">
                    <a:effectLst/>
                    <a:latin typeface="Cascadia code Italic" panose="020B0609020000020004" pitchFamily="49" charset="0"/>
                  </a:rPr>
                  <a:t>G </a:t>
                </a:r>
                <a:r>
                  <a:rPr lang="zh-CN" altLang="en-US" b="0" dirty="0">
                    <a:effectLst/>
                    <a:latin typeface="Cascadia code Italic" panose="020B0609020000020004" pitchFamily="49" charset="0"/>
                  </a:rPr>
                  <a:t>满足 </a:t>
                </a:r>
                <a:r>
                  <a:rPr lang="en-US" altLang="zh-CN" b="0" dirty="0">
                    <a:effectLst/>
                    <a:latin typeface="Cascadia code Italic" panose="020B0609020000020004" pitchFamily="49" charset="0"/>
                  </a:rPr>
                  <a:t>V' = V</a:t>
                </a:r>
                <a:r>
                  <a:rPr lang="zh-CN" altLang="en-US" b="0" dirty="0">
                    <a:effectLst/>
                    <a:latin typeface="Cascadia code Italic" panose="020B0609020000020004" pitchFamily="49" charset="0"/>
                  </a:rPr>
                  <a:t>，则称</a:t>
                </a:r>
                <a:r>
                  <a:rPr lang="en-US" altLang="zh-CN" b="0" dirty="0">
                    <a:effectLst/>
                    <a:latin typeface="Cascadia code Italic" panose="020B0609020000020004" pitchFamily="49" charset="0"/>
                  </a:rPr>
                  <a:t>H</a:t>
                </a:r>
                <a:r>
                  <a:rPr lang="zh-CN" altLang="en-US" b="0" dirty="0">
                    <a:effectLst/>
                    <a:latin typeface="Cascadia code Italic" panose="020B0609020000020004" pitchFamily="49" charset="0"/>
                  </a:rPr>
                  <a:t>为</a:t>
                </a:r>
                <a:r>
                  <a:rPr lang="en-US" altLang="zh-CN" b="0" dirty="0">
                    <a:effectLst/>
                    <a:latin typeface="Cascadia code Italic" panose="020B0609020000020004" pitchFamily="49" charset="0"/>
                  </a:rPr>
                  <a:t>G</a:t>
                </a:r>
                <a:r>
                  <a:rPr lang="zh-CN" altLang="en-US" b="0" dirty="0">
                    <a:effectLst/>
                    <a:latin typeface="Cascadia code Italic" panose="020B0609020000020004" pitchFamily="49" charset="0"/>
                  </a:rPr>
                  <a:t>的生成子图</a:t>
                </a:r>
                <a:r>
                  <a:rPr lang="en-US" altLang="zh-CN" b="0" dirty="0">
                    <a:effectLst/>
                    <a:latin typeface="Cascadia code Italic" panose="020B0609020000020004" pitchFamily="49" charset="0"/>
                  </a:rPr>
                  <a:t>/</a:t>
                </a:r>
                <a:r>
                  <a:rPr lang="zh-CN" altLang="en-US" b="0" dirty="0">
                    <a:effectLst/>
                    <a:latin typeface="Cascadia code Italic" panose="020B0609020000020004" pitchFamily="49" charset="0"/>
                  </a:rPr>
                  <a:t>支撑子图</a:t>
                </a:r>
                <a:endParaRPr lang="zh-CN" altLang="en-US" b="0" dirty="0">
                  <a:effectLst/>
                  <a:latin typeface="Cascadia code Italic" panose="020B0609020000020004" pitchFamily="49" charset="0"/>
                </a:endParaRPr>
              </a:p>
            </p:txBody>
          </p:sp>
        </mc:Choice>
        <mc:Fallback>
          <p:sp>
            <p:nvSpPr>
              <p:cNvPr id="8" name="文本框 7"/>
              <p:cNvSpPr txBox="1">
                <a:spLocks noRot="1" noChangeAspect="1" noMove="1" noResize="1" noEditPoints="1" noAdjustHandles="1" noChangeArrowheads="1" noChangeShapeType="1" noTextEdit="1"/>
              </p:cNvSpPr>
              <p:nvPr/>
            </p:nvSpPr>
            <p:spPr>
              <a:xfrm>
                <a:off x="731486" y="4495800"/>
                <a:ext cx="7421914" cy="369332"/>
              </a:xfrm>
              <a:prstGeom prst="rect">
                <a:avLst/>
              </a:prstGeom>
              <a:blipFill rotWithShape="1">
                <a:blip r:embed="rId3"/>
                <a:stretch>
                  <a:fillRect l="-8" t="-4470" b="107"/>
                </a:stretch>
              </a:blipFill>
            </p:spPr>
            <p:txBody>
              <a:bodyPr/>
              <a:lstStyle/>
              <a:p>
                <a:r>
                  <a:rPr lang="zh-CN" altLang="en-US">
                    <a:noFill/>
                  </a:rPr>
                  <a:t> </a:t>
                </a:r>
              </a:p>
            </p:txBody>
          </p:sp>
        </mc:Fallback>
      </mc:AlternateContent>
      <p:sp>
        <p:nvSpPr>
          <p:cNvPr id="10" name="文本框 9"/>
          <p:cNvSpPr txBox="1"/>
          <p:nvPr/>
        </p:nvSpPr>
        <p:spPr>
          <a:xfrm>
            <a:off x="731485" y="5145356"/>
            <a:ext cx="7955313" cy="646331"/>
          </a:xfrm>
          <a:prstGeom prst="rect">
            <a:avLst/>
          </a:prstGeom>
          <a:noFill/>
        </p:spPr>
        <p:txBody>
          <a:bodyPr wrap="square">
            <a:spAutoFit/>
          </a:bodyPr>
          <a:lstStyle/>
          <a:p>
            <a:r>
              <a:rPr lang="zh-CN" altLang="en-US" b="0" dirty="0">
                <a:effectLst/>
                <a:latin typeface="Cascadia code Italic" panose="020B0609020000020004" pitchFamily="49" charset="0"/>
              </a:rPr>
              <a:t>显然，</a:t>
            </a:r>
            <a:r>
              <a:rPr lang="en-US" altLang="zh-CN" b="0" dirty="0">
                <a:effectLst/>
                <a:latin typeface="Cascadia code Italic" panose="020B0609020000020004" pitchFamily="49" charset="0"/>
              </a:rPr>
              <a:t>G</a:t>
            </a:r>
            <a:r>
              <a:rPr lang="zh-CN" altLang="en-US" b="0" dirty="0">
                <a:effectLst/>
                <a:latin typeface="Cascadia code Italic" panose="020B0609020000020004" pitchFamily="49" charset="0"/>
              </a:rPr>
              <a:t>是自身的子图，支撑子图，导出子图；无边图是</a:t>
            </a:r>
            <a:r>
              <a:rPr lang="en-US" altLang="zh-CN" b="0" dirty="0">
                <a:effectLst/>
                <a:latin typeface="Cascadia code Italic" panose="020B0609020000020004" pitchFamily="49" charset="0"/>
              </a:rPr>
              <a:t>G</a:t>
            </a:r>
            <a:r>
              <a:rPr lang="zh-CN" altLang="en-US" b="0" dirty="0">
                <a:effectLst/>
                <a:latin typeface="Cascadia code Italic" panose="020B0609020000020004" pitchFamily="49" charset="0"/>
              </a:rPr>
              <a:t>的支撑子图。原图</a:t>
            </a:r>
            <a:r>
              <a:rPr lang="en-US" altLang="zh-CN" b="0" dirty="0">
                <a:effectLst/>
                <a:latin typeface="Cascadia code Italic" panose="020B0609020000020004" pitchFamily="49" charset="0"/>
              </a:rPr>
              <a:t>G</a:t>
            </a:r>
            <a:r>
              <a:rPr lang="zh-CN" altLang="en-US" b="0" dirty="0">
                <a:effectLst/>
                <a:latin typeface="Cascadia code Italic" panose="020B0609020000020004" pitchFamily="49" charset="0"/>
              </a:rPr>
              <a:t>和无边图都是</a:t>
            </a:r>
            <a:r>
              <a:rPr lang="en-US" altLang="zh-CN" b="0" dirty="0">
                <a:effectLst/>
                <a:latin typeface="Cascadia code Italic" panose="020B0609020000020004" pitchFamily="49" charset="0"/>
              </a:rPr>
              <a:t>G</a:t>
            </a:r>
            <a:r>
              <a:rPr lang="zh-CN" altLang="en-US" b="0" dirty="0">
                <a:effectLst/>
                <a:latin typeface="Cascadia code Italic" panose="020B0609020000020004" pitchFamily="49" charset="0"/>
              </a:rPr>
              <a:t>的平凡子图</a:t>
            </a:r>
            <a:endParaRPr lang="zh-CN" altLang="en-US" b="0" dirty="0">
              <a:effectLst/>
              <a:latin typeface="Cascadia code Italic" panose="020B0609020000020004"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连通性</a:t>
            </a:r>
            <a:endParaRPr lang="zh-CN" altLang="en-US" dirty="0"/>
          </a:p>
        </p:txBody>
      </p:sp>
      <p:sp>
        <p:nvSpPr>
          <p:cNvPr id="3" name="文本框 2"/>
          <p:cNvSpPr txBox="1"/>
          <p:nvPr/>
        </p:nvSpPr>
        <p:spPr>
          <a:xfrm>
            <a:off x="838200" y="1828800"/>
            <a:ext cx="6781800" cy="645160"/>
          </a:xfrm>
          <a:prstGeom prst="rect">
            <a:avLst/>
          </a:prstGeom>
          <a:noFill/>
        </p:spPr>
        <p:txBody>
          <a:bodyPr wrap="square" rtlCol="0">
            <a:spAutoFit/>
          </a:bodyPr>
          <a:lstStyle/>
          <a:p>
            <a:r>
              <a:rPr lang="zh-CN" altLang="en-US" dirty="0"/>
              <a:t>无向图的连通性由并查集易求（并查集等下讲），这里我们</a:t>
            </a:r>
            <a:r>
              <a:rPr lang="zh-CN" altLang="en-US" dirty="0"/>
              <a:t>基本只讨论有向图的连通性</a:t>
            </a:r>
            <a:endParaRPr lang="zh-CN" altLang="en-US" dirty="0"/>
          </a:p>
        </p:txBody>
      </p:sp>
      <mc:AlternateContent xmlns:mc="http://schemas.openxmlformats.org/markup-compatibility/2006">
        <mc:Choice xmlns:a14="http://schemas.microsoft.com/office/drawing/2010/main" Requires="a14">
          <p:sp>
            <p:nvSpPr>
              <p:cNvPr id="5" name="文本框 4"/>
              <p:cNvSpPr txBox="1"/>
              <p:nvPr/>
            </p:nvSpPr>
            <p:spPr>
              <a:xfrm>
                <a:off x="838200" y="2667000"/>
                <a:ext cx="8534400" cy="923330"/>
              </a:xfrm>
              <a:prstGeom prst="rect">
                <a:avLst/>
              </a:prstGeom>
              <a:noFill/>
            </p:spPr>
            <p:txBody>
              <a:bodyPr wrap="square">
                <a:spAutoFit/>
              </a:bodyPr>
              <a:lstStyle/>
              <a:p>
                <a:r>
                  <a:rPr lang="zh-CN" altLang="en-US" b="0" dirty="0">
                    <a:effectLst/>
                    <a:latin typeface="Cascadia code Italic" panose="020B0609020000020004" pitchFamily="49" charset="0"/>
                  </a:rPr>
                  <a:t>对于一张有向图 </a:t>
                </a:r>
                <a:r>
                  <a:rPr lang="en-US" altLang="zh-CN" b="0" dirty="0">
                    <a:effectLst/>
                    <a:latin typeface="Cascadia code Italic" panose="020B0609020000020004" pitchFamily="49" charset="0"/>
                  </a:rPr>
                  <a:t>G = (V, E)</a:t>
                </a:r>
                <a:r>
                  <a:rPr lang="zh-CN" altLang="en-US" b="0" dirty="0">
                    <a:effectLst/>
                    <a:latin typeface="Cascadia code Italic" panose="020B0609020000020004" pitchFamily="49" charset="0"/>
                  </a:rPr>
                  <a:t>，对于</a:t>
                </a:r>
                <a:r>
                  <a:rPr lang="en-US" altLang="zh-CN" b="0" dirty="0">
                    <a:effectLst/>
                    <a:latin typeface="Cascadia code Italic" panose="020B0609020000020004" pitchFamily="49" charset="0"/>
                  </a:rPr>
                  <a:t>u, v </a:t>
                </a:r>
                <a14:m>
                  <m:oMath xmlns:m="http://schemas.openxmlformats.org/officeDocument/2006/math">
                    <m:r>
                      <a:rPr lang="en-US" altLang="zh-CN"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ea typeface="Cambria Math" panose="02040503050406030204" pitchFamily="18" charset="0"/>
                      </a:rPr>
                      <m:t> </m:t>
                    </m:r>
                  </m:oMath>
                </a14:m>
                <a:r>
                  <a:rPr lang="en-US" altLang="zh-CN" b="0" dirty="0">
                    <a:effectLst/>
                    <a:latin typeface="Cascadia code Italic" panose="020B0609020000020004" pitchFamily="49" charset="0"/>
                  </a:rPr>
                  <a:t>V</a:t>
                </a:r>
                <a:r>
                  <a:rPr lang="zh-CN" altLang="en-US" b="0" dirty="0">
                    <a:effectLst/>
                    <a:latin typeface="Cascadia code Italic" panose="020B0609020000020004" pitchFamily="49" charset="0"/>
                  </a:rPr>
                  <a:t>，若存在一条途径使得 </a:t>
                </a:r>
                <a:r>
                  <a:rPr lang="en-US" altLang="zh-CN" b="0" dirty="0">
                    <a:effectLst/>
                    <a:latin typeface="Cascadia code Italic" panose="020B0609020000020004" pitchFamily="49" charset="0"/>
                  </a:rPr>
                  <a:t>v_0 = u, </a:t>
                </a:r>
                <a:r>
                  <a:rPr lang="en-US" altLang="zh-CN" b="0" dirty="0" err="1">
                    <a:effectLst/>
                    <a:latin typeface="Cascadia code Italic" panose="020B0609020000020004" pitchFamily="49" charset="0"/>
                  </a:rPr>
                  <a:t>v_k</a:t>
                </a:r>
                <a:r>
                  <a:rPr lang="en-US" altLang="zh-CN" b="0" dirty="0">
                    <a:effectLst/>
                    <a:latin typeface="Cascadia code Italic" panose="020B0609020000020004" pitchFamily="49" charset="0"/>
                  </a:rPr>
                  <a:t> = v</a:t>
                </a:r>
                <a:r>
                  <a:rPr lang="zh-CN" altLang="en-US" b="0" dirty="0">
                    <a:effectLst/>
                    <a:latin typeface="Cascadia code Italic" panose="020B0609020000020004" pitchFamily="49" charset="0"/>
                  </a:rPr>
                  <a:t>，则称</a:t>
                </a:r>
                <a:r>
                  <a:rPr lang="en-US" altLang="zh-CN" b="0" dirty="0">
                    <a:effectLst/>
                    <a:latin typeface="Cascadia code Italic" panose="020B0609020000020004" pitchFamily="49" charset="0"/>
                  </a:rPr>
                  <a:t>u</a:t>
                </a:r>
                <a:r>
                  <a:rPr lang="zh-CN" altLang="en-US" b="0" dirty="0">
                    <a:effectLst/>
                    <a:latin typeface="Cascadia code Italic" panose="020B0609020000020004" pitchFamily="49" charset="0"/>
                  </a:rPr>
                  <a:t>可达</a:t>
                </a:r>
                <a:r>
                  <a:rPr lang="en-US" altLang="zh-CN" b="0" dirty="0">
                    <a:effectLst/>
                    <a:latin typeface="Cascadia code Italic" panose="020B0609020000020004" pitchFamily="49" charset="0"/>
                  </a:rPr>
                  <a:t>v</a:t>
                </a:r>
                <a:r>
                  <a:rPr lang="zh-CN" altLang="en-US" b="0" dirty="0">
                    <a:effectLst/>
                    <a:latin typeface="Cascadia code Italic" panose="020B0609020000020004" pitchFamily="49" charset="0"/>
                  </a:rPr>
                  <a:t>。由定义，任意一个顶点可达自身，任意一条边的起点可达终点。（无向图中的连通也可以视作双向可达。）</a:t>
                </a:r>
                <a:endParaRPr lang="zh-CN" altLang="en-US" b="0" dirty="0">
                  <a:effectLst/>
                  <a:latin typeface="Cascadia code Italic" panose="020B0609020000020004" pitchFamily="49"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838200" y="2667000"/>
                <a:ext cx="8534400" cy="923330"/>
              </a:xfrm>
              <a:prstGeom prst="rect">
                <a:avLst/>
              </a:prstGeom>
              <a:blipFill rotWithShape="1">
                <a:blip r:embed="rId1"/>
                <a:stretch>
                  <a:fillRect t="-1788" b="4"/>
                </a:stretch>
              </a:blipFill>
            </p:spPr>
            <p:txBody>
              <a:bodyPr/>
              <a:lstStyle/>
              <a:p>
                <a:r>
                  <a:rPr lang="zh-CN" altLang="en-US">
                    <a:noFill/>
                  </a:rPr>
                  <a:t> </a:t>
                </a:r>
              </a:p>
            </p:txBody>
          </p:sp>
        </mc:Fallback>
      </mc:AlternateContent>
      <p:sp>
        <p:nvSpPr>
          <p:cNvPr id="7" name="文本框 6"/>
          <p:cNvSpPr txBox="1"/>
          <p:nvPr/>
        </p:nvSpPr>
        <p:spPr>
          <a:xfrm>
            <a:off x="848032" y="3886200"/>
            <a:ext cx="7914968" cy="369332"/>
          </a:xfrm>
          <a:prstGeom prst="rect">
            <a:avLst/>
          </a:prstGeom>
          <a:noFill/>
        </p:spPr>
        <p:txBody>
          <a:bodyPr wrap="square">
            <a:spAutoFit/>
          </a:bodyPr>
          <a:lstStyle/>
          <a:p>
            <a:r>
              <a:rPr lang="zh-CN" altLang="en-US" b="0" i="0" dirty="0">
                <a:effectLst/>
                <a:latin typeface="Fira Sans" panose="020F0502020204030204" pitchFamily="34" charset="0"/>
              </a:rPr>
              <a:t>若一张有向图的节点两两互相可达，则称这张图是</a:t>
            </a:r>
            <a:r>
              <a:rPr lang="zh-CN" altLang="en-US" b="1" i="0" dirty="0">
                <a:effectLst/>
                <a:latin typeface="Fira Sans" panose="020F0502020204030204" pitchFamily="34" charset="0"/>
              </a:rPr>
              <a:t>强连通的</a:t>
            </a:r>
            <a:r>
              <a:rPr lang="en-US" altLang="zh-CN" b="1" dirty="0">
                <a:latin typeface="Fira Sans" panose="020F0502020204030204" pitchFamily="34" charset="0"/>
              </a:rPr>
              <a:t>(</a:t>
            </a:r>
            <a:r>
              <a:rPr lang="zh-CN" altLang="en-US" b="1" dirty="0">
                <a:latin typeface="Fira Sans" panose="020F0502020204030204" pitchFamily="34" charset="0"/>
              </a:rPr>
              <a:t>后面可能要考</a:t>
            </a:r>
            <a:r>
              <a:rPr lang="en-US" altLang="zh-CN" b="1" dirty="0">
                <a:latin typeface="Fira Sans" panose="020F0502020204030204" pitchFamily="34" charset="0"/>
              </a:rPr>
              <a:t>)</a:t>
            </a:r>
            <a:endParaRPr lang="zh-CN" altLang="en-US" dirty="0"/>
          </a:p>
        </p:txBody>
      </p:sp>
      <p:sp>
        <p:nvSpPr>
          <p:cNvPr id="9" name="文本框 8"/>
          <p:cNvSpPr txBox="1"/>
          <p:nvPr/>
        </p:nvSpPr>
        <p:spPr>
          <a:xfrm>
            <a:off x="833284" y="4558776"/>
            <a:ext cx="8310716" cy="646331"/>
          </a:xfrm>
          <a:prstGeom prst="rect">
            <a:avLst/>
          </a:prstGeom>
          <a:noFill/>
        </p:spPr>
        <p:txBody>
          <a:bodyPr wrap="square">
            <a:spAutoFit/>
          </a:bodyPr>
          <a:lstStyle/>
          <a:p>
            <a:r>
              <a:rPr lang="zh-CN" altLang="en-US" b="0" i="0" dirty="0">
                <a:effectLst/>
                <a:latin typeface="Fira Sans" panose="020F0502020204030204" pitchFamily="34" charset="0"/>
              </a:rPr>
              <a:t>若一张有向图的边替换为无向边后可以得到一张连通图，则称原来这张有向图是 </a:t>
            </a:r>
            <a:r>
              <a:rPr lang="zh-CN" altLang="en-US" b="1" i="0" dirty="0">
                <a:effectLst/>
                <a:latin typeface="Fira Sans" panose="020F0502020204030204" pitchFamily="34" charset="0"/>
              </a:rPr>
              <a:t>弱连通的</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独立集与团</a:t>
            </a:r>
            <a:endParaRPr lang="zh-CN" altLang="en-US" dirty="0"/>
          </a:p>
        </p:txBody>
      </p:sp>
      <mc:AlternateContent xmlns:mc="http://schemas.openxmlformats.org/markup-compatibility/2006">
        <mc:Choice xmlns:a14="http://schemas.microsoft.com/office/drawing/2010/main" Requires="a14">
          <p:sp>
            <p:nvSpPr>
              <p:cNvPr id="5" name="文本框 4"/>
              <p:cNvSpPr txBox="1"/>
              <p:nvPr/>
            </p:nvSpPr>
            <p:spPr>
              <a:xfrm>
                <a:off x="756069" y="1905000"/>
                <a:ext cx="6635331" cy="646331"/>
              </a:xfrm>
              <a:prstGeom prst="rect">
                <a:avLst/>
              </a:prstGeom>
              <a:noFill/>
            </p:spPr>
            <p:txBody>
              <a:bodyPr wrap="square">
                <a:spAutoFit/>
              </a:bodyPr>
              <a:lstStyle/>
              <a:p>
                <a:r>
                  <a:rPr lang="en-US" altLang="zh-CN" dirty="0"/>
                  <a:t>•</a:t>
                </a:r>
                <a:r>
                  <a:rPr lang="zh-CN" altLang="en-US" b="0" dirty="0">
                    <a:effectLst/>
                    <a:latin typeface="Cascadia code Italic" panose="020B0609020000020004" pitchFamily="49" charset="0"/>
                  </a:rPr>
                  <a:t>对于图 </a:t>
                </a:r>
                <a:r>
                  <a:rPr lang="en-US" altLang="zh-CN" b="0" dirty="0">
                    <a:effectLst/>
                    <a:latin typeface="Cascadia code Italic" panose="020B0609020000020004" pitchFamily="49" charset="0"/>
                  </a:rPr>
                  <a:t>G=(V, E)</a:t>
                </a:r>
                <a:r>
                  <a:rPr lang="zh-CN" altLang="en-US" b="0" dirty="0">
                    <a:effectLst/>
                    <a:latin typeface="Cascadia code Italic" panose="020B0609020000020004" pitchFamily="49" charset="0"/>
                  </a:rPr>
                  <a:t>，若 </a:t>
                </a:r>
                <a:r>
                  <a:rPr lang="en-US" altLang="zh-CN" dirty="0"/>
                  <a:t>V'</a:t>
                </a:r>
                <a14:m>
                  <m:oMath xmlns:m="http://schemas.openxmlformats.org/officeDocument/2006/math">
                    <m:r>
                      <a:rPr lang="en-US" altLang="zh-CN" dirty="0" smtClean="0">
                        <a:latin typeface="Cambria Math" panose="02040503050406030204" pitchFamily="18" charset="0"/>
                        <a:ea typeface="Cambria Math" panose="02040503050406030204" pitchFamily="18" charset="0"/>
                      </a:rPr>
                      <m:t>∈</m:t>
                    </m:r>
                    <m:r>
                      <a:rPr lang="en-US" altLang="zh-CN" i="1" dirty="0" smtClean="0">
                        <a:latin typeface="Cambria Math" panose="02040503050406030204" pitchFamily="18" charset="0"/>
                        <a:ea typeface="Cambria Math" panose="02040503050406030204" pitchFamily="18" charset="0"/>
                      </a:rPr>
                      <m:t> </m:t>
                    </m:r>
                  </m:oMath>
                </a14:m>
                <a:r>
                  <a:rPr lang="en-US" altLang="zh-CN" b="0" dirty="0">
                    <a:effectLst/>
                    <a:latin typeface="Cascadia code Italic" panose="020B0609020000020004" pitchFamily="49" charset="0"/>
                  </a:rPr>
                  <a:t>V </a:t>
                </a:r>
                <a:r>
                  <a:rPr lang="zh-CN" altLang="en-US" b="0" dirty="0">
                    <a:effectLst/>
                    <a:latin typeface="Cascadia code Italic" panose="020B0609020000020004" pitchFamily="49" charset="0"/>
                  </a:rPr>
                  <a:t>且 </a:t>
                </a:r>
                <a:r>
                  <a:rPr lang="en-US" altLang="zh-CN" b="0" dirty="0">
                    <a:effectLst/>
                    <a:latin typeface="Cascadia code Italic" panose="020B0609020000020004" pitchFamily="49" charset="0"/>
                  </a:rPr>
                  <a:t>V'</a:t>
                </a:r>
                <a:r>
                  <a:rPr lang="zh-CN" altLang="en-US" b="0" dirty="0">
                    <a:effectLst/>
                    <a:latin typeface="Cascadia code Italic" panose="020B0609020000020004" pitchFamily="49" charset="0"/>
                  </a:rPr>
                  <a:t>中任意两点都不相邻，则</a:t>
                </a:r>
                <a:r>
                  <a:rPr lang="en-US" altLang="zh-CN" b="0" dirty="0">
                    <a:effectLst/>
                    <a:latin typeface="Cascadia code Italic" panose="020B0609020000020004" pitchFamily="49" charset="0"/>
                  </a:rPr>
                  <a:t>V'</a:t>
                </a:r>
                <a:r>
                  <a:rPr lang="zh-CN" altLang="en-US" b="0" dirty="0">
                    <a:effectLst/>
                    <a:latin typeface="Cascadia code Italic" panose="020B0609020000020004" pitchFamily="49" charset="0"/>
                  </a:rPr>
                  <a:t>是图</a:t>
                </a:r>
                <a:r>
                  <a:rPr lang="en-US" altLang="zh-CN" b="0" dirty="0">
                    <a:effectLst/>
                    <a:latin typeface="Cascadia code Italic" panose="020B0609020000020004" pitchFamily="49" charset="0"/>
                  </a:rPr>
                  <a:t>G</a:t>
                </a:r>
                <a:r>
                  <a:rPr lang="zh-CN" altLang="en-US" b="0" dirty="0">
                    <a:effectLst/>
                    <a:latin typeface="Cascadia code Italic" panose="020B0609020000020004" pitchFamily="49" charset="0"/>
                  </a:rPr>
                  <a:t>的一个独立集</a:t>
                </a:r>
                <a:endParaRPr lang="zh-CN" altLang="en-US" b="0" dirty="0">
                  <a:effectLst/>
                  <a:latin typeface="Cascadia code Italic" panose="020B0609020000020004" pitchFamily="49" charset="0"/>
                </a:endParaRPr>
              </a:p>
            </p:txBody>
          </p:sp>
        </mc:Choice>
        <mc:Fallback>
          <p:sp>
            <p:nvSpPr>
              <p:cNvPr id="5" name="文本框 4"/>
              <p:cNvSpPr txBox="1">
                <a:spLocks noRot="1" noChangeAspect="1" noMove="1" noResize="1" noEditPoints="1" noAdjustHandles="1" noChangeArrowheads="1" noChangeShapeType="1" noTextEdit="1"/>
              </p:cNvSpPr>
              <p:nvPr/>
            </p:nvSpPr>
            <p:spPr>
              <a:xfrm>
                <a:off x="756069" y="1905000"/>
                <a:ext cx="6635331" cy="646331"/>
              </a:xfrm>
              <a:prstGeom prst="rect">
                <a:avLst/>
              </a:prstGeom>
              <a:blipFill rotWithShape="1">
                <a:blip r:embed="rId1"/>
                <a:stretch>
                  <a:fillRect l="-6" t="-2554" b="8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756068" y="2838297"/>
                <a:ext cx="7930731" cy="1200329"/>
              </a:xfrm>
              <a:prstGeom prst="rect">
                <a:avLst/>
              </a:prstGeom>
              <a:noFill/>
            </p:spPr>
            <p:txBody>
              <a:bodyPr wrap="square" rtlCol="0">
                <a:spAutoFit/>
              </a:bodyPr>
              <a:lstStyle/>
              <a:p>
                <a:r>
                  <a:rPr lang="zh-CN" altLang="en-US" b="0" dirty="0">
                    <a:effectLst/>
                    <a:latin typeface="Cascadia code Italic" panose="020B0609020000020004" pitchFamily="49" charset="0"/>
                  </a:rPr>
                  <a:t>图 </a:t>
                </a:r>
                <a:r>
                  <a:rPr lang="en-US" altLang="zh-CN" dirty="0">
                    <a:latin typeface="Cascadia code Italic" panose="020B0609020000020004" pitchFamily="49" charset="0"/>
                  </a:rPr>
                  <a:t>G</a:t>
                </a:r>
                <a:r>
                  <a:rPr lang="en-US" altLang="zh-CN" b="0" dirty="0">
                    <a:effectLst/>
                    <a:latin typeface="Cascadia code Italic" panose="020B0609020000020004" pitchFamily="49" charset="0"/>
                  </a:rPr>
                  <a:t> </a:t>
                </a:r>
                <a:r>
                  <a:rPr lang="zh-CN" altLang="en-US" b="0" dirty="0">
                    <a:effectLst/>
                    <a:latin typeface="Cascadia code Italic" panose="020B0609020000020004" pitchFamily="49" charset="0"/>
                  </a:rPr>
                  <a:t>最大的独立集的大小记作 </a:t>
                </a:r>
                <a14:m>
                  <m:oMath xmlns:m="http://schemas.openxmlformats.org/officeDocument/2006/math">
                    <m:r>
                      <a:rPr lang="zh-CN" altLang="en-US" b="0" i="1" smtClean="0">
                        <a:effectLst/>
                        <a:latin typeface="Cambria Math" panose="02040503050406030204" pitchFamily="18" charset="0"/>
                      </a:rPr>
                      <m:t>𝛼</m:t>
                    </m:r>
                    <m:r>
                      <a:rPr lang="en-US" altLang="zh-CN" b="0" i="0" smtClean="0">
                        <a:effectLst/>
                        <a:latin typeface="Cambria Math" panose="02040503050406030204" pitchFamily="18" charset="0"/>
                      </a:rPr>
                      <m:t>(</m:t>
                    </m:r>
                    <m:r>
                      <m:rPr>
                        <m:sty m:val="p"/>
                      </m:rPr>
                      <a:rPr lang="en-US" altLang="zh-CN" b="0" i="0" smtClean="0">
                        <a:effectLst/>
                        <a:latin typeface="Cambria Math" panose="02040503050406030204" pitchFamily="18" charset="0"/>
                      </a:rPr>
                      <m:t>G</m:t>
                    </m:r>
                    <m:r>
                      <a:rPr lang="en-US" altLang="zh-CN" b="0" i="0" smtClean="0">
                        <a:effectLst/>
                        <a:latin typeface="Cambria Math" panose="02040503050406030204" pitchFamily="18" charset="0"/>
                      </a:rPr>
                      <m:t>)</m:t>
                    </m:r>
                  </m:oMath>
                </a14:m>
                <a:r>
                  <a:rPr lang="zh-CN" altLang="en-US" b="0" dirty="0">
                    <a:effectLst/>
                    <a:latin typeface="Cascadia code Italic" panose="020B0609020000020004" pitchFamily="49" charset="0"/>
                  </a:rPr>
                  <a:t>。求一张图的最大独立集是</a:t>
                </a:r>
                <a:r>
                  <a:rPr lang="en-US" altLang="zh-CN" b="0" dirty="0">
                    <a:effectLst/>
                    <a:latin typeface="Cascadia code Italic" panose="020B0609020000020004" pitchFamily="49" charset="0"/>
                  </a:rPr>
                  <a:t>NP</a:t>
                </a:r>
                <a:r>
                  <a:rPr lang="zh-CN" altLang="en-US" b="0" dirty="0">
                    <a:effectLst/>
                    <a:latin typeface="Cascadia code Italic" panose="020B0609020000020004" pitchFamily="49" charset="0"/>
                  </a:rPr>
                  <a:t>困难的。但是，若</a:t>
                </a:r>
                <a:r>
                  <a:rPr lang="en-US" altLang="zh-CN" b="0" dirty="0">
                    <a:effectLst/>
                    <a:latin typeface="Cascadia code Italic" panose="020B0609020000020004" pitchFamily="49" charset="0"/>
                  </a:rPr>
                  <a:t>G</a:t>
                </a:r>
                <a:r>
                  <a:rPr lang="zh-CN" altLang="en-US" b="0" dirty="0">
                    <a:effectLst/>
                    <a:latin typeface="Cascadia code Italic" panose="020B0609020000020004" pitchFamily="49" charset="0"/>
                  </a:rPr>
                  <a:t>为一颗树，求其最大独立集是容易的，甚至可以求出当独立集大小为</a:t>
                </a:r>
                <a:r>
                  <a:rPr lang="en-US" altLang="zh-CN" b="0" dirty="0">
                    <a:effectLst/>
                    <a:latin typeface="Cascadia code Italic" panose="020B0609020000020004" pitchFamily="49" charset="0"/>
                  </a:rPr>
                  <a:t>k</a:t>
                </a:r>
                <a:r>
                  <a:rPr lang="zh-CN" altLang="en-US" b="0" dirty="0">
                    <a:effectLst/>
                    <a:latin typeface="Cascadia code Italic" panose="020B0609020000020004" pitchFamily="49" charset="0"/>
                  </a:rPr>
                  <a:t>时的方案数</a:t>
                </a:r>
                <a:r>
                  <a:rPr lang="en-US" altLang="zh-CN" b="0" dirty="0">
                    <a:effectLst/>
                    <a:latin typeface="Cascadia code Italic" panose="020B0609020000020004" pitchFamily="49" charset="0"/>
                  </a:rPr>
                  <a:t>(</a:t>
                </a:r>
                <a:r>
                  <a:rPr lang="zh-CN" altLang="en-US" b="0" dirty="0">
                    <a:effectLst/>
                    <a:latin typeface="Cascadia code Italic" panose="020B0609020000020004" pitchFamily="49" charset="0"/>
                  </a:rPr>
                  <a:t>可以思考一下如何做</a:t>
                </a:r>
                <a:r>
                  <a:rPr lang="en-US" altLang="zh-CN" b="0" dirty="0">
                    <a:effectLst/>
                    <a:latin typeface="Cascadia code Italic" panose="020B0609020000020004" pitchFamily="49" charset="0"/>
                  </a:rPr>
                  <a:t>)</a:t>
                </a:r>
                <a:endParaRPr lang="zh-CN" altLang="en-US" b="0" dirty="0">
                  <a:effectLst/>
                  <a:latin typeface="Cascadia code Italic" panose="020B0609020000020004" pitchFamily="49" charset="0"/>
                </a:endParaRPr>
              </a:p>
              <a:p>
                <a:endParaRPr lang="zh-CN" altLang="en-US" dirty="0"/>
              </a:p>
            </p:txBody>
          </p:sp>
        </mc:Choice>
        <mc:Fallback>
          <p:sp>
            <p:nvSpPr>
              <p:cNvPr id="6" name="文本框 5"/>
              <p:cNvSpPr txBox="1">
                <a:spLocks noRot="1" noChangeAspect="1" noMove="1" noResize="1" noEditPoints="1" noAdjustHandles="1" noChangeArrowheads="1" noChangeShapeType="1" noTextEdit="1"/>
              </p:cNvSpPr>
              <p:nvPr/>
            </p:nvSpPr>
            <p:spPr>
              <a:xfrm>
                <a:off x="756068" y="2838297"/>
                <a:ext cx="7930731" cy="1200329"/>
              </a:xfrm>
              <a:prstGeom prst="rect">
                <a:avLst/>
              </a:prstGeom>
              <a:blipFill rotWithShape="1">
                <a:blip r:embed="rId2"/>
                <a:stretch>
                  <a:fillRect l="-5" t="-1416" r="8" b="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p:cNvSpPr txBox="1"/>
              <p:nvPr/>
            </p:nvSpPr>
            <p:spPr>
              <a:xfrm>
                <a:off x="756068" y="3962400"/>
                <a:ext cx="7168732" cy="923330"/>
              </a:xfrm>
              <a:prstGeom prst="rect">
                <a:avLst/>
              </a:prstGeom>
              <a:noFill/>
            </p:spPr>
            <p:txBody>
              <a:bodyPr wrap="square">
                <a:spAutoFit/>
              </a:bodyPr>
              <a:lstStyle/>
              <a:p>
                <a:r>
                  <a:rPr lang="en-US" altLang="zh-CN" dirty="0"/>
                  <a:t>•</a:t>
                </a:r>
                <a:r>
                  <a:rPr lang="zh-CN" altLang="en-US" b="0" dirty="0">
                    <a:effectLst/>
                    <a:latin typeface="Cascadia code Italic" panose="020B0609020000020004" pitchFamily="49" charset="0"/>
                  </a:rPr>
                  <a:t>对于图 </a:t>
                </a:r>
                <a:r>
                  <a:rPr lang="en-US" altLang="zh-CN" b="0" dirty="0">
                    <a:effectLst/>
                    <a:latin typeface="Cascadia code Italic" panose="020B0609020000020004" pitchFamily="49" charset="0"/>
                  </a:rPr>
                  <a:t>G=(V, E)</a:t>
                </a:r>
                <a:r>
                  <a:rPr lang="zh-CN" altLang="en-US" b="0" dirty="0">
                    <a:effectLst/>
                    <a:latin typeface="Cascadia code Italic" panose="020B0609020000020004" pitchFamily="49" charset="0"/>
                  </a:rPr>
                  <a:t>，若 </a:t>
                </a:r>
                <a:r>
                  <a:rPr lang="en-US" altLang="zh-CN" dirty="0"/>
                  <a:t>V‘</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 </m:t>
                    </m:r>
                  </m:oMath>
                </a14:m>
                <a:r>
                  <a:rPr lang="en-US" altLang="zh-CN" b="0" dirty="0">
                    <a:effectLst/>
                    <a:latin typeface="Cascadia code Italic" panose="020B0609020000020004" pitchFamily="49" charset="0"/>
                  </a:rPr>
                  <a:t>V</a:t>
                </a:r>
                <a:r>
                  <a:rPr lang="zh-CN" altLang="en-US" b="0" dirty="0">
                    <a:effectLst/>
                    <a:latin typeface="Cascadia code Italic" panose="020B0609020000020004" pitchFamily="49" charset="0"/>
                  </a:rPr>
                  <a:t>且</a:t>
                </a:r>
                <a:r>
                  <a:rPr lang="en-US" altLang="zh-CN" b="0" dirty="0">
                    <a:effectLst/>
                    <a:latin typeface="Cascadia code Italic" panose="020B0609020000020004" pitchFamily="49" charset="0"/>
                  </a:rPr>
                  <a:t>V’</a:t>
                </a:r>
                <a:r>
                  <a:rPr lang="zh-CN" altLang="en-US" b="0" dirty="0">
                    <a:effectLst/>
                    <a:latin typeface="Cascadia code Italic" panose="020B0609020000020004" pitchFamily="49" charset="0"/>
                  </a:rPr>
                  <a:t>中任意两个不同的顶点都相邻，则</a:t>
                </a:r>
                <a:r>
                  <a:rPr lang="en-US" altLang="zh-CN" b="0" dirty="0">
                    <a:effectLst/>
                    <a:latin typeface="Cascadia code Italic" panose="020B0609020000020004" pitchFamily="49" charset="0"/>
                  </a:rPr>
                  <a:t>V‘</a:t>
                </a:r>
                <a:r>
                  <a:rPr lang="zh-CN" altLang="en-US" b="0" dirty="0">
                    <a:effectLst/>
                    <a:latin typeface="Cascadia code Italic" panose="020B0609020000020004" pitchFamily="49" charset="0"/>
                  </a:rPr>
                  <a:t>是图</a:t>
                </a:r>
                <a:r>
                  <a:rPr lang="en-US" altLang="zh-CN" b="0" dirty="0">
                    <a:effectLst/>
                    <a:latin typeface="Cascadia code Italic" panose="020B0609020000020004" pitchFamily="49" charset="0"/>
                  </a:rPr>
                  <a:t>G</a:t>
                </a:r>
                <a:r>
                  <a:rPr lang="zh-CN" altLang="en-US" b="0" dirty="0">
                    <a:effectLst/>
                    <a:latin typeface="Cascadia code Italic" panose="020B0609020000020004" pitchFamily="49" charset="0"/>
                  </a:rPr>
                  <a:t>的一个团</a:t>
                </a:r>
                <a:r>
                  <a:rPr lang="en-US" altLang="zh-CN" b="0" dirty="0">
                    <a:effectLst/>
                    <a:latin typeface="Cascadia code Italic" panose="020B0609020000020004" pitchFamily="49" charset="0"/>
                  </a:rPr>
                  <a:t>(clique)</a:t>
                </a:r>
                <a:r>
                  <a:rPr lang="zh-CN" altLang="en-US" b="0" dirty="0">
                    <a:effectLst/>
                    <a:latin typeface="Cascadia code Italic" panose="020B0609020000020004" pitchFamily="49" charset="0"/>
                  </a:rPr>
                  <a:t>。团的导出子图是完全图。</a:t>
                </a:r>
                <a:r>
                  <a:rPr lang="zh-CN" altLang="en-US" dirty="0"/>
                  <a:t>如果一个团在加入任何一个顶点后都不再是一个团，则这个团是一个 </a:t>
                </a:r>
                <a:r>
                  <a:rPr lang="zh-CN" altLang="en-US" b="1" dirty="0"/>
                  <a:t>极大团</a:t>
                </a:r>
                <a:endParaRPr lang="zh-CN" altLang="en-US" b="0" dirty="0">
                  <a:effectLst/>
                  <a:latin typeface="Cascadia code Italic" panose="020B0609020000020004" pitchFamily="49" charset="0"/>
                </a:endParaRPr>
              </a:p>
            </p:txBody>
          </p:sp>
        </mc:Choice>
        <mc:Fallback>
          <p:sp>
            <p:nvSpPr>
              <p:cNvPr id="10" name="文本框 9"/>
              <p:cNvSpPr txBox="1">
                <a:spLocks noRot="1" noChangeAspect="1" noMove="1" noResize="1" noEditPoints="1" noAdjustHandles="1" noChangeArrowheads="1" noChangeShapeType="1" noTextEdit="1"/>
              </p:cNvSpPr>
              <p:nvPr/>
            </p:nvSpPr>
            <p:spPr>
              <a:xfrm>
                <a:off x="756068" y="3962400"/>
                <a:ext cx="7168732" cy="923330"/>
              </a:xfrm>
              <a:prstGeom prst="rect">
                <a:avLst/>
              </a:prstGeom>
              <a:blipFill rotWithShape="1">
                <a:blip r:embed="rId3"/>
                <a:stretch>
                  <a:fillRect l="-6" t="-1788" b="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756068" y="5180864"/>
                <a:ext cx="8997532" cy="369332"/>
              </a:xfrm>
              <a:prstGeom prst="rect">
                <a:avLst/>
              </a:prstGeom>
              <a:noFill/>
            </p:spPr>
            <p:txBody>
              <a:bodyPr wrap="square">
                <a:spAutoFit/>
              </a:bodyPr>
              <a:lstStyle/>
              <a:p>
                <a:r>
                  <a:rPr lang="en-US" altLang="zh-CN" dirty="0"/>
                  <a:t>•</a:t>
                </a:r>
                <a:r>
                  <a:rPr lang="zh-CN" altLang="en-US" b="0" dirty="0">
                    <a:effectLst/>
                    <a:latin typeface="Cascadia code Italic" panose="020B0609020000020004" pitchFamily="49" charset="0"/>
                  </a:rPr>
                  <a:t>一张图的最大团的大小记作</a:t>
                </a:r>
                <a14:m>
                  <m:oMath xmlns:m="http://schemas.openxmlformats.org/officeDocument/2006/math">
                    <m:r>
                      <a:rPr lang="zh-CN" altLang="en-US" b="0" i="1" smtClean="0">
                        <a:effectLst/>
                        <a:latin typeface="Cambria Math" panose="02040503050406030204" pitchFamily="18" charset="0"/>
                      </a:rPr>
                      <m:t>𝜔</m:t>
                    </m:r>
                    <m:r>
                      <a:rPr lang="en-US" altLang="zh-CN" b="0" i="1" smtClean="0">
                        <a:effectLst/>
                        <a:latin typeface="Cambria Math" panose="02040503050406030204" pitchFamily="18" charset="0"/>
                      </a:rPr>
                      <m:t>(</m:t>
                    </m:r>
                    <m:r>
                      <a:rPr lang="en-US" altLang="zh-CN" b="0" i="1" smtClean="0">
                        <a:effectLst/>
                        <a:latin typeface="Cambria Math" panose="02040503050406030204" pitchFamily="18" charset="0"/>
                      </a:rPr>
                      <m:t>𝐺</m:t>
                    </m:r>
                    <m:r>
                      <a:rPr lang="en-US" altLang="zh-CN" b="0" i="1" smtClean="0">
                        <a:effectLst/>
                        <a:latin typeface="Cambria Math" panose="02040503050406030204" pitchFamily="18" charset="0"/>
                      </a:rPr>
                      <m:t>)</m:t>
                    </m:r>
                  </m:oMath>
                </a14:m>
                <a:r>
                  <a:rPr lang="zh-CN" altLang="en-US" b="0" dirty="0">
                    <a:effectLst/>
                    <a:latin typeface="Cascadia code Italic" panose="020B0609020000020004" pitchFamily="49" charset="0"/>
                  </a:rPr>
                  <a:t>，最大团的大小等于其补图最大独立集的大小</a:t>
                </a:r>
                <a:endParaRPr lang="zh-CN" altLang="en-US" b="0" dirty="0">
                  <a:effectLst/>
                  <a:latin typeface="Cascadia code Italic" panose="020B0609020000020004" pitchFamily="49"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756068" y="5180864"/>
                <a:ext cx="8997532" cy="369332"/>
              </a:xfrm>
              <a:prstGeom prst="rect">
                <a:avLst/>
              </a:prstGeom>
              <a:blipFill rotWithShape="1">
                <a:blip r:embed="rId4"/>
                <a:stretch>
                  <a:fillRect l="-5" t="-145" b="80"/>
                </a:stretch>
              </a:blipFill>
            </p:spPr>
            <p:txBody>
              <a:bodyPr/>
              <a:lstStyle/>
              <a:p>
                <a:r>
                  <a:rPr lang="zh-CN" altLang="en-US">
                    <a:noFill/>
                  </a:rPr>
                  <a:t> </a:t>
                </a:r>
              </a:p>
            </p:txBody>
          </p:sp>
        </mc:Fallback>
      </mc:AlternateContent>
      <p:sp>
        <p:nvSpPr>
          <p:cNvPr id="13" name="文本框 12"/>
          <p:cNvSpPr txBox="1"/>
          <p:nvPr/>
        </p:nvSpPr>
        <p:spPr>
          <a:xfrm>
            <a:off x="756068" y="5833040"/>
            <a:ext cx="7315200" cy="307777"/>
          </a:xfrm>
          <a:prstGeom prst="rect">
            <a:avLst/>
          </a:prstGeom>
          <a:noFill/>
        </p:spPr>
        <p:txBody>
          <a:bodyPr wrap="square" rtlCol="0">
            <a:spAutoFit/>
          </a:bodyPr>
          <a:lstStyle/>
          <a:p>
            <a:r>
              <a:rPr lang="zh-CN" altLang="en-US" sz="1400" dirty="0"/>
              <a:t>对于补图反图等定义在离散数学中应有提及，在此不多做赘述</a:t>
            </a:r>
            <a:endParaRPr lang="zh-CN" alt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27686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欧拉路的判定</a:t>
            </a:r>
            <a:endParaRPr dirty="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676655" y="1263396"/>
            <a:ext cx="6792236" cy="187909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27686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欧拉路的判定</a:t>
            </a:r>
            <a:endParaRPr dirty="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676655" y="1263396"/>
            <a:ext cx="6792236" cy="1879091"/>
          </a:xfrm>
          <a:prstGeom prst="rect">
            <a:avLst/>
          </a:prstGeom>
        </p:spPr>
      </p:pic>
      <p:pic>
        <p:nvPicPr>
          <p:cNvPr id="4" name="object 4"/>
          <p:cNvPicPr/>
          <p:nvPr/>
        </p:nvPicPr>
        <p:blipFill>
          <a:blip r:embed="rId2" cstate="print"/>
          <a:stretch>
            <a:fillRect/>
          </a:stretch>
        </p:blipFill>
        <p:spPr>
          <a:xfrm>
            <a:off x="676655" y="3273552"/>
            <a:ext cx="7062216" cy="1264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27686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欧拉路的判定</a:t>
            </a:r>
            <a:endParaRPr dirty="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676655" y="1263396"/>
            <a:ext cx="6792236" cy="1879091"/>
          </a:xfrm>
          <a:prstGeom prst="rect">
            <a:avLst/>
          </a:prstGeom>
        </p:spPr>
      </p:pic>
      <p:pic>
        <p:nvPicPr>
          <p:cNvPr id="4" name="object 4"/>
          <p:cNvPicPr/>
          <p:nvPr/>
        </p:nvPicPr>
        <p:blipFill>
          <a:blip r:embed="rId2" cstate="print"/>
          <a:stretch>
            <a:fillRect/>
          </a:stretch>
        </p:blipFill>
        <p:spPr>
          <a:xfrm>
            <a:off x="676655" y="3273552"/>
            <a:ext cx="7062216" cy="1264920"/>
          </a:xfrm>
          <a:prstGeom prst="rect">
            <a:avLst/>
          </a:prstGeom>
        </p:spPr>
      </p:pic>
      <p:pic>
        <p:nvPicPr>
          <p:cNvPr id="5" name="object 5"/>
          <p:cNvPicPr/>
          <p:nvPr/>
        </p:nvPicPr>
        <p:blipFill>
          <a:blip r:embed="rId3" cstate="print"/>
          <a:stretch>
            <a:fillRect/>
          </a:stretch>
        </p:blipFill>
        <p:spPr>
          <a:xfrm>
            <a:off x="676655" y="4668011"/>
            <a:ext cx="6931152" cy="192938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285" y="645160"/>
            <a:ext cx="6677025" cy="566420"/>
          </a:xfrm>
          <a:prstGeom prst="rect">
            <a:avLst/>
          </a:prstGeom>
        </p:spPr>
        <p:txBody>
          <a:bodyPr vert="horz" wrap="square" lIns="0" tIns="12700" rIns="0" bIns="0" rtlCol="0">
            <a:spAutoFit/>
          </a:bodyPr>
          <a:lstStyle/>
          <a:p>
            <a:pPr marL="12700">
              <a:lnSpc>
                <a:spcPct val="100000"/>
              </a:lnSpc>
              <a:spcBef>
                <a:spcPts val="100"/>
              </a:spcBef>
            </a:pPr>
            <a:r>
              <a:rPr lang="zh-CN" dirty="0">
                <a:latin typeface="宋体" panose="02010600030101010101" pitchFamily="2" charset="-122"/>
                <a:cs typeface="宋体" panose="02010600030101010101" pitchFamily="2" charset="-122"/>
              </a:rPr>
              <a:t>有向图求</a:t>
            </a:r>
            <a:r>
              <a:rPr dirty="0">
                <a:latin typeface="宋体" panose="02010600030101010101" pitchFamily="2" charset="-122"/>
                <a:cs typeface="宋体" panose="02010600030101010101" pitchFamily="2" charset="-122"/>
              </a:rPr>
              <a:t>欧拉</a:t>
            </a:r>
            <a:r>
              <a:rPr lang="zh-CN" dirty="0">
                <a:latin typeface="宋体" panose="02010600030101010101" pitchFamily="2" charset="-122"/>
                <a:cs typeface="宋体" panose="02010600030101010101" pitchFamily="2" charset="-122"/>
              </a:rPr>
              <a:t>路径（回路）</a:t>
            </a:r>
            <a:endParaRPr lang="zh-CN" dirty="0">
              <a:latin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7557135" y="0"/>
            <a:ext cx="4634865" cy="6856095"/>
          </a:xfrm>
          <a:prstGeom prst="rect">
            <a:avLst/>
          </a:prstGeom>
        </p:spPr>
      </p:pic>
      <p:sp>
        <p:nvSpPr>
          <p:cNvPr id="7" name="object 7"/>
          <p:cNvSpPr txBox="1"/>
          <p:nvPr/>
        </p:nvSpPr>
        <p:spPr>
          <a:xfrm>
            <a:off x="635635" y="1887855"/>
            <a:ext cx="6088380" cy="4445635"/>
          </a:xfrm>
          <a:prstGeom prst="rect">
            <a:avLst/>
          </a:prstGeom>
        </p:spPr>
        <p:txBody>
          <a:bodyPr vert="horz" wrap="square" lIns="0" tIns="12700" rIns="0" bIns="0" rtlCol="0">
            <a:noAutofit/>
          </a:bodyPr>
          <a:lstStyle/>
          <a:p>
            <a:pPr marL="12700" marR="233680">
              <a:lnSpc>
                <a:spcPct val="146000"/>
              </a:lnSpc>
              <a:spcBef>
                <a:spcPts val="100"/>
              </a:spcBef>
            </a:pPr>
            <a:r>
              <a:rPr lang="zh-CN" altLang="en-US" sz="1800">
                <a:latin typeface="宋体" panose="02010600030101010101" pitchFamily="2" charset="-122"/>
                <a:cs typeface="宋体" panose="02010600030101010101" pitchFamily="2" charset="-122"/>
              </a:rPr>
              <a:t>首先判断这张图是不是半欧拉图（欧拉图）：要求每个点的出度入度满足条件，如果这张图数半欧拉图，要确定起点必须是出度恰好大于入度的那个点。</a:t>
            </a:r>
            <a:endParaRPr lang="zh-CN" altLang="en-US" sz="1800">
              <a:latin typeface="宋体" panose="02010600030101010101" pitchFamily="2" charset="-122"/>
              <a:cs typeface="宋体" panose="02010600030101010101" pitchFamily="2" charset="-122"/>
            </a:endParaRPr>
          </a:p>
          <a:p>
            <a:pPr marL="12700" marR="233680">
              <a:lnSpc>
                <a:spcPct val="146000"/>
              </a:lnSpc>
              <a:spcBef>
                <a:spcPts val="100"/>
              </a:spcBef>
            </a:pPr>
            <a:endParaRPr lang="zh-CN" altLang="en-US" sz="1800">
              <a:latin typeface="宋体" panose="02010600030101010101" pitchFamily="2" charset="-122"/>
              <a:cs typeface="宋体" panose="02010600030101010101" pitchFamily="2" charset="-122"/>
            </a:endParaRPr>
          </a:p>
          <a:p>
            <a:pPr marL="12700" marR="233680">
              <a:lnSpc>
                <a:spcPct val="146000"/>
              </a:lnSpc>
              <a:spcBef>
                <a:spcPts val="100"/>
              </a:spcBef>
            </a:pPr>
            <a:r>
              <a:rPr lang="zh-CN" altLang="en-US" sz="1800">
                <a:latin typeface="宋体" panose="02010600030101010101" pitchFamily="2" charset="-122"/>
                <a:cs typeface="宋体" panose="02010600030101010101" pitchFamily="2" charset="-122"/>
              </a:rPr>
              <a:t>再暴力</a:t>
            </a:r>
            <a:r>
              <a:rPr lang="en-US" altLang="zh-CN" sz="1800">
                <a:latin typeface="宋体" panose="02010600030101010101" pitchFamily="2" charset="-122"/>
                <a:cs typeface="宋体" panose="02010600030101010101" pitchFamily="2" charset="-122"/>
              </a:rPr>
              <a:t>dfs</a:t>
            </a:r>
            <a:r>
              <a:rPr lang="zh-CN" altLang="en-US" sz="1800">
                <a:latin typeface="宋体" panose="02010600030101010101" pitchFamily="2" charset="-122"/>
                <a:cs typeface="宋体" panose="02010600030101010101" pitchFamily="2" charset="-122"/>
              </a:rPr>
              <a:t>搜索这张图就能求出来了</a:t>
            </a:r>
            <a:endParaRPr lang="zh-CN" altLang="en-US" sz="1800">
              <a:latin typeface="宋体" panose="02010600030101010101" pitchFamily="2" charset="-122"/>
              <a:cs typeface="宋体" panose="02010600030101010101" pitchFamily="2" charset="-122"/>
            </a:endParaRPr>
          </a:p>
          <a:p>
            <a:pPr marL="12700" marR="233680">
              <a:lnSpc>
                <a:spcPct val="146000"/>
              </a:lnSpc>
              <a:spcBef>
                <a:spcPts val="100"/>
              </a:spcBef>
            </a:pPr>
            <a:endParaRPr lang="zh-CN" altLang="en-US" sz="1800">
              <a:latin typeface="宋体" panose="02010600030101010101" pitchFamily="2" charset="-122"/>
              <a:cs typeface="宋体" panose="02010600030101010101" pitchFamily="2" charset="-122"/>
            </a:endParaRPr>
          </a:p>
          <a:p>
            <a:pPr marL="12700" marR="233680">
              <a:lnSpc>
                <a:spcPct val="146000"/>
              </a:lnSpc>
              <a:spcBef>
                <a:spcPts val="100"/>
              </a:spcBef>
            </a:pPr>
            <a:r>
              <a:rPr lang="zh-CN" altLang="en-US" sz="1800">
                <a:latin typeface="宋体" panose="02010600030101010101" pitchFamily="2" charset="-122"/>
                <a:cs typeface="宋体" panose="02010600030101010101" pitchFamily="2" charset="-122"/>
              </a:rPr>
              <a:t>注意如果求的是字典序最小的路径，那么在</a:t>
            </a:r>
            <a:r>
              <a:rPr lang="en-US" altLang="zh-CN" sz="1800">
                <a:latin typeface="宋体" panose="02010600030101010101" pitchFamily="2" charset="-122"/>
                <a:cs typeface="宋体" panose="02010600030101010101" pitchFamily="2" charset="-122"/>
              </a:rPr>
              <a:t>dfs</a:t>
            </a:r>
            <a:r>
              <a:rPr lang="zh-CN" altLang="en-US" sz="1800">
                <a:latin typeface="宋体" panose="02010600030101010101" pitchFamily="2" charset="-122"/>
                <a:cs typeface="宋体" panose="02010600030101010101" pitchFamily="2" charset="-122"/>
              </a:rPr>
              <a:t>之前，要对每个点的所有出点排序。</a:t>
            </a:r>
            <a:endParaRPr lang="zh-CN" altLang="en-US" sz="1800">
              <a:latin typeface="宋体" panose="02010600030101010101" pitchFamily="2" charset="-122"/>
              <a:cs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285" y="645160"/>
            <a:ext cx="6677025" cy="566420"/>
          </a:xfrm>
          <a:prstGeom prst="rect">
            <a:avLst/>
          </a:prstGeom>
        </p:spPr>
        <p:txBody>
          <a:bodyPr vert="horz" wrap="square" lIns="0" tIns="12700" rIns="0" bIns="0" rtlCol="0">
            <a:spAutoFit/>
          </a:bodyPr>
          <a:lstStyle/>
          <a:p>
            <a:pPr marL="12700">
              <a:lnSpc>
                <a:spcPct val="100000"/>
              </a:lnSpc>
              <a:spcBef>
                <a:spcPts val="100"/>
              </a:spcBef>
            </a:pPr>
            <a:r>
              <a:rPr lang="zh-CN" altLang="en-US" dirty="0">
                <a:latin typeface="宋体" panose="02010600030101010101" pitchFamily="2" charset="-122"/>
                <a:cs typeface="宋体" panose="02010600030101010101" pitchFamily="2" charset="-122"/>
              </a:rPr>
              <a:t>无向</a:t>
            </a:r>
            <a:r>
              <a:rPr lang="zh-CN" dirty="0">
                <a:latin typeface="宋体" panose="02010600030101010101" pitchFamily="2" charset="-122"/>
                <a:cs typeface="宋体" panose="02010600030101010101" pitchFamily="2" charset="-122"/>
              </a:rPr>
              <a:t>图求</a:t>
            </a:r>
            <a:r>
              <a:rPr dirty="0">
                <a:latin typeface="宋体" panose="02010600030101010101" pitchFamily="2" charset="-122"/>
                <a:cs typeface="宋体" panose="02010600030101010101" pitchFamily="2" charset="-122"/>
              </a:rPr>
              <a:t>欧拉</a:t>
            </a:r>
            <a:r>
              <a:rPr lang="zh-CN" dirty="0">
                <a:latin typeface="宋体" panose="02010600030101010101" pitchFamily="2" charset="-122"/>
                <a:cs typeface="宋体" panose="02010600030101010101" pitchFamily="2" charset="-122"/>
              </a:rPr>
              <a:t>路径（回路）</a:t>
            </a:r>
            <a:endParaRPr lang="zh-CN" dirty="0">
              <a:latin typeface="宋体" panose="02010600030101010101" pitchFamily="2" charset="-122"/>
              <a:cs typeface="宋体" panose="02010600030101010101" pitchFamily="2" charset="-122"/>
            </a:endParaRPr>
          </a:p>
        </p:txBody>
      </p:sp>
      <p:sp>
        <p:nvSpPr>
          <p:cNvPr id="7" name="object 7"/>
          <p:cNvSpPr txBox="1"/>
          <p:nvPr/>
        </p:nvSpPr>
        <p:spPr>
          <a:xfrm>
            <a:off x="635635" y="1887855"/>
            <a:ext cx="6088380" cy="4445635"/>
          </a:xfrm>
          <a:prstGeom prst="rect">
            <a:avLst/>
          </a:prstGeom>
        </p:spPr>
        <p:txBody>
          <a:bodyPr vert="horz" wrap="square" lIns="0" tIns="12700" rIns="0" bIns="0" rtlCol="0">
            <a:noAutofit/>
          </a:bodyPr>
          <a:lstStyle/>
          <a:p>
            <a:pPr marL="12700" marR="233680">
              <a:lnSpc>
                <a:spcPct val="146000"/>
              </a:lnSpc>
              <a:spcBef>
                <a:spcPts val="100"/>
              </a:spcBef>
            </a:pPr>
            <a:r>
              <a:rPr lang="zh-CN" altLang="en-US" sz="1800">
                <a:latin typeface="宋体" panose="02010600030101010101" pitchFamily="2" charset="-122"/>
                <a:cs typeface="宋体" panose="02010600030101010101" pitchFamily="2" charset="-122"/>
              </a:rPr>
              <a:t>和有向图的方法类似的判断和</a:t>
            </a:r>
            <a:r>
              <a:rPr lang="en-US" altLang="zh-CN" sz="1800">
                <a:latin typeface="宋体" panose="02010600030101010101" pitchFamily="2" charset="-122"/>
                <a:cs typeface="宋体" panose="02010600030101010101" pitchFamily="2" charset="-122"/>
              </a:rPr>
              <a:t>dfs</a:t>
            </a:r>
            <a:r>
              <a:rPr lang="zh-CN" altLang="en-US" sz="1800">
                <a:latin typeface="宋体" panose="02010600030101010101" pitchFamily="2" charset="-122"/>
                <a:cs typeface="宋体" panose="02010600030101010101" pitchFamily="2" charset="-122"/>
              </a:rPr>
              <a:t>。</a:t>
            </a:r>
            <a:endParaRPr lang="zh-CN" altLang="en-US" sz="1800">
              <a:latin typeface="宋体" panose="02010600030101010101" pitchFamily="2" charset="-122"/>
              <a:cs typeface="宋体" panose="02010600030101010101" pitchFamily="2" charset="-122"/>
            </a:endParaRPr>
          </a:p>
          <a:p>
            <a:pPr marL="12700" marR="233680">
              <a:lnSpc>
                <a:spcPct val="146000"/>
              </a:lnSpc>
              <a:spcBef>
                <a:spcPts val="100"/>
              </a:spcBef>
            </a:pPr>
            <a:endParaRPr lang="zh-CN" altLang="en-US" sz="1800">
              <a:latin typeface="宋体" panose="02010600030101010101" pitchFamily="2" charset="-122"/>
              <a:cs typeface="宋体" panose="02010600030101010101" pitchFamily="2" charset="-122"/>
            </a:endParaRPr>
          </a:p>
          <a:p>
            <a:pPr marL="12700" marR="233680">
              <a:lnSpc>
                <a:spcPct val="146000"/>
              </a:lnSpc>
              <a:spcBef>
                <a:spcPts val="100"/>
              </a:spcBef>
            </a:pPr>
            <a:r>
              <a:rPr lang="zh-CN" altLang="en-US" sz="1800">
                <a:latin typeface="宋体" panose="02010600030101010101" pitchFamily="2" charset="-122"/>
                <a:cs typeface="宋体" panose="02010600030101010101" pitchFamily="2" charset="-122"/>
              </a:rPr>
              <a:t>但是要注意，因为是无向图，所以当我们走过一条边的时候我们要把这条边的反向边给标记，以后就不能走了。</a:t>
            </a:r>
            <a:endParaRPr lang="zh-CN" altLang="en-US" sz="1800">
              <a:latin typeface="宋体" panose="02010600030101010101" pitchFamily="2" charset="-122"/>
              <a:cs typeface="宋体" panose="02010600030101010101" pitchFamily="2" charset="-122"/>
            </a:endParaRPr>
          </a:p>
          <a:p>
            <a:pPr marL="12700" marR="233680">
              <a:lnSpc>
                <a:spcPct val="146000"/>
              </a:lnSpc>
              <a:spcBef>
                <a:spcPts val="100"/>
              </a:spcBef>
            </a:pPr>
            <a:endParaRPr lang="zh-CN" altLang="en-US" sz="1800">
              <a:latin typeface="宋体" panose="02010600030101010101" pitchFamily="2" charset="-122"/>
              <a:cs typeface="宋体" panose="02010600030101010101" pitchFamily="2" charset="-122"/>
            </a:endParaRPr>
          </a:p>
          <a:p>
            <a:pPr marL="12700" marR="233680">
              <a:lnSpc>
                <a:spcPct val="146000"/>
              </a:lnSpc>
              <a:spcBef>
                <a:spcPts val="100"/>
              </a:spcBef>
            </a:pPr>
            <a:r>
              <a:rPr lang="zh-CN" altLang="en-US" sz="1800">
                <a:latin typeface="宋体" panose="02010600030101010101" pitchFamily="2" charset="-122"/>
                <a:cs typeface="宋体" panose="02010600030101010101" pitchFamily="2" charset="-122"/>
              </a:rPr>
              <a:t>因为我们要做标记边的操作，所以这里最好用的建图方法是链式前向星。</a:t>
            </a:r>
            <a:endParaRPr lang="zh-CN" altLang="en-US" sz="1800">
              <a:latin typeface="宋体" panose="02010600030101010101" pitchFamily="2" charset="-122"/>
              <a:cs typeface="宋体" panose="02010600030101010101" pitchFamily="2" charset="-122"/>
            </a:endParaRPr>
          </a:p>
        </p:txBody>
      </p:sp>
      <p:pic>
        <p:nvPicPr>
          <p:cNvPr id="3" name="图片 2"/>
          <p:cNvPicPr>
            <a:picLocks noChangeAspect="1"/>
          </p:cNvPicPr>
          <p:nvPr/>
        </p:nvPicPr>
        <p:blipFill>
          <a:blip r:embed="rId1"/>
          <a:stretch>
            <a:fillRect/>
          </a:stretch>
        </p:blipFill>
        <p:spPr>
          <a:xfrm>
            <a:off x="8150860" y="24765"/>
            <a:ext cx="4041140" cy="68332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66420"/>
          </a:xfrm>
          <a:prstGeom prst="rect">
            <a:avLst/>
          </a:prstGeom>
        </p:spPr>
        <p:txBody>
          <a:bodyPr vert="horz" wrap="square" lIns="0" tIns="12700" rIns="0" bIns="0" rtlCol="0">
            <a:spAutoFit/>
          </a:bodyPr>
          <a:lstStyle/>
          <a:p>
            <a:pPr marL="12700">
              <a:lnSpc>
                <a:spcPct val="100000"/>
              </a:lnSpc>
              <a:spcBef>
                <a:spcPts val="100"/>
              </a:spcBef>
            </a:pPr>
            <a:r>
              <a:rPr lang="zh-CN" dirty="0">
                <a:latin typeface="宋体" panose="02010600030101010101" pitchFamily="2" charset="-122"/>
                <a:cs typeface="宋体" panose="02010600030101010101" pitchFamily="2" charset="-122"/>
                <a:sym typeface="+mn-ea"/>
              </a:rPr>
              <a:t>并查集</a:t>
            </a:r>
            <a:endParaRPr dirty="0">
              <a:latin typeface="宋体" panose="02010600030101010101" pitchFamily="2" charset="-122"/>
              <a:cs typeface="宋体" panose="02010600030101010101" pitchFamily="2" charset="-122"/>
            </a:endParaRPr>
          </a:p>
        </p:txBody>
      </p:sp>
      <p:sp>
        <p:nvSpPr>
          <p:cNvPr id="4" name="文本框 3"/>
          <p:cNvSpPr txBox="1"/>
          <p:nvPr/>
        </p:nvSpPr>
        <p:spPr>
          <a:xfrm>
            <a:off x="838200" y="1905000"/>
            <a:ext cx="7974330" cy="3655060"/>
          </a:xfrm>
          <a:prstGeom prst="rect">
            <a:avLst/>
          </a:prstGeom>
        </p:spPr>
        <p:txBody>
          <a:bodyPr>
            <a:noAutofit/>
          </a:bodyPr>
          <a:p>
            <a:pPr marL="0" indent="0"/>
            <a:r>
              <a:rPr lang="zh-CN" altLang="en-US" sz="2000" b="0" i="0">
                <a:latin typeface="+mn-ea"/>
              </a:rPr>
              <a:t>并查集是一种用于管理元素所属集合的数据结构，实现为一个森林，其中每棵树表示一个集合，树中的节点表示对应集合中的元素。</a:t>
            </a:r>
            <a:endParaRPr lang="zh-CN" altLang="en-US" sz="2000" b="0" i="0">
              <a:latin typeface="+mn-ea"/>
            </a:endParaRPr>
          </a:p>
          <a:p>
            <a:pPr marL="0" indent="0"/>
            <a:endParaRPr lang="zh-CN" altLang="en-US" sz="2000" b="0" i="0">
              <a:latin typeface="+mn-ea"/>
            </a:endParaRPr>
          </a:p>
          <a:p>
            <a:pPr marL="0" indent="0"/>
            <a:endParaRPr lang="zh-CN" altLang="en-US" sz="2000" b="0" i="0">
              <a:latin typeface="+mn-ea"/>
            </a:endParaRPr>
          </a:p>
          <a:p>
            <a:pPr marL="0" indent="0"/>
            <a:r>
              <a:rPr lang="zh-CN" altLang="en-US" sz="2000" b="0" i="0">
                <a:latin typeface="+mn-ea"/>
              </a:rPr>
              <a:t>顾名思义，并查集支持两种操作：</a:t>
            </a:r>
            <a:endParaRPr lang="en-US" altLang="zh-CN" sz="2000" b="0" i="0">
              <a:latin typeface="+mn-ea"/>
            </a:endParaRPr>
          </a:p>
          <a:p>
            <a:pPr marL="0" indent="0"/>
            <a:r>
              <a:rPr lang="zh-CN" altLang="en-US" sz="2000" b="0" i="0">
                <a:latin typeface="+mn-ea"/>
              </a:rPr>
              <a:t>合并（</a:t>
            </a:r>
            <a:r>
              <a:rPr lang="en-US" altLang="zh-CN" sz="2000" b="0" i="0">
                <a:latin typeface="+mn-ea"/>
              </a:rPr>
              <a:t>Unite</a:t>
            </a:r>
            <a:r>
              <a:rPr lang="zh-CN" altLang="en-US" sz="2000" b="0" i="0">
                <a:latin typeface="+mn-ea"/>
              </a:rPr>
              <a:t>）：合并两个元素所属集合（合并对应的树）．</a:t>
            </a:r>
            <a:endParaRPr lang="zh-CN" altLang="en-US" sz="2000" b="0" i="0">
              <a:latin typeface="+mn-ea"/>
            </a:endParaRPr>
          </a:p>
          <a:p>
            <a:pPr marL="0" indent="0"/>
            <a:r>
              <a:rPr lang="zh-CN" altLang="en-US" sz="2000" b="0" i="0">
                <a:latin typeface="+mn-ea"/>
              </a:rPr>
              <a:t>查询（</a:t>
            </a:r>
            <a:r>
              <a:rPr lang="en-US" altLang="zh-CN" sz="2000" b="0" i="0">
                <a:latin typeface="+mn-ea"/>
              </a:rPr>
              <a:t>Find</a:t>
            </a:r>
            <a:r>
              <a:rPr lang="zh-CN" altLang="en-US" sz="2000" b="0" i="0">
                <a:latin typeface="+mn-ea"/>
              </a:rPr>
              <a:t>）：查询某个元素所属集合（查询对应的树的根节点），这可以用于判断两个元素是否属于同一集合．</a:t>
            </a:r>
            <a:endParaRPr lang="zh-CN" altLang="en-US" sz="2000" b="0" i="0">
              <a:latin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66420"/>
          </a:xfrm>
          <a:prstGeom prst="rect">
            <a:avLst/>
          </a:prstGeom>
        </p:spPr>
        <p:txBody>
          <a:bodyPr vert="horz" wrap="square" lIns="0" tIns="12700" rIns="0" bIns="0" rtlCol="0">
            <a:spAutoFit/>
          </a:bodyPr>
          <a:lstStyle/>
          <a:p>
            <a:pPr marL="12700">
              <a:lnSpc>
                <a:spcPct val="100000"/>
              </a:lnSpc>
              <a:spcBef>
                <a:spcPts val="100"/>
              </a:spcBef>
            </a:pPr>
            <a:r>
              <a:rPr lang="zh-CN" dirty="0">
                <a:latin typeface="宋体" panose="02010600030101010101" pitchFamily="2" charset="-122"/>
                <a:cs typeface="宋体" panose="02010600030101010101" pitchFamily="2" charset="-122"/>
                <a:sym typeface="+mn-ea"/>
              </a:rPr>
              <a:t>并查集</a:t>
            </a:r>
            <a:endParaRPr dirty="0">
              <a:latin typeface="宋体" panose="02010600030101010101" pitchFamily="2" charset="-122"/>
              <a:cs typeface="宋体" panose="02010600030101010101" pitchFamily="2" charset="-122"/>
            </a:endParaRPr>
          </a:p>
        </p:txBody>
      </p:sp>
      <p:sp>
        <p:nvSpPr>
          <p:cNvPr id="4" name="文本框 3"/>
          <p:cNvSpPr txBox="1"/>
          <p:nvPr/>
        </p:nvSpPr>
        <p:spPr>
          <a:xfrm>
            <a:off x="838200" y="1905000"/>
            <a:ext cx="7974330" cy="3655060"/>
          </a:xfrm>
          <a:prstGeom prst="rect">
            <a:avLst/>
          </a:prstGeom>
        </p:spPr>
        <p:txBody>
          <a:bodyPr>
            <a:noAutofit/>
          </a:bodyPr>
          <a:p>
            <a:pPr marL="0" indent="0"/>
            <a:r>
              <a:rPr lang="zh-CN" altLang="en-US" sz="2800" b="0" i="0">
                <a:latin typeface="+mn-ea"/>
              </a:rPr>
              <a:t>初始化</a:t>
            </a:r>
            <a:endParaRPr lang="zh-CN" altLang="en-US" sz="2800" b="0" i="0">
              <a:latin typeface="+mn-ea"/>
            </a:endParaRPr>
          </a:p>
          <a:p>
            <a:pPr marL="0" indent="0"/>
            <a:r>
              <a:rPr lang="zh-CN" altLang="en-US" sz="2000" b="0" i="0">
                <a:latin typeface="+mn-ea"/>
              </a:rPr>
              <a:t>初始时，每个元素都位于一个单独的集合，表示为一棵只有根节点的树．方便起见，我们将根节点的父亲设为自己．</a:t>
            </a:r>
            <a:endParaRPr lang="zh-CN" altLang="en-US" sz="2000" b="0" i="0">
              <a:latin typeface="+mn-ea"/>
            </a:endParaRPr>
          </a:p>
          <a:p>
            <a:pPr marL="0" indent="0"/>
            <a:endParaRPr lang="zh-CN" altLang="en-US" sz="2000" b="0" i="0">
              <a:latin typeface="+mn-ea"/>
            </a:endParaRPr>
          </a:p>
          <a:p>
            <a:pPr marL="0" indent="0"/>
            <a:endParaRPr lang="zh-CN" altLang="en-US" sz="2000" b="0" i="0">
              <a:latin typeface="+mn-ea"/>
            </a:endParaRPr>
          </a:p>
        </p:txBody>
      </p:sp>
      <p:pic>
        <p:nvPicPr>
          <p:cNvPr id="5" name="图片 4"/>
          <p:cNvPicPr>
            <a:picLocks noChangeAspect="1"/>
          </p:cNvPicPr>
          <p:nvPr/>
        </p:nvPicPr>
        <p:blipFill>
          <a:blip r:embed="rId1"/>
          <a:stretch>
            <a:fillRect/>
          </a:stretch>
        </p:blipFill>
        <p:spPr>
          <a:xfrm>
            <a:off x="1066800" y="3505200"/>
            <a:ext cx="5495290" cy="192468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66420"/>
          </a:xfrm>
          <a:prstGeom prst="rect">
            <a:avLst/>
          </a:prstGeom>
        </p:spPr>
        <p:txBody>
          <a:bodyPr vert="horz" wrap="square" lIns="0" tIns="12700" rIns="0" bIns="0" rtlCol="0">
            <a:spAutoFit/>
          </a:bodyPr>
          <a:lstStyle/>
          <a:p>
            <a:pPr marL="12700">
              <a:lnSpc>
                <a:spcPct val="100000"/>
              </a:lnSpc>
              <a:spcBef>
                <a:spcPts val="100"/>
              </a:spcBef>
            </a:pPr>
            <a:r>
              <a:rPr lang="zh-CN" dirty="0">
                <a:latin typeface="宋体" panose="02010600030101010101" pitchFamily="2" charset="-122"/>
                <a:cs typeface="宋体" panose="02010600030101010101" pitchFamily="2" charset="-122"/>
                <a:sym typeface="+mn-ea"/>
              </a:rPr>
              <a:t>并查集</a:t>
            </a:r>
            <a:endParaRPr dirty="0">
              <a:latin typeface="宋体" panose="02010600030101010101" pitchFamily="2" charset="-122"/>
              <a:cs typeface="宋体" panose="02010600030101010101" pitchFamily="2" charset="-122"/>
            </a:endParaRPr>
          </a:p>
        </p:txBody>
      </p:sp>
      <p:sp>
        <p:nvSpPr>
          <p:cNvPr id="4" name="文本框 3"/>
          <p:cNvSpPr txBox="1"/>
          <p:nvPr/>
        </p:nvSpPr>
        <p:spPr>
          <a:xfrm>
            <a:off x="838200" y="1524000"/>
            <a:ext cx="8141970" cy="3655060"/>
          </a:xfrm>
          <a:prstGeom prst="rect">
            <a:avLst/>
          </a:prstGeom>
        </p:spPr>
        <p:txBody>
          <a:bodyPr>
            <a:noAutofit/>
          </a:bodyPr>
          <a:p>
            <a:pPr marL="0" indent="0"/>
            <a:r>
              <a:rPr lang="zh-CN" altLang="en-US" sz="2800" b="0" i="0">
                <a:latin typeface="+mn-ea"/>
              </a:rPr>
              <a:t>查询</a:t>
            </a:r>
            <a:endParaRPr lang="zh-CN" altLang="en-US" sz="2800" b="0" i="0">
              <a:latin typeface="+mn-ea"/>
            </a:endParaRPr>
          </a:p>
          <a:p>
            <a:pPr marL="0" indent="0"/>
            <a:r>
              <a:rPr lang="zh-CN" altLang="en-US" sz="2000" b="0" i="0">
                <a:latin typeface="+mn-ea"/>
              </a:rPr>
              <a:t>我们需要沿着树向上移动，直至找到根节点</a:t>
            </a:r>
            <a:endParaRPr lang="zh-CN" altLang="en-US" sz="2000" b="0" i="0">
              <a:latin typeface="+mn-ea"/>
            </a:endParaRPr>
          </a:p>
          <a:p>
            <a:pPr marL="0" indent="0"/>
            <a:endParaRPr lang="zh-CN" altLang="en-US" sz="2000" b="0" i="0">
              <a:latin typeface="+mn-ea"/>
            </a:endParaRPr>
          </a:p>
          <a:p>
            <a:pPr marL="0" indent="0"/>
            <a:endParaRPr lang="zh-CN" altLang="en-US" sz="2000" b="0" i="0">
              <a:latin typeface="+mn-ea"/>
            </a:endParaRPr>
          </a:p>
          <a:p>
            <a:pPr marL="0" indent="0"/>
            <a:endParaRPr lang="zh-CN" altLang="en-US" sz="2000" b="0" i="0">
              <a:latin typeface="+mn-ea"/>
            </a:endParaRPr>
          </a:p>
          <a:p>
            <a:pPr marL="0" indent="0"/>
            <a:endParaRPr lang="zh-CN" altLang="en-US" sz="2000" b="0" i="0">
              <a:latin typeface="+mn-ea"/>
            </a:endParaRPr>
          </a:p>
          <a:p>
            <a:pPr marL="0" indent="0"/>
            <a:endParaRPr lang="zh-CN" altLang="en-US" sz="2000" b="0" i="0">
              <a:latin typeface="+mn-ea"/>
            </a:endParaRPr>
          </a:p>
          <a:p>
            <a:pPr marL="0" indent="0"/>
            <a:r>
              <a:rPr lang="zh-CN" altLang="en-US" sz="2800" b="0" i="0">
                <a:latin typeface="+mn-ea"/>
              </a:rPr>
              <a:t>合并</a:t>
            </a:r>
            <a:endParaRPr lang="zh-CN" altLang="en-US" sz="2800" b="0" i="0">
              <a:latin typeface="+mn-ea"/>
            </a:endParaRPr>
          </a:p>
          <a:p>
            <a:pPr marL="0" indent="0"/>
            <a:r>
              <a:rPr lang="zh-CN" altLang="en-US" sz="2000" b="0" i="0">
                <a:latin typeface="+mn-ea"/>
              </a:rPr>
              <a:t>要合并两棵树，我们只需要将一棵树的根节点连到另一棵树的根节点．</a:t>
            </a:r>
            <a:endParaRPr lang="zh-CN" altLang="en-US" sz="2000" b="0" i="0">
              <a:latin typeface="+mn-ea"/>
            </a:endParaRPr>
          </a:p>
        </p:txBody>
      </p:sp>
      <p:pic>
        <p:nvPicPr>
          <p:cNvPr id="7" name="图片 6"/>
          <p:cNvPicPr>
            <a:picLocks noChangeAspect="1"/>
          </p:cNvPicPr>
          <p:nvPr/>
        </p:nvPicPr>
        <p:blipFill>
          <a:blip r:embed="rId1"/>
          <a:stretch>
            <a:fillRect/>
          </a:stretch>
        </p:blipFill>
        <p:spPr>
          <a:xfrm>
            <a:off x="1828800" y="2514600"/>
            <a:ext cx="5347335" cy="1521460"/>
          </a:xfrm>
          <a:prstGeom prst="rect">
            <a:avLst/>
          </a:prstGeom>
        </p:spPr>
      </p:pic>
      <p:pic>
        <p:nvPicPr>
          <p:cNvPr id="3" name="图片 2"/>
          <p:cNvPicPr>
            <a:picLocks noChangeAspect="1"/>
          </p:cNvPicPr>
          <p:nvPr/>
        </p:nvPicPr>
        <p:blipFill>
          <a:blip r:embed="rId2"/>
          <a:stretch>
            <a:fillRect/>
          </a:stretch>
        </p:blipFill>
        <p:spPr>
          <a:xfrm>
            <a:off x="7620000" y="1828800"/>
            <a:ext cx="1709420" cy="2065655"/>
          </a:xfrm>
          <a:prstGeom prst="rect">
            <a:avLst/>
          </a:prstGeom>
        </p:spPr>
      </p:pic>
      <p:pic>
        <p:nvPicPr>
          <p:cNvPr id="6" name="图片 5"/>
          <p:cNvPicPr>
            <a:picLocks noChangeAspect="1"/>
          </p:cNvPicPr>
          <p:nvPr/>
        </p:nvPicPr>
        <p:blipFill>
          <a:blip r:embed="rId3"/>
          <a:stretch>
            <a:fillRect/>
          </a:stretch>
        </p:blipFill>
        <p:spPr>
          <a:xfrm>
            <a:off x="7543800" y="4572000"/>
            <a:ext cx="4267200" cy="2032000"/>
          </a:xfrm>
          <a:prstGeom prst="rect">
            <a:avLst/>
          </a:prstGeom>
        </p:spPr>
      </p:pic>
      <p:pic>
        <p:nvPicPr>
          <p:cNvPr id="8" name="图片 7"/>
          <p:cNvPicPr>
            <a:picLocks noChangeAspect="1"/>
          </p:cNvPicPr>
          <p:nvPr/>
        </p:nvPicPr>
        <p:blipFill>
          <a:blip r:embed="rId4"/>
          <a:stretch>
            <a:fillRect/>
          </a:stretch>
        </p:blipFill>
        <p:spPr>
          <a:xfrm>
            <a:off x="1905000" y="4800600"/>
            <a:ext cx="5353685" cy="146621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66420"/>
          </a:xfrm>
          <a:prstGeom prst="rect">
            <a:avLst/>
          </a:prstGeom>
        </p:spPr>
        <p:txBody>
          <a:bodyPr vert="horz" wrap="square" lIns="0" tIns="12700" rIns="0" bIns="0" rtlCol="0">
            <a:spAutoFit/>
          </a:bodyPr>
          <a:lstStyle/>
          <a:p>
            <a:pPr marL="12700">
              <a:lnSpc>
                <a:spcPct val="100000"/>
              </a:lnSpc>
              <a:spcBef>
                <a:spcPts val="100"/>
              </a:spcBef>
            </a:pPr>
            <a:r>
              <a:rPr lang="zh-CN" dirty="0">
                <a:latin typeface="宋体" panose="02010600030101010101" pitchFamily="2" charset="-122"/>
                <a:cs typeface="宋体" panose="02010600030101010101" pitchFamily="2" charset="-122"/>
                <a:sym typeface="+mn-ea"/>
              </a:rPr>
              <a:t>并查集</a:t>
            </a:r>
            <a:endParaRPr dirty="0">
              <a:latin typeface="宋体" panose="02010600030101010101" pitchFamily="2" charset="-122"/>
              <a:cs typeface="宋体" panose="02010600030101010101" pitchFamily="2" charset="-122"/>
            </a:endParaRPr>
          </a:p>
        </p:txBody>
      </p:sp>
      <p:sp>
        <p:nvSpPr>
          <p:cNvPr id="4" name="文本框 3"/>
          <p:cNvSpPr txBox="1"/>
          <p:nvPr/>
        </p:nvSpPr>
        <p:spPr>
          <a:xfrm>
            <a:off x="838200" y="1219200"/>
            <a:ext cx="8146415" cy="3655060"/>
          </a:xfrm>
          <a:prstGeom prst="rect">
            <a:avLst/>
          </a:prstGeom>
        </p:spPr>
        <p:txBody>
          <a:bodyPr>
            <a:noAutofit/>
          </a:bodyPr>
          <a:p>
            <a:pPr marL="0" indent="0"/>
            <a:r>
              <a:rPr lang="zh-CN" altLang="en-US" sz="2800" b="0" i="0">
                <a:latin typeface="+mn-ea"/>
              </a:rPr>
              <a:t>路径压缩</a:t>
            </a:r>
            <a:endParaRPr lang="zh-CN" altLang="en-US" sz="2800" b="0" i="0">
              <a:latin typeface="+mn-ea"/>
            </a:endParaRPr>
          </a:p>
          <a:p>
            <a:pPr marL="0" indent="0"/>
            <a:r>
              <a:rPr lang="zh-CN" altLang="en-US" sz="2000" b="0" i="0">
                <a:latin typeface="+mn-ea"/>
              </a:rPr>
              <a:t>查询过程中经过的每个元素都属于该集合，我们可以将其直接连到根节点以加快后续查询</a:t>
            </a:r>
            <a:endParaRPr lang="zh-CN" altLang="en-US" sz="2000" b="0" i="0">
              <a:latin typeface="+mn-ea"/>
            </a:endParaRPr>
          </a:p>
          <a:p>
            <a:pPr marL="0" indent="0"/>
            <a:endParaRPr lang="zh-CN" altLang="en-US" sz="2000" b="0" i="0">
              <a:latin typeface="+mn-ea"/>
            </a:endParaRPr>
          </a:p>
          <a:p>
            <a:pPr marL="0" indent="0"/>
            <a:endParaRPr lang="zh-CN" altLang="en-US" sz="2000" b="0" i="0">
              <a:latin typeface="+mn-ea"/>
            </a:endParaRPr>
          </a:p>
          <a:p>
            <a:pPr marL="0" indent="0"/>
            <a:endParaRPr lang="zh-CN" altLang="en-US" sz="2000" b="0" i="0">
              <a:latin typeface="+mn-ea"/>
            </a:endParaRPr>
          </a:p>
          <a:p>
            <a:pPr marL="0" indent="0"/>
            <a:r>
              <a:rPr lang="zh-CN" altLang="en-US" sz="2800" b="0" i="0">
                <a:latin typeface="+mn-ea"/>
              </a:rPr>
              <a:t>启发式合并</a:t>
            </a:r>
            <a:endParaRPr lang="zh-CN" altLang="en-US" sz="2800" b="0" i="0">
              <a:latin typeface="+mn-ea"/>
            </a:endParaRPr>
          </a:p>
          <a:p>
            <a:pPr marL="0" indent="0"/>
            <a:r>
              <a:rPr lang="zh-CN" altLang="en-US" sz="2000" b="0" i="0">
                <a:latin typeface="+mn-ea"/>
              </a:rPr>
              <a:t>合并时，选择哪棵树的根节点作为新树的根节点会影响未来操作的复杂度．我们可以将节点较少或深度较小的树连到另一棵，以免发生退化</a:t>
            </a:r>
            <a:endParaRPr lang="zh-CN" altLang="en-US" sz="2000" b="0" i="0">
              <a:latin typeface="+mn-ea"/>
            </a:endParaRPr>
          </a:p>
        </p:txBody>
      </p:sp>
      <p:pic>
        <p:nvPicPr>
          <p:cNvPr id="5" name="图片 4"/>
          <p:cNvPicPr>
            <a:picLocks noChangeAspect="1"/>
          </p:cNvPicPr>
          <p:nvPr/>
        </p:nvPicPr>
        <p:blipFill>
          <a:blip r:embed="rId1"/>
          <a:stretch>
            <a:fillRect/>
          </a:stretch>
        </p:blipFill>
        <p:spPr>
          <a:xfrm>
            <a:off x="2743200" y="2362200"/>
            <a:ext cx="5219700" cy="1162050"/>
          </a:xfrm>
          <a:prstGeom prst="rect">
            <a:avLst/>
          </a:prstGeom>
        </p:spPr>
      </p:pic>
      <p:pic>
        <p:nvPicPr>
          <p:cNvPr id="9" name="图片 8"/>
          <p:cNvPicPr>
            <a:picLocks noChangeAspect="1"/>
          </p:cNvPicPr>
          <p:nvPr/>
        </p:nvPicPr>
        <p:blipFill>
          <a:blip r:embed="rId2"/>
          <a:stretch>
            <a:fillRect/>
          </a:stretch>
        </p:blipFill>
        <p:spPr>
          <a:xfrm>
            <a:off x="7772400" y="1981200"/>
            <a:ext cx="4279900" cy="1670050"/>
          </a:xfrm>
          <a:prstGeom prst="rect">
            <a:avLst/>
          </a:prstGeom>
        </p:spPr>
      </p:pic>
      <p:pic>
        <p:nvPicPr>
          <p:cNvPr id="10" name="图片 9"/>
          <p:cNvPicPr>
            <a:picLocks noChangeAspect="1"/>
          </p:cNvPicPr>
          <p:nvPr/>
        </p:nvPicPr>
        <p:blipFill>
          <a:blip r:embed="rId3"/>
          <a:stretch>
            <a:fillRect/>
          </a:stretch>
        </p:blipFill>
        <p:spPr>
          <a:xfrm>
            <a:off x="1600200" y="4267200"/>
            <a:ext cx="4972050" cy="249555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66420"/>
          </a:xfrm>
          <a:prstGeom prst="rect">
            <a:avLst/>
          </a:prstGeom>
        </p:spPr>
        <p:txBody>
          <a:bodyPr vert="horz" wrap="square" lIns="0" tIns="12700" rIns="0" bIns="0" rtlCol="0">
            <a:spAutoFit/>
          </a:bodyPr>
          <a:lstStyle/>
          <a:p>
            <a:pPr marL="12700">
              <a:lnSpc>
                <a:spcPct val="100000"/>
              </a:lnSpc>
              <a:spcBef>
                <a:spcPts val="100"/>
              </a:spcBef>
            </a:pPr>
            <a:r>
              <a:rPr lang="zh-CN" dirty="0">
                <a:latin typeface="宋体" panose="02010600030101010101" pitchFamily="2" charset="-122"/>
                <a:cs typeface="宋体" panose="02010600030101010101" pitchFamily="2" charset="-122"/>
                <a:sym typeface="+mn-ea"/>
              </a:rPr>
              <a:t>并查集</a:t>
            </a:r>
            <a:endParaRPr dirty="0">
              <a:latin typeface="宋体" panose="02010600030101010101" pitchFamily="2" charset="-122"/>
              <a:cs typeface="宋体" panose="02010600030101010101" pitchFamily="2" charset="-122"/>
            </a:endParaRPr>
          </a:p>
        </p:txBody>
      </p:sp>
      <p:pic>
        <p:nvPicPr>
          <p:cNvPr id="3" name="图片 2"/>
          <p:cNvPicPr>
            <a:picLocks noChangeAspect="1"/>
          </p:cNvPicPr>
          <p:nvPr/>
        </p:nvPicPr>
        <p:blipFill>
          <a:blip r:embed="rId1"/>
          <a:stretch>
            <a:fillRect/>
          </a:stretch>
        </p:blipFill>
        <p:spPr>
          <a:xfrm>
            <a:off x="914400" y="1371600"/>
            <a:ext cx="8649970" cy="483298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66420"/>
          </a:xfrm>
          <a:prstGeom prst="rect">
            <a:avLst/>
          </a:prstGeom>
        </p:spPr>
        <p:txBody>
          <a:bodyPr vert="horz" wrap="square" lIns="0" tIns="12700" rIns="0" bIns="0" rtlCol="0">
            <a:spAutoFit/>
          </a:bodyPr>
          <a:lstStyle/>
          <a:p>
            <a:pPr marL="12700">
              <a:lnSpc>
                <a:spcPct val="100000"/>
              </a:lnSpc>
              <a:spcBef>
                <a:spcPts val="100"/>
              </a:spcBef>
            </a:pPr>
            <a:r>
              <a:rPr lang="zh-CN" dirty="0">
                <a:latin typeface="宋体" panose="02010600030101010101" pitchFamily="2" charset="-122"/>
                <a:cs typeface="宋体" panose="02010600030101010101" pitchFamily="2" charset="-122"/>
                <a:sym typeface="+mn-ea"/>
              </a:rPr>
              <a:t>并查集</a:t>
            </a:r>
            <a:endParaRPr dirty="0">
              <a:latin typeface="宋体" panose="02010600030101010101" pitchFamily="2" charset="-122"/>
              <a:cs typeface="宋体" panose="02010600030101010101" pitchFamily="2" charset="-122"/>
            </a:endParaRPr>
          </a:p>
        </p:txBody>
      </p:sp>
      <p:sp>
        <p:nvSpPr>
          <p:cNvPr id="4" name="文本框 3"/>
          <p:cNvSpPr txBox="1"/>
          <p:nvPr/>
        </p:nvSpPr>
        <p:spPr>
          <a:xfrm>
            <a:off x="838200" y="1219200"/>
            <a:ext cx="9331325" cy="5579745"/>
          </a:xfrm>
          <a:prstGeom prst="rect">
            <a:avLst/>
          </a:prstGeom>
        </p:spPr>
        <p:txBody>
          <a:bodyPr>
            <a:noAutofit/>
          </a:bodyPr>
          <a:p>
            <a:pPr marL="0" indent="0"/>
            <a:r>
              <a:rPr lang="zh-CN" altLang="en-US" sz="2800">
                <a:latin typeface="+mn-ea"/>
                <a:sym typeface="+mn-ea"/>
              </a:rPr>
              <a:t>种类并查集</a:t>
            </a:r>
            <a:r>
              <a:rPr lang="en-US" altLang="zh-CN" sz="2800">
                <a:latin typeface="+mn-ea"/>
                <a:sym typeface="+mn-ea"/>
              </a:rPr>
              <a:t>/</a:t>
            </a:r>
            <a:r>
              <a:rPr lang="zh-CN" altLang="zh-CN" sz="2800">
                <a:latin typeface="+mn-ea"/>
                <a:sym typeface="+mn-ea"/>
              </a:rPr>
              <a:t>扩展域并查集</a:t>
            </a:r>
            <a:endParaRPr lang="zh-CN" altLang="en-US" sz="2800" b="0" i="0">
              <a:latin typeface="+mn-ea"/>
            </a:endParaRPr>
          </a:p>
          <a:p>
            <a:pPr marL="0" indent="0"/>
            <a:r>
              <a:rPr lang="zh-CN" altLang="en-US" sz="2000" b="0" i="0">
                <a:latin typeface="+mn-ea"/>
              </a:rPr>
              <a:t>种类并查集（</a:t>
            </a:r>
            <a:r>
              <a:rPr lang="en-US" altLang="zh-CN" sz="2000" b="0" i="0">
                <a:latin typeface="+mn-ea"/>
              </a:rPr>
              <a:t>Type Union-Find</a:t>
            </a:r>
            <a:r>
              <a:rPr lang="zh-CN" altLang="en-US" sz="2000" b="0" i="0">
                <a:latin typeface="+mn-ea"/>
              </a:rPr>
              <a:t>）是并查集的一个变种，它通过扩大原有的并查集空间来维护多种不同的关系。在处理某些问题时，比如需要区分元素之间的</a:t>
            </a:r>
            <a:r>
              <a:rPr lang="en-US" altLang="zh-CN" sz="2000" b="0" i="0">
                <a:latin typeface="+mn-ea"/>
              </a:rPr>
              <a:t>“</a:t>
            </a:r>
            <a:r>
              <a:rPr lang="zh-CN" altLang="en-US" sz="2000" b="0" i="0">
                <a:latin typeface="+mn-ea"/>
              </a:rPr>
              <a:t>朋友</a:t>
            </a:r>
            <a:r>
              <a:rPr lang="en-US" altLang="zh-CN" sz="2000" b="0" i="0">
                <a:latin typeface="+mn-ea"/>
              </a:rPr>
              <a:t>”</a:t>
            </a:r>
            <a:r>
              <a:rPr lang="zh-CN" altLang="en-US" sz="2000" b="0" i="0">
                <a:latin typeface="+mn-ea"/>
              </a:rPr>
              <a:t>和</a:t>
            </a:r>
            <a:r>
              <a:rPr lang="en-US" altLang="zh-CN" sz="2000" b="0" i="0">
                <a:latin typeface="+mn-ea"/>
              </a:rPr>
              <a:t>“</a:t>
            </a:r>
            <a:r>
              <a:rPr lang="zh-CN" altLang="en-US" sz="2000" b="0" i="0">
                <a:latin typeface="+mn-ea"/>
              </a:rPr>
              <a:t>敌人</a:t>
            </a:r>
            <a:r>
              <a:rPr lang="en-US" altLang="zh-CN" sz="2000" b="0" i="0">
                <a:latin typeface="+mn-ea"/>
              </a:rPr>
              <a:t>”</a:t>
            </a:r>
            <a:r>
              <a:rPr lang="zh-CN" altLang="en-US" sz="2000" b="0" i="0">
                <a:latin typeface="+mn-ea"/>
              </a:rPr>
              <a:t>关系，仅使用普通的并查集是不够的，因为它只能维护元素之间的一种关系。</a:t>
            </a:r>
            <a:endParaRPr lang="zh-CN" altLang="en-US" sz="2000" b="0" i="0">
              <a:latin typeface="+mn-ea"/>
            </a:endParaRPr>
          </a:p>
          <a:p>
            <a:pPr marL="0" indent="0"/>
            <a:endParaRPr lang="zh-CN" altLang="en-US" sz="2000" b="0" i="0">
              <a:latin typeface="+mn-ea"/>
            </a:endParaRPr>
          </a:p>
          <a:p>
            <a:pPr marL="0" indent="0"/>
            <a:r>
              <a:rPr lang="zh-CN" altLang="en-US" sz="2000" b="0" i="0">
                <a:latin typeface="+mn-ea"/>
              </a:rPr>
              <a:t>为了解决这个问题，种类并查集将每个元素的表示扩大到</a:t>
            </a:r>
            <a:r>
              <a:rPr lang="en-US" altLang="zh-CN" sz="2000" b="0" i="0">
                <a:latin typeface="+mn-ea"/>
              </a:rPr>
              <a:t>2</a:t>
            </a:r>
            <a:r>
              <a:rPr lang="zh-CN" altLang="en-US" sz="2000" b="0" i="0">
                <a:latin typeface="+mn-ea"/>
              </a:rPr>
              <a:t>倍。这样做的目的是为了能够同时维护</a:t>
            </a:r>
            <a:r>
              <a:rPr lang="en-US" altLang="zh-CN" sz="2000" b="0" i="0">
                <a:latin typeface="+mn-ea"/>
              </a:rPr>
              <a:t>“</a:t>
            </a:r>
            <a:r>
              <a:rPr lang="zh-CN" altLang="en-US" sz="2000" b="0" i="0">
                <a:latin typeface="+mn-ea"/>
              </a:rPr>
              <a:t>朋友</a:t>
            </a:r>
            <a:r>
              <a:rPr lang="en-US" altLang="zh-CN" sz="2000" b="0" i="0">
                <a:latin typeface="+mn-ea"/>
              </a:rPr>
              <a:t>”</a:t>
            </a:r>
            <a:r>
              <a:rPr lang="zh-CN" altLang="en-US" sz="2000" b="0" i="0">
                <a:latin typeface="+mn-ea"/>
              </a:rPr>
              <a:t>关系和</a:t>
            </a:r>
            <a:r>
              <a:rPr lang="en-US" altLang="zh-CN" sz="2000" b="0" i="0">
                <a:latin typeface="+mn-ea"/>
              </a:rPr>
              <a:t>“</a:t>
            </a:r>
            <a:r>
              <a:rPr lang="zh-CN" altLang="en-US" sz="2000" b="0" i="0">
                <a:latin typeface="+mn-ea"/>
              </a:rPr>
              <a:t>敌人</a:t>
            </a:r>
            <a:r>
              <a:rPr lang="en-US" altLang="zh-CN" sz="2000" b="0" i="0">
                <a:latin typeface="+mn-ea"/>
              </a:rPr>
              <a:t>”</a:t>
            </a:r>
            <a:r>
              <a:rPr lang="zh-CN" altLang="en-US" sz="2000" b="0" i="0">
                <a:latin typeface="+mn-ea"/>
              </a:rPr>
              <a:t>关系。具体来说，如果有</a:t>
            </a:r>
            <a:r>
              <a:rPr lang="en-US" altLang="zh-CN" sz="2000" b="0" i="0">
                <a:latin typeface="+mn-ea"/>
              </a:rPr>
              <a:t>n</a:t>
            </a:r>
            <a:r>
              <a:rPr lang="zh-CN" altLang="en-US" sz="2000" b="0" i="0">
                <a:latin typeface="+mn-ea"/>
              </a:rPr>
              <a:t>个元素，我们会创建一个</a:t>
            </a:r>
            <a:r>
              <a:rPr lang="en-US" altLang="zh-CN" sz="2000" b="0" i="0">
                <a:latin typeface="+mn-ea"/>
              </a:rPr>
              <a:t>2</a:t>
            </a:r>
            <a:r>
              <a:rPr lang="en-US" altLang="zh-CN" sz="2000" b="0" i="0">
                <a:latin typeface="+mn-ea"/>
              </a:rPr>
              <a:t>*</a:t>
            </a:r>
            <a:r>
              <a:rPr lang="en-US" altLang="zh-CN" sz="2000" b="0" i="0">
                <a:latin typeface="+mn-ea"/>
              </a:rPr>
              <a:t>n</a:t>
            </a:r>
            <a:r>
              <a:rPr lang="zh-CN" altLang="en-US" sz="2000" b="0" i="0">
                <a:latin typeface="+mn-ea"/>
              </a:rPr>
              <a:t>大小的数组，其中前</a:t>
            </a:r>
            <a:r>
              <a:rPr lang="en-US" altLang="zh-CN" sz="2000" b="0" i="0">
                <a:latin typeface="+mn-ea"/>
              </a:rPr>
              <a:t>n</a:t>
            </a:r>
            <a:r>
              <a:rPr lang="zh-CN" altLang="en-US" sz="2000" b="0" i="0">
                <a:latin typeface="+mn-ea"/>
              </a:rPr>
              <a:t>个位置用来表示元素之间的</a:t>
            </a:r>
            <a:r>
              <a:rPr lang="en-US" altLang="zh-CN" sz="2000" b="0" i="0">
                <a:latin typeface="+mn-ea"/>
              </a:rPr>
              <a:t>“</a:t>
            </a:r>
            <a:r>
              <a:rPr lang="zh-CN" altLang="en-US" sz="2000" b="0" i="0">
                <a:latin typeface="+mn-ea"/>
              </a:rPr>
              <a:t>朋友</a:t>
            </a:r>
            <a:r>
              <a:rPr lang="en-US" altLang="zh-CN" sz="2000" b="0" i="0">
                <a:latin typeface="+mn-ea"/>
              </a:rPr>
              <a:t>”</a:t>
            </a:r>
            <a:r>
              <a:rPr lang="zh-CN" altLang="en-US" sz="2000" b="0" i="0">
                <a:latin typeface="+mn-ea"/>
              </a:rPr>
              <a:t>关系，而后</a:t>
            </a:r>
            <a:r>
              <a:rPr lang="en-US" altLang="zh-CN" sz="2000" b="0" i="0">
                <a:latin typeface="+mn-ea"/>
              </a:rPr>
              <a:t>n</a:t>
            </a:r>
            <a:r>
              <a:rPr lang="zh-CN" altLang="en-US" sz="2000" b="0" i="0">
                <a:latin typeface="+mn-ea"/>
              </a:rPr>
              <a:t>个位置用来表示</a:t>
            </a:r>
            <a:r>
              <a:rPr lang="en-US" altLang="zh-CN" sz="2000" b="0" i="0">
                <a:latin typeface="+mn-ea"/>
              </a:rPr>
              <a:t>“</a:t>
            </a:r>
            <a:r>
              <a:rPr lang="zh-CN" altLang="en-US" sz="2000" b="0" i="0">
                <a:latin typeface="+mn-ea"/>
              </a:rPr>
              <a:t>敌人</a:t>
            </a:r>
            <a:r>
              <a:rPr lang="en-US" altLang="zh-CN" sz="2000" b="0" i="0">
                <a:latin typeface="+mn-ea"/>
              </a:rPr>
              <a:t>”</a:t>
            </a:r>
            <a:r>
              <a:rPr lang="zh-CN" altLang="en-US" sz="2000" b="0" i="0">
                <a:latin typeface="+mn-ea"/>
              </a:rPr>
              <a:t>关系。</a:t>
            </a:r>
            <a:endParaRPr lang="zh-CN" altLang="en-US" sz="2000" b="0" i="0">
              <a:latin typeface="+mn-ea"/>
            </a:endParaRPr>
          </a:p>
          <a:p>
            <a:pPr marL="0" indent="0"/>
            <a:endParaRPr lang="en-US" altLang="zh-CN" sz="2000" b="0" i="0">
              <a:latin typeface="+mn-ea"/>
            </a:endParaRPr>
          </a:p>
          <a:p>
            <a:pPr marL="0" indent="0"/>
            <a:r>
              <a:rPr lang="zh-CN" altLang="en-US" sz="2000" b="0" i="0">
                <a:latin typeface="+mn-ea"/>
              </a:rPr>
              <a:t>种类并查集和普通并查集解决问题差异</a:t>
            </a:r>
            <a:endParaRPr lang="zh-CN" altLang="en-US" sz="2000" b="0" i="0">
              <a:latin typeface="+mn-ea"/>
            </a:endParaRPr>
          </a:p>
          <a:p>
            <a:pPr marL="0" indent="0"/>
            <a:r>
              <a:rPr lang="en-US" altLang="zh-CN" sz="2000" b="0" i="0">
                <a:latin typeface="+mn-ea"/>
              </a:rPr>
              <a:t>1</a:t>
            </a:r>
            <a:r>
              <a:rPr lang="zh-CN" altLang="en-US" sz="2000" b="0" i="0">
                <a:latin typeface="+mn-ea"/>
              </a:rPr>
              <a:t>、普通并查集，维护的是具有连通性、传递性的关系</a:t>
            </a:r>
            <a:endParaRPr lang="zh-CN" altLang="en-US" sz="2000" b="0" i="0">
              <a:latin typeface="+mn-ea"/>
            </a:endParaRPr>
          </a:p>
          <a:p>
            <a:pPr marL="0" indent="0"/>
            <a:r>
              <a:rPr lang="en-US" altLang="zh-CN" sz="2000" b="0" i="0">
                <a:latin typeface="+mn-ea"/>
              </a:rPr>
              <a:t>2</a:t>
            </a:r>
            <a:r>
              <a:rPr lang="zh-CN" altLang="en-US" sz="2000" b="0" i="0">
                <a:latin typeface="+mn-ea"/>
              </a:rPr>
              <a:t>、但有时候，我们却需要用到种类并查集来维护另一种关系：敌人的敌人是朋友</a:t>
            </a:r>
            <a:endParaRPr lang="zh-CN" altLang="en-US" sz="2000" b="0" i="0">
              <a:latin typeface="+mn-ea"/>
            </a:endParaRPr>
          </a:p>
          <a:p>
            <a:pPr marL="0" indent="0"/>
            <a:endParaRPr lang="en-US" altLang="zh-CN" sz="2000" b="0" i="0">
              <a:latin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66420"/>
          </a:xfrm>
          <a:prstGeom prst="rect">
            <a:avLst/>
          </a:prstGeom>
        </p:spPr>
        <p:txBody>
          <a:bodyPr vert="horz" wrap="square" lIns="0" tIns="12700" rIns="0" bIns="0" rtlCol="0">
            <a:spAutoFit/>
          </a:bodyPr>
          <a:lstStyle/>
          <a:p>
            <a:pPr marL="12700">
              <a:lnSpc>
                <a:spcPct val="100000"/>
              </a:lnSpc>
              <a:spcBef>
                <a:spcPts val="100"/>
              </a:spcBef>
            </a:pPr>
            <a:r>
              <a:rPr lang="zh-CN" dirty="0">
                <a:latin typeface="宋体" panose="02010600030101010101" pitchFamily="2" charset="-122"/>
                <a:cs typeface="宋体" panose="02010600030101010101" pitchFamily="2" charset="-122"/>
                <a:sym typeface="+mn-ea"/>
              </a:rPr>
              <a:t>并查集</a:t>
            </a:r>
            <a:endParaRPr dirty="0">
              <a:latin typeface="宋体" panose="02010600030101010101" pitchFamily="2" charset="-122"/>
              <a:cs typeface="宋体" panose="02010600030101010101" pitchFamily="2" charset="-122"/>
            </a:endParaRPr>
          </a:p>
        </p:txBody>
      </p:sp>
      <p:pic>
        <p:nvPicPr>
          <p:cNvPr id="6" name="图片 5"/>
          <p:cNvPicPr>
            <a:picLocks noChangeAspect="1"/>
          </p:cNvPicPr>
          <p:nvPr/>
        </p:nvPicPr>
        <p:blipFill>
          <a:blip r:embed="rId1"/>
          <a:stretch>
            <a:fillRect/>
          </a:stretch>
        </p:blipFill>
        <p:spPr>
          <a:xfrm>
            <a:off x="1143000" y="1371600"/>
            <a:ext cx="8952230" cy="502602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66420"/>
          </a:xfrm>
          <a:prstGeom prst="rect">
            <a:avLst/>
          </a:prstGeom>
        </p:spPr>
        <p:txBody>
          <a:bodyPr vert="horz" wrap="square" lIns="0" tIns="12700" rIns="0" bIns="0" rtlCol="0">
            <a:spAutoFit/>
          </a:bodyPr>
          <a:lstStyle/>
          <a:p>
            <a:pPr marL="12700">
              <a:lnSpc>
                <a:spcPct val="100000"/>
              </a:lnSpc>
              <a:spcBef>
                <a:spcPts val="100"/>
              </a:spcBef>
            </a:pPr>
            <a:r>
              <a:rPr lang="zh-CN" dirty="0">
                <a:latin typeface="宋体" panose="02010600030101010101" pitchFamily="2" charset="-122"/>
                <a:cs typeface="宋体" panose="02010600030101010101" pitchFamily="2" charset="-122"/>
                <a:sym typeface="+mn-ea"/>
              </a:rPr>
              <a:t>并查集</a:t>
            </a:r>
            <a:endParaRPr dirty="0">
              <a:latin typeface="宋体" panose="02010600030101010101" pitchFamily="2" charset="-122"/>
              <a:cs typeface="宋体" panose="02010600030101010101" pitchFamily="2" charset="-122"/>
            </a:endParaRPr>
          </a:p>
        </p:txBody>
      </p:sp>
      <p:sp>
        <p:nvSpPr>
          <p:cNvPr id="4" name="文本框 3"/>
          <p:cNvSpPr txBox="1"/>
          <p:nvPr/>
        </p:nvSpPr>
        <p:spPr>
          <a:xfrm>
            <a:off x="838200" y="1219200"/>
            <a:ext cx="9331325" cy="5579745"/>
          </a:xfrm>
          <a:prstGeom prst="rect">
            <a:avLst/>
          </a:prstGeom>
        </p:spPr>
        <p:txBody>
          <a:bodyPr>
            <a:noAutofit/>
          </a:bodyPr>
          <a:p>
            <a:pPr marL="0" indent="0"/>
            <a:r>
              <a:rPr lang="zh-CN" altLang="en-US" sz="2800" b="0" i="0">
                <a:latin typeface="+mn-ea"/>
              </a:rPr>
              <a:t>带权并查集</a:t>
            </a:r>
            <a:endParaRPr lang="zh-CN" altLang="en-US" sz="2800" b="0" i="0">
              <a:latin typeface="+mn-ea"/>
            </a:endParaRPr>
          </a:p>
          <a:p>
            <a:pPr marL="0" indent="0"/>
            <a:r>
              <a:rPr lang="zh-CN" altLang="en-US" sz="2000" b="0" i="0">
                <a:latin typeface="+mn-ea"/>
              </a:rPr>
              <a:t>普通的并查集仅仅记录的是集合的关系，这个关系无非是同属一个集合或者是不在一个集合。</a:t>
            </a:r>
            <a:endParaRPr lang="zh-CN" altLang="en-US" sz="2000" b="0" i="0">
              <a:latin typeface="+mn-ea"/>
            </a:endParaRPr>
          </a:p>
          <a:p>
            <a:pPr marL="0" indent="0"/>
            <a:r>
              <a:rPr lang="zh-CN" altLang="en-US" sz="2000" b="0" i="0">
                <a:latin typeface="+mn-ea"/>
              </a:rPr>
              <a:t>带权并查集不仅记录集合的关系，还记录着集合内元素的关系或者说是集合内元素连接线的权值。</a:t>
            </a:r>
            <a:endParaRPr lang="zh-CN" altLang="en-US" sz="2000" b="0" i="0">
              <a:latin typeface="+mn-ea"/>
            </a:endParaRPr>
          </a:p>
          <a:p>
            <a:pPr marL="0" indent="0"/>
            <a:endParaRPr lang="en-US" altLang="zh-CN" sz="2000" b="0" i="0">
              <a:latin typeface="+mn-ea"/>
            </a:endParaRPr>
          </a:p>
          <a:p>
            <a:pPr marL="0" indent="0"/>
            <a:r>
              <a:rPr lang="zh-CN" altLang="en-US" sz="2000" b="0" i="0">
                <a:latin typeface="+mn-ea"/>
              </a:rPr>
              <a:t>带权并查集的实现，需要在普通并查集的基础上，注意以下问题：</a:t>
            </a:r>
            <a:endParaRPr lang="en-US" altLang="zh-CN" sz="2000" b="0" i="0">
              <a:latin typeface="+mn-ea"/>
            </a:endParaRPr>
          </a:p>
          <a:p>
            <a:pPr marL="0" indent="0"/>
            <a:r>
              <a:rPr lang="en-US" altLang="zh-CN" sz="2000" b="0" i="0">
                <a:latin typeface="+mn-ea"/>
              </a:rPr>
              <a:t>1</a:t>
            </a:r>
            <a:r>
              <a:rPr lang="zh-CN" altLang="en-US" sz="2000" b="0" i="0">
                <a:latin typeface="+mn-ea"/>
              </a:rPr>
              <a:t>、每个节点都记录的是与根节点之间的权值，那么在</a:t>
            </a:r>
            <a:r>
              <a:rPr lang="en-US" altLang="zh-CN" sz="2000" b="0" i="0">
                <a:latin typeface="+mn-ea"/>
              </a:rPr>
              <a:t>Find</a:t>
            </a:r>
            <a:r>
              <a:rPr lang="zh-CN" altLang="en-US" sz="2000" b="0" i="0">
                <a:latin typeface="+mn-ea"/>
              </a:rPr>
              <a:t>的路径压缩过程中，权值也应该做相应的更新，因为在路径压缩之前，每个节点都是与其父节点链接着，那个</a:t>
            </a:r>
            <a:r>
              <a:rPr lang="en-US" altLang="zh-CN" sz="2000" b="0" i="0">
                <a:latin typeface="+mn-ea"/>
              </a:rPr>
              <a:t>Value</a:t>
            </a:r>
            <a:r>
              <a:rPr lang="zh-CN" altLang="en-US" sz="2000" b="0" i="0">
                <a:latin typeface="+mn-ea"/>
              </a:rPr>
              <a:t>自然也是与其父节点之间的权值。</a:t>
            </a:r>
            <a:endParaRPr lang="zh-CN" altLang="en-US" sz="2000" b="0" i="0">
              <a:latin typeface="+mn-ea"/>
            </a:endParaRPr>
          </a:p>
          <a:p>
            <a:pPr marL="0" indent="0"/>
            <a:r>
              <a:rPr lang="en-US" altLang="zh-CN" sz="2000" b="0" i="0">
                <a:latin typeface="+mn-ea"/>
              </a:rPr>
              <a:t>2</a:t>
            </a:r>
            <a:r>
              <a:rPr lang="zh-CN" altLang="en-US" sz="2000" b="0" i="0">
                <a:latin typeface="+mn-ea"/>
              </a:rPr>
              <a:t>、在两个并查集做合并的时候，权值也要做相应的更新，因为两个并查集的根节点不同。</a:t>
            </a:r>
            <a:endParaRPr lang="en-US" altLang="zh-CN" sz="2000" b="0" i="0">
              <a:latin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66420"/>
          </a:xfrm>
          <a:prstGeom prst="rect">
            <a:avLst/>
          </a:prstGeom>
        </p:spPr>
        <p:txBody>
          <a:bodyPr vert="horz" wrap="square" lIns="0" tIns="12700" rIns="0" bIns="0" rtlCol="0">
            <a:spAutoFit/>
          </a:bodyPr>
          <a:lstStyle/>
          <a:p>
            <a:pPr marL="12700">
              <a:lnSpc>
                <a:spcPct val="100000"/>
              </a:lnSpc>
              <a:spcBef>
                <a:spcPts val="100"/>
              </a:spcBef>
            </a:pPr>
            <a:r>
              <a:rPr lang="zh-CN" dirty="0">
                <a:latin typeface="宋体" panose="02010600030101010101" pitchFamily="2" charset="-122"/>
                <a:cs typeface="宋体" panose="02010600030101010101" pitchFamily="2" charset="-122"/>
                <a:sym typeface="+mn-ea"/>
              </a:rPr>
              <a:t>并查集</a:t>
            </a:r>
            <a:endParaRPr dirty="0">
              <a:latin typeface="宋体" panose="02010600030101010101" pitchFamily="2" charset="-122"/>
              <a:cs typeface="宋体" panose="02010600030101010101" pitchFamily="2" charset="-122"/>
            </a:endParaRPr>
          </a:p>
        </p:txBody>
      </p:sp>
      <p:pic>
        <p:nvPicPr>
          <p:cNvPr id="3" name="图片 2"/>
          <p:cNvPicPr>
            <a:picLocks noChangeAspect="1"/>
          </p:cNvPicPr>
          <p:nvPr/>
        </p:nvPicPr>
        <p:blipFill>
          <a:blip r:embed="rId1"/>
          <a:stretch>
            <a:fillRect/>
          </a:stretch>
        </p:blipFill>
        <p:spPr>
          <a:xfrm>
            <a:off x="1676400" y="1295400"/>
            <a:ext cx="7448550" cy="524637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66420"/>
          </a:xfrm>
          <a:prstGeom prst="rect">
            <a:avLst/>
          </a:prstGeom>
        </p:spPr>
        <p:txBody>
          <a:bodyPr vert="horz" wrap="square" lIns="0" tIns="12700" rIns="0" bIns="0" rtlCol="0">
            <a:spAutoFit/>
          </a:bodyPr>
          <a:lstStyle/>
          <a:p>
            <a:pPr marL="12700">
              <a:lnSpc>
                <a:spcPct val="100000"/>
              </a:lnSpc>
              <a:spcBef>
                <a:spcPts val="100"/>
              </a:spcBef>
            </a:pPr>
            <a:r>
              <a:rPr lang="zh-CN" dirty="0">
                <a:latin typeface="宋体" panose="02010600030101010101" pitchFamily="2" charset="-122"/>
                <a:cs typeface="宋体" panose="02010600030101010101" pitchFamily="2" charset="-122"/>
                <a:sym typeface="+mn-ea"/>
              </a:rPr>
              <a:t>并查集</a:t>
            </a:r>
            <a:endParaRPr dirty="0">
              <a:latin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1"/>
          <a:stretch>
            <a:fillRect/>
          </a:stretch>
        </p:blipFill>
        <p:spPr>
          <a:xfrm>
            <a:off x="990600" y="1600200"/>
            <a:ext cx="9344660" cy="45567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66420"/>
          </a:xfrm>
          <a:prstGeom prst="rect">
            <a:avLst/>
          </a:prstGeom>
        </p:spPr>
        <p:txBody>
          <a:bodyPr vert="horz" wrap="square" lIns="0" tIns="12700" rIns="0" bIns="0" rtlCol="0">
            <a:spAutoFit/>
          </a:bodyPr>
          <a:lstStyle/>
          <a:p>
            <a:pPr marL="12700">
              <a:lnSpc>
                <a:spcPct val="100000"/>
              </a:lnSpc>
              <a:spcBef>
                <a:spcPts val="100"/>
              </a:spcBef>
            </a:pPr>
            <a:r>
              <a:rPr lang="zh-CN" dirty="0">
                <a:latin typeface="宋体" panose="02010600030101010101" pitchFamily="2" charset="-122"/>
                <a:cs typeface="宋体" panose="02010600030101010101" pitchFamily="2" charset="-122"/>
                <a:sym typeface="+mn-ea"/>
              </a:rPr>
              <a:t>并查集</a:t>
            </a:r>
            <a:endParaRPr dirty="0">
              <a:latin typeface="宋体" panose="02010600030101010101" pitchFamily="2" charset="-122"/>
              <a:cs typeface="宋体" panose="02010600030101010101" pitchFamily="2" charset="-122"/>
            </a:endParaRPr>
          </a:p>
        </p:txBody>
      </p:sp>
      <p:pic>
        <p:nvPicPr>
          <p:cNvPr id="3" name="图片 2"/>
          <p:cNvPicPr>
            <a:picLocks noChangeAspect="1"/>
          </p:cNvPicPr>
          <p:nvPr/>
        </p:nvPicPr>
        <p:blipFill>
          <a:blip r:embed="rId1"/>
          <a:stretch>
            <a:fillRect/>
          </a:stretch>
        </p:blipFill>
        <p:spPr>
          <a:xfrm>
            <a:off x="1447800" y="1447800"/>
            <a:ext cx="8910320" cy="496189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285" y="645160"/>
            <a:ext cx="2340610" cy="566420"/>
          </a:xfrm>
          <a:prstGeom prst="rect">
            <a:avLst/>
          </a:prstGeom>
        </p:spPr>
        <p:txBody>
          <a:bodyPr vert="horz" wrap="square" lIns="0" tIns="12700" rIns="0" bIns="0" rtlCol="0">
            <a:spAutoFit/>
          </a:bodyPr>
          <a:lstStyle/>
          <a:p>
            <a:pPr marL="12700">
              <a:lnSpc>
                <a:spcPct val="100000"/>
              </a:lnSpc>
              <a:spcBef>
                <a:spcPts val="100"/>
              </a:spcBef>
            </a:pPr>
            <a:r>
              <a:rPr lang="zh-CN" altLang="en-US" dirty="0">
                <a:latin typeface="宋体" panose="02010600030101010101" pitchFamily="2" charset="-122"/>
                <a:cs typeface="宋体" panose="02010600030101010101" pitchFamily="2" charset="-122"/>
              </a:rPr>
              <a:t>最小生成树</a:t>
            </a:r>
            <a:endParaRPr lang="zh-CN" altLang="en-US" dirty="0">
              <a:latin typeface="宋体" panose="02010600030101010101" pitchFamily="2" charset="-122"/>
              <a:cs typeface="宋体" panose="02010600030101010101" pitchFamily="2" charset="-122"/>
            </a:endParaRPr>
          </a:p>
        </p:txBody>
      </p:sp>
      <p:sp>
        <p:nvSpPr>
          <p:cNvPr id="4" name="文本框 3"/>
          <p:cNvSpPr txBox="1"/>
          <p:nvPr/>
        </p:nvSpPr>
        <p:spPr>
          <a:xfrm>
            <a:off x="838200" y="2133600"/>
            <a:ext cx="8146415" cy="3655060"/>
          </a:xfrm>
          <a:prstGeom prst="rect">
            <a:avLst/>
          </a:prstGeom>
        </p:spPr>
        <p:txBody>
          <a:bodyPr>
            <a:noAutofit/>
          </a:bodyPr>
          <a:p>
            <a:pPr marL="0" indent="0"/>
            <a:r>
              <a:rPr lang="zh-CN" altLang="en-US" sz="2000" b="0" i="0">
                <a:latin typeface="+mn-ea"/>
              </a:rPr>
              <a:t>我们定义无向连通图的</a:t>
            </a:r>
            <a:r>
              <a:rPr lang="en-US" altLang="zh-CN" sz="2000" b="0" i="0">
                <a:latin typeface="+mn-ea"/>
              </a:rPr>
              <a:t> </a:t>
            </a:r>
            <a:r>
              <a:rPr lang="zh-CN" altLang="en-US" sz="2000" b="0" i="0">
                <a:latin typeface="+mn-ea"/>
              </a:rPr>
              <a:t>最小生成树（</a:t>
            </a:r>
            <a:r>
              <a:rPr lang="en-US" altLang="zh-CN" sz="2000" b="0" i="0">
                <a:latin typeface="+mn-ea"/>
              </a:rPr>
              <a:t>Minimum Spanning Tree</a:t>
            </a:r>
            <a:r>
              <a:rPr lang="zh-CN" altLang="en-US" sz="2000" b="0" i="0">
                <a:latin typeface="+mn-ea"/>
              </a:rPr>
              <a:t>，</a:t>
            </a:r>
            <a:r>
              <a:rPr lang="en-US" altLang="zh-CN" sz="2000" b="0" i="0">
                <a:latin typeface="+mn-ea"/>
              </a:rPr>
              <a:t>MST</a:t>
            </a:r>
            <a:r>
              <a:rPr lang="zh-CN" altLang="en-US" sz="2000" b="0" i="0">
                <a:latin typeface="+mn-ea"/>
              </a:rPr>
              <a:t>）为边权和最小的生成树．</a:t>
            </a:r>
            <a:endParaRPr lang="zh-CN" altLang="en-US" sz="2000" b="0" i="0">
              <a:latin typeface="+mn-ea"/>
            </a:endParaRPr>
          </a:p>
          <a:p>
            <a:pPr marL="0" indent="0"/>
            <a:endParaRPr lang="en-US" altLang="zh-CN" sz="2000" b="0" i="0">
              <a:latin typeface="+mn-ea"/>
            </a:endParaRPr>
          </a:p>
          <a:p>
            <a:pPr marL="0" indent="0"/>
            <a:r>
              <a:rPr lang="zh-CN" altLang="en-US" sz="2000" b="0" i="0">
                <a:latin typeface="+mn-ea"/>
              </a:rPr>
              <a:t>注意：只有连通图才有生成树，而对于非连通图，只存在生成森林．</a:t>
            </a:r>
            <a:endParaRPr lang="zh-CN" altLang="en-US" sz="2000" b="0" i="0">
              <a:latin typeface="+mn-ea"/>
            </a:endParaRPr>
          </a:p>
          <a:p>
            <a:pPr marL="0" indent="0"/>
            <a:endParaRPr lang="zh-CN" altLang="en-US" sz="2000" b="0" i="0">
              <a:latin typeface="+mn-ea"/>
            </a:endParaRPr>
          </a:p>
          <a:p>
            <a:pPr marL="0" indent="0"/>
            <a:endParaRPr lang="zh-CN" altLang="en-US" sz="2000" b="0" i="0">
              <a:latin typeface="+mn-ea"/>
            </a:endParaRPr>
          </a:p>
          <a:p>
            <a:pPr marL="0" indent="0"/>
            <a:r>
              <a:rPr lang="zh-CN" altLang="en-US" sz="2000" b="0" i="0">
                <a:latin typeface="+mn-ea"/>
              </a:rPr>
              <a:t>介绍最常用的两个算法，</a:t>
            </a:r>
            <a:r>
              <a:rPr lang="en-US" altLang="zh-CN" sz="2000" b="0" i="0">
                <a:latin typeface="+mn-ea"/>
              </a:rPr>
              <a:t>Kruskal </a:t>
            </a:r>
            <a:r>
              <a:rPr lang="zh-CN" altLang="en-US" sz="2000" b="0" i="0">
                <a:latin typeface="+mn-ea"/>
              </a:rPr>
              <a:t>算法</a:t>
            </a:r>
            <a:r>
              <a:rPr lang="en-US" altLang="zh-CN" sz="2000" b="0" i="0">
                <a:latin typeface="+mn-ea"/>
              </a:rPr>
              <a:t>/Prim </a:t>
            </a:r>
            <a:r>
              <a:rPr lang="zh-CN" altLang="en-US" sz="2000" b="0" i="0">
                <a:latin typeface="+mn-ea"/>
              </a:rPr>
              <a:t>算法</a:t>
            </a:r>
            <a:endParaRPr lang="zh-CN" altLang="en-US" sz="2000" b="0" i="0">
              <a:latin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285" y="645160"/>
            <a:ext cx="2340610" cy="566420"/>
          </a:xfrm>
          <a:prstGeom prst="rect">
            <a:avLst/>
          </a:prstGeom>
        </p:spPr>
        <p:txBody>
          <a:bodyPr vert="horz" wrap="square" lIns="0" tIns="12700" rIns="0" bIns="0" rtlCol="0">
            <a:spAutoFit/>
          </a:bodyPr>
          <a:lstStyle/>
          <a:p>
            <a:pPr marL="12700">
              <a:lnSpc>
                <a:spcPct val="100000"/>
              </a:lnSpc>
              <a:spcBef>
                <a:spcPts val="100"/>
              </a:spcBef>
            </a:pPr>
            <a:r>
              <a:rPr lang="zh-CN" altLang="en-US" dirty="0">
                <a:latin typeface="宋体" panose="02010600030101010101" pitchFamily="2" charset="-122"/>
                <a:cs typeface="宋体" panose="02010600030101010101" pitchFamily="2" charset="-122"/>
              </a:rPr>
              <a:t>最小生成树</a:t>
            </a:r>
            <a:endParaRPr lang="zh-CN" altLang="en-US" dirty="0">
              <a:latin typeface="宋体" panose="02010600030101010101" pitchFamily="2" charset="-122"/>
              <a:cs typeface="宋体" panose="02010600030101010101" pitchFamily="2" charset="-122"/>
            </a:endParaRPr>
          </a:p>
        </p:txBody>
      </p:sp>
      <p:sp>
        <p:nvSpPr>
          <p:cNvPr id="4" name="文本框 3"/>
          <p:cNvSpPr txBox="1"/>
          <p:nvPr/>
        </p:nvSpPr>
        <p:spPr>
          <a:xfrm>
            <a:off x="838200" y="1447800"/>
            <a:ext cx="8146415" cy="5190490"/>
          </a:xfrm>
          <a:prstGeom prst="rect">
            <a:avLst/>
          </a:prstGeom>
        </p:spPr>
        <p:txBody>
          <a:bodyPr>
            <a:noAutofit/>
          </a:bodyPr>
          <a:p>
            <a:pPr marL="0" indent="0"/>
            <a:r>
              <a:rPr lang="en-US" altLang="zh-CN" sz="2800" b="0" i="0">
                <a:latin typeface="+mn-ea"/>
              </a:rPr>
              <a:t>Kruskal </a:t>
            </a:r>
            <a:r>
              <a:rPr lang="zh-CN" altLang="en-US" sz="2800" b="0" i="0">
                <a:latin typeface="+mn-ea"/>
              </a:rPr>
              <a:t>算法</a:t>
            </a:r>
            <a:endParaRPr lang="zh-CN" altLang="en-US" sz="2800" b="0" i="0">
              <a:latin typeface="+mn-ea"/>
            </a:endParaRPr>
          </a:p>
          <a:p>
            <a:pPr marL="0" indent="0"/>
            <a:r>
              <a:rPr lang="en-US" altLang="zh-CN" sz="2000" b="0" i="0">
                <a:latin typeface="+mn-ea"/>
              </a:rPr>
              <a:t>Kruskal </a:t>
            </a:r>
            <a:r>
              <a:rPr lang="zh-CN" altLang="en-US" sz="2000" b="0" i="0">
                <a:latin typeface="+mn-ea"/>
              </a:rPr>
              <a:t>算法是一种常见并且好写的最小生成树算法，由</a:t>
            </a:r>
            <a:r>
              <a:rPr lang="en-US" altLang="zh-CN" sz="2000" b="0" i="0">
                <a:latin typeface="+mn-ea"/>
              </a:rPr>
              <a:t> Kruskal </a:t>
            </a:r>
            <a:r>
              <a:rPr lang="zh-CN" altLang="en-US" sz="2000" b="0" i="0">
                <a:latin typeface="+mn-ea"/>
              </a:rPr>
              <a:t>发明．该算法的基本思想是从小到大加入边，是个贪心算法．</a:t>
            </a:r>
            <a:endParaRPr lang="zh-CN" altLang="en-US" sz="2000" b="0" i="0">
              <a:latin typeface="+mn-ea"/>
            </a:endParaRPr>
          </a:p>
          <a:p>
            <a:pPr marL="0" indent="0"/>
            <a:endParaRPr lang="zh-CN" altLang="en-US" sz="2000" b="0" i="0">
              <a:latin typeface="+mn-ea"/>
            </a:endParaRPr>
          </a:p>
          <a:p>
            <a:pPr marL="0" indent="0"/>
            <a:r>
              <a:rPr lang="zh-CN" altLang="en-US" sz="2000" b="0" i="0">
                <a:latin typeface="+mn-ea"/>
              </a:rPr>
              <a:t>具体来说，维护一个森林，查询两个结点是否在同一棵树中，连接两棵树．抽象一点地说，维护一堆集合，查询两个元素是否属于同一集合，合并两个集合．</a:t>
            </a:r>
            <a:endParaRPr lang="zh-CN" altLang="en-US" sz="2000" b="0" i="0">
              <a:latin typeface="+mn-ea"/>
            </a:endParaRPr>
          </a:p>
          <a:p>
            <a:pPr marL="0" indent="0"/>
            <a:endParaRPr lang="en-US" altLang="zh-CN" sz="2000" b="0" i="0">
              <a:latin typeface="+mn-ea"/>
            </a:endParaRPr>
          </a:p>
          <a:p>
            <a:pPr marL="0" indent="0"/>
            <a:r>
              <a:rPr lang="zh-CN" altLang="en-US" sz="2000" b="0" i="0">
                <a:latin typeface="+mn-ea"/>
              </a:rPr>
              <a:t>其中，查询两点是否连通和连接两点可以使用并查集维护．</a:t>
            </a:r>
            <a:endParaRPr lang="zh-CN" altLang="en-US" sz="2000" b="0" i="0">
              <a:latin typeface="+mn-ea"/>
            </a:endParaRPr>
          </a:p>
          <a:p>
            <a:pPr marL="0" indent="0"/>
            <a:endParaRPr lang="en-US" altLang="zh-CN" sz="2000" b="0" i="0">
              <a:latin typeface="+mn-ea"/>
            </a:endParaRPr>
          </a:p>
          <a:p>
            <a:pPr marL="0" indent="0"/>
            <a:r>
              <a:rPr lang="zh-CN" altLang="en-US" sz="2000" b="0" i="0">
                <a:latin typeface="+mn-ea"/>
              </a:rPr>
              <a:t>如果使用</a:t>
            </a:r>
            <a:r>
              <a:rPr lang="en-US" altLang="zh-CN" sz="2000" b="0" i="0">
                <a:latin typeface="+mn-ea"/>
              </a:rPr>
              <a:t> </a:t>
            </a:r>
            <a:r>
              <a:rPr lang="zh-CN" altLang="en-US" sz="2000" b="0" i="0">
                <a:latin typeface="+mn-ea"/>
              </a:rPr>
              <a:t>𝑂</a:t>
            </a:r>
            <a:r>
              <a:rPr lang="en-US" altLang="zh-CN" sz="2000" b="0" i="0">
                <a:latin typeface="+mn-ea"/>
              </a:rPr>
              <a:t>(</a:t>
            </a:r>
            <a:r>
              <a:rPr lang="zh-CN" altLang="en-US" sz="2000" b="0" i="0">
                <a:latin typeface="+mn-ea"/>
              </a:rPr>
              <a:t>𝑚</a:t>
            </a:r>
            <a:r>
              <a:rPr lang="en-US" altLang="zh-CN" sz="2000" b="0" i="0">
                <a:latin typeface="+mn-ea"/>
              </a:rPr>
              <a:t>log</a:t>
            </a:r>
            <a:r>
              <a:rPr lang="zh-CN" altLang="en-US" sz="2000">
                <a:latin typeface="+mn-ea"/>
                <a:sym typeface="+mn-ea"/>
              </a:rPr>
              <a:t>𝑚</a:t>
            </a:r>
            <a:r>
              <a:rPr lang="en-US" altLang="zh-CN" sz="2000" b="0" i="0">
                <a:latin typeface="+mn-ea"/>
              </a:rPr>
              <a:t>)</a:t>
            </a:r>
            <a:r>
              <a:rPr lang="zh-CN" altLang="en-US" sz="2000" b="0" i="0">
                <a:latin typeface="+mn-ea"/>
              </a:rPr>
              <a:t>的排序算法，并且使用</a:t>
            </a:r>
            <a:r>
              <a:rPr lang="en-US" altLang="zh-CN" sz="2000" b="0" i="0">
                <a:latin typeface="+mn-ea"/>
              </a:rPr>
              <a:t> </a:t>
            </a:r>
            <a:r>
              <a:rPr lang="zh-CN" altLang="en-US" sz="2000" b="0" i="0">
                <a:latin typeface="+mn-ea"/>
              </a:rPr>
              <a:t>𝑂</a:t>
            </a:r>
            <a:r>
              <a:rPr lang="en-US" altLang="zh-CN" sz="2000" b="0" i="0">
                <a:latin typeface="+mn-ea"/>
              </a:rPr>
              <a:t>(</a:t>
            </a:r>
            <a:r>
              <a:rPr lang="zh-CN" altLang="en-US" sz="2000" b="0" i="0">
                <a:latin typeface="+mn-ea"/>
              </a:rPr>
              <a:t>𝑚𝛼</a:t>
            </a:r>
            <a:r>
              <a:rPr lang="en-US" altLang="zh-CN" sz="2000" b="0" i="0">
                <a:latin typeface="+mn-ea"/>
              </a:rPr>
              <a:t>(</a:t>
            </a:r>
            <a:r>
              <a:rPr lang="zh-CN" altLang="en-US" sz="2000" b="0" i="0">
                <a:latin typeface="+mn-ea"/>
              </a:rPr>
              <a:t>𝑚</a:t>
            </a:r>
            <a:r>
              <a:rPr lang="en-US" altLang="zh-CN" sz="2000" b="0" i="0">
                <a:latin typeface="+mn-ea"/>
              </a:rPr>
              <a:t>,</a:t>
            </a:r>
            <a:r>
              <a:rPr lang="zh-CN" altLang="en-US" sz="2000" b="0" i="0">
                <a:latin typeface="+mn-ea"/>
              </a:rPr>
              <a:t>𝑛</a:t>
            </a:r>
            <a:r>
              <a:rPr lang="en-US" altLang="zh-CN" sz="2000" b="0" i="0">
                <a:latin typeface="+mn-ea"/>
              </a:rPr>
              <a:t>)) </a:t>
            </a:r>
            <a:r>
              <a:rPr lang="zh-CN" altLang="en-US" sz="2000" b="0" i="0">
                <a:latin typeface="+mn-ea"/>
              </a:rPr>
              <a:t>或</a:t>
            </a:r>
            <a:r>
              <a:rPr lang="en-US" altLang="zh-CN" sz="2000" b="0" i="0">
                <a:latin typeface="+mn-ea"/>
              </a:rPr>
              <a:t> </a:t>
            </a:r>
            <a:r>
              <a:rPr lang="zh-CN" altLang="en-US" sz="2000" b="0" i="0">
                <a:latin typeface="+mn-ea"/>
              </a:rPr>
              <a:t>𝑂</a:t>
            </a:r>
            <a:r>
              <a:rPr lang="en-US" altLang="zh-CN" sz="2000" b="0" i="0">
                <a:latin typeface="+mn-ea"/>
              </a:rPr>
              <a:t>(</a:t>
            </a:r>
            <a:r>
              <a:rPr lang="zh-CN" altLang="en-US" sz="2000" b="0" i="0">
                <a:latin typeface="+mn-ea"/>
              </a:rPr>
              <a:t>𝑚</a:t>
            </a:r>
            <a:r>
              <a:rPr lang="en-US" altLang="zh-CN" sz="2000" b="0" i="0">
                <a:latin typeface="+mn-ea"/>
              </a:rPr>
              <a:t>log</a:t>
            </a:r>
            <a:r>
              <a:rPr lang="zh-CN" altLang="en-US" sz="2000" b="0" i="0">
                <a:latin typeface="+mn-ea"/>
              </a:rPr>
              <a:t>𝑛</a:t>
            </a:r>
            <a:r>
              <a:rPr lang="en-US" altLang="zh-CN" sz="2000" b="0" i="0">
                <a:latin typeface="+mn-ea"/>
              </a:rPr>
              <a:t>)</a:t>
            </a:r>
            <a:r>
              <a:rPr lang="zh-CN" altLang="en-US" sz="2000" b="0" i="0">
                <a:latin typeface="+mn-ea"/>
              </a:rPr>
              <a:t>的并查集，就可以得到时间复杂度为</a:t>
            </a:r>
            <a:r>
              <a:rPr lang="en-US" altLang="zh-CN" sz="2000" b="0" i="0">
                <a:latin typeface="+mn-ea"/>
              </a:rPr>
              <a:t> </a:t>
            </a:r>
            <a:r>
              <a:rPr lang="zh-CN" altLang="en-US" sz="2000" b="0" i="0">
                <a:latin typeface="+mn-ea"/>
              </a:rPr>
              <a:t>𝑂</a:t>
            </a:r>
            <a:r>
              <a:rPr lang="en-US" altLang="zh-CN" sz="2000" b="0" i="0">
                <a:latin typeface="+mn-ea"/>
              </a:rPr>
              <a:t>(</a:t>
            </a:r>
            <a:r>
              <a:rPr lang="zh-CN" altLang="en-US" sz="2000" b="0" i="0">
                <a:latin typeface="+mn-ea"/>
              </a:rPr>
              <a:t>𝑚</a:t>
            </a:r>
            <a:r>
              <a:rPr lang="en-US" altLang="zh-CN" sz="2000" b="0" i="0">
                <a:latin typeface="+mn-ea"/>
              </a:rPr>
              <a:t>log</a:t>
            </a:r>
            <a:r>
              <a:rPr lang="zh-CN" altLang="en-US" sz="2000" b="0" i="0">
                <a:latin typeface="+mn-ea"/>
              </a:rPr>
              <a:t>𝑚</a:t>
            </a:r>
            <a:r>
              <a:rPr lang="en-US" altLang="zh-CN" sz="2000" b="0" i="0">
                <a:latin typeface="+mn-ea"/>
              </a:rPr>
              <a:t>) </a:t>
            </a:r>
            <a:r>
              <a:rPr lang="zh-CN" altLang="en-US" sz="2000" b="0" i="0">
                <a:latin typeface="+mn-ea"/>
              </a:rPr>
              <a:t>的</a:t>
            </a:r>
            <a:r>
              <a:rPr lang="en-US" altLang="zh-CN" sz="2000" b="0" i="0">
                <a:latin typeface="+mn-ea"/>
              </a:rPr>
              <a:t> Kruskal </a:t>
            </a:r>
            <a:r>
              <a:rPr lang="zh-CN" altLang="en-US" sz="2000" b="0" i="0">
                <a:latin typeface="+mn-ea"/>
              </a:rPr>
              <a:t>算法．</a:t>
            </a:r>
            <a:endParaRPr lang="zh-CN" altLang="en-US" sz="2000" b="0" i="0">
              <a:latin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285" y="645160"/>
            <a:ext cx="2340610" cy="566420"/>
          </a:xfrm>
          <a:prstGeom prst="rect">
            <a:avLst/>
          </a:prstGeom>
        </p:spPr>
        <p:txBody>
          <a:bodyPr vert="horz" wrap="square" lIns="0" tIns="12700" rIns="0" bIns="0" rtlCol="0">
            <a:spAutoFit/>
          </a:bodyPr>
          <a:lstStyle/>
          <a:p>
            <a:pPr marL="12700">
              <a:lnSpc>
                <a:spcPct val="100000"/>
              </a:lnSpc>
              <a:spcBef>
                <a:spcPts val="100"/>
              </a:spcBef>
            </a:pPr>
            <a:r>
              <a:rPr lang="zh-CN" altLang="en-US" dirty="0">
                <a:latin typeface="宋体" panose="02010600030101010101" pitchFamily="2" charset="-122"/>
                <a:cs typeface="宋体" panose="02010600030101010101" pitchFamily="2" charset="-122"/>
              </a:rPr>
              <a:t>最小生成树</a:t>
            </a:r>
            <a:endParaRPr lang="zh-CN" altLang="en-US" dirty="0">
              <a:latin typeface="宋体" panose="02010600030101010101" pitchFamily="2" charset="-122"/>
              <a:cs typeface="宋体" panose="02010600030101010101" pitchFamily="2" charset="-122"/>
            </a:endParaRPr>
          </a:p>
        </p:txBody>
      </p:sp>
      <p:pic>
        <p:nvPicPr>
          <p:cNvPr id="3" name="图片 2" descr="ezgif-84baee0053be6346"/>
          <p:cNvPicPr>
            <a:picLocks noChangeAspect="1"/>
          </p:cNvPicPr>
          <p:nvPr/>
        </p:nvPicPr>
        <p:blipFill>
          <a:blip r:embed="rId1"/>
          <a:stretch>
            <a:fillRect/>
          </a:stretch>
        </p:blipFill>
        <p:spPr>
          <a:xfrm>
            <a:off x="1600200" y="1219200"/>
            <a:ext cx="6958965" cy="583120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285" y="645160"/>
            <a:ext cx="2340610" cy="566420"/>
          </a:xfrm>
          <a:prstGeom prst="rect">
            <a:avLst/>
          </a:prstGeom>
        </p:spPr>
        <p:txBody>
          <a:bodyPr vert="horz" wrap="square" lIns="0" tIns="12700" rIns="0" bIns="0" rtlCol="0">
            <a:spAutoFit/>
          </a:bodyPr>
          <a:lstStyle/>
          <a:p>
            <a:pPr marL="12700">
              <a:lnSpc>
                <a:spcPct val="100000"/>
              </a:lnSpc>
              <a:spcBef>
                <a:spcPts val="100"/>
              </a:spcBef>
            </a:pPr>
            <a:r>
              <a:rPr lang="zh-CN" altLang="en-US" dirty="0">
                <a:latin typeface="宋体" panose="02010600030101010101" pitchFamily="2" charset="-122"/>
                <a:cs typeface="宋体" panose="02010600030101010101" pitchFamily="2" charset="-122"/>
              </a:rPr>
              <a:t>最小生成树</a:t>
            </a:r>
            <a:endParaRPr lang="zh-CN" altLang="en-US" dirty="0">
              <a:latin typeface="宋体" panose="02010600030101010101" pitchFamily="2" charset="-122"/>
              <a:cs typeface="宋体" panose="02010600030101010101" pitchFamily="2" charset="-122"/>
            </a:endParaRPr>
          </a:p>
        </p:txBody>
      </p:sp>
      <p:pic>
        <p:nvPicPr>
          <p:cNvPr id="3" name="图片 2"/>
          <p:cNvPicPr>
            <a:picLocks noChangeAspect="1"/>
          </p:cNvPicPr>
          <p:nvPr/>
        </p:nvPicPr>
        <p:blipFill>
          <a:blip r:embed="rId1"/>
          <a:stretch>
            <a:fillRect/>
          </a:stretch>
        </p:blipFill>
        <p:spPr>
          <a:xfrm>
            <a:off x="990600" y="1295400"/>
            <a:ext cx="8241665" cy="483933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285" y="645160"/>
            <a:ext cx="2340610" cy="566420"/>
          </a:xfrm>
          <a:prstGeom prst="rect">
            <a:avLst/>
          </a:prstGeom>
        </p:spPr>
        <p:txBody>
          <a:bodyPr vert="horz" wrap="square" lIns="0" tIns="12700" rIns="0" bIns="0" rtlCol="0">
            <a:spAutoFit/>
          </a:bodyPr>
          <a:lstStyle/>
          <a:p>
            <a:pPr marL="12700">
              <a:lnSpc>
                <a:spcPct val="100000"/>
              </a:lnSpc>
              <a:spcBef>
                <a:spcPts val="100"/>
              </a:spcBef>
            </a:pPr>
            <a:r>
              <a:rPr lang="zh-CN" altLang="en-US" dirty="0">
                <a:latin typeface="宋体" panose="02010600030101010101" pitchFamily="2" charset="-122"/>
                <a:cs typeface="宋体" panose="02010600030101010101" pitchFamily="2" charset="-122"/>
              </a:rPr>
              <a:t>最小生成树</a:t>
            </a:r>
            <a:endParaRPr lang="zh-CN" altLang="en-US" dirty="0">
              <a:latin typeface="宋体" panose="02010600030101010101" pitchFamily="2" charset="-122"/>
              <a:cs typeface="宋体" panose="02010600030101010101" pitchFamily="2" charset="-122"/>
            </a:endParaRPr>
          </a:p>
        </p:txBody>
      </p:sp>
      <p:sp>
        <p:nvSpPr>
          <p:cNvPr id="4" name="文本框 3"/>
          <p:cNvSpPr txBox="1"/>
          <p:nvPr/>
        </p:nvSpPr>
        <p:spPr>
          <a:xfrm>
            <a:off x="838200" y="1447800"/>
            <a:ext cx="8146415" cy="5190490"/>
          </a:xfrm>
          <a:prstGeom prst="rect">
            <a:avLst/>
          </a:prstGeom>
        </p:spPr>
        <p:txBody>
          <a:bodyPr>
            <a:noAutofit/>
          </a:bodyPr>
          <a:p>
            <a:pPr marL="0" indent="0"/>
            <a:r>
              <a:rPr lang="en-US" altLang="zh-CN" sz="2800" b="0" i="0">
                <a:latin typeface="+mn-ea"/>
              </a:rPr>
              <a:t>Prim </a:t>
            </a:r>
            <a:r>
              <a:rPr lang="zh-CN" altLang="en-US" sz="2800" b="0" i="0">
                <a:latin typeface="+mn-ea"/>
              </a:rPr>
              <a:t>算法</a:t>
            </a:r>
            <a:endParaRPr lang="zh-CN" altLang="en-US" sz="2800" b="0" i="0">
              <a:latin typeface="+mn-ea"/>
            </a:endParaRPr>
          </a:p>
          <a:p>
            <a:pPr marL="0" indent="0"/>
            <a:r>
              <a:rPr lang="en-US" altLang="zh-CN" sz="2000" b="0" i="0">
                <a:latin typeface="+mn-ea"/>
              </a:rPr>
              <a:t>Prim </a:t>
            </a:r>
            <a:r>
              <a:rPr lang="zh-CN" altLang="en-US" sz="2000" b="0" i="0">
                <a:latin typeface="+mn-ea"/>
              </a:rPr>
              <a:t>算法是另一种常见并且好写的最小生成树算法．该算法的基本思想是从一个结点开始，不断加点（而不是</a:t>
            </a:r>
            <a:r>
              <a:rPr lang="en-US" altLang="zh-CN" sz="2000" b="0" i="0">
                <a:latin typeface="+mn-ea"/>
              </a:rPr>
              <a:t> Kruskal </a:t>
            </a:r>
            <a:r>
              <a:rPr lang="zh-CN" altLang="en-US" sz="2000" b="0" i="0">
                <a:latin typeface="+mn-ea"/>
              </a:rPr>
              <a:t>算法的加边）</a:t>
            </a:r>
            <a:endParaRPr lang="zh-CN" altLang="en-US" sz="2000" b="0" i="0">
              <a:latin typeface="+mn-ea"/>
            </a:endParaRPr>
          </a:p>
          <a:p>
            <a:pPr marL="0" indent="0"/>
            <a:endParaRPr lang="zh-CN" altLang="en-US" sz="2000" b="0" i="0">
              <a:latin typeface="+mn-ea"/>
            </a:endParaRPr>
          </a:p>
          <a:p>
            <a:pPr marL="0" indent="0"/>
            <a:r>
              <a:rPr lang="zh-CN" altLang="en-US" sz="2000" b="0" i="0">
                <a:latin typeface="+mn-ea"/>
              </a:rPr>
              <a:t>具体来说，每次要选择距离最小的一个结点，以及用新的边更新其他结点的距离．</a:t>
            </a:r>
            <a:endParaRPr lang="zh-CN" altLang="en-US" sz="2000" b="0" i="0">
              <a:latin typeface="+mn-ea"/>
            </a:endParaRPr>
          </a:p>
          <a:p>
            <a:pPr marL="0" indent="0"/>
            <a:endParaRPr lang="en-US" altLang="zh-CN" sz="2000" b="0" i="0">
              <a:latin typeface="+mn-ea"/>
            </a:endParaRPr>
          </a:p>
          <a:p>
            <a:pPr marL="0" indent="0"/>
            <a:r>
              <a:rPr lang="zh-CN" altLang="en-US" sz="2000" b="0" i="0">
                <a:latin typeface="+mn-ea"/>
              </a:rPr>
              <a:t>其实跟等会会讲的</a:t>
            </a:r>
            <a:r>
              <a:rPr lang="en-US" altLang="zh-CN" sz="2000" b="0" i="0">
                <a:latin typeface="+mn-ea"/>
              </a:rPr>
              <a:t> Dijkstra </a:t>
            </a:r>
            <a:r>
              <a:rPr lang="zh-CN" altLang="en-US" sz="2000" b="0" i="0">
                <a:latin typeface="+mn-ea"/>
              </a:rPr>
              <a:t>算法一样，每次找到距离最小的一个点，可以暴力找也可以用堆维护．</a:t>
            </a:r>
            <a:endParaRPr lang="zh-CN" altLang="en-US" sz="2000" b="0" i="0">
              <a:latin typeface="+mn-ea"/>
            </a:endParaRPr>
          </a:p>
          <a:p>
            <a:pPr marL="0" indent="0"/>
            <a:endParaRPr lang="en-US" altLang="zh-CN" sz="2000" b="0" i="0">
              <a:latin typeface="+mn-ea"/>
            </a:endParaRPr>
          </a:p>
          <a:p>
            <a:pPr marL="0" indent="0"/>
            <a:r>
              <a:rPr lang="zh-CN" altLang="en-US" sz="2000" b="0" i="0">
                <a:latin typeface="+mn-ea"/>
              </a:rPr>
              <a:t>一般情况下都使用</a:t>
            </a:r>
            <a:r>
              <a:rPr lang="en-US" altLang="zh-CN" sz="2000" b="0" i="0">
                <a:latin typeface="+mn-ea"/>
              </a:rPr>
              <a:t> Kruskal </a:t>
            </a:r>
            <a:r>
              <a:rPr lang="zh-CN" altLang="en-US" sz="2000" b="0" i="0">
                <a:latin typeface="+mn-ea"/>
              </a:rPr>
              <a:t>算法，在稠密图尤其是完全图上，暴力</a:t>
            </a:r>
            <a:r>
              <a:rPr lang="en-US" altLang="zh-CN" sz="2000" b="0" i="0">
                <a:latin typeface="+mn-ea"/>
              </a:rPr>
              <a:t> Prim </a:t>
            </a:r>
            <a:r>
              <a:rPr lang="zh-CN" altLang="en-US" sz="2000" b="0" i="0">
                <a:latin typeface="+mn-ea"/>
              </a:rPr>
              <a:t>的复杂度比</a:t>
            </a:r>
            <a:r>
              <a:rPr lang="en-US" altLang="zh-CN" sz="2000" b="0" i="0">
                <a:latin typeface="+mn-ea"/>
              </a:rPr>
              <a:t> Kruskal </a:t>
            </a:r>
            <a:r>
              <a:rPr lang="zh-CN" altLang="en-US" sz="2000" b="0" i="0">
                <a:latin typeface="+mn-ea"/>
              </a:rPr>
              <a:t>优，但不一定实际跑得更快．</a:t>
            </a:r>
            <a:endParaRPr lang="zh-CN" altLang="en-US" sz="2000" b="0" i="0">
              <a:latin typeface="+mn-ea"/>
            </a:endParaRPr>
          </a:p>
          <a:p>
            <a:pPr marL="0" indent="0"/>
            <a:endParaRPr lang="en-US" altLang="zh-CN" sz="2000" b="0" i="0">
              <a:latin typeface="+mn-ea"/>
            </a:endParaRPr>
          </a:p>
          <a:p>
            <a:pPr marL="0" indent="0"/>
            <a:r>
              <a:rPr lang="zh-CN" altLang="en-US" sz="2000" b="0" i="0">
                <a:latin typeface="+mn-ea"/>
              </a:rPr>
              <a:t>暴力：𝑂</a:t>
            </a:r>
            <a:r>
              <a:rPr lang="en-US" altLang="zh-CN" sz="2000" b="0" i="0">
                <a:latin typeface="+mn-ea"/>
              </a:rPr>
              <a:t>(</a:t>
            </a:r>
            <a:r>
              <a:rPr lang="zh-CN" altLang="en-US" sz="2000" b="0" i="0">
                <a:latin typeface="+mn-ea"/>
              </a:rPr>
              <a:t>𝑛</a:t>
            </a:r>
            <a:r>
              <a:rPr lang="en-US" altLang="zh-CN" sz="2000">
                <a:latin typeface="+mn-ea"/>
                <a:sym typeface="+mn-ea"/>
              </a:rPr>
              <a:t>^</a:t>
            </a:r>
            <a:r>
              <a:rPr lang="en-US" altLang="zh-CN" sz="2000" b="0" i="0">
                <a:latin typeface="+mn-ea"/>
              </a:rPr>
              <a:t>2 +</a:t>
            </a:r>
            <a:r>
              <a:rPr lang="zh-CN" altLang="en-US" sz="2000" b="0" i="0">
                <a:latin typeface="+mn-ea"/>
              </a:rPr>
              <a:t>𝑚</a:t>
            </a:r>
            <a:r>
              <a:rPr lang="en-US" altLang="zh-CN" sz="2000" b="0" i="0">
                <a:latin typeface="+mn-ea"/>
              </a:rPr>
              <a:t>)</a:t>
            </a:r>
            <a:endParaRPr lang="en-US" altLang="zh-CN" sz="2000" b="0" i="0">
              <a:latin typeface="+mn-ea"/>
            </a:endParaRPr>
          </a:p>
          <a:p>
            <a:pPr marL="0" indent="0"/>
            <a:r>
              <a:rPr lang="zh-CN" altLang="en-US" sz="2000" b="0" i="0">
                <a:latin typeface="+mn-ea"/>
              </a:rPr>
              <a:t>堆</a:t>
            </a:r>
            <a:r>
              <a:rPr lang="zh-CN" altLang="en-US" sz="2000" b="0" i="0">
                <a:latin typeface="+mn-ea"/>
              </a:rPr>
              <a:t>优化：𝑂</a:t>
            </a:r>
            <a:r>
              <a:rPr lang="en-US" altLang="zh-CN" sz="2000" b="0" i="0">
                <a:latin typeface="+mn-ea"/>
              </a:rPr>
              <a:t>((</a:t>
            </a:r>
            <a:r>
              <a:rPr lang="zh-CN" altLang="en-US" sz="2000" b="0" i="0">
                <a:latin typeface="+mn-ea"/>
              </a:rPr>
              <a:t>𝑛</a:t>
            </a:r>
            <a:r>
              <a:rPr lang="en-US" altLang="zh-CN" sz="2000" b="0" i="0">
                <a:latin typeface="+mn-ea"/>
              </a:rPr>
              <a:t>+</a:t>
            </a:r>
            <a:r>
              <a:rPr lang="zh-CN" altLang="en-US" sz="2000" b="0" i="0">
                <a:latin typeface="+mn-ea"/>
              </a:rPr>
              <a:t>𝑚</a:t>
            </a:r>
            <a:r>
              <a:rPr lang="en-US" altLang="zh-CN" sz="2000" b="0" i="0">
                <a:latin typeface="+mn-ea"/>
              </a:rPr>
              <a:t>)log</a:t>
            </a:r>
            <a:r>
              <a:rPr lang="zh-CN" altLang="en-US" sz="2000" b="0" i="0">
                <a:latin typeface="+mn-ea"/>
              </a:rPr>
              <a:t>𝑛</a:t>
            </a:r>
            <a:r>
              <a:rPr lang="en-US" altLang="zh-CN" sz="2000" b="0" i="0">
                <a:latin typeface="+mn-ea"/>
              </a:rPr>
              <a:t>)</a:t>
            </a:r>
            <a:endParaRPr lang="zh-CN" altLang="en-US" sz="2000" b="0" i="0">
              <a:latin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285" y="645160"/>
            <a:ext cx="2340610" cy="566420"/>
          </a:xfrm>
          <a:prstGeom prst="rect">
            <a:avLst/>
          </a:prstGeom>
        </p:spPr>
        <p:txBody>
          <a:bodyPr vert="horz" wrap="square" lIns="0" tIns="12700" rIns="0" bIns="0" rtlCol="0">
            <a:spAutoFit/>
          </a:bodyPr>
          <a:lstStyle/>
          <a:p>
            <a:pPr marL="12700">
              <a:lnSpc>
                <a:spcPct val="100000"/>
              </a:lnSpc>
              <a:spcBef>
                <a:spcPts val="100"/>
              </a:spcBef>
            </a:pPr>
            <a:r>
              <a:rPr lang="zh-CN" altLang="en-US" dirty="0">
                <a:latin typeface="宋体" panose="02010600030101010101" pitchFamily="2" charset="-122"/>
                <a:cs typeface="宋体" panose="02010600030101010101" pitchFamily="2" charset="-122"/>
              </a:rPr>
              <a:t>最小生成树</a:t>
            </a:r>
            <a:endParaRPr lang="zh-CN" altLang="en-US" dirty="0">
              <a:latin typeface="宋体" panose="02010600030101010101" pitchFamily="2" charset="-122"/>
              <a:cs typeface="宋体" panose="02010600030101010101" pitchFamily="2" charset="-122"/>
            </a:endParaRPr>
          </a:p>
        </p:txBody>
      </p:sp>
      <p:pic>
        <p:nvPicPr>
          <p:cNvPr id="3" name="图片 2" descr="ezgif-8a0cb663101827f7"/>
          <p:cNvPicPr>
            <a:picLocks noChangeAspect="1"/>
          </p:cNvPicPr>
          <p:nvPr/>
        </p:nvPicPr>
        <p:blipFill>
          <a:blip r:embed="rId1"/>
          <a:stretch>
            <a:fillRect/>
          </a:stretch>
        </p:blipFill>
        <p:spPr>
          <a:xfrm>
            <a:off x="1752600" y="1143000"/>
            <a:ext cx="7262495" cy="608584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285" y="645160"/>
            <a:ext cx="2340610" cy="566420"/>
          </a:xfrm>
          <a:prstGeom prst="rect">
            <a:avLst/>
          </a:prstGeom>
        </p:spPr>
        <p:txBody>
          <a:bodyPr vert="horz" wrap="square" lIns="0" tIns="12700" rIns="0" bIns="0" rtlCol="0">
            <a:spAutoFit/>
          </a:bodyPr>
          <a:lstStyle/>
          <a:p>
            <a:pPr marL="12700">
              <a:lnSpc>
                <a:spcPct val="100000"/>
              </a:lnSpc>
              <a:spcBef>
                <a:spcPts val="100"/>
              </a:spcBef>
            </a:pPr>
            <a:r>
              <a:rPr lang="zh-CN" altLang="en-US" dirty="0">
                <a:latin typeface="宋体" panose="02010600030101010101" pitchFamily="2" charset="-122"/>
                <a:cs typeface="宋体" panose="02010600030101010101" pitchFamily="2" charset="-122"/>
              </a:rPr>
              <a:t>最小生成树</a:t>
            </a:r>
            <a:endParaRPr lang="zh-CN" altLang="en-US" dirty="0">
              <a:latin typeface="宋体" panose="02010600030101010101" pitchFamily="2" charset="-122"/>
              <a:cs typeface="宋体" panose="02010600030101010101" pitchFamily="2" charset="-122"/>
            </a:endParaRPr>
          </a:p>
        </p:txBody>
      </p:sp>
      <p:pic>
        <p:nvPicPr>
          <p:cNvPr id="6" name="图片 5"/>
          <p:cNvPicPr>
            <a:picLocks noChangeAspect="1"/>
          </p:cNvPicPr>
          <p:nvPr/>
        </p:nvPicPr>
        <p:blipFill>
          <a:blip r:embed="rId1"/>
          <a:stretch>
            <a:fillRect/>
          </a:stretch>
        </p:blipFill>
        <p:spPr>
          <a:xfrm>
            <a:off x="1295400" y="1295400"/>
            <a:ext cx="5015230" cy="540321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6642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sym typeface="+mn-ea"/>
              </a:rPr>
              <a:t>拓扑排序</a:t>
            </a:r>
            <a:endParaRPr lang="zh-CN" dirty="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676655" y="2613660"/>
            <a:ext cx="7699248" cy="194005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拓扑排序</a:t>
            </a:r>
            <a:endParaRPr dirty="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676655" y="1892807"/>
            <a:ext cx="7982711" cy="307238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拓扑排序</a:t>
            </a:r>
            <a:endParaRPr dirty="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676655" y="1592580"/>
            <a:ext cx="6230112" cy="391515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拓扑排序</a:t>
            </a:r>
            <a:endParaRPr dirty="0">
              <a:latin typeface="宋体" panose="02010600030101010101" pitchFamily="2" charset="-122"/>
              <a:cs typeface="宋体" panose="02010600030101010101" pitchFamily="2" charset="-122"/>
            </a:endParaRPr>
          </a:p>
        </p:txBody>
      </p:sp>
      <p:sp>
        <p:nvSpPr>
          <p:cNvPr id="3" name="object 3"/>
          <p:cNvSpPr txBox="1"/>
          <p:nvPr/>
        </p:nvSpPr>
        <p:spPr>
          <a:xfrm>
            <a:off x="756069" y="1467649"/>
            <a:ext cx="2383790"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1"/>
              </a:rPr>
              <a:t>HDU1285</a:t>
            </a:r>
            <a:r>
              <a:rPr sz="1800" u="sng" spc="-65"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宋体" panose="02010600030101010101" pitchFamily="2" charset="-122"/>
                <a:cs typeface="宋体" panose="02010600030101010101" pitchFamily="2" charset="-122"/>
                <a:hlinkClick r:id="rId1"/>
              </a:rPr>
              <a:t>确定比赛名次</a:t>
            </a:r>
            <a:endParaRPr sz="1800">
              <a:latin typeface="宋体" panose="02010600030101010101" pitchFamily="2" charset="-122"/>
              <a:cs typeface="宋体" panose="02010600030101010101" pitchFamily="2" charset="-122"/>
            </a:endParaRPr>
          </a:p>
        </p:txBody>
      </p:sp>
      <p:pic>
        <p:nvPicPr>
          <p:cNvPr id="4" name="object 4"/>
          <p:cNvPicPr/>
          <p:nvPr/>
        </p:nvPicPr>
        <p:blipFill>
          <a:blip r:embed="rId2" cstate="print"/>
          <a:stretch>
            <a:fillRect/>
          </a:stretch>
        </p:blipFill>
        <p:spPr>
          <a:xfrm>
            <a:off x="793041" y="2011283"/>
            <a:ext cx="7960797" cy="745043"/>
          </a:xfrm>
          <a:prstGeom prst="rect">
            <a:avLst/>
          </a:prstGeom>
        </p:spPr>
      </p:pic>
      <p:graphicFrame>
        <p:nvGraphicFramePr>
          <p:cNvPr id="5" name="object 5"/>
          <p:cNvGraphicFramePr>
            <a:graphicFrameLocks noGrp="1"/>
          </p:cNvGraphicFramePr>
          <p:nvPr/>
        </p:nvGraphicFramePr>
        <p:xfrm>
          <a:off x="920419" y="2918010"/>
          <a:ext cx="5577205" cy="3481703"/>
        </p:xfrm>
        <a:graphic>
          <a:graphicData uri="http://schemas.openxmlformats.org/drawingml/2006/table">
            <a:tbl>
              <a:tblPr firstRow="1" bandRow="1">
                <a:tableStyleId>{2D5ABB26-0587-4C30-8999-92F81FD0307C}</a:tableStyleId>
              </a:tblPr>
              <a:tblGrid>
                <a:gridCol w="1581150"/>
                <a:gridCol w="2353945"/>
                <a:gridCol w="1642110"/>
              </a:tblGrid>
              <a:tr h="337815">
                <a:tc>
                  <a:txBody>
                    <a:bodyPr/>
                    <a:lstStyle/>
                    <a:p>
                      <a:pPr marL="31750">
                        <a:lnSpc>
                          <a:spcPts val="1910"/>
                        </a:lnSpc>
                      </a:pPr>
                      <a:r>
                        <a:rPr sz="1800" dirty="0">
                          <a:solidFill>
                            <a:srgbClr val="404040"/>
                          </a:solidFill>
                          <a:latin typeface="宋体" panose="02010600030101010101" pitchFamily="2" charset="-122"/>
                          <a:cs typeface="宋体" panose="02010600030101010101" pitchFamily="2" charset="-122"/>
                        </a:rPr>
                        <a:t>输入数据：</a:t>
                      </a:r>
                      <a:endParaRPr sz="1800">
                        <a:latin typeface="宋体" panose="02010600030101010101" pitchFamily="2" charset="-122"/>
                        <a:cs typeface="宋体" panose="02010600030101010101" pitchFamily="2" charset="-122"/>
                      </a:endParaRPr>
                    </a:p>
                  </a:txBody>
                  <a:tcPr marL="0" marR="0" marT="0" marB="0"/>
                </a:tc>
                <a:tc>
                  <a:txBody>
                    <a:bodyPr/>
                    <a:lstStyle/>
                    <a:p>
                      <a:pPr marL="405765">
                        <a:lnSpc>
                          <a:spcPts val="1910"/>
                        </a:lnSpc>
                      </a:pPr>
                      <a:r>
                        <a:rPr sz="1800" dirty="0">
                          <a:solidFill>
                            <a:srgbClr val="404040"/>
                          </a:solidFill>
                          <a:latin typeface="宋体" panose="02010600030101010101" pitchFamily="2" charset="-122"/>
                          <a:cs typeface="宋体" panose="02010600030101010101" pitchFamily="2" charset="-122"/>
                        </a:rPr>
                        <a:t>目前排名：</a:t>
                      </a:r>
                      <a:endParaRPr sz="1800">
                        <a:latin typeface="宋体" panose="02010600030101010101" pitchFamily="2" charset="-122"/>
                        <a:cs typeface="宋体" panose="02010600030101010101" pitchFamily="2" charset="-122"/>
                      </a:endParaRPr>
                    </a:p>
                  </a:txBody>
                  <a:tcPr marL="0" marR="0" marT="0" marB="0"/>
                </a:tc>
                <a:tc>
                  <a:txBody>
                    <a:bodyPr/>
                    <a:lstStyle/>
                    <a:p>
                      <a:pPr marL="803910">
                        <a:lnSpc>
                          <a:spcPts val="2050"/>
                        </a:lnSpc>
                      </a:pPr>
                      <a:r>
                        <a:rPr sz="1800" dirty="0">
                          <a:solidFill>
                            <a:srgbClr val="404040"/>
                          </a:solidFill>
                          <a:latin typeface="宋体" panose="02010600030101010101" pitchFamily="2" charset="-122"/>
                          <a:cs typeface="宋体" panose="02010600030101010101" pitchFamily="2" charset="-122"/>
                        </a:rPr>
                        <a:t>队列：</a:t>
                      </a:r>
                      <a:r>
                        <a:rPr sz="1800" dirty="0">
                          <a:solidFill>
                            <a:srgbClr val="404040"/>
                          </a:solidFill>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0" marB="0"/>
                </a:tc>
              </a:tr>
              <a:tr h="402596">
                <a:tc>
                  <a:txBody>
                    <a:bodyPr/>
                    <a:lstStyle/>
                    <a:p>
                      <a:pPr marL="31750">
                        <a:lnSpc>
                          <a:spcPct val="100000"/>
                        </a:lnSpc>
                        <a:spcBef>
                          <a:spcPts val="435"/>
                        </a:spcBef>
                      </a:pPr>
                      <a:r>
                        <a:rPr sz="1800" dirty="0">
                          <a:solidFill>
                            <a:srgbClr val="404040"/>
                          </a:solidFill>
                          <a:latin typeface="Trebuchet MS" panose="020B0603020202020204"/>
                          <a:cs typeface="Trebuchet MS" panose="020B0603020202020204"/>
                        </a:rPr>
                        <a:t>6</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5244"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1</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20">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1</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2</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3</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3</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4</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333377">
                <a:tc>
                  <a:txBody>
                    <a:bodyPr/>
                    <a:lstStyle/>
                    <a:p>
                      <a:pPr marL="31750">
                        <a:lnSpc>
                          <a:spcPts val="2100"/>
                        </a:lnSpc>
                        <a:spcBef>
                          <a:spcPts val="425"/>
                        </a:spcBef>
                      </a:pPr>
                      <a:r>
                        <a:rPr sz="1800" dirty="0">
                          <a:solidFill>
                            <a:srgbClr val="404040"/>
                          </a:solidFill>
                          <a:latin typeface="Trebuchet MS" panose="020B0603020202020204"/>
                          <a:cs typeface="Trebuchet MS" panose="020B0603020202020204"/>
                        </a:rPr>
                        <a:t>5</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bl>
          </a:graphicData>
        </a:graphic>
      </p:graphicFrame>
      <p:pic>
        <p:nvPicPr>
          <p:cNvPr id="6" name="object 6"/>
          <p:cNvPicPr/>
          <p:nvPr/>
        </p:nvPicPr>
        <p:blipFill>
          <a:blip r:embed="rId3" cstate="print"/>
          <a:stretch>
            <a:fillRect/>
          </a:stretch>
        </p:blipFill>
        <p:spPr>
          <a:xfrm>
            <a:off x="3966971" y="3485388"/>
            <a:ext cx="4160520" cy="276301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拓扑排序</a:t>
            </a:r>
            <a:endParaRPr dirty="0">
              <a:latin typeface="宋体" panose="02010600030101010101" pitchFamily="2" charset="-122"/>
              <a:cs typeface="宋体" panose="02010600030101010101" pitchFamily="2" charset="-122"/>
            </a:endParaRPr>
          </a:p>
        </p:txBody>
      </p:sp>
      <p:sp>
        <p:nvSpPr>
          <p:cNvPr id="3" name="object 3"/>
          <p:cNvSpPr txBox="1"/>
          <p:nvPr/>
        </p:nvSpPr>
        <p:spPr>
          <a:xfrm>
            <a:off x="756069" y="1467649"/>
            <a:ext cx="2383790"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1"/>
              </a:rPr>
              <a:t>HDU1285</a:t>
            </a:r>
            <a:r>
              <a:rPr sz="1800" u="sng" spc="-65"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宋体" panose="02010600030101010101" pitchFamily="2" charset="-122"/>
                <a:cs typeface="宋体" panose="02010600030101010101" pitchFamily="2" charset="-122"/>
                <a:hlinkClick r:id="rId1"/>
              </a:rPr>
              <a:t>确定比赛名次</a:t>
            </a:r>
            <a:endParaRPr sz="1800">
              <a:latin typeface="宋体" panose="02010600030101010101" pitchFamily="2" charset="-122"/>
              <a:cs typeface="宋体" panose="02010600030101010101" pitchFamily="2" charset="-122"/>
            </a:endParaRPr>
          </a:p>
        </p:txBody>
      </p:sp>
      <p:pic>
        <p:nvPicPr>
          <p:cNvPr id="4" name="object 4"/>
          <p:cNvPicPr/>
          <p:nvPr/>
        </p:nvPicPr>
        <p:blipFill>
          <a:blip r:embed="rId2" cstate="print"/>
          <a:stretch>
            <a:fillRect/>
          </a:stretch>
        </p:blipFill>
        <p:spPr>
          <a:xfrm>
            <a:off x="793041" y="2011283"/>
            <a:ext cx="7960797" cy="745043"/>
          </a:xfrm>
          <a:prstGeom prst="rect">
            <a:avLst/>
          </a:prstGeom>
        </p:spPr>
      </p:pic>
      <p:graphicFrame>
        <p:nvGraphicFramePr>
          <p:cNvPr id="5" name="object 5"/>
          <p:cNvGraphicFramePr>
            <a:graphicFrameLocks noGrp="1"/>
          </p:cNvGraphicFramePr>
          <p:nvPr/>
        </p:nvGraphicFramePr>
        <p:xfrm>
          <a:off x="920419" y="2918010"/>
          <a:ext cx="5576570" cy="3481703"/>
        </p:xfrm>
        <a:graphic>
          <a:graphicData uri="http://schemas.openxmlformats.org/drawingml/2006/table">
            <a:tbl>
              <a:tblPr firstRow="1" bandRow="1">
                <a:tableStyleId>{2D5ABB26-0587-4C30-8999-92F81FD0307C}</a:tableStyleId>
              </a:tblPr>
              <a:tblGrid>
                <a:gridCol w="1581150"/>
                <a:gridCol w="2413635"/>
                <a:gridCol w="1581785"/>
              </a:tblGrid>
              <a:tr h="337815">
                <a:tc>
                  <a:txBody>
                    <a:bodyPr/>
                    <a:lstStyle/>
                    <a:p>
                      <a:pPr marL="31750">
                        <a:lnSpc>
                          <a:spcPts val="1910"/>
                        </a:lnSpc>
                      </a:pPr>
                      <a:r>
                        <a:rPr sz="1800" dirty="0">
                          <a:solidFill>
                            <a:srgbClr val="404040"/>
                          </a:solidFill>
                          <a:latin typeface="宋体" panose="02010600030101010101" pitchFamily="2" charset="-122"/>
                          <a:cs typeface="宋体" panose="02010600030101010101" pitchFamily="2" charset="-122"/>
                        </a:rPr>
                        <a:t>输入数据：</a:t>
                      </a:r>
                      <a:endParaRPr sz="1800">
                        <a:latin typeface="宋体" panose="02010600030101010101" pitchFamily="2" charset="-122"/>
                        <a:cs typeface="宋体" panose="02010600030101010101" pitchFamily="2" charset="-122"/>
                      </a:endParaRPr>
                    </a:p>
                  </a:txBody>
                  <a:tcPr marL="0" marR="0" marT="0" marB="0"/>
                </a:tc>
                <a:tc>
                  <a:txBody>
                    <a:bodyPr/>
                    <a:lstStyle/>
                    <a:p>
                      <a:pPr marL="405765">
                        <a:lnSpc>
                          <a:spcPts val="2050"/>
                        </a:lnSpc>
                      </a:pPr>
                      <a:r>
                        <a:rPr sz="1800" dirty="0">
                          <a:solidFill>
                            <a:srgbClr val="404040"/>
                          </a:solidFill>
                          <a:latin typeface="宋体" panose="02010600030101010101" pitchFamily="2" charset="-122"/>
                          <a:cs typeface="宋体" panose="02010600030101010101" pitchFamily="2" charset="-122"/>
                        </a:rPr>
                        <a:t>目前排名：</a:t>
                      </a:r>
                      <a:r>
                        <a:rPr sz="1800" dirty="0">
                          <a:solidFill>
                            <a:srgbClr val="404040"/>
                          </a:solidFill>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0" marB="0"/>
                </a:tc>
                <a:tc>
                  <a:txBody>
                    <a:bodyPr/>
                    <a:lstStyle/>
                    <a:p>
                      <a:pPr marL="744220">
                        <a:lnSpc>
                          <a:spcPts val="2050"/>
                        </a:lnSpc>
                      </a:pPr>
                      <a:r>
                        <a:rPr sz="1800" dirty="0">
                          <a:solidFill>
                            <a:srgbClr val="404040"/>
                          </a:solidFill>
                          <a:latin typeface="宋体" panose="02010600030101010101" pitchFamily="2" charset="-122"/>
                          <a:cs typeface="宋体" panose="02010600030101010101" pitchFamily="2" charset="-122"/>
                        </a:rPr>
                        <a:t>队列：</a:t>
                      </a:r>
                      <a:r>
                        <a:rPr sz="1800" dirty="0">
                          <a:solidFill>
                            <a:srgbClr val="404040"/>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0" marB="0"/>
                </a:tc>
              </a:tr>
              <a:tr h="402596">
                <a:tc>
                  <a:txBody>
                    <a:bodyPr/>
                    <a:lstStyle/>
                    <a:p>
                      <a:pPr marL="31750">
                        <a:lnSpc>
                          <a:spcPct val="100000"/>
                        </a:lnSpc>
                        <a:spcBef>
                          <a:spcPts val="435"/>
                        </a:spcBef>
                      </a:pPr>
                      <a:r>
                        <a:rPr sz="1800" dirty="0">
                          <a:solidFill>
                            <a:srgbClr val="404040"/>
                          </a:solidFill>
                          <a:latin typeface="Trebuchet MS" panose="020B0603020202020204"/>
                          <a:cs typeface="Trebuchet MS" panose="020B0603020202020204"/>
                        </a:rPr>
                        <a:t>6</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5244"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1</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20">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1</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2</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3</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3</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4</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333377">
                <a:tc>
                  <a:txBody>
                    <a:bodyPr/>
                    <a:lstStyle/>
                    <a:p>
                      <a:pPr marL="31750">
                        <a:lnSpc>
                          <a:spcPts val="2100"/>
                        </a:lnSpc>
                        <a:spcBef>
                          <a:spcPts val="425"/>
                        </a:spcBef>
                      </a:pPr>
                      <a:r>
                        <a:rPr sz="1800" dirty="0">
                          <a:solidFill>
                            <a:srgbClr val="404040"/>
                          </a:solidFill>
                          <a:latin typeface="Trebuchet MS" panose="020B0603020202020204"/>
                          <a:cs typeface="Trebuchet MS" panose="020B0603020202020204"/>
                        </a:rPr>
                        <a:t>5</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bl>
          </a:graphicData>
        </a:graphic>
      </p:graphicFrame>
      <p:pic>
        <p:nvPicPr>
          <p:cNvPr id="6" name="object 6"/>
          <p:cNvPicPr/>
          <p:nvPr/>
        </p:nvPicPr>
        <p:blipFill>
          <a:blip r:embed="rId3" cstate="print"/>
          <a:stretch>
            <a:fillRect/>
          </a:stretch>
        </p:blipFill>
        <p:spPr>
          <a:xfrm>
            <a:off x="3939540" y="3485388"/>
            <a:ext cx="4186427" cy="277215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拓扑排序</a:t>
            </a:r>
            <a:endParaRPr dirty="0">
              <a:latin typeface="宋体" panose="02010600030101010101" pitchFamily="2" charset="-122"/>
              <a:cs typeface="宋体" panose="02010600030101010101" pitchFamily="2" charset="-122"/>
            </a:endParaRPr>
          </a:p>
        </p:txBody>
      </p:sp>
      <p:sp>
        <p:nvSpPr>
          <p:cNvPr id="3" name="object 3"/>
          <p:cNvSpPr txBox="1"/>
          <p:nvPr/>
        </p:nvSpPr>
        <p:spPr>
          <a:xfrm>
            <a:off x="756069" y="1467649"/>
            <a:ext cx="2383790"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1"/>
              </a:rPr>
              <a:t>HDU1285</a:t>
            </a:r>
            <a:r>
              <a:rPr sz="1800" u="sng" spc="-65"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宋体" panose="02010600030101010101" pitchFamily="2" charset="-122"/>
                <a:cs typeface="宋体" panose="02010600030101010101" pitchFamily="2" charset="-122"/>
                <a:hlinkClick r:id="rId1"/>
              </a:rPr>
              <a:t>确定比赛名次</a:t>
            </a:r>
            <a:endParaRPr sz="1800">
              <a:latin typeface="宋体" panose="02010600030101010101" pitchFamily="2" charset="-122"/>
              <a:cs typeface="宋体" panose="02010600030101010101" pitchFamily="2" charset="-122"/>
            </a:endParaRPr>
          </a:p>
        </p:txBody>
      </p:sp>
      <p:pic>
        <p:nvPicPr>
          <p:cNvPr id="4" name="object 4"/>
          <p:cNvPicPr/>
          <p:nvPr/>
        </p:nvPicPr>
        <p:blipFill>
          <a:blip r:embed="rId2" cstate="print"/>
          <a:stretch>
            <a:fillRect/>
          </a:stretch>
        </p:blipFill>
        <p:spPr>
          <a:xfrm>
            <a:off x="793041" y="2011283"/>
            <a:ext cx="7960797" cy="745043"/>
          </a:xfrm>
          <a:prstGeom prst="rect">
            <a:avLst/>
          </a:prstGeom>
        </p:spPr>
      </p:pic>
      <p:graphicFrame>
        <p:nvGraphicFramePr>
          <p:cNvPr id="5" name="object 5"/>
          <p:cNvGraphicFramePr>
            <a:graphicFrameLocks noGrp="1"/>
          </p:cNvGraphicFramePr>
          <p:nvPr/>
        </p:nvGraphicFramePr>
        <p:xfrm>
          <a:off x="920419" y="2918010"/>
          <a:ext cx="5577204" cy="3481703"/>
        </p:xfrm>
        <a:graphic>
          <a:graphicData uri="http://schemas.openxmlformats.org/drawingml/2006/table">
            <a:tbl>
              <a:tblPr firstRow="1" bandRow="1">
                <a:tableStyleId>{2D5ABB26-0587-4C30-8999-92F81FD0307C}</a:tableStyleId>
              </a:tblPr>
              <a:tblGrid>
                <a:gridCol w="1581150"/>
                <a:gridCol w="2508250"/>
                <a:gridCol w="1487804"/>
              </a:tblGrid>
              <a:tr h="337815">
                <a:tc>
                  <a:txBody>
                    <a:bodyPr/>
                    <a:lstStyle/>
                    <a:p>
                      <a:pPr marL="31750">
                        <a:lnSpc>
                          <a:spcPts val="1910"/>
                        </a:lnSpc>
                      </a:pPr>
                      <a:r>
                        <a:rPr sz="1800" dirty="0">
                          <a:solidFill>
                            <a:srgbClr val="404040"/>
                          </a:solidFill>
                          <a:latin typeface="宋体" panose="02010600030101010101" pitchFamily="2" charset="-122"/>
                          <a:cs typeface="宋体" panose="02010600030101010101" pitchFamily="2" charset="-122"/>
                        </a:rPr>
                        <a:t>输入数据：</a:t>
                      </a:r>
                      <a:endParaRPr sz="1800">
                        <a:latin typeface="宋体" panose="02010600030101010101" pitchFamily="2" charset="-122"/>
                        <a:cs typeface="宋体" panose="02010600030101010101" pitchFamily="2" charset="-122"/>
                      </a:endParaRPr>
                    </a:p>
                  </a:txBody>
                  <a:tcPr marL="0" marR="0" marT="0" marB="0"/>
                </a:tc>
                <a:tc>
                  <a:txBody>
                    <a:bodyPr/>
                    <a:lstStyle/>
                    <a:p>
                      <a:pPr marL="405765">
                        <a:lnSpc>
                          <a:spcPts val="2050"/>
                        </a:lnSpc>
                      </a:pPr>
                      <a:r>
                        <a:rPr sz="1800" dirty="0">
                          <a:solidFill>
                            <a:srgbClr val="404040"/>
                          </a:solidFill>
                          <a:latin typeface="宋体" panose="02010600030101010101" pitchFamily="2" charset="-122"/>
                          <a:cs typeface="宋体" panose="02010600030101010101" pitchFamily="2" charset="-122"/>
                        </a:rPr>
                        <a:t>目前排名：</a:t>
                      </a:r>
                      <a:r>
                        <a:rPr sz="1800" dirty="0">
                          <a:solidFill>
                            <a:srgbClr val="404040"/>
                          </a:solidFill>
                          <a:latin typeface="Trebuchet MS" panose="020B0603020202020204"/>
                          <a:cs typeface="Trebuchet MS" panose="020B0603020202020204"/>
                        </a:rPr>
                        <a:t>1</a:t>
                      </a:r>
                      <a:r>
                        <a:rPr sz="1800" spc="-10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0" marB="0"/>
                </a:tc>
                <a:tc>
                  <a:txBody>
                    <a:bodyPr/>
                    <a:lstStyle/>
                    <a:p>
                      <a:pPr marL="650240">
                        <a:lnSpc>
                          <a:spcPts val="2050"/>
                        </a:lnSpc>
                      </a:pPr>
                      <a:r>
                        <a:rPr sz="1800" dirty="0">
                          <a:solidFill>
                            <a:srgbClr val="404040"/>
                          </a:solidFill>
                          <a:latin typeface="宋体" panose="02010600030101010101" pitchFamily="2" charset="-122"/>
                          <a:cs typeface="宋体" panose="02010600030101010101" pitchFamily="2" charset="-122"/>
                        </a:rPr>
                        <a:t>队列：</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0" marB="0"/>
                </a:tc>
              </a:tr>
              <a:tr h="402596">
                <a:tc>
                  <a:txBody>
                    <a:bodyPr/>
                    <a:lstStyle/>
                    <a:p>
                      <a:pPr marL="31750">
                        <a:lnSpc>
                          <a:spcPct val="100000"/>
                        </a:lnSpc>
                        <a:spcBef>
                          <a:spcPts val="435"/>
                        </a:spcBef>
                      </a:pPr>
                      <a:r>
                        <a:rPr sz="1800" dirty="0">
                          <a:solidFill>
                            <a:srgbClr val="404040"/>
                          </a:solidFill>
                          <a:latin typeface="Trebuchet MS" panose="020B0603020202020204"/>
                          <a:cs typeface="Trebuchet MS" panose="020B0603020202020204"/>
                        </a:rPr>
                        <a:t>6</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5244"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1</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20">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1</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2</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3</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3</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4</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333377">
                <a:tc>
                  <a:txBody>
                    <a:bodyPr/>
                    <a:lstStyle/>
                    <a:p>
                      <a:pPr marL="31750">
                        <a:lnSpc>
                          <a:spcPts val="2100"/>
                        </a:lnSpc>
                        <a:spcBef>
                          <a:spcPts val="425"/>
                        </a:spcBef>
                      </a:pPr>
                      <a:r>
                        <a:rPr sz="1800" dirty="0">
                          <a:solidFill>
                            <a:srgbClr val="404040"/>
                          </a:solidFill>
                          <a:latin typeface="Trebuchet MS" panose="020B0603020202020204"/>
                          <a:cs typeface="Trebuchet MS" panose="020B0603020202020204"/>
                        </a:rPr>
                        <a:t>5</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bl>
          </a:graphicData>
        </a:graphic>
      </p:graphicFrame>
      <p:pic>
        <p:nvPicPr>
          <p:cNvPr id="6" name="object 6"/>
          <p:cNvPicPr/>
          <p:nvPr/>
        </p:nvPicPr>
        <p:blipFill>
          <a:blip r:embed="rId3" cstate="print"/>
          <a:stretch>
            <a:fillRect/>
          </a:stretch>
        </p:blipFill>
        <p:spPr>
          <a:xfrm>
            <a:off x="3988308" y="3485388"/>
            <a:ext cx="4137660" cy="2763012"/>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拓扑排序</a:t>
            </a:r>
            <a:endParaRPr dirty="0">
              <a:latin typeface="宋体" panose="02010600030101010101" pitchFamily="2" charset="-122"/>
              <a:cs typeface="宋体" panose="02010600030101010101" pitchFamily="2" charset="-122"/>
            </a:endParaRPr>
          </a:p>
        </p:txBody>
      </p:sp>
      <p:sp>
        <p:nvSpPr>
          <p:cNvPr id="3" name="object 3"/>
          <p:cNvSpPr txBox="1"/>
          <p:nvPr/>
        </p:nvSpPr>
        <p:spPr>
          <a:xfrm>
            <a:off x="756069" y="1467649"/>
            <a:ext cx="2383790"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1"/>
              </a:rPr>
              <a:t>HDU1285</a:t>
            </a:r>
            <a:r>
              <a:rPr sz="1800" u="sng" spc="-65"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宋体" panose="02010600030101010101" pitchFamily="2" charset="-122"/>
                <a:cs typeface="宋体" panose="02010600030101010101" pitchFamily="2" charset="-122"/>
                <a:hlinkClick r:id="rId1"/>
              </a:rPr>
              <a:t>确定比赛名次</a:t>
            </a:r>
            <a:endParaRPr sz="1800">
              <a:latin typeface="宋体" panose="02010600030101010101" pitchFamily="2" charset="-122"/>
              <a:cs typeface="宋体" panose="02010600030101010101" pitchFamily="2" charset="-122"/>
            </a:endParaRPr>
          </a:p>
        </p:txBody>
      </p:sp>
      <p:pic>
        <p:nvPicPr>
          <p:cNvPr id="4" name="object 4"/>
          <p:cNvPicPr/>
          <p:nvPr/>
        </p:nvPicPr>
        <p:blipFill>
          <a:blip r:embed="rId2" cstate="print"/>
          <a:stretch>
            <a:fillRect/>
          </a:stretch>
        </p:blipFill>
        <p:spPr>
          <a:xfrm>
            <a:off x="793041" y="2011283"/>
            <a:ext cx="7960797" cy="745043"/>
          </a:xfrm>
          <a:prstGeom prst="rect">
            <a:avLst/>
          </a:prstGeom>
        </p:spPr>
      </p:pic>
      <p:graphicFrame>
        <p:nvGraphicFramePr>
          <p:cNvPr id="5" name="object 5"/>
          <p:cNvGraphicFramePr>
            <a:graphicFrameLocks noGrp="1"/>
          </p:cNvGraphicFramePr>
          <p:nvPr/>
        </p:nvGraphicFramePr>
        <p:xfrm>
          <a:off x="920419" y="2918010"/>
          <a:ext cx="5765164" cy="3481703"/>
        </p:xfrm>
        <a:graphic>
          <a:graphicData uri="http://schemas.openxmlformats.org/drawingml/2006/table">
            <a:tbl>
              <a:tblPr firstRow="1" bandRow="1">
                <a:tableStyleId>{2D5ABB26-0587-4C30-8999-92F81FD0307C}</a:tableStyleId>
              </a:tblPr>
              <a:tblGrid>
                <a:gridCol w="1581150"/>
                <a:gridCol w="2602229"/>
                <a:gridCol w="1581785"/>
              </a:tblGrid>
              <a:tr h="337815">
                <a:tc>
                  <a:txBody>
                    <a:bodyPr/>
                    <a:lstStyle/>
                    <a:p>
                      <a:pPr marL="31750">
                        <a:lnSpc>
                          <a:spcPts val="1910"/>
                        </a:lnSpc>
                      </a:pPr>
                      <a:r>
                        <a:rPr sz="1800" dirty="0">
                          <a:solidFill>
                            <a:srgbClr val="404040"/>
                          </a:solidFill>
                          <a:latin typeface="宋体" panose="02010600030101010101" pitchFamily="2" charset="-122"/>
                          <a:cs typeface="宋体" panose="02010600030101010101" pitchFamily="2" charset="-122"/>
                        </a:rPr>
                        <a:t>输入数据：</a:t>
                      </a:r>
                      <a:endParaRPr sz="1800">
                        <a:latin typeface="宋体" panose="02010600030101010101" pitchFamily="2" charset="-122"/>
                        <a:cs typeface="宋体" panose="02010600030101010101" pitchFamily="2" charset="-122"/>
                      </a:endParaRPr>
                    </a:p>
                  </a:txBody>
                  <a:tcPr marL="0" marR="0" marT="0" marB="0"/>
                </a:tc>
                <a:tc>
                  <a:txBody>
                    <a:bodyPr/>
                    <a:lstStyle/>
                    <a:p>
                      <a:pPr marL="405765">
                        <a:lnSpc>
                          <a:spcPts val="2050"/>
                        </a:lnSpc>
                      </a:pPr>
                      <a:r>
                        <a:rPr sz="1800" dirty="0">
                          <a:solidFill>
                            <a:srgbClr val="404040"/>
                          </a:solidFill>
                          <a:latin typeface="宋体" panose="02010600030101010101" pitchFamily="2" charset="-122"/>
                          <a:cs typeface="宋体" panose="02010600030101010101" pitchFamily="2" charset="-122"/>
                        </a:rPr>
                        <a:t>目前排名：</a:t>
                      </a:r>
                      <a:r>
                        <a:rPr sz="1800" dirty="0">
                          <a:solidFill>
                            <a:srgbClr val="404040"/>
                          </a:solidFill>
                          <a:latin typeface="Trebuchet MS" panose="020B0603020202020204"/>
                          <a:cs typeface="Trebuchet MS" panose="020B0603020202020204"/>
                        </a:rPr>
                        <a:t>1</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2</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0" marB="0"/>
                </a:tc>
                <a:tc>
                  <a:txBody>
                    <a:bodyPr/>
                    <a:lstStyle/>
                    <a:p>
                      <a:pPr marL="555625">
                        <a:lnSpc>
                          <a:spcPts val="2050"/>
                        </a:lnSpc>
                      </a:pPr>
                      <a:r>
                        <a:rPr sz="1800" dirty="0">
                          <a:solidFill>
                            <a:srgbClr val="404040"/>
                          </a:solidFill>
                          <a:latin typeface="宋体" panose="02010600030101010101" pitchFamily="2" charset="-122"/>
                          <a:cs typeface="宋体" panose="02010600030101010101" pitchFamily="2" charset="-122"/>
                        </a:rPr>
                        <a:t>队列：</a:t>
                      </a:r>
                      <a:r>
                        <a:rPr sz="1800" dirty="0">
                          <a:solidFill>
                            <a:srgbClr val="404040"/>
                          </a:solidFill>
                          <a:latin typeface="Trebuchet MS" panose="020B0603020202020204"/>
                          <a:cs typeface="Trebuchet MS" panose="020B0603020202020204"/>
                        </a:rPr>
                        <a:t>5</a:t>
                      </a:r>
                      <a:r>
                        <a:rPr sz="1800" spc="-10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0" marB="0"/>
                </a:tc>
              </a:tr>
              <a:tr h="402596">
                <a:tc>
                  <a:txBody>
                    <a:bodyPr/>
                    <a:lstStyle/>
                    <a:p>
                      <a:pPr marL="31750">
                        <a:lnSpc>
                          <a:spcPct val="100000"/>
                        </a:lnSpc>
                        <a:spcBef>
                          <a:spcPts val="435"/>
                        </a:spcBef>
                      </a:pPr>
                      <a:r>
                        <a:rPr sz="1800" dirty="0">
                          <a:solidFill>
                            <a:srgbClr val="404040"/>
                          </a:solidFill>
                          <a:latin typeface="Trebuchet MS" panose="020B0603020202020204"/>
                          <a:cs typeface="Trebuchet MS" panose="020B0603020202020204"/>
                        </a:rPr>
                        <a:t>6</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5244"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1</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20">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1</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2</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3</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3</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4</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333377">
                <a:tc>
                  <a:txBody>
                    <a:bodyPr/>
                    <a:lstStyle/>
                    <a:p>
                      <a:pPr marL="31750">
                        <a:lnSpc>
                          <a:spcPts val="2100"/>
                        </a:lnSpc>
                        <a:spcBef>
                          <a:spcPts val="425"/>
                        </a:spcBef>
                      </a:pPr>
                      <a:r>
                        <a:rPr sz="1800" dirty="0">
                          <a:solidFill>
                            <a:srgbClr val="404040"/>
                          </a:solidFill>
                          <a:latin typeface="Trebuchet MS" panose="020B0603020202020204"/>
                          <a:cs typeface="Trebuchet MS" panose="020B0603020202020204"/>
                        </a:rPr>
                        <a:t>5</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bl>
          </a:graphicData>
        </a:graphic>
      </p:graphicFrame>
      <p:pic>
        <p:nvPicPr>
          <p:cNvPr id="6" name="object 6"/>
          <p:cNvPicPr/>
          <p:nvPr/>
        </p:nvPicPr>
        <p:blipFill>
          <a:blip r:embed="rId3" cstate="print"/>
          <a:stretch>
            <a:fillRect/>
          </a:stretch>
        </p:blipFill>
        <p:spPr>
          <a:xfrm>
            <a:off x="4044696" y="3485388"/>
            <a:ext cx="4081272" cy="270814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拓扑排序</a:t>
            </a:r>
            <a:endParaRPr dirty="0">
              <a:latin typeface="宋体" panose="02010600030101010101" pitchFamily="2" charset="-122"/>
              <a:cs typeface="宋体" panose="02010600030101010101" pitchFamily="2" charset="-122"/>
            </a:endParaRPr>
          </a:p>
        </p:txBody>
      </p:sp>
      <p:sp>
        <p:nvSpPr>
          <p:cNvPr id="3" name="object 3"/>
          <p:cNvSpPr txBox="1"/>
          <p:nvPr/>
        </p:nvSpPr>
        <p:spPr>
          <a:xfrm>
            <a:off x="756069" y="1467649"/>
            <a:ext cx="2383790"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1"/>
              </a:rPr>
              <a:t>HDU1285</a:t>
            </a:r>
            <a:r>
              <a:rPr sz="1800" u="sng" spc="-65"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宋体" panose="02010600030101010101" pitchFamily="2" charset="-122"/>
                <a:cs typeface="宋体" panose="02010600030101010101" pitchFamily="2" charset="-122"/>
                <a:hlinkClick r:id="rId1"/>
              </a:rPr>
              <a:t>确定比赛名次</a:t>
            </a:r>
            <a:endParaRPr sz="1800">
              <a:latin typeface="宋体" panose="02010600030101010101" pitchFamily="2" charset="-122"/>
              <a:cs typeface="宋体" panose="02010600030101010101" pitchFamily="2" charset="-122"/>
            </a:endParaRPr>
          </a:p>
        </p:txBody>
      </p:sp>
      <p:pic>
        <p:nvPicPr>
          <p:cNvPr id="4" name="object 4"/>
          <p:cNvPicPr/>
          <p:nvPr/>
        </p:nvPicPr>
        <p:blipFill>
          <a:blip r:embed="rId2" cstate="print"/>
          <a:stretch>
            <a:fillRect/>
          </a:stretch>
        </p:blipFill>
        <p:spPr>
          <a:xfrm>
            <a:off x="793041" y="2011283"/>
            <a:ext cx="7960797" cy="745043"/>
          </a:xfrm>
          <a:prstGeom prst="rect">
            <a:avLst/>
          </a:prstGeom>
        </p:spPr>
      </p:pic>
      <p:graphicFrame>
        <p:nvGraphicFramePr>
          <p:cNvPr id="5" name="object 5"/>
          <p:cNvGraphicFramePr>
            <a:graphicFrameLocks noGrp="1"/>
          </p:cNvGraphicFramePr>
          <p:nvPr/>
        </p:nvGraphicFramePr>
        <p:xfrm>
          <a:off x="920419" y="2918010"/>
          <a:ext cx="5577205" cy="3481703"/>
        </p:xfrm>
        <a:graphic>
          <a:graphicData uri="http://schemas.openxmlformats.org/drawingml/2006/table">
            <a:tbl>
              <a:tblPr firstRow="1" bandRow="1">
                <a:tableStyleId>{2D5ABB26-0587-4C30-8999-92F81FD0307C}</a:tableStyleId>
              </a:tblPr>
              <a:tblGrid>
                <a:gridCol w="1581150"/>
                <a:gridCol w="2696845"/>
                <a:gridCol w="1299210"/>
              </a:tblGrid>
              <a:tr h="337815">
                <a:tc>
                  <a:txBody>
                    <a:bodyPr/>
                    <a:lstStyle/>
                    <a:p>
                      <a:pPr marL="31750">
                        <a:lnSpc>
                          <a:spcPts val="1910"/>
                        </a:lnSpc>
                      </a:pPr>
                      <a:r>
                        <a:rPr sz="1800" dirty="0">
                          <a:solidFill>
                            <a:srgbClr val="404040"/>
                          </a:solidFill>
                          <a:latin typeface="宋体" panose="02010600030101010101" pitchFamily="2" charset="-122"/>
                          <a:cs typeface="宋体" panose="02010600030101010101" pitchFamily="2" charset="-122"/>
                        </a:rPr>
                        <a:t>输入数据：</a:t>
                      </a:r>
                      <a:endParaRPr sz="1800">
                        <a:latin typeface="宋体" panose="02010600030101010101" pitchFamily="2" charset="-122"/>
                        <a:cs typeface="宋体" panose="02010600030101010101" pitchFamily="2" charset="-122"/>
                      </a:endParaRPr>
                    </a:p>
                  </a:txBody>
                  <a:tcPr marL="0" marR="0" marT="0" marB="0"/>
                </a:tc>
                <a:tc>
                  <a:txBody>
                    <a:bodyPr/>
                    <a:lstStyle/>
                    <a:p>
                      <a:pPr marL="405765">
                        <a:lnSpc>
                          <a:spcPts val="2050"/>
                        </a:lnSpc>
                      </a:pPr>
                      <a:r>
                        <a:rPr sz="1800" dirty="0">
                          <a:solidFill>
                            <a:srgbClr val="404040"/>
                          </a:solidFill>
                          <a:latin typeface="宋体" panose="02010600030101010101" pitchFamily="2" charset="-122"/>
                          <a:cs typeface="宋体" panose="02010600030101010101" pitchFamily="2" charset="-122"/>
                        </a:rPr>
                        <a:t>目前排名：</a:t>
                      </a:r>
                      <a:r>
                        <a:rPr sz="1800" dirty="0">
                          <a:solidFill>
                            <a:srgbClr val="404040"/>
                          </a:solidFill>
                          <a:latin typeface="Trebuchet MS" panose="020B0603020202020204"/>
                          <a:cs typeface="Trebuchet MS" panose="020B0603020202020204"/>
                        </a:rPr>
                        <a:t>1</a:t>
                      </a:r>
                      <a:r>
                        <a:rPr sz="1800" spc="-40"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2</a:t>
                      </a:r>
                      <a:r>
                        <a:rPr sz="1800" spc="-40"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r>
                        <a:rPr sz="1800" spc="-3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0" marB="0"/>
                </a:tc>
                <a:tc>
                  <a:txBody>
                    <a:bodyPr/>
                    <a:lstStyle/>
                    <a:p>
                      <a:pPr marL="461645">
                        <a:lnSpc>
                          <a:spcPts val="2050"/>
                        </a:lnSpc>
                      </a:pPr>
                      <a:r>
                        <a:rPr sz="1800" dirty="0">
                          <a:solidFill>
                            <a:srgbClr val="404040"/>
                          </a:solidFill>
                          <a:latin typeface="宋体" panose="02010600030101010101" pitchFamily="2" charset="-122"/>
                          <a:cs typeface="宋体" panose="02010600030101010101" pitchFamily="2" charset="-122"/>
                        </a:rPr>
                        <a:t>队列：</a:t>
                      </a:r>
                      <a:r>
                        <a:rPr sz="1800" dirty="0">
                          <a:solidFill>
                            <a:srgbClr val="404040"/>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0" marB="0"/>
                </a:tc>
              </a:tr>
              <a:tr h="402596">
                <a:tc>
                  <a:txBody>
                    <a:bodyPr/>
                    <a:lstStyle/>
                    <a:p>
                      <a:pPr marL="31750">
                        <a:lnSpc>
                          <a:spcPct val="100000"/>
                        </a:lnSpc>
                        <a:spcBef>
                          <a:spcPts val="435"/>
                        </a:spcBef>
                      </a:pPr>
                      <a:r>
                        <a:rPr sz="1800" dirty="0">
                          <a:solidFill>
                            <a:srgbClr val="404040"/>
                          </a:solidFill>
                          <a:latin typeface="Trebuchet MS" panose="020B0603020202020204"/>
                          <a:cs typeface="Trebuchet MS" panose="020B0603020202020204"/>
                        </a:rPr>
                        <a:t>6</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5244"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1</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20">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1</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2</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3</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3</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4</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333377">
                <a:tc>
                  <a:txBody>
                    <a:bodyPr/>
                    <a:lstStyle/>
                    <a:p>
                      <a:pPr marL="31750">
                        <a:lnSpc>
                          <a:spcPts val="2100"/>
                        </a:lnSpc>
                        <a:spcBef>
                          <a:spcPts val="425"/>
                        </a:spcBef>
                      </a:pPr>
                      <a:r>
                        <a:rPr sz="1800" dirty="0">
                          <a:solidFill>
                            <a:srgbClr val="404040"/>
                          </a:solidFill>
                          <a:latin typeface="Trebuchet MS" panose="020B0603020202020204"/>
                          <a:cs typeface="Trebuchet MS" panose="020B0603020202020204"/>
                        </a:rPr>
                        <a:t>5</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bl>
          </a:graphicData>
        </a:graphic>
      </p:graphicFrame>
      <p:pic>
        <p:nvPicPr>
          <p:cNvPr id="6" name="object 6"/>
          <p:cNvPicPr/>
          <p:nvPr/>
        </p:nvPicPr>
        <p:blipFill>
          <a:blip r:embed="rId3" cstate="print"/>
          <a:stretch>
            <a:fillRect/>
          </a:stretch>
        </p:blipFill>
        <p:spPr>
          <a:xfrm>
            <a:off x="3986784" y="3459479"/>
            <a:ext cx="4139184" cy="27432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拓扑排序</a:t>
            </a:r>
            <a:endParaRPr dirty="0">
              <a:latin typeface="宋体" panose="02010600030101010101" pitchFamily="2" charset="-122"/>
              <a:cs typeface="宋体" panose="02010600030101010101" pitchFamily="2" charset="-122"/>
            </a:endParaRPr>
          </a:p>
        </p:txBody>
      </p:sp>
      <p:sp>
        <p:nvSpPr>
          <p:cNvPr id="3" name="object 3"/>
          <p:cNvSpPr txBox="1"/>
          <p:nvPr/>
        </p:nvSpPr>
        <p:spPr>
          <a:xfrm>
            <a:off x="756069" y="1467649"/>
            <a:ext cx="2383790"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1"/>
              </a:rPr>
              <a:t>HDU1285</a:t>
            </a:r>
            <a:r>
              <a:rPr sz="1800" u="sng" spc="-65"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宋体" panose="02010600030101010101" pitchFamily="2" charset="-122"/>
                <a:cs typeface="宋体" panose="02010600030101010101" pitchFamily="2" charset="-122"/>
                <a:hlinkClick r:id="rId1"/>
              </a:rPr>
              <a:t>确定比赛名次</a:t>
            </a:r>
            <a:endParaRPr sz="1800">
              <a:latin typeface="宋体" panose="02010600030101010101" pitchFamily="2" charset="-122"/>
              <a:cs typeface="宋体" panose="02010600030101010101" pitchFamily="2" charset="-122"/>
            </a:endParaRPr>
          </a:p>
        </p:txBody>
      </p:sp>
      <p:pic>
        <p:nvPicPr>
          <p:cNvPr id="4" name="object 4"/>
          <p:cNvPicPr/>
          <p:nvPr/>
        </p:nvPicPr>
        <p:blipFill>
          <a:blip r:embed="rId2" cstate="print"/>
          <a:stretch>
            <a:fillRect/>
          </a:stretch>
        </p:blipFill>
        <p:spPr>
          <a:xfrm>
            <a:off x="793041" y="2011283"/>
            <a:ext cx="7960797" cy="745043"/>
          </a:xfrm>
          <a:prstGeom prst="rect">
            <a:avLst/>
          </a:prstGeom>
        </p:spPr>
      </p:pic>
      <p:graphicFrame>
        <p:nvGraphicFramePr>
          <p:cNvPr id="5" name="object 5"/>
          <p:cNvGraphicFramePr>
            <a:graphicFrameLocks noGrp="1"/>
          </p:cNvGraphicFramePr>
          <p:nvPr/>
        </p:nvGraphicFramePr>
        <p:xfrm>
          <a:off x="920419" y="2918010"/>
          <a:ext cx="5576570" cy="3481703"/>
        </p:xfrm>
        <a:graphic>
          <a:graphicData uri="http://schemas.openxmlformats.org/drawingml/2006/table">
            <a:tbl>
              <a:tblPr firstRow="1" bandRow="1">
                <a:tableStyleId>{2D5ABB26-0587-4C30-8999-92F81FD0307C}</a:tableStyleId>
              </a:tblPr>
              <a:tblGrid>
                <a:gridCol w="1581150"/>
                <a:gridCol w="2790825"/>
                <a:gridCol w="1204595"/>
              </a:tblGrid>
              <a:tr h="337815">
                <a:tc>
                  <a:txBody>
                    <a:bodyPr/>
                    <a:lstStyle/>
                    <a:p>
                      <a:pPr marL="31750">
                        <a:lnSpc>
                          <a:spcPts val="1910"/>
                        </a:lnSpc>
                      </a:pPr>
                      <a:r>
                        <a:rPr sz="1800" dirty="0">
                          <a:solidFill>
                            <a:srgbClr val="404040"/>
                          </a:solidFill>
                          <a:latin typeface="宋体" panose="02010600030101010101" pitchFamily="2" charset="-122"/>
                          <a:cs typeface="宋体" panose="02010600030101010101" pitchFamily="2" charset="-122"/>
                        </a:rPr>
                        <a:t>输入数据：</a:t>
                      </a:r>
                      <a:endParaRPr sz="1800">
                        <a:latin typeface="宋体" panose="02010600030101010101" pitchFamily="2" charset="-122"/>
                        <a:cs typeface="宋体" panose="02010600030101010101" pitchFamily="2" charset="-122"/>
                      </a:endParaRPr>
                    </a:p>
                  </a:txBody>
                  <a:tcPr marL="0" marR="0" marT="0" marB="0"/>
                </a:tc>
                <a:tc>
                  <a:txBody>
                    <a:bodyPr/>
                    <a:lstStyle/>
                    <a:p>
                      <a:pPr marL="405765">
                        <a:lnSpc>
                          <a:spcPts val="2050"/>
                        </a:lnSpc>
                      </a:pPr>
                      <a:r>
                        <a:rPr sz="1800" dirty="0">
                          <a:solidFill>
                            <a:srgbClr val="404040"/>
                          </a:solidFill>
                          <a:latin typeface="宋体" panose="02010600030101010101" pitchFamily="2" charset="-122"/>
                          <a:cs typeface="宋体" panose="02010600030101010101" pitchFamily="2" charset="-122"/>
                        </a:rPr>
                        <a:t>目前排名：</a:t>
                      </a:r>
                      <a:r>
                        <a:rPr sz="1800" dirty="0">
                          <a:solidFill>
                            <a:srgbClr val="404040"/>
                          </a:solidFill>
                          <a:latin typeface="Trebuchet MS" panose="020B0603020202020204"/>
                          <a:cs typeface="Trebuchet MS" panose="020B0603020202020204"/>
                        </a:rPr>
                        <a:t>1</a:t>
                      </a:r>
                      <a:r>
                        <a:rPr sz="1800" spc="-30"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2</a:t>
                      </a:r>
                      <a:r>
                        <a:rPr sz="1800" spc="-30"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r>
                        <a:rPr sz="1800" spc="-30"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5</a:t>
                      </a:r>
                      <a:r>
                        <a:rPr sz="1800" spc="-30"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0" marB="0"/>
                </a:tc>
                <a:tc>
                  <a:txBody>
                    <a:bodyPr/>
                    <a:lstStyle/>
                    <a:p>
                      <a:pPr marL="367030">
                        <a:lnSpc>
                          <a:spcPts val="2050"/>
                        </a:lnSpc>
                      </a:pPr>
                      <a:r>
                        <a:rPr sz="1800" dirty="0">
                          <a:solidFill>
                            <a:srgbClr val="404040"/>
                          </a:solidFill>
                          <a:latin typeface="宋体" panose="02010600030101010101" pitchFamily="2" charset="-122"/>
                          <a:cs typeface="宋体" panose="02010600030101010101" pitchFamily="2" charset="-122"/>
                        </a:rPr>
                        <a:t>队列：</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0" marB="0"/>
                </a:tc>
              </a:tr>
              <a:tr h="402596">
                <a:tc>
                  <a:txBody>
                    <a:bodyPr/>
                    <a:lstStyle/>
                    <a:p>
                      <a:pPr marL="31750">
                        <a:lnSpc>
                          <a:spcPct val="100000"/>
                        </a:lnSpc>
                        <a:spcBef>
                          <a:spcPts val="435"/>
                        </a:spcBef>
                      </a:pPr>
                      <a:r>
                        <a:rPr sz="1800" dirty="0">
                          <a:solidFill>
                            <a:srgbClr val="404040"/>
                          </a:solidFill>
                          <a:latin typeface="Trebuchet MS" panose="020B0603020202020204"/>
                          <a:cs typeface="Trebuchet MS" panose="020B0603020202020204"/>
                        </a:rPr>
                        <a:t>6</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5244"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1</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20">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1</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2</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3</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3</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401319">
                <a:tc>
                  <a:txBody>
                    <a:bodyPr/>
                    <a:lstStyle/>
                    <a:p>
                      <a:pPr marL="31750">
                        <a:lnSpc>
                          <a:spcPct val="100000"/>
                        </a:lnSpc>
                        <a:spcBef>
                          <a:spcPts val="425"/>
                        </a:spcBef>
                      </a:pPr>
                      <a:r>
                        <a:rPr sz="1800" dirty="0">
                          <a:solidFill>
                            <a:srgbClr val="404040"/>
                          </a:solidFill>
                          <a:latin typeface="Trebuchet MS" panose="020B0603020202020204"/>
                          <a:cs typeface="Trebuchet MS" panose="020B0603020202020204"/>
                        </a:rPr>
                        <a:t>4</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r h="333377">
                <a:tc>
                  <a:txBody>
                    <a:bodyPr/>
                    <a:lstStyle/>
                    <a:p>
                      <a:pPr marL="31750">
                        <a:lnSpc>
                          <a:spcPts val="2100"/>
                        </a:lnSpc>
                        <a:spcBef>
                          <a:spcPts val="425"/>
                        </a:spcBef>
                      </a:pPr>
                      <a:r>
                        <a:rPr sz="1800" dirty="0">
                          <a:solidFill>
                            <a:srgbClr val="404040"/>
                          </a:solidFill>
                          <a:latin typeface="Trebuchet MS" panose="020B0603020202020204"/>
                          <a:cs typeface="Trebuchet MS" panose="020B0603020202020204"/>
                        </a:rPr>
                        <a:t>5</a:t>
                      </a:r>
                      <a:r>
                        <a:rPr sz="1800" spc="-5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53975" marB="0"/>
                </a:tc>
                <a:tc>
                  <a:txBody>
                    <a:bodyPr/>
                    <a:lstStyle/>
                    <a:p>
                      <a:pPr>
                        <a:lnSpc>
                          <a:spcPct val="100000"/>
                        </a:lnSpc>
                      </a:pPr>
                      <a:endParaRPr sz="1900">
                        <a:latin typeface="Times New Roman" panose="02020603050405020304"/>
                        <a:cs typeface="Times New Roman" panose="02020603050405020304"/>
                      </a:endParaRPr>
                    </a:p>
                  </a:txBody>
                  <a:tcPr marL="0" marR="0" marT="0" marB="0"/>
                </a:tc>
                <a:tc>
                  <a:txBody>
                    <a:bodyPr/>
                    <a:lstStyle/>
                    <a:p>
                      <a:pPr>
                        <a:lnSpc>
                          <a:spcPct val="100000"/>
                        </a:lnSpc>
                      </a:pPr>
                      <a:endParaRPr sz="1900">
                        <a:latin typeface="Times New Roman" panose="02020603050405020304"/>
                        <a:cs typeface="Times New Roman" panose="02020603050405020304"/>
                      </a:endParaRPr>
                    </a:p>
                  </a:txBody>
                  <a:tcPr marL="0" marR="0" marT="0" marB="0"/>
                </a:tc>
              </a:tr>
            </a:tbl>
          </a:graphicData>
        </a:graphic>
      </p:graphicFrame>
      <p:pic>
        <p:nvPicPr>
          <p:cNvPr id="6" name="object 6"/>
          <p:cNvPicPr/>
          <p:nvPr/>
        </p:nvPicPr>
        <p:blipFill>
          <a:blip r:embed="rId3" cstate="print"/>
          <a:stretch>
            <a:fillRect/>
          </a:stretch>
        </p:blipFill>
        <p:spPr>
          <a:xfrm>
            <a:off x="4023359" y="3459479"/>
            <a:ext cx="4102608" cy="273710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拓扑排序</a:t>
            </a:r>
            <a:endParaRPr dirty="0">
              <a:latin typeface="宋体" panose="02010600030101010101" pitchFamily="2" charset="-122"/>
              <a:cs typeface="宋体" panose="02010600030101010101" pitchFamily="2" charset="-122"/>
            </a:endParaRPr>
          </a:p>
        </p:txBody>
      </p:sp>
      <p:sp>
        <p:nvSpPr>
          <p:cNvPr id="3" name="object 3"/>
          <p:cNvSpPr txBox="1"/>
          <p:nvPr/>
        </p:nvSpPr>
        <p:spPr>
          <a:xfrm>
            <a:off x="756069" y="1467649"/>
            <a:ext cx="2383790"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1"/>
              </a:rPr>
              <a:t>HDU1285</a:t>
            </a:r>
            <a:r>
              <a:rPr sz="1800" u="sng" spc="-65"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宋体" panose="02010600030101010101" pitchFamily="2" charset="-122"/>
                <a:cs typeface="宋体" panose="02010600030101010101" pitchFamily="2" charset="-122"/>
                <a:hlinkClick r:id="rId1"/>
              </a:rPr>
              <a:t>确定比赛名次</a:t>
            </a:r>
            <a:endParaRPr sz="1800">
              <a:latin typeface="宋体" panose="02010600030101010101" pitchFamily="2" charset="-122"/>
              <a:cs typeface="宋体" panose="02010600030101010101" pitchFamily="2" charset="-122"/>
            </a:endParaRPr>
          </a:p>
        </p:txBody>
      </p:sp>
      <p:pic>
        <p:nvPicPr>
          <p:cNvPr id="4" name="object 4"/>
          <p:cNvPicPr/>
          <p:nvPr/>
        </p:nvPicPr>
        <p:blipFill>
          <a:blip r:embed="rId2" cstate="print"/>
          <a:stretch>
            <a:fillRect/>
          </a:stretch>
        </p:blipFill>
        <p:spPr>
          <a:xfrm>
            <a:off x="793041" y="2011283"/>
            <a:ext cx="7960797" cy="745043"/>
          </a:xfrm>
          <a:prstGeom prst="rect">
            <a:avLst/>
          </a:prstGeom>
        </p:spPr>
      </p:pic>
      <p:sp>
        <p:nvSpPr>
          <p:cNvPr id="5" name="object 5"/>
          <p:cNvSpPr txBox="1"/>
          <p:nvPr/>
        </p:nvSpPr>
        <p:spPr>
          <a:xfrm>
            <a:off x="939469" y="2723083"/>
            <a:ext cx="1168400" cy="3684270"/>
          </a:xfrm>
          <a:prstGeom prst="rect">
            <a:avLst/>
          </a:prstGeom>
        </p:spPr>
        <p:txBody>
          <a:bodyPr vert="horz" wrap="square" lIns="0" tIns="163195" rIns="0" bIns="0" rtlCol="0">
            <a:spAutoFit/>
          </a:bodyPr>
          <a:lstStyle/>
          <a:p>
            <a:pPr marL="12700">
              <a:lnSpc>
                <a:spcPct val="100000"/>
              </a:lnSpc>
              <a:spcBef>
                <a:spcPts val="1285"/>
              </a:spcBef>
            </a:pPr>
            <a:r>
              <a:rPr sz="1800" dirty="0">
                <a:solidFill>
                  <a:srgbClr val="404040"/>
                </a:solidFill>
                <a:latin typeface="宋体" panose="02010600030101010101" pitchFamily="2" charset="-122"/>
                <a:cs typeface="宋体" panose="02010600030101010101" pitchFamily="2" charset="-122"/>
              </a:rPr>
              <a:t>输入数据：</a:t>
            </a:r>
            <a:endParaRPr sz="1800">
              <a:latin typeface="宋体" panose="02010600030101010101" pitchFamily="2" charset="-122"/>
              <a:cs typeface="宋体" panose="02010600030101010101" pitchFamily="2" charset="-122"/>
            </a:endParaRPr>
          </a:p>
          <a:p>
            <a:pPr marL="12700">
              <a:lnSpc>
                <a:spcPct val="100000"/>
              </a:lnSpc>
              <a:spcBef>
                <a:spcPts val="1185"/>
              </a:spcBef>
            </a:pPr>
            <a:r>
              <a:rPr sz="1800" dirty="0">
                <a:solidFill>
                  <a:srgbClr val="404040"/>
                </a:solidFill>
                <a:latin typeface="Trebuchet MS" panose="020B0603020202020204"/>
                <a:cs typeface="Trebuchet MS" panose="020B0603020202020204"/>
              </a:rPr>
              <a:t>6</a:t>
            </a:r>
            <a:r>
              <a:rPr sz="1800" spc="-10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p>
            <a:pPr marL="12700">
              <a:lnSpc>
                <a:spcPct val="100000"/>
              </a:lnSpc>
              <a:spcBef>
                <a:spcPts val="1000"/>
              </a:spcBef>
            </a:pPr>
            <a:r>
              <a:rPr sz="1800" dirty="0">
                <a:solidFill>
                  <a:srgbClr val="404040"/>
                </a:solidFill>
                <a:latin typeface="Trebuchet MS" panose="020B0603020202020204"/>
                <a:cs typeface="Trebuchet MS" panose="020B0603020202020204"/>
              </a:rPr>
              <a:t>1</a:t>
            </a:r>
            <a:r>
              <a:rPr sz="1800" spc="-10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2</a:t>
            </a:r>
            <a:endParaRPr sz="1800">
              <a:latin typeface="Trebuchet MS" panose="020B0603020202020204"/>
              <a:cs typeface="Trebuchet MS" panose="020B0603020202020204"/>
            </a:endParaRPr>
          </a:p>
          <a:p>
            <a:pPr marL="12700">
              <a:lnSpc>
                <a:spcPct val="100000"/>
              </a:lnSpc>
              <a:spcBef>
                <a:spcPts val="1000"/>
              </a:spcBef>
            </a:pPr>
            <a:r>
              <a:rPr sz="1800" dirty="0">
                <a:solidFill>
                  <a:srgbClr val="404040"/>
                </a:solidFill>
                <a:latin typeface="Trebuchet MS" panose="020B0603020202020204"/>
                <a:cs typeface="Trebuchet MS" panose="020B0603020202020204"/>
              </a:rPr>
              <a:t>1</a:t>
            </a:r>
            <a:r>
              <a:rPr sz="1800" spc="-10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p>
            <a:pPr marL="12700">
              <a:lnSpc>
                <a:spcPct val="100000"/>
              </a:lnSpc>
              <a:spcBef>
                <a:spcPts val="1000"/>
              </a:spcBef>
            </a:pPr>
            <a:r>
              <a:rPr sz="1800" dirty="0">
                <a:solidFill>
                  <a:srgbClr val="404040"/>
                </a:solidFill>
                <a:latin typeface="Trebuchet MS" panose="020B0603020202020204"/>
                <a:cs typeface="Trebuchet MS" panose="020B0603020202020204"/>
              </a:rPr>
              <a:t>2</a:t>
            </a:r>
            <a:r>
              <a:rPr sz="1800" spc="-10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endParaRPr sz="1800">
              <a:latin typeface="Trebuchet MS" panose="020B0603020202020204"/>
              <a:cs typeface="Trebuchet MS" panose="020B0603020202020204"/>
            </a:endParaRPr>
          </a:p>
          <a:p>
            <a:pPr marL="12700">
              <a:lnSpc>
                <a:spcPct val="100000"/>
              </a:lnSpc>
              <a:spcBef>
                <a:spcPts val="1000"/>
              </a:spcBef>
            </a:pPr>
            <a:r>
              <a:rPr sz="1800" dirty="0">
                <a:solidFill>
                  <a:srgbClr val="404040"/>
                </a:solidFill>
                <a:latin typeface="Trebuchet MS" panose="020B0603020202020204"/>
                <a:cs typeface="Trebuchet MS" panose="020B0603020202020204"/>
              </a:rPr>
              <a:t>3</a:t>
            </a:r>
            <a:r>
              <a:rPr sz="1800" spc="-10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5</a:t>
            </a:r>
            <a:endParaRPr sz="1800">
              <a:latin typeface="Trebuchet MS" panose="020B0603020202020204"/>
              <a:cs typeface="Trebuchet MS" panose="020B0603020202020204"/>
            </a:endParaRPr>
          </a:p>
          <a:p>
            <a:pPr marL="12700">
              <a:lnSpc>
                <a:spcPct val="100000"/>
              </a:lnSpc>
              <a:spcBef>
                <a:spcPts val="1000"/>
              </a:spcBef>
            </a:pPr>
            <a:r>
              <a:rPr sz="1800" dirty="0">
                <a:solidFill>
                  <a:srgbClr val="404040"/>
                </a:solidFill>
                <a:latin typeface="Trebuchet MS" panose="020B0603020202020204"/>
                <a:cs typeface="Trebuchet MS" panose="020B0603020202020204"/>
              </a:rPr>
              <a:t>3</a:t>
            </a:r>
            <a:r>
              <a:rPr sz="1800" spc="-10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4</a:t>
            </a:r>
            <a:endParaRPr sz="1800">
              <a:latin typeface="Trebuchet MS" panose="020B0603020202020204"/>
              <a:cs typeface="Trebuchet MS" panose="020B0603020202020204"/>
            </a:endParaRPr>
          </a:p>
          <a:p>
            <a:pPr marL="12700">
              <a:lnSpc>
                <a:spcPct val="100000"/>
              </a:lnSpc>
              <a:spcBef>
                <a:spcPts val="1000"/>
              </a:spcBef>
            </a:pPr>
            <a:r>
              <a:rPr sz="1800" dirty="0">
                <a:solidFill>
                  <a:srgbClr val="404040"/>
                </a:solidFill>
                <a:latin typeface="Trebuchet MS" panose="020B0603020202020204"/>
                <a:cs typeface="Trebuchet MS" panose="020B0603020202020204"/>
              </a:rPr>
              <a:t>4</a:t>
            </a:r>
            <a:r>
              <a:rPr sz="1800" spc="-10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a:p>
            <a:pPr marL="12700">
              <a:lnSpc>
                <a:spcPct val="100000"/>
              </a:lnSpc>
              <a:spcBef>
                <a:spcPts val="1000"/>
              </a:spcBef>
            </a:pPr>
            <a:r>
              <a:rPr sz="1800" dirty="0">
                <a:solidFill>
                  <a:srgbClr val="404040"/>
                </a:solidFill>
                <a:latin typeface="Trebuchet MS" panose="020B0603020202020204"/>
                <a:cs typeface="Trebuchet MS" panose="020B0603020202020204"/>
              </a:rPr>
              <a:t>5</a:t>
            </a:r>
            <a:r>
              <a:rPr sz="1800" spc="-10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p:txBody>
      </p:sp>
      <p:sp>
        <p:nvSpPr>
          <p:cNvPr id="6" name="object 6"/>
          <p:cNvSpPr txBox="1"/>
          <p:nvPr/>
        </p:nvSpPr>
        <p:spPr>
          <a:xfrm>
            <a:off x="2894787" y="2891358"/>
            <a:ext cx="2231390"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04040"/>
                </a:solidFill>
                <a:latin typeface="宋体" panose="02010600030101010101" pitchFamily="2" charset="-122"/>
                <a:cs typeface="宋体" panose="02010600030101010101" pitchFamily="2" charset="-122"/>
              </a:rPr>
              <a:t>目前排名：</a:t>
            </a:r>
            <a:r>
              <a:rPr sz="1800" dirty="0">
                <a:solidFill>
                  <a:srgbClr val="404040"/>
                </a:solidFill>
                <a:latin typeface="Trebuchet MS" panose="020B0603020202020204"/>
                <a:cs typeface="Trebuchet MS" panose="020B0603020202020204"/>
              </a:rPr>
              <a:t>1</a:t>
            </a:r>
            <a:r>
              <a:rPr sz="1800" spc="-2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2</a:t>
            </a:r>
            <a:r>
              <a:rPr sz="1800" spc="-2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r>
              <a:rPr sz="1800" spc="-2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5</a:t>
            </a:r>
            <a:r>
              <a:rPr sz="1800" spc="-2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4</a:t>
            </a:r>
            <a:r>
              <a:rPr sz="1800" spc="-2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endParaRPr sz="1800">
              <a:latin typeface="Trebuchet MS" panose="020B0603020202020204"/>
              <a:cs typeface="Trebuchet MS" panose="020B0603020202020204"/>
            </a:endParaRPr>
          </a:p>
        </p:txBody>
      </p:sp>
      <p:sp>
        <p:nvSpPr>
          <p:cNvPr id="7" name="object 7"/>
          <p:cNvSpPr txBox="1"/>
          <p:nvPr/>
        </p:nvSpPr>
        <p:spPr>
          <a:xfrm>
            <a:off x="2894787" y="3511460"/>
            <a:ext cx="4826000" cy="1905000"/>
          </a:xfrm>
          <a:prstGeom prst="rect">
            <a:avLst/>
          </a:prstGeom>
        </p:spPr>
        <p:txBody>
          <a:bodyPr vert="horz" wrap="square" lIns="0" tIns="12700" rIns="0" bIns="0" rtlCol="0">
            <a:spAutoFit/>
          </a:bodyPr>
          <a:lstStyle/>
          <a:p>
            <a:pPr marL="12700" marR="233680">
              <a:lnSpc>
                <a:spcPct val="146000"/>
              </a:lnSpc>
              <a:spcBef>
                <a:spcPts val="100"/>
              </a:spcBef>
            </a:pPr>
            <a:r>
              <a:rPr sz="1800" dirty="0">
                <a:solidFill>
                  <a:srgbClr val="404040"/>
                </a:solidFill>
                <a:latin typeface="宋体" panose="02010600030101010101" pitchFamily="2" charset="-122"/>
                <a:cs typeface="宋体" panose="02010600030101010101" pitchFamily="2" charset="-122"/>
              </a:rPr>
              <a:t>题目要求唯一合法解，字典序最小的拓扑序列 用普通的拓扑排序求出来的序列不唯一</a:t>
            </a:r>
            <a:endParaRPr sz="1800">
              <a:latin typeface="宋体" panose="02010600030101010101" pitchFamily="2" charset="-122"/>
              <a:cs typeface="宋体" panose="02010600030101010101" pitchFamily="2" charset="-122"/>
            </a:endParaRPr>
          </a:p>
          <a:p>
            <a:pPr marL="12700">
              <a:lnSpc>
                <a:spcPct val="100000"/>
              </a:lnSpc>
              <a:spcBef>
                <a:spcPts val="1140"/>
              </a:spcBef>
            </a:pPr>
            <a:r>
              <a:rPr sz="1800" dirty="0">
                <a:solidFill>
                  <a:srgbClr val="404040"/>
                </a:solidFill>
                <a:latin typeface="宋体" panose="02010600030101010101" pitchFamily="2" charset="-122"/>
                <a:cs typeface="宋体" panose="02010600030101010101" pitchFamily="2" charset="-122"/>
              </a:rPr>
              <a:t>现在求出来的</a:t>
            </a:r>
            <a:r>
              <a:rPr sz="1800" dirty="0">
                <a:solidFill>
                  <a:srgbClr val="404040"/>
                </a:solidFill>
                <a:latin typeface="Trebuchet MS" panose="020B0603020202020204"/>
                <a:cs typeface="Trebuchet MS" panose="020B0603020202020204"/>
              </a:rPr>
              <a:t>1</a:t>
            </a:r>
            <a:r>
              <a:rPr sz="1800" spc="-2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2</a:t>
            </a:r>
            <a:r>
              <a:rPr sz="1800" spc="-2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3</a:t>
            </a:r>
            <a:r>
              <a:rPr sz="1800" spc="-2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5</a:t>
            </a:r>
            <a:r>
              <a:rPr sz="1800" spc="-2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4</a:t>
            </a:r>
            <a:r>
              <a:rPr sz="1800" spc="-25" dirty="0">
                <a:solidFill>
                  <a:srgbClr val="404040"/>
                </a:solidFill>
                <a:latin typeface="Trebuchet MS" panose="020B0603020202020204"/>
                <a:cs typeface="Trebuchet MS" panose="020B0603020202020204"/>
              </a:rPr>
              <a:t> </a:t>
            </a:r>
            <a:r>
              <a:rPr sz="1800" dirty="0">
                <a:solidFill>
                  <a:srgbClr val="404040"/>
                </a:solidFill>
                <a:latin typeface="Trebuchet MS" panose="020B0603020202020204"/>
                <a:cs typeface="Trebuchet MS" panose="020B0603020202020204"/>
              </a:rPr>
              <a:t>6</a:t>
            </a:r>
            <a:r>
              <a:rPr sz="1800" dirty="0">
                <a:solidFill>
                  <a:srgbClr val="404040"/>
                </a:solidFill>
                <a:latin typeface="宋体" panose="02010600030101010101" pitchFamily="2" charset="-122"/>
                <a:cs typeface="宋体" panose="02010600030101010101" pitchFamily="2" charset="-122"/>
              </a:rPr>
              <a:t>并不是字典序最小</a:t>
            </a:r>
            <a:endParaRPr sz="1800">
              <a:latin typeface="宋体" panose="02010600030101010101" pitchFamily="2" charset="-122"/>
              <a:cs typeface="宋体" panose="02010600030101010101" pitchFamily="2" charset="-122"/>
            </a:endParaRPr>
          </a:p>
          <a:p>
            <a:pPr marL="12700" marR="5080">
              <a:lnSpc>
                <a:spcPct val="100000"/>
              </a:lnSpc>
              <a:spcBef>
                <a:spcPts val="860"/>
              </a:spcBef>
            </a:pPr>
            <a:r>
              <a:rPr sz="1800" dirty="0">
                <a:solidFill>
                  <a:srgbClr val="404040"/>
                </a:solidFill>
                <a:latin typeface="宋体" panose="02010600030101010101" pitchFamily="2" charset="-122"/>
                <a:cs typeface="宋体" panose="02010600030101010101" pitchFamily="2" charset="-122"/>
              </a:rPr>
              <a:t>所以把队列换成优先队列就可以达到最小字典序 的目的</a:t>
            </a:r>
            <a:endParaRPr sz="1800">
              <a:latin typeface="宋体" panose="02010600030101010101" pitchFamily="2" charset="-122"/>
              <a:cs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465581"/>
            <a:ext cx="3338195" cy="1118235"/>
          </a:xfrm>
          <a:prstGeom prst="rect">
            <a:avLst/>
          </a:prstGeom>
        </p:spPr>
        <p:txBody>
          <a:bodyPr vert="horz" wrap="square" lIns="0" tIns="192405" rIns="0" bIns="0" rtlCol="0">
            <a:spAutoFit/>
          </a:bodyPr>
          <a:lstStyle/>
          <a:p>
            <a:pPr marL="12700">
              <a:lnSpc>
                <a:spcPct val="100000"/>
              </a:lnSpc>
              <a:spcBef>
                <a:spcPts val="1515"/>
              </a:spcBef>
            </a:pPr>
            <a:r>
              <a:rPr dirty="0">
                <a:latin typeface="宋体" panose="02010600030101010101" pitchFamily="2" charset="-122"/>
                <a:cs typeface="宋体" panose="02010600030101010101" pitchFamily="2" charset="-122"/>
              </a:rPr>
              <a:t>拓扑排序</a:t>
            </a:r>
            <a:endParaRPr dirty="0">
              <a:latin typeface="宋体" panose="02010600030101010101" pitchFamily="2" charset="-122"/>
              <a:cs typeface="宋体" panose="02010600030101010101" pitchFamily="2" charset="-122"/>
            </a:endParaRPr>
          </a:p>
          <a:p>
            <a:pPr marL="12700">
              <a:lnSpc>
                <a:spcPct val="100000"/>
              </a:lnSpc>
              <a:spcBef>
                <a:spcPts val="705"/>
              </a:spcBef>
            </a:pPr>
            <a:r>
              <a:rPr sz="1800" u="sng" spc="-5" dirty="0">
                <a:solidFill>
                  <a:srgbClr val="99C93B"/>
                </a:solidFill>
                <a:uFill>
                  <a:solidFill>
                    <a:srgbClr val="99C93B"/>
                  </a:solidFill>
                </a:uFill>
                <a:hlinkClick r:id="rId1"/>
              </a:rPr>
              <a:t>Codeforces</a:t>
            </a:r>
            <a:r>
              <a:rPr sz="1800" u="sng" spc="-20" dirty="0">
                <a:solidFill>
                  <a:srgbClr val="99C93B"/>
                </a:solidFill>
                <a:uFill>
                  <a:solidFill>
                    <a:srgbClr val="99C93B"/>
                  </a:solidFill>
                </a:uFill>
                <a:hlinkClick r:id="rId1"/>
              </a:rPr>
              <a:t> </a:t>
            </a:r>
            <a:r>
              <a:rPr sz="1800" u="sng" dirty="0">
                <a:solidFill>
                  <a:srgbClr val="99C93B"/>
                </a:solidFill>
                <a:uFill>
                  <a:solidFill>
                    <a:srgbClr val="99C93B"/>
                  </a:solidFill>
                </a:uFill>
                <a:hlinkClick r:id="rId1"/>
              </a:rPr>
              <a:t>510C</a:t>
            </a:r>
            <a:r>
              <a:rPr sz="1800" u="sng" spc="-15" dirty="0">
                <a:solidFill>
                  <a:srgbClr val="99C93B"/>
                </a:solidFill>
                <a:uFill>
                  <a:solidFill>
                    <a:srgbClr val="99C93B"/>
                  </a:solidFill>
                </a:uFill>
                <a:hlinkClick r:id="rId1"/>
              </a:rPr>
              <a:t> </a:t>
            </a:r>
            <a:r>
              <a:rPr sz="1800" u="sng" spc="-5" dirty="0">
                <a:solidFill>
                  <a:srgbClr val="99C93B"/>
                </a:solidFill>
                <a:uFill>
                  <a:solidFill>
                    <a:srgbClr val="99C93B"/>
                  </a:solidFill>
                </a:uFill>
                <a:hlinkClick r:id="rId1"/>
              </a:rPr>
              <a:t>Fox</a:t>
            </a:r>
            <a:r>
              <a:rPr sz="1800" u="sng" spc="-114" dirty="0">
                <a:solidFill>
                  <a:srgbClr val="99C93B"/>
                </a:solidFill>
                <a:uFill>
                  <a:solidFill>
                    <a:srgbClr val="99C93B"/>
                  </a:solidFill>
                </a:uFill>
                <a:hlinkClick r:id="rId1"/>
              </a:rPr>
              <a:t> </a:t>
            </a:r>
            <a:r>
              <a:rPr sz="1800" u="sng" spc="-5" dirty="0">
                <a:solidFill>
                  <a:srgbClr val="99C93B"/>
                </a:solidFill>
                <a:uFill>
                  <a:solidFill>
                    <a:srgbClr val="99C93B"/>
                  </a:solidFill>
                </a:uFill>
                <a:hlinkClick r:id="rId1"/>
              </a:rPr>
              <a:t>And</a:t>
            </a:r>
            <a:r>
              <a:rPr sz="1800" u="sng" spc="-20" dirty="0">
                <a:solidFill>
                  <a:srgbClr val="99C93B"/>
                </a:solidFill>
                <a:uFill>
                  <a:solidFill>
                    <a:srgbClr val="99C93B"/>
                  </a:solidFill>
                </a:uFill>
                <a:hlinkClick r:id="rId1"/>
              </a:rPr>
              <a:t> </a:t>
            </a:r>
            <a:r>
              <a:rPr sz="1800" u="sng" spc="-5" dirty="0">
                <a:solidFill>
                  <a:srgbClr val="99C93B"/>
                </a:solidFill>
                <a:uFill>
                  <a:solidFill>
                    <a:srgbClr val="99C93B"/>
                  </a:solidFill>
                </a:uFill>
                <a:hlinkClick r:id="rId1"/>
              </a:rPr>
              <a:t>Names</a:t>
            </a:r>
            <a:endParaRPr sz="1800"/>
          </a:p>
        </p:txBody>
      </p:sp>
      <p:pic>
        <p:nvPicPr>
          <p:cNvPr id="3" name="object 3"/>
          <p:cNvPicPr/>
          <p:nvPr/>
        </p:nvPicPr>
        <p:blipFill>
          <a:blip r:embed="rId2" cstate="print"/>
          <a:stretch>
            <a:fillRect/>
          </a:stretch>
        </p:blipFill>
        <p:spPr>
          <a:xfrm>
            <a:off x="789336" y="1932385"/>
            <a:ext cx="7707357" cy="668861"/>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465581"/>
            <a:ext cx="3338195" cy="1118235"/>
          </a:xfrm>
          <a:prstGeom prst="rect">
            <a:avLst/>
          </a:prstGeom>
        </p:spPr>
        <p:txBody>
          <a:bodyPr vert="horz" wrap="square" lIns="0" tIns="192405" rIns="0" bIns="0" rtlCol="0">
            <a:spAutoFit/>
          </a:bodyPr>
          <a:lstStyle/>
          <a:p>
            <a:pPr marL="12700">
              <a:lnSpc>
                <a:spcPct val="100000"/>
              </a:lnSpc>
              <a:spcBef>
                <a:spcPts val="1515"/>
              </a:spcBef>
            </a:pPr>
            <a:r>
              <a:rPr dirty="0">
                <a:latin typeface="宋体" panose="02010600030101010101" pitchFamily="2" charset="-122"/>
                <a:cs typeface="宋体" panose="02010600030101010101" pitchFamily="2" charset="-122"/>
              </a:rPr>
              <a:t>拓扑排序</a:t>
            </a:r>
            <a:endParaRPr dirty="0">
              <a:latin typeface="宋体" panose="02010600030101010101" pitchFamily="2" charset="-122"/>
              <a:cs typeface="宋体" panose="02010600030101010101" pitchFamily="2" charset="-122"/>
            </a:endParaRPr>
          </a:p>
          <a:p>
            <a:pPr marL="12700">
              <a:lnSpc>
                <a:spcPct val="100000"/>
              </a:lnSpc>
              <a:spcBef>
                <a:spcPts val="705"/>
              </a:spcBef>
            </a:pPr>
            <a:r>
              <a:rPr sz="1800" u="sng" spc="-5" dirty="0">
                <a:solidFill>
                  <a:srgbClr val="99C93B"/>
                </a:solidFill>
                <a:uFill>
                  <a:solidFill>
                    <a:srgbClr val="99C93B"/>
                  </a:solidFill>
                </a:uFill>
                <a:hlinkClick r:id="rId1"/>
              </a:rPr>
              <a:t>Codeforces</a:t>
            </a:r>
            <a:r>
              <a:rPr sz="1800" u="sng" spc="-20" dirty="0">
                <a:solidFill>
                  <a:srgbClr val="99C93B"/>
                </a:solidFill>
                <a:uFill>
                  <a:solidFill>
                    <a:srgbClr val="99C93B"/>
                  </a:solidFill>
                </a:uFill>
                <a:hlinkClick r:id="rId1"/>
              </a:rPr>
              <a:t> </a:t>
            </a:r>
            <a:r>
              <a:rPr sz="1800" u="sng" dirty="0">
                <a:solidFill>
                  <a:srgbClr val="99C93B"/>
                </a:solidFill>
                <a:uFill>
                  <a:solidFill>
                    <a:srgbClr val="99C93B"/>
                  </a:solidFill>
                </a:uFill>
                <a:hlinkClick r:id="rId1"/>
              </a:rPr>
              <a:t>510C</a:t>
            </a:r>
            <a:r>
              <a:rPr sz="1800" u="sng" spc="-15" dirty="0">
                <a:solidFill>
                  <a:srgbClr val="99C93B"/>
                </a:solidFill>
                <a:uFill>
                  <a:solidFill>
                    <a:srgbClr val="99C93B"/>
                  </a:solidFill>
                </a:uFill>
                <a:hlinkClick r:id="rId1"/>
              </a:rPr>
              <a:t> </a:t>
            </a:r>
            <a:r>
              <a:rPr sz="1800" u="sng" spc="-5" dirty="0">
                <a:solidFill>
                  <a:srgbClr val="99C93B"/>
                </a:solidFill>
                <a:uFill>
                  <a:solidFill>
                    <a:srgbClr val="99C93B"/>
                  </a:solidFill>
                </a:uFill>
                <a:hlinkClick r:id="rId1"/>
              </a:rPr>
              <a:t>Fox</a:t>
            </a:r>
            <a:r>
              <a:rPr sz="1800" u="sng" spc="-114" dirty="0">
                <a:solidFill>
                  <a:srgbClr val="99C93B"/>
                </a:solidFill>
                <a:uFill>
                  <a:solidFill>
                    <a:srgbClr val="99C93B"/>
                  </a:solidFill>
                </a:uFill>
                <a:hlinkClick r:id="rId1"/>
              </a:rPr>
              <a:t> </a:t>
            </a:r>
            <a:r>
              <a:rPr sz="1800" u="sng" spc="-5" dirty="0">
                <a:solidFill>
                  <a:srgbClr val="99C93B"/>
                </a:solidFill>
                <a:uFill>
                  <a:solidFill>
                    <a:srgbClr val="99C93B"/>
                  </a:solidFill>
                </a:uFill>
                <a:hlinkClick r:id="rId1"/>
              </a:rPr>
              <a:t>And</a:t>
            </a:r>
            <a:r>
              <a:rPr sz="1800" u="sng" spc="-20" dirty="0">
                <a:solidFill>
                  <a:srgbClr val="99C93B"/>
                </a:solidFill>
                <a:uFill>
                  <a:solidFill>
                    <a:srgbClr val="99C93B"/>
                  </a:solidFill>
                </a:uFill>
                <a:hlinkClick r:id="rId1"/>
              </a:rPr>
              <a:t> </a:t>
            </a:r>
            <a:r>
              <a:rPr sz="1800" u="sng" spc="-5" dirty="0">
                <a:solidFill>
                  <a:srgbClr val="99C93B"/>
                </a:solidFill>
                <a:uFill>
                  <a:solidFill>
                    <a:srgbClr val="99C93B"/>
                  </a:solidFill>
                </a:uFill>
                <a:hlinkClick r:id="rId1"/>
              </a:rPr>
              <a:t>Names</a:t>
            </a:r>
            <a:endParaRPr sz="1800"/>
          </a:p>
        </p:txBody>
      </p:sp>
      <p:pic>
        <p:nvPicPr>
          <p:cNvPr id="3" name="object 3"/>
          <p:cNvPicPr/>
          <p:nvPr/>
        </p:nvPicPr>
        <p:blipFill>
          <a:blip r:embed="rId2" cstate="print"/>
          <a:stretch>
            <a:fillRect/>
          </a:stretch>
        </p:blipFill>
        <p:spPr>
          <a:xfrm>
            <a:off x="789336" y="1932385"/>
            <a:ext cx="7707357" cy="668861"/>
          </a:xfrm>
          <a:prstGeom prst="rect">
            <a:avLst/>
          </a:prstGeom>
        </p:spPr>
      </p:pic>
      <p:sp>
        <p:nvSpPr>
          <p:cNvPr id="4" name="object 4"/>
          <p:cNvSpPr txBox="1"/>
          <p:nvPr/>
        </p:nvSpPr>
        <p:spPr>
          <a:xfrm>
            <a:off x="850963" y="3338245"/>
            <a:ext cx="8026400" cy="2226945"/>
          </a:xfrm>
          <a:prstGeom prst="rect">
            <a:avLst/>
          </a:prstGeom>
        </p:spPr>
        <p:txBody>
          <a:bodyPr vert="horz" wrap="square" lIns="0" tIns="30480" rIns="0" bIns="0" rtlCol="0">
            <a:spAutoFit/>
          </a:bodyPr>
          <a:lstStyle/>
          <a:p>
            <a:pPr marL="12700" marR="5080">
              <a:lnSpc>
                <a:spcPct val="103000"/>
              </a:lnSpc>
              <a:spcBef>
                <a:spcPts val="240"/>
              </a:spcBef>
            </a:pPr>
            <a:r>
              <a:rPr sz="1800" dirty="0">
                <a:solidFill>
                  <a:srgbClr val="4D4D4D"/>
                </a:solidFill>
                <a:latin typeface="宋体" panose="02010600030101010101" pitchFamily="2" charset="-122"/>
                <a:cs typeface="宋体" panose="02010600030101010101" pitchFamily="2" charset="-122"/>
              </a:rPr>
              <a:t>每两个字符串进行逐个比较，找到两个字符串第一个不同的位置的字母，例如：  </a:t>
            </a:r>
            <a:r>
              <a:rPr sz="1800" spc="-5" dirty="0">
                <a:solidFill>
                  <a:srgbClr val="4D4D4D"/>
                </a:solidFill>
                <a:latin typeface="Segoe Print" panose="02000600000000000000"/>
                <a:cs typeface="Segoe Print" panose="02000600000000000000"/>
              </a:rPr>
              <a:t>aba</a:t>
            </a:r>
            <a:r>
              <a:rPr sz="1800" dirty="0">
                <a:solidFill>
                  <a:srgbClr val="4D4D4D"/>
                </a:solidFill>
                <a:latin typeface="宋体" panose="02010600030101010101" pitchFamily="2" charset="-122"/>
                <a:cs typeface="宋体" panose="02010600030101010101" pitchFamily="2" charset="-122"/>
              </a:rPr>
              <a:t>和</a:t>
            </a:r>
            <a:r>
              <a:rPr sz="1800" spc="-5" dirty="0">
                <a:solidFill>
                  <a:srgbClr val="4D4D4D"/>
                </a:solidFill>
                <a:latin typeface="Segoe Print" panose="02000600000000000000"/>
                <a:cs typeface="Segoe Print" panose="02000600000000000000"/>
              </a:rPr>
              <a:t>aaa</a:t>
            </a:r>
            <a:r>
              <a:rPr sz="1800" spc="-5" dirty="0">
                <a:solidFill>
                  <a:srgbClr val="4D4D4D"/>
                </a:solidFill>
                <a:latin typeface="宋体" panose="02010600030101010101" pitchFamily="2" charset="-122"/>
                <a:cs typeface="宋体" panose="02010600030101010101" pitchFamily="2" charset="-122"/>
              </a:rPr>
              <a:t>，</a:t>
            </a:r>
            <a:r>
              <a:rPr sz="1800" dirty="0">
                <a:solidFill>
                  <a:srgbClr val="4D4D4D"/>
                </a:solidFill>
                <a:latin typeface="宋体" panose="02010600030101010101" pitchFamily="2" charset="-122"/>
                <a:cs typeface="宋体" panose="02010600030101010101" pitchFamily="2" charset="-122"/>
              </a:rPr>
              <a:t>这两个不停地第一个位置是</a:t>
            </a:r>
            <a:r>
              <a:rPr sz="1800" dirty="0">
                <a:solidFill>
                  <a:srgbClr val="4D4D4D"/>
                </a:solidFill>
                <a:latin typeface="Segoe Print" panose="02000600000000000000"/>
                <a:cs typeface="Segoe Print" panose="02000600000000000000"/>
              </a:rPr>
              <a:t>b</a:t>
            </a:r>
            <a:r>
              <a:rPr sz="1800" dirty="0">
                <a:solidFill>
                  <a:srgbClr val="4D4D4D"/>
                </a:solidFill>
                <a:latin typeface="宋体" panose="02010600030101010101" pitchFamily="2" charset="-122"/>
                <a:cs typeface="宋体" panose="02010600030101010101" pitchFamily="2" charset="-122"/>
              </a:rPr>
              <a:t>和</a:t>
            </a:r>
            <a:r>
              <a:rPr sz="1800" spc="-5" dirty="0">
                <a:solidFill>
                  <a:srgbClr val="4D4D4D"/>
                </a:solidFill>
                <a:latin typeface="Segoe Print" panose="02000600000000000000"/>
                <a:cs typeface="Segoe Print" panose="02000600000000000000"/>
              </a:rPr>
              <a:t>a</a:t>
            </a:r>
            <a:r>
              <a:rPr sz="1800" spc="-5" dirty="0">
                <a:solidFill>
                  <a:srgbClr val="4D4D4D"/>
                </a:solidFill>
                <a:latin typeface="宋体" panose="02010600030101010101" pitchFamily="2" charset="-122"/>
                <a:cs typeface="宋体" panose="02010600030101010101" pitchFamily="2" charset="-122"/>
              </a:rPr>
              <a:t>，</a:t>
            </a:r>
            <a:r>
              <a:rPr sz="1800" dirty="0">
                <a:solidFill>
                  <a:srgbClr val="4D4D4D"/>
                </a:solidFill>
                <a:latin typeface="宋体" panose="02010600030101010101" pitchFamily="2" charset="-122"/>
                <a:cs typeface="宋体" panose="02010600030101010101" pitchFamily="2" charset="-122"/>
              </a:rPr>
              <a:t>假设</a:t>
            </a:r>
            <a:r>
              <a:rPr sz="1800" spc="-5" dirty="0">
                <a:solidFill>
                  <a:srgbClr val="4D4D4D"/>
                </a:solidFill>
                <a:latin typeface="Segoe Print" panose="02000600000000000000"/>
                <a:cs typeface="Segoe Print" panose="02000600000000000000"/>
              </a:rPr>
              <a:t>aba</a:t>
            </a:r>
            <a:r>
              <a:rPr sz="1800" dirty="0">
                <a:solidFill>
                  <a:srgbClr val="4D4D4D"/>
                </a:solidFill>
                <a:latin typeface="宋体" panose="02010600030101010101" pitchFamily="2" charset="-122"/>
                <a:cs typeface="宋体" panose="02010600030101010101" pitchFamily="2" charset="-122"/>
              </a:rPr>
              <a:t>在</a:t>
            </a:r>
            <a:r>
              <a:rPr sz="1800" spc="-5" dirty="0">
                <a:solidFill>
                  <a:srgbClr val="4D4D4D"/>
                </a:solidFill>
                <a:latin typeface="Segoe Print" panose="02000600000000000000"/>
                <a:cs typeface="Segoe Print" panose="02000600000000000000"/>
              </a:rPr>
              <a:t>aaa</a:t>
            </a:r>
            <a:r>
              <a:rPr sz="1800" dirty="0">
                <a:solidFill>
                  <a:srgbClr val="4D4D4D"/>
                </a:solidFill>
                <a:latin typeface="宋体" panose="02010600030101010101" pitchFamily="2" charset="-122"/>
                <a:cs typeface="宋体" panose="02010600030101010101" pitchFamily="2" charset="-122"/>
              </a:rPr>
              <a:t>前面，那么说明 在字母表中，</a:t>
            </a:r>
            <a:r>
              <a:rPr sz="1800" dirty="0">
                <a:solidFill>
                  <a:srgbClr val="4D4D4D"/>
                </a:solidFill>
                <a:latin typeface="Segoe Print" panose="02000600000000000000"/>
                <a:cs typeface="Segoe Print" panose="02000600000000000000"/>
              </a:rPr>
              <a:t>b</a:t>
            </a:r>
            <a:r>
              <a:rPr sz="1800" dirty="0">
                <a:solidFill>
                  <a:srgbClr val="4D4D4D"/>
                </a:solidFill>
                <a:latin typeface="宋体" panose="02010600030101010101" pitchFamily="2" charset="-122"/>
                <a:cs typeface="宋体" panose="02010600030101010101" pitchFamily="2" charset="-122"/>
              </a:rPr>
              <a:t>在</a:t>
            </a:r>
            <a:r>
              <a:rPr sz="1800" spc="-5" dirty="0">
                <a:solidFill>
                  <a:srgbClr val="4D4D4D"/>
                </a:solidFill>
                <a:latin typeface="Segoe Print" panose="02000600000000000000"/>
                <a:cs typeface="Segoe Print" panose="02000600000000000000"/>
              </a:rPr>
              <a:t>a</a:t>
            </a:r>
            <a:r>
              <a:rPr sz="1800" dirty="0">
                <a:solidFill>
                  <a:srgbClr val="4D4D4D"/>
                </a:solidFill>
                <a:latin typeface="宋体" panose="02010600030101010101" pitchFamily="2" charset="-122"/>
                <a:cs typeface="宋体" panose="02010600030101010101" pitchFamily="2" charset="-122"/>
              </a:rPr>
              <a:t>前面，连一条</a:t>
            </a:r>
            <a:r>
              <a:rPr sz="1800" dirty="0">
                <a:solidFill>
                  <a:srgbClr val="4D4D4D"/>
                </a:solidFill>
                <a:latin typeface="Segoe Print" panose="02000600000000000000"/>
                <a:cs typeface="Segoe Print" panose="02000600000000000000"/>
              </a:rPr>
              <a:t>b</a:t>
            </a:r>
            <a:r>
              <a:rPr sz="1800" dirty="0">
                <a:solidFill>
                  <a:srgbClr val="4D4D4D"/>
                </a:solidFill>
                <a:latin typeface="宋体" panose="02010600030101010101" pitchFamily="2" charset="-122"/>
                <a:cs typeface="宋体" panose="02010600030101010101" pitchFamily="2" charset="-122"/>
              </a:rPr>
              <a:t>到</a:t>
            </a:r>
            <a:r>
              <a:rPr sz="1800" spc="-5" dirty="0">
                <a:solidFill>
                  <a:srgbClr val="4D4D4D"/>
                </a:solidFill>
                <a:latin typeface="Segoe Print" panose="02000600000000000000"/>
                <a:cs typeface="Segoe Print" panose="02000600000000000000"/>
              </a:rPr>
              <a:t>a</a:t>
            </a:r>
            <a:r>
              <a:rPr sz="1800" dirty="0">
                <a:solidFill>
                  <a:srgbClr val="4D4D4D"/>
                </a:solidFill>
                <a:latin typeface="宋体" panose="02010600030101010101" pitchFamily="2" charset="-122"/>
                <a:cs typeface="宋体" panose="02010600030101010101" pitchFamily="2" charset="-122"/>
              </a:rPr>
              <a:t>的边。建完有向图之后，拓扑排序，如果 出现了环（拓扑序数组大小不等于</a:t>
            </a:r>
            <a:r>
              <a:rPr sz="1800" dirty="0">
                <a:solidFill>
                  <a:srgbClr val="4D4D4D"/>
                </a:solidFill>
                <a:latin typeface="Segoe Print" panose="02000600000000000000"/>
                <a:cs typeface="Segoe Print" panose="02000600000000000000"/>
              </a:rPr>
              <a:t>26</a:t>
            </a:r>
            <a:r>
              <a:rPr sz="1800" dirty="0">
                <a:solidFill>
                  <a:srgbClr val="4D4D4D"/>
                </a:solidFill>
                <a:latin typeface="宋体" panose="02010600030101010101" pitchFamily="2" charset="-122"/>
                <a:cs typeface="宋体" panose="02010600030101010101" pitchFamily="2" charset="-122"/>
              </a:rPr>
              <a:t>）说明排不出来。</a:t>
            </a:r>
            <a:endParaRPr sz="1800" dirty="0">
              <a:latin typeface="宋体" panose="02010600030101010101" pitchFamily="2" charset="-122"/>
              <a:cs typeface="宋体" panose="02010600030101010101" pitchFamily="2" charset="-122"/>
            </a:endParaRPr>
          </a:p>
          <a:p>
            <a:pPr>
              <a:lnSpc>
                <a:spcPct val="100000"/>
              </a:lnSpc>
              <a:spcBef>
                <a:spcPts val="40"/>
              </a:spcBef>
            </a:pPr>
            <a:endParaRPr sz="3050" dirty="0">
              <a:latin typeface="宋体" panose="02010600030101010101" pitchFamily="2" charset="-122"/>
              <a:cs typeface="宋体" panose="02010600030101010101" pitchFamily="2" charset="-122"/>
            </a:endParaRPr>
          </a:p>
          <a:p>
            <a:pPr marL="12700" marR="233680">
              <a:lnSpc>
                <a:spcPct val="100000"/>
              </a:lnSpc>
            </a:pPr>
            <a:r>
              <a:rPr sz="1800" dirty="0" err="1">
                <a:solidFill>
                  <a:srgbClr val="4D4D4D"/>
                </a:solidFill>
                <a:latin typeface="宋体" panose="02010600030101010101" pitchFamily="2" charset="-122"/>
                <a:cs typeface="宋体" panose="02010600030101010101" pitchFamily="2" charset="-122"/>
              </a:rPr>
              <a:t>如果有的字母没有出现题目没有最小字典序之类的要求也无所谓，因为题目没</a:t>
            </a:r>
            <a:r>
              <a:rPr sz="1800" dirty="0">
                <a:solidFill>
                  <a:srgbClr val="4D4D4D"/>
                </a:solidFill>
                <a:latin typeface="宋体" panose="02010600030101010101" pitchFamily="2" charset="-122"/>
                <a:cs typeface="宋体" panose="02010600030101010101" pitchFamily="2" charset="-122"/>
              </a:rPr>
              <a:t> </a:t>
            </a:r>
            <a:r>
              <a:rPr sz="1800" dirty="0" err="1">
                <a:solidFill>
                  <a:srgbClr val="4D4D4D"/>
                </a:solidFill>
                <a:latin typeface="宋体" panose="02010600030101010101" pitchFamily="2" charset="-122"/>
                <a:cs typeface="宋体" panose="02010600030101010101" pitchFamily="2" charset="-122"/>
              </a:rPr>
              <a:t>要求</a:t>
            </a:r>
            <a:endParaRPr sz="1800" dirty="0">
              <a:latin typeface="宋体" panose="02010600030101010101" pitchFamily="2" charset="-122"/>
              <a:cs typeface="宋体" panose="02010600030101010101" pitchFamily="2" charset="-122"/>
            </a:endParaRPr>
          </a:p>
        </p:txBody>
      </p:sp>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1016000" y="3917950"/>
              <a:ext cx="133350" cy="12700"/>
            </p14:xfrm>
          </p:contentPart>
        </mc:Choice>
        <mc:Fallback xmlns="">
          <p:pic>
            <p:nvPicPr>
              <p:cNvPr id="5" name="墨迹 4"/>
            </p:nvPicPr>
            <p:blipFill>
              <a:blip r:embed="rId4"/>
            </p:blipFill>
            <p:spPr>
              <a:xfrm>
                <a:off x="1016000" y="3917950"/>
                <a:ext cx="133350" cy="1270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1638300" y="3911600"/>
              <a:ext cx="171450" cy="12700"/>
            </p14:xfrm>
          </p:contentPart>
        </mc:Choice>
        <mc:Fallback xmlns="">
          <p:pic>
            <p:nvPicPr>
              <p:cNvPr id="6" name="墨迹 5"/>
            </p:nvPicPr>
            <p:blipFill>
              <a:blip r:embed="rId6"/>
            </p:blipFill>
            <p:spPr>
              <a:xfrm>
                <a:off x="1638300" y="3911600"/>
                <a:ext cx="171450" cy="12700"/>
              </a:xfrm>
              <a:prstGeom prst="rect"/>
            </p:spPr>
          </p:pic>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拓扑排序</a:t>
            </a:r>
            <a:endParaRPr lang="zh-CN" altLang="en-US" dirty="0"/>
          </a:p>
        </p:txBody>
      </p:sp>
      <p:pic>
        <p:nvPicPr>
          <p:cNvPr id="7" name="图片 6"/>
          <p:cNvPicPr>
            <a:picLocks noChangeAspect="1"/>
          </p:cNvPicPr>
          <p:nvPr/>
        </p:nvPicPr>
        <p:blipFill>
          <a:blip r:embed="rId1"/>
          <a:stretch>
            <a:fillRect/>
          </a:stretch>
        </p:blipFill>
        <p:spPr>
          <a:xfrm>
            <a:off x="351503" y="1947628"/>
            <a:ext cx="10326541" cy="3610479"/>
          </a:xfrm>
          <a:prstGeom prst="rect">
            <a:avLst/>
          </a:prstGeom>
        </p:spPr>
      </p:pic>
      <p:sp>
        <p:nvSpPr>
          <p:cNvPr id="5" name="文本框 4"/>
          <p:cNvSpPr txBox="1"/>
          <p:nvPr/>
        </p:nvSpPr>
        <p:spPr>
          <a:xfrm>
            <a:off x="351503" y="1447800"/>
            <a:ext cx="6096000" cy="369332"/>
          </a:xfrm>
          <a:prstGeom prst="rect">
            <a:avLst/>
          </a:prstGeom>
          <a:noFill/>
        </p:spPr>
        <p:txBody>
          <a:bodyPr wrap="square">
            <a:spAutoFit/>
          </a:bodyPr>
          <a:lstStyle/>
          <a:p>
            <a:r>
              <a:rPr lang="en-US" altLang="zh-CN" dirty="0">
                <a:hlinkClick r:id="rId2"/>
              </a:rPr>
              <a:t>Problem - J - </a:t>
            </a:r>
            <a:r>
              <a:rPr lang="en-US" altLang="zh-CN" dirty="0" err="1">
                <a:hlinkClick r:id="rId2"/>
              </a:rPr>
              <a:t>Codeforces</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拓扑排序</a:t>
            </a:r>
            <a:endParaRPr lang="zh-CN" altLang="en-US" dirty="0"/>
          </a:p>
        </p:txBody>
      </p:sp>
      <p:sp>
        <p:nvSpPr>
          <p:cNvPr id="3" name="文本占位符 2"/>
          <p:cNvSpPr>
            <a:spLocks noGrp="1"/>
          </p:cNvSpPr>
          <p:nvPr>
            <p:ph type="body" idx="1"/>
          </p:nvPr>
        </p:nvSpPr>
        <p:spPr>
          <a:xfrm>
            <a:off x="730669" y="1318437"/>
            <a:ext cx="8604581" cy="276999"/>
          </a:xfrm>
        </p:spPr>
        <p:txBody>
          <a:bodyPr/>
          <a:lstStyle/>
          <a:p>
            <a:r>
              <a:rPr lang="zh-CN" altLang="en-US" dirty="0"/>
              <a:t>题目大意</a:t>
            </a:r>
            <a:endParaRPr lang="zh-CN" altLang="en-US" dirty="0"/>
          </a:p>
        </p:txBody>
      </p:sp>
      <p:sp>
        <p:nvSpPr>
          <p:cNvPr id="5" name="文本框 4"/>
          <p:cNvSpPr txBox="1"/>
          <p:nvPr/>
        </p:nvSpPr>
        <p:spPr>
          <a:xfrm>
            <a:off x="685800" y="1981200"/>
            <a:ext cx="6625171" cy="1754326"/>
          </a:xfrm>
          <a:prstGeom prst="rect">
            <a:avLst/>
          </a:prstGeom>
          <a:noFill/>
        </p:spPr>
        <p:txBody>
          <a:bodyPr wrap="square">
            <a:spAutoFit/>
          </a:bodyPr>
          <a:lstStyle/>
          <a:p>
            <a:r>
              <a:rPr lang="en-US" altLang="zh-CN" dirty="0"/>
              <a:t>•</a:t>
            </a:r>
            <a:r>
              <a:rPr lang="zh-CN" altLang="en-US" dirty="0"/>
              <a:t>给你一个有向图，一个点被激活当且仅当其入边被激活的数 目大于等于给定的参数 </a:t>
            </a:r>
            <a:r>
              <a:rPr lang="en-US" altLang="zh-CN" dirty="0"/>
              <a:t>ai</a:t>
            </a:r>
            <a:r>
              <a:rPr lang="zh-CN" altLang="en-US" dirty="0"/>
              <a:t>，一个点被激活后会立即同时激 活其所有出边，激活一条边的需要的时间为 </a:t>
            </a:r>
            <a:r>
              <a:rPr lang="en-US" altLang="zh-CN" dirty="0" err="1"/>
              <a:t>wj</a:t>
            </a:r>
            <a:r>
              <a:rPr lang="en-US" altLang="zh-CN" dirty="0"/>
              <a:t> </a:t>
            </a:r>
            <a:r>
              <a:rPr lang="zh-CN" altLang="en-US" dirty="0"/>
              <a:t>秒 </a:t>
            </a:r>
            <a:endParaRPr lang="en-US" altLang="zh-CN" dirty="0"/>
          </a:p>
          <a:p>
            <a:r>
              <a:rPr lang="en-US" altLang="zh-CN" dirty="0"/>
              <a:t>• </a:t>
            </a:r>
            <a:r>
              <a:rPr lang="zh-CN" altLang="en-US" dirty="0"/>
              <a:t>有一些特殊的装置，可以在开始后 </a:t>
            </a:r>
            <a:r>
              <a:rPr lang="en-US" altLang="zh-CN" dirty="0"/>
              <a:t>x </a:t>
            </a:r>
            <a:r>
              <a:rPr lang="zh-CN" altLang="en-US" dirty="0"/>
              <a:t>秒将给定点集的 </a:t>
            </a:r>
            <a:r>
              <a:rPr lang="en-US" altLang="zh-CN" dirty="0"/>
              <a:t>ai </a:t>
            </a:r>
            <a:r>
              <a:rPr lang="zh-CN" altLang="en-US" dirty="0"/>
              <a:t>变 成 </a:t>
            </a:r>
            <a:r>
              <a:rPr lang="en-US" altLang="zh-CN" dirty="0"/>
              <a:t>0. </a:t>
            </a:r>
            <a:endParaRPr lang="en-US" altLang="zh-CN" dirty="0"/>
          </a:p>
          <a:p>
            <a:r>
              <a:rPr lang="en-US" altLang="zh-CN" dirty="0"/>
              <a:t>• </a:t>
            </a:r>
            <a:r>
              <a:rPr lang="zh-CN" altLang="en-US" dirty="0"/>
              <a:t>问你选中的某个点能否被激活，以及激活它需要的最小时间</a:t>
            </a:r>
            <a:endParaRPr lang="en-US" altLang="zh-CN" dirty="0"/>
          </a:p>
          <a:p>
            <a:r>
              <a:rPr lang="zh-CN" altLang="en-US" dirty="0"/>
              <a:t> </a:t>
            </a:r>
            <a:r>
              <a:rPr lang="en-US" altLang="zh-CN" dirty="0"/>
              <a:t>• n ≤ 1e5 , m ≤ 1e6 , k ≤ 1e5 , ai ≤ 1e5 , </a:t>
            </a:r>
            <a:r>
              <a:rPr lang="en-US" altLang="zh-CN" dirty="0" err="1"/>
              <a:t>wi</a:t>
            </a:r>
            <a:r>
              <a:rPr lang="en-US" altLang="zh-CN" dirty="0"/>
              <a:t> , xi ≤ 1e9</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拓扑排序</a:t>
            </a:r>
            <a:endParaRPr lang="zh-CN" altLang="en-US" dirty="0"/>
          </a:p>
        </p:txBody>
      </p:sp>
      <p:sp>
        <p:nvSpPr>
          <p:cNvPr id="3" name="文本占位符 2"/>
          <p:cNvSpPr>
            <a:spLocks noGrp="1"/>
          </p:cNvSpPr>
          <p:nvPr>
            <p:ph type="body" idx="1"/>
          </p:nvPr>
        </p:nvSpPr>
        <p:spPr>
          <a:xfrm>
            <a:off x="838200" y="1676400"/>
            <a:ext cx="5576570" cy="276999"/>
          </a:xfrm>
        </p:spPr>
        <p:txBody>
          <a:bodyPr/>
          <a:lstStyle/>
          <a:p>
            <a:r>
              <a:rPr lang="zh-CN" altLang="en-US" dirty="0"/>
              <a:t>思路</a:t>
            </a:r>
            <a:endParaRPr lang="en-US" altLang="zh-CN" dirty="0"/>
          </a:p>
        </p:txBody>
      </p:sp>
      <p:sp>
        <p:nvSpPr>
          <p:cNvPr id="5" name="文本框 4"/>
          <p:cNvSpPr txBox="1"/>
          <p:nvPr/>
        </p:nvSpPr>
        <p:spPr>
          <a:xfrm>
            <a:off x="685800" y="2384565"/>
            <a:ext cx="6553200" cy="2031325"/>
          </a:xfrm>
          <a:prstGeom prst="rect">
            <a:avLst/>
          </a:prstGeom>
          <a:noFill/>
        </p:spPr>
        <p:txBody>
          <a:bodyPr wrap="square">
            <a:spAutoFit/>
          </a:bodyPr>
          <a:lstStyle/>
          <a:p>
            <a:r>
              <a:rPr lang="en-US" altLang="zh-CN" dirty="0"/>
              <a:t>• </a:t>
            </a:r>
            <a:r>
              <a:rPr lang="zh-CN" altLang="en-US" dirty="0"/>
              <a:t>我们考虑类似拓扑排序的思想，每次有一条边被激活后，其 会对到达的点做出 </a:t>
            </a:r>
            <a:r>
              <a:rPr lang="en-US" altLang="zh-CN" dirty="0"/>
              <a:t>1 </a:t>
            </a:r>
            <a:r>
              <a:rPr lang="zh-CN" altLang="en-US" dirty="0"/>
              <a:t>的贡献。</a:t>
            </a:r>
            <a:endParaRPr lang="en-US" altLang="zh-CN" dirty="0"/>
          </a:p>
          <a:p>
            <a:r>
              <a:rPr lang="zh-CN" altLang="en-US" dirty="0"/>
              <a:t> </a:t>
            </a:r>
            <a:endParaRPr lang="en-US" altLang="zh-CN" dirty="0"/>
          </a:p>
          <a:p>
            <a:r>
              <a:rPr lang="en-US" altLang="zh-CN" dirty="0"/>
              <a:t>• </a:t>
            </a:r>
            <a:r>
              <a:rPr lang="zh-CN" altLang="en-US" dirty="0"/>
              <a:t>而特殊装置可以将指定点集的 </a:t>
            </a:r>
            <a:r>
              <a:rPr lang="en-US" altLang="zh-CN" dirty="0"/>
              <a:t>ai </a:t>
            </a:r>
            <a:r>
              <a:rPr lang="zh-CN" altLang="en-US" dirty="0"/>
              <a:t>变成 </a:t>
            </a:r>
            <a:r>
              <a:rPr lang="en-US" altLang="zh-CN" dirty="0"/>
              <a:t>0</a:t>
            </a:r>
            <a:r>
              <a:rPr lang="zh-CN" altLang="en-US" dirty="0"/>
              <a:t>，可以看作一个超级源点向其连了一条长度为 </a:t>
            </a:r>
            <a:r>
              <a:rPr lang="en-US" altLang="zh-CN" dirty="0"/>
              <a:t>x </a:t>
            </a:r>
            <a:r>
              <a:rPr lang="zh-CN" altLang="en-US" dirty="0"/>
              <a:t>，贡献为 </a:t>
            </a:r>
            <a:r>
              <a:rPr lang="en-US" altLang="zh-CN" dirty="0"/>
              <a:t>inf </a:t>
            </a:r>
            <a:r>
              <a:rPr lang="zh-CN" altLang="en-US" dirty="0"/>
              <a:t>的一条边。 </a:t>
            </a:r>
            <a:endParaRPr lang="en-US" altLang="zh-CN" dirty="0"/>
          </a:p>
          <a:p>
            <a:endParaRPr lang="en-US" altLang="zh-CN" dirty="0"/>
          </a:p>
          <a:p>
            <a:r>
              <a:rPr lang="en-US" altLang="zh-CN" dirty="0"/>
              <a:t>• </a:t>
            </a:r>
            <a:r>
              <a:rPr lang="zh-CN" altLang="en-US" dirty="0"/>
              <a:t>利用优先队列来实现上述过程即可</a:t>
            </a:r>
            <a:endParaRPr lang="zh-CN" altLang="en-US" dirty="0"/>
          </a:p>
        </p:txBody>
      </p:sp>
      <p:sp>
        <p:nvSpPr>
          <p:cNvPr id="7" name="文本框 6"/>
          <p:cNvSpPr txBox="1"/>
          <p:nvPr/>
        </p:nvSpPr>
        <p:spPr>
          <a:xfrm>
            <a:off x="685800" y="4667452"/>
            <a:ext cx="7924800" cy="923330"/>
          </a:xfrm>
          <a:prstGeom prst="rect">
            <a:avLst/>
          </a:prstGeom>
          <a:noFill/>
        </p:spPr>
        <p:txBody>
          <a:bodyPr wrap="square">
            <a:spAutoFit/>
          </a:bodyPr>
          <a:lstStyle/>
          <a:p>
            <a:r>
              <a:rPr lang="zh-CN" altLang="en-US" dirty="0"/>
              <a:t>特别地，在拓扑排序的过程中进行</a:t>
            </a:r>
            <a:r>
              <a:rPr lang="en-US" altLang="zh-CN" dirty="0" err="1"/>
              <a:t>dp</a:t>
            </a:r>
            <a:r>
              <a:rPr lang="zh-CN" altLang="en-US" dirty="0"/>
              <a:t>也是常见的手法。当一个点</a:t>
            </a:r>
            <a:r>
              <a:rPr lang="en-US" altLang="zh-CN" dirty="0" err="1"/>
              <a:t>i</a:t>
            </a:r>
            <a:r>
              <a:rPr lang="zh-CN" altLang="en-US" dirty="0"/>
              <a:t>入队后，说明</a:t>
            </a:r>
            <a:r>
              <a:rPr lang="en-US" altLang="zh-CN" dirty="0" err="1"/>
              <a:t>dp</a:t>
            </a:r>
            <a:r>
              <a:rPr lang="en-US" altLang="zh-CN" dirty="0"/>
              <a:t>[</a:t>
            </a:r>
            <a:r>
              <a:rPr lang="en-US" altLang="zh-CN" dirty="0" err="1"/>
              <a:t>i</a:t>
            </a:r>
            <a:r>
              <a:rPr lang="en-US" altLang="zh-CN" dirty="0"/>
              <a:t>]</a:t>
            </a:r>
            <a:r>
              <a:rPr lang="zh-CN" altLang="en-US" dirty="0"/>
              <a:t>已经汇总了其前驱节点的所有信息，可以转移到其临接点，保证</a:t>
            </a:r>
            <a:r>
              <a:rPr lang="en-US" altLang="zh-CN" dirty="0" err="1"/>
              <a:t>dp</a:t>
            </a:r>
            <a:r>
              <a:rPr lang="zh-CN" altLang="en-US" dirty="0"/>
              <a:t>的无后效性。</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27686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特殊图最短路</a:t>
            </a:r>
            <a:endParaRPr dirty="0">
              <a:latin typeface="宋体" panose="02010600030101010101" pitchFamily="2" charset="-122"/>
              <a:cs typeface="宋体" panose="02010600030101010101" pitchFamily="2" charset="-122"/>
            </a:endParaRPr>
          </a:p>
        </p:txBody>
      </p:sp>
      <p:sp>
        <p:nvSpPr>
          <p:cNvPr id="3" name="object 3"/>
          <p:cNvSpPr txBox="1"/>
          <p:nvPr/>
        </p:nvSpPr>
        <p:spPr>
          <a:xfrm>
            <a:off x="756068" y="1487830"/>
            <a:ext cx="5720931" cy="1223010"/>
          </a:xfrm>
          <a:prstGeom prst="rect">
            <a:avLst/>
          </a:prstGeom>
        </p:spPr>
        <p:txBody>
          <a:bodyPr vert="horz" wrap="square" lIns="0" tIns="12700" rIns="0" bIns="0" rtlCol="0">
            <a:spAutoFit/>
          </a:bodyPr>
          <a:lstStyle/>
          <a:p>
            <a:pPr marL="12700" marR="5080">
              <a:lnSpc>
                <a:spcPct val="140000"/>
              </a:lnSpc>
              <a:spcBef>
                <a:spcPts val="100"/>
              </a:spcBef>
            </a:pPr>
            <a:r>
              <a:rPr sz="1800" dirty="0" err="1">
                <a:solidFill>
                  <a:srgbClr val="404040"/>
                </a:solidFill>
                <a:latin typeface="宋体" panose="02010600030101010101" pitchFamily="2" charset="-122"/>
                <a:cs typeface="宋体" panose="02010600030101010101" pitchFamily="2" charset="-122"/>
              </a:rPr>
              <a:t>求树上两点最短路：</a:t>
            </a:r>
            <a:r>
              <a:rPr sz="1800" dirty="0" err="1">
                <a:solidFill>
                  <a:srgbClr val="404040"/>
                </a:solidFill>
                <a:latin typeface="Trebuchet MS" panose="020B0603020202020204"/>
                <a:cs typeface="Trebuchet MS" panose="020B0603020202020204"/>
              </a:rPr>
              <a:t>d</a:t>
            </a:r>
            <a:r>
              <a:rPr sz="1800" spc="-5" dirty="0" err="1">
                <a:solidFill>
                  <a:srgbClr val="404040"/>
                </a:solidFill>
                <a:latin typeface="Trebuchet MS" panose="020B0603020202020204"/>
                <a:cs typeface="Trebuchet MS" panose="020B0603020202020204"/>
              </a:rPr>
              <a:t>f</a:t>
            </a:r>
            <a:r>
              <a:rPr sz="1800" dirty="0" err="1">
                <a:solidFill>
                  <a:srgbClr val="404040"/>
                </a:solidFill>
                <a:latin typeface="Trebuchet MS" panose="020B0603020202020204"/>
                <a:cs typeface="Trebuchet MS" panose="020B0603020202020204"/>
              </a:rPr>
              <a:t>s</a:t>
            </a:r>
            <a:r>
              <a:rPr sz="1800" dirty="0" err="1">
                <a:solidFill>
                  <a:srgbClr val="404040"/>
                </a:solidFill>
                <a:latin typeface="宋体" panose="02010600030101010101" pitchFamily="2" charset="-122"/>
                <a:cs typeface="宋体" panose="02010600030101010101" pitchFamily="2" charset="-122"/>
              </a:rPr>
              <a:t>，或者</a:t>
            </a:r>
            <a:r>
              <a:rPr sz="1800" spc="-5" dirty="0" err="1">
                <a:solidFill>
                  <a:srgbClr val="404040"/>
                </a:solidFill>
                <a:latin typeface="Trebuchet MS" panose="020B0603020202020204"/>
                <a:cs typeface="Trebuchet MS" panose="020B0603020202020204"/>
              </a:rPr>
              <a:t>lc</a:t>
            </a:r>
            <a:r>
              <a:rPr sz="1800" dirty="0" err="1">
                <a:solidFill>
                  <a:srgbClr val="404040"/>
                </a:solidFill>
                <a:latin typeface="Trebuchet MS" panose="020B0603020202020204"/>
                <a:cs typeface="Trebuchet MS" panose="020B0603020202020204"/>
              </a:rPr>
              <a:t>a</a:t>
            </a:r>
            <a:r>
              <a:rPr lang="zh-CN" altLang="en-US" sz="1800" dirty="0">
                <a:solidFill>
                  <a:srgbClr val="404040"/>
                </a:solidFill>
                <a:latin typeface="Trebuchet MS" panose="020B0603020202020204"/>
                <a:cs typeface="Trebuchet MS" panose="020B0603020202020204"/>
              </a:rPr>
              <a:t>（树论应该讲了</a:t>
            </a:r>
            <a:r>
              <a:rPr lang="zh-CN" altLang="en-US" dirty="0">
                <a:solidFill>
                  <a:srgbClr val="404040"/>
                </a:solidFill>
                <a:latin typeface="Trebuchet MS" panose="020B0603020202020204"/>
                <a:cs typeface="Trebuchet MS" panose="020B0603020202020204"/>
              </a:rPr>
              <a:t>）</a:t>
            </a:r>
            <a:r>
              <a:rPr sz="1800" dirty="0">
                <a:solidFill>
                  <a:srgbClr val="404040"/>
                </a:solidFill>
                <a:latin typeface="Trebuchet MS" panose="020B0603020202020204"/>
                <a:cs typeface="Trebuchet MS" panose="020B0603020202020204"/>
              </a:rPr>
              <a:t> </a:t>
            </a:r>
            <a:endParaRPr lang="en-US" sz="1800" dirty="0">
              <a:solidFill>
                <a:srgbClr val="404040"/>
              </a:solidFill>
              <a:latin typeface="Trebuchet MS" panose="020B0603020202020204"/>
              <a:cs typeface="Trebuchet MS" panose="020B0603020202020204"/>
            </a:endParaRPr>
          </a:p>
          <a:p>
            <a:pPr marL="12700" marR="5080">
              <a:lnSpc>
                <a:spcPct val="140000"/>
              </a:lnSpc>
              <a:spcBef>
                <a:spcPts val="100"/>
              </a:spcBef>
            </a:pPr>
            <a:r>
              <a:rPr sz="1800" dirty="0" err="1">
                <a:solidFill>
                  <a:srgbClr val="404040"/>
                </a:solidFill>
                <a:latin typeface="宋体" panose="02010600030101010101" pitchFamily="2" charset="-122"/>
                <a:cs typeface="宋体" panose="02010600030101010101" pitchFamily="2" charset="-122"/>
              </a:rPr>
              <a:t>有向无环图最短路：拓扑排序</a:t>
            </a:r>
            <a:endParaRPr sz="1800" dirty="0">
              <a:latin typeface="宋体" panose="02010600030101010101" pitchFamily="2" charset="-122"/>
              <a:cs typeface="宋体" panose="02010600030101010101" pitchFamily="2" charset="-122"/>
            </a:endParaRPr>
          </a:p>
          <a:p>
            <a:pPr marL="12700">
              <a:lnSpc>
                <a:spcPct val="100000"/>
              </a:lnSpc>
              <a:spcBef>
                <a:spcPts val="1140"/>
              </a:spcBef>
            </a:pPr>
            <a:r>
              <a:rPr sz="1800" dirty="0">
                <a:solidFill>
                  <a:srgbClr val="404040"/>
                </a:solidFill>
                <a:latin typeface="宋体" panose="02010600030101010101" pitchFamily="2" charset="-122"/>
                <a:cs typeface="宋体" panose="02010600030101010101" pitchFamily="2" charset="-122"/>
              </a:rPr>
              <a:t>无权图（所有边都相等）：</a:t>
            </a:r>
            <a:r>
              <a:rPr sz="1800" dirty="0">
                <a:solidFill>
                  <a:srgbClr val="404040"/>
                </a:solidFill>
                <a:latin typeface="Trebuchet MS" panose="020B0603020202020204"/>
                <a:cs typeface="Trebuchet MS" panose="020B0603020202020204"/>
              </a:rPr>
              <a:t>b</a:t>
            </a:r>
            <a:r>
              <a:rPr sz="1800" spc="-5" dirty="0">
                <a:solidFill>
                  <a:srgbClr val="404040"/>
                </a:solidFill>
                <a:latin typeface="Trebuchet MS" panose="020B0603020202020204"/>
                <a:cs typeface="Trebuchet MS" panose="020B0603020202020204"/>
              </a:rPr>
              <a:t>f</a:t>
            </a:r>
            <a:r>
              <a:rPr sz="1800" dirty="0">
                <a:solidFill>
                  <a:srgbClr val="404040"/>
                </a:solidFill>
                <a:latin typeface="Trebuchet MS" panose="020B0603020202020204"/>
                <a:cs typeface="Trebuchet MS" panose="020B0603020202020204"/>
              </a:rPr>
              <a:t>s</a:t>
            </a:r>
            <a:endParaRPr sz="1800" dirty="0">
              <a:latin typeface="Trebuchet MS" panose="020B0603020202020204"/>
              <a:cs typeface="Trebuchet MS" panose="020B0603020202020204"/>
            </a:endParaRPr>
          </a:p>
        </p:txBody>
      </p:sp>
      <p:sp>
        <p:nvSpPr>
          <p:cNvPr id="5" name="文本框 4"/>
          <p:cNvSpPr txBox="1"/>
          <p:nvPr/>
        </p:nvSpPr>
        <p:spPr>
          <a:xfrm>
            <a:off x="685800" y="2895600"/>
            <a:ext cx="6096000" cy="369332"/>
          </a:xfrm>
          <a:prstGeom prst="rect">
            <a:avLst/>
          </a:prstGeom>
          <a:noFill/>
        </p:spPr>
        <p:txBody>
          <a:bodyPr wrap="square">
            <a:spAutoFit/>
          </a:bodyPr>
          <a:lstStyle/>
          <a:p>
            <a:r>
              <a:rPr lang="zh-CN" altLang="en-US" dirty="0"/>
              <a:t>边权只有</a:t>
            </a:r>
            <a:r>
              <a:rPr lang="en-US" altLang="zh-CN" dirty="0"/>
              <a:t>0</a:t>
            </a:r>
            <a:r>
              <a:rPr lang="zh-CN" altLang="en-US" dirty="0"/>
              <a:t>或</a:t>
            </a:r>
            <a:r>
              <a:rPr lang="en-US" altLang="zh-CN" dirty="0"/>
              <a:t>1</a:t>
            </a:r>
            <a:r>
              <a:rPr lang="zh-CN" altLang="en-US" dirty="0"/>
              <a:t>：</a:t>
            </a:r>
            <a:r>
              <a:rPr lang="en-US" altLang="zh-CN" dirty="0"/>
              <a:t>01bfs</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23114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单源最短路</a:t>
            </a:r>
            <a:endParaRPr dirty="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676655" y="1975104"/>
            <a:ext cx="8596884" cy="308305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24204"/>
            <a:ext cx="1618615" cy="574040"/>
          </a:xfrm>
          <a:prstGeom prst="rect">
            <a:avLst/>
          </a:prstGeom>
        </p:spPr>
        <p:txBody>
          <a:bodyPr vert="horz" wrap="square" lIns="0" tIns="12700" rIns="0" bIns="0" rtlCol="0">
            <a:spAutoFit/>
          </a:bodyPr>
          <a:lstStyle/>
          <a:p>
            <a:pPr marL="12700">
              <a:lnSpc>
                <a:spcPct val="100000"/>
              </a:lnSpc>
              <a:spcBef>
                <a:spcPts val="100"/>
              </a:spcBef>
            </a:pPr>
            <a:r>
              <a:rPr dirty="0"/>
              <a:t>D</a:t>
            </a:r>
            <a:r>
              <a:rPr spc="-5" dirty="0"/>
              <a:t>ijkst</a:t>
            </a:r>
            <a:r>
              <a:rPr dirty="0"/>
              <a:t>ra</a:t>
            </a:r>
            <a:endParaRPr dirty="0"/>
          </a:p>
        </p:txBody>
      </p:sp>
      <p:pic>
        <p:nvPicPr>
          <p:cNvPr id="3" name="object 3"/>
          <p:cNvPicPr/>
          <p:nvPr/>
        </p:nvPicPr>
        <p:blipFill>
          <a:blip r:embed="rId1" cstate="print"/>
          <a:stretch>
            <a:fillRect/>
          </a:stretch>
        </p:blipFill>
        <p:spPr>
          <a:xfrm>
            <a:off x="676655" y="2744723"/>
            <a:ext cx="8596884" cy="1571243"/>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24204"/>
            <a:ext cx="1618615" cy="574040"/>
          </a:xfrm>
          <a:prstGeom prst="rect">
            <a:avLst/>
          </a:prstGeom>
        </p:spPr>
        <p:txBody>
          <a:bodyPr vert="horz" wrap="square" lIns="0" tIns="12700" rIns="0" bIns="0" rtlCol="0">
            <a:spAutoFit/>
          </a:bodyPr>
          <a:lstStyle/>
          <a:p>
            <a:pPr marL="12700">
              <a:lnSpc>
                <a:spcPct val="100000"/>
              </a:lnSpc>
              <a:spcBef>
                <a:spcPts val="100"/>
              </a:spcBef>
            </a:pPr>
            <a:r>
              <a:rPr dirty="0"/>
              <a:t>D</a:t>
            </a:r>
            <a:r>
              <a:rPr spc="-5" dirty="0"/>
              <a:t>ijkst</a:t>
            </a:r>
            <a:r>
              <a:rPr dirty="0"/>
              <a:t>ra</a:t>
            </a:r>
            <a:endParaRPr dirty="0"/>
          </a:p>
        </p:txBody>
      </p:sp>
      <p:pic>
        <p:nvPicPr>
          <p:cNvPr id="3" name="object 3"/>
          <p:cNvPicPr/>
          <p:nvPr/>
        </p:nvPicPr>
        <p:blipFill>
          <a:blip r:embed="rId1" cstate="print"/>
          <a:stretch>
            <a:fillRect/>
          </a:stretch>
        </p:blipFill>
        <p:spPr>
          <a:xfrm>
            <a:off x="676655" y="1575816"/>
            <a:ext cx="8328659" cy="4163567"/>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24204"/>
            <a:ext cx="1618615" cy="574040"/>
          </a:xfrm>
          <a:prstGeom prst="rect">
            <a:avLst/>
          </a:prstGeom>
        </p:spPr>
        <p:txBody>
          <a:bodyPr vert="horz" wrap="square" lIns="0" tIns="12700" rIns="0" bIns="0" rtlCol="0">
            <a:spAutoFit/>
          </a:bodyPr>
          <a:lstStyle/>
          <a:p>
            <a:pPr marL="12700">
              <a:lnSpc>
                <a:spcPct val="100000"/>
              </a:lnSpc>
              <a:spcBef>
                <a:spcPts val="100"/>
              </a:spcBef>
            </a:pPr>
            <a:r>
              <a:rPr dirty="0"/>
              <a:t>D</a:t>
            </a:r>
            <a:r>
              <a:rPr spc="-5" dirty="0"/>
              <a:t>ijkst</a:t>
            </a:r>
            <a:r>
              <a:rPr dirty="0"/>
              <a:t>ra</a:t>
            </a:r>
            <a:endParaRPr dirty="0"/>
          </a:p>
        </p:txBody>
      </p:sp>
      <p:graphicFrame>
        <p:nvGraphicFramePr>
          <p:cNvPr id="3" name="object 3"/>
          <p:cNvGraphicFramePr>
            <a:graphicFrameLocks noGrp="1"/>
          </p:cNvGraphicFramePr>
          <p:nvPr/>
        </p:nvGraphicFramePr>
        <p:xfrm>
          <a:off x="671347" y="1438249"/>
          <a:ext cx="8595993" cy="736599"/>
        </p:xfrm>
        <a:graphic>
          <a:graphicData uri="http://schemas.openxmlformats.org/drawingml/2006/table">
            <a:tbl>
              <a:tblPr firstRow="1" bandRow="1">
                <a:tableStyleId>{2D5ABB26-0587-4C30-8999-92F81FD0307C}</a:tableStyleId>
              </a:tblPr>
              <a:tblGrid>
                <a:gridCol w="1432560"/>
                <a:gridCol w="1432560"/>
                <a:gridCol w="1433195"/>
                <a:gridCol w="1432560"/>
                <a:gridCol w="1432559"/>
                <a:gridCol w="1432559"/>
              </a:tblGrid>
              <a:tr h="365760">
                <a:tc>
                  <a:txBody>
                    <a:bodyPr/>
                    <a:lstStyle/>
                    <a:p>
                      <a:pPr>
                        <a:lnSpc>
                          <a:spcPct val="100000"/>
                        </a:lnSpc>
                      </a:pPr>
                      <a:endParaRPr sz="18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r>
              <a:tr h="370839">
                <a:tc>
                  <a:txBody>
                    <a:bodyPr/>
                    <a:lstStyle/>
                    <a:p>
                      <a:pPr marL="90805">
                        <a:lnSpc>
                          <a:spcPct val="100000"/>
                        </a:lnSpc>
                        <a:spcBef>
                          <a:spcPts val="290"/>
                        </a:spcBef>
                      </a:pPr>
                      <a:r>
                        <a:rPr sz="1800" dirty="0">
                          <a:latin typeface="Trebuchet MS" panose="020B0603020202020204"/>
                          <a:cs typeface="Trebuchet MS" panose="020B0603020202020204"/>
                        </a:rPr>
                        <a:t>dist</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0</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inf</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inf</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inf</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inf</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r>
            </a:tbl>
          </a:graphicData>
        </a:graphic>
      </p:graphicFrame>
      <p:pic>
        <p:nvPicPr>
          <p:cNvPr id="4" name="object 4"/>
          <p:cNvPicPr/>
          <p:nvPr/>
        </p:nvPicPr>
        <p:blipFill>
          <a:blip r:embed="rId1" cstate="print"/>
          <a:stretch>
            <a:fillRect/>
          </a:stretch>
        </p:blipFill>
        <p:spPr>
          <a:xfrm>
            <a:off x="961605" y="3129952"/>
            <a:ext cx="2621536" cy="2564023"/>
          </a:xfrm>
          <a:prstGeom prst="rect">
            <a:avLst/>
          </a:prstGeom>
        </p:spPr>
      </p:pic>
      <p:sp>
        <p:nvSpPr>
          <p:cNvPr id="5" name="object 5"/>
          <p:cNvSpPr txBox="1"/>
          <p:nvPr/>
        </p:nvSpPr>
        <p:spPr>
          <a:xfrm>
            <a:off x="4067555" y="3015995"/>
            <a:ext cx="5206365" cy="413384"/>
          </a:xfrm>
          <a:prstGeom prst="rect">
            <a:avLst/>
          </a:prstGeom>
          <a:solidFill>
            <a:srgbClr val="DBF4C9"/>
          </a:solidFill>
        </p:spPr>
        <p:txBody>
          <a:bodyPr vert="horz" wrap="square" lIns="0" tIns="31115" rIns="0" bIns="0" rtlCol="0">
            <a:spAutoFit/>
          </a:bodyPr>
          <a:lstStyle/>
          <a:p>
            <a:pPr marL="91440">
              <a:lnSpc>
                <a:spcPct val="100000"/>
              </a:lnSpc>
              <a:spcBef>
                <a:spcPts val="245"/>
              </a:spcBef>
            </a:pPr>
            <a:r>
              <a:rPr sz="1800" dirty="0">
                <a:solidFill>
                  <a:srgbClr val="404040"/>
                </a:solidFill>
                <a:latin typeface="宋体" panose="02010600030101010101" pitchFamily="2" charset="-122"/>
                <a:cs typeface="宋体" panose="02010600030101010101" pitchFamily="2" charset="-122"/>
              </a:rPr>
              <a:t>此时的优先队列</a:t>
            </a:r>
            <a:r>
              <a:rPr sz="1800" spc="-5" dirty="0">
                <a:solidFill>
                  <a:srgbClr val="404040"/>
                </a:solidFill>
                <a:latin typeface="Trebuchet MS" panose="020B0603020202020204"/>
                <a:cs typeface="Trebuchet MS" panose="020B0603020202020204"/>
              </a:rPr>
              <a:t>:[</a:t>
            </a:r>
            <a:r>
              <a:rPr sz="1800" dirty="0">
                <a:solidFill>
                  <a:srgbClr val="404040"/>
                </a:solidFill>
                <a:latin typeface="Trebuchet MS" panose="020B0603020202020204"/>
                <a:cs typeface="Trebuchet MS" panose="020B0603020202020204"/>
              </a:rPr>
              <a:t>0</a:t>
            </a:r>
            <a:r>
              <a:rPr sz="1800" spc="-5" dirty="0">
                <a:solidFill>
                  <a:srgbClr val="404040"/>
                </a:solidFill>
                <a:latin typeface="Trebuchet MS" panose="020B0603020202020204"/>
                <a:cs typeface="Trebuchet MS" panose="020B0603020202020204"/>
              </a:rPr>
              <a:t>,</a:t>
            </a:r>
            <a:r>
              <a:rPr sz="1800" dirty="0">
                <a:solidFill>
                  <a:srgbClr val="404040"/>
                </a:solidFill>
                <a:latin typeface="Trebuchet MS" panose="020B0603020202020204"/>
                <a:cs typeface="Trebuchet MS" panose="020B0603020202020204"/>
              </a:rPr>
              <a:t>1]</a:t>
            </a:r>
            <a:endParaRPr sz="1800">
              <a:latin typeface="Trebuchet MS" panose="020B0603020202020204"/>
              <a:cs typeface="Trebuchet MS" panose="020B0603020202020204"/>
            </a:endParaRPr>
          </a:p>
        </p:txBody>
      </p:sp>
      <p:sp>
        <p:nvSpPr>
          <p:cNvPr id="6" name="object 6"/>
          <p:cNvSpPr txBox="1"/>
          <p:nvPr/>
        </p:nvSpPr>
        <p:spPr>
          <a:xfrm>
            <a:off x="4146435" y="3651897"/>
            <a:ext cx="5122545" cy="1778000"/>
          </a:xfrm>
          <a:prstGeom prst="rect">
            <a:avLst/>
          </a:prstGeom>
        </p:spPr>
        <p:txBody>
          <a:bodyPr vert="horz" wrap="square" lIns="0" tIns="12700" rIns="0" bIns="0" rtlCol="0">
            <a:spAutoFit/>
          </a:bodyPr>
          <a:lstStyle/>
          <a:p>
            <a:pPr marL="12700" marR="170180">
              <a:lnSpc>
                <a:spcPct val="100000"/>
              </a:lnSpc>
              <a:spcBef>
                <a:spcPts val="100"/>
              </a:spcBef>
            </a:pPr>
            <a:r>
              <a:rPr sz="1800" dirty="0">
                <a:solidFill>
                  <a:srgbClr val="404040"/>
                </a:solidFill>
                <a:latin typeface="Trebuchet MS" panose="020B0603020202020204"/>
                <a:cs typeface="Trebuchet MS" panose="020B0603020202020204"/>
              </a:rPr>
              <a:t>1</a:t>
            </a:r>
            <a:r>
              <a:rPr sz="1800" dirty="0">
                <a:solidFill>
                  <a:srgbClr val="404040"/>
                </a:solidFill>
                <a:latin typeface="宋体" panose="02010600030101010101" pitchFamily="2" charset="-122"/>
                <a:cs typeface="宋体" panose="02010600030101010101" pitchFamily="2" charset="-122"/>
              </a:rPr>
              <a:t>到它自己的距离为</a:t>
            </a:r>
            <a:r>
              <a:rPr sz="1800" dirty="0">
                <a:solidFill>
                  <a:srgbClr val="404040"/>
                </a:solidFill>
                <a:latin typeface="Trebuchet MS" panose="020B0603020202020204"/>
                <a:cs typeface="Trebuchet MS" panose="020B0603020202020204"/>
              </a:rPr>
              <a:t>0</a:t>
            </a:r>
            <a:r>
              <a:rPr sz="1800" dirty="0">
                <a:solidFill>
                  <a:srgbClr val="404040"/>
                </a:solidFill>
                <a:latin typeface="宋体" panose="02010600030101010101" pitchFamily="2" charset="-122"/>
                <a:cs typeface="宋体" panose="02010600030101010101" pitchFamily="2" charset="-122"/>
              </a:rPr>
              <a:t>，肯定最小，所以把</a:t>
            </a:r>
            <a:r>
              <a:rPr sz="1800" dirty="0">
                <a:solidFill>
                  <a:srgbClr val="404040"/>
                </a:solidFill>
                <a:latin typeface="Trebuchet MS" panose="020B0603020202020204"/>
                <a:cs typeface="Trebuchet MS" panose="020B0603020202020204"/>
              </a:rPr>
              <a:t>1</a:t>
            </a:r>
            <a:r>
              <a:rPr sz="1800" dirty="0">
                <a:solidFill>
                  <a:srgbClr val="404040"/>
                </a:solidFill>
                <a:latin typeface="宋体" panose="02010600030101010101" pitchFamily="2" charset="-122"/>
                <a:cs typeface="宋体" panose="02010600030101010101" pitchFamily="2" charset="-122"/>
              </a:rPr>
              <a:t>加入优 先队列，用</a:t>
            </a:r>
            <a:r>
              <a:rPr sz="1800" dirty="0">
                <a:solidFill>
                  <a:srgbClr val="404040"/>
                </a:solidFill>
                <a:latin typeface="Trebuchet MS" panose="020B0603020202020204"/>
                <a:cs typeface="Trebuchet MS" panose="020B0603020202020204"/>
              </a:rPr>
              <a:t>1</a:t>
            </a:r>
            <a:r>
              <a:rPr sz="1800" dirty="0">
                <a:solidFill>
                  <a:srgbClr val="404040"/>
                </a:solidFill>
                <a:latin typeface="宋体" panose="02010600030101010101" pitchFamily="2" charset="-122"/>
                <a:cs typeface="宋体" panose="02010600030101010101" pitchFamily="2" charset="-122"/>
              </a:rPr>
              <a:t>去松弛其他点</a:t>
            </a:r>
            <a:endParaRPr sz="1800">
              <a:latin typeface="宋体" panose="02010600030101010101" pitchFamily="2" charset="-122"/>
              <a:cs typeface="宋体" panose="02010600030101010101" pitchFamily="2" charset="-122"/>
            </a:endParaRPr>
          </a:p>
          <a:p>
            <a:pPr marL="12700" marR="5080" algn="just">
              <a:lnSpc>
                <a:spcPct val="146000"/>
              </a:lnSpc>
            </a:pPr>
            <a:r>
              <a:rPr sz="1800" spc="-5" dirty="0">
                <a:solidFill>
                  <a:srgbClr val="404040"/>
                </a:solidFill>
                <a:latin typeface="Trebuchet MS" panose="020B0603020202020204"/>
                <a:cs typeface="Trebuchet MS" panose="020B0603020202020204"/>
              </a:rPr>
              <a:t>dist[1]+1&lt;dist[2]</a:t>
            </a:r>
            <a:r>
              <a:rPr sz="1800" dirty="0">
                <a:solidFill>
                  <a:srgbClr val="404040"/>
                </a:solidFill>
                <a:latin typeface="宋体" panose="02010600030101010101" pitchFamily="2" charset="-122"/>
                <a:cs typeface="宋体" panose="02010600030101010101" pitchFamily="2" charset="-122"/>
              </a:rPr>
              <a:t>所以</a:t>
            </a:r>
            <a:r>
              <a:rPr sz="1800" spc="-5" dirty="0">
                <a:solidFill>
                  <a:srgbClr val="404040"/>
                </a:solidFill>
                <a:latin typeface="Trebuchet MS" panose="020B0603020202020204"/>
                <a:cs typeface="Trebuchet MS" panose="020B0603020202020204"/>
              </a:rPr>
              <a:t>dist[2]=dist[1]+1</a:t>
            </a:r>
            <a:r>
              <a:rPr sz="1800" spc="-5" dirty="0">
                <a:solidFill>
                  <a:srgbClr val="404040"/>
                </a:solidFill>
                <a:latin typeface="宋体" panose="02010600030101010101" pitchFamily="2" charset="-122"/>
                <a:cs typeface="宋体" panose="02010600030101010101" pitchFamily="2" charset="-122"/>
              </a:rPr>
              <a:t>，</a:t>
            </a:r>
            <a:r>
              <a:rPr sz="1800" spc="-5" dirty="0">
                <a:solidFill>
                  <a:srgbClr val="404040"/>
                </a:solidFill>
                <a:latin typeface="Trebuchet MS" panose="020B0603020202020204"/>
                <a:cs typeface="Trebuchet MS" panose="020B0603020202020204"/>
              </a:rPr>
              <a:t>2</a:t>
            </a:r>
            <a:r>
              <a:rPr sz="1800" dirty="0">
                <a:solidFill>
                  <a:srgbClr val="404040"/>
                </a:solidFill>
                <a:latin typeface="宋体" panose="02010600030101010101" pitchFamily="2" charset="-122"/>
                <a:cs typeface="宋体" panose="02010600030101010101" pitchFamily="2" charset="-122"/>
              </a:rPr>
              <a:t>加入队列 </a:t>
            </a:r>
            <a:r>
              <a:rPr sz="1800" spc="-5" dirty="0">
                <a:solidFill>
                  <a:srgbClr val="404040"/>
                </a:solidFill>
                <a:latin typeface="Trebuchet MS" panose="020B0603020202020204"/>
                <a:cs typeface="Trebuchet MS" panose="020B0603020202020204"/>
              </a:rPr>
              <a:t>dist[1]+3&lt;dist[3]</a:t>
            </a:r>
            <a:r>
              <a:rPr sz="1800" dirty="0">
                <a:solidFill>
                  <a:srgbClr val="404040"/>
                </a:solidFill>
                <a:latin typeface="宋体" panose="02010600030101010101" pitchFamily="2" charset="-122"/>
                <a:cs typeface="宋体" panose="02010600030101010101" pitchFamily="2" charset="-122"/>
              </a:rPr>
              <a:t>所以</a:t>
            </a:r>
            <a:r>
              <a:rPr sz="1800" spc="-5" dirty="0">
                <a:solidFill>
                  <a:srgbClr val="404040"/>
                </a:solidFill>
                <a:latin typeface="Trebuchet MS" panose="020B0603020202020204"/>
                <a:cs typeface="Trebuchet MS" panose="020B0603020202020204"/>
              </a:rPr>
              <a:t>dist[3]=dist[1]+3</a:t>
            </a:r>
            <a:r>
              <a:rPr sz="1800" spc="-5" dirty="0">
                <a:solidFill>
                  <a:srgbClr val="404040"/>
                </a:solidFill>
                <a:latin typeface="宋体" panose="02010600030101010101" pitchFamily="2" charset="-122"/>
                <a:cs typeface="宋体" panose="02010600030101010101" pitchFamily="2" charset="-122"/>
              </a:rPr>
              <a:t>，</a:t>
            </a:r>
            <a:r>
              <a:rPr sz="1800" spc="-5" dirty="0">
                <a:solidFill>
                  <a:srgbClr val="404040"/>
                </a:solidFill>
                <a:latin typeface="Trebuchet MS" panose="020B0603020202020204"/>
                <a:cs typeface="Trebuchet MS" panose="020B0603020202020204"/>
              </a:rPr>
              <a:t>3</a:t>
            </a:r>
            <a:r>
              <a:rPr sz="1800" dirty="0">
                <a:solidFill>
                  <a:srgbClr val="404040"/>
                </a:solidFill>
                <a:latin typeface="宋体" panose="02010600030101010101" pitchFamily="2" charset="-122"/>
                <a:cs typeface="宋体" panose="02010600030101010101" pitchFamily="2" charset="-122"/>
              </a:rPr>
              <a:t>加入队列 </a:t>
            </a:r>
            <a:r>
              <a:rPr sz="1800" spc="-5" dirty="0">
                <a:solidFill>
                  <a:srgbClr val="404040"/>
                </a:solidFill>
                <a:latin typeface="Trebuchet MS" panose="020B0603020202020204"/>
                <a:cs typeface="Trebuchet MS" panose="020B0603020202020204"/>
              </a:rPr>
              <a:t>dist[1]+4&lt;dist[4]</a:t>
            </a:r>
            <a:r>
              <a:rPr sz="1800" dirty="0">
                <a:solidFill>
                  <a:srgbClr val="404040"/>
                </a:solidFill>
                <a:latin typeface="宋体" panose="02010600030101010101" pitchFamily="2" charset="-122"/>
                <a:cs typeface="宋体" panose="02010600030101010101" pitchFamily="2" charset="-122"/>
              </a:rPr>
              <a:t>所以</a:t>
            </a:r>
            <a:r>
              <a:rPr sz="1800" spc="-5" dirty="0">
                <a:solidFill>
                  <a:srgbClr val="404040"/>
                </a:solidFill>
                <a:latin typeface="Trebuchet MS" panose="020B0603020202020204"/>
                <a:cs typeface="Trebuchet MS" panose="020B0603020202020204"/>
              </a:rPr>
              <a:t>dist[4]=dist[1]+4</a:t>
            </a:r>
            <a:r>
              <a:rPr sz="1800" spc="-5" dirty="0">
                <a:solidFill>
                  <a:srgbClr val="404040"/>
                </a:solidFill>
                <a:latin typeface="宋体" panose="02010600030101010101" pitchFamily="2" charset="-122"/>
                <a:cs typeface="宋体" panose="02010600030101010101" pitchFamily="2" charset="-122"/>
              </a:rPr>
              <a:t>，</a:t>
            </a:r>
            <a:r>
              <a:rPr sz="1800" spc="-5" dirty="0">
                <a:solidFill>
                  <a:srgbClr val="404040"/>
                </a:solidFill>
                <a:latin typeface="Trebuchet MS" panose="020B0603020202020204"/>
                <a:cs typeface="Trebuchet MS" panose="020B0603020202020204"/>
              </a:rPr>
              <a:t>4</a:t>
            </a:r>
            <a:r>
              <a:rPr sz="1800" dirty="0">
                <a:solidFill>
                  <a:srgbClr val="404040"/>
                </a:solidFill>
                <a:latin typeface="宋体" panose="02010600030101010101" pitchFamily="2" charset="-122"/>
                <a:cs typeface="宋体" panose="02010600030101010101" pitchFamily="2" charset="-122"/>
              </a:rPr>
              <a:t>加入队列</a:t>
            </a:r>
            <a:endParaRPr sz="1800">
              <a:latin typeface="宋体" panose="02010600030101010101" pitchFamily="2" charset="-122"/>
              <a:cs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24204"/>
            <a:ext cx="1618615" cy="574040"/>
          </a:xfrm>
          <a:prstGeom prst="rect">
            <a:avLst/>
          </a:prstGeom>
        </p:spPr>
        <p:txBody>
          <a:bodyPr vert="horz" wrap="square" lIns="0" tIns="12700" rIns="0" bIns="0" rtlCol="0">
            <a:spAutoFit/>
          </a:bodyPr>
          <a:lstStyle/>
          <a:p>
            <a:pPr marL="12700">
              <a:lnSpc>
                <a:spcPct val="100000"/>
              </a:lnSpc>
              <a:spcBef>
                <a:spcPts val="100"/>
              </a:spcBef>
            </a:pPr>
            <a:r>
              <a:rPr dirty="0"/>
              <a:t>D</a:t>
            </a:r>
            <a:r>
              <a:rPr spc="-5" dirty="0"/>
              <a:t>ijkst</a:t>
            </a:r>
            <a:r>
              <a:rPr dirty="0"/>
              <a:t>ra</a:t>
            </a:r>
            <a:endParaRPr dirty="0"/>
          </a:p>
        </p:txBody>
      </p:sp>
      <p:graphicFrame>
        <p:nvGraphicFramePr>
          <p:cNvPr id="3" name="object 3"/>
          <p:cNvGraphicFramePr>
            <a:graphicFrameLocks noGrp="1"/>
          </p:cNvGraphicFramePr>
          <p:nvPr/>
        </p:nvGraphicFramePr>
        <p:xfrm>
          <a:off x="671347" y="1438249"/>
          <a:ext cx="8595993" cy="736599"/>
        </p:xfrm>
        <a:graphic>
          <a:graphicData uri="http://schemas.openxmlformats.org/drawingml/2006/table">
            <a:tbl>
              <a:tblPr firstRow="1" bandRow="1">
                <a:tableStyleId>{2D5ABB26-0587-4C30-8999-92F81FD0307C}</a:tableStyleId>
              </a:tblPr>
              <a:tblGrid>
                <a:gridCol w="1432560"/>
                <a:gridCol w="1432560"/>
                <a:gridCol w="1433195"/>
                <a:gridCol w="1432560"/>
                <a:gridCol w="1432559"/>
                <a:gridCol w="1432559"/>
              </a:tblGrid>
              <a:tr h="365760">
                <a:tc>
                  <a:txBody>
                    <a:bodyPr/>
                    <a:lstStyle/>
                    <a:p>
                      <a:pPr>
                        <a:lnSpc>
                          <a:spcPct val="100000"/>
                        </a:lnSpc>
                      </a:pPr>
                      <a:endParaRPr sz="18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r>
              <a:tr h="370839">
                <a:tc>
                  <a:txBody>
                    <a:bodyPr/>
                    <a:lstStyle/>
                    <a:p>
                      <a:pPr marL="90805">
                        <a:lnSpc>
                          <a:spcPct val="100000"/>
                        </a:lnSpc>
                        <a:spcBef>
                          <a:spcPts val="290"/>
                        </a:spcBef>
                      </a:pPr>
                      <a:r>
                        <a:rPr sz="1800" dirty="0">
                          <a:latin typeface="Trebuchet MS" panose="020B0603020202020204"/>
                          <a:cs typeface="Trebuchet MS" panose="020B0603020202020204"/>
                        </a:rPr>
                        <a:t>dist</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0</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inf</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r>
            </a:tbl>
          </a:graphicData>
        </a:graphic>
      </p:graphicFrame>
      <p:pic>
        <p:nvPicPr>
          <p:cNvPr id="4" name="object 4"/>
          <p:cNvPicPr/>
          <p:nvPr/>
        </p:nvPicPr>
        <p:blipFill>
          <a:blip r:embed="rId1" cstate="print"/>
          <a:stretch>
            <a:fillRect/>
          </a:stretch>
        </p:blipFill>
        <p:spPr>
          <a:xfrm>
            <a:off x="961605" y="3129952"/>
            <a:ext cx="2621536" cy="2564023"/>
          </a:xfrm>
          <a:prstGeom prst="rect">
            <a:avLst/>
          </a:prstGeom>
        </p:spPr>
      </p:pic>
      <p:sp>
        <p:nvSpPr>
          <p:cNvPr id="5" name="object 5"/>
          <p:cNvSpPr txBox="1"/>
          <p:nvPr/>
        </p:nvSpPr>
        <p:spPr>
          <a:xfrm>
            <a:off x="4067555" y="3015995"/>
            <a:ext cx="5206365" cy="413384"/>
          </a:xfrm>
          <a:prstGeom prst="rect">
            <a:avLst/>
          </a:prstGeom>
          <a:solidFill>
            <a:srgbClr val="DBF4C9"/>
          </a:solidFill>
        </p:spPr>
        <p:txBody>
          <a:bodyPr vert="horz" wrap="square" lIns="0" tIns="31115" rIns="0" bIns="0" rtlCol="0">
            <a:spAutoFit/>
          </a:bodyPr>
          <a:lstStyle/>
          <a:p>
            <a:pPr marL="91440">
              <a:lnSpc>
                <a:spcPct val="100000"/>
              </a:lnSpc>
              <a:spcBef>
                <a:spcPts val="245"/>
              </a:spcBef>
            </a:pPr>
            <a:r>
              <a:rPr sz="1800" dirty="0">
                <a:solidFill>
                  <a:srgbClr val="404040"/>
                </a:solidFill>
                <a:latin typeface="宋体" panose="02010600030101010101" pitchFamily="2" charset="-122"/>
                <a:cs typeface="宋体" panose="02010600030101010101" pitchFamily="2" charset="-122"/>
              </a:rPr>
              <a:t>此时的优先队列</a:t>
            </a:r>
            <a:r>
              <a:rPr sz="1800" spc="-5" dirty="0">
                <a:solidFill>
                  <a:srgbClr val="404040"/>
                </a:solidFill>
                <a:latin typeface="Trebuchet MS" panose="020B0603020202020204"/>
                <a:cs typeface="Trebuchet MS" panose="020B0603020202020204"/>
              </a:rPr>
              <a:t>:[1,2]</a:t>
            </a:r>
            <a:r>
              <a:rPr sz="1800" spc="-35" dirty="0">
                <a:solidFill>
                  <a:srgbClr val="404040"/>
                </a:solidFill>
                <a:latin typeface="Trebuchet MS" panose="020B0603020202020204"/>
                <a:cs typeface="Trebuchet MS" panose="020B0603020202020204"/>
              </a:rPr>
              <a:t> </a:t>
            </a:r>
            <a:r>
              <a:rPr sz="1800" spc="-5" dirty="0">
                <a:solidFill>
                  <a:srgbClr val="404040"/>
                </a:solidFill>
                <a:latin typeface="Trebuchet MS" panose="020B0603020202020204"/>
                <a:cs typeface="Trebuchet MS" panose="020B0603020202020204"/>
              </a:rPr>
              <a:t>[3,3]</a:t>
            </a:r>
            <a:r>
              <a:rPr sz="1800" spc="-30" dirty="0">
                <a:solidFill>
                  <a:srgbClr val="404040"/>
                </a:solidFill>
                <a:latin typeface="Trebuchet MS" panose="020B0603020202020204"/>
                <a:cs typeface="Trebuchet MS" panose="020B0603020202020204"/>
              </a:rPr>
              <a:t> </a:t>
            </a:r>
            <a:r>
              <a:rPr sz="1800" spc="-5" dirty="0">
                <a:solidFill>
                  <a:srgbClr val="404040"/>
                </a:solidFill>
                <a:latin typeface="Trebuchet MS" panose="020B0603020202020204"/>
                <a:cs typeface="Trebuchet MS" panose="020B0603020202020204"/>
              </a:rPr>
              <a:t>[4,4]</a:t>
            </a:r>
            <a:endParaRPr sz="1800">
              <a:latin typeface="Trebuchet MS" panose="020B0603020202020204"/>
              <a:cs typeface="Trebuchet MS" panose="020B0603020202020204"/>
            </a:endParaRPr>
          </a:p>
        </p:txBody>
      </p:sp>
      <p:sp>
        <p:nvSpPr>
          <p:cNvPr id="6" name="object 6"/>
          <p:cNvSpPr txBox="1"/>
          <p:nvPr/>
        </p:nvSpPr>
        <p:spPr>
          <a:xfrm>
            <a:off x="4146435" y="3651897"/>
            <a:ext cx="5153025" cy="19253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404040"/>
                </a:solidFill>
                <a:latin typeface="宋体" panose="02010600030101010101" pitchFamily="2" charset="-122"/>
                <a:cs typeface="宋体" panose="02010600030101010101" pitchFamily="2" charset="-122"/>
              </a:rPr>
              <a:t>由于</a:t>
            </a:r>
            <a:r>
              <a:rPr sz="1800" dirty="0">
                <a:solidFill>
                  <a:srgbClr val="404040"/>
                </a:solidFill>
                <a:latin typeface="Trebuchet MS" panose="020B0603020202020204"/>
                <a:cs typeface="Trebuchet MS" panose="020B0603020202020204"/>
              </a:rPr>
              <a:t>dist</a:t>
            </a:r>
            <a:r>
              <a:rPr sz="1800" spc="-5" dirty="0">
                <a:solidFill>
                  <a:srgbClr val="404040"/>
                </a:solidFill>
                <a:latin typeface="Trebuchet MS" panose="020B0603020202020204"/>
                <a:cs typeface="Trebuchet MS" panose="020B0603020202020204"/>
              </a:rPr>
              <a:t>[</a:t>
            </a:r>
            <a:r>
              <a:rPr sz="1800" dirty="0">
                <a:solidFill>
                  <a:srgbClr val="404040"/>
                </a:solidFill>
                <a:latin typeface="Trebuchet MS" panose="020B0603020202020204"/>
                <a:cs typeface="Trebuchet MS" panose="020B0603020202020204"/>
              </a:rPr>
              <a:t>2</a:t>
            </a:r>
            <a:r>
              <a:rPr sz="1800" spc="-5" dirty="0">
                <a:solidFill>
                  <a:srgbClr val="404040"/>
                </a:solidFill>
                <a:latin typeface="Trebuchet MS" panose="020B0603020202020204"/>
                <a:cs typeface="Trebuchet MS" panose="020B0603020202020204"/>
              </a:rPr>
              <a:t>]</a:t>
            </a:r>
            <a:r>
              <a:rPr sz="1800" dirty="0">
                <a:solidFill>
                  <a:srgbClr val="404040"/>
                </a:solidFill>
                <a:latin typeface="宋体" panose="02010600030101010101" pitchFamily="2" charset="-122"/>
                <a:cs typeface="宋体" panose="02010600030101010101" pitchFamily="2" charset="-122"/>
              </a:rPr>
              <a:t>是此时最小的，可以说明</a:t>
            </a:r>
            <a:r>
              <a:rPr sz="1800" dirty="0">
                <a:solidFill>
                  <a:srgbClr val="404040"/>
                </a:solidFill>
                <a:latin typeface="Trebuchet MS" panose="020B0603020202020204"/>
                <a:cs typeface="Trebuchet MS" panose="020B0603020202020204"/>
              </a:rPr>
              <a:t>2</a:t>
            </a:r>
            <a:r>
              <a:rPr sz="1800" dirty="0">
                <a:solidFill>
                  <a:srgbClr val="404040"/>
                </a:solidFill>
                <a:latin typeface="宋体" panose="02010600030101010101" pitchFamily="2" charset="-122"/>
                <a:cs typeface="宋体" panose="02010600030101010101" pitchFamily="2" charset="-122"/>
              </a:rPr>
              <a:t>不会再被松弛</a:t>
            </a:r>
            <a:endParaRPr sz="1800">
              <a:latin typeface="宋体" panose="02010600030101010101" pitchFamily="2" charset="-122"/>
              <a:cs typeface="宋体" panose="02010600030101010101" pitchFamily="2" charset="-122"/>
            </a:endParaRPr>
          </a:p>
          <a:p>
            <a:pPr marL="12700" marR="90170">
              <a:lnSpc>
                <a:spcPct val="97000"/>
              </a:lnSpc>
              <a:spcBef>
                <a:spcPts val="70"/>
              </a:spcBef>
            </a:pPr>
            <a:r>
              <a:rPr sz="1800" dirty="0">
                <a:solidFill>
                  <a:srgbClr val="404040"/>
                </a:solidFill>
                <a:latin typeface="宋体" panose="02010600030101010101" pitchFamily="2" charset="-122"/>
                <a:cs typeface="宋体" panose="02010600030101010101" pitchFamily="2" charset="-122"/>
              </a:rPr>
              <a:t>（因为假设</a:t>
            </a:r>
            <a:r>
              <a:rPr sz="1800" dirty="0">
                <a:solidFill>
                  <a:srgbClr val="404040"/>
                </a:solidFill>
                <a:latin typeface="Trebuchet MS" panose="020B0603020202020204"/>
                <a:cs typeface="Trebuchet MS" panose="020B0603020202020204"/>
              </a:rPr>
              <a:t>2</a:t>
            </a:r>
            <a:r>
              <a:rPr sz="1800" dirty="0">
                <a:solidFill>
                  <a:srgbClr val="404040"/>
                </a:solidFill>
                <a:latin typeface="宋体" panose="02010600030101010101" pitchFamily="2" charset="-122"/>
                <a:cs typeface="宋体" panose="02010600030101010101" pitchFamily="2" charset="-122"/>
              </a:rPr>
              <a:t>还能被某个点</a:t>
            </a:r>
            <a:r>
              <a:rPr sz="1800" dirty="0">
                <a:solidFill>
                  <a:srgbClr val="404040"/>
                </a:solidFill>
                <a:latin typeface="Trebuchet MS" panose="020B0603020202020204"/>
                <a:cs typeface="Trebuchet MS" panose="020B0603020202020204"/>
              </a:rPr>
              <a:t>k</a:t>
            </a:r>
            <a:r>
              <a:rPr sz="1800" dirty="0">
                <a:solidFill>
                  <a:srgbClr val="404040"/>
                </a:solidFill>
                <a:latin typeface="宋体" panose="02010600030101010101" pitchFamily="2" charset="-122"/>
                <a:cs typeface="宋体" panose="02010600030101010101" pitchFamily="2" charset="-122"/>
              </a:rPr>
              <a:t>松弛，那么</a:t>
            </a:r>
            <a:r>
              <a:rPr sz="1800" dirty="0">
                <a:solidFill>
                  <a:srgbClr val="404040"/>
                </a:solidFill>
                <a:latin typeface="Trebuchet MS" panose="020B0603020202020204"/>
                <a:cs typeface="Trebuchet MS" panose="020B0603020202020204"/>
              </a:rPr>
              <a:t>k</a:t>
            </a:r>
            <a:r>
              <a:rPr sz="1800" dirty="0">
                <a:solidFill>
                  <a:srgbClr val="404040"/>
                </a:solidFill>
                <a:latin typeface="宋体" panose="02010600030101010101" pitchFamily="2" charset="-122"/>
                <a:cs typeface="宋体" panose="02010600030101010101" pitchFamily="2" charset="-122"/>
              </a:rPr>
              <a:t>肯定在</a:t>
            </a:r>
            <a:r>
              <a:rPr sz="1800" dirty="0">
                <a:solidFill>
                  <a:srgbClr val="404040"/>
                </a:solidFill>
                <a:latin typeface="Trebuchet MS" panose="020B0603020202020204"/>
                <a:cs typeface="Trebuchet MS" panose="020B0603020202020204"/>
              </a:rPr>
              <a:t>2</a:t>
            </a:r>
            <a:r>
              <a:rPr sz="1800" dirty="0">
                <a:solidFill>
                  <a:srgbClr val="404040"/>
                </a:solidFill>
                <a:latin typeface="宋体" panose="02010600030101010101" pitchFamily="2" charset="-122"/>
                <a:cs typeface="宋体" panose="02010600030101010101" pitchFamily="2" charset="-122"/>
              </a:rPr>
              <a:t>之 前就已经加入答案并且用来松弛</a:t>
            </a:r>
            <a:r>
              <a:rPr sz="1800" dirty="0">
                <a:solidFill>
                  <a:srgbClr val="404040"/>
                </a:solidFill>
                <a:latin typeface="Trebuchet MS" panose="020B0603020202020204"/>
                <a:cs typeface="Trebuchet MS" panose="020B0603020202020204"/>
              </a:rPr>
              <a:t>2</a:t>
            </a:r>
            <a:r>
              <a:rPr sz="1800" dirty="0">
                <a:solidFill>
                  <a:srgbClr val="404040"/>
                </a:solidFill>
                <a:latin typeface="宋体" panose="02010600030101010101" pitchFamily="2" charset="-122"/>
                <a:cs typeface="宋体" panose="02010600030101010101" pitchFamily="2" charset="-122"/>
              </a:rPr>
              <a:t>了，所以如果某 个点在优先队列队首，那么他一定无法再被松弛）</a:t>
            </a:r>
            <a:endParaRPr sz="1800">
              <a:latin typeface="宋体" panose="02010600030101010101" pitchFamily="2" charset="-122"/>
              <a:cs typeface="宋体" panose="02010600030101010101" pitchFamily="2" charset="-122"/>
            </a:endParaRPr>
          </a:p>
          <a:p>
            <a:pPr marL="12700" marR="36195">
              <a:lnSpc>
                <a:spcPct val="146000"/>
              </a:lnSpc>
              <a:spcBef>
                <a:spcPts val="140"/>
              </a:spcBef>
            </a:pPr>
            <a:r>
              <a:rPr sz="1800" spc="-5" dirty="0">
                <a:solidFill>
                  <a:srgbClr val="404040"/>
                </a:solidFill>
                <a:latin typeface="Trebuchet MS" panose="020B0603020202020204"/>
                <a:cs typeface="Trebuchet MS" panose="020B0603020202020204"/>
              </a:rPr>
              <a:t>dist[2]+1&lt;dist[3]</a:t>
            </a:r>
            <a:r>
              <a:rPr sz="1800" dirty="0">
                <a:solidFill>
                  <a:srgbClr val="404040"/>
                </a:solidFill>
                <a:latin typeface="宋体" panose="02010600030101010101" pitchFamily="2" charset="-122"/>
                <a:cs typeface="宋体" panose="02010600030101010101" pitchFamily="2" charset="-122"/>
              </a:rPr>
              <a:t>所以</a:t>
            </a:r>
            <a:r>
              <a:rPr sz="1800" spc="-5" dirty="0">
                <a:solidFill>
                  <a:srgbClr val="404040"/>
                </a:solidFill>
                <a:latin typeface="Trebuchet MS" panose="020B0603020202020204"/>
                <a:cs typeface="Trebuchet MS" panose="020B0603020202020204"/>
              </a:rPr>
              <a:t>dist[3]=dist[2]+1</a:t>
            </a:r>
            <a:r>
              <a:rPr sz="1800" spc="-5" dirty="0">
                <a:solidFill>
                  <a:srgbClr val="404040"/>
                </a:solidFill>
                <a:latin typeface="宋体" panose="02010600030101010101" pitchFamily="2" charset="-122"/>
                <a:cs typeface="宋体" panose="02010600030101010101" pitchFamily="2" charset="-122"/>
              </a:rPr>
              <a:t>，</a:t>
            </a:r>
            <a:r>
              <a:rPr sz="1800" spc="-5" dirty="0">
                <a:solidFill>
                  <a:srgbClr val="404040"/>
                </a:solidFill>
                <a:latin typeface="Trebuchet MS" panose="020B0603020202020204"/>
                <a:cs typeface="Trebuchet MS" panose="020B0603020202020204"/>
              </a:rPr>
              <a:t>3</a:t>
            </a:r>
            <a:r>
              <a:rPr sz="1800" dirty="0">
                <a:solidFill>
                  <a:srgbClr val="404040"/>
                </a:solidFill>
                <a:latin typeface="宋体" panose="02010600030101010101" pitchFamily="2" charset="-122"/>
                <a:cs typeface="宋体" panose="02010600030101010101" pitchFamily="2" charset="-122"/>
              </a:rPr>
              <a:t>加入队列 </a:t>
            </a:r>
            <a:r>
              <a:rPr sz="1800" spc="-5" dirty="0">
                <a:solidFill>
                  <a:srgbClr val="404040"/>
                </a:solidFill>
                <a:latin typeface="Trebuchet MS" panose="020B0603020202020204"/>
                <a:cs typeface="Trebuchet MS" panose="020B0603020202020204"/>
              </a:rPr>
              <a:t>dist[2]+6&lt;dist[5]</a:t>
            </a:r>
            <a:r>
              <a:rPr sz="1800" dirty="0">
                <a:solidFill>
                  <a:srgbClr val="404040"/>
                </a:solidFill>
                <a:latin typeface="宋体" panose="02010600030101010101" pitchFamily="2" charset="-122"/>
                <a:cs typeface="宋体" panose="02010600030101010101" pitchFamily="2" charset="-122"/>
              </a:rPr>
              <a:t>所以</a:t>
            </a:r>
            <a:r>
              <a:rPr sz="1800" spc="-5" dirty="0">
                <a:solidFill>
                  <a:srgbClr val="404040"/>
                </a:solidFill>
                <a:latin typeface="Trebuchet MS" panose="020B0603020202020204"/>
                <a:cs typeface="Trebuchet MS" panose="020B0603020202020204"/>
              </a:rPr>
              <a:t>dist[5]=dist[2]+6</a:t>
            </a:r>
            <a:r>
              <a:rPr sz="1800" spc="-5" dirty="0">
                <a:solidFill>
                  <a:srgbClr val="404040"/>
                </a:solidFill>
                <a:latin typeface="宋体" panose="02010600030101010101" pitchFamily="2" charset="-122"/>
                <a:cs typeface="宋体" panose="02010600030101010101" pitchFamily="2" charset="-122"/>
              </a:rPr>
              <a:t>，</a:t>
            </a:r>
            <a:r>
              <a:rPr sz="1800" spc="-5" dirty="0">
                <a:solidFill>
                  <a:srgbClr val="404040"/>
                </a:solidFill>
                <a:latin typeface="Trebuchet MS" panose="020B0603020202020204"/>
                <a:cs typeface="Trebuchet MS" panose="020B0603020202020204"/>
              </a:rPr>
              <a:t>5</a:t>
            </a:r>
            <a:r>
              <a:rPr sz="1800" dirty="0">
                <a:solidFill>
                  <a:srgbClr val="404040"/>
                </a:solidFill>
                <a:latin typeface="宋体" panose="02010600030101010101" pitchFamily="2" charset="-122"/>
                <a:cs typeface="宋体" panose="02010600030101010101" pitchFamily="2" charset="-122"/>
              </a:rPr>
              <a:t>加入队列</a:t>
            </a:r>
            <a:endParaRPr sz="1800">
              <a:latin typeface="宋体" panose="02010600030101010101" pitchFamily="2" charset="-122"/>
              <a:cs typeface="宋体" panose="0201060003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24204"/>
            <a:ext cx="1618615" cy="574040"/>
          </a:xfrm>
          <a:prstGeom prst="rect">
            <a:avLst/>
          </a:prstGeom>
        </p:spPr>
        <p:txBody>
          <a:bodyPr vert="horz" wrap="square" lIns="0" tIns="12700" rIns="0" bIns="0" rtlCol="0">
            <a:spAutoFit/>
          </a:bodyPr>
          <a:lstStyle/>
          <a:p>
            <a:pPr marL="12700">
              <a:lnSpc>
                <a:spcPct val="100000"/>
              </a:lnSpc>
              <a:spcBef>
                <a:spcPts val="100"/>
              </a:spcBef>
            </a:pPr>
            <a:r>
              <a:rPr dirty="0"/>
              <a:t>D</a:t>
            </a:r>
            <a:r>
              <a:rPr spc="-5" dirty="0"/>
              <a:t>ijkst</a:t>
            </a:r>
            <a:r>
              <a:rPr dirty="0"/>
              <a:t>ra</a:t>
            </a:r>
            <a:endParaRPr dirty="0"/>
          </a:p>
        </p:txBody>
      </p:sp>
      <p:graphicFrame>
        <p:nvGraphicFramePr>
          <p:cNvPr id="3" name="object 3"/>
          <p:cNvGraphicFramePr>
            <a:graphicFrameLocks noGrp="1"/>
          </p:cNvGraphicFramePr>
          <p:nvPr/>
        </p:nvGraphicFramePr>
        <p:xfrm>
          <a:off x="671347" y="1438249"/>
          <a:ext cx="8595993" cy="736599"/>
        </p:xfrm>
        <a:graphic>
          <a:graphicData uri="http://schemas.openxmlformats.org/drawingml/2006/table">
            <a:tbl>
              <a:tblPr firstRow="1" bandRow="1">
                <a:tableStyleId>{2D5ABB26-0587-4C30-8999-92F81FD0307C}</a:tableStyleId>
              </a:tblPr>
              <a:tblGrid>
                <a:gridCol w="1432560"/>
                <a:gridCol w="1432560"/>
                <a:gridCol w="1433195"/>
                <a:gridCol w="1432560"/>
                <a:gridCol w="1432559"/>
                <a:gridCol w="1432559"/>
              </a:tblGrid>
              <a:tr h="365760">
                <a:tc>
                  <a:txBody>
                    <a:bodyPr/>
                    <a:lstStyle/>
                    <a:p>
                      <a:pPr>
                        <a:lnSpc>
                          <a:spcPct val="100000"/>
                        </a:lnSpc>
                      </a:pPr>
                      <a:endParaRPr sz="19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r>
              <a:tr h="370839">
                <a:tc>
                  <a:txBody>
                    <a:bodyPr/>
                    <a:lstStyle/>
                    <a:p>
                      <a:pPr marL="90805">
                        <a:lnSpc>
                          <a:spcPct val="100000"/>
                        </a:lnSpc>
                        <a:spcBef>
                          <a:spcPts val="290"/>
                        </a:spcBef>
                      </a:pPr>
                      <a:r>
                        <a:rPr sz="1800" dirty="0">
                          <a:latin typeface="Trebuchet MS" panose="020B0603020202020204"/>
                          <a:cs typeface="Trebuchet MS" panose="020B0603020202020204"/>
                        </a:rPr>
                        <a:t>dist</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0</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7</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r>
            </a:tbl>
          </a:graphicData>
        </a:graphic>
      </p:graphicFrame>
      <p:pic>
        <p:nvPicPr>
          <p:cNvPr id="4" name="object 4"/>
          <p:cNvPicPr/>
          <p:nvPr/>
        </p:nvPicPr>
        <p:blipFill>
          <a:blip r:embed="rId1" cstate="print"/>
          <a:stretch>
            <a:fillRect/>
          </a:stretch>
        </p:blipFill>
        <p:spPr>
          <a:xfrm>
            <a:off x="961605" y="3129952"/>
            <a:ext cx="2621536" cy="2564023"/>
          </a:xfrm>
          <a:prstGeom prst="rect">
            <a:avLst/>
          </a:prstGeom>
        </p:spPr>
      </p:pic>
      <p:sp>
        <p:nvSpPr>
          <p:cNvPr id="5" name="object 5"/>
          <p:cNvSpPr txBox="1"/>
          <p:nvPr/>
        </p:nvSpPr>
        <p:spPr>
          <a:xfrm>
            <a:off x="4067555" y="3015995"/>
            <a:ext cx="5206365" cy="413384"/>
          </a:xfrm>
          <a:prstGeom prst="rect">
            <a:avLst/>
          </a:prstGeom>
          <a:solidFill>
            <a:srgbClr val="DBF4C9"/>
          </a:solidFill>
        </p:spPr>
        <p:txBody>
          <a:bodyPr vert="horz" wrap="square" lIns="0" tIns="31115" rIns="0" bIns="0" rtlCol="0">
            <a:spAutoFit/>
          </a:bodyPr>
          <a:lstStyle/>
          <a:p>
            <a:pPr marL="91440">
              <a:lnSpc>
                <a:spcPct val="100000"/>
              </a:lnSpc>
              <a:spcBef>
                <a:spcPts val="245"/>
              </a:spcBef>
            </a:pPr>
            <a:r>
              <a:rPr sz="1800" dirty="0">
                <a:solidFill>
                  <a:srgbClr val="404040"/>
                </a:solidFill>
                <a:latin typeface="宋体" panose="02010600030101010101" pitchFamily="2" charset="-122"/>
                <a:cs typeface="宋体" panose="02010600030101010101" pitchFamily="2" charset="-122"/>
              </a:rPr>
              <a:t>此时的优先队列</a:t>
            </a:r>
            <a:r>
              <a:rPr sz="1800" spc="-5" dirty="0">
                <a:solidFill>
                  <a:srgbClr val="404040"/>
                </a:solidFill>
                <a:latin typeface="Trebuchet MS" panose="020B0603020202020204"/>
                <a:cs typeface="Trebuchet MS" panose="020B0603020202020204"/>
              </a:rPr>
              <a:t>:[2,3]</a:t>
            </a:r>
            <a:r>
              <a:rPr sz="1800" spc="-20" dirty="0">
                <a:solidFill>
                  <a:srgbClr val="404040"/>
                </a:solidFill>
                <a:latin typeface="Trebuchet MS" panose="020B0603020202020204"/>
                <a:cs typeface="Trebuchet MS" panose="020B0603020202020204"/>
              </a:rPr>
              <a:t> </a:t>
            </a:r>
            <a:r>
              <a:rPr sz="1800" spc="-5" dirty="0">
                <a:solidFill>
                  <a:srgbClr val="404040"/>
                </a:solidFill>
                <a:latin typeface="Trebuchet MS" panose="020B0603020202020204"/>
                <a:cs typeface="Trebuchet MS" panose="020B0603020202020204"/>
              </a:rPr>
              <a:t>[3,3]</a:t>
            </a:r>
            <a:r>
              <a:rPr sz="1800" spc="-20" dirty="0">
                <a:solidFill>
                  <a:srgbClr val="404040"/>
                </a:solidFill>
                <a:latin typeface="Trebuchet MS" panose="020B0603020202020204"/>
                <a:cs typeface="Trebuchet MS" panose="020B0603020202020204"/>
              </a:rPr>
              <a:t> </a:t>
            </a:r>
            <a:r>
              <a:rPr sz="1800" spc="-5" dirty="0">
                <a:solidFill>
                  <a:srgbClr val="404040"/>
                </a:solidFill>
                <a:latin typeface="Trebuchet MS" panose="020B0603020202020204"/>
                <a:cs typeface="Trebuchet MS" panose="020B0603020202020204"/>
              </a:rPr>
              <a:t>[4,4]</a:t>
            </a:r>
            <a:r>
              <a:rPr sz="1800" spc="-15" dirty="0">
                <a:solidFill>
                  <a:srgbClr val="404040"/>
                </a:solidFill>
                <a:latin typeface="Trebuchet MS" panose="020B0603020202020204"/>
                <a:cs typeface="Trebuchet MS" panose="020B0603020202020204"/>
              </a:rPr>
              <a:t> </a:t>
            </a:r>
            <a:r>
              <a:rPr sz="1800" spc="-5" dirty="0">
                <a:solidFill>
                  <a:srgbClr val="404040"/>
                </a:solidFill>
                <a:latin typeface="Trebuchet MS" panose="020B0603020202020204"/>
                <a:cs typeface="Trebuchet MS" panose="020B0603020202020204"/>
              </a:rPr>
              <a:t>[7,5]</a:t>
            </a:r>
            <a:endParaRPr sz="1800">
              <a:latin typeface="Trebuchet MS" panose="020B0603020202020204"/>
              <a:cs typeface="Trebuchet MS" panose="020B0603020202020204"/>
            </a:endParaRPr>
          </a:p>
        </p:txBody>
      </p:sp>
      <p:sp>
        <p:nvSpPr>
          <p:cNvPr id="6" name="object 6"/>
          <p:cNvSpPr txBox="1"/>
          <p:nvPr/>
        </p:nvSpPr>
        <p:spPr>
          <a:xfrm>
            <a:off x="4146435" y="3651897"/>
            <a:ext cx="5153025" cy="97536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404040"/>
                </a:solidFill>
                <a:latin typeface="宋体" panose="02010600030101010101" pitchFamily="2" charset="-122"/>
                <a:cs typeface="宋体" panose="02010600030101010101" pitchFamily="2" charset="-122"/>
              </a:rPr>
              <a:t>现在优先队列队首是</a:t>
            </a:r>
            <a:r>
              <a:rPr sz="1800" dirty="0">
                <a:solidFill>
                  <a:srgbClr val="404040"/>
                </a:solidFill>
                <a:latin typeface="Trebuchet MS" panose="020B0603020202020204"/>
                <a:cs typeface="Trebuchet MS" panose="020B0603020202020204"/>
              </a:rPr>
              <a:t>3</a:t>
            </a:r>
            <a:r>
              <a:rPr sz="1800" dirty="0">
                <a:solidFill>
                  <a:srgbClr val="404040"/>
                </a:solidFill>
                <a:latin typeface="宋体" panose="02010600030101010101" pitchFamily="2" charset="-122"/>
                <a:cs typeface="宋体" panose="02010600030101010101" pitchFamily="2" charset="-122"/>
              </a:rPr>
              <a:t>，说明</a:t>
            </a:r>
            <a:r>
              <a:rPr sz="1800" dirty="0">
                <a:solidFill>
                  <a:srgbClr val="404040"/>
                </a:solidFill>
                <a:latin typeface="Trebuchet MS" panose="020B0603020202020204"/>
                <a:cs typeface="Trebuchet MS" panose="020B0603020202020204"/>
              </a:rPr>
              <a:t>dist</a:t>
            </a:r>
            <a:r>
              <a:rPr sz="1800" spc="-5" dirty="0">
                <a:solidFill>
                  <a:srgbClr val="404040"/>
                </a:solidFill>
                <a:latin typeface="Trebuchet MS" panose="020B0603020202020204"/>
                <a:cs typeface="Trebuchet MS" panose="020B0603020202020204"/>
              </a:rPr>
              <a:t>[</a:t>
            </a:r>
            <a:r>
              <a:rPr sz="1800" dirty="0">
                <a:solidFill>
                  <a:srgbClr val="404040"/>
                </a:solidFill>
                <a:latin typeface="Trebuchet MS" panose="020B0603020202020204"/>
                <a:cs typeface="Trebuchet MS" panose="020B0603020202020204"/>
              </a:rPr>
              <a:t>3</a:t>
            </a:r>
            <a:r>
              <a:rPr sz="1800" spc="-5" dirty="0">
                <a:solidFill>
                  <a:srgbClr val="404040"/>
                </a:solidFill>
                <a:latin typeface="Trebuchet MS" panose="020B0603020202020204"/>
                <a:cs typeface="Trebuchet MS" panose="020B0603020202020204"/>
              </a:rPr>
              <a:t>]</a:t>
            </a:r>
            <a:r>
              <a:rPr sz="1800" dirty="0">
                <a:solidFill>
                  <a:srgbClr val="404040"/>
                </a:solidFill>
                <a:latin typeface="宋体" panose="02010600030101010101" pitchFamily="2" charset="-122"/>
                <a:cs typeface="宋体" panose="02010600030101010101" pitchFamily="2" charset="-122"/>
              </a:rPr>
              <a:t>是此时最小的， 用</a:t>
            </a:r>
            <a:r>
              <a:rPr sz="1800" dirty="0">
                <a:solidFill>
                  <a:srgbClr val="404040"/>
                </a:solidFill>
                <a:latin typeface="Trebuchet MS" panose="020B0603020202020204"/>
                <a:cs typeface="Trebuchet MS" panose="020B0603020202020204"/>
              </a:rPr>
              <a:t>3</a:t>
            </a:r>
            <a:r>
              <a:rPr sz="1800" dirty="0">
                <a:solidFill>
                  <a:srgbClr val="404040"/>
                </a:solidFill>
                <a:latin typeface="宋体" panose="02010600030101010101" pitchFamily="2" charset="-122"/>
                <a:cs typeface="宋体" panose="02010600030101010101" pitchFamily="2" charset="-122"/>
              </a:rPr>
              <a:t>来松弛其他点</a:t>
            </a:r>
            <a:endParaRPr sz="1800">
              <a:latin typeface="宋体" panose="02010600030101010101" pitchFamily="2" charset="-122"/>
              <a:cs typeface="宋体" panose="02010600030101010101" pitchFamily="2" charset="-122"/>
            </a:endParaRPr>
          </a:p>
          <a:p>
            <a:pPr marL="12700">
              <a:lnSpc>
                <a:spcPct val="100000"/>
              </a:lnSpc>
              <a:spcBef>
                <a:spcPts val="1000"/>
              </a:spcBef>
            </a:pPr>
            <a:r>
              <a:rPr sz="1800" spc="-5" dirty="0">
                <a:solidFill>
                  <a:srgbClr val="404040"/>
                </a:solidFill>
                <a:latin typeface="Trebuchet MS" panose="020B0603020202020204"/>
                <a:cs typeface="Trebuchet MS" panose="020B0603020202020204"/>
              </a:rPr>
              <a:t>dist[3]+4&lt;dist[5]</a:t>
            </a:r>
            <a:r>
              <a:rPr sz="1800" dirty="0">
                <a:solidFill>
                  <a:srgbClr val="404040"/>
                </a:solidFill>
                <a:latin typeface="宋体" panose="02010600030101010101" pitchFamily="2" charset="-122"/>
                <a:cs typeface="宋体" panose="02010600030101010101" pitchFamily="2" charset="-122"/>
              </a:rPr>
              <a:t>所以</a:t>
            </a:r>
            <a:r>
              <a:rPr sz="1800" spc="-5" dirty="0">
                <a:solidFill>
                  <a:srgbClr val="404040"/>
                </a:solidFill>
                <a:latin typeface="Trebuchet MS" panose="020B0603020202020204"/>
                <a:cs typeface="Trebuchet MS" panose="020B0603020202020204"/>
              </a:rPr>
              <a:t>dist[5]=dist[3]+4</a:t>
            </a:r>
            <a:r>
              <a:rPr sz="1800" spc="-5" dirty="0">
                <a:solidFill>
                  <a:srgbClr val="404040"/>
                </a:solidFill>
                <a:latin typeface="宋体" panose="02010600030101010101" pitchFamily="2" charset="-122"/>
                <a:cs typeface="宋体" panose="02010600030101010101" pitchFamily="2" charset="-122"/>
              </a:rPr>
              <a:t>，</a:t>
            </a:r>
            <a:r>
              <a:rPr sz="1800" spc="-5" dirty="0">
                <a:solidFill>
                  <a:srgbClr val="404040"/>
                </a:solidFill>
                <a:latin typeface="Trebuchet MS" panose="020B0603020202020204"/>
                <a:cs typeface="Trebuchet MS" panose="020B0603020202020204"/>
              </a:rPr>
              <a:t>5</a:t>
            </a:r>
            <a:r>
              <a:rPr sz="1800" dirty="0">
                <a:solidFill>
                  <a:srgbClr val="404040"/>
                </a:solidFill>
                <a:latin typeface="宋体" panose="02010600030101010101" pitchFamily="2" charset="-122"/>
                <a:cs typeface="宋体" panose="02010600030101010101" pitchFamily="2" charset="-122"/>
              </a:rPr>
              <a:t>加入队列</a:t>
            </a:r>
            <a:endParaRPr sz="1800">
              <a:latin typeface="宋体" panose="02010600030101010101" pitchFamily="2" charset="-122"/>
              <a:cs typeface="宋体" panose="02010600030101010101" pitchFamily="2"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24204"/>
            <a:ext cx="1618615" cy="574040"/>
          </a:xfrm>
          <a:prstGeom prst="rect">
            <a:avLst/>
          </a:prstGeom>
        </p:spPr>
        <p:txBody>
          <a:bodyPr vert="horz" wrap="square" lIns="0" tIns="12700" rIns="0" bIns="0" rtlCol="0">
            <a:spAutoFit/>
          </a:bodyPr>
          <a:lstStyle/>
          <a:p>
            <a:pPr marL="12700">
              <a:lnSpc>
                <a:spcPct val="100000"/>
              </a:lnSpc>
              <a:spcBef>
                <a:spcPts val="100"/>
              </a:spcBef>
            </a:pPr>
            <a:r>
              <a:rPr dirty="0"/>
              <a:t>D</a:t>
            </a:r>
            <a:r>
              <a:rPr spc="-5" dirty="0"/>
              <a:t>ijkst</a:t>
            </a:r>
            <a:r>
              <a:rPr dirty="0"/>
              <a:t>ra</a:t>
            </a:r>
            <a:endParaRPr dirty="0"/>
          </a:p>
        </p:txBody>
      </p:sp>
      <p:graphicFrame>
        <p:nvGraphicFramePr>
          <p:cNvPr id="3" name="object 3"/>
          <p:cNvGraphicFramePr>
            <a:graphicFrameLocks noGrp="1"/>
          </p:cNvGraphicFramePr>
          <p:nvPr/>
        </p:nvGraphicFramePr>
        <p:xfrm>
          <a:off x="671347" y="1438249"/>
          <a:ext cx="8595993" cy="736599"/>
        </p:xfrm>
        <a:graphic>
          <a:graphicData uri="http://schemas.openxmlformats.org/drawingml/2006/table">
            <a:tbl>
              <a:tblPr firstRow="1" bandRow="1">
                <a:tableStyleId>{2D5ABB26-0587-4C30-8999-92F81FD0307C}</a:tableStyleId>
              </a:tblPr>
              <a:tblGrid>
                <a:gridCol w="1432560"/>
                <a:gridCol w="1432560"/>
                <a:gridCol w="1433195"/>
                <a:gridCol w="1432560"/>
                <a:gridCol w="1432559"/>
                <a:gridCol w="1432559"/>
              </a:tblGrid>
              <a:tr h="365760">
                <a:tc>
                  <a:txBody>
                    <a:bodyPr/>
                    <a:lstStyle/>
                    <a:p>
                      <a:pPr>
                        <a:lnSpc>
                          <a:spcPct val="100000"/>
                        </a:lnSpc>
                      </a:pPr>
                      <a:endParaRPr sz="19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r>
              <a:tr h="370839">
                <a:tc>
                  <a:txBody>
                    <a:bodyPr/>
                    <a:lstStyle/>
                    <a:p>
                      <a:pPr marL="90805">
                        <a:lnSpc>
                          <a:spcPct val="100000"/>
                        </a:lnSpc>
                        <a:spcBef>
                          <a:spcPts val="290"/>
                        </a:spcBef>
                      </a:pPr>
                      <a:r>
                        <a:rPr sz="1800" dirty="0">
                          <a:latin typeface="Trebuchet MS" panose="020B0603020202020204"/>
                          <a:cs typeface="Trebuchet MS" panose="020B0603020202020204"/>
                        </a:rPr>
                        <a:t>dist</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0</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6</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r>
            </a:tbl>
          </a:graphicData>
        </a:graphic>
      </p:graphicFrame>
      <p:pic>
        <p:nvPicPr>
          <p:cNvPr id="4" name="object 4"/>
          <p:cNvPicPr/>
          <p:nvPr/>
        </p:nvPicPr>
        <p:blipFill>
          <a:blip r:embed="rId1" cstate="print"/>
          <a:stretch>
            <a:fillRect/>
          </a:stretch>
        </p:blipFill>
        <p:spPr>
          <a:xfrm>
            <a:off x="961605" y="3129952"/>
            <a:ext cx="2621536" cy="2564023"/>
          </a:xfrm>
          <a:prstGeom prst="rect">
            <a:avLst/>
          </a:prstGeom>
        </p:spPr>
      </p:pic>
      <p:sp>
        <p:nvSpPr>
          <p:cNvPr id="5" name="object 5"/>
          <p:cNvSpPr txBox="1"/>
          <p:nvPr/>
        </p:nvSpPr>
        <p:spPr>
          <a:xfrm>
            <a:off x="4067555" y="3015995"/>
            <a:ext cx="5206365" cy="413384"/>
          </a:xfrm>
          <a:prstGeom prst="rect">
            <a:avLst/>
          </a:prstGeom>
          <a:solidFill>
            <a:srgbClr val="DBF4C9"/>
          </a:solidFill>
        </p:spPr>
        <p:txBody>
          <a:bodyPr vert="horz" wrap="square" lIns="0" tIns="31115" rIns="0" bIns="0" rtlCol="0">
            <a:spAutoFit/>
          </a:bodyPr>
          <a:lstStyle/>
          <a:p>
            <a:pPr marL="91440">
              <a:lnSpc>
                <a:spcPct val="100000"/>
              </a:lnSpc>
              <a:spcBef>
                <a:spcPts val="245"/>
              </a:spcBef>
            </a:pPr>
            <a:r>
              <a:rPr sz="1800" dirty="0">
                <a:solidFill>
                  <a:srgbClr val="404040"/>
                </a:solidFill>
                <a:latin typeface="宋体" panose="02010600030101010101" pitchFamily="2" charset="-122"/>
                <a:cs typeface="宋体" panose="02010600030101010101" pitchFamily="2" charset="-122"/>
              </a:rPr>
              <a:t>此时的优先队列</a:t>
            </a:r>
            <a:r>
              <a:rPr sz="1800" spc="-5" dirty="0">
                <a:solidFill>
                  <a:srgbClr val="404040"/>
                </a:solidFill>
                <a:latin typeface="Trebuchet MS" panose="020B0603020202020204"/>
                <a:cs typeface="Trebuchet MS" panose="020B0603020202020204"/>
              </a:rPr>
              <a:t>:[3,3]</a:t>
            </a:r>
            <a:r>
              <a:rPr sz="1800" spc="-20" dirty="0">
                <a:solidFill>
                  <a:srgbClr val="404040"/>
                </a:solidFill>
                <a:latin typeface="Trebuchet MS" panose="020B0603020202020204"/>
                <a:cs typeface="Trebuchet MS" panose="020B0603020202020204"/>
              </a:rPr>
              <a:t> </a:t>
            </a:r>
            <a:r>
              <a:rPr sz="1800" spc="-5" dirty="0">
                <a:solidFill>
                  <a:srgbClr val="404040"/>
                </a:solidFill>
                <a:latin typeface="Trebuchet MS" panose="020B0603020202020204"/>
                <a:cs typeface="Trebuchet MS" panose="020B0603020202020204"/>
              </a:rPr>
              <a:t>[4,4]</a:t>
            </a:r>
            <a:r>
              <a:rPr sz="1800" spc="-20" dirty="0">
                <a:solidFill>
                  <a:srgbClr val="404040"/>
                </a:solidFill>
                <a:latin typeface="Trebuchet MS" panose="020B0603020202020204"/>
                <a:cs typeface="Trebuchet MS" panose="020B0603020202020204"/>
              </a:rPr>
              <a:t> </a:t>
            </a:r>
            <a:r>
              <a:rPr sz="1800" spc="-5" dirty="0">
                <a:solidFill>
                  <a:srgbClr val="404040"/>
                </a:solidFill>
                <a:latin typeface="Trebuchet MS" panose="020B0603020202020204"/>
                <a:cs typeface="Trebuchet MS" panose="020B0603020202020204"/>
              </a:rPr>
              <a:t>[6,5]</a:t>
            </a:r>
            <a:r>
              <a:rPr sz="1800" spc="-15" dirty="0">
                <a:solidFill>
                  <a:srgbClr val="404040"/>
                </a:solidFill>
                <a:latin typeface="Trebuchet MS" panose="020B0603020202020204"/>
                <a:cs typeface="Trebuchet MS" panose="020B0603020202020204"/>
              </a:rPr>
              <a:t> </a:t>
            </a:r>
            <a:r>
              <a:rPr sz="1800" spc="-5" dirty="0">
                <a:solidFill>
                  <a:srgbClr val="404040"/>
                </a:solidFill>
                <a:latin typeface="Trebuchet MS" panose="020B0603020202020204"/>
                <a:cs typeface="Trebuchet MS" panose="020B0603020202020204"/>
              </a:rPr>
              <a:t>[7,5]</a:t>
            </a:r>
            <a:endParaRPr sz="1800">
              <a:latin typeface="Trebuchet MS" panose="020B0603020202020204"/>
              <a:cs typeface="Trebuchet MS" panose="020B0603020202020204"/>
            </a:endParaRPr>
          </a:p>
        </p:txBody>
      </p:sp>
      <p:sp>
        <p:nvSpPr>
          <p:cNvPr id="6" name="object 6"/>
          <p:cNvSpPr txBox="1"/>
          <p:nvPr/>
        </p:nvSpPr>
        <p:spPr>
          <a:xfrm>
            <a:off x="4146435" y="3651897"/>
            <a:ext cx="5055870" cy="112268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404040"/>
                </a:solidFill>
                <a:latin typeface="宋体" panose="02010600030101010101" pitchFamily="2" charset="-122"/>
                <a:cs typeface="宋体" panose="02010600030101010101" pitchFamily="2" charset="-122"/>
              </a:rPr>
              <a:t>现在队首还是</a:t>
            </a:r>
            <a:r>
              <a:rPr sz="1800" dirty="0">
                <a:solidFill>
                  <a:srgbClr val="404040"/>
                </a:solidFill>
                <a:latin typeface="Trebuchet MS" panose="020B0603020202020204"/>
                <a:cs typeface="Trebuchet MS" panose="020B0603020202020204"/>
              </a:rPr>
              <a:t>3</a:t>
            </a:r>
            <a:r>
              <a:rPr sz="1800" dirty="0">
                <a:solidFill>
                  <a:srgbClr val="404040"/>
                </a:solidFill>
                <a:latin typeface="宋体" panose="02010600030101010101" pitchFamily="2" charset="-122"/>
                <a:cs typeface="宋体" panose="02010600030101010101" pitchFamily="2" charset="-122"/>
              </a:rPr>
              <a:t>，但是</a:t>
            </a:r>
            <a:r>
              <a:rPr sz="1800" dirty="0">
                <a:solidFill>
                  <a:srgbClr val="404040"/>
                </a:solidFill>
                <a:latin typeface="Trebuchet MS" panose="020B0603020202020204"/>
                <a:cs typeface="Trebuchet MS" panose="020B0603020202020204"/>
              </a:rPr>
              <a:t>dist</a:t>
            </a:r>
            <a:r>
              <a:rPr sz="1800" spc="-5" dirty="0">
                <a:solidFill>
                  <a:srgbClr val="404040"/>
                </a:solidFill>
                <a:latin typeface="Trebuchet MS" panose="020B0603020202020204"/>
                <a:cs typeface="Trebuchet MS" panose="020B0603020202020204"/>
              </a:rPr>
              <a:t>[</a:t>
            </a:r>
            <a:r>
              <a:rPr sz="1800" dirty="0">
                <a:solidFill>
                  <a:srgbClr val="404040"/>
                </a:solidFill>
                <a:latin typeface="Trebuchet MS" panose="020B0603020202020204"/>
                <a:cs typeface="Trebuchet MS" panose="020B0603020202020204"/>
              </a:rPr>
              <a:t>3</a:t>
            </a:r>
            <a:r>
              <a:rPr sz="1800" spc="-5" dirty="0">
                <a:solidFill>
                  <a:srgbClr val="404040"/>
                </a:solidFill>
                <a:latin typeface="Trebuchet MS" panose="020B0603020202020204"/>
                <a:cs typeface="Trebuchet MS" panose="020B0603020202020204"/>
              </a:rPr>
              <a:t>]</a:t>
            </a:r>
            <a:r>
              <a:rPr sz="1800" dirty="0">
                <a:solidFill>
                  <a:srgbClr val="404040"/>
                </a:solidFill>
                <a:latin typeface="Trebuchet MS" panose="020B0603020202020204"/>
                <a:cs typeface="Trebuchet MS" panose="020B0603020202020204"/>
              </a:rPr>
              <a:t>=2</a:t>
            </a:r>
            <a:r>
              <a:rPr sz="1800" dirty="0">
                <a:solidFill>
                  <a:srgbClr val="404040"/>
                </a:solidFill>
                <a:latin typeface="宋体" panose="02010600030101010101" pitchFamily="2" charset="-122"/>
                <a:cs typeface="宋体" panose="02010600030101010101" pitchFamily="2" charset="-122"/>
              </a:rPr>
              <a:t>，队首的距离是</a:t>
            </a:r>
            <a:r>
              <a:rPr sz="1800" dirty="0">
                <a:solidFill>
                  <a:srgbClr val="404040"/>
                </a:solidFill>
                <a:latin typeface="Trebuchet MS" panose="020B0603020202020204"/>
                <a:cs typeface="Trebuchet MS" panose="020B0603020202020204"/>
              </a:rPr>
              <a:t>3</a:t>
            </a:r>
            <a:r>
              <a:rPr sz="1800" dirty="0">
                <a:solidFill>
                  <a:srgbClr val="404040"/>
                </a:solidFill>
                <a:latin typeface="宋体" panose="02010600030101010101" pitchFamily="2" charset="-122"/>
                <a:cs typeface="宋体" panose="02010600030101010101" pitchFamily="2" charset="-122"/>
              </a:rPr>
              <a:t>， 说明这个队首是之前某一次其他点对</a:t>
            </a:r>
            <a:r>
              <a:rPr sz="1800" dirty="0">
                <a:solidFill>
                  <a:srgbClr val="404040"/>
                </a:solidFill>
                <a:latin typeface="Trebuchet MS" panose="020B0603020202020204"/>
                <a:cs typeface="Trebuchet MS" panose="020B0603020202020204"/>
              </a:rPr>
              <a:t>3</a:t>
            </a:r>
            <a:r>
              <a:rPr sz="1800" dirty="0">
                <a:solidFill>
                  <a:srgbClr val="404040"/>
                </a:solidFill>
                <a:latin typeface="宋体" panose="02010600030101010101" pitchFamily="2" charset="-122"/>
                <a:cs typeface="宋体" panose="02010600030101010101" pitchFamily="2" charset="-122"/>
              </a:rPr>
              <a:t>的松弛，但 是并不是最优的松弛，所以不用这个距离去松弛其 他点</a:t>
            </a:r>
            <a:r>
              <a:rPr sz="1800" spc="-5" dirty="0">
                <a:solidFill>
                  <a:srgbClr val="404040"/>
                </a:solidFill>
                <a:latin typeface="宋体" panose="02010600030101010101" pitchFamily="2" charset="-122"/>
                <a:cs typeface="宋体" panose="02010600030101010101" pitchFamily="2" charset="-122"/>
              </a:rPr>
              <a:t>，</a:t>
            </a:r>
            <a:r>
              <a:rPr sz="1800" spc="-5" dirty="0">
                <a:solidFill>
                  <a:srgbClr val="404040"/>
                </a:solidFill>
                <a:latin typeface="Trebuchet MS" panose="020B0603020202020204"/>
                <a:cs typeface="Trebuchet MS" panose="020B0603020202020204"/>
              </a:rPr>
              <a:t>continue</a:t>
            </a:r>
            <a:r>
              <a:rPr sz="1800" dirty="0">
                <a:solidFill>
                  <a:srgbClr val="404040"/>
                </a:solidFill>
                <a:latin typeface="宋体" panose="02010600030101010101" pitchFamily="2" charset="-122"/>
                <a:cs typeface="宋体" panose="02010600030101010101" pitchFamily="2" charset="-122"/>
              </a:rPr>
              <a:t>就行</a:t>
            </a:r>
            <a:endParaRPr sz="1800">
              <a:latin typeface="宋体" panose="02010600030101010101" pitchFamily="2" charset="-122"/>
              <a:cs typeface="宋体" panose="02010600030101010101" pitchFamily="2"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24204"/>
            <a:ext cx="1618615" cy="574040"/>
          </a:xfrm>
          <a:prstGeom prst="rect">
            <a:avLst/>
          </a:prstGeom>
        </p:spPr>
        <p:txBody>
          <a:bodyPr vert="horz" wrap="square" lIns="0" tIns="12700" rIns="0" bIns="0" rtlCol="0">
            <a:spAutoFit/>
          </a:bodyPr>
          <a:lstStyle/>
          <a:p>
            <a:pPr marL="12700">
              <a:lnSpc>
                <a:spcPct val="100000"/>
              </a:lnSpc>
              <a:spcBef>
                <a:spcPts val="100"/>
              </a:spcBef>
            </a:pPr>
            <a:r>
              <a:rPr dirty="0"/>
              <a:t>D</a:t>
            </a:r>
            <a:r>
              <a:rPr spc="-5" dirty="0"/>
              <a:t>ijkst</a:t>
            </a:r>
            <a:r>
              <a:rPr dirty="0"/>
              <a:t>ra</a:t>
            </a:r>
            <a:endParaRPr dirty="0"/>
          </a:p>
        </p:txBody>
      </p:sp>
      <p:graphicFrame>
        <p:nvGraphicFramePr>
          <p:cNvPr id="3" name="object 3"/>
          <p:cNvGraphicFramePr>
            <a:graphicFrameLocks noGrp="1"/>
          </p:cNvGraphicFramePr>
          <p:nvPr/>
        </p:nvGraphicFramePr>
        <p:xfrm>
          <a:off x="671347" y="1438249"/>
          <a:ext cx="8595993" cy="736599"/>
        </p:xfrm>
        <a:graphic>
          <a:graphicData uri="http://schemas.openxmlformats.org/drawingml/2006/table">
            <a:tbl>
              <a:tblPr firstRow="1" bandRow="1">
                <a:tableStyleId>{2D5ABB26-0587-4C30-8999-92F81FD0307C}</a:tableStyleId>
              </a:tblPr>
              <a:tblGrid>
                <a:gridCol w="1432560"/>
                <a:gridCol w="1432560"/>
                <a:gridCol w="1433195"/>
                <a:gridCol w="1432560"/>
                <a:gridCol w="1432559"/>
                <a:gridCol w="1432559"/>
              </a:tblGrid>
              <a:tr h="365760">
                <a:tc>
                  <a:txBody>
                    <a:bodyPr/>
                    <a:lstStyle/>
                    <a:p>
                      <a:pPr>
                        <a:lnSpc>
                          <a:spcPct val="100000"/>
                        </a:lnSpc>
                      </a:pPr>
                      <a:endParaRPr sz="19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r>
              <a:tr h="370839">
                <a:tc>
                  <a:txBody>
                    <a:bodyPr/>
                    <a:lstStyle/>
                    <a:p>
                      <a:pPr marL="90805">
                        <a:lnSpc>
                          <a:spcPct val="100000"/>
                        </a:lnSpc>
                        <a:spcBef>
                          <a:spcPts val="290"/>
                        </a:spcBef>
                      </a:pPr>
                      <a:r>
                        <a:rPr sz="1800" dirty="0">
                          <a:latin typeface="Trebuchet MS" panose="020B0603020202020204"/>
                          <a:cs typeface="Trebuchet MS" panose="020B0603020202020204"/>
                        </a:rPr>
                        <a:t>dist</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0</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7</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r>
            </a:tbl>
          </a:graphicData>
        </a:graphic>
      </p:graphicFrame>
      <p:pic>
        <p:nvPicPr>
          <p:cNvPr id="4" name="object 4"/>
          <p:cNvPicPr/>
          <p:nvPr/>
        </p:nvPicPr>
        <p:blipFill>
          <a:blip r:embed="rId1" cstate="print"/>
          <a:stretch>
            <a:fillRect/>
          </a:stretch>
        </p:blipFill>
        <p:spPr>
          <a:xfrm>
            <a:off x="961605" y="3129952"/>
            <a:ext cx="2621536" cy="2564023"/>
          </a:xfrm>
          <a:prstGeom prst="rect">
            <a:avLst/>
          </a:prstGeom>
        </p:spPr>
      </p:pic>
      <p:sp>
        <p:nvSpPr>
          <p:cNvPr id="5" name="object 5"/>
          <p:cNvSpPr txBox="1"/>
          <p:nvPr/>
        </p:nvSpPr>
        <p:spPr>
          <a:xfrm>
            <a:off x="4067555" y="3015995"/>
            <a:ext cx="5206365" cy="413384"/>
          </a:xfrm>
          <a:prstGeom prst="rect">
            <a:avLst/>
          </a:prstGeom>
          <a:solidFill>
            <a:srgbClr val="DBF4C9"/>
          </a:solidFill>
        </p:spPr>
        <p:txBody>
          <a:bodyPr vert="horz" wrap="square" lIns="0" tIns="31115" rIns="0" bIns="0" rtlCol="0">
            <a:spAutoFit/>
          </a:bodyPr>
          <a:lstStyle/>
          <a:p>
            <a:pPr marL="91440">
              <a:lnSpc>
                <a:spcPct val="100000"/>
              </a:lnSpc>
              <a:spcBef>
                <a:spcPts val="245"/>
              </a:spcBef>
            </a:pPr>
            <a:r>
              <a:rPr sz="1800" dirty="0">
                <a:solidFill>
                  <a:srgbClr val="404040"/>
                </a:solidFill>
                <a:latin typeface="宋体" panose="02010600030101010101" pitchFamily="2" charset="-122"/>
                <a:cs typeface="宋体" panose="02010600030101010101" pitchFamily="2" charset="-122"/>
              </a:rPr>
              <a:t>此时的优先队列</a:t>
            </a:r>
            <a:r>
              <a:rPr sz="1800" spc="-5" dirty="0">
                <a:solidFill>
                  <a:srgbClr val="404040"/>
                </a:solidFill>
                <a:latin typeface="Trebuchet MS" panose="020B0603020202020204"/>
                <a:cs typeface="Trebuchet MS" panose="020B0603020202020204"/>
              </a:rPr>
              <a:t>:[4,4]</a:t>
            </a:r>
            <a:r>
              <a:rPr sz="1800" spc="-35" dirty="0">
                <a:solidFill>
                  <a:srgbClr val="404040"/>
                </a:solidFill>
                <a:latin typeface="Trebuchet MS" panose="020B0603020202020204"/>
                <a:cs typeface="Trebuchet MS" panose="020B0603020202020204"/>
              </a:rPr>
              <a:t> </a:t>
            </a:r>
            <a:r>
              <a:rPr sz="1800" spc="-5" dirty="0">
                <a:solidFill>
                  <a:srgbClr val="404040"/>
                </a:solidFill>
                <a:latin typeface="Trebuchet MS" panose="020B0603020202020204"/>
                <a:cs typeface="Trebuchet MS" panose="020B0603020202020204"/>
              </a:rPr>
              <a:t>[6,5]</a:t>
            </a:r>
            <a:r>
              <a:rPr sz="1800" spc="-30" dirty="0">
                <a:solidFill>
                  <a:srgbClr val="404040"/>
                </a:solidFill>
                <a:latin typeface="Trebuchet MS" panose="020B0603020202020204"/>
                <a:cs typeface="Trebuchet MS" panose="020B0603020202020204"/>
              </a:rPr>
              <a:t> </a:t>
            </a:r>
            <a:r>
              <a:rPr sz="1800" spc="-5" dirty="0">
                <a:solidFill>
                  <a:srgbClr val="404040"/>
                </a:solidFill>
                <a:latin typeface="Trebuchet MS" panose="020B0603020202020204"/>
                <a:cs typeface="Trebuchet MS" panose="020B0603020202020204"/>
              </a:rPr>
              <a:t>[7,5]</a:t>
            </a:r>
            <a:endParaRPr sz="1800">
              <a:latin typeface="Trebuchet MS" panose="020B0603020202020204"/>
              <a:cs typeface="Trebuchet MS" panose="020B0603020202020204"/>
            </a:endParaRPr>
          </a:p>
        </p:txBody>
      </p:sp>
      <p:sp>
        <p:nvSpPr>
          <p:cNvPr id="6" name="object 6"/>
          <p:cNvSpPr txBox="1"/>
          <p:nvPr/>
        </p:nvSpPr>
        <p:spPr>
          <a:xfrm>
            <a:off x="4146435" y="3651897"/>
            <a:ext cx="5153025" cy="975360"/>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404040"/>
                </a:solidFill>
                <a:latin typeface="宋体" panose="02010600030101010101" pitchFamily="2" charset="-122"/>
                <a:cs typeface="宋体" panose="02010600030101010101" pitchFamily="2" charset="-122"/>
              </a:rPr>
              <a:t>现在优先队列队首是</a:t>
            </a:r>
            <a:r>
              <a:rPr sz="1800" dirty="0">
                <a:solidFill>
                  <a:srgbClr val="404040"/>
                </a:solidFill>
                <a:latin typeface="Trebuchet MS" panose="020B0603020202020204"/>
                <a:cs typeface="Trebuchet MS" panose="020B0603020202020204"/>
              </a:rPr>
              <a:t>4</a:t>
            </a:r>
            <a:r>
              <a:rPr sz="1800" dirty="0">
                <a:solidFill>
                  <a:srgbClr val="404040"/>
                </a:solidFill>
                <a:latin typeface="宋体" panose="02010600030101010101" pitchFamily="2" charset="-122"/>
                <a:cs typeface="宋体" panose="02010600030101010101" pitchFamily="2" charset="-122"/>
              </a:rPr>
              <a:t>，说明</a:t>
            </a:r>
            <a:r>
              <a:rPr sz="1800" dirty="0">
                <a:solidFill>
                  <a:srgbClr val="404040"/>
                </a:solidFill>
                <a:latin typeface="Trebuchet MS" panose="020B0603020202020204"/>
                <a:cs typeface="Trebuchet MS" panose="020B0603020202020204"/>
              </a:rPr>
              <a:t>dist</a:t>
            </a:r>
            <a:r>
              <a:rPr sz="1800" spc="-5" dirty="0">
                <a:solidFill>
                  <a:srgbClr val="404040"/>
                </a:solidFill>
                <a:latin typeface="Trebuchet MS" panose="020B0603020202020204"/>
                <a:cs typeface="Trebuchet MS" panose="020B0603020202020204"/>
              </a:rPr>
              <a:t>[</a:t>
            </a:r>
            <a:r>
              <a:rPr sz="1800" dirty="0">
                <a:solidFill>
                  <a:srgbClr val="404040"/>
                </a:solidFill>
                <a:latin typeface="Trebuchet MS" panose="020B0603020202020204"/>
                <a:cs typeface="Trebuchet MS" panose="020B0603020202020204"/>
              </a:rPr>
              <a:t>4</a:t>
            </a:r>
            <a:r>
              <a:rPr sz="1800" spc="-5" dirty="0">
                <a:solidFill>
                  <a:srgbClr val="404040"/>
                </a:solidFill>
                <a:latin typeface="Trebuchet MS" panose="020B0603020202020204"/>
                <a:cs typeface="Trebuchet MS" panose="020B0603020202020204"/>
              </a:rPr>
              <a:t>]</a:t>
            </a:r>
            <a:r>
              <a:rPr sz="1800" dirty="0">
                <a:solidFill>
                  <a:srgbClr val="404040"/>
                </a:solidFill>
                <a:latin typeface="宋体" panose="02010600030101010101" pitchFamily="2" charset="-122"/>
                <a:cs typeface="宋体" panose="02010600030101010101" pitchFamily="2" charset="-122"/>
              </a:rPr>
              <a:t>是此时最小的， 用</a:t>
            </a:r>
            <a:r>
              <a:rPr sz="1800" dirty="0">
                <a:solidFill>
                  <a:srgbClr val="404040"/>
                </a:solidFill>
                <a:latin typeface="Trebuchet MS" panose="020B0603020202020204"/>
                <a:cs typeface="Trebuchet MS" panose="020B0603020202020204"/>
              </a:rPr>
              <a:t>4</a:t>
            </a:r>
            <a:r>
              <a:rPr sz="1800" dirty="0">
                <a:solidFill>
                  <a:srgbClr val="404040"/>
                </a:solidFill>
                <a:latin typeface="宋体" panose="02010600030101010101" pitchFamily="2" charset="-122"/>
                <a:cs typeface="宋体" panose="02010600030101010101" pitchFamily="2" charset="-122"/>
              </a:rPr>
              <a:t>来松弛其他点</a:t>
            </a:r>
            <a:endParaRPr sz="1800">
              <a:latin typeface="宋体" panose="02010600030101010101" pitchFamily="2" charset="-122"/>
              <a:cs typeface="宋体" panose="02010600030101010101" pitchFamily="2" charset="-122"/>
            </a:endParaRPr>
          </a:p>
          <a:p>
            <a:pPr marL="12700">
              <a:lnSpc>
                <a:spcPct val="100000"/>
              </a:lnSpc>
              <a:spcBef>
                <a:spcPts val="1000"/>
              </a:spcBef>
            </a:pPr>
            <a:r>
              <a:rPr sz="1800" spc="-5" dirty="0">
                <a:solidFill>
                  <a:srgbClr val="404040"/>
                </a:solidFill>
                <a:latin typeface="Trebuchet MS" panose="020B0603020202020204"/>
                <a:cs typeface="Trebuchet MS" panose="020B0603020202020204"/>
              </a:rPr>
              <a:t>dist[4]+1&lt;dist[5]</a:t>
            </a:r>
            <a:r>
              <a:rPr sz="1800" dirty="0">
                <a:solidFill>
                  <a:srgbClr val="404040"/>
                </a:solidFill>
                <a:latin typeface="宋体" panose="02010600030101010101" pitchFamily="2" charset="-122"/>
                <a:cs typeface="宋体" panose="02010600030101010101" pitchFamily="2" charset="-122"/>
              </a:rPr>
              <a:t>所以</a:t>
            </a:r>
            <a:r>
              <a:rPr sz="1800" spc="-5" dirty="0">
                <a:solidFill>
                  <a:srgbClr val="404040"/>
                </a:solidFill>
                <a:latin typeface="Trebuchet MS" panose="020B0603020202020204"/>
                <a:cs typeface="Trebuchet MS" panose="020B0603020202020204"/>
              </a:rPr>
              <a:t>dist[5]=dist[4]+1</a:t>
            </a:r>
            <a:r>
              <a:rPr sz="1800" spc="-5" dirty="0">
                <a:solidFill>
                  <a:srgbClr val="404040"/>
                </a:solidFill>
                <a:latin typeface="宋体" panose="02010600030101010101" pitchFamily="2" charset="-122"/>
                <a:cs typeface="宋体" panose="02010600030101010101" pitchFamily="2" charset="-122"/>
              </a:rPr>
              <a:t>，</a:t>
            </a:r>
            <a:r>
              <a:rPr sz="1800" spc="-5" dirty="0">
                <a:solidFill>
                  <a:srgbClr val="404040"/>
                </a:solidFill>
                <a:latin typeface="Trebuchet MS" panose="020B0603020202020204"/>
                <a:cs typeface="Trebuchet MS" panose="020B0603020202020204"/>
              </a:rPr>
              <a:t>5</a:t>
            </a:r>
            <a:r>
              <a:rPr sz="1800" dirty="0">
                <a:solidFill>
                  <a:srgbClr val="404040"/>
                </a:solidFill>
                <a:latin typeface="宋体" panose="02010600030101010101" pitchFamily="2" charset="-122"/>
                <a:cs typeface="宋体" panose="02010600030101010101" pitchFamily="2" charset="-122"/>
              </a:rPr>
              <a:t>加入队列</a:t>
            </a:r>
            <a:endParaRPr sz="1800">
              <a:latin typeface="宋体" panose="02010600030101010101" pitchFamily="2" charset="-122"/>
              <a:cs typeface="宋体" panose="02010600030101010101" pitchFamily="2"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24204"/>
            <a:ext cx="1618615" cy="574040"/>
          </a:xfrm>
          <a:prstGeom prst="rect">
            <a:avLst/>
          </a:prstGeom>
        </p:spPr>
        <p:txBody>
          <a:bodyPr vert="horz" wrap="square" lIns="0" tIns="12700" rIns="0" bIns="0" rtlCol="0">
            <a:spAutoFit/>
          </a:bodyPr>
          <a:lstStyle/>
          <a:p>
            <a:pPr marL="12700">
              <a:lnSpc>
                <a:spcPct val="100000"/>
              </a:lnSpc>
              <a:spcBef>
                <a:spcPts val="100"/>
              </a:spcBef>
            </a:pPr>
            <a:r>
              <a:rPr dirty="0"/>
              <a:t>D</a:t>
            </a:r>
            <a:r>
              <a:rPr spc="-5" dirty="0"/>
              <a:t>ijkst</a:t>
            </a:r>
            <a:r>
              <a:rPr dirty="0"/>
              <a:t>ra</a:t>
            </a:r>
            <a:endParaRPr dirty="0"/>
          </a:p>
        </p:txBody>
      </p:sp>
      <p:graphicFrame>
        <p:nvGraphicFramePr>
          <p:cNvPr id="3" name="object 3"/>
          <p:cNvGraphicFramePr>
            <a:graphicFrameLocks noGrp="1"/>
          </p:cNvGraphicFramePr>
          <p:nvPr/>
        </p:nvGraphicFramePr>
        <p:xfrm>
          <a:off x="671347" y="1438249"/>
          <a:ext cx="8595993" cy="736599"/>
        </p:xfrm>
        <a:graphic>
          <a:graphicData uri="http://schemas.openxmlformats.org/drawingml/2006/table">
            <a:tbl>
              <a:tblPr firstRow="1" bandRow="1">
                <a:tableStyleId>{2D5ABB26-0587-4C30-8999-92F81FD0307C}</a:tableStyleId>
              </a:tblPr>
              <a:tblGrid>
                <a:gridCol w="1432560"/>
                <a:gridCol w="1432560"/>
                <a:gridCol w="1433195"/>
                <a:gridCol w="1432560"/>
                <a:gridCol w="1432559"/>
                <a:gridCol w="1432559"/>
              </a:tblGrid>
              <a:tr h="365760">
                <a:tc>
                  <a:txBody>
                    <a:bodyPr/>
                    <a:lstStyle/>
                    <a:p>
                      <a:pPr>
                        <a:lnSpc>
                          <a:spcPct val="100000"/>
                        </a:lnSpc>
                      </a:pPr>
                      <a:endParaRPr sz="1900">
                        <a:latin typeface="Times New Roman" panose="02020603050405020304"/>
                        <a:cs typeface="Times New Roman" panose="02020603050405020304"/>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3</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c>
                  <a:txBody>
                    <a:bodyPr/>
                    <a:lstStyle/>
                    <a:p>
                      <a:pPr marL="90805">
                        <a:lnSpc>
                          <a:spcPct val="100000"/>
                        </a:lnSpc>
                        <a:spcBef>
                          <a:spcPts val="290"/>
                        </a:spcBef>
                      </a:pPr>
                      <a:r>
                        <a:rPr sz="1800" b="1" dirty="0">
                          <a:solidFill>
                            <a:srgbClr val="FFFFFF"/>
                          </a:solidFill>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0C225"/>
                    </a:solidFill>
                  </a:tcPr>
                </a:tc>
              </a:tr>
              <a:tr h="370839">
                <a:tc>
                  <a:txBody>
                    <a:bodyPr/>
                    <a:lstStyle/>
                    <a:p>
                      <a:pPr marL="90805">
                        <a:lnSpc>
                          <a:spcPct val="100000"/>
                        </a:lnSpc>
                        <a:spcBef>
                          <a:spcPts val="290"/>
                        </a:spcBef>
                      </a:pPr>
                      <a:r>
                        <a:rPr sz="1800" dirty="0">
                          <a:latin typeface="Trebuchet MS" panose="020B0603020202020204"/>
                          <a:cs typeface="Trebuchet MS" panose="020B0603020202020204"/>
                        </a:rPr>
                        <a:t>dist</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0</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1</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2</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4</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c>
                  <a:txBody>
                    <a:bodyPr/>
                    <a:lstStyle/>
                    <a:p>
                      <a:pPr marL="90805">
                        <a:lnSpc>
                          <a:spcPct val="100000"/>
                        </a:lnSpc>
                        <a:spcBef>
                          <a:spcPts val="290"/>
                        </a:spcBef>
                      </a:pPr>
                      <a:r>
                        <a:rPr sz="1800" dirty="0">
                          <a:latin typeface="Trebuchet MS" panose="020B0603020202020204"/>
                          <a:cs typeface="Trebuchet MS" panose="020B0603020202020204"/>
                        </a:rPr>
                        <a:t>5</a:t>
                      </a:r>
                      <a:endParaRPr sz="1800">
                        <a:latin typeface="Trebuchet MS" panose="020B0603020202020204"/>
                        <a:cs typeface="Trebuchet MS" panose="020B0603020202020204"/>
                      </a:endParaRPr>
                    </a:p>
                  </a:txBody>
                  <a:tcPr marL="0" marR="0" marT="368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BE9CD"/>
                    </a:solidFill>
                  </a:tcPr>
                </a:tc>
              </a:tr>
            </a:tbl>
          </a:graphicData>
        </a:graphic>
      </p:graphicFrame>
      <p:pic>
        <p:nvPicPr>
          <p:cNvPr id="4" name="object 4"/>
          <p:cNvPicPr/>
          <p:nvPr/>
        </p:nvPicPr>
        <p:blipFill>
          <a:blip r:embed="rId1" cstate="print"/>
          <a:stretch>
            <a:fillRect/>
          </a:stretch>
        </p:blipFill>
        <p:spPr>
          <a:xfrm>
            <a:off x="961605" y="3129952"/>
            <a:ext cx="2621536" cy="2564023"/>
          </a:xfrm>
          <a:prstGeom prst="rect">
            <a:avLst/>
          </a:prstGeom>
        </p:spPr>
      </p:pic>
      <p:sp>
        <p:nvSpPr>
          <p:cNvPr id="5" name="object 5"/>
          <p:cNvSpPr txBox="1"/>
          <p:nvPr/>
        </p:nvSpPr>
        <p:spPr>
          <a:xfrm>
            <a:off x="4067555" y="3015995"/>
            <a:ext cx="5206365" cy="413384"/>
          </a:xfrm>
          <a:prstGeom prst="rect">
            <a:avLst/>
          </a:prstGeom>
          <a:solidFill>
            <a:srgbClr val="DBF4C9"/>
          </a:solidFill>
        </p:spPr>
        <p:txBody>
          <a:bodyPr vert="horz" wrap="square" lIns="0" tIns="31115" rIns="0" bIns="0" rtlCol="0">
            <a:spAutoFit/>
          </a:bodyPr>
          <a:lstStyle/>
          <a:p>
            <a:pPr marL="91440">
              <a:lnSpc>
                <a:spcPct val="100000"/>
              </a:lnSpc>
              <a:spcBef>
                <a:spcPts val="245"/>
              </a:spcBef>
            </a:pPr>
            <a:r>
              <a:rPr sz="1800" dirty="0">
                <a:solidFill>
                  <a:srgbClr val="404040"/>
                </a:solidFill>
                <a:latin typeface="宋体" panose="02010600030101010101" pitchFamily="2" charset="-122"/>
                <a:cs typeface="宋体" panose="02010600030101010101" pitchFamily="2" charset="-122"/>
              </a:rPr>
              <a:t>此时的优先队列</a:t>
            </a:r>
            <a:r>
              <a:rPr sz="1800" spc="-5" dirty="0">
                <a:solidFill>
                  <a:srgbClr val="404040"/>
                </a:solidFill>
                <a:latin typeface="Trebuchet MS" panose="020B0603020202020204"/>
                <a:cs typeface="Trebuchet MS" panose="020B0603020202020204"/>
              </a:rPr>
              <a:t>:[5,5]</a:t>
            </a:r>
            <a:r>
              <a:rPr sz="1800" spc="-35" dirty="0">
                <a:solidFill>
                  <a:srgbClr val="404040"/>
                </a:solidFill>
                <a:latin typeface="Trebuchet MS" panose="020B0603020202020204"/>
                <a:cs typeface="Trebuchet MS" panose="020B0603020202020204"/>
              </a:rPr>
              <a:t> </a:t>
            </a:r>
            <a:r>
              <a:rPr sz="1800" spc="-5" dirty="0">
                <a:solidFill>
                  <a:srgbClr val="404040"/>
                </a:solidFill>
                <a:latin typeface="Trebuchet MS" panose="020B0603020202020204"/>
                <a:cs typeface="Trebuchet MS" panose="020B0603020202020204"/>
              </a:rPr>
              <a:t>[6,5]</a:t>
            </a:r>
            <a:r>
              <a:rPr sz="1800" spc="-30" dirty="0">
                <a:solidFill>
                  <a:srgbClr val="404040"/>
                </a:solidFill>
                <a:latin typeface="Trebuchet MS" panose="020B0603020202020204"/>
                <a:cs typeface="Trebuchet MS" panose="020B0603020202020204"/>
              </a:rPr>
              <a:t> </a:t>
            </a:r>
            <a:r>
              <a:rPr sz="1800" spc="-5" dirty="0">
                <a:solidFill>
                  <a:srgbClr val="404040"/>
                </a:solidFill>
                <a:latin typeface="Trebuchet MS" panose="020B0603020202020204"/>
                <a:cs typeface="Trebuchet MS" panose="020B0603020202020204"/>
              </a:rPr>
              <a:t>[7,5]</a:t>
            </a:r>
            <a:endParaRPr sz="1800">
              <a:latin typeface="Trebuchet MS" panose="020B0603020202020204"/>
              <a:cs typeface="Trebuchet MS" panose="020B0603020202020204"/>
            </a:endParaRPr>
          </a:p>
        </p:txBody>
      </p:sp>
      <p:sp>
        <p:nvSpPr>
          <p:cNvPr id="6" name="object 6"/>
          <p:cNvSpPr txBox="1"/>
          <p:nvPr/>
        </p:nvSpPr>
        <p:spPr>
          <a:xfrm>
            <a:off x="4146435" y="3651897"/>
            <a:ext cx="5153025" cy="1931035"/>
          </a:xfrm>
          <a:prstGeom prst="rect">
            <a:avLst/>
          </a:prstGeom>
        </p:spPr>
        <p:txBody>
          <a:bodyPr vert="horz" wrap="square" lIns="0" tIns="12700" rIns="0" bIns="0" rtlCol="0">
            <a:spAutoFit/>
          </a:bodyPr>
          <a:lstStyle/>
          <a:p>
            <a:pPr marL="12700" marR="5080">
              <a:lnSpc>
                <a:spcPct val="100000"/>
              </a:lnSpc>
              <a:spcBef>
                <a:spcPts val="100"/>
              </a:spcBef>
            </a:pPr>
            <a:r>
              <a:rPr sz="1800" dirty="0">
                <a:solidFill>
                  <a:srgbClr val="404040"/>
                </a:solidFill>
                <a:latin typeface="宋体" panose="02010600030101010101" pitchFamily="2" charset="-122"/>
                <a:cs typeface="宋体" panose="02010600030101010101" pitchFamily="2" charset="-122"/>
              </a:rPr>
              <a:t>现在优先队列队首是</a:t>
            </a:r>
            <a:r>
              <a:rPr sz="1800" dirty="0">
                <a:solidFill>
                  <a:srgbClr val="404040"/>
                </a:solidFill>
                <a:latin typeface="Trebuchet MS" panose="020B0603020202020204"/>
                <a:cs typeface="Trebuchet MS" panose="020B0603020202020204"/>
              </a:rPr>
              <a:t>5</a:t>
            </a:r>
            <a:r>
              <a:rPr sz="1800" dirty="0">
                <a:solidFill>
                  <a:srgbClr val="404040"/>
                </a:solidFill>
                <a:latin typeface="宋体" panose="02010600030101010101" pitchFamily="2" charset="-122"/>
                <a:cs typeface="宋体" panose="02010600030101010101" pitchFamily="2" charset="-122"/>
              </a:rPr>
              <a:t>，说明</a:t>
            </a:r>
            <a:r>
              <a:rPr sz="1800" dirty="0">
                <a:solidFill>
                  <a:srgbClr val="404040"/>
                </a:solidFill>
                <a:latin typeface="Trebuchet MS" panose="020B0603020202020204"/>
                <a:cs typeface="Trebuchet MS" panose="020B0603020202020204"/>
              </a:rPr>
              <a:t>dist</a:t>
            </a:r>
            <a:r>
              <a:rPr sz="1800" spc="-5" dirty="0">
                <a:solidFill>
                  <a:srgbClr val="404040"/>
                </a:solidFill>
                <a:latin typeface="Trebuchet MS" panose="020B0603020202020204"/>
                <a:cs typeface="Trebuchet MS" panose="020B0603020202020204"/>
              </a:rPr>
              <a:t>[</a:t>
            </a:r>
            <a:r>
              <a:rPr sz="1800" dirty="0">
                <a:solidFill>
                  <a:srgbClr val="404040"/>
                </a:solidFill>
                <a:latin typeface="Trebuchet MS" panose="020B0603020202020204"/>
                <a:cs typeface="Trebuchet MS" panose="020B0603020202020204"/>
              </a:rPr>
              <a:t>5</a:t>
            </a:r>
            <a:r>
              <a:rPr sz="1800" spc="-5" dirty="0">
                <a:solidFill>
                  <a:srgbClr val="404040"/>
                </a:solidFill>
                <a:latin typeface="Trebuchet MS" panose="020B0603020202020204"/>
                <a:cs typeface="Trebuchet MS" panose="020B0603020202020204"/>
              </a:rPr>
              <a:t>]</a:t>
            </a:r>
            <a:r>
              <a:rPr sz="1800" dirty="0">
                <a:solidFill>
                  <a:srgbClr val="404040"/>
                </a:solidFill>
                <a:latin typeface="宋体" panose="02010600030101010101" pitchFamily="2" charset="-122"/>
                <a:cs typeface="宋体" panose="02010600030101010101" pitchFamily="2" charset="-122"/>
              </a:rPr>
              <a:t>是此时最小的， 用</a:t>
            </a:r>
            <a:r>
              <a:rPr lang="en-US" sz="1800" dirty="0">
                <a:solidFill>
                  <a:srgbClr val="404040"/>
                </a:solidFill>
                <a:latin typeface="宋体" panose="02010600030101010101" pitchFamily="2" charset="-122"/>
                <a:cs typeface="宋体" panose="02010600030101010101" pitchFamily="2" charset="-122"/>
              </a:rPr>
              <a:t>5</a:t>
            </a:r>
            <a:r>
              <a:rPr sz="1800" dirty="0">
                <a:solidFill>
                  <a:srgbClr val="404040"/>
                </a:solidFill>
                <a:latin typeface="宋体" panose="02010600030101010101" pitchFamily="2" charset="-122"/>
                <a:cs typeface="宋体" panose="02010600030101010101" pitchFamily="2" charset="-122"/>
              </a:rPr>
              <a:t>来松弛其他点</a:t>
            </a:r>
            <a:endParaRPr sz="1800">
              <a:latin typeface="宋体" panose="02010600030101010101" pitchFamily="2" charset="-122"/>
              <a:cs typeface="宋体" panose="02010600030101010101" pitchFamily="2" charset="-122"/>
            </a:endParaRPr>
          </a:p>
          <a:p>
            <a:pPr marL="12700" marR="212725">
              <a:lnSpc>
                <a:spcPts val="2020"/>
              </a:lnSpc>
              <a:spcBef>
                <a:spcPts val="1185"/>
              </a:spcBef>
            </a:pPr>
            <a:r>
              <a:rPr sz="1800" dirty="0">
                <a:solidFill>
                  <a:srgbClr val="404040"/>
                </a:solidFill>
                <a:latin typeface="宋体" panose="02010600030101010101" pitchFamily="2" charset="-122"/>
                <a:cs typeface="宋体" panose="02010600030101010101" pitchFamily="2" charset="-122"/>
              </a:rPr>
              <a:t>此时没有点需要被松弛了，所有点距离</a:t>
            </a:r>
            <a:r>
              <a:rPr sz="1800" dirty="0">
                <a:solidFill>
                  <a:srgbClr val="404040"/>
                </a:solidFill>
                <a:latin typeface="Trebuchet MS" panose="020B0603020202020204"/>
                <a:cs typeface="Trebuchet MS" panose="020B0603020202020204"/>
              </a:rPr>
              <a:t>1</a:t>
            </a:r>
            <a:r>
              <a:rPr sz="1800" dirty="0">
                <a:solidFill>
                  <a:srgbClr val="404040"/>
                </a:solidFill>
                <a:latin typeface="宋体" panose="02010600030101010101" pitchFamily="2" charset="-122"/>
                <a:cs typeface="宋体" panose="02010600030101010101" pitchFamily="2" charset="-122"/>
              </a:rPr>
              <a:t>号点的最 短路都求出来了</a:t>
            </a:r>
            <a:endParaRPr sz="1800">
              <a:latin typeface="宋体" panose="02010600030101010101" pitchFamily="2" charset="-122"/>
              <a:cs typeface="宋体" panose="02010600030101010101" pitchFamily="2" charset="-122"/>
            </a:endParaRPr>
          </a:p>
          <a:p>
            <a:pPr marL="12700" marR="127000">
              <a:lnSpc>
                <a:spcPct val="100000"/>
              </a:lnSpc>
              <a:spcBef>
                <a:spcPts val="1095"/>
              </a:spcBef>
            </a:pPr>
            <a:r>
              <a:rPr sz="1800" dirty="0">
                <a:solidFill>
                  <a:srgbClr val="404040"/>
                </a:solidFill>
                <a:latin typeface="宋体" panose="02010600030101010101" pitchFamily="2" charset="-122"/>
                <a:cs typeface="宋体" panose="02010600030101010101" pitchFamily="2" charset="-122"/>
              </a:rPr>
              <a:t>优先队列那几个往后都被</a:t>
            </a:r>
            <a:r>
              <a:rPr sz="1800" spc="-5" dirty="0">
                <a:solidFill>
                  <a:srgbClr val="404040"/>
                </a:solidFill>
                <a:latin typeface="Trebuchet MS" panose="020B0603020202020204"/>
                <a:cs typeface="Trebuchet MS" panose="020B0603020202020204"/>
              </a:rPr>
              <a:t>co</a:t>
            </a:r>
            <a:r>
              <a:rPr sz="1800" dirty="0">
                <a:solidFill>
                  <a:srgbClr val="404040"/>
                </a:solidFill>
                <a:latin typeface="Trebuchet MS" panose="020B0603020202020204"/>
                <a:cs typeface="Trebuchet MS" panose="020B0603020202020204"/>
              </a:rPr>
              <a:t>ntinu</a:t>
            </a:r>
            <a:r>
              <a:rPr sz="1800" spc="-5" dirty="0">
                <a:solidFill>
                  <a:srgbClr val="404040"/>
                </a:solidFill>
                <a:latin typeface="Trebuchet MS" panose="020B0603020202020204"/>
                <a:cs typeface="Trebuchet MS" panose="020B0603020202020204"/>
              </a:rPr>
              <a:t>e</a:t>
            </a:r>
            <a:r>
              <a:rPr sz="1800" dirty="0">
                <a:solidFill>
                  <a:srgbClr val="404040"/>
                </a:solidFill>
                <a:latin typeface="宋体" panose="02010600030101010101" pitchFamily="2" charset="-122"/>
                <a:cs typeface="宋体" panose="02010600030101010101" pitchFamily="2" charset="-122"/>
              </a:rPr>
              <a:t>掉了（原因和上 次的</a:t>
            </a:r>
            <a:r>
              <a:rPr sz="1800" dirty="0">
                <a:solidFill>
                  <a:srgbClr val="404040"/>
                </a:solidFill>
                <a:latin typeface="Trebuchet MS" panose="020B0603020202020204"/>
                <a:cs typeface="Trebuchet MS" panose="020B0603020202020204"/>
              </a:rPr>
              <a:t>3</a:t>
            </a:r>
            <a:r>
              <a:rPr sz="1800" dirty="0">
                <a:solidFill>
                  <a:srgbClr val="404040"/>
                </a:solidFill>
                <a:latin typeface="宋体" panose="02010600030101010101" pitchFamily="2" charset="-122"/>
                <a:cs typeface="宋体" panose="02010600030101010101" pitchFamily="2" charset="-122"/>
              </a:rPr>
              <a:t>一样）</a:t>
            </a:r>
            <a:endParaRPr sz="1800">
              <a:latin typeface="宋体" panose="02010600030101010101" pitchFamily="2" charset="-122"/>
              <a:cs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24204"/>
            <a:ext cx="1618615" cy="574040"/>
          </a:xfrm>
          <a:prstGeom prst="rect">
            <a:avLst/>
          </a:prstGeom>
        </p:spPr>
        <p:txBody>
          <a:bodyPr vert="horz" wrap="square" lIns="0" tIns="12700" rIns="0" bIns="0" rtlCol="0">
            <a:spAutoFit/>
          </a:bodyPr>
          <a:lstStyle/>
          <a:p>
            <a:pPr marL="12700">
              <a:lnSpc>
                <a:spcPct val="100000"/>
              </a:lnSpc>
              <a:spcBef>
                <a:spcPts val="100"/>
              </a:spcBef>
            </a:pPr>
            <a:r>
              <a:rPr dirty="0"/>
              <a:t>D</a:t>
            </a:r>
            <a:r>
              <a:rPr spc="-5" dirty="0"/>
              <a:t>ijkst</a:t>
            </a:r>
            <a:r>
              <a:rPr dirty="0"/>
              <a:t>ra</a:t>
            </a:r>
            <a:endParaRPr dirty="0"/>
          </a:p>
        </p:txBody>
      </p:sp>
      <p:pic>
        <p:nvPicPr>
          <p:cNvPr id="3" name="object 3"/>
          <p:cNvPicPr/>
          <p:nvPr/>
        </p:nvPicPr>
        <p:blipFill>
          <a:blip r:embed="rId1" cstate="print"/>
          <a:stretch>
            <a:fillRect/>
          </a:stretch>
        </p:blipFill>
        <p:spPr>
          <a:xfrm>
            <a:off x="676655" y="1522475"/>
            <a:ext cx="7906511" cy="5049012"/>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Dijkstra</a:t>
            </a:r>
            <a:endParaRPr lang="zh-CN" altLang="en-US" dirty="0"/>
          </a:p>
        </p:txBody>
      </p:sp>
      <p:sp>
        <p:nvSpPr>
          <p:cNvPr id="4" name="文本框 3"/>
          <p:cNvSpPr txBox="1"/>
          <p:nvPr/>
        </p:nvSpPr>
        <p:spPr>
          <a:xfrm>
            <a:off x="756069" y="2228671"/>
            <a:ext cx="7549732" cy="1200329"/>
          </a:xfrm>
          <a:prstGeom prst="rect">
            <a:avLst/>
          </a:prstGeom>
          <a:noFill/>
        </p:spPr>
        <p:txBody>
          <a:bodyPr wrap="square">
            <a:spAutoFit/>
          </a:bodyPr>
          <a:lstStyle/>
          <a:p>
            <a:r>
              <a:rPr lang="en-US" altLang="zh-CN" dirty="0"/>
              <a:t>Dijkstra</a:t>
            </a:r>
            <a:r>
              <a:rPr lang="zh-CN" altLang="en-US" dirty="0"/>
              <a:t>的核心操作是松弛，实际上，将</a:t>
            </a:r>
            <a:r>
              <a:rPr lang="en-US" altLang="zh-CN" dirty="0" err="1"/>
              <a:t>dijkstra</a:t>
            </a:r>
            <a:r>
              <a:rPr lang="zh-CN" altLang="en-US" dirty="0"/>
              <a:t>看成堆优化的</a:t>
            </a:r>
            <a:r>
              <a:rPr lang="en-US" altLang="zh-CN" dirty="0" err="1"/>
              <a:t>dp</a:t>
            </a:r>
            <a:r>
              <a:rPr lang="zh-CN" altLang="en-US" dirty="0"/>
              <a:t>也未尝不可。所以，带着一种用当前节点的信息更新相邻点的信息的思想考虑不失为一种好的选择。实际应用中，</a:t>
            </a:r>
            <a:r>
              <a:rPr lang="en-US" altLang="zh-CN" dirty="0"/>
              <a:t>dis</a:t>
            </a:r>
            <a:r>
              <a:rPr lang="zh-CN" altLang="en-US" dirty="0"/>
              <a:t>数组的含义可能不仅仅是距离，需要根据具体情况作出恰当的定义。</a:t>
            </a:r>
            <a:endParaRPr lang="zh-CN" altLang="en-US" dirty="0"/>
          </a:p>
        </p:txBody>
      </p:sp>
      <p:sp>
        <p:nvSpPr>
          <p:cNvPr id="3" name="文本框 2"/>
          <p:cNvSpPr txBox="1"/>
          <p:nvPr/>
        </p:nvSpPr>
        <p:spPr>
          <a:xfrm>
            <a:off x="792939" y="3960429"/>
            <a:ext cx="7162800" cy="646331"/>
          </a:xfrm>
          <a:prstGeom prst="rect">
            <a:avLst/>
          </a:prstGeom>
          <a:noFill/>
        </p:spPr>
        <p:txBody>
          <a:bodyPr wrap="square" rtlCol="0">
            <a:spAutoFit/>
          </a:bodyPr>
          <a:lstStyle/>
          <a:p>
            <a:r>
              <a:rPr lang="zh-CN" altLang="en-US" dirty="0"/>
              <a:t>这种最短路算法所处理的是广义上的“单源”，假如有多个源点，欲求每个点到任意一个源点的最短路，同样可以使用</a:t>
            </a:r>
            <a:r>
              <a:rPr lang="en-US" altLang="zh-CN" dirty="0" err="1"/>
              <a:t>dijkstra</a:t>
            </a:r>
            <a:r>
              <a:rPr lang="zh-CN" altLang="en-US" dirty="0"/>
              <a:t>解决</a:t>
            </a:r>
            <a:endParaRPr lang="zh-CN" altLang="en-US" dirty="0"/>
          </a:p>
        </p:txBody>
      </p:sp>
      <p:sp>
        <p:nvSpPr>
          <p:cNvPr id="5" name="文本框 4"/>
          <p:cNvSpPr txBox="1"/>
          <p:nvPr/>
        </p:nvSpPr>
        <p:spPr>
          <a:xfrm>
            <a:off x="792939" y="1676400"/>
            <a:ext cx="1905000" cy="461665"/>
          </a:xfrm>
          <a:prstGeom prst="rect">
            <a:avLst/>
          </a:prstGeom>
          <a:noFill/>
        </p:spPr>
        <p:txBody>
          <a:bodyPr wrap="square" rtlCol="0">
            <a:spAutoFit/>
          </a:bodyPr>
          <a:lstStyle/>
          <a:p>
            <a:r>
              <a:rPr lang="zh-CN" altLang="en-US" sz="2400" dirty="0"/>
              <a:t>注意</a:t>
            </a:r>
            <a:r>
              <a:rPr lang="zh-CN" altLang="en-US" dirty="0"/>
              <a:t>：</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35634"/>
            <a:ext cx="710438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为什么</a:t>
            </a:r>
            <a:r>
              <a:rPr dirty="0"/>
              <a:t>D</a:t>
            </a:r>
            <a:r>
              <a:rPr spc="-5" dirty="0"/>
              <a:t>ijkst</a:t>
            </a:r>
            <a:r>
              <a:rPr dirty="0"/>
              <a:t>r</a:t>
            </a:r>
            <a:r>
              <a:rPr spc="-5" dirty="0"/>
              <a:t>a</a:t>
            </a:r>
            <a:r>
              <a:rPr dirty="0">
                <a:latin typeface="宋体" panose="02010600030101010101" pitchFamily="2" charset="-122"/>
                <a:cs typeface="宋体" panose="02010600030101010101" pitchFamily="2" charset="-122"/>
              </a:rPr>
              <a:t>只能处理无负权图？</a:t>
            </a:r>
            <a:endParaRPr dirty="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1262894" y="3015689"/>
            <a:ext cx="2025860" cy="2136937"/>
          </a:xfrm>
          <a:prstGeom prst="rect">
            <a:avLst/>
          </a:prstGeom>
        </p:spPr>
      </p:pic>
      <p:sp>
        <p:nvSpPr>
          <p:cNvPr id="4" name="object 4"/>
          <p:cNvSpPr txBox="1"/>
          <p:nvPr/>
        </p:nvSpPr>
        <p:spPr>
          <a:xfrm>
            <a:off x="756069" y="1641081"/>
            <a:ext cx="7881620" cy="3146425"/>
          </a:xfrm>
          <a:prstGeom prst="rect">
            <a:avLst/>
          </a:prstGeom>
        </p:spPr>
        <p:txBody>
          <a:bodyPr vert="horz" wrap="square" lIns="0" tIns="12700" rIns="0" bIns="0" rtlCol="0">
            <a:spAutoFit/>
          </a:bodyPr>
          <a:lstStyle/>
          <a:p>
            <a:pPr marL="12700" marR="88265" algn="just">
              <a:lnSpc>
                <a:spcPct val="100000"/>
              </a:lnSpc>
              <a:spcBef>
                <a:spcPts val="100"/>
              </a:spcBef>
            </a:pPr>
            <a:r>
              <a:rPr sz="1800" dirty="0">
                <a:solidFill>
                  <a:srgbClr val="4D4D4D"/>
                </a:solidFill>
                <a:latin typeface="宋体" panose="02010600030101010101" pitchFamily="2" charset="-122"/>
                <a:cs typeface="宋体" panose="02010600030101010101" pitchFamily="2" charset="-122"/>
              </a:rPr>
              <a:t>因为</a:t>
            </a:r>
            <a:r>
              <a:rPr sz="1800" spc="-5" dirty="0">
                <a:solidFill>
                  <a:srgbClr val="4D4D4D"/>
                </a:solidFill>
                <a:latin typeface="Segoe Print" panose="02000600000000000000"/>
                <a:cs typeface="Segoe Print" panose="02000600000000000000"/>
              </a:rPr>
              <a:t>dijkstra</a:t>
            </a:r>
            <a:r>
              <a:rPr sz="1800" dirty="0">
                <a:solidFill>
                  <a:srgbClr val="4D4D4D"/>
                </a:solidFill>
                <a:latin typeface="宋体" panose="02010600030101010101" pitchFamily="2" charset="-122"/>
                <a:cs typeface="宋体" panose="02010600030101010101" pitchFamily="2" charset="-122"/>
              </a:rPr>
              <a:t>用了贪心的思想，每次选取的是当前最短的边进行松弛，当边都 是正权时，松弛后边权一定比当前最短边大，所以满足贪心的条件，有了负边 后不满足贪心的条件所以不能用</a:t>
            </a:r>
            <a:r>
              <a:rPr sz="1800" spc="-5" dirty="0">
                <a:solidFill>
                  <a:srgbClr val="4D4D4D"/>
                </a:solidFill>
                <a:latin typeface="Segoe Print" panose="02000600000000000000"/>
                <a:cs typeface="Segoe Print" panose="02000600000000000000"/>
              </a:rPr>
              <a:t>dijkstra</a:t>
            </a:r>
            <a:r>
              <a:rPr sz="1800" dirty="0">
                <a:solidFill>
                  <a:srgbClr val="4D4D4D"/>
                </a:solidFill>
                <a:latin typeface="宋体" panose="02010600030101010101" pitchFamily="2" charset="-122"/>
                <a:cs typeface="宋体" panose="02010600030101010101" pitchFamily="2" charset="-122"/>
              </a:rPr>
              <a:t>计算带有负边的单源最短路</a:t>
            </a:r>
            <a:endParaRPr sz="1800" dirty="0">
              <a:latin typeface="宋体" panose="02010600030101010101" pitchFamily="2" charset="-122"/>
              <a:cs typeface="宋体" panose="02010600030101010101" pitchFamily="2" charset="-122"/>
            </a:endParaRPr>
          </a:p>
          <a:p>
            <a:pPr>
              <a:lnSpc>
                <a:spcPct val="100000"/>
              </a:lnSpc>
              <a:spcBef>
                <a:spcPts val="40"/>
              </a:spcBef>
            </a:pPr>
            <a:endParaRPr sz="3450" dirty="0">
              <a:latin typeface="宋体" panose="02010600030101010101" pitchFamily="2" charset="-122"/>
              <a:cs typeface="宋体" panose="02010600030101010101" pitchFamily="2" charset="-122"/>
            </a:endParaRPr>
          </a:p>
          <a:p>
            <a:pPr marL="3077210" marR="5080">
              <a:lnSpc>
                <a:spcPct val="100000"/>
              </a:lnSpc>
            </a:pPr>
            <a:r>
              <a:rPr sz="1800" dirty="0">
                <a:solidFill>
                  <a:srgbClr val="404040"/>
                </a:solidFill>
                <a:latin typeface="宋体" panose="02010600030101010101" pitchFamily="2" charset="-122"/>
                <a:cs typeface="宋体" panose="02010600030101010101" pitchFamily="2" charset="-122"/>
              </a:rPr>
              <a:t>如图，如果按照</a:t>
            </a:r>
            <a:r>
              <a:rPr sz="1800" dirty="0">
                <a:solidFill>
                  <a:srgbClr val="404040"/>
                </a:solidFill>
                <a:latin typeface="Trebuchet MS" panose="020B0603020202020204"/>
                <a:cs typeface="Trebuchet MS" panose="020B0603020202020204"/>
              </a:rPr>
              <a:t>di</a:t>
            </a:r>
            <a:r>
              <a:rPr sz="1800" spc="-5" dirty="0">
                <a:solidFill>
                  <a:srgbClr val="404040"/>
                </a:solidFill>
                <a:latin typeface="Trebuchet MS" panose="020B0603020202020204"/>
                <a:cs typeface="Trebuchet MS" panose="020B0603020202020204"/>
              </a:rPr>
              <a:t>j</a:t>
            </a:r>
            <a:r>
              <a:rPr sz="1800" dirty="0">
                <a:solidFill>
                  <a:srgbClr val="404040"/>
                </a:solidFill>
                <a:latin typeface="Trebuchet MS" panose="020B0603020202020204"/>
                <a:cs typeface="Trebuchet MS" panose="020B0603020202020204"/>
              </a:rPr>
              <a:t>kstr</a:t>
            </a:r>
            <a:r>
              <a:rPr sz="1800" spc="-5" dirty="0">
                <a:solidFill>
                  <a:srgbClr val="404040"/>
                </a:solidFill>
                <a:latin typeface="Trebuchet MS" panose="020B0603020202020204"/>
                <a:cs typeface="Trebuchet MS" panose="020B0603020202020204"/>
              </a:rPr>
              <a:t>a</a:t>
            </a:r>
            <a:r>
              <a:rPr sz="1800" dirty="0">
                <a:solidFill>
                  <a:srgbClr val="404040"/>
                </a:solidFill>
                <a:latin typeface="宋体" panose="02010600030101010101" pitchFamily="2" charset="-122"/>
                <a:cs typeface="宋体" panose="02010600030101010101" pitchFamily="2" charset="-122"/>
              </a:rPr>
              <a:t>的思想，会得到</a:t>
            </a:r>
            <a:r>
              <a:rPr sz="1800" dirty="0">
                <a:solidFill>
                  <a:srgbClr val="404040"/>
                </a:solidFill>
                <a:latin typeface="Trebuchet MS" panose="020B0603020202020204"/>
                <a:cs typeface="Trebuchet MS" panose="020B0603020202020204"/>
              </a:rPr>
              <a:t>2</a:t>
            </a:r>
            <a:r>
              <a:rPr sz="1800" dirty="0">
                <a:solidFill>
                  <a:srgbClr val="404040"/>
                </a:solidFill>
                <a:latin typeface="宋体" panose="02010600030101010101" pitchFamily="2" charset="-122"/>
                <a:cs typeface="宋体" panose="02010600030101010101" pitchFamily="2" charset="-122"/>
              </a:rPr>
              <a:t>的距离 为</a:t>
            </a:r>
            <a:r>
              <a:rPr sz="1800" dirty="0">
                <a:solidFill>
                  <a:srgbClr val="404040"/>
                </a:solidFill>
                <a:latin typeface="Trebuchet MS" panose="020B0603020202020204"/>
                <a:cs typeface="Trebuchet MS" panose="020B0603020202020204"/>
              </a:rPr>
              <a:t>8</a:t>
            </a:r>
            <a:r>
              <a:rPr sz="1800" dirty="0">
                <a:solidFill>
                  <a:srgbClr val="404040"/>
                </a:solidFill>
                <a:latin typeface="宋体" panose="02010600030101010101" pitchFamily="2" charset="-122"/>
                <a:cs typeface="宋体" panose="02010600030101010101" pitchFamily="2" charset="-122"/>
              </a:rPr>
              <a:t>，</a:t>
            </a:r>
            <a:r>
              <a:rPr sz="1800" dirty="0">
                <a:solidFill>
                  <a:srgbClr val="404040"/>
                </a:solidFill>
                <a:latin typeface="Trebuchet MS" panose="020B0603020202020204"/>
                <a:cs typeface="Trebuchet MS" panose="020B0603020202020204"/>
              </a:rPr>
              <a:t>3</a:t>
            </a:r>
            <a:r>
              <a:rPr sz="1800" dirty="0">
                <a:solidFill>
                  <a:srgbClr val="404040"/>
                </a:solidFill>
                <a:latin typeface="宋体" panose="02010600030101010101" pitchFamily="2" charset="-122"/>
                <a:cs typeface="宋体" panose="02010600030101010101" pitchFamily="2" charset="-122"/>
              </a:rPr>
              <a:t>的距离为</a:t>
            </a:r>
            <a:r>
              <a:rPr sz="1800" dirty="0">
                <a:solidFill>
                  <a:srgbClr val="404040"/>
                </a:solidFill>
                <a:latin typeface="Trebuchet MS" panose="020B0603020202020204"/>
                <a:cs typeface="Trebuchet MS" panose="020B0603020202020204"/>
              </a:rPr>
              <a:t>9</a:t>
            </a:r>
            <a:r>
              <a:rPr sz="1800" dirty="0">
                <a:solidFill>
                  <a:srgbClr val="404040"/>
                </a:solidFill>
                <a:latin typeface="宋体" panose="02010600030101010101" pitchFamily="2" charset="-122"/>
                <a:cs typeface="宋体" panose="02010600030101010101" pitchFamily="2" charset="-122"/>
              </a:rPr>
              <a:t>，因为目前</a:t>
            </a:r>
            <a:r>
              <a:rPr sz="1800" spc="-5" dirty="0">
                <a:solidFill>
                  <a:srgbClr val="404040"/>
                </a:solidFill>
                <a:latin typeface="Trebuchet MS" panose="020B0603020202020204"/>
                <a:cs typeface="Trebuchet MS" panose="020B0603020202020204"/>
              </a:rPr>
              <a:t>dist[2]&lt;dist[3]</a:t>
            </a:r>
            <a:endParaRPr sz="1800" dirty="0">
              <a:latin typeface="Trebuchet MS" panose="020B0603020202020204"/>
              <a:cs typeface="Trebuchet MS" panose="020B0603020202020204"/>
            </a:endParaRPr>
          </a:p>
          <a:p>
            <a:pPr marL="3077210" marR="1115695">
              <a:lnSpc>
                <a:spcPct val="146000"/>
              </a:lnSpc>
            </a:pPr>
            <a:r>
              <a:rPr sz="1800" dirty="0">
                <a:solidFill>
                  <a:srgbClr val="404040"/>
                </a:solidFill>
                <a:latin typeface="宋体" panose="02010600030101010101" pitchFamily="2" charset="-122"/>
                <a:cs typeface="宋体" panose="02010600030101010101" pitchFamily="2" charset="-122"/>
              </a:rPr>
              <a:t>所以用</a:t>
            </a:r>
            <a:r>
              <a:rPr sz="1800" dirty="0">
                <a:solidFill>
                  <a:srgbClr val="404040"/>
                </a:solidFill>
                <a:latin typeface="Trebuchet MS" panose="020B0603020202020204"/>
                <a:cs typeface="Trebuchet MS" panose="020B0603020202020204"/>
              </a:rPr>
              <a:t>2</a:t>
            </a:r>
            <a:r>
              <a:rPr sz="1800" dirty="0">
                <a:solidFill>
                  <a:srgbClr val="404040"/>
                </a:solidFill>
                <a:latin typeface="宋体" panose="02010600030101010101" pitchFamily="2" charset="-122"/>
                <a:cs typeface="宋体" panose="02010600030101010101" pitchFamily="2" charset="-122"/>
              </a:rPr>
              <a:t>去松弛</a:t>
            </a:r>
            <a:r>
              <a:rPr lang="zh-CN" sz="1800" dirty="0">
                <a:solidFill>
                  <a:srgbClr val="404040"/>
                </a:solidFill>
                <a:latin typeface="宋体" panose="02010600030101010101" pitchFamily="2" charset="-122"/>
                <a:cs typeface="宋体" panose="02010600030101010101" pitchFamily="2" charset="-122"/>
              </a:rPr>
              <a:t>其他点</a:t>
            </a:r>
            <a:r>
              <a:rPr sz="1800" dirty="0">
                <a:solidFill>
                  <a:srgbClr val="404040"/>
                </a:solidFill>
                <a:latin typeface="宋体" panose="02010600030101010101" pitchFamily="2" charset="-122"/>
                <a:cs typeface="宋体" panose="02010600030101010101" pitchFamily="2" charset="-122"/>
              </a:rPr>
              <a:t>，而不是用</a:t>
            </a:r>
            <a:r>
              <a:rPr sz="1800" dirty="0">
                <a:solidFill>
                  <a:srgbClr val="404040"/>
                </a:solidFill>
                <a:latin typeface="Trebuchet MS" panose="020B0603020202020204"/>
                <a:cs typeface="Trebuchet MS" panose="020B0603020202020204"/>
              </a:rPr>
              <a:t>3</a:t>
            </a:r>
            <a:r>
              <a:rPr sz="1800" dirty="0">
                <a:solidFill>
                  <a:srgbClr val="404040"/>
                </a:solidFill>
                <a:latin typeface="宋体" panose="02010600030101010101" pitchFamily="2" charset="-122"/>
                <a:cs typeface="宋体" panose="02010600030101010101" pitchFamily="2" charset="-122"/>
              </a:rPr>
              <a:t>去松弛</a:t>
            </a:r>
            <a:r>
              <a:rPr sz="1800" dirty="0">
                <a:solidFill>
                  <a:srgbClr val="404040"/>
                </a:solidFill>
                <a:latin typeface="Trebuchet MS" panose="020B0603020202020204"/>
                <a:cs typeface="Trebuchet MS" panose="020B0603020202020204"/>
              </a:rPr>
              <a:t>2 </a:t>
            </a:r>
            <a:r>
              <a:rPr sz="1800" dirty="0">
                <a:solidFill>
                  <a:srgbClr val="404040"/>
                </a:solidFill>
                <a:latin typeface="宋体" panose="02010600030101010101" pitchFamily="2" charset="-122"/>
                <a:cs typeface="宋体" panose="02010600030101010101" pitchFamily="2" charset="-122"/>
              </a:rPr>
              <a:t>所以得到</a:t>
            </a:r>
            <a:r>
              <a:rPr sz="1800" dirty="0">
                <a:solidFill>
                  <a:srgbClr val="404040"/>
                </a:solidFill>
                <a:latin typeface="Trebuchet MS" panose="020B0603020202020204"/>
                <a:cs typeface="Trebuchet MS" panose="020B0603020202020204"/>
              </a:rPr>
              <a:t>2</a:t>
            </a:r>
            <a:r>
              <a:rPr sz="1800" dirty="0">
                <a:solidFill>
                  <a:srgbClr val="404040"/>
                </a:solidFill>
                <a:latin typeface="宋体" panose="02010600030101010101" pitchFamily="2" charset="-122"/>
                <a:cs typeface="宋体" panose="02010600030101010101" pitchFamily="2" charset="-122"/>
              </a:rPr>
              <a:t>的最短距离为</a:t>
            </a:r>
            <a:r>
              <a:rPr sz="1800" dirty="0">
                <a:solidFill>
                  <a:srgbClr val="404040"/>
                </a:solidFill>
                <a:latin typeface="Trebuchet MS" panose="020B0603020202020204"/>
                <a:cs typeface="Trebuchet MS" panose="020B0603020202020204"/>
              </a:rPr>
              <a:t>8</a:t>
            </a:r>
            <a:endParaRPr sz="1800" dirty="0">
              <a:latin typeface="Trebuchet MS" panose="020B0603020202020204"/>
              <a:cs typeface="Trebuchet MS" panose="020B0603020202020204"/>
            </a:endParaRPr>
          </a:p>
          <a:p>
            <a:pPr marL="3077210">
              <a:lnSpc>
                <a:spcPct val="100000"/>
              </a:lnSpc>
              <a:spcBef>
                <a:spcPts val="1000"/>
              </a:spcBef>
            </a:pPr>
            <a:r>
              <a:rPr sz="1800" dirty="0">
                <a:solidFill>
                  <a:srgbClr val="404040"/>
                </a:solidFill>
                <a:latin typeface="宋体" panose="02010600030101010101" pitchFamily="2" charset="-122"/>
                <a:cs typeface="宋体" panose="02010600030101010101" pitchFamily="2" charset="-122"/>
              </a:rPr>
              <a:t>但是显而易见，</a:t>
            </a:r>
            <a:r>
              <a:rPr sz="1800" dirty="0">
                <a:solidFill>
                  <a:srgbClr val="404040"/>
                </a:solidFill>
                <a:latin typeface="Trebuchet MS" panose="020B0603020202020204"/>
                <a:cs typeface="Trebuchet MS" panose="020B0603020202020204"/>
              </a:rPr>
              <a:t>dist</a:t>
            </a:r>
            <a:r>
              <a:rPr sz="1800" spc="-5" dirty="0">
                <a:solidFill>
                  <a:srgbClr val="404040"/>
                </a:solidFill>
                <a:latin typeface="Trebuchet MS" panose="020B0603020202020204"/>
                <a:cs typeface="Trebuchet MS" panose="020B0603020202020204"/>
              </a:rPr>
              <a:t>[</a:t>
            </a:r>
            <a:r>
              <a:rPr sz="1800" dirty="0">
                <a:solidFill>
                  <a:srgbClr val="404040"/>
                </a:solidFill>
                <a:latin typeface="Trebuchet MS" panose="020B0603020202020204"/>
                <a:cs typeface="Trebuchet MS" panose="020B0603020202020204"/>
              </a:rPr>
              <a:t>2</a:t>
            </a:r>
            <a:r>
              <a:rPr sz="1800" spc="-5" dirty="0">
                <a:solidFill>
                  <a:srgbClr val="404040"/>
                </a:solidFill>
                <a:latin typeface="Trebuchet MS" panose="020B0603020202020204"/>
                <a:cs typeface="Trebuchet MS" panose="020B0603020202020204"/>
              </a:rPr>
              <a:t>]</a:t>
            </a:r>
            <a:r>
              <a:rPr sz="1800" dirty="0">
                <a:solidFill>
                  <a:srgbClr val="404040"/>
                </a:solidFill>
                <a:latin typeface="Trebuchet MS" panose="020B0603020202020204"/>
                <a:cs typeface="Trebuchet MS" panose="020B0603020202020204"/>
              </a:rPr>
              <a:t>=7</a:t>
            </a:r>
            <a:endParaRPr sz="1800" dirty="0">
              <a:latin typeface="Trebuchet MS" panose="020B0603020202020204"/>
              <a:cs typeface="Trebuchet MS" panose="020B0603020202020204"/>
            </a:endParaRPr>
          </a:p>
        </p:txBody>
      </p:sp>
      <mc:AlternateContent xmlns:mc="http://schemas.openxmlformats.org/markup-compatibility/2006" xmlns:p14="http://schemas.microsoft.com/office/powerpoint/2010/main">
        <mc:Choice Requires="p14">
          <p:contentPart r:id="rId2" p14:bwMode="auto">
            <p14:nvContentPartPr>
              <p14:cNvPr id="12" name="墨迹 11"/>
              <p14:cNvContentPartPr/>
              <p14:nvPr/>
            </p14:nvContentPartPr>
            <p14:xfrm>
              <a:off x="1695450" y="3352800"/>
              <a:ext cx="1079500" cy="704850"/>
            </p14:xfrm>
          </p:contentPart>
        </mc:Choice>
        <mc:Fallback xmlns="">
          <p:pic>
            <p:nvPicPr>
              <p:cNvPr id="12" name="墨迹 11"/>
            </p:nvPicPr>
            <p:blipFill>
              <a:blip r:embed="rId3"/>
            </p:blipFill>
            <p:spPr>
              <a:xfrm>
                <a:off x="1695450" y="3352800"/>
                <a:ext cx="1079500" cy="704850"/>
              </a:xfrm>
              <a:prstGeom prst="rect"/>
            </p:spPr>
          </p:pic>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24204"/>
            <a:ext cx="960755" cy="574040"/>
          </a:xfrm>
          <a:prstGeom prst="rect">
            <a:avLst/>
          </a:prstGeom>
        </p:spPr>
        <p:txBody>
          <a:bodyPr vert="horz" wrap="square" lIns="0" tIns="12700" rIns="0" bIns="0" rtlCol="0">
            <a:spAutoFit/>
          </a:bodyPr>
          <a:lstStyle/>
          <a:p>
            <a:pPr marL="12700">
              <a:lnSpc>
                <a:spcPct val="100000"/>
              </a:lnSpc>
              <a:spcBef>
                <a:spcPts val="100"/>
              </a:spcBef>
            </a:pPr>
            <a:r>
              <a:rPr spc="-5" dirty="0"/>
              <a:t>SP</a:t>
            </a:r>
            <a:r>
              <a:rPr spc="-385" dirty="0"/>
              <a:t>F</a:t>
            </a:r>
            <a:r>
              <a:rPr dirty="0"/>
              <a:t>A</a:t>
            </a:r>
            <a:endParaRPr dirty="0"/>
          </a:p>
        </p:txBody>
      </p:sp>
      <p:pic>
        <p:nvPicPr>
          <p:cNvPr id="3" name="object 3"/>
          <p:cNvPicPr/>
          <p:nvPr/>
        </p:nvPicPr>
        <p:blipFill>
          <a:blip r:embed="rId1" cstate="print"/>
          <a:stretch>
            <a:fillRect/>
          </a:stretch>
        </p:blipFill>
        <p:spPr>
          <a:xfrm>
            <a:off x="676655" y="1426463"/>
            <a:ext cx="6400350" cy="923544"/>
          </a:xfrm>
          <a:prstGeom prst="rect">
            <a:avLst/>
          </a:prstGeom>
        </p:spPr>
      </p:pic>
      <p:pic>
        <p:nvPicPr>
          <p:cNvPr id="4" name="object 4"/>
          <p:cNvPicPr/>
          <p:nvPr/>
        </p:nvPicPr>
        <p:blipFill>
          <a:blip r:embed="rId2" cstate="print"/>
          <a:stretch>
            <a:fillRect/>
          </a:stretch>
        </p:blipFill>
        <p:spPr>
          <a:xfrm>
            <a:off x="676655" y="2549651"/>
            <a:ext cx="8406384" cy="3128772"/>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24204"/>
            <a:ext cx="960755" cy="574040"/>
          </a:xfrm>
          <a:prstGeom prst="rect">
            <a:avLst/>
          </a:prstGeom>
        </p:spPr>
        <p:txBody>
          <a:bodyPr vert="horz" wrap="square" lIns="0" tIns="12700" rIns="0" bIns="0" rtlCol="0">
            <a:spAutoFit/>
          </a:bodyPr>
          <a:lstStyle/>
          <a:p>
            <a:pPr marL="12700">
              <a:lnSpc>
                <a:spcPct val="100000"/>
              </a:lnSpc>
              <a:spcBef>
                <a:spcPts val="100"/>
              </a:spcBef>
            </a:pPr>
            <a:r>
              <a:rPr spc="-5" dirty="0"/>
              <a:t>SP</a:t>
            </a:r>
            <a:r>
              <a:rPr spc="-385" dirty="0"/>
              <a:t>F</a:t>
            </a:r>
            <a:r>
              <a:rPr dirty="0"/>
              <a:t>A</a:t>
            </a:r>
            <a:endParaRPr dirty="0"/>
          </a:p>
        </p:txBody>
      </p:sp>
      <p:pic>
        <p:nvPicPr>
          <p:cNvPr id="3" name="object 3"/>
          <p:cNvPicPr/>
          <p:nvPr/>
        </p:nvPicPr>
        <p:blipFill>
          <a:blip r:embed="rId1" cstate="print"/>
          <a:stretch>
            <a:fillRect/>
          </a:stretch>
        </p:blipFill>
        <p:spPr>
          <a:xfrm>
            <a:off x="3383279" y="1156716"/>
            <a:ext cx="5425439" cy="1985772"/>
          </a:xfrm>
          <a:prstGeom prst="rect">
            <a:avLst/>
          </a:prstGeom>
        </p:spPr>
      </p:pic>
      <p:pic>
        <p:nvPicPr>
          <p:cNvPr id="4" name="object 4"/>
          <p:cNvPicPr/>
          <p:nvPr/>
        </p:nvPicPr>
        <p:blipFill>
          <a:blip r:embed="rId2" cstate="print"/>
          <a:stretch>
            <a:fillRect/>
          </a:stretch>
        </p:blipFill>
        <p:spPr>
          <a:xfrm>
            <a:off x="3383279" y="3323844"/>
            <a:ext cx="5030724" cy="2924555"/>
          </a:xfrm>
          <a:prstGeom prst="rect">
            <a:avLst/>
          </a:prstGeom>
        </p:spPr>
      </p:pic>
      <p:sp>
        <p:nvSpPr>
          <p:cNvPr id="5" name="object 5"/>
          <p:cNvSpPr txBox="1"/>
          <p:nvPr/>
        </p:nvSpPr>
        <p:spPr>
          <a:xfrm>
            <a:off x="756069" y="1659191"/>
            <a:ext cx="163576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04040"/>
                </a:solidFill>
                <a:latin typeface="Trebuchet MS" panose="020B0603020202020204"/>
                <a:cs typeface="Trebuchet MS" panose="020B0603020202020204"/>
              </a:rPr>
              <a:t>S</a:t>
            </a:r>
            <a:r>
              <a:rPr sz="1800" dirty="0">
                <a:solidFill>
                  <a:srgbClr val="404040"/>
                </a:solidFill>
                <a:latin typeface="Trebuchet MS" panose="020B0603020202020204"/>
                <a:cs typeface="Trebuchet MS" panose="020B0603020202020204"/>
              </a:rPr>
              <a:t>P</a:t>
            </a:r>
            <a:r>
              <a:rPr sz="1800" spc="-195" dirty="0">
                <a:solidFill>
                  <a:srgbClr val="404040"/>
                </a:solidFill>
                <a:latin typeface="Trebuchet MS" panose="020B0603020202020204"/>
                <a:cs typeface="Trebuchet MS" panose="020B0603020202020204"/>
              </a:rPr>
              <a:t>F</a:t>
            </a:r>
            <a:r>
              <a:rPr sz="1800" spc="-5" dirty="0">
                <a:solidFill>
                  <a:srgbClr val="404040"/>
                </a:solidFill>
                <a:latin typeface="Trebuchet MS" panose="020B0603020202020204"/>
                <a:cs typeface="Trebuchet MS" panose="020B0603020202020204"/>
              </a:rPr>
              <a:t>A</a:t>
            </a:r>
            <a:r>
              <a:rPr sz="1800" dirty="0">
                <a:solidFill>
                  <a:srgbClr val="404040"/>
                </a:solidFill>
                <a:latin typeface="宋体" panose="02010600030101010101" pitchFamily="2" charset="-122"/>
                <a:cs typeface="宋体" panose="02010600030101010101" pitchFamily="2" charset="-122"/>
              </a:rPr>
              <a:t>求最短路：</a:t>
            </a:r>
            <a:endParaRPr sz="1800">
              <a:latin typeface="宋体" panose="02010600030101010101" pitchFamily="2" charset="-122"/>
              <a:cs typeface="宋体" panose="02010600030101010101" pitchFamily="2" charset="-122"/>
            </a:endParaRPr>
          </a:p>
        </p:txBody>
      </p:sp>
      <p:sp>
        <p:nvSpPr>
          <p:cNvPr id="6" name="object 6"/>
          <p:cNvSpPr txBox="1"/>
          <p:nvPr/>
        </p:nvSpPr>
        <p:spPr>
          <a:xfrm>
            <a:off x="756069" y="3665791"/>
            <a:ext cx="163576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404040"/>
                </a:solidFill>
                <a:latin typeface="Trebuchet MS" panose="020B0603020202020204"/>
                <a:cs typeface="Trebuchet MS" panose="020B0603020202020204"/>
              </a:rPr>
              <a:t>S</a:t>
            </a:r>
            <a:r>
              <a:rPr sz="1800" dirty="0">
                <a:solidFill>
                  <a:srgbClr val="404040"/>
                </a:solidFill>
                <a:latin typeface="Trebuchet MS" panose="020B0603020202020204"/>
                <a:cs typeface="Trebuchet MS" panose="020B0603020202020204"/>
              </a:rPr>
              <a:t>P</a:t>
            </a:r>
            <a:r>
              <a:rPr sz="1800" spc="-195" dirty="0">
                <a:solidFill>
                  <a:srgbClr val="404040"/>
                </a:solidFill>
                <a:latin typeface="Trebuchet MS" panose="020B0603020202020204"/>
                <a:cs typeface="Trebuchet MS" panose="020B0603020202020204"/>
              </a:rPr>
              <a:t>F</a:t>
            </a:r>
            <a:r>
              <a:rPr sz="1800" spc="-5" dirty="0">
                <a:solidFill>
                  <a:srgbClr val="404040"/>
                </a:solidFill>
                <a:latin typeface="Trebuchet MS" panose="020B0603020202020204"/>
                <a:cs typeface="Trebuchet MS" panose="020B0603020202020204"/>
              </a:rPr>
              <a:t>A</a:t>
            </a:r>
            <a:r>
              <a:rPr sz="1800" dirty="0">
                <a:solidFill>
                  <a:srgbClr val="404040"/>
                </a:solidFill>
                <a:latin typeface="宋体" panose="02010600030101010101" pitchFamily="2" charset="-122"/>
                <a:cs typeface="宋体" panose="02010600030101010101" pitchFamily="2" charset="-122"/>
              </a:rPr>
              <a:t>判断负环：</a:t>
            </a:r>
            <a:endParaRPr sz="1800">
              <a:latin typeface="宋体" panose="02010600030101010101" pitchFamily="2" charset="-122"/>
              <a:cs typeface="宋体" panose="02010600030101010101" pitchFamily="2" charset="-122"/>
            </a:endParaRPr>
          </a:p>
        </p:txBody>
      </p:sp>
      <mc:AlternateContent xmlns:mc="http://schemas.openxmlformats.org/markup-compatibility/2006" xmlns:p14="http://schemas.microsoft.com/office/powerpoint/2010/main">
        <mc:Choice Requires="p14">
          <p:contentPart r:id="rId3" p14:bwMode="auto">
            <p14:nvContentPartPr>
              <p14:cNvPr id="7" name="墨迹 6"/>
              <p14:cNvContentPartPr/>
              <p14:nvPr/>
            </p14:nvContentPartPr>
            <p14:xfrm>
              <a:off x="4476750" y="4603750"/>
              <a:ext cx="1860550" cy="273050"/>
            </p14:xfrm>
          </p:contentPart>
        </mc:Choice>
        <mc:Fallback xmlns="">
          <p:pic>
            <p:nvPicPr>
              <p:cNvPr id="7" name="墨迹 6"/>
            </p:nvPicPr>
            <p:blipFill>
              <a:blip r:embed="rId4"/>
            </p:blipFill>
            <p:spPr>
              <a:xfrm>
                <a:off x="4476750" y="4603750"/>
                <a:ext cx="1860550" cy="273050"/>
              </a:xfrm>
              <a:prstGeom prst="rect"/>
            </p:spPr>
          </p:pic>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32258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最短路方法比较</a:t>
            </a:r>
            <a:endParaRPr dirty="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676655" y="2555748"/>
            <a:ext cx="7845552" cy="1748027"/>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27686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多源汇最短路</a:t>
            </a:r>
            <a:endParaRPr dirty="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752855" y="1751076"/>
            <a:ext cx="3462423" cy="865964"/>
          </a:xfrm>
          <a:prstGeom prst="rect">
            <a:avLst/>
          </a:prstGeom>
        </p:spPr>
      </p:pic>
      <p:pic>
        <p:nvPicPr>
          <p:cNvPr id="4" name="object 4"/>
          <p:cNvPicPr/>
          <p:nvPr/>
        </p:nvPicPr>
        <p:blipFill>
          <a:blip r:embed="rId2" cstate="print"/>
          <a:stretch>
            <a:fillRect/>
          </a:stretch>
        </p:blipFill>
        <p:spPr>
          <a:xfrm>
            <a:off x="752855" y="3314700"/>
            <a:ext cx="6600444" cy="2219906"/>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3" name="object 3"/>
          <p:cNvSpPr txBox="1"/>
          <p:nvPr/>
        </p:nvSpPr>
        <p:spPr>
          <a:xfrm>
            <a:off x="756069" y="645159"/>
            <a:ext cx="27686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多源汇最短路</a:t>
            </a:r>
            <a:endParaRPr sz="3600">
              <a:latin typeface="宋体" panose="02010600030101010101" pitchFamily="2" charset="-122"/>
              <a:cs typeface="宋体" panose="02010600030101010101" pitchFamily="2" charset="-122"/>
            </a:endParaRPr>
          </a:p>
        </p:txBody>
      </p:sp>
      <p:sp>
        <p:nvSpPr>
          <p:cNvPr id="4" name="object 4"/>
          <p:cNvSpPr txBox="1"/>
          <p:nvPr/>
        </p:nvSpPr>
        <p:spPr>
          <a:xfrm>
            <a:off x="756069" y="1778203"/>
            <a:ext cx="1697989"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1"/>
              </a:rPr>
              <a:t>HDU2544</a:t>
            </a:r>
            <a:r>
              <a:rPr sz="1800" u="sng" spc="-65"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宋体" panose="02010600030101010101" pitchFamily="2" charset="-122"/>
                <a:cs typeface="宋体" panose="02010600030101010101" pitchFamily="2" charset="-122"/>
                <a:hlinkClick r:id="rId1"/>
              </a:rPr>
              <a:t>最短路</a:t>
            </a:r>
            <a:endParaRPr sz="1800">
              <a:latin typeface="宋体" panose="02010600030101010101" pitchFamily="2" charset="-122"/>
              <a:cs typeface="宋体" panose="02010600030101010101" pitchFamily="2" charset="-122"/>
            </a:endParaRPr>
          </a:p>
        </p:txBody>
      </p:sp>
      <p:pic>
        <p:nvPicPr>
          <p:cNvPr id="5" name="object 5"/>
          <p:cNvPicPr/>
          <p:nvPr/>
        </p:nvPicPr>
        <p:blipFill>
          <a:blip r:embed="rId2" cstate="print"/>
          <a:stretch>
            <a:fillRect/>
          </a:stretch>
        </p:blipFill>
        <p:spPr>
          <a:xfrm>
            <a:off x="676655" y="2301239"/>
            <a:ext cx="8359140" cy="10287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27686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多源汇最短路</a:t>
            </a:r>
            <a:endParaRPr dirty="0">
              <a:latin typeface="宋体" panose="02010600030101010101" pitchFamily="2" charset="-122"/>
              <a:cs typeface="宋体" panose="02010600030101010101" pitchFamily="2" charset="-122"/>
            </a:endParaRPr>
          </a:p>
        </p:txBody>
      </p:sp>
      <p:sp>
        <p:nvSpPr>
          <p:cNvPr id="3" name="object 3"/>
          <p:cNvSpPr txBox="1"/>
          <p:nvPr/>
        </p:nvSpPr>
        <p:spPr>
          <a:xfrm>
            <a:off x="756069" y="3638600"/>
            <a:ext cx="1779270"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1"/>
              </a:rPr>
              <a:t>EOlymp975</a:t>
            </a:r>
            <a:r>
              <a:rPr sz="1800" u="sng" spc="-45" dirty="0">
                <a:solidFill>
                  <a:srgbClr val="99C93B"/>
                </a:solidFill>
                <a:uFill>
                  <a:solidFill>
                    <a:srgbClr val="99C93B"/>
                  </a:solidFill>
                </a:uFill>
                <a:latin typeface="Trebuchet MS" panose="020B0603020202020204"/>
                <a:cs typeface="Trebuchet MS" panose="020B0603020202020204"/>
                <a:hlinkClick r:id="rId1"/>
              </a:rPr>
              <a:t> </a:t>
            </a:r>
            <a:r>
              <a:rPr sz="1800" u="sng" spc="-5" dirty="0">
                <a:solidFill>
                  <a:srgbClr val="99C93B"/>
                </a:solidFill>
                <a:uFill>
                  <a:solidFill>
                    <a:srgbClr val="99C93B"/>
                  </a:solidFill>
                </a:uFill>
                <a:latin typeface="Trebuchet MS" panose="020B0603020202020204"/>
                <a:cs typeface="Trebuchet MS" panose="020B0603020202020204"/>
                <a:hlinkClick r:id="rId1"/>
              </a:rPr>
              <a:t>Floyd</a:t>
            </a:r>
            <a:endParaRPr sz="1800">
              <a:latin typeface="Trebuchet MS" panose="020B0603020202020204"/>
              <a:cs typeface="Trebuchet MS" panose="020B0603020202020204"/>
            </a:endParaRPr>
          </a:p>
        </p:txBody>
      </p:sp>
      <p:sp>
        <p:nvSpPr>
          <p:cNvPr id="4" name="object 4"/>
          <p:cNvSpPr txBox="1"/>
          <p:nvPr/>
        </p:nvSpPr>
        <p:spPr>
          <a:xfrm>
            <a:off x="756069" y="1778203"/>
            <a:ext cx="1697989"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2"/>
              </a:rPr>
              <a:t>HDU2544</a:t>
            </a:r>
            <a:r>
              <a:rPr sz="1800" u="sng" spc="-65" dirty="0">
                <a:solidFill>
                  <a:srgbClr val="99C93B"/>
                </a:solidFill>
                <a:uFill>
                  <a:solidFill>
                    <a:srgbClr val="99C93B"/>
                  </a:solidFill>
                </a:uFill>
                <a:latin typeface="Trebuchet MS" panose="020B0603020202020204"/>
                <a:cs typeface="Trebuchet MS" panose="020B0603020202020204"/>
                <a:hlinkClick r:id="rId2"/>
              </a:rPr>
              <a:t> </a:t>
            </a:r>
            <a:r>
              <a:rPr sz="1800" u="sng" dirty="0">
                <a:solidFill>
                  <a:srgbClr val="99C93B"/>
                </a:solidFill>
                <a:uFill>
                  <a:solidFill>
                    <a:srgbClr val="99C93B"/>
                  </a:solidFill>
                </a:uFill>
                <a:latin typeface="宋体" panose="02010600030101010101" pitchFamily="2" charset="-122"/>
                <a:cs typeface="宋体" panose="02010600030101010101" pitchFamily="2" charset="-122"/>
                <a:hlinkClick r:id="rId2"/>
              </a:rPr>
              <a:t>最短路</a:t>
            </a:r>
            <a:endParaRPr sz="1800">
              <a:latin typeface="宋体" panose="02010600030101010101" pitchFamily="2" charset="-122"/>
              <a:cs typeface="宋体" panose="02010600030101010101" pitchFamily="2" charset="-122"/>
            </a:endParaRPr>
          </a:p>
        </p:txBody>
      </p:sp>
      <p:pic>
        <p:nvPicPr>
          <p:cNvPr id="5" name="object 5"/>
          <p:cNvPicPr/>
          <p:nvPr/>
        </p:nvPicPr>
        <p:blipFill>
          <a:blip r:embed="rId3" cstate="print"/>
          <a:stretch>
            <a:fillRect/>
          </a:stretch>
        </p:blipFill>
        <p:spPr>
          <a:xfrm>
            <a:off x="676655" y="2301239"/>
            <a:ext cx="8359140" cy="1028700"/>
          </a:xfrm>
          <a:prstGeom prst="rect">
            <a:avLst/>
          </a:prstGeom>
        </p:spPr>
      </p:pic>
      <p:pic>
        <p:nvPicPr>
          <p:cNvPr id="6" name="object 6"/>
          <p:cNvPicPr/>
          <p:nvPr/>
        </p:nvPicPr>
        <p:blipFill>
          <a:blip r:embed="rId4" cstate="print"/>
          <a:stretch>
            <a:fillRect/>
          </a:stretch>
        </p:blipFill>
        <p:spPr>
          <a:xfrm>
            <a:off x="676655" y="4358640"/>
            <a:ext cx="8359140" cy="1025651"/>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多源汇最短路</a:t>
            </a:r>
            <a:endParaRPr lang="zh-CN" altLang="en-US" dirty="0"/>
          </a:p>
        </p:txBody>
      </p:sp>
      <p:pic>
        <p:nvPicPr>
          <p:cNvPr id="5" name="图片 4"/>
          <p:cNvPicPr>
            <a:picLocks noChangeAspect="1"/>
          </p:cNvPicPr>
          <p:nvPr/>
        </p:nvPicPr>
        <p:blipFill>
          <a:blip r:embed="rId1"/>
          <a:stretch>
            <a:fillRect/>
          </a:stretch>
        </p:blipFill>
        <p:spPr>
          <a:xfrm>
            <a:off x="389728" y="2667000"/>
            <a:ext cx="11412543" cy="2695951"/>
          </a:xfrm>
          <a:prstGeom prst="rect">
            <a:avLst/>
          </a:prstGeom>
        </p:spPr>
      </p:pic>
      <p:sp>
        <p:nvSpPr>
          <p:cNvPr id="7" name="文本框 6"/>
          <p:cNvSpPr txBox="1"/>
          <p:nvPr/>
        </p:nvSpPr>
        <p:spPr>
          <a:xfrm>
            <a:off x="420208" y="1752600"/>
            <a:ext cx="6096000" cy="369332"/>
          </a:xfrm>
          <a:prstGeom prst="rect">
            <a:avLst/>
          </a:prstGeom>
          <a:noFill/>
        </p:spPr>
        <p:txBody>
          <a:bodyPr wrap="square">
            <a:spAutoFit/>
          </a:bodyPr>
          <a:lstStyle/>
          <a:p>
            <a:r>
              <a:rPr lang="zh-CN" altLang="en-US" dirty="0"/>
              <a:t>思考，当边权带修时，更新</a:t>
            </a:r>
            <a:r>
              <a:rPr lang="en-US" altLang="zh-CN" dirty="0"/>
              <a:t>dis</a:t>
            </a:r>
            <a:r>
              <a:rPr lang="zh-CN" altLang="en-US" dirty="0"/>
              <a:t>数组的代价是多少？</a:t>
            </a:r>
            <a:endParaRPr lang="zh-CN" altLang="en-US" dirty="0"/>
          </a:p>
        </p:txBody>
      </p:sp>
      <p:pic>
        <p:nvPicPr>
          <p:cNvPr id="9" name="图片 8"/>
          <p:cNvPicPr>
            <a:picLocks noChangeAspect="1"/>
          </p:cNvPicPr>
          <p:nvPr/>
        </p:nvPicPr>
        <p:blipFill>
          <a:blip r:embed="rId2"/>
          <a:stretch>
            <a:fillRect/>
          </a:stretch>
        </p:blipFill>
        <p:spPr>
          <a:xfrm>
            <a:off x="6172200" y="507069"/>
            <a:ext cx="2591162" cy="2124371"/>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多源汇最短路</a:t>
            </a:r>
            <a:endParaRPr lang="zh-CN" altLang="en-US" dirty="0"/>
          </a:p>
        </p:txBody>
      </p:sp>
      <mc:AlternateContent xmlns:mc="http://schemas.openxmlformats.org/markup-compatibility/2006">
        <mc:Choice xmlns:a14="http://schemas.microsoft.com/office/drawing/2010/main" Requires="a14">
          <p:sp>
            <p:nvSpPr>
              <p:cNvPr id="3" name="文本占位符 2"/>
              <p:cNvSpPr>
                <a:spLocks noGrp="1"/>
              </p:cNvSpPr>
              <p:nvPr>
                <p:ph type="body" idx="1"/>
              </p:nvPr>
            </p:nvSpPr>
            <p:spPr>
              <a:xfrm>
                <a:off x="756068" y="1688148"/>
                <a:ext cx="6787732" cy="2492990"/>
              </a:xfrm>
            </p:spPr>
            <p:txBody>
              <a:bodyPr/>
              <a:lstStyle/>
              <a:p>
                <a:r>
                  <a:rPr lang="en-US" altLang="zh-CN" dirty="0"/>
                  <a:t>•</a:t>
                </a:r>
                <a:r>
                  <a:rPr lang="zh-CN" altLang="en-US" dirty="0"/>
                  <a:t>考虑机场部分：</a:t>
                </a:r>
                <a:endParaRPr lang="en-US" altLang="zh-CN" dirty="0"/>
              </a:p>
              <a:p>
                <a:r>
                  <a:rPr lang="zh-CN" altLang="en-US" dirty="0"/>
                  <a:t>可以对所有机场建超级源点，边权为</a:t>
                </a:r>
                <a:r>
                  <a:rPr lang="en-US" altLang="zh-CN" dirty="0"/>
                  <a:t>T</a:t>
                </a:r>
                <a:r>
                  <a:rPr lang="zh-CN" altLang="en-US" dirty="0"/>
                  <a:t>，双向边，同时将所有边权倍长，最后答案除以</a:t>
                </a:r>
                <a:r>
                  <a:rPr lang="en-US" altLang="zh-CN" dirty="0"/>
                  <a:t>2</a:t>
                </a:r>
                <a:r>
                  <a:rPr lang="zh-CN" altLang="en-US" dirty="0"/>
                  <a:t>即可</a:t>
                </a:r>
                <a:endParaRPr lang="en-US" altLang="zh-CN" dirty="0"/>
              </a:p>
              <a:p>
                <a:endParaRPr lang="en-US" altLang="zh-CN" dirty="0"/>
              </a:p>
              <a:p>
                <a:r>
                  <a:rPr lang="en-US" altLang="zh-CN" dirty="0"/>
                  <a:t>•</a:t>
                </a:r>
                <a:r>
                  <a:rPr lang="zh-CN" altLang="en-US" dirty="0"/>
                  <a:t>经过上述处理，操作</a:t>
                </a:r>
                <a:r>
                  <a:rPr lang="en-US" altLang="zh-CN" dirty="0"/>
                  <a:t>1</a:t>
                </a:r>
                <a:r>
                  <a:rPr lang="zh-CN" altLang="en-US" dirty="0"/>
                  <a:t>和</a:t>
                </a:r>
                <a:r>
                  <a:rPr lang="en-US" altLang="zh-CN" dirty="0"/>
                  <a:t>2</a:t>
                </a:r>
                <a:r>
                  <a:rPr lang="zh-CN" altLang="en-US" dirty="0"/>
                  <a:t>本质上就是同一种操作</a:t>
                </a:r>
                <a:r>
                  <a:rPr lang="en-US" altLang="zh-CN" dirty="0"/>
                  <a:t>-&gt;</a:t>
                </a:r>
                <a:r>
                  <a:rPr lang="zh-CN" altLang="en-US" dirty="0"/>
                  <a:t>修改边权</a:t>
                </a:r>
                <a:endParaRPr lang="en-US" altLang="zh-CN" dirty="0"/>
              </a:p>
              <a:p>
                <a:r>
                  <a:rPr lang="zh-CN" altLang="en-US" dirty="0"/>
                  <a:t>对于修改的边权</a:t>
                </a:r>
                <a:r>
                  <a:rPr lang="en-US" altLang="zh-CN" dirty="0"/>
                  <a:t>u</a:t>
                </a:r>
                <a:r>
                  <a:rPr lang="zh-CN" altLang="en-US" dirty="0"/>
                  <a:t>，</a:t>
                </a:r>
                <a:r>
                  <a:rPr lang="en-US" altLang="zh-CN" dirty="0"/>
                  <a:t>v</a:t>
                </a:r>
                <a:r>
                  <a:rPr lang="zh-CN" altLang="en-US" dirty="0"/>
                  <a:t>，我们枚举</a:t>
                </a:r>
                <a:r>
                  <a:rPr lang="en-US" altLang="zh-CN" dirty="0"/>
                  <a:t>(</a:t>
                </a:r>
                <a:r>
                  <a:rPr lang="en-US" altLang="zh-CN" dirty="0" err="1"/>
                  <a:t>i,j</a:t>
                </a:r>
                <a:r>
                  <a:rPr lang="en-US" altLang="zh-CN" dirty="0"/>
                  <a:t>)</a:t>
                </a:r>
                <a:r>
                  <a:rPr lang="zh-CN" altLang="en-US" dirty="0"/>
                  <a:t>，修改的路径只能是</a:t>
                </a:r>
                <a:r>
                  <a:rPr lang="en-US" altLang="zh-CN" dirty="0" err="1"/>
                  <a:t>i</a:t>
                </a:r>
                <a:r>
                  <a:rPr lang="en-US" altLang="zh-CN" dirty="0"/>
                  <a:t>-&gt;u-&gt;v-&gt;j</a:t>
                </a:r>
                <a:r>
                  <a:rPr lang="zh-CN" altLang="en-US" dirty="0"/>
                  <a:t>或者</a:t>
                </a:r>
                <a:r>
                  <a:rPr lang="en-US" altLang="zh-CN" dirty="0" err="1"/>
                  <a:t>i</a:t>
                </a:r>
                <a:r>
                  <a:rPr lang="en-US" altLang="zh-CN" dirty="0"/>
                  <a:t>-&gt;v-&gt;u-&gt;j</a:t>
                </a:r>
                <a:r>
                  <a:rPr lang="zh-CN" altLang="en-US" dirty="0"/>
                  <a:t>，暴力更新即可</a:t>
                </a:r>
                <a:endParaRPr lang="en-US" altLang="zh-CN" dirty="0"/>
              </a:p>
              <a:p>
                <a:endParaRPr lang="en-US" altLang="zh-CN" dirty="0"/>
              </a:p>
              <a:p>
                <a:r>
                  <a:rPr lang="en-US" altLang="zh-CN" dirty="0"/>
                  <a:t>•</a:t>
                </a:r>
                <a:r>
                  <a:rPr lang="zh-CN" altLang="en-US" dirty="0"/>
                  <a:t>复杂度</a:t>
                </a:r>
                <a:r>
                  <a:rPr lang="en-US" altLang="zh-CN" dirty="0"/>
                  <a:t>O(</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𝑛</m:t>
                        </m:r>
                      </m:e>
                      <m:sup>
                        <m:r>
                          <a:rPr lang="en-US" altLang="zh-CN" b="0" i="1" smtClean="0">
                            <a:latin typeface="Cambria Math" panose="02040503050406030204" pitchFamily="18" charset="0"/>
                          </a:rPr>
                          <m:t>3</m:t>
                        </m:r>
                      </m:sup>
                    </m:sSup>
                    <m:r>
                      <a:rPr lang="en-US" altLang="zh-CN" b="0" i="1" smtClean="0">
                        <a:latin typeface="Cambria Math" panose="02040503050406030204" pitchFamily="18" charset="0"/>
                      </a:rPr>
                      <m:t>+ </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𝑛</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𝑞</m:t>
                    </m:r>
                  </m:oMath>
                </a14:m>
                <a:r>
                  <a:rPr lang="en-US" altLang="zh-CN" dirty="0"/>
                  <a:t>)</a:t>
                </a:r>
                <a:endParaRPr lang="zh-CN" altLang="en-US" dirty="0"/>
              </a:p>
            </p:txBody>
          </p:sp>
        </mc:Choice>
        <mc:Fallback>
          <p:sp>
            <p:nvSpPr>
              <p:cNvPr id="3" name="文本占位符 2"/>
              <p:cNvSpPr>
                <a:spLocks noRot="1" noChangeAspect="1" noMove="1" noResize="1" noEditPoints="1" noAdjustHandles="1" noChangeArrowheads="1" noChangeShapeType="1" noTextEdit="1"/>
              </p:cNvSpPr>
              <p:nvPr>
                <p:ph type="body" idx="1"/>
              </p:nvPr>
            </p:nvSpPr>
            <p:spPr>
              <a:xfrm>
                <a:off x="756068" y="1688148"/>
                <a:ext cx="6787732" cy="2492990"/>
              </a:xfrm>
              <a:blipFill rotWithShape="1">
                <a:blip r:embed="rId1"/>
                <a:stretch>
                  <a:fillRect l="-6" t="-115" b="12"/>
                </a:stretch>
              </a:blipFill>
            </p:spPr>
            <p:txBody>
              <a:bodyPr/>
              <a:lstStyle/>
              <a:p>
                <a:r>
                  <a:rPr lang="zh-CN" altLang="en-US">
                    <a:noFill/>
                  </a:rPr>
                  <a:t> </a:t>
                </a:r>
              </a:p>
            </p:txBody>
          </p:sp>
        </mc:Fallback>
      </mc:AlternateContent>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扩展：次短路</a:t>
            </a:r>
            <a:endParaRPr lang="zh-CN" altLang="en-US" dirty="0"/>
          </a:p>
        </p:txBody>
      </p:sp>
      <p:sp>
        <p:nvSpPr>
          <p:cNvPr id="5" name="文本框 4"/>
          <p:cNvSpPr txBox="1"/>
          <p:nvPr/>
        </p:nvSpPr>
        <p:spPr>
          <a:xfrm>
            <a:off x="685800" y="1828800"/>
            <a:ext cx="6096000" cy="646331"/>
          </a:xfrm>
          <a:prstGeom prst="rect">
            <a:avLst/>
          </a:prstGeom>
          <a:noFill/>
        </p:spPr>
        <p:txBody>
          <a:bodyPr wrap="square">
            <a:spAutoFit/>
          </a:bodyPr>
          <a:lstStyle/>
          <a:p>
            <a:r>
              <a:rPr lang="zh-CN" altLang="en-US" b="0" dirty="0">
                <a:effectLst/>
                <a:latin typeface="Cascadia code Italic" panose="020B0609020000020004" pitchFamily="49" charset="0"/>
              </a:rPr>
              <a:t>给定一张</a:t>
            </a:r>
            <a:r>
              <a:rPr lang="en-US" altLang="zh-CN" b="0" dirty="0">
                <a:effectLst/>
                <a:latin typeface="Cascadia code Italic" panose="020B0609020000020004" pitchFamily="49" charset="0"/>
              </a:rPr>
              <a:t>N</a:t>
            </a:r>
            <a:r>
              <a:rPr lang="zh-CN" altLang="en-US" b="0" dirty="0">
                <a:effectLst/>
                <a:latin typeface="Cascadia code Italic" panose="020B0609020000020004" pitchFamily="49" charset="0"/>
              </a:rPr>
              <a:t>个点、</a:t>
            </a:r>
            <a:r>
              <a:rPr lang="en-US" altLang="zh-CN" b="0" dirty="0">
                <a:effectLst/>
                <a:latin typeface="Cascadia code Italic" panose="020B0609020000020004" pitchFamily="49" charset="0"/>
              </a:rPr>
              <a:t>M</a:t>
            </a:r>
            <a:r>
              <a:rPr lang="zh-CN" altLang="en-US" b="0" dirty="0">
                <a:effectLst/>
                <a:latin typeface="Cascadia code Italic" panose="020B0609020000020004" pitchFamily="49" charset="0"/>
              </a:rPr>
              <a:t>条边的无向图，每条边有边权。请求出从节点</a:t>
            </a:r>
            <a:r>
              <a:rPr lang="en-US" altLang="zh-CN" b="0" dirty="0">
                <a:effectLst/>
                <a:latin typeface="Cascadia code Italic" panose="020B0609020000020004" pitchFamily="49" charset="0"/>
              </a:rPr>
              <a:t>1</a:t>
            </a:r>
            <a:r>
              <a:rPr lang="zh-CN" altLang="en-US" b="0" dirty="0">
                <a:effectLst/>
                <a:latin typeface="Cascadia code Italic" panose="020B0609020000020004" pitchFamily="49" charset="0"/>
              </a:rPr>
              <a:t>到节点</a:t>
            </a:r>
            <a:r>
              <a:rPr lang="en-US" altLang="zh-CN" b="0" dirty="0">
                <a:effectLst/>
                <a:latin typeface="Cascadia code Italic" panose="020B0609020000020004" pitchFamily="49" charset="0"/>
              </a:rPr>
              <a:t>N</a:t>
            </a:r>
            <a:r>
              <a:rPr lang="zh-CN" altLang="en-US" b="0" dirty="0">
                <a:effectLst/>
                <a:latin typeface="Cascadia code Italic" panose="020B0609020000020004" pitchFamily="49" charset="0"/>
              </a:rPr>
              <a:t>的严格次短路的长度。</a:t>
            </a:r>
            <a:endParaRPr lang="zh-CN" altLang="en-US" b="0" dirty="0">
              <a:effectLst/>
              <a:latin typeface="Cascadia code Italic" panose="020B0609020000020004" pitchFamily="49" charset="0"/>
            </a:endParaRPr>
          </a:p>
        </p:txBody>
      </p:sp>
      <p:sp>
        <p:nvSpPr>
          <p:cNvPr id="6" name="文本框 5"/>
          <p:cNvSpPr txBox="1"/>
          <p:nvPr/>
        </p:nvSpPr>
        <p:spPr>
          <a:xfrm>
            <a:off x="705465" y="3667432"/>
            <a:ext cx="3276600" cy="369332"/>
          </a:xfrm>
          <a:prstGeom prst="rect">
            <a:avLst/>
          </a:prstGeom>
          <a:noFill/>
        </p:spPr>
        <p:txBody>
          <a:bodyPr wrap="square" rtlCol="0">
            <a:spAutoFit/>
          </a:bodyPr>
          <a:lstStyle/>
          <a:p>
            <a:r>
              <a:rPr lang="zh-CN" altLang="en-US" dirty="0"/>
              <a:t>可以从两个方向思考</a:t>
            </a:r>
            <a:endParaRPr lang="zh-CN"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扩展：次短路</a:t>
            </a:r>
            <a:endParaRPr lang="zh-CN" altLang="en-US" dirty="0"/>
          </a:p>
        </p:txBody>
      </p:sp>
      <mc:AlternateContent xmlns:mc="http://schemas.openxmlformats.org/markup-compatibility/2006">
        <mc:Choice xmlns:a14="http://schemas.microsoft.com/office/drawing/2010/main" Requires="a14">
          <p:sp>
            <p:nvSpPr>
              <p:cNvPr id="4" name="文本框 3"/>
              <p:cNvSpPr txBox="1"/>
              <p:nvPr/>
            </p:nvSpPr>
            <p:spPr>
              <a:xfrm>
                <a:off x="756069" y="1676400"/>
                <a:ext cx="4273131" cy="923330"/>
              </a:xfrm>
              <a:prstGeom prst="rect">
                <a:avLst/>
              </a:prstGeom>
              <a:noFill/>
            </p:spPr>
            <p:txBody>
              <a:bodyPr wrap="square" rtlCol="0">
                <a:spAutoFit/>
              </a:bodyPr>
              <a:lstStyle/>
              <a:p>
                <a:r>
                  <a:rPr lang="zh-CN" altLang="en-US" dirty="0"/>
                  <a:t>考虑对每个节点</a:t>
                </a:r>
                <a:r>
                  <a:rPr lang="en-US" altLang="zh-CN" dirty="0"/>
                  <a:t>u</a:t>
                </a:r>
                <a:r>
                  <a:rPr lang="zh-CN" altLang="en-US" dirty="0"/>
                  <a:t>维护两个距离信息：</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𝑑</m:t>
                        </m:r>
                        <m:r>
                          <a:rPr lang="en-US" altLang="zh-CN" b="0" i="1" smtClean="0">
                            <a:latin typeface="Cambria Math" panose="02040503050406030204" pitchFamily="18" charset="0"/>
                          </a:rPr>
                          <m:t>1</m:t>
                        </m:r>
                      </m:e>
                      <m:sub>
                        <m:r>
                          <a:rPr lang="en-US" altLang="zh-CN" b="0" i="1" smtClean="0">
                            <a:latin typeface="Cambria Math" panose="02040503050406030204" pitchFamily="18" charset="0"/>
                          </a:rPr>
                          <m:t>𝑢</m:t>
                        </m:r>
                      </m:sub>
                    </m:sSub>
                  </m:oMath>
                </a14:m>
                <a:r>
                  <a:rPr lang="en-US" altLang="zh-CN" dirty="0"/>
                  <a:t>: </a:t>
                </a:r>
                <a:r>
                  <a:rPr lang="zh-CN" altLang="en-US" dirty="0"/>
                  <a:t>从源点</a:t>
                </a:r>
                <a:r>
                  <a:rPr lang="en-US" altLang="zh-CN" dirty="0"/>
                  <a:t>s</a:t>
                </a:r>
                <a:r>
                  <a:rPr lang="zh-CN" altLang="en-US" dirty="0"/>
                  <a:t>到节点</a:t>
                </a:r>
                <a:r>
                  <a:rPr lang="en-US" altLang="zh-CN" dirty="0"/>
                  <a:t>u</a:t>
                </a:r>
                <a:r>
                  <a:rPr lang="zh-CN" altLang="en-US" dirty="0"/>
                  <a:t>的最短路</a:t>
                </a:r>
                <a:endParaRPr lang="en-US" altLang="zh-CN" dirty="0"/>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𝑑</m:t>
                        </m:r>
                        <m:r>
                          <a:rPr lang="en-US" altLang="zh-CN" b="0" i="1" smtClean="0">
                            <a:latin typeface="Cambria Math" panose="02040503050406030204" pitchFamily="18" charset="0"/>
                          </a:rPr>
                          <m:t>2</m:t>
                        </m:r>
                      </m:e>
                      <m:sub>
                        <m:r>
                          <a:rPr lang="en-US" altLang="zh-CN" b="0" i="1" smtClean="0">
                            <a:latin typeface="Cambria Math" panose="02040503050406030204" pitchFamily="18" charset="0"/>
                          </a:rPr>
                          <m:t>𝑢</m:t>
                        </m:r>
                      </m:sub>
                    </m:sSub>
                  </m:oMath>
                </a14:m>
                <a:r>
                  <a:rPr lang="en-US" altLang="zh-CN" dirty="0"/>
                  <a:t>: </a:t>
                </a:r>
                <a:r>
                  <a:rPr lang="zh-CN" altLang="en-US" dirty="0"/>
                  <a:t>从源点</a:t>
                </a:r>
                <a:r>
                  <a:rPr lang="en-US" altLang="zh-CN" dirty="0"/>
                  <a:t>s</a:t>
                </a:r>
                <a:r>
                  <a:rPr lang="zh-CN" altLang="en-US" dirty="0"/>
                  <a:t>到节点</a:t>
                </a:r>
                <a:r>
                  <a:rPr lang="en-US" altLang="zh-CN" dirty="0"/>
                  <a:t>u</a:t>
                </a:r>
                <a:r>
                  <a:rPr lang="zh-CN" altLang="en-US" dirty="0"/>
                  <a:t>的次短路</a:t>
                </a:r>
                <a:endParaRPr lang="zh-CN" altLang="en-US" dirty="0"/>
              </a:p>
            </p:txBody>
          </p:sp>
        </mc:Choice>
        <mc:Fallback>
          <p:sp>
            <p:nvSpPr>
              <p:cNvPr id="4" name="文本框 3"/>
              <p:cNvSpPr txBox="1">
                <a:spLocks noRot="1" noChangeAspect="1" noMove="1" noResize="1" noEditPoints="1" noAdjustHandles="1" noChangeArrowheads="1" noChangeShapeType="1" noTextEdit="1"/>
              </p:cNvSpPr>
              <p:nvPr/>
            </p:nvSpPr>
            <p:spPr>
              <a:xfrm>
                <a:off x="756069" y="1676400"/>
                <a:ext cx="4273131" cy="923330"/>
              </a:xfrm>
              <a:prstGeom prst="rect">
                <a:avLst/>
              </a:prstGeom>
              <a:blipFill rotWithShape="1">
                <a:blip r:embed="rId1"/>
                <a:stretch>
                  <a:fillRect l="-10" b="4"/>
                </a:stretch>
              </a:blipFill>
            </p:spPr>
            <p:txBody>
              <a:bodyPr/>
              <a:lstStyle/>
              <a:p>
                <a:r>
                  <a:rPr lang="zh-CN" altLang="en-US">
                    <a:noFill/>
                  </a:rPr>
                  <a:t> </a:t>
                </a:r>
              </a:p>
            </p:txBody>
          </p:sp>
        </mc:Fallback>
      </mc:AlternateContent>
      <p:sp>
        <p:nvSpPr>
          <p:cNvPr id="6" name="文本框 5"/>
          <p:cNvSpPr txBox="1"/>
          <p:nvPr/>
        </p:nvSpPr>
        <p:spPr>
          <a:xfrm>
            <a:off x="741320" y="2967335"/>
            <a:ext cx="8478879" cy="923330"/>
          </a:xfrm>
          <a:prstGeom prst="rect">
            <a:avLst/>
          </a:prstGeom>
          <a:noFill/>
        </p:spPr>
        <p:txBody>
          <a:bodyPr wrap="square">
            <a:spAutoFit/>
          </a:bodyPr>
          <a:lstStyle/>
          <a:p>
            <a:r>
              <a:rPr lang="zh-CN" altLang="en-US" b="0" dirty="0">
                <a:effectLst/>
                <a:latin typeface="Cascadia code Italic" panose="020B0609020000020004" pitchFamily="49" charset="0"/>
              </a:rPr>
              <a:t>当我们从优先队列中取出一个状态</a:t>
            </a:r>
            <a:r>
              <a:rPr lang="en-US" altLang="zh-CN" b="0" dirty="0">
                <a:effectLst/>
                <a:latin typeface="Cascadia code Italic" panose="020B0609020000020004" pitchFamily="49" charset="0"/>
              </a:rPr>
              <a:t>(</a:t>
            </a:r>
            <a:r>
              <a:rPr lang="en-US" altLang="zh-CN" b="0" dirty="0" err="1">
                <a:effectLst/>
                <a:latin typeface="Cascadia code Italic" panose="020B0609020000020004" pitchFamily="49" charset="0"/>
              </a:rPr>
              <a:t>d,u</a:t>
            </a:r>
            <a:r>
              <a:rPr lang="en-US" altLang="zh-CN" b="0" dirty="0">
                <a:effectLst/>
                <a:latin typeface="Cascadia code Italic" panose="020B0609020000020004" pitchFamily="49" charset="0"/>
              </a:rPr>
              <a:t>) </a:t>
            </a:r>
            <a:r>
              <a:rPr lang="zh-CN" altLang="en-US" b="0" dirty="0">
                <a:effectLst/>
                <a:latin typeface="Cascadia code Italic" panose="020B0609020000020004" pitchFamily="49" charset="0"/>
              </a:rPr>
              <a:t>，表示发现一条从</a:t>
            </a:r>
            <a:r>
              <a:rPr lang="en-US" altLang="zh-CN" b="0" dirty="0">
                <a:effectLst/>
                <a:latin typeface="Cascadia code Italic" panose="020B0609020000020004" pitchFamily="49" charset="0"/>
              </a:rPr>
              <a:t>s</a:t>
            </a:r>
            <a:r>
              <a:rPr lang="zh-CN" altLang="en-US" b="0" dirty="0">
                <a:effectLst/>
                <a:latin typeface="Cascadia code Italic" panose="020B0609020000020004" pitchFamily="49" charset="0"/>
              </a:rPr>
              <a:t>到</a:t>
            </a:r>
            <a:r>
              <a:rPr lang="en-US" altLang="zh-CN" b="0" dirty="0">
                <a:effectLst/>
                <a:latin typeface="Cascadia code Italic" panose="020B0609020000020004" pitchFamily="49" charset="0"/>
              </a:rPr>
              <a:t>u</a:t>
            </a:r>
            <a:r>
              <a:rPr lang="zh-CN" altLang="en-US" b="0" dirty="0">
                <a:effectLst/>
                <a:latin typeface="Cascadia code Italic" panose="020B0609020000020004" pitchFamily="49" charset="0"/>
              </a:rPr>
              <a:t>长度为</a:t>
            </a:r>
            <a:r>
              <a:rPr lang="en-US" altLang="zh-CN" b="0" dirty="0">
                <a:effectLst/>
                <a:latin typeface="Cascadia code Italic" panose="020B0609020000020004" pitchFamily="49" charset="0"/>
              </a:rPr>
              <a:t>d</a:t>
            </a:r>
            <a:r>
              <a:rPr lang="zh-CN" altLang="en-US" b="0" dirty="0">
                <a:effectLst/>
                <a:latin typeface="Cascadia code Italic" panose="020B0609020000020004" pitchFamily="49" charset="0"/>
              </a:rPr>
              <a:t>的路径时，对于</a:t>
            </a:r>
            <a:r>
              <a:rPr lang="en-US" altLang="zh-CN" b="0" dirty="0">
                <a:effectLst/>
                <a:latin typeface="Cascadia code Italic" panose="020B0609020000020004" pitchFamily="49" charset="0"/>
              </a:rPr>
              <a:t>u</a:t>
            </a:r>
            <a:r>
              <a:rPr lang="zh-CN" altLang="en-US" b="0" dirty="0">
                <a:effectLst/>
                <a:latin typeface="Cascadia code Italic" panose="020B0609020000020004" pitchFamily="49" charset="0"/>
              </a:rPr>
              <a:t>的每个邻居</a:t>
            </a:r>
            <a:r>
              <a:rPr lang="en-US" altLang="zh-CN" b="0" dirty="0">
                <a:effectLst/>
                <a:latin typeface="Cascadia code Italic" panose="020B0609020000020004" pitchFamily="49" charset="0"/>
              </a:rPr>
              <a:t>v</a:t>
            </a:r>
            <a:r>
              <a:rPr lang="zh-CN" altLang="en-US" b="0" dirty="0">
                <a:effectLst/>
                <a:latin typeface="Cascadia code Italic" panose="020B0609020000020004" pitchFamily="49" charset="0"/>
              </a:rPr>
              <a:t>（设边权为</a:t>
            </a:r>
            <a:r>
              <a:rPr lang="en-US" altLang="zh-CN" b="0" dirty="0">
                <a:effectLst/>
                <a:latin typeface="Cascadia code Italic" panose="020B0609020000020004" pitchFamily="49" charset="0"/>
              </a:rPr>
              <a:t>w</a:t>
            </a:r>
            <a:r>
              <a:rPr lang="zh-CN" altLang="en-US" b="0" dirty="0">
                <a:effectLst/>
                <a:latin typeface="Cascadia code Italic" panose="020B0609020000020004" pitchFamily="49" charset="0"/>
              </a:rPr>
              <a:t>），新的路径长度为</a:t>
            </a:r>
            <a:r>
              <a:rPr lang="en-US" altLang="zh-CN" b="0" dirty="0">
                <a:effectLst/>
                <a:latin typeface="Cascadia code Italic" panose="020B0609020000020004" pitchFamily="49" charset="0"/>
              </a:rPr>
              <a:t>d'</a:t>
            </a:r>
            <a:r>
              <a:rPr lang="zh-CN" altLang="en-US" b="0" dirty="0">
                <a:effectLst/>
                <a:latin typeface="Cascadia code Italic" panose="020B0609020000020004" pitchFamily="49" charset="0"/>
              </a:rPr>
              <a:t>。我们用</a:t>
            </a:r>
            <a:r>
              <a:rPr lang="en-US" altLang="zh-CN" b="0" dirty="0">
                <a:effectLst/>
                <a:latin typeface="Cascadia code Italic" panose="020B0609020000020004" pitchFamily="49" charset="0"/>
              </a:rPr>
              <a:t>d'</a:t>
            </a:r>
            <a:r>
              <a:rPr lang="zh-CN" altLang="en-US" b="0" dirty="0">
                <a:effectLst/>
                <a:latin typeface="Cascadia code Italic" panose="020B0609020000020004" pitchFamily="49" charset="0"/>
              </a:rPr>
              <a:t>来尝试更新</a:t>
            </a:r>
            <a:r>
              <a:rPr lang="en-US" altLang="zh-CN" b="0" dirty="0">
                <a:effectLst/>
                <a:latin typeface="Cascadia code Italic" panose="020B0609020000020004" pitchFamily="49" charset="0"/>
              </a:rPr>
              <a:t>v</a:t>
            </a:r>
            <a:r>
              <a:rPr lang="zh-CN" altLang="en-US" b="0" dirty="0">
                <a:effectLst/>
                <a:latin typeface="Cascadia code Italic" panose="020B0609020000020004" pitchFamily="49" charset="0"/>
              </a:rPr>
              <a:t>的状态</a:t>
            </a:r>
            <a:endParaRPr lang="zh-CN" altLang="en-US" b="0" dirty="0">
              <a:effectLst/>
              <a:latin typeface="Cascadia code Italic" panose="020B0609020000020004" pitchFamily="49" charset="0"/>
            </a:endParaRPr>
          </a:p>
        </p:txBody>
      </p:sp>
      <p:pic>
        <p:nvPicPr>
          <p:cNvPr id="8" name="图片 7"/>
          <p:cNvPicPr>
            <a:picLocks noChangeAspect="1"/>
          </p:cNvPicPr>
          <p:nvPr/>
        </p:nvPicPr>
        <p:blipFill>
          <a:blip r:embed="rId2"/>
          <a:stretch>
            <a:fillRect/>
          </a:stretch>
        </p:blipFill>
        <p:spPr>
          <a:xfrm>
            <a:off x="1015947" y="4357391"/>
            <a:ext cx="3753374" cy="257211"/>
          </a:xfrm>
          <a:prstGeom prst="rect">
            <a:avLst/>
          </a:prstGeom>
        </p:spPr>
      </p:pic>
      <p:sp>
        <p:nvSpPr>
          <p:cNvPr id="10" name="文本框 9"/>
          <p:cNvSpPr txBox="1"/>
          <p:nvPr/>
        </p:nvSpPr>
        <p:spPr>
          <a:xfrm>
            <a:off x="741320" y="4301330"/>
            <a:ext cx="6096000" cy="369332"/>
          </a:xfrm>
          <a:prstGeom prst="rect">
            <a:avLst/>
          </a:prstGeom>
          <a:noFill/>
        </p:spPr>
        <p:txBody>
          <a:bodyPr wrap="square">
            <a:spAutoFit/>
          </a:bodyPr>
          <a:lstStyle/>
          <a:p>
            <a:r>
              <a:rPr lang="en-US" altLang="zh-CN" dirty="0"/>
              <a:t>•</a:t>
            </a:r>
            <a:endParaRPr lang="zh-CN" altLang="en-US" dirty="0"/>
          </a:p>
        </p:txBody>
      </p:sp>
      <p:pic>
        <p:nvPicPr>
          <p:cNvPr id="12" name="图片 11"/>
          <p:cNvPicPr>
            <a:picLocks noChangeAspect="1"/>
          </p:cNvPicPr>
          <p:nvPr/>
        </p:nvPicPr>
        <p:blipFill>
          <a:blip r:embed="rId3"/>
          <a:stretch>
            <a:fillRect/>
          </a:stretch>
        </p:blipFill>
        <p:spPr>
          <a:xfrm>
            <a:off x="1015947" y="4726723"/>
            <a:ext cx="4686954" cy="219106"/>
          </a:xfrm>
          <a:prstGeom prst="rect">
            <a:avLst/>
          </a:prstGeom>
        </p:spPr>
      </p:pic>
      <p:pic>
        <p:nvPicPr>
          <p:cNvPr id="14" name="图片 13"/>
          <p:cNvPicPr>
            <a:picLocks noChangeAspect="1"/>
          </p:cNvPicPr>
          <p:nvPr/>
        </p:nvPicPr>
        <p:blipFill>
          <a:blip r:embed="rId4"/>
          <a:stretch>
            <a:fillRect/>
          </a:stretch>
        </p:blipFill>
        <p:spPr>
          <a:xfrm>
            <a:off x="1015947" y="5257800"/>
            <a:ext cx="3334215" cy="257211"/>
          </a:xfrm>
          <a:prstGeom prst="rect">
            <a:avLst/>
          </a:prstGeom>
        </p:spPr>
      </p:pic>
      <p:pic>
        <p:nvPicPr>
          <p:cNvPr id="16" name="图片 15"/>
          <p:cNvPicPr>
            <a:picLocks noChangeAspect="1"/>
          </p:cNvPicPr>
          <p:nvPr/>
        </p:nvPicPr>
        <p:blipFill>
          <a:blip r:embed="rId5"/>
          <a:stretch>
            <a:fillRect/>
          </a:stretch>
        </p:blipFill>
        <p:spPr>
          <a:xfrm>
            <a:off x="986966" y="5717429"/>
            <a:ext cx="4020111" cy="219106"/>
          </a:xfrm>
          <a:prstGeom prst="rect">
            <a:avLst/>
          </a:prstGeom>
        </p:spPr>
      </p:pic>
      <p:sp>
        <p:nvSpPr>
          <p:cNvPr id="18" name="文本框 17"/>
          <p:cNvSpPr txBox="1"/>
          <p:nvPr/>
        </p:nvSpPr>
        <p:spPr>
          <a:xfrm>
            <a:off x="756069" y="5246888"/>
            <a:ext cx="6096000" cy="369332"/>
          </a:xfrm>
          <a:prstGeom prst="rect">
            <a:avLst/>
          </a:prstGeom>
          <a:noFill/>
        </p:spPr>
        <p:txBody>
          <a:bodyPr wrap="square">
            <a:spAutoFit/>
          </a:bodyPr>
          <a:lstStyle/>
          <a:p>
            <a:r>
              <a:rPr lang="en-US" altLang="zh-CN" dirty="0"/>
              <a:t>•</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扩展：次短路</a:t>
            </a:r>
            <a:endParaRPr lang="zh-CN" altLang="en-US" dirty="0"/>
          </a:p>
        </p:txBody>
      </p:sp>
      <p:sp>
        <p:nvSpPr>
          <p:cNvPr id="4" name="文本框 3"/>
          <p:cNvSpPr txBox="1"/>
          <p:nvPr/>
        </p:nvSpPr>
        <p:spPr>
          <a:xfrm>
            <a:off x="756069" y="1828800"/>
            <a:ext cx="5949531" cy="369332"/>
          </a:xfrm>
          <a:prstGeom prst="rect">
            <a:avLst/>
          </a:prstGeom>
          <a:noFill/>
        </p:spPr>
        <p:txBody>
          <a:bodyPr wrap="square" rtlCol="0">
            <a:spAutoFit/>
          </a:bodyPr>
          <a:lstStyle/>
          <a:p>
            <a:r>
              <a:rPr lang="zh-CN" altLang="en-US" dirty="0"/>
              <a:t>在执行</a:t>
            </a:r>
            <a:r>
              <a:rPr lang="en-US" altLang="zh-CN" dirty="0" err="1"/>
              <a:t>dijkstra</a:t>
            </a:r>
            <a:r>
              <a:rPr lang="zh-CN" altLang="en-US" dirty="0"/>
              <a:t>时，我们是可以建立一棵最短路树的</a:t>
            </a:r>
            <a:endParaRPr lang="zh-CN" altLang="en-US" dirty="0"/>
          </a:p>
        </p:txBody>
      </p:sp>
      <p:sp>
        <p:nvSpPr>
          <p:cNvPr id="5" name="文本框 4"/>
          <p:cNvSpPr txBox="1"/>
          <p:nvPr/>
        </p:nvSpPr>
        <p:spPr>
          <a:xfrm>
            <a:off x="756069" y="2505670"/>
            <a:ext cx="7620000" cy="923330"/>
          </a:xfrm>
          <a:prstGeom prst="rect">
            <a:avLst/>
          </a:prstGeom>
          <a:noFill/>
        </p:spPr>
        <p:txBody>
          <a:bodyPr wrap="square" rtlCol="0">
            <a:spAutoFit/>
          </a:bodyPr>
          <a:lstStyle/>
          <a:p>
            <a:r>
              <a:rPr lang="zh-CN" altLang="en-US" dirty="0"/>
              <a:t>类比用</a:t>
            </a:r>
            <a:r>
              <a:rPr lang="en-US" altLang="zh-CN" dirty="0" err="1"/>
              <a:t>dfs</a:t>
            </a:r>
            <a:r>
              <a:rPr lang="zh-CN" altLang="en-US" dirty="0"/>
              <a:t>遍历整张图时，给每个点打上</a:t>
            </a:r>
            <a:r>
              <a:rPr lang="en-US" altLang="zh-CN" dirty="0" err="1"/>
              <a:t>dfn</a:t>
            </a:r>
            <a:r>
              <a:rPr lang="zh-CN" altLang="en-US" dirty="0"/>
              <a:t>标记；当使用</a:t>
            </a:r>
            <a:r>
              <a:rPr lang="en-US" altLang="zh-CN" dirty="0" err="1"/>
              <a:t>bfs</a:t>
            </a:r>
            <a:r>
              <a:rPr lang="zh-CN" altLang="en-US" dirty="0"/>
              <a:t>遍历时，同样也可以进行这样的操作，过程中标记每个节点的父节点。此时，对应的是边权全部为</a:t>
            </a:r>
            <a:r>
              <a:rPr lang="en-US" altLang="zh-CN" dirty="0"/>
              <a:t>1</a:t>
            </a:r>
            <a:r>
              <a:rPr lang="zh-CN" altLang="en-US" dirty="0"/>
              <a:t>的情况</a:t>
            </a:r>
            <a:endParaRPr lang="zh-CN" altLang="en-US" dirty="0"/>
          </a:p>
        </p:txBody>
      </p:sp>
      <p:sp>
        <p:nvSpPr>
          <p:cNvPr id="7" name="文本框 6"/>
          <p:cNvSpPr txBox="1"/>
          <p:nvPr/>
        </p:nvSpPr>
        <p:spPr>
          <a:xfrm>
            <a:off x="609600" y="1829858"/>
            <a:ext cx="6096000" cy="369332"/>
          </a:xfrm>
          <a:prstGeom prst="rect">
            <a:avLst/>
          </a:prstGeom>
          <a:noFill/>
        </p:spPr>
        <p:txBody>
          <a:bodyPr wrap="square">
            <a:spAutoFit/>
          </a:bodyPr>
          <a:lstStyle/>
          <a:p>
            <a:r>
              <a:rPr lang="en-US" altLang="zh-CN" dirty="0"/>
              <a:t>•</a:t>
            </a:r>
            <a:endParaRPr lang="zh-CN" altLang="en-US" dirty="0"/>
          </a:p>
        </p:txBody>
      </p:sp>
      <p:sp>
        <p:nvSpPr>
          <p:cNvPr id="9" name="文本框 8"/>
          <p:cNvSpPr txBox="1"/>
          <p:nvPr/>
        </p:nvSpPr>
        <p:spPr>
          <a:xfrm>
            <a:off x="594852" y="2504612"/>
            <a:ext cx="6096000" cy="369332"/>
          </a:xfrm>
          <a:prstGeom prst="rect">
            <a:avLst/>
          </a:prstGeom>
          <a:noFill/>
        </p:spPr>
        <p:txBody>
          <a:bodyPr wrap="square">
            <a:spAutoFit/>
          </a:bodyPr>
          <a:lstStyle/>
          <a:p>
            <a:r>
              <a:rPr lang="en-US" altLang="zh-CN" dirty="0"/>
              <a:t>•</a:t>
            </a:r>
            <a:endParaRPr lang="zh-CN" altLang="en-US" dirty="0"/>
          </a:p>
        </p:txBody>
      </p:sp>
      <p:sp>
        <p:nvSpPr>
          <p:cNvPr id="10" name="文本框 9"/>
          <p:cNvSpPr txBox="1"/>
          <p:nvPr/>
        </p:nvSpPr>
        <p:spPr>
          <a:xfrm>
            <a:off x="914400" y="3733800"/>
            <a:ext cx="5943600" cy="369332"/>
          </a:xfrm>
          <a:prstGeom prst="rect">
            <a:avLst/>
          </a:prstGeom>
          <a:noFill/>
        </p:spPr>
        <p:txBody>
          <a:bodyPr wrap="square" rtlCol="0">
            <a:spAutoFit/>
          </a:bodyPr>
          <a:lstStyle/>
          <a:p>
            <a:r>
              <a:rPr lang="zh-CN" altLang="en-US" dirty="0"/>
              <a:t>当扩展到边权为</a:t>
            </a:r>
            <a:r>
              <a:rPr lang="en-US" altLang="zh-CN" dirty="0"/>
              <a:t>w</a:t>
            </a:r>
            <a:r>
              <a:rPr lang="zh-CN" altLang="en-US" dirty="0"/>
              <a:t>时，同理可建立一棵</a:t>
            </a:r>
            <a:r>
              <a:rPr lang="en-US" altLang="zh-CN" dirty="0"/>
              <a:t>SPT</a:t>
            </a:r>
            <a:endParaRPr lang="zh-CN" altLang="en-US" dirty="0"/>
          </a:p>
        </p:txBody>
      </p:sp>
      <p:sp>
        <p:nvSpPr>
          <p:cNvPr id="12" name="文本框 11"/>
          <p:cNvSpPr txBox="1"/>
          <p:nvPr/>
        </p:nvSpPr>
        <p:spPr>
          <a:xfrm>
            <a:off x="619433" y="3733800"/>
            <a:ext cx="6096000" cy="369332"/>
          </a:xfrm>
          <a:prstGeom prst="rect">
            <a:avLst/>
          </a:prstGeom>
          <a:noFill/>
        </p:spPr>
        <p:txBody>
          <a:bodyPr wrap="square">
            <a:spAutoFit/>
          </a:bodyPr>
          <a:lstStyle/>
          <a:p>
            <a:r>
              <a:rPr lang="en-US" altLang="zh-CN" dirty="0"/>
              <a:t>•</a:t>
            </a:r>
            <a:endParaRPr lang="zh-CN" altLang="en-US" dirty="0"/>
          </a:p>
        </p:txBody>
      </p:sp>
      <p:sp>
        <p:nvSpPr>
          <p:cNvPr id="13" name="文本框 12"/>
          <p:cNvSpPr txBox="1"/>
          <p:nvPr/>
        </p:nvSpPr>
        <p:spPr>
          <a:xfrm>
            <a:off x="775754" y="4420222"/>
            <a:ext cx="6629400" cy="646331"/>
          </a:xfrm>
          <a:prstGeom prst="rect">
            <a:avLst/>
          </a:prstGeom>
          <a:noFill/>
        </p:spPr>
        <p:txBody>
          <a:bodyPr wrap="square" rtlCol="0">
            <a:spAutoFit/>
          </a:bodyPr>
          <a:lstStyle/>
          <a:p>
            <a:r>
              <a:rPr lang="zh-CN" altLang="en-US" dirty="0"/>
              <a:t>显然在</a:t>
            </a:r>
            <a:r>
              <a:rPr lang="en-US" altLang="zh-CN" dirty="0"/>
              <a:t>SPT</a:t>
            </a:r>
            <a:r>
              <a:rPr lang="zh-CN" altLang="en-US" dirty="0"/>
              <a:t>上，从</a:t>
            </a:r>
            <a:r>
              <a:rPr lang="en-US" altLang="zh-CN" dirty="0"/>
              <a:t>1</a:t>
            </a:r>
            <a:r>
              <a:rPr lang="zh-CN" altLang="en-US" dirty="0"/>
              <a:t>到</a:t>
            </a:r>
            <a:r>
              <a:rPr lang="en-US" altLang="zh-CN" dirty="0"/>
              <a:t>n</a:t>
            </a:r>
            <a:r>
              <a:rPr lang="zh-CN" altLang="en-US" dirty="0"/>
              <a:t>的路径</a:t>
            </a:r>
            <a:r>
              <a:rPr lang="en-US" altLang="zh-CN" dirty="0"/>
              <a:t>p1</a:t>
            </a:r>
            <a:r>
              <a:rPr lang="zh-CN" altLang="en-US" dirty="0"/>
              <a:t>即为最短路。考虑次短路的情况，必然存在一条边为非树边</a:t>
            </a:r>
            <a:endParaRPr lang="zh-CN" altLang="en-US" dirty="0"/>
          </a:p>
        </p:txBody>
      </p:sp>
      <p:sp>
        <p:nvSpPr>
          <p:cNvPr id="15" name="文本框 14"/>
          <p:cNvSpPr txBox="1"/>
          <p:nvPr/>
        </p:nvSpPr>
        <p:spPr>
          <a:xfrm>
            <a:off x="619433" y="4420222"/>
            <a:ext cx="6096000" cy="369332"/>
          </a:xfrm>
          <a:prstGeom prst="rect">
            <a:avLst/>
          </a:prstGeom>
          <a:noFill/>
        </p:spPr>
        <p:txBody>
          <a:bodyPr wrap="square">
            <a:spAutoFit/>
          </a:bodyPr>
          <a:lstStyle/>
          <a:p>
            <a:r>
              <a:rPr lang="en-US" altLang="zh-CN" dirty="0"/>
              <a:t>•</a:t>
            </a:r>
            <a:endParaRPr lang="zh-CN" altLang="en-US" dirty="0"/>
          </a:p>
        </p:txBody>
      </p:sp>
      <p:sp>
        <p:nvSpPr>
          <p:cNvPr id="6" name="文本框 5"/>
          <p:cNvSpPr txBox="1"/>
          <p:nvPr/>
        </p:nvSpPr>
        <p:spPr>
          <a:xfrm>
            <a:off x="5714980" y="1829107"/>
            <a:ext cx="3276600" cy="368300"/>
          </a:xfrm>
          <a:prstGeom prst="rect">
            <a:avLst/>
          </a:prstGeom>
          <a:noFill/>
        </p:spPr>
        <p:txBody>
          <a:bodyPr wrap="square" rtlCol="0">
            <a:spAutoFit/>
          </a:bodyPr>
          <a:lstStyle/>
          <a:p>
            <a:r>
              <a:rPr lang="zh-CN" altLang="en-US" dirty="0"/>
              <a:t>（</a:t>
            </a:r>
            <a:r>
              <a:rPr lang="en-US" altLang="zh-CN" dirty="0"/>
              <a:t>S</a:t>
            </a:r>
            <a:r>
              <a:rPr lang="en-US" altLang="zh-CN" dirty="0"/>
              <a:t>PT</a:t>
            </a:r>
            <a:r>
              <a:rPr lang="zh-CN" altLang="en-US" dirty="0"/>
              <a:t>）</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扩展：次短路</a:t>
            </a:r>
            <a:endParaRPr lang="zh-CN" altLang="en-US" dirty="0"/>
          </a:p>
        </p:txBody>
      </p:sp>
      <mc:AlternateContent xmlns:mc="http://schemas.openxmlformats.org/markup-compatibility/2006">
        <mc:Choice xmlns:a14="http://schemas.microsoft.com/office/drawing/2010/main" Requires="a14">
          <p:sp>
            <p:nvSpPr>
              <p:cNvPr id="4" name="文本框 3"/>
              <p:cNvSpPr txBox="1"/>
              <p:nvPr/>
            </p:nvSpPr>
            <p:spPr>
              <a:xfrm>
                <a:off x="838200" y="1828800"/>
                <a:ext cx="6477000" cy="923330"/>
              </a:xfrm>
              <a:prstGeom prst="rect">
                <a:avLst/>
              </a:prstGeom>
              <a:noFill/>
            </p:spPr>
            <p:txBody>
              <a:bodyPr wrap="square" rtlCol="0">
                <a:spAutoFit/>
              </a:bodyPr>
              <a:lstStyle/>
              <a:p>
                <a:r>
                  <a:rPr lang="zh-CN" altLang="en-US" dirty="0"/>
                  <a:t>定义：</a:t>
                </a:r>
                <a:endParaRPr lang="en-US" altLang="zh-CN" dirty="0"/>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𝑑</m:t>
                        </m:r>
                      </m:e>
                      <m:sub>
                        <m:r>
                          <a:rPr lang="en-US" altLang="zh-CN" b="0" i="1" smtClean="0">
                            <a:latin typeface="Cambria Math" panose="02040503050406030204" pitchFamily="18" charset="0"/>
                          </a:rPr>
                          <m:t>𝑠</m:t>
                        </m:r>
                      </m:sub>
                    </m:sSub>
                  </m:oMath>
                </a14:m>
                <a:r>
                  <a:rPr lang="en-US" altLang="zh-CN" dirty="0"/>
                  <a:t>(u): </a:t>
                </a:r>
                <a:r>
                  <a:rPr lang="zh-CN" altLang="en-US" dirty="0"/>
                  <a:t>从源点</a:t>
                </a:r>
                <a:r>
                  <a:rPr lang="en-US" altLang="zh-CN" dirty="0"/>
                  <a:t>s</a:t>
                </a:r>
                <a:r>
                  <a:rPr lang="zh-CN" altLang="en-US" dirty="0"/>
                  <a:t>到</a:t>
                </a:r>
                <a:r>
                  <a:rPr lang="en-US" altLang="zh-CN" dirty="0"/>
                  <a:t>u</a:t>
                </a:r>
                <a:r>
                  <a:rPr lang="zh-CN" altLang="en-US" dirty="0"/>
                  <a:t>的最短路</a:t>
                </a:r>
                <a:endParaRPr lang="en-US" altLang="zh-CN" dirty="0"/>
              </a:p>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𝑑</m:t>
                        </m:r>
                      </m:e>
                      <m:sub>
                        <m:r>
                          <a:rPr lang="en-US" altLang="zh-CN" b="0" i="1" smtClean="0">
                            <a:latin typeface="Cambria Math" panose="02040503050406030204" pitchFamily="18" charset="0"/>
                          </a:rPr>
                          <m:t>𝑡</m:t>
                        </m:r>
                      </m:sub>
                    </m:sSub>
                  </m:oMath>
                </a14:m>
                <a:r>
                  <a:rPr lang="en-US" altLang="zh-CN" dirty="0"/>
                  <a:t>(u): </a:t>
                </a:r>
                <a:r>
                  <a:rPr lang="zh-CN" altLang="en-US" dirty="0"/>
                  <a:t>从汇点</a:t>
                </a:r>
                <a:r>
                  <a:rPr lang="en-US" altLang="zh-CN" dirty="0"/>
                  <a:t>t</a:t>
                </a:r>
                <a:r>
                  <a:rPr lang="zh-CN" altLang="en-US" dirty="0"/>
                  <a:t>到</a:t>
                </a:r>
                <a:r>
                  <a:rPr lang="en-US" altLang="zh-CN" dirty="0"/>
                  <a:t>u</a:t>
                </a:r>
                <a:r>
                  <a:rPr lang="zh-CN" altLang="en-US" dirty="0"/>
                  <a:t>的最短路</a:t>
                </a:r>
                <a:endParaRPr lang="zh-CN" altLang="en-US" dirty="0"/>
              </a:p>
            </p:txBody>
          </p:sp>
        </mc:Choice>
        <mc:Fallback>
          <p:sp>
            <p:nvSpPr>
              <p:cNvPr id="4" name="文本框 3"/>
              <p:cNvSpPr txBox="1">
                <a:spLocks noRot="1" noChangeAspect="1" noMove="1" noResize="1" noEditPoints="1" noAdjustHandles="1" noChangeArrowheads="1" noChangeShapeType="1" noTextEdit="1"/>
              </p:cNvSpPr>
              <p:nvPr/>
            </p:nvSpPr>
            <p:spPr>
              <a:xfrm>
                <a:off x="838200" y="1828800"/>
                <a:ext cx="6477000" cy="923330"/>
              </a:xfrm>
              <a:prstGeom prst="rect">
                <a:avLst/>
              </a:prstGeom>
              <a:blipFill rotWithShape="1">
                <a:blip r:embed="rId1"/>
                <a:stretch>
                  <a:fillRect b="4"/>
                </a:stretch>
              </a:blipFill>
            </p:spPr>
            <p:txBody>
              <a:bodyPr/>
              <a:lstStyle/>
              <a:p>
                <a:r>
                  <a:rPr lang="zh-CN" altLang="en-US">
                    <a:noFill/>
                  </a:rPr>
                  <a:t> </a:t>
                </a:r>
              </a:p>
            </p:txBody>
          </p:sp>
        </mc:Fallback>
      </mc:AlternateContent>
      <p:sp>
        <p:nvSpPr>
          <p:cNvPr id="5" name="文本框 4"/>
          <p:cNvSpPr txBox="1"/>
          <p:nvPr/>
        </p:nvSpPr>
        <p:spPr>
          <a:xfrm>
            <a:off x="850490" y="3124200"/>
            <a:ext cx="7531510" cy="369332"/>
          </a:xfrm>
          <a:prstGeom prst="rect">
            <a:avLst/>
          </a:prstGeom>
          <a:noFill/>
        </p:spPr>
        <p:txBody>
          <a:bodyPr wrap="square" rtlCol="0">
            <a:spAutoFit/>
          </a:bodyPr>
          <a:lstStyle/>
          <a:p>
            <a:r>
              <a:rPr lang="zh-CN" altLang="en-US" dirty="0"/>
              <a:t>考虑枚举图中的每一条边</a:t>
            </a:r>
            <a:r>
              <a:rPr lang="en-US" altLang="zh-CN" dirty="0"/>
              <a:t>(</a:t>
            </a:r>
            <a:r>
              <a:rPr lang="en-US" altLang="zh-CN" dirty="0" err="1"/>
              <a:t>u,v</a:t>
            </a:r>
            <a:r>
              <a:rPr lang="en-US" altLang="zh-CN" dirty="0"/>
              <a:t>)</a:t>
            </a:r>
            <a:r>
              <a:rPr lang="zh-CN" altLang="en-US" dirty="0"/>
              <a:t>，则次短路长度可以由下式精确定义：</a:t>
            </a:r>
            <a:endParaRPr lang="zh-CN" altLang="en-US" dirty="0"/>
          </a:p>
        </p:txBody>
      </p:sp>
      <p:pic>
        <p:nvPicPr>
          <p:cNvPr id="7" name="图片 6"/>
          <p:cNvPicPr>
            <a:picLocks noChangeAspect="1"/>
          </p:cNvPicPr>
          <p:nvPr/>
        </p:nvPicPr>
        <p:blipFill>
          <a:blip r:embed="rId2"/>
          <a:stretch>
            <a:fillRect/>
          </a:stretch>
        </p:blipFill>
        <p:spPr>
          <a:xfrm>
            <a:off x="2998233" y="3962400"/>
            <a:ext cx="4344006" cy="657317"/>
          </a:xfrm>
          <a:prstGeom prst="rect">
            <a:avLst/>
          </a:prstGeom>
        </p:spPr>
      </p:pic>
      <p:sp>
        <p:nvSpPr>
          <p:cNvPr id="8" name="文本框 7"/>
          <p:cNvSpPr txBox="1"/>
          <p:nvPr/>
        </p:nvSpPr>
        <p:spPr>
          <a:xfrm>
            <a:off x="850490" y="5512378"/>
            <a:ext cx="7848600" cy="307777"/>
          </a:xfrm>
          <a:prstGeom prst="rect">
            <a:avLst/>
          </a:prstGeom>
          <a:noFill/>
        </p:spPr>
        <p:txBody>
          <a:bodyPr wrap="square" rtlCol="0">
            <a:spAutoFit/>
          </a:bodyPr>
          <a:lstStyle/>
          <a:p>
            <a:r>
              <a:rPr lang="zh-CN" altLang="en-US" sz="1400" dirty="0"/>
              <a:t>在理想时间限内解决</a:t>
            </a:r>
            <a:r>
              <a:rPr lang="en-US" altLang="zh-CN" sz="1400" dirty="0"/>
              <a:t>k</a:t>
            </a:r>
            <a:r>
              <a:rPr lang="zh-CN" altLang="en-US" sz="1400" dirty="0"/>
              <a:t>短路问题需要较高级数据结构支持，在此按下不表</a:t>
            </a:r>
            <a:endParaRPr lang="zh-CN" alt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浅谈图与</a:t>
            </a:r>
            <a:r>
              <a:rPr lang="en-US" altLang="zh-CN" dirty="0"/>
              <a:t>DP</a:t>
            </a:r>
            <a:endParaRPr lang="zh-CN" altLang="en-US" dirty="0"/>
          </a:p>
        </p:txBody>
      </p:sp>
      <p:sp>
        <p:nvSpPr>
          <p:cNvPr id="5" name="文本框 4"/>
          <p:cNvSpPr txBox="1"/>
          <p:nvPr/>
        </p:nvSpPr>
        <p:spPr>
          <a:xfrm>
            <a:off x="609600" y="2057400"/>
            <a:ext cx="8001000" cy="2031325"/>
          </a:xfrm>
          <a:prstGeom prst="rect">
            <a:avLst/>
          </a:prstGeom>
          <a:noFill/>
        </p:spPr>
        <p:txBody>
          <a:bodyPr wrap="square">
            <a:spAutoFit/>
          </a:bodyPr>
          <a:lstStyle/>
          <a:p>
            <a:r>
              <a:rPr lang="en-US" altLang="zh-CN" dirty="0"/>
              <a:t>•</a:t>
            </a:r>
            <a:r>
              <a:rPr lang="zh-CN" altLang="en-US" b="0" dirty="0">
                <a:effectLst/>
                <a:latin typeface="Cascadia code Italic" panose="020B0609020000020004" pitchFamily="49" charset="0"/>
              </a:rPr>
              <a:t>一般为二维，不注重像</a:t>
            </a:r>
            <a:r>
              <a:rPr lang="en-US" altLang="zh-CN" b="0" dirty="0" err="1">
                <a:effectLst/>
                <a:latin typeface="Cascadia code Italic" panose="020B0609020000020004" pitchFamily="49" charset="0"/>
              </a:rPr>
              <a:t>dijkstra</a:t>
            </a:r>
            <a:r>
              <a:rPr lang="zh-CN" altLang="en-US" b="0" dirty="0">
                <a:effectLst/>
                <a:latin typeface="Cascadia code Italic" panose="020B0609020000020004" pitchFamily="49" charset="0"/>
              </a:rPr>
              <a:t>那样的松弛顺序，先枚举要维护的第二维，再去枚举点实现转移</a:t>
            </a:r>
            <a:endParaRPr lang="en-US" altLang="zh-CN" b="0" dirty="0">
              <a:effectLst/>
              <a:latin typeface="Cascadia code Italic" panose="020B0609020000020004" pitchFamily="49" charset="0"/>
            </a:endParaRPr>
          </a:p>
          <a:p>
            <a:endParaRPr lang="en-US" altLang="zh-CN" dirty="0">
              <a:latin typeface="Cascadia code Italic" panose="020B0609020000020004" pitchFamily="49" charset="0"/>
            </a:endParaRPr>
          </a:p>
          <a:p>
            <a:endParaRPr lang="en-US" altLang="zh-CN" b="0" dirty="0">
              <a:effectLst/>
              <a:latin typeface="Cascadia code Italic" panose="020B0609020000020004" pitchFamily="49" charset="0"/>
            </a:endParaRPr>
          </a:p>
          <a:p>
            <a:r>
              <a:rPr lang="en-US" altLang="zh-CN" dirty="0"/>
              <a:t>•</a:t>
            </a:r>
            <a:r>
              <a:rPr lang="zh-CN" altLang="en-US" b="0" dirty="0">
                <a:effectLst/>
                <a:latin typeface="Cascadia code Italic" panose="020B0609020000020004" pitchFamily="49" charset="0"/>
              </a:rPr>
              <a:t>例：</a:t>
            </a:r>
            <a:endParaRPr lang="zh-CN" altLang="en-US" b="0" dirty="0">
              <a:effectLst/>
              <a:latin typeface="Cascadia code Italic" panose="020B0609020000020004" pitchFamily="49" charset="0"/>
            </a:endParaRPr>
          </a:p>
          <a:p>
            <a:r>
              <a:rPr lang="zh-CN" altLang="en-US" b="0" dirty="0">
                <a:effectLst/>
                <a:latin typeface="Cascadia code Italic" panose="020B0609020000020004" pitchFamily="49" charset="0"/>
              </a:rPr>
              <a:t>一张带权有向图，定义</a:t>
            </a:r>
            <a:r>
              <a:rPr lang="en-US" altLang="zh-CN" b="0" dirty="0">
                <a:effectLst/>
                <a:latin typeface="Cascadia code Italic" panose="020B0609020000020004" pitchFamily="49" charset="0"/>
              </a:rPr>
              <a:t>f(p)</a:t>
            </a:r>
            <a:r>
              <a:rPr lang="zh-CN" altLang="en-US" b="0" dirty="0">
                <a:effectLst/>
                <a:latin typeface="Cascadia code Italic" panose="020B0609020000020004" pitchFamily="49" charset="0"/>
              </a:rPr>
              <a:t>为路径</a:t>
            </a:r>
            <a:r>
              <a:rPr lang="en-US" altLang="zh-CN" b="0" dirty="0">
                <a:effectLst/>
                <a:latin typeface="Cascadia code Italic" panose="020B0609020000020004" pitchFamily="49" charset="0"/>
              </a:rPr>
              <a:t>p</a:t>
            </a:r>
            <a:r>
              <a:rPr lang="zh-CN" altLang="en-US" b="0" dirty="0">
                <a:effectLst/>
                <a:latin typeface="Cascadia code Italic" panose="020B0609020000020004" pitchFamily="49" charset="0"/>
              </a:rPr>
              <a:t>上所有边权乘积，对于每个点，求从该点出发走</a:t>
            </a:r>
            <a:r>
              <a:rPr lang="en-US" altLang="zh-CN" b="0" dirty="0">
                <a:effectLst/>
                <a:latin typeface="Cascadia code Italic" panose="020B0609020000020004" pitchFamily="49" charset="0"/>
              </a:rPr>
              <a:t>j</a:t>
            </a:r>
            <a:r>
              <a:rPr lang="zh-CN" altLang="en-US" b="0" dirty="0">
                <a:effectLst/>
                <a:latin typeface="Cascadia code Italic" panose="020B0609020000020004" pitchFamily="49" charset="0"/>
              </a:rPr>
              <a:t>步后所走出的路径中最大的</a:t>
            </a:r>
            <a:r>
              <a:rPr lang="en-US" altLang="zh-CN" b="0" dirty="0">
                <a:effectLst/>
                <a:latin typeface="Cascadia code Italic" panose="020B0609020000020004" pitchFamily="49" charset="0"/>
              </a:rPr>
              <a:t>f(p) (j &lt;= 30, n &lt;= 2e5)</a:t>
            </a:r>
            <a:endParaRPr lang="en-US" altLang="zh-CN" b="0" dirty="0">
              <a:effectLst/>
              <a:latin typeface="Cascadia code Italic" panose="020B0609020000020004" pitchFamily="49"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浅谈图与</a:t>
            </a:r>
            <a:r>
              <a:rPr lang="en-US" altLang="zh-CN" dirty="0"/>
              <a:t>DP</a:t>
            </a:r>
            <a:endParaRPr lang="zh-CN" altLang="en-US" dirty="0"/>
          </a:p>
        </p:txBody>
      </p:sp>
      <p:pic>
        <p:nvPicPr>
          <p:cNvPr id="10" name="图片 9"/>
          <p:cNvPicPr>
            <a:picLocks noChangeAspect="1"/>
          </p:cNvPicPr>
          <p:nvPr/>
        </p:nvPicPr>
        <p:blipFill>
          <a:blip r:embed="rId1"/>
          <a:stretch>
            <a:fillRect/>
          </a:stretch>
        </p:blipFill>
        <p:spPr>
          <a:xfrm>
            <a:off x="848360" y="3021092"/>
            <a:ext cx="7335274" cy="1609950"/>
          </a:xfrm>
          <a:prstGeom prst="rect">
            <a:avLst/>
          </a:prstGeom>
        </p:spPr>
      </p:pic>
      <p:sp>
        <p:nvSpPr>
          <p:cNvPr id="11" name="文本框 10"/>
          <p:cNvSpPr txBox="1"/>
          <p:nvPr/>
        </p:nvSpPr>
        <p:spPr>
          <a:xfrm>
            <a:off x="838200" y="1828800"/>
            <a:ext cx="4876800" cy="369332"/>
          </a:xfrm>
          <a:prstGeom prst="rect">
            <a:avLst/>
          </a:prstGeom>
          <a:noFill/>
        </p:spPr>
        <p:txBody>
          <a:bodyPr wrap="square" rtlCol="0">
            <a:spAutoFit/>
          </a:bodyPr>
          <a:lstStyle/>
          <a:p>
            <a:r>
              <a:rPr lang="zh-CN" altLang="en-US" dirty="0"/>
              <a:t>转移方程易推，注意枚举顺序</a:t>
            </a: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浅谈图与</a:t>
            </a:r>
            <a:r>
              <a:rPr lang="en-US" altLang="zh-CN" dirty="0"/>
              <a:t>DP</a:t>
            </a:r>
            <a:endParaRPr lang="zh-CN" altLang="en-US" dirty="0"/>
          </a:p>
        </p:txBody>
      </p:sp>
      <p:pic>
        <p:nvPicPr>
          <p:cNvPr id="6" name="图片 5"/>
          <p:cNvPicPr>
            <a:picLocks noChangeAspect="1"/>
          </p:cNvPicPr>
          <p:nvPr/>
        </p:nvPicPr>
        <p:blipFill>
          <a:blip r:embed="rId1"/>
          <a:stretch>
            <a:fillRect/>
          </a:stretch>
        </p:blipFill>
        <p:spPr>
          <a:xfrm>
            <a:off x="740829" y="1600200"/>
            <a:ext cx="10231278" cy="2591162"/>
          </a:xfrm>
          <a:prstGeom prst="rect">
            <a:avLst/>
          </a:prstGeom>
        </p:spPr>
      </p:pic>
      <mc:AlternateContent xmlns:mc="http://schemas.openxmlformats.org/markup-compatibility/2006">
        <mc:Choice xmlns:a14="http://schemas.microsoft.com/office/drawing/2010/main" Requires="a14">
          <p:sp>
            <p:nvSpPr>
              <p:cNvPr id="7" name="文本框 6"/>
              <p:cNvSpPr txBox="1"/>
              <p:nvPr/>
            </p:nvSpPr>
            <p:spPr>
              <a:xfrm>
                <a:off x="756069" y="4648200"/>
                <a:ext cx="8387931" cy="967957"/>
              </a:xfrm>
              <a:prstGeom prst="rect">
                <a:avLst/>
              </a:prstGeom>
              <a:noFill/>
            </p:spPr>
            <p:txBody>
              <a:bodyPr wrap="square" rtlCol="0">
                <a:spAutoFit/>
              </a:bodyPr>
              <a:lstStyle/>
              <a:p>
                <a:r>
                  <a:rPr lang="zh-CN" altLang="en-US" dirty="0"/>
                  <a:t>由于选择走哪条边是由时间确定的，不妨设</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sub>
                    </m:sSub>
                  </m:oMath>
                </a14:m>
                <a:r>
                  <a:rPr lang="zh-CN" altLang="en-US" dirty="0"/>
                  <a:t>表示第</a:t>
                </a:r>
                <a:r>
                  <a:rPr lang="en-US" altLang="zh-CN" dirty="0"/>
                  <a:t>j</a:t>
                </a:r>
                <a:r>
                  <a:rPr lang="zh-CN" altLang="en-US" dirty="0"/>
                  <a:t>秒走到</a:t>
                </a:r>
                <a:r>
                  <a:rPr lang="en-US" altLang="zh-CN" dirty="0" err="1"/>
                  <a:t>i</a:t>
                </a:r>
                <a:r>
                  <a:rPr lang="zh-CN" altLang="en-US" dirty="0"/>
                  <a:t>点时所浪费的最小时间。若当前选择停在</a:t>
                </a:r>
                <a:r>
                  <a:rPr lang="en-US" altLang="zh-CN" dirty="0" err="1"/>
                  <a:t>i</a:t>
                </a:r>
                <a:r>
                  <a:rPr lang="zh-CN" altLang="en-US" dirty="0"/>
                  <a:t>点，有</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sub>
                    </m:sSub>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 </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𝑓</m:t>
                        </m:r>
                      </m:e>
                      <m:sub>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𝑗</m:t>
                        </m:r>
                      </m:sub>
                    </m:sSub>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oMath>
                </a14:m>
                <a:r>
                  <a:rPr lang="zh-CN" altLang="en-US" dirty="0"/>
                  <a:t>；否则，有</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𝑓</m:t>
                        </m:r>
                      </m:e>
                      <m:sub>
                        <m:r>
                          <a:rPr lang="en-US" altLang="zh-CN" b="0" i="1" smtClean="0">
                            <a:latin typeface="Cambria Math" panose="02040503050406030204" pitchFamily="18" charset="0"/>
                          </a:rPr>
                          <m:t>𝑣</m:t>
                        </m:r>
                        <m:r>
                          <a:rPr lang="en-US" altLang="zh-CN" b="0" i="1" smtClean="0">
                            <a:latin typeface="Cambria Math" panose="02040503050406030204" pitchFamily="18" charset="0"/>
                          </a:rPr>
                          <m:t>,</m:t>
                        </m:r>
                        <m:r>
                          <a:rPr lang="en-US" altLang="zh-CN" b="0" i="1" smtClean="0">
                            <a:latin typeface="Cambria Math" panose="02040503050406030204" pitchFamily="18" charset="0"/>
                          </a:rPr>
                          <m:t>𝑗</m:t>
                        </m:r>
                        <m:r>
                          <a:rPr lang="en-US" altLang="zh-CN" b="0" i="1" smtClean="0">
                            <a:latin typeface="Cambria Math" panose="02040503050406030204" pitchFamily="18" charset="0"/>
                          </a:rPr>
                          <m:t>+</m:t>
                        </m:r>
                        <m:r>
                          <a:rPr lang="en-US" altLang="zh-CN" b="0" i="1" smtClean="0">
                            <a:latin typeface="Cambria Math" panose="02040503050406030204" pitchFamily="18" charset="0"/>
                          </a:rPr>
                          <m:t>1</m:t>
                        </m:r>
                      </m:sub>
                    </m:sSub>
                    <m:r>
                      <a:rPr lang="en-US" altLang="zh-CN"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min</m:t>
                    </m:r>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𝑓</m:t>
                        </m:r>
                      </m:e>
                      <m:sub>
                        <m:r>
                          <a:rPr lang="en-US" altLang="zh-CN" b="0" i="1" smtClean="0">
                            <a:latin typeface="Cambria Math" panose="02040503050406030204" pitchFamily="18" charset="0"/>
                            <a:ea typeface="Cambria Math" panose="02040503050406030204" pitchFamily="18" charset="0"/>
                          </a:rPr>
                          <m:t>𝑣</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𝑗</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𝑓</m:t>
                        </m:r>
                      </m:e>
                      <m:sub>
                        <m: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𝑗</m:t>
                        </m:r>
                      </m:sub>
                    </m:sSub>
                    <m:r>
                      <a:rPr lang="en-US" altLang="zh-CN" b="0" i="1" smtClean="0">
                        <a:latin typeface="Cambria Math" panose="02040503050406030204" pitchFamily="18" charset="0"/>
                        <a:ea typeface="Cambria Math" panose="02040503050406030204" pitchFamily="18" charset="0"/>
                      </a:rPr>
                      <m:t>)</m:t>
                    </m:r>
                  </m:oMath>
                </a14:m>
                <a:r>
                  <a:rPr lang="zh-CN" altLang="en-US" dirty="0"/>
                  <a:t>，转移顺序依然是先</a:t>
                </a:r>
                <a:r>
                  <a:rPr lang="en-US" altLang="zh-CN" dirty="0"/>
                  <a:t>j</a:t>
                </a:r>
                <a:r>
                  <a:rPr lang="zh-CN" altLang="en-US" dirty="0"/>
                  <a:t>后</a:t>
                </a:r>
                <a:r>
                  <a:rPr lang="en-US" altLang="zh-CN" dirty="0" err="1"/>
                  <a:t>i</a:t>
                </a:r>
                <a:r>
                  <a:rPr lang="zh-CN" altLang="en-US" dirty="0"/>
                  <a:t>。可以用滚动数组优化空间</a:t>
                </a:r>
                <a:endParaRPr lang="zh-CN" altLang="en-US" dirty="0"/>
              </a:p>
            </p:txBody>
          </p:sp>
        </mc:Choice>
        <mc:Fallback>
          <p:sp>
            <p:nvSpPr>
              <p:cNvPr id="7" name="文本框 6"/>
              <p:cNvSpPr txBox="1">
                <a:spLocks noRot="1" noChangeAspect="1" noMove="1" noResize="1" noEditPoints="1" noAdjustHandles="1" noChangeArrowheads="1" noChangeShapeType="1" noTextEdit="1"/>
              </p:cNvSpPr>
              <p:nvPr/>
            </p:nvSpPr>
            <p:spPr>
              <a:xfrm>
                <a:off x="756069" y="4648200"/>
                <a:ext cx="8387931" cy="967957"/>
              </a:xfrm>
              <a:prstGeom prst="rect">
                <a:avLst/>
              </a:prstGeom>
              <a:blipFill rotWithShape="1">
                <a:blip r:embed="rId2"/>
                <a:stretch>
                  <a:fillRect l="-5" b="22"/>
                </a:stretch>
              </a:blipFill>
            </p:spPr>
            <p:txBody>
              <a:bodyPr/>
              <a:lstStyle/>
              <a:p>
                <a:r>
                  <a:rPr lang="zh-CN" altLang="en-US">
                    <a:noFill/>
                  </a:rPr>
                  <a:t> </a:t>
                </a:r>
              </a:p>
            </p:txBody>
          </p:sp>
        </mc:Fallback>
      </mc:AlternateContent>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6069" y="635634"/>
            <a:ext cx="4577931" cy="1107996"/>
          </a:xfrm>
        </p:spPr>
        <p:txBody>
          <a:bodyPr/>
          <a:lstStyle/>
          <a:p>
            <a:r>
              <a:rPr lang="zh-CN" altLang="en-US" dirty="0"/>
              <a:t>连通分量与</a:t>
            </a:r>
            <a:r>
              <a:rPr lang="en-US" altLang="zh-CN" dirty="0" err="1"/>
              <a:t>Tarjan</a:t>
            </a:r>
            <a:endParaRPr lang="zh-CN" altLang="en-US" dirty="0"/>
          </a:p>
        </p:txBody>
      </p:sp>
      <p:sp>
        <p:nvSpPr>
          <p:cNvPr id="5" name="文本框 4"/>
          <p:cNvSpPr txBox="1"/>
          <p:nvPr/>
        </p:nvSpPr>
        <p:spPr>
          <a:xfrm>
            <a:off x="756069" y="1524000"/>
            <a:ext cx="6096000" cy="369332"/>
          </a:xfrm>
          <a:prstGeom prst="rect">
            <a:avLst/>
          </a:prstGeom>
          <a:noFill/>
        </p:spPr>
        <p:txBody>
          <a:bodyPr wrap="square">
            <a:spAutoFit/>
          </a:bodyPr>
          <a:lstStyle/>
          <a:p>
            <a:pPr algn="l"/>
            <a:r>
              <a:rPr lang="en-US" altLang="zh-CN" b="0" i="0" dirty="0">
                <a:effectLst/>
                <a:latin typeface="Fira Sans" panose="020F0502020204030204" pitchFamily="34" charset="0"/>
              </a:rPr>
              <a:t>DFS </a:t>
            </a:r>
            <a:r>
              <a:rPr lang="zh-CN" altLang="en-US" b="0" i="0" dirty="0">
                <a:effectLst/>
                <a:latin typeface="Fira Sans" panose="020F0502020204030204" pitchFamily="34" charset="0"/>
              </a:rPr>
              <a:t>生成树</a:t>
            </a:r>
            <a:endParaRPr lang="zh-CN" altLang="en-US" b="0" i="0" dirty="0">
              <a:effectLst/>
              <a:latin typeface="Fira Sans" panose="020F0502020204030204" pitchFamily="34" charset="0"/>
            </a:endParaRPr>
          </a:p>
        </p:txBody>
      </p:sp>
      <p:pic>
        <p:nvPicPr>
          <p:cNvPr id="7" name="图片 6"/>
          <p:cNvPicPr>
            <a:picLocks noChangeAspect="1"/>
          </p:cNvPicPr>
          <p:nvPr/>
        </p:nvPicPr>
        <p:blipFill>
          <a:blip r:embed="rId1"/>
          <a:stretch>
            <a:fillRect/>
          </a:stretch>
        </p:blipFill>
        <p:spPr>
          <a:xfrm>
            <a:off x="7543800" y="1447800"/>
            <a:ext cx="2181529" cy="3172268"/>
          </a:xfrm>
          <a:prstGeom prst="rect">
            <a:avLst/>
          </a:prstGeom>
        </p:spPr>
      </p:pic>
      <p:sp>
        <p:nvSpPr>
          <p:cNvPr id="9" name="文本框 8"/>
          <p:cNvSpPr txBox="1"/>
          <p:nvPr/>
        </p:nvSpPr>
        <p:spPr>
          <a:xfrm>
            <a:off x="729030" y="2262664"/>
            <a:ext cx="6096000" cy="338554"/>
          </a:xfrm>
          <a:prstGeom prst="rect">
            <a:avLst/>
          </a:prstGeom>
          <a:noFill/>
        </p:spPr>
        <p:txBody>
          <a:bodyPr wrap="square">
            <a:spAutoFit/>
          </a:bodyPr>
          <a:lstStyle/>
          <a:p>
            <a:r>
              <a:rPr lang="zh-CN" altLang="en-US" sz="1600" b="0" i="0" dirty="0">
                <a:effectLst/>
                <a:latin typeface="Fira Sans" panose="020F0502020204030204" pitchFamily="34" charset="0"/>
              </a:rPr>
              <a:t>有向图的 </a:t>
            </a:r>
            <a:r>
              <a:rPr lang="en-US" altLang="zh-CN" sz="1600" b="0" i="0" dirty="0">
                <a:effectLst/>
                <a:latin typeface="Fira Sans" panose="020F0502020204030204" pitchFamily="34" charset="0"/>
              </a:rPr>
              <a:t>DFS </a:t>
            </a:r>
            <a:r>
              <a:rPr lang="zh-CN" altLang="en-US" sz="1600" b="0" i="0" dirty="0">
                <a:effectLst/>
                <a:latin typeface="Fira Sans" panose="020F0502020204030204" pitchFamily="34" charset="0"/>
              </a:rPr>
              <a:t>生成树主要有 </a:t>
            </a:r>
            <a:r>
              <a:rPr lang="en-US" altLang="zh-CN" sz="1600" b="0" i="0" dirty="0">
                <a:effectLst/>
                <a:latin typeface="Fira Sans" panose="020F0502020204030204" pitchFamily="34" charset="0"/>
              </a:rPr>
              <a:t>4 </a:t>
            </a:r>
            <a:r>
              <a:rPr lang="zh-CN" altLang="en-US" sz="1600" b="0" i="0" dirty="0">
                <a:effectLst/>
                <a:latin typeface="Fira Sans" panose="020F0502020204030204" pitchFamily="34" charset="0"/>
              </a:rPr>
              <a:t>种边</a:t>
            </a:r>
            <a:r>
              <a:rPr lang="en-US" altLang="zh-CN" sz="1600" b="0" i="0" dirty="0">
                <a:effectLst/>
                <a:latin typeface="Fira Sans" panose="020F0502020204030204" pitchFamily="34" charset="0"/>
              </a:rPr>
              <a:t>:</a:t>
            </a:r>
            <a:endParaRPr lang="zh-CN" altLang="en-US" sz="1600" dirty="0"/>
          </a:p>
        </p:txBody>
      </p:sp>
      <p:sp>
        <p:nvSpPr>
          <p:cNvPr id="11" name="文本框 10"/>
          <p:cNvSpPr txBox="1"/>
          <p:nvPr/>
        </p:nvSpPr>
        <p:spPr>
          <a:xfrm>
            <a:off x="760985" y="2887121"/>
            <a:ext cx="6096000" cy="615553"/>
          </a:xfrm>
          <a:prstGeom prst="rect">
            <a:avLst/>
          </a:prstGeom>
          <a:noFill/>
        </p:spPr>
        <p:txBody>
          <a:bodyPr wrap="square">
            <a:spAutoFit/>
          </a:bodyPr>
          <a:lstStyle/>
          <a:p>
            <a:pPr algn="l">
              <a:buFont typeface="+mj-lt"/>
              <a:buAutoNum type="arabicPeriod"/>
            </a:pPr>
            <a:r>
              <a:rPr lang="zh-CN" altLang="en-US" sz="1600" b="0" i="0" dirty="0">
                <a:effectLst/>
                <a:latin typeface="Fira Sans" panose="020F0502020204030204" pitchFamily="34" charset="0"/>
              </a:rPr>
              <a:t>树边：示意图中以黑色边表示，每次搜索找到一个还没有访问过的结点的时候就形成了一条树边</a:t>
            </a:r>
            <a:r>
              <a:rPr lang="zh-CN" altLang="en-US" b="0" i="0" dirty="0">
                <a:effectLst/>
                <a:latin typeface="Fira Sans" panose="020F0502020204030204" pitchFamily="34" charset="0"/>
              </a:rPr>
              <a:t>。</a:t>
            </a:r>
            <a:endParaRPr lang="zh-CN" altLang="en-US" b="0" i="0" dirty="0">
              <a:effectLst/>
              <a:latin typeface="Fira Sans" panose="020F0502020204030204" pitchFamily="34" charset="0"/>
            </a:endParaRPr>
          </a:p>
        </p:txBody>
      </p:sp>
      <p:sp>
        <p:nvSpPr>
          <p:cNvPr id="14" name="文本框 13"/>
          <p:cNvSpPr txBox="1"/>
          <p:nvPr/>
        </p:nvSpPr>
        <p:spPr>
          <a:xfrm>
            <a:off x="756069" y="3707778"/>
            <a:ext cx="6096000" cy="615553"/>
          </a:xfrm>
          <a:prstGeom prst="rect">
            <a:avLst/>
          </a:prstGeom>
          <a:noFill/>
        </p:spPr>
        <p:txBody>
          <a:bodyPr wrap="square">
            <a:spAutoFit/>
          </a:bodyPr>
          <a:lstStyle/>
          <a:p>
            <a:r>
              <a:rPr lang="en-US" altLang="zh-CN" b="0" dirty="0">
                <a:effectLst/>
                <a:latin typeface="Cascadia code Italic" panose="020B0609020000020004" pitchFamily="49" charset="0"/>
              </a:rPr>
              <a:t>2.</a:t>
            </a:r>
            <a:r>
              <a:rPr lang="zh-CN" altLang="en-US" sz="1600" b="0" dirty="0">
                <a:effectLst/>
                <a:latin typeface="Cascadia code Italic" panose="020B0609020000020004" pitchFamily="49" charset="0"/>
              </a:rPr>
              <a:t>反祖边：示意图中以红色边表示</a:t>
            </a:r>
            <a:r>
              <a:rPr lang="en-US" altLang="zh-CN" sz="1600" b="0" dirty="0">
                <a:effectLst/>
                <a:latin typeface="+mn-ea"/>
              </a:rPr>
              <a:t>(7 -&gt;1)</a:t>
            </a:r>
            <a:r>
              <a:rPr lang="zh-CN" altLang="en-US" sz="1600" b="0" dirty="0">
                <a:effectLst/>
                <a:latin typeface="Cascadia code Italic" panose="020B0609020000020004" pitchFamily="49" charset="0"/>
              </a:rPr>
              <a:t>，也被叫做回边，即指向祖先结点的边。</a:t>
            </a:r>
            <a:endParaRPr lang="zh-CN" altLang="en-US" sz="1600" b="0" dirty="0">
              <a:effectLst/>
              <a:latin typeface="Cascadia code Italic" panose="020B0609020000020004" pitchFamily="49" charset="0"/>
            </a:endParaRPr>
          </a:p>
        </p:txBody>
      </p:sp>
      <p:sp>
        <p:nvSpPr>
          <p:cNvPr id="16" name="文本框 15"/>
          <p:cNvSpPr txBox="1"/>
          <p:nvPr/>
        </p:nvSpPr>
        <p:spPr>
          <a:xfrm>
            <a:off x="756069" y="4510424"/>
            <a:ext cx="6096000" cy="830997"/>
          </a:xfrm>
          <a:prstGeom prst="rect">
            <a:avLst/>
          </a:prstGeom>
          <a:noFill/>
        </p:spPr>
        <p:txBody>
          <a:bodyPr wrap="square">
            <a:spAutoFit/>
          </a:bodyPr>
          <a:lstStyle/>
          <a:p>
            <a:r>
              <a:rPr lang="en-US" altLang="zh-CN" sz="1600" b="0" dirty="0">
                <a:effectLst/>
                <a:latin typeface="Cascadia code Italic" panose="020B0609020000020004" pitchFamily="49" charset="0"/>
              </a:rPr>
              <a:t>3.</a:t>
            </a:r>
            <a:r>
              <a:rPr lang="zh-CN" altLang="en-US" sz="1600" b="0" dirty="0">
                <a:effectLst/>
                <a:latin typeface="Cascadia code Italic" panose="020B0609020000020004" pitchFamily="49" charset="0"/>
              </a:rPr>
              <a:t>横叉边：示意图中以蓝色边表示（即</a:t>
            </a:r>
            <a:r>
              <a:rPr lang="en-US" altLang="zh-CN" sz="1600" b="0" dirty="0">
                <a:effectLst/>
                <a:latin typeface="+mn-ea"/>
              </a:rPr>
              <a:t>9 -&gt;7</a:t>
            </a:r>
            <a:r>
              <a:rPr lang="zh-CN" altLang="en-US" sz="1600" b="0" dirty="0">
                <a:effectLst/>
                <a:latin typeface="Cascadia code Italic" panose="020B0609020000020004" pitchFamily="49" charset="0"/>
              </a:rPr>
              <a:t>），它主要是在搜索的时候遇到了一个已经访问过的结点，但是这个结点并不是当前结点的祖先。</a:t>
            </a:r>
            <a:endParaRPr lang="zh-CN" altLang="en-US" sz="1600" b="0" dirty="0">
              <a:effectLst/>
              <a:latin typeface="Cascadia code Italic" panose="020B0609020000020004" pitchFamily="49" charset="0"/>
            </a:endParaRPr>
          </a:p>
        </p:txBody>
      </p:sp>
      <p:sp>
        <p:nvSpPr>
          <p:cNvPr id="18" name="文本框 17"/>
          <p:cNvSpPr txBox="1"/>
          <p:nvPr/>
        </p:nvSpPr>
        <p:spPr>
          <a:xfrm>
            <a:off x="756068" y="5521467"/>
            <a:ext cx="7930731" cy="615553"/>
          </a:xfrm>
          <a:prstGeom prst="rect">
            <a:avLst/>
          </a:prstGeom>
          <a:noFill/>
        </p:spPr>
        <p:txBody>
          <a:bodyPr wrap="square">
            <a:spAutoFit/>
          </a:bodyPr>
          <a:lstStyle/>
          <a:p>
            <a:r>
              <a:rPr lang="en-US" altLang="zh-CN" b="0" i="0" dirty="0">
                <a:effectLst/>
                <a:latin typeface="Fira Sans" panose="020F0502020204030204" pitchFamily="34" charset="0"/>
              </a:rPr>
              <a:t>4. </a:t>
            </a:r>
            <a:r>
              <a:rPr lang="zh-CN" altLang="en-US" sz="1600" b="0" i="0" dirty="0">
                <a:effectLst/>
                <a:latin typeface="Fira Sans" panose="020F0502020204030204" pitchFamily="34" charset="0"/>
              </a:rPr>
              <a:t>前向边：示意图中以绿色边表示</a:t>
            </a:r>
            <a:r>
              <a:rPr lang="en-US" altLang="zh-CN" sz="1600" b="0" i="0" dirty="0">
                <a:effectLst/>
                <a:latin typeface="Fira Sans" panose="020F0502020204030204" pitchFamily="34" charset="0"/>
              </a:rPr>
              <a:t>(3-&gt;6),</a:t>
            </a:r>
            <a:r>
              <a:rPr lang="zh-CN" altLang="en-US" sz="1600" b="0" i="0" dirty="0">
                <a:effectLst/>
                <a:latin typeface="Fira Sans" panose="020F0502020204030204" pitchFamily="34" charset="0"/>
              </a:rPr>
              <a:t>它是在搜索的时候遇到子树中的结点的时候形成的。</a:t>
            </a:r>
            <a:endParaRPr lang="zh-CN" altLang="en-US" sz="16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6069" y="635634"/>
            <a:ext cx="4958931" cy="1107996"/>
          </a:xfrm>
        </p:spPr>
        <p:txBody>
          <a:bodyPr/>
          <a:lstStyle/>
          <a:p>
            <a:r>
              <a:rPr lang="zh-CN" altLang="en-US" dirty="0"/>
              <a:t>连通分量与</a:t>
            </a:r>
            <a:r>
              <a:rPr lang="en-US" altLang="zh-CN" dirty="0" err="1"/>
              <a:t>Tarjan</a:t>
            </a:r>
            <a:endParaRPr lang="zh-CN" altLang="en-US" dirty="0"/>
          </a:p>
        </p:txBody>
      </p:sp>
      <p:sp>
        <p:nvSpPr>
          <p:cNvPr id="5" name="文本框 4"/>
          <p:cNvSpPr txBox="1"/>
          <p:nvPr/>
        </p:nvSpPr>
        <p:spPr>
          <a:xfrm>
            <a:off x="685800" y="1743630"/>
            <a:ext cx="6096000" cy="369332"/>
          </a:xfrm>
          <a:prstGeom prst="rect">
            <a:avLst/>
          </a:prstGeom>
          <a:noFill/>
        </p:spPr>
        <p:txBody>
          <a:bodyPr wrap="square">
            <a:spAutoFit/>
          </a:bodyPr>
          <a:lstStyle/>
          <a:p>
            <a:r>
              <a:rPr lang="zh-CN" altLang="en-US" b="0" i="0" dirty="0">
                <a:effectLst/>
                <a:latin typeface="Fira Sans" panose="020F0502020204030204" pitchFamily="34" charset="0"/>
              </a:rPr>
              <a:t>考虑 </a:t>
            </a:r>
            <a:r>
              <a:rPr lang="en-US" altLang="zh-CN" b="0" i="0" dirty="0">
                <a:effectLst/>
                <a:latin typeface="Fira Sans" panose="020F0502020204030204" pitchFamily="34" charset="0"/>
              </a:rPr>
              <a:t>DFS </a:t>
            </a:r>
            <a:r>
              <a:rPr lang="zh-CN" altLang="en-US" b="0" i="0" dirty="0">
                <a:effectLst/>
                <a:latin typeface="Fira Sans" panose="020F0502020204030204" pitchFamily="34" charset="0"/>
              </a:rPr>
              <a:t>生成树与强连通分量之间的关系</a:t>
            </a:r>
            <a:endParaRPr lang="zh-CN" altLang="en-US" dirty="0"/>
          </a:p>
        </p:txBody>
      </p:sp>
      <p:sp>
        <p:nvSpPr>
          <p:cNvPr id="7" name="文本框 6"/>
          <p:cNvSpPr txBox="1"/>
          <p:nvPr/>
        </p:nvSpPr>
        <p:spPr>
          <a:xfrm>
            <a:off x="685800" y="2389961"/>
            <a:ext cx="8458200" cy="646331"/>
          </a:xfrm>
          <a:prstGeom prst="rect">
            <a:avLst/>
          </a:prstGeom>
          <a:noFill/>
        </p:spPr>
        <p:txBody>
          <a:bodyPr wrap="square">
            <a:spAutoFit/>
          </a:bodyPr>
          <a:lstStyle/>
          <a:p>
            <a:r>
              <a:rPr lang="zh-CN" altLang="en-US" b="0" dirty="0">
                <a:effectLst/>
                <a:latin typeface="Cascadia code Italic" panose="020B0609020000020004" pitchFamily="49" charset="0"/>
              </a:rPr>
              <a:t>如果结点</a:t>
            </a:r>
            <a:r>
              <a:rPr lang="en-US" altLang="zh-CN" b="0" dirty="0">
                <a:effectLst/>
                <a:latin typeface="Cascadia code Italic" panose="020B0609020000020004" pitchFamily="49" charset="0"/>
              </a:rPr>
              <a:t>u</a:t>
            </a:r>
            <a:r>
              <a:rPr lang="zh-CN" altLang="en-US" b="0" dirty="0">
                <a:effectLst/>
                <a:latin typeface="Cascadia code Italic" panose="020B0609020000020004" pitchFamily="49" charset="0"/>
              </a:rPr>
              <a:t>是某个强连通分量在搜索树中遇到的第一个结点，那么这个强连通分量的其余结点肯定是在搜索树中以</a:t>
            </a:r>
            <a:r>
              <a:rPr lang="en-US" altLang="zh-CN" b="0" dirty="0">
                <a:effectLst/>
                <a:latin typeface="Cascadia code Italic" panose="020B0609020000020004" pitchFamily="49" charset="0"/>
              </a:rPr>
              <a:t>u</a:t>
            </a:r>
            <a:r>
              <a:rPr lang="zh-CN" altLang="en-US" b="0" dirty="0">
                <a:effectLst/>
                <a:latin typeface="Cascadia code Italic" panose="020B0609020000020004" pitchFamily="49" charset="0"/>
              </a:rPr>
              <a:t>为根的子树中。结点</a:t>
            </a:r>
            <a:r>
              <a:rPr lang="en-US" altLang="zh-CN" b="0" dirty="0">
                <a:effectLst/>
                <a:latin typeface="Cascadia code Italic" panose="020B0609020000020004" pitchFamily="49" charset="0"/>
              </a:rPr>
              <a:t>u</a:t>
            </a:r>
            <a:r>
              <a:rPr lang="zh-CN" altLang="en-US" b="0" dirty="0">
                <a:effectLst/>
                <a:latin typeface="Cascadia code Italic" panose="020B0609020000020004" pitchFamily="49" charset="0"/>
              </a:rPr>
              <a:t>被称为这个强连通分量的根</a:t>
            </a:r>
            <a:endParaRPr lang="zh-CN" altLang="en-US" b="0" dirty="0">
              <a:effectLst/>
              <a:latin typeface="Cascadia code Italic" panose="020B0609020000020004" pitchFamily="49" charset="0"/>
            </a:endParaRPr>
          </a:p>
        </p:txBody>
      </p:sp>
      <p:sp>
        <p:nvSpPr>
          <p:cNvPr id="9" name="文本框 8"/>
          <p:cNvSpPr txBox="1"/>
          <p:nvPr/>
        </p:nvSpPr>
        <p:spPr>
          <a:xfrm>
            <a:off x="685800" y="3429000"/>
            <a:ext cx="8686800" cy="646331"/>
          </a:xfrm>
          <a:prstGeom prst="rect">
            <a:avLst/>
          </a:prstGeom>
          <a:noFill/>
        </p:spPr>
        <p:txBody>
          <a:bodyPr wrap="square">
            <a:spAutoFit/>
          </a:bodyPr>
          <a:lstStyle/>
          <a:p>
            <a:r>
              <a:rPr lang="zh-CN" altLang="en-US" b="0" dirty="0">
                <a:effectLst/>
                <a:latin typeface="Cascadia code Italic" panose="020B0609020000020004" pitchFamily="49" charset="0"/>
              </a:rPr>
              <a:t>我们在</a:t>
            </a:r>
            <a:r>
              <a:rPr lang="en-US" altLang="zh-CN" b="0" dirty="0" err="1">
                <a:effectLst/>
                <a:latin typeface="+mn-ea"/>
              </a:rPr>
              <a:t>dfs</a:t>
            </a:r>
            <a:r>
              <a:rPr lang="zh-CN" altLang="en-US" b="0" dirty="0">
                <a:effectLst/>
                <a:latin typeface="Cascadia code Italic" panose="020B0609020000020004" pitchFamily="49" charset="0"/>
              </a:rPr>
              <a:t>时按照每个节点被访问到的顺序给图中每个节点以</a:t>
            </a:r>
            <a:r>
              <a:rPr lang="en-US" altLang="zh-CN" b="0" dirty="0">
                <a:effectLst/>
                <a:latin typeface="Calibri" panose="020F0502020204030204" charset="0"/>
                <a:ea typeface="Calibri" panose="020F0502020204030204" charset="0"/>
                <a:cs typeface="Calibri" panose="020F0502020204030204" charset="0"/>
              </a:rPr>
              <a:t>(1 ~ n)</a:t>
            </a:r>
            <a:r>
              <a:rPr lang="zh-CN" altLang="en-US" b="0" dirty="0">
                <a:effectLst/>
                <a:latin typeface="Cascadia code Italic" panose="020B0609020000020004" pitchFamily="49" charset="0"/>
              </a:rPr>
              <a:t>的整数标记，这个整数被称为时间戳，记作</a:t>
            </a:r>
            <a:r>
              <a:rPr lang="en-US" altLang="zh-CN" b="0" dirty="0" err="1">
                <a:effectLst/>
                <a:latin typeface="Calibri" panose="020F0502020204030204" charset="0"/>
                <a:ea typeface="Calibri" panose="020F0502020204030204" charset="0"/>
                <a:cs typeface="Calibri" panose="020F0502020204030204" charset="0"/>
              </a:rPr>
              <a:t>dfn</a:t>
            </a:r>
            <a:r>
              <a:rPr lang="en-US" altLang="zh-CN" b="0" dirty="0">
                <a:effectLst/>
                <a:latin typeface="Calibri" panose="020F0502020204030204" charset="0"/>
                <a:ea typeface="Calibri" panose="020F0502020204030204" charset="0"/>
                <a:cs typeface="Calibri" panose="020F0502020204030204" charset="0"/>
              </a:rPr>
              <a:t>[u]</a:t>
            </a:r>
            <a:r>
              <a:rPr lang="zh-CN" altLang="en-US" dirty="0">
                <a:latin typeface="Cascadia code Italic" panose="020B0609020000020004" pitchFamily="49" charset="0"/>
                <a:ea typeface="Calibri" panose="020F0502020204030204" charset="0"/>
                <a:cs typeface="Calibri" panose="020F0502020204030204" charset="0"/>
              </a:rPr>
              <a:t>。</a:t>
            </a:r>
            <a:r>
              <a:rPr lang="zh-CN" altLang="en-US" dirty="0">
                <a:latin typeface="+mn-ea"/>
                <a:cs typeface="Calibri" panose="020F0502020204030204" charset="0"/>
              </a:rPr>
              <a:t>请记住这个数组，在树中也会及经常被用到</a:t>
            </a:r>
            <a:endParaRPr lang="zh-CN" altLang="en-US" b="0" dirty="0">
              <a:effectLst/>
              <a:latin typeface="+mn-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6069" y="635634"/>
            <a:ext cx="4577931" cy="1107996"/>
          </a:xfrm>
        </p:spPr>
        <p:txBody>
          <a:bodyPr/>
          <a:lstStyle/>
          <a:p>
            <a:r>
              <a:rPr lang="zh-CN" altLang="en-US" dirty="0"/>
              <a:t>连通分量与</a:t>
            </a:r>
            <a:r>
              <a:rPr lang="en-US" altLang="zh-CN" dirty="0" err="1"/>
              <a:t>Tarjan</a:t>
            </a:r>
            <a:endParaRPr lang="zh-CN" altLang="en-US" dirty="0"/>
          </a:p>
        </p:txBody>
      </p:sp>
      <p:sp>
        <p:nvSpPr>
          <p:cNvPr id="5" name="文本框 4"/>
          <p:cNvSpPr txBox="1"/>
          <p:nvPr/>
        </p:nvSpPr>
        <p:spPr>
          <a:xfrm>
            <a:off x="756068" y="1743630"/>
            <a:ext cx="8616532" cy="861774"/>
          </a:xfrm>
          <a:prstGeom prst="rect">
            <a:avLst/>
          </a:prstGeom>
          <a:noFill/>
        </p:spPr>
        <p:txBody>
          <a:bodyPr wrap="square">
            <a:spAutoFit/>
          </a:bodyPr>
          <a:lstStyle/>
          <a:p>
            <a:r>
              <a:rPr lang="en-US" altLang="zh-CN" sz="1600" b="0" i="0" dirty="0" err="1">
                <a:solidFill>
                  <a:srgbClr val="595959"/>
                </a:solidFill>
                <a:effectLst/>
                <a:latin typeface="Helvetica Neue"/>
              </a:rPr>
              <a:t>Tarjan</a:t>
            </a:r>
            <a:r>
              <a:rPr lang="en-US" altLang="zh-CN" sz="1600" b="0" i="0" dirty="0">
                <a:solidFill>
                  <a:srgbClr val="595959"/>
                </a:solidFill>
                <a:effectLst/>
                <a:latin typeface="Helvetica Neue"/>
              </a:rPr>
              <a:t> </a:t>
            </a:r>
            <a:r>
              <a:rPr lang="zh-CN" altLang="en-US" sz="1600" b="0" i="0" dirty="0">
                <a:effectLst/>
                <a:latin typeface="Helvetica Neue"/>
              </a:rPr>
              <a:t>算法能够在线性复杂度内求得有向图的所有强连通分量。</a:t>
            </a:r>
            <a:r>
              <a:rPr lang="zh-CN" altLang="en-US" sz="1600" b="0" i="0" dirty="0">
                <a:effectLst/>
                <a:latin typeface="Fira Sans" panose="020F0502020204030204" pitchFamily="34" charset="0"/>
              </a:rPr>
              <a:t>基于对图进行 </a:t>
            </a:r>
            <a:r>
              <a:rPr lang="en-US" altLang="zh-CN" sz="1600" b="0" i="0" dirty="0">
                <a:effectLst/>
                <a:latin typeface="Fira Sans" panose="020F0502020204030204" pitchFamily="34" charset="0"/>
              </a:rPr>
              <a:t>DFS</a:t>
            </a:r>
            <a:r>
              <a:rPr lang="zh-CN" altLang="en-US" sz="1600" b="0" i="0" dirty="0">
                <a:effectLst/>
                <a:latin typeface="Fira Sans" panose="020F0502020204030204" pitchFamily="34" charset="0"/>
              </a:rPr>
              <a:t>。我们视每个连通分量为搜索树中的一棵子树，在搜索过程中，维护一个栈，每次把搜索树中尚未处理的节点加入栈中</a:t>
            </a:r>
            <a:r>
              <a:rPr lang="zh-CN" altLang="en-US" b="0" i="0" dirty="0">
                <a:effectLst/>
                <a:latin typeface="Fira Sans" panose="020F0502020204030204" pitchFamily="34" charset="0"/>
              </a:rPr>
              <a:t>。</a:t>
            </a:r>
            <a:endParaRPr lang="zh-CN" altLang="en-US" dirty="0"/>
          </a:p>
        </p:txBody>
      </p:sp>
      <p:sp>
        <p:nvSpPr>
          <p:cNvPr id="7" name="文本框 6"/>
          <p:cNvSpPr txBox="1"/>
          <p:nvPr/>
        </p:nvSpPr>
        <p:spPr>
          <a:xfrm>
            <a:off x="770816" y="2807658"/>
            <a:ext cx="6096000" cy="338554"/>
          </a:xfrm>
          <a:prstGeom prst="rect">
            <a:avLst/>
          </a:prstGeom>
          <a:noFill/>
        </p:spPr>
        <p:txBody>
          <a:bodyPr wrap="square">
            <a:spAutoFit/>
          </a:bodyPr>
          <a:lstStyle/>
          <a:p>
            <a:r>
              <a:rPr lang="zh-CN" altLang="en-US" sz="1600" b="0" dirty="0">
                <a:effectLst/>
                <a:latin typeface="Cascadia code Italic" panose="020B0609020000020004" pitchFamily="49" charset="0"/>
              </a:rPr>
              <a:t>为每个结点</a:t>
            </a:r>
            <a:r>
              <a:rPr lang="en-US" altLang="zh-CN" sz="1600" b="0" dirty="0">
                <a:effectLst/>
                <a:latin typeface="Cascadia code Italic" panose="020B0609020000020004" pitchFamily="49" charset="0"/>
              </a:rPr>
              <a:t>u</a:t>
            </a:r>
            <a:r>
              <a:rPr lang="zh-CN" altLang="en-US" sz="1600" b="0" dirty="0">
                <a:effectLst/>
                <a:latin typeface="Cascadia code Italic" panose="020B0609020000020004" pitchFamily="49" charset="0"/>
              </a:rPr>
              <a:t>维护了以下几个变量</a:t>
            </a:r>
            <a:endParaRPr lang="zh-CN" altLang="en-US" sz="1600" b="0" dirty="0">
              <a:effectLst/>
              <a:latin typeface="Cascadia code Italic" panose="020B0609020000020004" pitchFamily="49" charset="0"/>
            </a:endParaRPr>
          </a:p>
        </p:txBody>
      </p:sp>
      <p:pic>
        <p:nvPicPr>
          <p:cNvPr id="9" name="图片 8"/>
          <p:cNvPicPr>
            <a:picLocks noChangeAspect="1"/>
          </p:cNvPicPr>
          <p:nvPr/>
        </p:nvPicPr>
        <p:blipFill>
          <a:blip r:embed="rId1"/>
          <a:stretch>
            <a:fillRect/>
          </a:stretch>
        </p:blipFill>
        <p:spPr>
          <a:xfrm>
            <a:off x="860323" y="3385883"/>
            <a:ext cx="8040222" cy="1219370"/>
          </a:xfrm>
          <a:prstGeom prst="rect">
            <a:avLst/>
          </a:prstGeom>
        </p:spPr>
      </p:pic>
      <p:sp>
        <p:nvSpPr>
          <p:cNvPr id="10" name="文本框 9"/>
          <p:cNvSpPr txBox="1"/>
          <p:nvPr/>
        </p:nvSpPr>
        <p:spPr>
          <a:xfrm>
            <a:off x="838200" y="4951853"/>
            <a:ext cx="4953000" cy="369332"/>
          </a:xfrm>
          <a:prstGeom prst="rect">
            <a:avLst/>
          </a:prstGeom>
          <a:noFill/>
        </p:spPr>
        <p:txBody>
          <a:bodyPr wrap="square" rtlCol="0">
            <a:spAutoFit/>
          </a:bodyPr>
          <a:lstStyle/>
          <a:p>
            <a:r>
              <a:rPr lang="zh-CN" altLang="en-US" sz="1600" dirty="0"/>
              <a:t>根据</a:t>
            </a:r>
            <a:r>
              <a:rPr lang="en-US" altLang="zh-CN" sz="1600" dirty="0" err="1"/>
              <a:t>dfs</a:t>
            </a:r>
            <a:r>
              <a:rPr lang="zh-CN" altLang="en-US" sz="1600" dirty="0"/>
              <a:t>的搜索顺序，有如下性质</a:t>
            </a:r>
            <a:r>
              <a:rPr lang="zh-CN" altLang="en-US" dirty="0"/>
              <a:t>：</a:t>
            </a:r>
            <a:endParaRPr lang="zh-CN" altLang="en-US" dirty="0"/>
          </a:p>
        </p:txBody>
      </p:sp>
      <p:sp>
        <p:nvSpPr>
          <p:cNvPr id="12" name="文本框 11"/>
          <p:cNvSpPr txBox="1"/>
          <p:nvPr/>
        </p:nvSpPr>
        <p:spPr>
          <a:xfrm>
            <a:off x="838200" y="5486400"/>
            <a:ext cx="8153400" cy="584775"/>
          </a:xfrm>
          <a:prstGeom prst="rect">
            <a:avLst/>
          </a:prstGeom>
          <a:noFill/>
        </p:spPr>
        <p:txBody>
          <a:bodyPr wrap="square">
            <a:spAutoFit/>
          </a:bodyPr>
          <a:lstStyle/>
          <a:p>
            <a:r>
              <a:rPr lang="zh-CN" altLang="en-US" sz="1600" b="0" i="0" dirty="0">
                <a:effectLst/>
                <a:latin typeface="Fira Sans" panose="020F0502020204030204" pitchFamily="34" charset="0"/>
              </a:rPr>
              <a:t>一个结点的子树内结点的 </a:t>
            </a:r>
            <a:r>
              <a:rPr lang="en-US" altLang="zh-CN" sz="1600" b="0" i="0" dirty="0" err="1">
                <a:effectLst/>
                <a:latin typeface="Fira Sans" panose="020F0502020204030204" pitchFamily="34" charset="0"/>
              </a:rPr>
              <a:t>dfn</a:t>
            </a:r>
            <a:r>
              <a:rPr lang="en-US" altLang="zh-CN" sz="1600" b="0" i="0" dirty="0">
                <a:effectLst/>
                <a:latin typeface="Fira Sans" panose="020F0502020204030204" pitchFamily="34" charset="0"/>
              </a:rPr>
              <a:t> </a:t>
            </a:r>
            <a:r>
              <a:rPr lang="zh-CN" altLang="en-US" sz="1600" b="0" i="0" dirty="0">
                <a:effectLst/>
                <a:latin typeface="Fira Sans" panose="020F0502020204030204" pitchFamily="34" charset="0"/>
              </a:rPr>
              <a:t>都大于该结点的 </a:t>
            </a:r>
            <a:r>
              <a:rPr lang="en-US" altLang="zh-CN" sz="1600" b="0" i="0" dirty="0" err="1">
                <a:effectLst/>
                <a:latin typeface="Fira Sans" panose="020F0502020204030204" pitchFamily="34" charset="0"/>
              </a:rPr>
              <a:t>dfn</a:t>
            </a:r>
            <a:r>
              <a:rPr lang="zh-CN" altLang="en-US" sz="1600" b="0" i="0" dirty="0">
                <a:effectLst/>
                <a:latin typeface="Fira Sans" panose="020F0502020204030204" pitchFamily="34" charset="0"/>
              </a:rPr>
              <a:t>，从根开始的一条路径上的 </a:t>
            </a:r>
            <a:r>
              <a:rPr lang="en-US" altLang="zh-CN" sz="1600" b="0" i="0" dirty="0" err="1">
                <a:effectLst/>
                <a:latin typeface="Fira Sans" panose="020F0502020204030204" pitchFamily="34" charset="0"/>
              </a:rPr>
              <a:t>dfn</a:t>
            </a:r>
            <a:r>
              <a:rPr lang="en-US" altLang="zh-CN" sz="1600" b="0" i="0" dirty="0">
                <a:effectLst/>
                <a:latin typeface="Fira Sans" panose="020F0502020204030204" pitchFamily="34" charset="0"/>
              </a:rPr>
              <a:t> </a:t>
            </a:r>
            <a:r>
              <a:rPr lang="zh-CN" altLang="en-US" sz="1600" b="0" i="0" dirty="0">
                <a:effectLst/>
                <a:latin typeface="Fira Sans" panose="020F0502020204030204" pitchFamily="34" charset="0"/>
              </a:rPr>
              <a:t>严格递增，</a:t>
            </a:r>
            <a:r>
              <a:rPr lang="en-US" altLang="zh-CN" sz="1600" b="0" i="0" dirty="0">
                <a:effectLst/>
                <a:latin typeface="Fira Sans" panose="020F0502020204030204" pitchFamily="34" charset="0"/>
              </a:rPr>
              <a:t>low </a:t>
            </a:r>
            <a:r>
              <a:rPr lang="zh-CN" altLang="en-US" sz="1600" b="0" i="0" dirty="0">
                <a:effectLst/>
                <a:latin typeface="Fira Sans" panose="020F0502020204030204" pitchFamily="34" charset="0"/>
              </a:rPr>
              <a:t>严格非降</a:t>
            </a:r>
            <a:endParaRPr lang="zh-CN" altLang="en-US" sz="1600" dirty="0"/>
          </a:p>
        </p:txBody>
      </p:sp>
      <p:sp>
        <p:nvSpPr>
          <p:cNvPr id="13" name="文本框 12"/>
          <p:cNvSpPr txBox="1"/>
          <p:nvPr/>
        </p:nvSpPr>
        <p:spPr>
          <a:xfrm>
            <a:off x="6477000" y="4583314"/>
            <a:ext cx="2514600" cy="523220"/>
          </a:xfrm>
          <a:prstGeom prst="rect">
            <a:avLst/>
          </a:prstGeom>
          <a:noFill/>
        </p:spPr>
        <p:txBody>
          <a:bodyPr wrap="square" rtlCol="0">
            <a:spAutoFit/>
          </a:bodyPr>
          <a:lstStyle/>
          <a:p>
            <a:r>
              <a:rPr lang="zh-CN" altLang="en-US" sz="1400" dirty="0"/>
              <a:t>另外用</a:t>
            </a:r>
            <a:r>
              <a:rPr lang="en-US" altLang="zh-CN" sz="1400" dirty="0" err="1"/>
              <a:t>scc</a:t>
            </a:r>
            <a:r>
              <a:rPr lang="zh-CN" altLang="en-US" sz="1400" dirty="0"/>
              <a:t>数组记录</a:t>
            </a:r>
            <a:r>
              <a:rPr lang="en-US" altLang="zh-CN" sz="1400" dirty="0"/>
              <a:t>u</a:t>
            </a:r>
            <a:r>
              <a:rPr lang="zh-CN" altLang="en-US" sz="1400" dirty="0"/>
              <a:t>属于哪个连通分量</a:t>
            </a:r>
            <a:endParaRPr lang="zh-CN" altLang="en-US" sz="1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81000" y="381000"/>
            <a:ext cx="4349331" cy="583566"/>
          </a:xfrm>
        </p:spPr>
        <p:txBody>
          <a:bodyPr/>
          <a:lstStyle/>
          <a:p>
            <a:r>
              <a:rPr lang="zh-CN" altLang="en-US" dirty="0"/>
              <a:t>连通分量与</a:t>
            </a:r>
            <a:r>
              <a:rPr lang="en-US" altLang="zh-CN" dirty="0" err="1"/>
              <a:t>Tarjan</a:t>
            </a:r>
            <a:endParaRPr lang="zh-CN" altLang="en-US" dirty="0"/>
          </a:p>
        </p:txBody>
      </p:sp>
      <p:pic>
        <p:nvPicPr>
          <p:cNvPr id="6" name="图片 5"/>
          <p:cNvPicPr>
            <a:picLocks noChangeAspect="1"/>
          </p:cNvPicPr>
          <p:nvPr/>
        </p:nvPicPr>
        <p:blipFill>
          <a:blip r:embed="rId1"/>
          <a:stretch>
            <a:fillRect/>
          </a:stretch>
        </p:blipFill>
        <p:spPr>
          <a:xfrm>
            <a:off x="4149931" y="381000"/>
            <a:ext cx="8059275" cy="6325483"/>
          </a:xfrm>
          <a:prstGeom prst="rect">
            <a:avLst/>
          </a:prstGeom>
        </p:spPr>
      </p:pic>
      <p:sp>
        <p:nvSpPr>
          <p:cNvPr id="9" name="文本框 8"/>
          <p:cNvSpPr txBox="1"/>
          <p:nvPr/>
        </p:nvSpPr>
        <p:spPr>
          <a:xfrm>
            <a:off x="36871" y="1371600"/>
            <a:ext cx="3773129" cy="1323439"/>
          </a:xfrm>
          <a:prstGeom prst="rect">
            <a:avLst/>
          </a:prstGeom>
          <a:noFill/>
        </p:spPr>
        <p:txBody>
          <a:bodyPr wrap="square">
            <a:spAutoFit/>
          </a:bodyPr>
          <a:lstStyle/>
          <a:p>
            <a:r>
              <a:rPr lang="zh-CN" altLang="en-US" sz="1600" b="0" dirty="0">
                <a:effectLst/>
                <a:latin typeface="Cascadia code Italic" panose="020B0609020000020004" pitchFamily="49" charset="0"/>
              </a:rPr>
              <a:t>按照深度优先搜索算法搜索的次序对图中所有的结点进行搜索，维护每个结点的</a:t>
            </a:r>
            <a:r>
              <a:rPr lang="en-US" altLang="zh-CN" sz="1600" b="0" dirty="0" err="1">
                <a:effectLst/>
                <a:latin typeface="Cascadia code Italic" panose="020B0609020000020004" pitchFamily="49" charset="0"/>
              </a:rPr>
              <a:t>dfn</a:t>
            </a:r>
            <a:r>
              <a:rPr lang="zh-CN" altLang="en-US" sz="1600" b="0" dirty="0">
                <a:effectLst/>
                <a:latin typeface="Cascadia code Italic" panose="020B0609020000020004" pitchFamily="49" charset="0"/>
              </a:rPr>
              <a:t>与</a:t>
            </a:r>
            <a:r>
              <a:rPr lang="en-US" altLang="zh-CN" sz="1600" b="0" dirty="0">
                <a:effectLst/>
                <a:latin typeface="Cascadia code Italic" panose="020B0609020000020004" pitchFamily="49" charset="0"/>
              </a:rPr>
              <a:t>low</a:t>
            </a:r>
            <a:r>
              <a:rPr lang="zh-CN" altLang="en-US" sz="1600" b="0" dirty="0">
                <a:effectLst/>
                <a:latin typeface="Cascadia code Italic" panose="020B0609020000020004" pitchFamily="49" charset="0"/>
              </a:rPr>
              <a:t>变量，且让搜索到的结点入栈。每当找到一个强连通元素，就按照该元素包含结点数目让栈中元素出栈</a:t>
            </a:r>
            <a:endParaRPr lang="zh-CN" altLang="en-US" sz="1600" b="0" dirty="0">
              <a:effectLst/>
              <a:latin typeface="Cascadia code Italic" panose="020B0609020000020004" pitchFamily="49" charset="0"/>
            </a:endParaRPr>
          </a:p>
        </p:txBody>
      </p:sp>
      <mc:AlternateContent xmlns:mc="http://schemas.openxmlformats.org/markup-compatibility/2006">
        <mc:Choice xmlns:a14="http://schemas.microsoft.com/office/drawing/2010/main" Requires="a14">
          <p:sp>
            <p:nvSpPr>
              <p:cNvPr id="11" name="文本框 10"/>
              <p:cNvSpPr txBox="1"/>
              <p:nvPr/>
            </p:nvSpPr>
            <p:spPr>
              <a:xfrm>
                <a:off x="76200" y="2705872"/>
                <a:ext cx="3468329" cy="1323439"/>
              </a:xfrm>
              <a:prstGeom prst="rect">
                <a:avLst/>
              </a:prstGeom>
              <a:noFill/>
            </p:spPr>
            <p:txBody>
              <a:bodyPr wrap="square">
                <a:spAutoFit/>
              </a:bodyPr>
              <a:lstStyle/>
              <a:p>
                <a:r>
                  <a:rPr lang="en-US" altLang="zh-CN" sz="1600" b="0" dirty="0">
                    <a:effectLst/>
                    <a:latin typeface="Cascadia code Italic" panose="020B0609020000020004" pitchFamily="49" charset="0"/>
                  </a:rPr>
                  <a:t>1.v</a:t>
                </a:r>
                <a:r>
                  <a:rPr lang="zh-CN" altLang="en-US" sz="1600" b="0" dirty="0">
                    <a:effectLst/>
                    <a:latin typeface="Cascadia code Italic" panose="020B0609020000020004" pitchFamily="49" charset="0"/>
                  </a:rPr>
                  <a:t>未被访问：继续对</a:t>
                </a:r>
                <a:r>
                  <a:rPr lang="en-US" altLang="zh-CN" sz="1600" b="0" dirty="0">
                    <a:effectLst/>
                    <a:latin typeface="Cascadia code Italic" panose="020B0609020000020004" pitchFamily="49" charset="0"/>
                  </a:rPr>
                  <a:t>v</a:t>
                </a:r>
                <a:r>
                  <a:rPr lang="zh-CN" altLang="en-US" sz="1600" b="0" dirty="0">
                    <a:effectLst/>
                    <a:latin typeface="Cascadia code Italic" panose="020B0609020000020004" pitchFamily="49" charset="0"/>
                  </a:rPr>
                  <a:t>进行深度搜索。在回溯过程中，用 </a:t>
                </a:r>
                <a14:m>
                  <m:oMath xmlns:m="http://schemas.openxmlformats.org/officeDocument/2006/math">
                    <m:sSub>
                      <m:sSubPr>
                        <m:ctrlPr>
                          <a:rPr lang="en-US" altLang="zh-CN" sz="1600" b="0" i="1" smtClean="0">
                            <a:effectLst/>
                            <a:latin typeface="Cambria Math" panose="02040503050406030204" pitchFamily="18" charset="0"/>
                          </a:rPr>
                        </m:ctrlPr>
                      </m:sSubPr>
                      <m:e>
                        <m:r>
                          <a:rPr lang="en-US" altLang="zh-CN" sz="1600" b="0" i="1" smtClean="0">
                            <a:effectLst/>
                            <a:latin typeface="Cambria Math" panose="02040503050406030204" pitchFamily="18" charset="0"/>
                          </a:rPr>
                          <m:t>𝑙𝑜𝑤</m:t>
                        </m:r>
                      </m:e>
                      <m:sub>
                        <m:r>
                          <a:rPr lang="en-US" altLang="zh-CN" sz="1600" b="0" i="1" smtClean="0">
                            <a:effectLst/>
                            <a:latin typeface="Cambria Math" panose="02040503050406030204" pitchFamily="18" charset="0"/>
                          </a:rPr>
                          <m:t>𝑣</m:t>
                        </m:r>
                      </m:sub>
                    </m:sSub>
                  </m:oMath>
                </a14:m>
                <a:r>
                  <a:rPr lang="zh-CN" altLang="en-US" sz="1600" b="0" dirty="0">
                    <a:effectLst/>
                    <a:latin typeface="Cascadia code Italic" panose="020B0609020000020004" pitchFamily="49" charset="0"/>
                  </a:rPr>
                  <a:t>更新 </a:t>
                </a:r>
                <a14:m>
                  <m:oMath xmlns:m="http://schemas.openxmlformats.org/officeDocument/2006/math">
                    <m:sSub>
                      <m:sSubPr>
                        <m:ctrlPr>
                          <a:rPr lang="en-US" altLang="zh-CN" sz="1600" b="0" i="1" smtClean="0">
                            <a:effectLst/>
                            <a:latin typeface="Cambria Math" panose="02040503050406030204" pitchFamily="18" charset="0"/>
                          </a:rPr>
                        </m:ctrlPr>
                      </m:sSubPr>
                      <m:e>
                        <m:r>
                          <a:rPr lang="en-US" altLang="zh-CN" sz="1600" b="0" i="1" smtClean="0">
                            <a:effectLst/>
                            <a:latin typeface="Cambria Math" panose="02040503050406030204" pitchFamily="18" charset="0"/>
                          </a:rPr>
                          <m:t>𝑙𝑜𝑤</m:t>
                        </m:r>
                      </m:e>
                      <m:sub>
                        <m:r>
                          <a:rPr lang="en-US" altLang="zh-CN" sz="1600" b="0" i="1" smtClean="0">
                            <a:effectLst/>
                            <a:latin typeface="Cambria Math" panose="02040503050406030204" pitchFamily="18" charset="0"/>
                          </a:rPr>
                          <m:t>𝑢</m:t>
                        </m:r>
                      </m:sub>
                    </m:sSub>
                  </m:oMath>
                </a14:m>
                <a:r>
                  <a:rPr lang="zh-CN" altLang="en-US" sz="1600" b="0" dirty="0">
                    <a:effectLst/>
                    <a:latin typeface="Cascadia code Italic" panose="020B0609020000020004" pitchFamily="49" charset="0"/>
                  </a:rPr>
                  <a:t>。因为存在从</a:t>
                </a:r>
                <a:r>
                  <a:rPr lang="en-US" altLang="zh-CN" sz="1600" b="0" dirty="0">
                    <a:effectLst/>
                    <a:latin typeface="Cascadia code Italic" panose="020B0609020000020004" pitchFamily="49" charset="0"/>
                  </a:rPr>
                  <a:t>u</a:t>
                </a:r>
                <a:r>
                  <a:rPr lang="zh-CN" altLang="en-US" sz="1600" b="0" dirty="0">
                    <a:effectLst/>
                    <a:latin typeface="Cascadia code Italic" panose="020B0609020000020004" pitchFamily="49" charset="0"/>
                  </a:rPr>
                  <a:t>到</a:t>
                </a:r>
                <a:r>
                  <a:rPr lang="en-US" altLang="zh-CN" sz="1600" b="0" dirty="0">
                    <a:effectLst/>
                    <a:latin typeface="Cascadia code Italic" panose="020B0609020000020004" pitchFamily="49" charset="0"/>
                  </a:rPr>
                  <a:t>v</a:t>
                </a:r>
                <a:r>
                  <a:rPr lang="zh-CN" altLang="en-US" sz="1600" b="0" dirty="0">
                    <a:effectLst/>
                    <a:latin typeface="Cascadia code Italic" panose="020B0609020000020004" pitchFamily="49" charset="0"/>
                  </a:rPr>
                  <a:t>的直接路径，所以</a:t>
                </a:r>
                <a:r>
                  <a:rPr lang="en-US" altLang="zh-CN" sz="1600" b="0" dirty="0">
                    <a:effectLst/>
                    <a:latin typeface="Cascadia code Italic" panose="020B0609020000020004" pitchFamily="49" charset="0"/>
                  </a:rPr>
                  <a:t>v</a:t>
                </a:r>
                <a:r>
                  <a:rPr lang="zh-CN" altLang="en-US" sz="1600" b="0" dirty="0">
                    <a:effectLst/>
                    <a:latin typeface="Cascadia code Italic" panose="020B0609020000020004" pitchFamily="49" charset="0"/>
                  </a:rPr>
                  <a:t>能够回溯到的已经在栈中的结点，</a:t>
                </a:r>
                <a:r>
                  <a:rPr lang="en-US" altLang="zh-CN" sz="1600" b="0" dirty="0">
                    <a:effectLst/>
                    <a:latin typeface="Cascadia code Italic" panose="020B0609020000020004" pitchFamily="49" charset="0"/>
                  </a:rPr>
                  <a:t>u</a:t>
                </a:r>
                <a:r>
                  <a:rPr lang="zh-CN" altLang="en-US" sz="1600" b="0" dirty="0">
                    <a:effectLst/>
                    <a:latin typeface="Cascadia code Italic" panose="020B0609020000020004" pitchFamily="49" charset="0"/>
                  </a:rPr>
                  <a:t>也一定能够回溯到</a:t>
                </a:r>
                <a:endParaRPr lang="zh-CN" altLang="en-US" sz="1600" b="0" dirty="0">
                  <a:effectLst/>
                  <a:latin typeface="Cascadia code Italic" panose="020B0609020000020004" pitchFamily="49"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76200" y="2705872"/>
                <a:ext cx="3468329" cy="1323439"/>
              </a:xfrm>
              <a:prstGeom prst="rect">
                <a:avLst/>
              </a:prstGeom>
              <a:blipFill rotWithShape="1">
                <a:blip r:embed="rId2"/>
                <a:stretch>
                  <a:fillRect t="-730" r="-2674" b="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90948" y="4074552"/>
                <a:ext cx="3871452" cy="584775"/>
              </a:xfrm>
              <a:prstGeom prst="rect">
                <a:avLst/>
              </a:prstGeom>
              <a:noFill/>
            </p:spPr>
            <p:txBody>
              <a:bodyPr wrap="square">
                <a:spAutoFit/>
              </a:bodyPr>
              <a:lstStyle/>
              <a:p>
                <a:r>
                  <a:rPr lang="en-US" altLang="zh-CN" sz="1600" b="0" dirty="0">
                    <a:effectLst/>
                    <a:latin typeface="Cascadia code Italic" panose="020B0609020000020004" pitchFamily="49" charset="0"/>
                  </a:rPr>
                  <a:t>2.v</a:t>
                </a:r>
                <a:r>
                  <a:rPr lang="zh-CN" altLang="en-US" sz="1600" b="0" dirty="0">
                    <a:effectLst/>
                    <a:latin typeface="Cascadia code Italic" panose="020B0609020000020004" pitchFamily="49" charset="0"/>
                  </a:rPr>
                  <a:t>被访问过，已经在栈中：根据 </a:t>
                </a:r>
                <a:r>
                  <a:rPr lang="en-US" altLang="zh-CN" sz="1600" b="0" dirty="0">
                    <a:effectLst/>
                    <a:latin typeface="Cascadia code Italic" panose="020B0609020000020004" pitchFamily="49" charset="0"/>
                  </a:rPr>
                  <a:t>low </a:t>
                </a:r>
                <a:r>
                  <a:rPr lang="zh-CN" altLang="en-US" sz="1600" b="0" dirty="0">
                    <a:effectLst/>
                    <a:latin typeface="Cascadia code Italic" panose="020B0609020000020004" pitchFamily="49" charset="0"/>
                  </a:rPr>
                  <a:t>值的定义，用 </a:t>
                </a:r>
                <a14:m>
                  <m:oMath xmlns:m="http://schemas.openxmlformats.org/officeDocument/2006/math">
                    <m:sSub>
                      <m:sSubPr>
                        <m:ctrlPr>
                          <a:rPr lang="en-US" altLang="zh-CN" sz="1600" b="0" i="1" smtClean="0">
                            <a:effectLst/>
                            <a:latin typeface="Cambria Math" panose="02040503050406030204" pitchFamily="18" charset="0"/>
                          </a:rPr>
                        </m:ctrlPr>
                      </m:sSubPr>
                      <m:e>
                        <m:r>
                          <a:rPr lang="en-US" altLang="zh-CN" sz="1600" b="0" i="1" smtClean="0">
                            <a:effectLst/>
                            <a:latin typeface="Cambria Math" panose="02040503050406030204" pitchFamily="18" charset="0"/>
                          </a:rPr>
                          <m:t>𝑑𝑓𝑛</m:t>
                        </m:r>
                      </m:e>
                      <m:sub>
                        <m:r>
                          <a:rPr lang="en-US" altLang="zh-CN" sz="1600" b="0" i="1" smtClean="0">
                            <a:effectLst/>
                            <a:latin typeface="Cambria Math" panose="02040503050406030204" pitchFamily="18" charset="0"/>
                          </a:rPr>
                          <m:t>𝑣</m:t>
                        </m:r>
                      </m:sub>
                    </m:sSub>
                  </m:oMath>
                </a14:m>
                <a:r>
                  <a:rPr lang="zh-CN" altLang="en-US" sz="1600" b="0" dirty="0">
                    <a:effectLst/>
                    <a:latin typeface="Cascadia code Italic" panose="020B0609020000020004" pitchFamily="49" charset="0"/>
                  </a:rPr>
                  <a:t>更新</a:t>
                </a:r>
                <a14:m>
                  <m:oMath xmlns:m="http://schemas.openxmlformats.org/officeDocument/2006/math">
                    <m:sSub>
                      <m:sSubPr>
                        <m:ctrlPr>
                          <a:rPr lang="en-US" altLang="zh-CN" sz="1600" b="0" i="1" dirty="0" smtClean="0">
                            <a:effectLst/>
                            <a:latin typeface="Cambria Math" panose="02040503050406030204" pitchFamily="18" charset="0"/>
                          </a:rPr>
                        </m:ctrlPr>
                      </m:sSubPr>
                      <m:e>
                        <m:r>
                          <a:rPr lang="en-US" altLang="zh-CN" sz="1600" b="0" i="1" dirty="0" smtClean="0">
                            <a:effectLst/>
                            <a:latin typeface="Cambria Math" panose="02040503050406030204" pitchFamily="18" charset="0"/>
                          </a:rPr>
                          <m:t>𝑙𝑜𝑤</m:t>
                        </m:r>
                      </m:e>
                      <m:sub>
                        <m:r>
                          <a:rPr lang="en-US" altLang="zh-CN" sz="1600" b="0" i="1" dirty="0" smtClean="0">
                            <a:effectLst/>
                            <a:latin typeface="Cambria Math" panose="02040503050406030204" pitchFamily="18" charset="0"/>
                          </a:rPr>
                          <m:t>𝑢</m:t>
                        </m:r>
                      </m:sub>
                    </m:sSub>
                  </m:oMath>
                </a14:m>
                <a:endParaRPr lang="en-US" altLang="zh-CN" sz="1600" b="0" dirty="0">
                  <a:effectLst/>
                  <a:latin typeface="Cascadia code Italic" panose="020B0609020000020004" pitchFamily="49" charset="0"/>
                </a:endParaRPr>
              </a:p>
            </p:txBody>
          </p:sp>
        </mc:Choice>
        <mc:Fallback>
          <p:sp>
            <p:nvSpPr>
              <p:cNvPr id="13" name="文本框 12"/>
              <p:cNvSpPr txBox="1">
                <a:spLocks noRot="1" noChangeAspect="1" noMove="1" noResize="1" noEditPoints="1" noAdjustHandles="1" noChangeArrowheads="1" noChangeShapeType="1" noTextEdit="1"/>
              </p:cNvSpPr>
              <p:nvPr/>
            </p:nvSpPr>
            <p:spPr>
              <a:xfrm>
                <a:off x="90948" y="4074552"/>
                <a:ext cx="3871452" cy="584775"/>
              </a:xfrm>
              <a:prstGeom prst="rect">
                <a:avLst/>
              </a:prstGeom>
              <a:blipFill rotWithShape="1">
                <a:blip r:embed="rId3"/>
                <a:stretch>
                  <a:fillRect l="-4" t="-1696" b="57"/>
                </a:stretch>
              </a:blipFill>
            </p:spPr>
            <p:txBody>
              <a:bodyPr/>
              <a:lstStyle/>
              <a:p>
                <a:r>
                  <a:rPr lang="zh-CN" altLang="en-US">
                    <a:noFill/>
                  </a:rPr>
                  <a:t> </a:t>
                </a:r>
              </a:p>
            </p:txBody>
          </p:sp>
        </mc:Fallback>
      </mc:AlternateContent>
      <p:sp>
        <p:nvSpPr>
          <p:cNvPr id="15" name="文本框 14"/>
          <p:cNvSpPr txBox="1"/>
          <p:nvPr/>
        </p:nvSpPr>
        <p:spPr>
          <a:xfrm>
            <a:off x="125361" y="4799364"/>
            <a:ext cx="3419168" cy="830997"/>
          </a:xfrm>
          <a:prstGeom prst="rect">
            <a:avLst/>
          </a:prstGeom>
          <a:noFill/>
        </p:spPr>
        <p:txBody>
          <a:bodyPr wrap="square">
            <a:spAutoFit/>
          </a:bodyPr>
          <a:lstStyle/>
          <a:p>
            <a:r>
              <a:rPr lang="en-US" altLang="zh-CN" sz="1600" b="0" dirty="0">
                <a:effectLst/>
                <a:latin typeface="Cascadia code Italic" panose="020B0609020000020004" pitchFamily="49" charset="0"/>
              </a:rPr>
              <a:t>3.v</a:t>
            </a:r>
            <a:r>
              <a:rPr lang="zh-CN" altLang="en-US" sz="1600" b="0" dirty="0">
                <a:effectLst/>
                <a:latin typeface="Cascadia code Italic" panose="020B0609020000020004" pitchFamily="49" charset="0"/>
              </a:rPr>
              <a:t>被访问过，已不在栈中：说明</a:t>
            </a:r>
            <a:r>
              <a:rPr lang="en-US" altLang="zh-CN" sz="1600" b="0" dirty="0">
                <a:effectLst/>
                <a:latin typeface="Cascadia code Italic" panose="020B0609020000020004" pitchFamily="49" charset="0"/>
              </a:rPr>
              <a:t>v</a:t>
            </a:r>
            <a:r>
              <a:rPr lang="zh-CN" altLang="en-US" sz="1600" b="0" dirty="0">
                <a:effectLst/>
                <a:latin typeface="Cascadia code Italic" panose="020B0609020000020004" pitchFamily="49" charset="0"/>
              </a:rPr>
              <a:t>已搜索完毕，其所在连通分量已被处理，所以不用对其做操作</a:t>
            </a:r>
            <a:endParaRPr lang="zh-CN" altLang="en-US" sz="1600" b="0" dirty="0">
              <a:effectLst/>
              <a:latin typeface="Cascadia code Italic" panose="020B0609020000020004" pitchFamily="49"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6069" y="635634"/>
            <a:ext cx="4196931" cy="1107996"/>
          </a:xfrm>
        </p:spPr>
        <p:txBody>
          <a:bodyPr/>
          <a:lstStyle/>
          <a:p>
            <a:r>
              <a:rPr lang="zh-CN" altLang="en-US" dirty="0"/>
              <a:t>连通分量与</a:t>
            </a:r>
            <a:r>
              <a:rPr lang="en-US" altLang="zh-CN" dirty="0" err="1"/>
              <a:t>Tarjan</a:t>
            </a:r>
            <a:endParaRPr lang="zh-CN" altLang="en-US" dirty="0"/>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1497055"/>
            <a:ext cx="3208129" cy="211748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441287"/>
            <a:ext cx="3070347" cy="2117481"/>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4038600" y="2281867"/>
            <a:ext cx="609600" cy="369332"/>
          </a:xfrm>
          <a:prstGeom prst="rect">
            <a:avLst/>
          </a:prstGeom>
          <a:noFill/>
        </p:spPr>
        <p:txBody>
          <a:bodyPr wrap="square" rtlCol="0">
            <a:spAutoFit/>
          </a:bodyPr>
          <a:lstStyle/>
          <a:p>
            <a:r>
              <a:rPr lang="en-US" altLang="zh-CN" dirty="0"/>
              <a:t>-&gt;</a:t>
            </a:r>
            <a:endParaRPr lang="zh-CN" altLang="en-US" dirty="0"/>
          </a:p>
        </p:txBody>
      </p:sp>
      <p:pic>
        <p:nvPicPr>
          <p:cNvPr id="410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864" y="4284812"/>
            <a:ext cx="2971800" cy="1994089"/>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8396618" y="2315361"/>
            <a:ext cx="533400" cy="369332"/>
          </a:xfrm>
          <a:prstGeom prst="rect">
            <a:avLst/>
          </a:prstGeom>
          <a:noFill/>
        </p:spPr>
        <p:txBody>
          <a:bodyPr wrap="square" rtlCol="0">
            <a:spAutoFit/>
          </a:bodyPr>
          <a:lstStyle/>
          <a:p>
            <a:r>
              <a:rPr lang="en-US" altLang="zh-CN" dirty="0"/>
              <a:t>-&gt;</a:t>
            </a:r>
            <a:endParaRPr lang="zh-CN" altLang="en-US" dirty="0"/>
          </a:p>
        </p:txBody>
      </p:sp>
      <p:pic>
        <p:nvPicPr>
          <p:cNvPr id="4104"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16353" y="4279896"/>
            <a:ext cx="2878394" cy="1929473"/>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4114800" y="5047381"/>
            <a:ext cx="6096000" cy="369332"/>
          </a:xfrm>
          <a:prstGeom prst="rect">
            <a:avLst/>
          </a:prstGeom>
          <a:noFill/>
        </p:spPr>
        <p:txBody>
          <a:bodyPr wrap="square">
            <a:spAutoFit/>
          </a:bodyPr>
          <a:lstStyle/>
          <a:p>
            <a:r>
              <a:rPr lang="en-US" altLang="zh-CN" dirty="0"/>
              <a:t>-&gt;</a:t>
            </a:r>
            <a:endParaRPr lang="zh-CN" altLang="en-US" dirty="0"/>
          </a:p>
        </p:txBody>
      </p:sp>
      <p:sp>
        <p:nvSpPr>
          <p:cNvPr id="9" name="文本框 8"/>
          <p:cNvSpPr txBox="1"/>
          <p:nvPr/>
        </p:nvSpPr>
        <p:spPr>
          <a:xfrm>
            <a:off x="8470136" y="5047381"/>
            <a:ext cx="6096000" cy="369332"/>
          </a:xfrm>
          <a:prstGeom prst="rect">
            <a:avLst/>
          </a:prstGeom>
          <a:noFill/>
        </p:spPr>
        <p:txBody>
          <a:bodyPr wrap="square">
            <a:spAutoFit/>
          </a:bodyPr>
          <a:lstStyle/>
          <a:p>
            <a:r>
              <a:rPr lang="en-US" altLang="zh-CN" dirty="0"/>
              <a:t>-&gt;</a:t>
            </a:r>
            <a:endParaRPr lang="zh-CN" altLang="en-US" dirty="0"/>
          </a:p>
        </p:txBody>
      </p:sp>
      <p:sp>
        <p:nvSpPr>
          <p:cNvPr id="10" name="文本框 9"/>
          <p:cNvSpPr txBox="1"/>
          <p:nvPr/>
        </p:nvSpPr>
        <p:spPr>
          <a:xfrm>
            <a:off x="2895600" y="1458750"/>
            <a:ext cx="76200" cy="369332"/>
          </a:xfrm>
          <a:prstGeom prst="rect">
            <a:avLst/>
          </a:prstGeom>
          <a:noFill/>
        </p:spPr>
        <p:txBody>
          <a:bodyPr wrap="square" rtlCol="0">
            <a:spAutoFit/>
          </a:bodyPr>
          <a:lstStyle/>
          <a:p>
            <a:r>
              <a:rPr lang="en-US" altLang="zh-CN" dirty="0"/>
              <a:t>1</a:t>
            </a:r>
            <a:endParaRPr lang="zh-CN" altLang="en-US" dirty="0"/>
          </a:p>
        </p:txBody>
      </p:sp>
      <p:sp>
        <p:nvSpPr>
          <p:cNvPr id="12" name="文本框 11"/>
          <p:cNvSpPr txBox="1"/>
          <p:nvPr/>
        </p:nvSpPr>
        <p:spPr>
          <a:xfrm>
            <a:off x="7192297" y="1413937"/>
            <a:ext cx="7280786" cy="369332"/>
          </a:xfrm>
          <a:prstGeom prst="rect">
            <a:avLst/>
          </a:prstGeom>
          <a:noFill/>
        </p:spPr>
        <p:txBody>
          <a:bodyPr wrap="square">
            <a:spAutoFit/>
          </a:bodyPr>
          <a:lstStyle/>
          <a:p>
            <a:r>
              <a:rPr lang="en-US" altLang="zh-CN" dirty="0"/>
              <a:t>2</a:t>
            </a:r>
            <a:endParaRPr lang="zh-CN" altLang="en-US" dirty="0"/>
          </a:p>
        </p:txBody>
      </p:sp>
      <p:sp>
        <p:nvSpPr>
          <p:cNvPr id="14" name="文本框 13"/>
          <p:cNvSpPr txBox="1"/>
          <p:nvPr/>
        </p:nvSpPr>
        <p:spPr>
          <a:xfrm>
            <a:off x="2895600" y="4114254"/>
            <a:ext cx="7280786" cy="369332"/>
          </a:xfrm>
          <a:prstGeom prst="rect">
            <a:avLst/>
          </a:prstGeom>
          <a:noFill/>
        </p:spPr>
        <p:txBody>
          <a:bodyPr wrap="square">
            <a:spAutoFit/>
          </a:bodyPr>
          <a:lstStyle/>
          <a:p>
            <a:r>
              <a:rPr lang="en-US" altLang="zh-CN" dirty="0"/>
              <a:t>3</a:t>
            </a:r>
            <a:endParaRPr lang="zh-CN" altLang="en-US" dirty="0"/>
          </a:p>
        </p:txBody>
      </p:sp>
      <p:sp>
        <p:nvSpPr>
          <p:cNvPr id="16" name="文本框 15"/>
          <p:cNvSpPr txBox="1"/>
          <p:nvPr/>
        </p:nvSpPr>
        <p:spPr>
          <a:xfrm>
            <a:off x="7337546" y="4095230"/>
            <a:ext cx="7280786" cy="369332"/>
          </a:xfrm>
          <a:prstGeom prst="rect">
            <a:avLst/>
          </a:prstGeom>
          <a:noFill/>
        </p:spPr>
        <p:txBody>
          <a:bodyPr wrap="square">
            <a:spAutoFit/>
          </a:bodyPr>
          <a:lstStyle/>
          <a:p>
            <a:r>
              <a:rPr lang="en-US" altLang="zh-CN" dirty="0"/>
              <a:t>4</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6069" y="635634"/>
            <a:ext cx="4044531" cy="1107996"/>
          </a:xfrm>
        </p:spPr>
        <p:txBody>
          <a:bodyPr/>
          <a:lstStyle/>
          <a:p>
            <a:r>
              <a:rPr lang="zh-CN" altLang="en-US" dirty="0"/>
              <a:t>连通分量与</a:t>
            </a:r>
            <a:r>
              <a:rPr lang="en-US" altLang="zh-CN" dirty="0" err="1"/>
              <a:t>Tarjan</a:t>
            </a:r>
            <a:endParaRPr lang="zh-CN" altLang="en-US" dirty="0"/>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1" y="1600201"/>
            <a:ext cx="3340100" cy="2286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7700" y="1439961"/>
            <a:ext cx="3562348" cy="2418286"/>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1" y="4114801"/>
            <a:ext cx="3428999" cy="2340636"/>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a:xfrm>
            <a:off x="4817806" y="2464438"/>
            <a:ext cx="6096000" cy="369332"/>
          </a:xfrm>
          <a:prstGeom prst="rect">
            <a:avLst/>
          </a:prstGeom>
          <a:noFill/>
        </p:spPr>
        <p:txBody>
          <a:bodyPr wrap="square">
            <a:spAutoFit/>
          </a:bodyPr>
          <a:lstStyle/>
          <a:p>
            <a:r>
              <a:rPr lang="en-US" altLang="zh-CN" dirty="0"/>
              <a:t>-&gt;</a:t>
            </a:r>
            <a:endParaRPr lang="zh-CN" altLang="en-US" dirty="0"/>
          </a:p>
        </p:txBody>
      </p:sp>
      <p:sp>
        <p:nvSpPr>
          <p:cNvPr id="7" name="文本框 6"/>
          <p:cNvSpPr txBox="1"/>
          <p:nvPr/>
        </p:nvSpPr>
        <p:spPr>
          <a:xfrm>
            <a:off x="3352800" y="1558964"/>
            <a:ext cx="6096000" cy="369332"/>
          </a:xfrm>
          <a:prstGeom prst="rect">
            <a:avLst/>
          </a:prstGeom>
          <a:noFill/>
        </p:spPr>
        <p:txBody>
          <a:bodyPr wrap="square">
            <a:spAutoFit/>
          </a:bodyPr>
          <a:lstStyle/>
          <a:p>
            <a:r>
              <a:rPr lang="en-US" altLang="zh-CN" dirty="0"/>
              <a:t>5</a:t>
            </a:r>
            <a:endParaRPr lang="zh-CN" altLang="en-US" dirty="0"/>
          </a:p>
        </p:txBody>
      </p:sp>
      <p:sp>
        <p:nvSpPr>
          <p:cNvPr id="9" name="文本框 8"/>
          <p:cNvSpPr txBox="1"/>
          <p:nvPr/>
        </p:nvSpPr>
        <p:spPr>
          <a:xfrm>
            <a:off x="8387931" y="1469458"/>
            <a:ext cx="6096000" cy="369332"/>
          </a:xfrm>
          <a:prstGeom prst="rect">
            <a:avLst/>
          </a:prstGeom>
          <a:noFill/>
        </p:spPr>
        <p:txBody>
          <a:bodyPr wrap="square">
            <a:spAutoFit/>
          </a:bodyPr>
          <a:lstStyle/>
          <a:p>
            <a:r>
              <a:rPr lang="en-US" altLang="zh-CN" dirty="0"/>
              <a:t>6</a:t>
            </a:r>
            <a:endParaRPr lang="zh-CN" altLang="en-US" dirty="0"/>
          </a:p>
        </p:txBody>
      </p:sp>
      <p:sp>
        <p:nvSpPr>
          <p:cNvPr id="11" name="文本框 10"/>
          <p:cNvSpPr txBox="1"/>
          <p:nvPr/>
        </p:nvSpPr>
        <p:spPr>
          <a:xfrm>
            <a:off x="3352800" y="3986405"/>
            <a:ext cx="7241458" cy="369332"/>
          </a:xfrm>
          <a:prstGeom prst="rect">
            <a:avLst/>
          </a:prstGeom>
          <a:noFill/>
        </p:spPr>
        <p:txBody>
          <a:bodyPr wrap="square">
            <a:spAutoFit/>
          </a:bodyPr>
          <a:lstStyle/>
          <a:p>
            <a:r>
              <a:rPr lang="en-US" altLang="zh-CN" dirty="0"/>
              <a:t>7</a:t>
            </a:r>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缩点</a:t>
            </a:r>
            <a:endParaRPr lang="zh-CN" altLang="en-US" dirty="0"/>
          </a:p>
        </p:txBody>
      </p:sp>
      <p:sp>
        <p:nvSpPr>
          <p:cNvPr id="4" name="文本框 3"/>
          <p:cNvSpPr txBox="1"/>
          <p:nvPr/>
        </p:nvSpPr>
        <p:spPr>
          <a:xfrm>
            <a:off x="756069" y="1828800"/>
            <a:ext cx="8540331" cy="369332"/>
          </a:xfrm>
          <a:prstGeom prst="rect">
            <a:avLst/>
          </a:prstGeom>
          <a:noFill/>
        </p:spPr>
        <p:txBody>
          <a:bodyPr wrap="square" rtlCol="0">
            <a:spAutoFit/>
          </a:bodyPr>
          <a:lstStyle/>
          <a:p>
            <a:r>
              <a:rPr lang="en-US" altLang="zh-CN" dirty="0"/>
              <a:t>•</a:t>
            </a:r>
            <a:r>
              <a:rPr lang="zh-CN" altLang="en-US" dirty="0"/>
              <a:t>我们为什么要找强连通分量？或者说，在执行完</a:t>
            </a:r>
            <a:r>
              <a:rPr lang="en-US" altLang="zh-CN" dirty="0" err="1"/>
              <a:t>tarjan</a:t>
            </a:r>
            <a:r>
              <a:rPr lang="zh-CN" altLang="en-US" dirty="0"/>
              <a:t>算法后，我们可以得到什么？</a:t>
            </a:r>
            <a:endParaRPr lang="zh-CN" altLang="en-US" dirty="0"/>
          </a:p>
        </p:txBody>
      </p:sp>
      <p:sp>
        <p:nvSpPr>
          <p:cNvPr id="5" name="文本框 4"/>
          <p:cNvSpPr txBox="1"/>
          <p:nvPr/>
        </p:nvSpPr>
        <p:spPr>
          <a:xfrm>
            <a:off x="756069" y="2804968"/>
            <a:ext cx="8540330" cy="646331"/>
          </a:xfrm>
          <a:prstGeom prst="rect">
            <a:avLst/>
          </a:prstGeom>
          <a:noFill/>
        </p:spPr>
        <p:txBody>
          <a:bodyPr wrap="square" rtlCol="0">
            <a:spAutoFit/>
          </a:bodyPr>
          <a:lstStyle/>
          <a:p>
            <a:r>
              <a:rPr lang="en-US" altLang="zh-CN" dirty="0"/>
              <a:t>•</a:t>
            </a:r>
            <a:r>
              <a:rPr lang="zh-CN" altLang="en-US" dirty="0"/>
              <a:t>在某些题目中，一个强连通分量中的所有点都是等价的，这个时候，就可以将这些等价点看作同一个点，建立新图</a:t>
            </a:r>
            <a:endParaRPr lang="zh-CN" altLang="en-US" dirty="0"/>
          </a:p>
        </p:txBody>
      </p:sp>
      <p:sp>
        <p:nvSpPr>
          <p:cNvPr id="6" name="文本框 5"/>
          <p:cNvSpPr txBox="1"/>
          <p:nvPr/>
        </p:nvSpPr>
        <p:spPr>
          <a:xfrm>
            <a:off x="756069" y="4013538"/>
            <a:ext cx="8382000" cy="646331"/>
          </a:xfrm>
          <a:prstGeom prst="rect">
            <a:avLst/>
          </a:prstGeom>
          <a:noFill/>
        </p:spPr>
        <p:txBody>
          <a:bodyPr wrap="square" rtlCol="0">
            <a:spAutoFit/>
          </a:bodyPr>
          <a:lstStyle/>
          <a:p>
            <a:r>
              <a:rPr lang="en-US" altLang="zh-CN" dirty="0"/>
              <a:t>•</a:t>
            </a:r>
            <a:r>
              <a:rPr lang="zh-CN" altLang="en-US" dirty="0"/>
              <a:t>由强连通分量的性质，在新图中是不存在环路的，否则可以再次缩成一个更大的分量。这样，原图变为一个</a:t>
            </a:r>
            <a:r>
              <a:rPr lang="en-US" altLang="zh-CN" dirty="0"/>
              <a:t>DAG</a:t>
            </a:r>
            <a:r>
              <a:rPr lang="zh-CN" altLang="en-US" dirty="0"/>
              <a:t>，方便我们进行</a:t>
            </a:r>
            <a:r>
              <a:rPr lang="en-US" altLang="zh-CN" dirty="0" err="1"/>
              <a:t>dp</a:t>
            </a:r>
            <a:r>
              <a:rPr lang="zh-CN" altLang="en-US" dirty="0"/>
              <a:t>等操作</a:t>
            </a: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缩点</a:t>
            </a:r>
            <a:endParaRPr lang="zh-CN" altLang="en-US" dirty="0"/>
          </a:p>
        </p:txBody>
      </p:sp>
      <p:sp>
        <p:nvSpPr>
          <p:cNvPr id="4" name="文本框 3"/>
          <p:cNvSpPr txBox="1"/>
          <p:nvPr/>
        </p:nvSpPr>
        <p:spPr>
          <a:xfrm>
            <a:off x="729030" y="1500490"/>
            <a:ext cx="7092531" cy="369332"/>
          </a:xfrm>
          <a:prstGeom prst="rect">
            <a:avLst/>
          </a:prstGeom>
          <a:noFill/>
        </p:spPr>
        <p:txBody>
          <a:bodyPr wrap="square" rtlCol="0">
            <a:spAutoFit/>
          </a:bodyPr>
          <a:lstStyle/>
          <a:p>
            <a:r>
              <a:rPr lang="zh-CN" altLang="en-US" dirty="0"/>
              <a:t>上面我们讨论的都是有向图的情况，那么无向图如何进行缩点呢？</a:t>
            </a:r>
            <a:endParaRPr lang="zh-CN" altLang="en-US" dirty="0"/>
          </a:p>
        </p:txBody>
      </p:sp>
      <p:pic>
        <p:nvPicPr>
          <p:cNvPr id="6" name="图片 5"/>
          <p:cNvPicPr>
            <a:picLocks noChangeAspect="1"/>
          </p:cNvPicPr>
          <p:nvPr/>
        </p:nvPicPr>
        <p:blipFill>
          <a:blip r:embed="rId1"/>
          <a:stretch>
            <a:fillRect/>
          </a:stretch>
        </p:blipFill>
        <p:spPr>
          <a:xfrm>
            <a:off x="783108" y="1869822"/>
            <a:ext cx="5915851" cy="5163271"/>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缩点</a:t>
            </a:r>
            <a:endParaRPr lang="zh-CN" altLang="en-US" dirty="0"/>
          </a:p>
        </p:txBody>
      </p:sp>
      <p:sp>
        <p:nvSpPr>
          <p:cNvPr id="4" name="文本框 3"/>
          <p:cNvSpPr txBox="1"/>
          <p:nvPr/>
        </p:nvSpPr>
        <p:spPr>
          <a:xfrm>
            <a:off x="685800" y="1752600"/>
            <a:ext cx="7620000" cy="369332"/>
          </a:xfrm>
          <a:prstGeom prst="rect">
            <a:avLst/>
          </a:prstGeom>
          <a:noFill/>
        </p:spPr>
        <p:txBody>
          <a:bodyPr wrap="square" rtlCol="0">
            <a:spAutoFit/>
          </a:bodyPr>
          <a:lstStyle/>
          <a:p>
            <a:r>
              <a:rPr lang="en-US" altLang="zh-CN" dirty="0"/>
              <a:t>•</a:t>
            </a:r>
            <a:r>
              <a:rPr lang="zh-CN" altLang="en-US" dirty="0"/>
              <a:t>区别就是在进行无向图缩点时，需要考虑前驱节点的情况</a:t>
            </a:r>
            <a:endParaRPr lang="zh-CN" altLang="en-US" dirty="0"/>
          </a:p>
        </p:txBody>
      </p:sp>
      <p:sp>
        <p:nvSpPr>
          <p:cNvPr id="5" name="文本框 4"/>
          <p:cNvSpPr txBox="1"/>
          <p:nvPr/>
        </p:nvSpPr>
        <p:spPr>
          <a:xfrm>
            <a:off x="724114" y="2664858"/>
            <a:ext cx="8305800" cy="369332"/>
          </a:xfrm>
          <a:prstGeom prst="rect">
            <a:avLst/>
          </a:prstGeom>
          <a:noFill/>
        </p:spPr>
        <p:txBody>
          <a:bodyPr wrap="square" rtlCol="0">
            <a:spAutoFit/>
          </a:bodyPr>
          <a:lstStyle/>
          <a:p>
            <a:r>
              <a:rPr lang="en-US" altLang="zh-CN" dirty="0"/>
              <a:t>•</a:t>
            </a:r>
            <a:r>
              <a:rPr lang="zh-CN" altLang="en-US" dirty="0"/>
              <a:t>缩完点后建立新图，可以得到一棵树或者森林，使用树相关的算法解决问题</a:t>
            </a:r>
            <a:endParaRPr lang="zh-CN" altLang="en-US" dirty="0"/>
          </a:p>
        </p:txBody>
      </p:sp>
      <p:sp>
        <p:nvSpPr>
          <p:cNvPr id="6" name="文本框 5"/>
          <p:cNvSpPr txBox="1"/>
          <p:nvPr/>
        </p:nvSpPr>
        <p:spPr>
          <a:xfrm>
            <a:off x="756068" y="3639145"/>
            <a:ext cx="8273845" cy="369332"/>
          </a:xfrm>
          <a:prstGeom prst="rect">
            <a:avLst/>
          </a:prstGeom>
          <a:noFill/>
        </p:spPr>
        <p:txBody>
          <a:bodyPr wrap="square" rtlCol="0">
            <a:spAutoFit/>
          </a:bodyPr>
          <a:lstStyle/>
          <a:p>
            <a:r>
              <a:rPr lang="en-US" altLang="zh-CN" dirty="0"/>
              <a:t>•</a:t>
            </a:r>
            <a:r>
              <a:rPr lang="zh-CN" altLang="en-US" dirty="0"/>
              <a:t>有些题目中，需要将每个点的贡献计算到缩成的新点中，参与后续的算法执行</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缩点</a:t>
            </a:r>
            <a:endParaRPr lang="zh-CN" altLang="en-US" dirty="0"/>
          </a:p>
        </p:txBody>
      </p:sp>
      <p:pic>
        <p:nvPicPr>
          <p:cNvPr id="6" name="图片 5"/>
          <p:cNvPicPr>
            <a:picLocks noChangeAspect="1"/>
          </p:cNvPicPr>
          <p:nvPr/>
        </p:nvPicPr>
        <p:blipFill>
          <a:blip r:embed="rId1"/>
          <a:stretch>
            <a:fillRect/>
          </a:stretch>
        </p:blipFill>
        <p:spPr>
          <a:xfrm>
            <a:off x="746237" y="1600200"/>
            <a:ext cx="8611802" cy="1209844"/>
          </a:xfrm>
          <a:prstGeom prst="rect">
            <a:avLst/>
          </a:prstGeom>
        </p:spPr>
      </p:pic>
      <p:pic>
        <p:nvPicPr>
          <p:cNvPr id="8" name="图片 7"/>
          <p:cNvPicPr>
            <a:picLocks noChangeAspect="1"/>
          </p:cNvPicPr>
          <p:nvPr/>
        </p:nvPicPr>
        <p:blipFill>
          <a:blip r:embed="rId2"/>
          <a:stretch>
            <a:fillRect/>
          </a:stretch>
        </p:blipFill>
        <p:spPr>
          <a:xfrm>
            <a:off x="1371600" y="2514600"/>
            <a:ext cx="3477110" cy="409632"/>
          </a:xfrm>
          <a:prstGeom prst="rect">
            <a:avLst/>
          </a:prstGeom>
        </p:spPr>
      </p:pic>
      <p:sp>
        <p:nvSpPr>
          <p:cNvPr id="9" name="文本框 8"/>
          <p:cNvSpPr txBox="1"/>
          <p:nvPr/>
        </p:nvSpPr>
        <p:spPr>
          <a:xfrm>
            <a:off x="457201" y="3724444"/>
            <a:ext cx="8382000" cy="922020"/>
          </a:xfrm>
          <a:prstGeom prst="rect">
            <a:avLst/>
          </a:prstGeom>
          <a:noFill/>
        </p:spPr>
        <p:txBody>
          <a:bodyPr wrap="square" rtlCol="0">
            <a:spAutoFit/>
          </a:bodyPr>
          <a:lstStyle/>
          <a:p>
            <a:r>
              <a:rPr lang="zh-CN" altLang="en-US" dirty="0"/>
              <a:t>进行缩点，这样可以保证每个连通块中的奶牛全部相互喜欢。只需要找出出度为</a:t>
            </a:r>
            <a:r>
              <a:rPr lang="en-US" altLang="zh-CN" dirty="0"/>
              <a:t>0</a:t>
            </a:r>
            <a:r>
              <a:rPr lang="zh-CN" altLang="en-US" dirty="0"/>
              <a:t>的连通分量的大小，即该连通分量中的奶牛不会喜欢该分量以外的奶牛。特别地，若原图连弱连通分量都不是，那么答案自然是</a:t>
            </a:r>
            <a:r>
              <a:rPr lang="en-US" altLang="zh-CN" dirty="0"/>
              <a:t>0</a:t>
            </a:r>
            <a:r>
              <a:rPr lang="zh-CN" altLang="en-US" dirty="0"/>
              <a:t>，否则答案为找到的连通块大小。</a:t>
            </a:r>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6" name="object 3"/>
          <p:cNvSpPr txBox="1"/>
          <p:nvPr/>
        </p:nvSpPr>
        <p:spPr>
          <a:xfrm>
            <a:off x="2057400" y="2438400"/>
            <a:ext cx="6546850" cy="1675765"/>
          </a:xfrm>
          <a:prstGeom prst="rect">
            <a:avLst/>
          </a:prstGeom>
        </p:spPr>
        <p:txBody>
          <a:bodyPr vert="horz" wrap="square" lIns="0" tIns="12700" rIns="0" bIns="0" rtlCol="0">
            <a:noAutofit/>
          </a:bodyPr>
          <a:lstStyle/>
          <a:p>
            <a:pPr marL="12700">
              <a:lnSpc>
                <a:spcPct val="100000"/>
              </a:lnSpc>
              <a:spcBef>
                <a:spcPts val="100"/>
              </a:spcBef>
            </a:pPr>
            <a:r>
              <a:rPr lang="zh-CN" altLang="en-US" sz="3600">
                <a:latin typeface="宋体" panose="02010600030101010101" pitchFamily="2" charset="-122"/>
                <a:cs typeface="宋体" panose="02010600030101010101" pitchFamily="2" charset="-122"/>
              </a:rPr>
              <a:t>解决图论问题的关键是什么？</a:t>
            </a:r>
            <a:endParaRPr lang="zh-CN" altLang="en-US" sz="3600">
              <a:latin typeface="宋体" panose="02010600030101010101" pitchFamily="2" charset="-122"/>
              <a:cs typeface="宋体" panose="02010600030101010101" pitchFamily="2" charset="-122"/>
            </a:endParaRPr>
          </a:p>
          <a:p>
            <a:pPr marL="12700">
              <a:lnSpc>
                <a:spcPct val="100000"/>
              </a:lnSpc>
              <a:spcBef>
                <a:spcPts val="100"/>
              </a:spcBef>
            </a:pPr>
            <a:endParaRPr lang="zh-CN" altLang="en-US" sz="3600">
              <a:latin typeface="宋体" panose="02010600030101010101" pitchFamily="2" charset="-122"/>
              <a:cs typeface="宋体" panose="02010600030101010101" pitchFamily="2" charset="-122"/>
            </a:endParaRPr>
          </a:p>
          <a:p>
            <a:pPr marL="12700">
              <a:lnSpc>
                <a:spcPct val="100000"/>
              </a:lnSpc>
              <a:spcBef>
                <a:spcPts val="100"/>
              </a:spcBef>
            </a:pPr>
            <a:r>
              <a:rPr lang="zh-CN" altLang="en-US" sz="3600">
                <a:latin typeface="宋体" panose="02010600030101010101" pitchFamily="2" charset="-122"/>
                <a:cs typeface="宋体" panose="02010600030101010101" pitchFamily="2" charset="-122"/>
              </a:rPr>
              <a:t>是算法吗？</a:t>
            </a:r>
            <a:endParaRPr lang="zh-CN" altLang="en-US" sz="3600">
              <a:latin typeface="宋体" panose="02010600030101010101" pitchFamily="2" charset="-122"/>
              <a:cs typeface="宋体" panose="02010600030101010101" pitchFamily="2" charset="-122"/>
            </a:endParaRPr>
          </a:p>
          <a:p>
            <a:pPr marL="12700">
              <a:lnSpc>
                <a:spcPct val="100000"/>
              </a:lnSpc>
              <a:spcBef>
                <a:spcPts val="100"/>
              </a:spcBef>
            </a:pPr>
            <a:endParaRPr lang="zh-CN" altLang="en-US">
              <a:latin typeface="宋体" panose="02010600030101010101" pitchFamily="2" charset="-122"/>
              <a:cs typeface="宋体" panose="02010600030101010101" pitchFamily="2" charset="-122"/>
            </a:endParaRPr>
          </a:p>
          <a:p>
            <a:pPr marL="12700">
              <a:lnSpc>
                <a:spcPct val="100000"/>
              </a:lnSpc>
              <a:spcBef>
                <a:spcPts val="100"/>
              </a:spcBef>
            </a:pPr>
            <a:endParaRPr lang="zh-CN" altLang="en-US">
              <a:latin typeface="宋体" panose="02010600030101010101" pitchFamily="2" charset="-122"/>
              <a:cs typeface="宋体" panose="02010600030101010101" pitchFamily="2"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3" name="object 3"/>
          <p:cNvSpPr txBox="1"/>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建图技巧</a:t>
            </a:r>
            <a:endParaRPr sz="3600">
              <a:latin typeface="宋体" panose="02010600030101010101" pitchFamily="2" charset="-122"/>
              <a:cs typeface="宋体" panose="02010600030101010101" pitchFamily="2" charset="-122"/>
            </a:endParaRPr>
          </a:p>
        </p:txBody>
      </p:sp>
      <p:sp>
        <p:nvSpPr>
          <p:cNvPr id="4" name="object 4"/>
          <p:cNvSpPr txBox="1"/>
          <p:nvPr/>
        </p:nvSpPr>
        <p:spPr>
          <a:xfrm>
            <a:off x="756069" y="1671777"/>
            <a:ext cx="3270250"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1"/>
              </a:rPr>
              <a:t>HDU2680</a:t>
            </a:r>
            <a:r>
              <a:rPr sz="1800" u="sng" spc="-10" dirty="0">
                <a:solidFill>
                  <a:srgbClr val="99C93B"/>
                </a:solidFill>
                <a:uFill>
                  <a:solidFill>
                    <a:srgbClr val="99C93B"/>
                  </a:solidFill>
                </a:uFill>
                <a:latin typeface="Trebuchet MS" panose="020B0603020202020204"/>
                <a:cs typeface="Trebuchet MS" panose="020B0603020202020204"/>
                <a:hlinkClick r:id="rId1"/>
              </a:rPr>
              <a:t> </a:t>
            </a:r>
            <a:r>
              <a:rPr sz="1800" u="sng" spc="-5" dirty="0">
                <a:solidFill>
                  <a:srgbClr val="99C93B"/>
                </a:solidFill>
                <a:uFill>
                  <a:solidFill>
                    <a:srgbClr val="99C93B"/>
                  </a:solidFill>
                </a:uFill>
                <a:latin typeface="Trebuchet MS" panose="020B0603020202020204"/>
                <a:cs typeface="Trebuchet MS" panose="020B0603020202020204"/>
                <a:hlinkClick r:id="rId1"/>
              </a:rPr>
              <a:t>Choose</a:t>
            </a:r>
            <a:r>
              <a:rPr sz="1800" u="sng" spc="-10"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Trebuchet MS" panose="020B0603020202020204"/>
                <a:cs typeface="Trebuchet MS" panose="020B0603020202020204"/>
                <a:hlinkClick r:id="rId1"/>
              </a:rPr>
              <a:t>the</a:t>
            </a:r>
            <a:r>
              <a:rPr sz="1800" u="sng" spc="-10" dirty="0">
                <a:solidFill>
                  <a:srgbClr val="99C93B"/>
                </a:solidFill>
                <a:uFill>
                  <a:solidFill>
                    <a:srgbClr val="99C93B"/>
                  </a:solidFill>
                </a:uFill>
                <a:latin typeface="Trebuchet MS" panose="020B0603020202020204"/>
                <a:cs typeface="Trebuchet MS" panose="020B0603020202020204"/>
                <a:hlinkClick r:id="rId1"/>
              </a:rPr>
              <a:t> </a:t>
            </a:r>
            <a:r>
              <a:rPr sz="1800" u="sng" spc="-5" dirty="0">
                <a:solidFill>
                  <a:srgbClr val="99C93B"/>
                </a:solidFill>
                <a:uFill>
                  <a:solidFill>
                    <a:srgbClr val="99C93B"/>
                  </a:solidFill>
                </a:uFill>
                <a:latin typeface="Trebuchet MS" panose="020B0603020202020204"/>
                <a:cs typeface="Trebuchet MS" panose="020B0603020202020204"/>
                <a:hlinkClick r:id="rId1"/>
              </a:rPr>
              <a:t>best</a:t>
            </a:r>
            <a:r>
              <a:rPr sz="1800" u="sng" spc="-10" dirty="0">
                <a:solidFill>
                  <a:srgbClr val="99C93B"/>
                </a:solidFill>
                <a:uFill>
                  <a:solidFill>
                    <a:srgbClr val="99C93B"/>
                  </a:solidFill>
                </a:uFill>
                <a:latin typeface="Trebuchet MS" panose="020B0603020202020204"/>
                <a:cs typeface="Trebuchet MS" panose="020B0603020202020204"/>
                <a:hlinkClick r:id="rId1"/>
              </a:rPr>
              <a:t> </a:t>
            </a:r>
            <a:r>
              <a:rPr sz="1800" u="sng" spc="-5" dirty="0">
                <a:solidFill>
                  <a:srgbClr val="99C93B"/>
                </a:solidFill>
                <a:uFill>
                  <a:solidFill>
                    <a:srgbClr val="99C93B"/>
                  </a:solidFill>
                </a:uFill>
                <a:latin typeface="Trebuchet MS" panose="020B0603020202020204"/>
                <a:cs typeface="Trebuchet MS" panose="020B0603020202020204"/>
                <a:hlinkClick r:id="rId1"/>
              </a:rPr>
              <a:t>route</a:t>
            </a:r>
            <a:endParaRPr sz="1800">
              <a:latin typeface="Trebuchet MS" panose="020B0603020202020204"/>
              <a:cs typeface="Trebuchet MS" panose="020B0603020202020204"/>
            </a:endParaRPr>
          </a:p>
        </p:txBody>
      </p:sp>
      <p:pic>
        <p:nvPicPr>
          <p:cNvPr id="5" name="object 5"/>
          <p:cNvPicPr/>
          <p:nvPr/>
        </p:nvPicPr>
        <p:blipFill>
          <a:blip r:embed="rId2" cstate="print"/>
          <a:stretch>
            <a:fillRect/>
          </a:stretch>
        </p:blipFill>
        <p:spPr>
          <a:xfrm>
            <a:off x="790955" y="2308860"/>
            <a:ext cx="7818119" cy="11049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3" name="object 3"/>
          <p:cNvSpPr txBox="1"/>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建图技巧</a:t>
            </a:r>
            <a:endParaRPr sz="3600">
              <a:latin typeface="宋体" panose="02010600030101010101" pitchFamily="2" charset="-122"/>
              <a:cs typeface="宋体" panose="02010600030101010101" pitchFamily="2" charset="-122"/>
            </a:endParaRPr>
          </a:p>
        </p:txBody>
      </p:sp>
      <p:sp>
        <p:nvSpPr>
          <p:cNvPr id="4" name="object 4"/>
          <p:cNvSpPr txBox="1"/>
          <p:nvPr/>
        </p:nvSpPr>
        <p:spPr>
          <a:xfrm>
            <a:off x="756069" y="1671777"/>
            <a:ext cx="3270250"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1"/>
              </a:rPr>
              <a:t>HDU2680</a:t>
            </a:r>
            <a:r>
              <a:rPr sz="1800" u="sng" spc="-10" dirty="0">
                <a:solidFill>
                  <a:srgbClr val="99C93B"/>
                </a:solidFill>
                <a:uFill>
                  <a:solidFill>
                    <a:srgbClr val="99C93B"/>
                  </a:solidFill>
                </a:uFill>
                <a:latin typeface="Trebuchet MS" panose="020B0603020202020204"/>
                <a:cs typeface="Trebuchet MS" panose="020B0603020202020204"/>
                <a:hlinkClick r:id="rId1"/>
              </a:rPr>
              <a:t> </a:t>
            </a:r>
            <a:r>
              <a:rPr sz="1800" u="sng" spc="-5" dirty="0">
                <a:solidFill>
                  <a:srgbClr val="99C93B"/>
                </a:solidFill>
                <a:uFill>
                  <a:solidFill>
                    <a:srgbClr val="99C93B"/>
                  </a:solidFill>
                </a:uFill>
                <a:latin typeface="Trebuchet MS" panose="020B0603020202020204"/>
                <a:cs typeface="Trebuchet MS" panose="020B0603020202020204"/>
                <a:hlinkClick r:id="rId1"/>
              </a:rPr>
              <a:t>Choose</a:t>
            </a:r>
            <a:r>
              <a:rPr sz="1800" u="sng" spc="-10"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Trebuchet MS" panose="020B0603020202020204"/>
                <a:cs typeface="Trebuchet MS" panose="020B0603020202020204"/>
                <a:hlinkClick r:id="rId1"/>
              </a:rPr>
              <a:t>the</a:t>
            </a:r>
            <a:r>
              <a:rPr sz="1800" u="sng" spc="-10" dirty="0">
                <a:solidFill>
                  <a:srgbClr val="99C93B"/>
                </a:solidFill>
                <a:uFill>
                  <a:solidFill>
                    <a:srgbClr val="99C93B"/>
                  </a:solidFill>
                </a:uFill>
                <a:latin typeface="Trebuchet MS" panose="020B0603020202020204"/>
                <a:cs typeface="Trebuchet MS" panose="020B0603020202020204"/>
                <a:hlinkClick r:id="rId1"/>
              </a:rPr>
              <a:t> </a:t>
            </a:r>
            <a:r>
              <a:rPr sz="1800" u="sng" spc="-5" dirty="0">
                <a:solidFill>
                  <a:srgbClr val="99C93B"/>
                </a:solidFill>
                <a:uFill>
                  <a:solidFill>
                    <a:srgbClr val="99C93B"/>
                  </a:solidFill>
                </a:uFill>
                <a:latin typeface="Trebuchet MS" panose="020B0603020202020204"/>
                <a:cs typeface="Trebuchet MS" panose="020B0603020202020204"/>
                <a:hlinkClick r:id="rId1"/>
              </a:rPr>
              <a:t>best</a:t>
            </a:r>
            <a:r>
              <a:rPr sz="1800" u="sng" spc="-10" dirty="0">
                <a:solidFill>
                  <a:srgbClr val="99C93B"/>
                </a:solidFill>
                <a:uFill>
                  <a:solidFill>
                    <a:srgbClr val="99C93B"/>
                  </a:solidFill>
                </a:uFill>
                <a:latin typeface="Trebuchet MS" panose="020B0603020202020204"/>
                <a:cs typeface="Trebuchet MS" panose="020B0603020202020204"/>
                <a:hlinkClick r:id="rId1"/>
              </a:rPr>
              <a:t> </a:t>
            </a:r>
            <a:r>
              <a:rPr sz="1800" u="sng" spc="-5" dirty="0">
                <a:solidFill>
                  <a:srgbClr val="99C93B"/>
                </a:solidFill>
                <a:uFill>
                  <a:solidFill>
                    <a:srgbClr val="99C93B"/>
                  </a:solidFill>
                </a:uFill>
                <a:latin typeface="Trebuchet MS" panose="020B0603020202020204"/>
                <a:cs typeface="Trebuchet MS" panose="020B0603020202020204"/>
                <a:hlinkClick r:id="rId1"/>
              </a:rPr>
              <a:t>route</a:t>
            </a:r>
            <a:endParaRPr sz="1800">
              <a:latin typeface="Trebuchet MS" panose="020B0603020202020204"/>
              <a:cs typeface="Trebuchet MS" panose="020B0603020202020204"/>
            </a:endParaRPr>
          </a:p>
        </p:txBody>
      </p:sp>
      <p:pic>
        <p:nvPicPr>
          <p:cNvPr id="5" name="object 5"/>
          <p:cNvPicPr/>
          <p:nvPr/>
        </p:nvPicPr>
        <p:blipFill>
          <a:blip r:embed="rId2" cstate="print"/>
          <a:stretch>
            <a:fillRect/>
          </a:stretch>
        </p:blipFill>
        <p:spPr>
          <a:xfrm>
            <a:off x="790955" y="2308860"/>
            <a:ext cx="7818119" cy="1104900"/>
          </a:xfrm>
          <a:prstGeom prst="rect">
            <a:avLst/>
          </a:prstGeom>
        </p:spPr>
      </p:pic>
      <p:pic>
        <p:nvPicPr>
          <p:cNvPr id="6" name="object 6"/>
          <p:cNvPicPr/>
          <p:nvPr/>
        </p:nvPicPr>
        <p:blipFill>
          <a:blip r:embed="rId3" cstate="print"/>
          <a:stretch>
            <a:fillRect/>
          </a:stretch>
        </p:blipFill>
        <p:spPr>
          <a:xfrm>
            <a:off x="676655" y="3854196"/>
            <a:ext cx="5556465" cy="843694"/>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3" name="object 3"/>
          <p:cNvSpPr txBox="1"/>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建图技巧</a:t>
            </a:r>
            <a:endParaRPr sz="3600">
              <a:latin typeface="宋体" panose="02010600030101010101" pitchFamily="2" charset="-122"/>
              <a:cs typeface="宋体" panose="02010600030101010101" pitchFamily="2" charset="-122"/>
            </a:endParaRPr>
          </a:p>
        </p:txBody>
      </p:sp>
      <p:sp>
        <p:nvSpPr>
          <p:cNvPr id="4" name="object 4"/>
          <p:cNvSpPr txBox="1"/>
          <p:nvPr/>
        </p:nvSpPr>
        <p:spPr>
          <a:xfrm>
            <a:off x="790905" y="1628482"/>
            <a:ext cx="2490470"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1"/>
              </a:rPr>
              <a:t>Codeforces</a:t>
            </a:r>
            <a:r>
              <a:rPr sz="1800" u="sng" spc="-40"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Trebuchet MS" panose="020B0603020202020204"/>
                <a:cs typeface="Trebuchet MS" panose="020B0603020202020204"/>
                <a:hlinkClick r:id="rId1"/>
              </a:rPr>
              <a:t>186B</a:t>
            </a:r>
            <a:r>
              <a:rPr sz="1800" u="sng" spc="-40" dirty="0">
                <a:solidFill>
                  <a:srgbClr val="99C93B"/>
                </a:solidFill>
                <a:uFill>
                  <a:solidFill>
                    <a:srgbClr val="99C93B"/>
                  </a:solidFill>
                </a:uFill>
                <a:latin typeface="Trebuchet MS" panose="020B0603020202020204"/>
                <a:cs typeface="Trebuchet MS" panose="020B0603020202020204"/>
                <a:hlinkClick r:id="rId1"/>
              </a:rPr>
              <a:t> </a:t>
            </a:r>
            <a:r>
              <a:rPr sz="1800" u="sng" spc="-5" dirty="0">
                <a:solidFill>
                  <a:srgbClr val="99C93B"/>
                </a:solidFill>
                <a:uFill>
                  <a:solidFill>
                    <a:srgbClr val="99C93B"/>
                  </a:solidFill>
                </a:uFill>
                <a:latin typeface="Trebuchet MS" panose="020B0603020202020204"/>
                <a:cs typeface="Trebuchet MS" panose="020B0603020202020204"/>
                <a:hlinkClick r:id="rId1"/>
              </a:rPr>
              <a:t>Legacy</a:t>
            </a:r>
            <a:endParaRPr sz="1800">
              <a:latin typeface="Trebuchet MS" panose="020B0603020202020204"/>
              <a:cs typeface="Trebuchet MS" panose="020B0603020202020204"/>
            </a:endParaRPr>
          </a:p>
        </p:txBody>
      </p:sp>
      <p:pic>
        <p:nvPicPr>
          <p:cNvPr id="5" name="object 5"/>
          <p:cNvPicPr/>
          <p:nvPr/>
        </p:nvPicPr>
        <p:blipFill>
          <a:blip r:embed="rId2" cstate="print"/>
          <a:stretch>
            <a:fillRect/>
          </a:stretch>
        </p:blipFill>
        <p:spPr>
          <a:xfrm>
            <a:off x="711708" y="2432304"/>
            <a:ext cx="8017764" cy="1648968"/>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3" name="object 3"/>
          <p:cNvSpPr txBox="1"/>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建图技巧</a:t>
            </a:r>
            <a:endParaRPr sz="3600">
              <a:latin typeface="宋体" panose="02010600030101010101" pitchFamily="2" charset="-122"/>
              <a:cs typeface="宋体" panose="02010600030101010101" pitchFamily="2" charset="-122"/>
            </a:endParaRPr>
          </a:p>
        </p:txBody>
      </p:sp>
      <p:sp>
        <p:nvSpPr>
          <p:cNvPr id="4" name="object 4"/>
          <p:cNvSpPr txBox="1"/>
          <p:nvPr/>
        </p:nvSpPr>
        <p:spPr>
          <a:xfrm>
            <a:off x="790905" y="1628482"/>
            <a:ext cx="2490470" cy="299720"/>
          </a:xfrm>
          <a:prstGeom prst="rect">
            <a:avLst/>
          </a:prstGeom>
        </p:spPr>
        <p:txBody>
          <a:bodyPr vert="horz" wrap="square" lIns="0" tIns="12700" rIns="0" bIns="0" rtlCol="0">
            <a:spAutoFit/>
          </a:bodyPr>
          <a:lstStyle/>
          <a:p>
            <a:pPr marL="12700">
              <a:lnSpc>
                <a:spcPct val="100000"/>
              </a:lnSpc>
              <a:spcBef>
                <a:spcPts val="100"/>
              </a:spcBef>
            </a:pPr>
            <a:r>
              <a:rPr sz="1800" u="sng" spc="-5" dirty="0">
                <a:solidFill>
                  <a:srgbClr val="99C93B"/>
                </a:solidFill>
                <a:uFill>
                  <a:solidFill>
                    <a:srgbClr val="99C93B"/>
                  </a:solidFill>
                </a:uFill>
                <a:latin typeface="Trebuchet MS" panose="020B0603020202020204"/>
                <a:cs typeface="Trebuchet MS" panose="020B0603020202020204"/>
                <a:hlinkClick r:id="rId1"/>
              </a:rPr>
              <a:t>Codeforces</a:t>
            </a:r>
            <a:r>
              <a:rPr sz="1800" u="sng" spc="-40"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Trebuchet MS" panose="020B0603020202020204"/>
                <a:cs typeface="Trebuchet MS" panose="020B0603020202020204"/>
                <a:hlinkClick r:id="rId1"/>
              </a:rPr>
              <a:t>186B</a:t>
            </a:r>
            <a:r>
              <a:rPr sz="1800" u="sng" spc="-40" dirty="0">
                <a:solidFill>
                  <a:srgbClr val="99C93B"/>
                </a:solidFill>
                <a:uFill>
                  <a:solidFill>
                    <a:srgbClr val="99C93B"/>
                  </a:solidFill>
                </a:uFill>
                <a:latin typeface="Trebuchet MS" panose="020B0603020202020204"/>
                <a:cs typeface="Trebuchet MS" panose="020B0603020202020204"/>
                <a:hlinkClick r:id="rId1"/>
              </a:rPr>
              <a:t> </a:t>
            </a:r>
            <a:r>
              <a:rPr sz="1800" u="sng" spc="-5" dirty="0">
                <a:solidFill>
                  <a:srgbClr val="99C93B"/>
                </a:solidFill>
                <a:uFill>
                  <a:solidFill>
                    <a:srgbClr val="99C93B"/>
                  </a:solidFill>
                </a:uFill>
                <a:latin typeface="Trebuchet MS" panose="020B0603020202020204"/>
                <a:cs typeface="Trebuchet MS" panose="020B0603020202020204"/>
                <a:hlinkClick r:id="rId1"/>
              </a:rPr>
              <a:t>Legacy</a:t>
            </a:r>
            <a:endParaRPr sz="1800">
              <a:latin typeface="Trebuchet MS" panose="020B0603020202020204"/>
              <a:cs typeface="Trebuchet MS" panose="020B0603020202020204"/>
            </a:endParaRPr>
          </a:p>
        </p:txBody>
      </p:sp>
      <p:pic>
        <p:nvPicPr>
          <p:cNvPr id="5" name="object 5"/>
          <p:cNvPicPr/>
          <p:nvPr/>
        </p:nvPicPr>
        <p:blipFill>
          <a:blip r:embed="rId2" cstate="print"/>
          <a:stretch>
            <a:fillRect/>
          </a:stretch>
        </p:blipFill>
        <p:spPr>
          <a:xfrm>
            <a:off x="711708" y="2432304"/>
            <a:ext cx="8017764" cy="1648968"/>
          </a:xfrm>
          <a:prstGeom prst="rect">
            <a:avLst/>
          </a:prstGeom>
        </p:spPr>
      </p:pic>
      <p:pic>
        <p:nvPicPr>
          <p:cNvPr id="6" name="object 6"/>
          <p:cNvPicPr/>
          <p:nvPr/>
        </p:nvPicPr>
        <p:blipFill>
          <a:blip r:embed="rId3" cstate="print"/>
          <a:stretch>
            <a:fillRect/>
          </a:stretch>
        </p:blipFill>
        <p:spPr>
          <a:xfrm>
            <a:off x="711708" y="4245864"/>
            <a:ext cx="1395088" cy="356642"/>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dirty="0">
                <a:latin typeface="宋体" panose="02010600030101010101" pitchFamily="2" charset="-122"/>
                <a:cs typeface="宋体" panose="02010600030101010101" pitchFamily="2" charset="-122"/>
              </a:rPr>
              <a:t>建图技巧</a:t>
            </a:r>
            <a:endParaRPr dirty="0">
              <a:latin typeface="宋体" panose="02010600030101010101" pitchFamily="2" charset="-122"/>
              <a:cs typeface="宋体" panose="02010600030101010101" pitchFamily="2" charset="-122"/>
            </a:endParaRPr>
          </a:p>
        </p:txBody>
      </p:sp>
      <p:pic>
        <p:nvPicPr>
          <p:cNvPr id="3" name="object 3"/>
          <p:cNvPicPr/>
          <p:nvPr/>
        </p:nvPicPr>
        <p:blipFill>
          <a:blip r:embed="rId1" cstate="print"/>
          <a:stretch>
            <a:fillRect/>
          </a:stretch>
        </p:blipFill>
        <p:spPr>
          <a:xfrm>
            <a:off x="3889247" y="423672"/>
            <a:ext cx="5497067" cy="3130295"/>
          </a:xfrm>
          <a:prstGeom prst="rect">
            <a:avLst/>
          </a:prstGeom>
        </p:spPr>
      </p:pic>
      <p:sp>
        <p:nvSpPr>
          <p:cNvPr id="4" name="object 4"/>
          <p:cNvSpPr txBox="1"/>
          <p:nvPr/>
        </p:nvSpPr>
        <p:spPr>
          <a:xfrm>
            <a:off x="756069" y="1379435"/>
            <a:ext cx="8416290" cy="4751705"/>
          </a:xfrm>
          <a:prstGeom prst="rect">
            <a:avLst/>
          </a:prstGeom>
        </p:spPr>
        <p:txBody>
          <a:bodyPr vert="horz" wrap="square" lIns="0" tIns="40005" rIns="0" bIns="0" rtlCol="0">
            <a:spAutoFit/>
          </a:bodyPr>
          <a:lstStyle/>
          <a:p>
            <a:pPr marL="12700" marR="5379720">
              <a:lnSpc>
                <a:spcPct val="100000"/>
              </a:lnSpc>
              <a:spcBef>
                <a:spcPts val="315"/>
              </a:spcBef>
            </a:pPr>
            <a:r>
              <a:rPr sz="1800" dirty="0">
                <a:solidFill>
                  <a:srgbClr val="4D4D4D"/>
                </a:solidFill>
                <a:latin typeface="宋体" panose="02010600030101010101" pitchFamily="2" charset="-122"/>
                <a:cs typeface="宋体" panose="02010600030101010101" pitchFamily="2" charset="-122"/>
              </a:rPr>
              <a:t>这个图是进行了三个操作： </a:t>
            </a:r>
            <a:r>
              <a:rPr sz="1800" spc="5" dirty="0">
                <a:solidFill>
                  <a:srgbClr val="4D4D4D"/>
                </a:solidFill>
                <a:latin typeface="宋体" panose="02010600030101010101" pitchFamily="2" charset="-122"/>
                <a:cs typeface="宋体" panose="02010600030101010101" pitchFamily="2" charset="-122"/>
              </a:rPr>
              <a:t> </a:t>
            </a:r>
            <a:r>
              <a:rPr sz="1800" dirty="0">
                <a:solidFill>
                  <a:srgbClr val="4D4D4D"/>
                </a:solidFill>
                <a:latin typeface="宋体" panose="02010600030101010101" pitchFamily="2" charset="-122"/>
                <a:cs typeface="宋体" panose="02010600030101010101" pitchFamily="2" charset="-122"/>
              </a:rPr>
              <a:t>节点</a:t>
            </a:r>
            <a:r>
              <a:rPr sz="1800" dirty="0">
                <a:solidFill>
                  <a:srgbClr val="4D4D4D"/>
                </a:solidFill>
                <a:latin typeface="Segoe Print" panose="02000600000000000000"/>
                <a:cs typeface="Segoe Print" panose="02000600000000000000"/>
              </a:rPr>
              <a:t>2</a:t>
            </a:r>
            <a:r>
              <a:rPr sz="1800" dirty="0">
                <a:solidFill>
                  <a:srgbClr val="4D4D4D"/>
                </a:solidFill>
                <a:latin typeface="宋体" panose="02010600030101010101" pitchFamily="2" charset="-122"/>
                <a:cs typeface="宋体" panose="02010600030101010101" pitchFamily="2" charset="-122"/>
              </a:rPr>
              <a:t>到节点</a:t>
            </a:r>
            <a:r>
              <a:rPr sz="1800" dirty="0">
                <a:solidFill>
                  <a:srgbClr val="4D4D4D"/>
                </a:solidFill>
                <a:latin typeface="Segoe Print" panose="02000600000000000000"/>
                <a:cs typeface="Segoe Print" panose="02000600000000000000"/>
              </a:rPr>
              <a:t>3</a:t>
            </a:r>
            <a:r>
              <a:rPr sz="1800" dirty="0">
                <a:solidFill>
                  <a:srgbClr val="4D4D4D"/>
                </a:solidFill>
                <a:latin typeface="宋体" panose="02010600030101010101" pitchFamily="2" charset="-122"/>
                <a:cs typeface="宋体" panose="02010600030101010101" pitchFamily="2" charset="-122"/>
              </a:rPr>
              <a:t>有一条权值为</a:t>
            </a:r>
            <a:r>
              <a:rPr sz="1800" dirty="0">
                <a:solidFill>
                  <a:srgbClr val="4D4D4D"/>
                </a:solidFill>
                <a:latin typeface="Segoe Print" panose="02000600000000000000"/>
                <a:cs typeface="Segoe Print" panose="02000600000000000000"/>
              </a:rPr>
              <a:t>3 </a:t>
            </a:r>
            <a:r>
              <a:rPr sz="1800" dirty="0">
                <a:solidFill>
                  <a:srgbClr val="4D4D4D"/>
                </a:solidFill>
                <a:latin typeface="宋体" panose="02010600030101010101" pitchFamily="2" charset="-122"/>
                <a:cs typeface="宋体" panose="02010600030101010101" pitchFamily="2" charset="-122"/>
              </a:rPr>
              <a:t>的边（蓝色）</a:t>
            </a:r>
            <a:endParaRPr sz="1800">
              <a:latin typeface="宋体" panose="02010600030101010101" pitchFamily="2" charset="-122"/>
              <a:cs typeface="宋体" panose="02010600030101010101" pitchFamily="2" charset="-122"/>
            </a:endParaRPr>
          </a:p>
          <a:p>
            <a:pPr marL="12700" marR="5403215">
              <a:lnSpc>
                <a:spcPts val="1940"/>
              </a:lnSpc>
              <a:spcBef>
                <a:spcPts val="460"/>
              </a:spcBef>
            </a:pPr>
            <a:r>
              <a:rPr sz="1800" dirty="0">
                <a:solidFill>
                  <a:srgbClr val="4D4D4D"/>
                </a:solidFill>
                <a:latin typeface="宋体" panose="02010600030101010101" pitchFamily="2" charset="-122"/>
                <a:cs typeface="宋体" panose="02010600030101010101" pitchFamily="2" charset="-122"/>
              </a:rPr>
              <a:t>节点</a:t>
            </a:r>
            <a:r>
              <a:rPr sz="1800" dirty="0">
                <a:solidFill>
                  <a:srgbClr val="4D4D4D"/>
                </a:solidFill>
                <a:latin typeface="Segoe Print" panose="02000600000000000000"/>
                <a:cs typeface="Segoe Print" panose="02000600000000000000"/>
              </a:rPr>
              <a:t>1</a:t>
            </a:r>
            <a:r>
              <a:rPr sz="1800" dirty="0">
                <a:solidFill>
                  <a:srgbClr val="4D4D4D"/>
                </a:solidFill>
                <a:latin typeface="宋体" panose="02010600030101010101" pitchFamily="2" charset="-122"/>
                <a:cs typeface="宋体" panose="02010600030101010101" pitchFamily="2" charset="-122"/>
              </a:rPr>
              <a:t>到区间</a:t>
            </a:r>
            <a:r>
              <a:rPr sz="1800" spc="-5" dirty="0">
                <a:solidFill>
                  <a:srgbClr val="4D4D4D"/>
                </a:solidFill>
                <a:latin typeface="Segoe Print" panose="02000600000000000000"/>
                <a:cs typeface="Segoe Print" panose="02000600000000000000"/>
              </a:rPr>
              <a:t>[</a:t>
            </a:r>
            <a:r>
              <a:rPr sz="1800" dirty="0">
                <a:solidFill>
                  <a:srgbClr val="4D4D4D"/>
                </a:solidFill>
                <a:latin typeface="Segoe Print" panose="02000600000000000000"/>
                <a:cs typeface="Segoe Print" panose="02000600000000000000"/>
              </a:rPr>
              <a:t>2</a:t>
            </a:r>
            <a:r>
              <a:rPr sz="1800" spc="-5" dirty="0">
                <a:solidFill>
                  <a:srgbClr val="4D4D4D"/>
                </a:solidFill>
                <a:latin typeface="Segoe Print" panose="02000600000000000000"/>
                <a:cs typeface="Segoe Print" panose="02000600000000000000"/>
              </a:rPr>
              <a:t>,</a:t>
            </a:r>
            <a:r>
              <a:rPr sz="1800" dirty="0">
                <a:solidFill>
                  <a:srgbClr val="4D4D4D"/>
                </a:solidFill>
                <a:latin typeface="Segoe Print" panose="02000600000000000000"/>
                <a:cs typeface="Segoe Print" panose="02000600000000000000"/>
              </a:rPr>
              <a:t>4]</a:t>
            </a:r>
            <a:r>
              <a:rPr sz="1800" dirty="0">
                <a:solidFill>
                  <a:srgbClr val="4D4D4D"/>
                </a:solidFill>
                <a:latin typeface="宋体" panose="02010600030101010101" pitchFamily="2" charset="-122"/>
                <a:cs typeface="宋体" panose="02010600030101010101" pitchFamily="2" charset="-122"/>
              </a:rPr>
              <a:t>有权值为</a:t>
            </a:r>
            <a:r>
              <a:rPr sz="1800" dirty="0">
                <a:solidFill>
                  <a:srgbClr val="4D4D4D"/>
                </a:solidFill>
                <a:latin typeface="Segoe Print" panose="02000600000000000000"/>
                <a:cs typeface="Segoe Print" panose="02000600000000000000"/>
              </a:rPr>
              <a:t>2 </a:t>
            </a:r>
            <a:r>
              <a:rPr sz="1800" dirty="0">
                <a:solidFill>
                  <a:srgbClr val="4D4D4D"/>
                </a:solidFill>
                <a:latin typeface="宋体" panose="02010600030101010101" pitchFamily="2" charset="-122"/>
                <a:cs typeface="宋体" panose="02010600030101010101" pitchFamily="2" charset="-122"/>
              </a:rPr>
              <a:t>的边（黄色）</a:t>
            </a:r>
            <a:endParaRPr sz="1800">
              <a:latin typeface="宋体" panose="02010600030101010101" pitchFamily="2" charset="-122"/>
              <a:cs typeface="宋体" panose="02010600030101010101" pitchFamily="2" charset="-122"/>
            </a:endParaRPr>
          </a:p>
          <a:p>
            <a:pPr marL="12700" marR="5403215">
              <a:lnSpc>
                <a:spcPts val="1950"/>
              </a:lnSpc>
              <a:spcBef>
                <a:spcPts val="435"/>
              </a:spcBef>
            </a:pPr>
            <a:r>
              <a:rPr sz="1800" dirty="0">
                <a:solidFill>
                  <a:srgbClr val="4D4D4D"/>
                </a:solidFill>
                <a:latin typeface="宋体" panose="02010600030101010101" pitchFamily="2" charset="-122"/>
                <a:cs typeface="宋体" panose="02010600030101010101" pitchFamily="2" charset="-122"/>
              </a:rPr>
              <a:t>区间</a:t>
            </a:r>
            <a:r>
              <a:rPr sz="1800" spc="-5" dirty="0">
                <a:solidFill>
                  <a:srgbClr val="4D4D4D"/>
                </a:solidFill>
                <a:latin typeface="Segoe Print" panose="02000600000000000000"/>
                <a:cs typeface="Segoe Print" panose="02000600000000000000"/>
              </a:rPr>
              <a:t>[</a:t>
            </a:r>
            <a:r>
              <a:rPr sz="1800" dirty="0">
                <a:solidFill>
                  <a:srgbClr val="4D4D4D"/>
                </a:solidFill>
                <a:latin typeface="Segoe Print" panose="02000600000000000000"/>
                <a:cs typeface="Segoe Print" panose="02000600000000000000"/>
              </a:rPr>
              <a:t>1</a:t>
            </a:r>
            <a:r>
              <a:rPr sz="1800" spc="-5" dirty="0">
                <a:solidFill>
                  <a:srgbClr val="4D4D4D"/>
                </a:solidFill>
                <a:latin typeface="Segoe Print" panose="02000600000000000000"/>
                <a:cs typeface="Segoe Print" panose="02000600000000000000"/>
              </a:rPr>
              <a:t>,</a:t>
            </a:r>
            <a:r>
              <a:rPr sz="1800" dirty="0">
                <a:solidFill>
                  <a:srgbClr val="4D4D4D"/>
                </a:solidFill>
                <a:latin typeface="Segoe Print" panose="02000600000000000000"/>
                <a:cs typeface="Segoe Print" panose="02000600000000000000"/>
              </a:rPr>
              <a:t>3]</a:t>
            </a:r>
            <a:r>
              <a:rPr sz="1800" dirty="0">
                <a:solidFill>
                  <a:srgbClr val="4D4D4D"/>
                </a:solidFill>
                <a:latin typeface="宋体" panose="02010600030101010101" pitchFamily="2" charset="-122"/>
                <a:cs typeface="宋体" panose="02010600030101010101" pitchFamily="2" charset="-122"/>
              </a:rPr>
              <a:t>到节点</a:t>
            </a:r>
            <a:r>
              <a:rPr sz="1800" dirty="0">
                <a:solidFill>
                  <a:srgbClr val="4D4D4D"/>
                </a:solidFill>
                <a:latin typeface="Segoe Print" panose="02000600000000000000"/>
                <a:cs typeface="Segoe Print" panose="02000600000000000000"/>
              </a:rPr>
              <a:t>4</a:t>
            </a:r>
            <a:r>
              <a:rPr sz="1800" dirty="0">
                <a:solidFill>
                  <a:srgbClr val="4D4D4D"/>
                </a:solidFill>
                <a:latin typeface="宋体" panose="02010600030101010101" pitchFamily="2" charset="-122"/>
                <a:cs typeface="宋体" panose="02010600030101010101" pitchFamily="2" charset="-122"/>
              </a:rPr>
              <a:t>有权值为</a:t>
            </a:r>
            <a:r>
              <a:rPr sz="1800" dirty="0">
                <a:solidFill>
                  <a:srgbClr val="4D4D4D"/>
                </a:solidFill>
                <a:latin typeface="Segoe Print" panose="02000600000000000000"/>
                <a:cs typeface="Segoe Print" panose="02000600000000000000"/>
              </a:rPr>
              <a:t>1 </a:t>
            </a:r>
            <a:r>
              <a:rPr sz="1800" dirty="0">
                <a:solidFill>
                  <a:srgbClr val="4D4D4D"/>
                </a:solidFill>
                <a:latin typeface="宋体" panose="02010600030101010101" pitchFamily="2" charset="-122"/>
                <a:cs typeface="宋体" panose="02010600030101010101" pitchFamily="2" charset="-122"/>
              </a:rPr>
              <a:t>的边（红色）</a:t>
            </a:r>
            <a:endParaRPr sz="1800">
              <a:latin typeface="宋体" panose="02010600030101010101" pitchFamily="2" charset="-122"/>
              <a:cs typeface="宋体" panose="02010600030101010101" pitchFamily="2" charset="-122"/>
            </a:endParaRPr>
          </a:p>
          <a:p>
            <a:pPr>
              <a:lnSpc>
                <a:spcPct val="100000"/>
              </a:lnSpc>
            </a:pPr>
            <a:endParaRPr sz="1800">
              <a:latin typeface="宋体" panose="02010600030101010101" pitchFamily="2" charset="-122"/>
              <a:cs typeface="宋体" panose="02010600030101010101" pitchFamily="2" charset="-122"/>
            </a:endParaRPr>
          </a:p>
          <a:p>
            <a:pPr>
              <a:lnSpc>
                <a:spcPct val="100000"/>
              </a:lnSpc>
              <a:spcBef>
                <a:spcPts val="60"/>
              </a:spcBef>
            </a:pPr>
            <a:endParaRPr sz="2200">
              <a:latin typeface="宋体" panose="02010600030101010101" pitchFamily="2" charset="-122"/>
              <a:cs typeface="宋体" panose="02010600030101010101" pitchFamily="2" charset="-122"/>
            </a:endParaRPr>
          </a:p>
          <a:p>
            <a:pPr marL="173355" marR="66675">
              <a:lnSpc>
                <a:spcPts val="1940"/>
              </a:lnSpc>
            </a:pPr>
            <a:r>
              <a:rPr sz="1800" dirty="0">
                <a:solidFill>
                  <a:srgbClr val="4D4D4D"/>
                </a:solidFill>
                <a:latin typeface="宋体" panose="02010600030101010101" pitchFamily="2" charset="-122"/>
                <a:cs typeface="宋体" panose="02010600030101010101" pitchFamily="2" charset="-122"/>
              </a:rPr>
              <a:t>在建树的过程中就让每个线段树节点和他们的叶子节点之间含有一条权值</a:t>
            </a:r>
            <a:r>
              <a:rPr sz="1800" spc="-5" dirty="0">
                <a:solidFill>
                  <a:srgbClr val="4D4D4D"/>
                </a:solidFill>
                <a:latin typeface="宋体" panose="02010600030101010101" pitchFamily="2" charset="-122"/>
                <a:cs typeface="宋体" panose="02010600030101010101" pitchFamily="2" charset="-122"/>
              </a:rPr>
              <a:t>为</a:t>
            </a:r>
            <a:r>
              <a:rPr sz="1800" dirty="0">
                <a:solidFill>
                  <a:srgbClr val="4D4D4D"/>
                </a:solidFill>
                <a:latin typeface="Segoe Print" panose="02000600000000000000"/>
                <a:cs typeface="Segoe Print" panose="02000600000000000000"/>
              </a:rPr>
              <a:t>0</a:t>
            </a:r>
            <a:r>
              <a:rPr sz="1800" dirty="0">
                <a:solidFill>
                  <a:srgbClr val="4D4D4D"/>
                </a:solidFill>
                <a:latin typeface="宋体" panose="02010600030101010101" pitchFamily="2" charset="-122"/>
                <a:cs typeface="宋体" panose="02010600030101010101" pitchFamily="2" charset="-122"/>
              </a:rPr>
              <a:t>的有 向边。</a:t>
            </a:r>
            <a:endParaRPr sz="1800">
              <a:latin typeface="宋体" panose="02010600030101010101" pitchFamily="2" charset="-122"/>
              <a:cs typeface="宋体" panose="02010600030101010101" pitchFamily="2" charset="-122"/>
            </a:endParaRPr>
          </a:p>
          <a:p>
            <a:pPr marL="173355" marR="5080" algn="just">
              <a:lnSpc>
                <a:spcPct val="100000"/>
              </a:lnSpc>
              <a:spcBef>
                <a:spcPts val="980"/>
              </a:spcBef>
            </a:pPr>
            <a:r>
              <a:rPr sz="1800" dirty="0">
                <a:solidFill>
                  <a:srgbClr val="4D4D4D"/>
                </a:solidFill>
                <a:latin typeface="宋体" panose="02010600030101010101" pitchFamily="2" charset="-122"/>
                <a:cs typeface="宋体" panose="02010600030101010101" pitchFamily="2" charset="-122"/>
              </a:rPr>
              <a:t>之所以是有向边是因为从点到区间的关系有两种，我们得建立两种线段树，分别是 从父节点指向叶子节点和从叶子结点指向根节点，对应的是从点到区间和从区间到 点的关系。</a:t>
            </a:r>
            <a:endParaRPr sz="1800">
              <a:latin typeface="宋体" panose="02010600030101010101" pitchFamily="2" charset="-122"/>
              <a:cs typeface="宋体" panose="02010600030101010101" pitchFamily="2" charset="-122"/>
            </a:endParaRPr>
          </a:p>
          <a:p>
            <a:pPr marL="173355" marR="5080">
              <a:lnSpc>
                <a:spcPct val="100000"/>
              </a:lnSpc>
              <a:spcBef>
                <a:spcPts val="1000"/>
              </a:spcBef>
            </a:pPr>
            <a:r>
              <a:rPr sz="1800" dirty="0">
                <a:solidFill>
                  <a:srgbClr val="4D4D4D"/>
                </a:solidFill>
                <a:latin typeface="宋体" panose="02010600030101010101" pitchFamily="2" charset="-122"/>
                <a:cs typeface="宋体" panose="02010600030101010101" pitchFamily="2" charset="-122"/>
              </a:rPr>
              <a:t>而且两个线段树的叶子节点，也就是最下面的节点指向的都是原来区间的节点，这 样就在原来的区间上建立了从点到区间再从区间到点的关系</a:t>
            </a:r>
            <a:endParaRPr sz="1800">
              <a:latin typeface="宋体" panose="02010600030101010101" pitchFamily="2" charset="-122"/>
              <a:cs typeface="宋体" panose="02010600030101010101" pitchFamily="2"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3" name="object 3"/>
          <p:cNvSpPr txBox="1"/>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建图技巧</a:t>
            </a:r>
            <a:endParaRPr sz="3600">
              <a:latin typeface="宋体" panose="02010600030101010101" pitchFamily="2" charset="-122"/>
              <a:cs typeface="宋体" panose="02010600030101010101" pitchFamily="2" charset="-122"/>
            </a:endParaRPr>
          </a:p>
        </p:txBody>
      </p:sp>
      <p:sp>
        <p:nvSpPr>
          <p:cNvPr id="4" name="object 4"/>
          <p:cNvSpPr txBox="1"/>
          <p:nvPr/>
        </p:nvSpPr>
        <p:spPr>
          <a:xfrm>
            <a:off x="790905" y="1622768"/>
            <a:ext cx="3300729" cy="299720"/>
          </a:xfrm>
          <a:prstGeom prst="rect">
            <a:avLst/>
          </a:prstGeom>
        </p:spPr>
        <p:txBody>
          <a:bodyPr vert="horz" wrap="square" lIns="0" tIns="12700" rIns="0" bIns="0" rtlCol="0">
            <a:spAutoFit/>
          </a:bodyPr>
          <a:lstStyle/>
          <a:p>
            <a:pPr marL="12700">
              <a:lnSpc>
                <a:spcPct val="100000"/>
              </a:lnSpc>
              <a:spcBef>
                <a:spcPts val="100"/>
              </a:spcBef>
            </a:pPr>
            <a:r>
              <a:rPr sz="1800" u="sng" dirty="0">
                <a:solidFill>
                  <a:srgbClr val="99C93B"/>
                </a:solidFill>
                <a:uFill>
                  <a:solidFill>
                    <a:srgbClr val="99C93B"/>
                  </a:solidFill>
                </a:uFill>
                <a:latin typeface="宋体" panose="02010600030101010101" pitchFamily="2" charset="-122"/>
                <a:cs typeface="宋体" panose="02010600030101010101" pitchFamily="2" charset="-122"/>
                <a:hlinkClick r:id="rId1"/>
              </a:rPr>
              <a:t>洛谷</a:t>
            </a:r>
            <a:r>
              <a:rPr sz="1800" u="sng" spc="-360" dirty="0">
                <a:solidFill>
                  <a:srgbClr val="99C93B"/>
                </a:solidFill>
                <a:uFill>
                  <a:solidFill>
                    <a:srgbClr val="99C93B"/>
                  </a:solidFill>
                </a:uFill>
                <a:latin typeface="宋体" panose="02010600030101010101" pitchFamily="2" charset="-122"/>
                <a:cs typeface="宋体" panose="02010600030101010101" pitchFamily="2" charset="-122"/>
                <a:hlinkClick r:id="rId1"/>
              </a:rPr>
              <a:t> </a:t>
            </a:r>
            <a:r>
              <a:rPr sz="1800" u="sng" dirty="0">
                <a:solidFill>
                  <a:srgbClr val="99C93B"/>
                </a:solidFill>
                <a:uFill>
                  <a:solidFill>
                    <a:srgbClr val="99C93B"/>
                  </a:solidFill>
                </a:uFill>
                <a:latin typeface="Trebuchet MS" panose="020B0603020202020204"/>
                <a:cs typeface="Trebuchet MS" panose="020B0603020202020204"/>
                <a:hlinkClick r:id="rId1"/>
              </a:rPr>
              <a:t>P4568</a:t>
            </a:r>
            <a:r>
              <a:rPr sz="1800" u="sng" spc="-5"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Trebuchet MS" panose="020B0603020202020204"/>
                <a:cs typeface="Trebuchet MS" panose="020B0603020202020204"/>
                <a:hlinkClick r:id="rId1"/>
              </a:rPr>
              <a:t>J</a:t>
            </a:r>
            <a:r>
              <a:rPr sz="1800" u="sng" spc="-5" dirty="0">
                <a:solidFill>
                  <a:srgbClr val="99C93B"/>
                </a:solidFill>
                <a:uFill>
                  <a:solidFill>
                    <a:srgbClr val="99C93B"/>
                  </a:solidFill>
                </a:uFill>
                <a:latin typeface="Trebuchet MS" panose="020B0603020202020204"/>
                <a:cs typeface="Trebuchet MS" panose="020B0603020202020204"/>
                <a:hlinkClick r:id="rId1"/>
              </a:rPr>
              <a:t>L</a:t>
            </a:r>
            <a:r>
              <a:rPr sz="1800" u="sng" dirty="0">
                <a:solidFill>
                  <a:srgbClr val="99C93B"/>
                </a:solidFill>
                <a:uFill>
                  <a:solidFill>
                    <a:srgbClr val="99C93B"/>
                  </a:solidFill>
                </a:uFill>
                <a:latin typeface="Trebuchet MS" panose="020B0603020202020204"/>
                <a:cs typeface="Trebuchet MS" panose="020B0603020202020204"/>
                <a:hlinkClick r:id="rId1"/>
              </a:rPr>
              <a:t>O</a:t>
            </a:r>
            <a:r>
              <a:rPr sz="1800" u="sng" spc="-5" dirty="0">
                <a:solidFill>
                  <a:srgbClr val="99C93B"/>
                </a:solidFill>
                <a:uFill>
                  <a:solidFill>
                    <a:srgbClr val="99C93B"/>
                  </a:solidFill>
                </a:uFill>
                <a:latin typeface="Trebuchet MS" panose="020B0603020202020204"/>
                <a:cs typeface="Trebuchet MS" panose="020B0603020202020204"/>
                <a:hlinkClick r:id="rId1"/>
              </a:rPr>
              <a:t>I</a:t>
            </a:r>
            <a:r>
              <a:rPr sz="1800" u="sng" dirty="0">
                <a:solidFill>
                  <a:srgbClr val="99C93B"/>
                </a:solidFill>
                <a:uFill>
                  <a:solidFill>
                    <a:srgbClr val="99C93B"/>
                  </a:solidFill>
                </a:uFill>
                <a:latin typeface="Trebuchet MS" panose="020B0603020202020204"/>
                <a:cs typeface="Trebuchet MS" panose="020B0603020202020204"/>
                <a:hlinkClick r:id="rId1"/>
              </a:rPr>
              <a:t>2011]</a:t>
            </a:r>
            <a:r>
              <a:rPr sz="1800" u="sng" spc="-5"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宋体" panose="02010600030101010101" pitchFamily="2" charset="-122"/>
                <a:cs typeface="宋体" panose="02010600030101010101" pitchFamily="2" charset="-122"/>
                <a:hlinkClick r:id="rId1"/>
              </a:rPr>
              <a:t>飞行路线</a:t>
            </a:r>
            <a:endParaRPr sz="1800">
              <a:latin typeface="宋体" panose="02010600030101010101" pitchFamily="2" charset="-122"/>
              <a:cs typeface="宋体" panose="02010600030101010101" pitchFamily="2" charset="-122"/>
            </a:endParaRPr>
          </a:p>
        </p:txBody>
      </p:sp>
      <p:pic>
        <p:nvPicPr>
          <p:cNvPr id="5" name="object 5"/>
          <p:cNvPicPr/>
          <p:nvPr/>
        </p:nvPicPr>
        <p:blipFill>
          <a:blip r:embed="rId2" cstate="print"/>
          <a:stretch>
            <a:fillRect/>
          </a:stretch>
        </p:blipFill>
        <p:spPr>
          <a:xfrm>
            <a:off x="828211" y="2293620"/>
            <a:ext cx="7968812" cy="1001961"/>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3" name="object 3"/>
          <p:cNvSpPr txBox="1"/>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建图技巧</a:t>
            </a:r>
            <a:endParaRPr sz="3600">
              <a:latin typeface="宋体" panose="02010600030101010101" pitchFamily="2" charset="-122"/>
              <a:cs typeface="宋体" panose="02010600030101010101" pitchFamily="2" charset="-122"/>
            </a:endParaRPr>
          </a:p>
        </p:txBody>
      </p:sp>
      <p:sp>
        <p:nvSpPr>
          <p:cNvPr id="4" name="object 4"/>
          <p:cNvSpPr txBox="1"/>
          <p:nvPr/>
        </p:nvSpPr>
        <p:spPr>
          <a:xfrm>
            <a:off x="790905" y="1622768"/>
            <a:ext cx="3300729" cy="299720"/>
          </a:xfrm>
          <a:prstGeom prst="rect">
            <a:avLst/>
          </a:prstGeom>
        </p:spPr>
        <p:txBody>
          <a:bodyPr vert="horz" wrap="square" lIns="0" tIns="12700" rIns="0" bIns="0" rtlCol="0">
            <a:spAutoFit/>
          </a:bodyPr>
          <a:lstStyle/>
          <a:p>
            <a:pPr marL="12700">
              <a:lnSpc>
                <a:spcPct val="100000"/>
              </a:lnSpc>
              <a:spcBef>
                <a:spcPts val="100"/>
              </a:spcBef>
            </a:pPr>
            <a:r>
              <a:rPr sz="1800" u="sng" dirty="0">
                <a:solidFill>
                  <a:srgbClr val="99C93B"/>
                </a:solidFill>
                <a:uFill>
                  <a:solidFill>
                    <a:srgbClr val="99C93B"/>
                  </a:solidFill>
                </a:uFill>
                <a:latin typeface="宋体" panose="02010600030101010101" pitchFamily="2" charset="-122"/>
                <a:cs typeface="宋体" panose="02010600030101010101" pitchFamily="2" charset="-122"/>
                <a:hlinkClick r:id="rId1"/>
              </a:rPr>
              <a:t>洛谷</a:t>
            </a:r>
            <a:r>
              <a:rPr sz="1800" u="sng" spc="-360" dirty="0">
                <a:solidFill>
                  <a:srgbClr val="99C93B"/>
                </a:solidFill>
                <a:uFill>
                  <a:solidFill>
                    <a:srgbClr val="99C93B"/>
                  </a:solidFill>
                </a:uFill>
                <a:latin typeface="宋体" panose="02010600030101010101" pitchFamily="2" charset="-122"/>
                <a:cs typeface="宋体" panose="02010600030101010101" pitchFamily="2" charset="-122"/>
                <a:hlinkClick r:id="rId1"/>
              </a:rPr>
              <a:t> </a:t>
            </a:r>
            <a:r>
              <a:rPr sz="1800" u="sng" dirty="0">
                <a:solidFill>
                  <a:srgbClr val="99C93B"/>
                </a:solidFill>
                <a:uFill>
                  <a:solidFill>
                    <a:srgbClr val="99C93B"/>
                  </a:solidFill>
                </a:uFill>
                <a:latin typeface="Trebuchet MS" panose="020B0603020202020204"/>
                <a:cs typeface="Trebuchet MS" panose="020B0603020202020204"/>
                <a:hlinkClick r:id="rId1"/>
              </a:rPr>
              <a:t>P4568</a:t>
            </a:r>
            <a:r>
              <a:rPr sz="1800" u="sng" spc="-5"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Trebuchet MS" panose="020B0603020202020204"/>
                <a:cs typeface="Trebuchet MS" panose="020B0603020202020204"/>
                <a:hlinkClick r:id="rId1"/>
              </a:rPr>
              <a:t>J</a:t>
            </a:r>
            <a:r>
              <a:rPr sz="1800" u="sng" spc="-5" dirty="0">
                <a:solidFill>
                  <a:srgbClr val="99C93B"/>
                </a:solidFill>
                <a:uFill>
                  <a:solidFill>
                    <a:srgbClr val="99C93B"/>
                  </a:solidFill>
                </a:uFill>
                <a:latin typeface="Trebuchet MS" panose="020B0603020202020204"/>
                <a:cs typeface="Trebuchet MS" panose="020B0603020202020204"/>
                <a:hlinkClick r:id="rId1"/>
              </a:rPr>
              <a:t>L</a:t>
            </a:r>
            <a:r>
              <a:rPr sz="1800" u="sng" dirty="0">
                <a:solidFill>
                  <a:srgbClr val="99C93B"/>
                </a:solidFill>
                <a:uFill>
                  <a:solidFill>
                    <a:srgbClr val="99C93B"/>
                  </a:solidFill>
                </a:uFill>
                <a:latin typeface="Trebuchet MS" panose="020B0603020202020204"/>
                <a:cs typeface="Trebuchet MS" panose="020B0603020202020204"/>
                <a:hlinkClick r:id="rId1"/>
              </a:rPr>
              <a:t>O</a:t>
            </a:r>
            <a:r>
              <a:rPr sz="1800" u="sng" spc="-5" dirty="0">
                <a:solidFill>
                  <a:srgbClr val="99C93B"/>
                </a:solidFill>
                <a:uFill>
                  <a:solidFill>
                    <a:srgbClr val="99C93B"/>
                  </a:solidFill>
                </a:uFill>
                <a:latin typeface="Trebuchet MS" panose="020B0603020202020204"/>
                <a:cs typeface="Trebuchet MS" panose="020B0603020202020204"/>
                <a:hlinkClick r:id="rId1"/>
              </a:rPr>
              <a:t>I</a:t>
            </a:r>
            <a:r>
              <a:rPr sz="1800" u="sng" dirty="0">
                <a:solidFill>
                  <a:srgbClr val="99C93B"/>
                </a:solidFill>
                <a:uFill>
                  <a:solidFill>
                    <a:srgbClr val="99C93B"/>
                  </a:solidFill>
                </a:uFill>
                <a:latin typeface="Trebuchet MS" panose="020B0603020202020204"/>
                <a:cs typeface="Trebuchet MS" panose="020B0603020202020204"/>
                <a:hlinkClick r:id="rId1"/>
              </a:rPr>
              <a:t>2011]</a:t>
            </a:r>
            <a:r>
              <a:rPr sz="1800" u="sng" spc="-5" dirty="0">
                <a:solidFill>
                  <a:srgbClr val="99C93B"/>
                </a:solidFill>
                <a:uFill>
                  <a:solidFill>
                    <a:srgbClr val="99C93B"/>
                  </a:solidFill>
                </a:uFill>
                <a:latin typeface="Trebuchet MS" panose="020B0603020202020204"/>
                <a:cs typeface="Trebuchet MS" panose="020B0603020202020204"/>
                <a:hlinkClick r:id="rId1"/>
              </a:rPr>
              <a:t> </a:t>
            </a:r>
            <a:r>
              <a:rPr sz="1800" u="sng" dirty="0">
                <a:solidFill>
                  <a:srgbClr val="99C93B"/>
                </a:solidFill>
                <a:uFill>
                  <a:solidFill>
                    <a:srgbClr val="99C93B"/>
                  </a:solidFill>
                </a:uFill>
                <a:latin typeface="宋体" panose="02010600030101010101" pitchFamily="2" charset="-122"/>
                <a:cs typeface="宋体" panose="02010600030101010101" pitchFamily="2" charset="-122"/>
                <a:hlinkClick r:id="rId1"/>
              </a:rPr>
              <a:t>飞行路线</a:t>
            </a:r>
            <a:endParaRPr sz="1800">
              <a:latin typeface="宋体" panose="02010600030101010101" pitchFamily="2" charset="-122"/>
              <a:cs typeface="宋体" panose="02010600030101010101" pitchFamily="2" charset="-122"/>
            </a:endParaRPr>
          </a:p>
        </p:txBody>
      </p:sp>
      <p:pic>
        <p:nvPicPr>
          <p:cNvPr id="5" name="object 5"/>
          <p:cNvPicPr/>
          <p:nvPr/>
        </p:nvPicPr>
        <p:blipFill>
          <a:blip r:embed="rId2" cstate="print"/>
          <a:stretch>
            <a:fillRect/>
          </a:stretch>
        </p:blipFill>
        <p:spPr>
          <a:xfrm>
            <a:off x="828211" y="2293620"/>
            <a:ext cx="7968812" cy="1001961"/>
          </a:xfrm>
          <a:prstGeom prst="rect">
            <a:avLst/>
          </a:prstGeom>
        </p:spPr>
      </p:pic>
      <p:pic>
        <p:nvPicPr>
          <p:cNvPr id="6" name="object 6"/>
          <p:cNvPicPr/>
          <p:nvPr/>
        </p:nvPicPr>
        <p:blipFill>
          <a:blip r:embed="rId3" cstate="print"/>
          <a:stretch>
            <a:fillRect/>
          </a:stretch>
        </p:blipFill>
        <p:spPr>
          <a:xfrm>
            <a:off x="746759" y="3726179"/>
            <a:ext cx="7146035" cy="1613915"/>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3" name="object 3"/>
          <p:cNvSpPr txBox="1"/>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建图技巧</a:t>
            </a:r>
            <a:endParaRPr sz="3600">
              <a:latin typeface="宋体" panose="02010600030101010101" pitchFamily="2" charset="-122"/>
              <a:cs typeface="宋体" panose="02010600030101010101" pitchFamily="2" charset="-122"/>
            </a:endParaRPr>
          </a:p>
        </p:txBody>
      </p:sp>
      <p:sp>
        <p:nvSpPr>
          <p:cNvPr id="4" name="object 4"/>
          <p:cNvSpPr txBox="1"/>
          <p:nvPr/>
        </p:nvSpPr>
        <p:spPr>
          <a:xfrm>
            <a:off x="790905" y="1622768"/>
            <a:ext cx="3300729" cy="289560"/>
          </a:xfrm>
          <a:prstGeom prst="rect">
            <a:avLst/>
          </a:prstGeom>
        </p:spPr>
        <p:txBody>
          <a:bodyPr vert="horz" wrap="square" lIns="0" tIns="12700" rIns="0" bIns="0" rtlCol="0">
            <a:spAutoFit/>
          </a:bodyPr>
          <a:lstStyle/>
          <a:p>
            <a:pPr marL="12700">
              <a:lnSpc>
                <a:spcPct val="100000"/>
              </a:lnSpc>
              <a:spcBef>
                <a:spcPts val="100"/>
              </a:spcBef>
            </a:pPr>
            <a:r>
              <a:rPr lang="en-US" sz="1800" b="1" u="sng" dirty="0">
                <a:solidFill>
                  <a:srgbClr val="99C93B"/>
                </a:solidFill>
                <a:uFill>
                  <a:solidFill>
                    <a:srgbClr val="99C93B"/>
                  </a:solidFill>
                </a:uFill>
                <a:latin typeface="宋体" panose="02010600030101010101" pitchFamily="2" charset="-122"/>
                <a:cs typeface="宋体" panose="02010600030101010101" pitchFamily="2" charset="-122"/>
                <a:hlinkClick r:id="rId1" action="ppaction://hlinkfile"/>
              </a:rPr>
              <a:t>Codeforces 1634 E</a:t>
            </a:r>
            <a:endParaRPr lang="en-US" sz="1800" b="1" u="sng" spc="-360" dirty="0">
              <a:solidFill>
                <a:srgbClr val="99C93B"/>
              </a:solidFill>
              <a:uFill>
                <a:solidFill>
                  <a:srgbClr val="99C93B"/>
                </a:solidFill>
              </a:uFill>
              <a:latin typeface="宋体" panose="02010600030101010101" pitchFamily="2" charset="-122"/>
              <a:cs typeface="宋体" panose="02010600030101010101" pitchFamily="2" charset="-122"/>
              <a:hlinkClick r:id="rId1" action="ppaction://hlinkfile"/>
            </a:endParaRPr>
          </a:p>
        </p:txBody>
      </p:sp>
      <p:sp>
        <p:nvSpPr>
          <p:cNvPr id="8" name="object 6"/>
          <p:cNvSpPr txBox="1"/>
          <p:nvPr/>
        </p:nvSpPr>
        <p:spPr>
          <a:xfrm>
            <a:off x="791845" y="2209800"/>
            <a:ext cx="8486775" cy="2105025"/>
          </a:xfrm>
          <a:prstGeom prst="rect">
            <a:avLst/>
          </a:prstGeom>
        </p:spPr>
        <p:txBody>
          <a:bodyPr vert="horz" wrap="square" lIns="0" tIns="12700" rIns="0" bIns="0" rtlCol="0">
            <a:noAutofit/>
          </a:bodyPr>
          <a:lstStyle/>
          <a:p>
            <a:pPr marL="12700" marR="5080">
              <a:lnSpc>
                <a:spcPct val="100000"/>
              </a:lnSpc>
              <a:spcBef>
                <a:spcPts val="100"/>
              </a:spcBef>
            </a:pPr>
            <a:r>
              <a:rPr lang="zh-CN" sz="1800">
                <a:latin typeface="宋体" panose="02010600030101010101" pitchFamily="2" charset="-122"/>
                <a:cs typeface="宋体" panose="02010600030101010101" pitchFamily="2" charset="-122"/>
              </a:rPr>
              <a:t>给你m个正整数数组。每个数组的长度都是偶数。</a:t>
            </a:r>
            <a:endParaRPr lang="zh-CN" sz="1800">
              <a:latin typeface="宋体" panose="02010600030101010101" pitchFamily="2" charset="-122"/>
              <a:cs typeface="宋体" panose="02010600030101010101" pitchFamily="2" charset="-122"/>
            </a:endParaRPr>
          </a:p>
          <a:p>
            <a:pPr marL="12700" marR="5080">
              <a:lnSpc>
                <a:spcPct val="100000"/>
              </a:lnSpc>
              <a:spcBef>
                <a:spcPts val="100"/>
              </a:spcBef>
            </a:pPr>
            <a:endParaRPr lang="zh-CN" sz="1800">
              <a:latin typeface="宋体" panose="02010600030101010101" pitchFamily="2" charset="-122"/>
              <a:cs typeface="宋体" panose="02010600030101010101" pitchFamily="2" charset="-122"/>
            </a:endParaRPr>
          </a:p>
          <a:p>
            <a:pPr marL="12700" marR="5080">
              <a:lnSpc>
                <a:spcPct val="100000"/>
              </a:lnSpc>
              <a:spcBef>
                <a:spcPts val="100"/>
              </a:spcBef>
            </a:pPr>
            <a:r>
              <a:rPr lang="zh-CN" sz="1800">
                <a:latin typeface="宋体" panose="02010600030101010101" pitchFamily="2" charset="-122"/>
                <a:cs typeface="宋体" panose="02010600030101010101" pitchFamily="2" charset="-122"/>
              </a:rPr>
              <a:t>你需要将所有这些整数分割成两个大小相等的两个可重集合L和R，也就是说，每个数组的每个元素都应进入两个集合中的一个(但不能同时进入两个)。此外，对于m个数组中的每个数组，其一半的元素应放入L中其余的应放入R中。</a:t>
            </a:r>
            <a:endParaRPr lang="zh-CN" sz="1800">
              <a:latin typeface="宋体" panose="02010600030101010101" pitchFamily="2" charset="-122"/>
              <a:cs typeface="宋体" panose="02010600030101010101" pitchFamily="2" charset="-122"/>
            </a:endParaRPr>
          </a:p>
          <a:p>
            <a:pPr marL="12700" marR="5080">
              <a:lnSpc>
                <a:spcPct val="100000"/>
              </a:lnSpc>
              <a:spcBef>
                <a:spcPts val="100"/>
              </a:spcBef>
            </a:pPr>
            <a:endParaRPr lang="zh-CN" sz="1800">
              <a:latin typeface="宋体" panose="02010600030101010101" pitchFamily="2" charset="-122"/>
              <a:cs typeface="宋体" panose="02010600030101010101" pitchFamily="2" charset="-122"/>
            </a:endParaRPr>
          </a:p>
          <a:p>
            <a:pPr marL="12700" marR="5080">
              <a:lnSpc>
                <a:spcPct val="100000"/>
              </a:lnSpc>
              <a:spcBef>
                <a:spcPts val="100"/>
              </a:spcBef>
            </a:pPr>
            <a:r>
              <a:rPr lang="zh-CN" sz="1800">
                <a:latin typeface="宋体" panose="02010600030101010101" pitchFamily="2" charset="-122"/>
                <a:cs typeface="宋体" panose="02010600030101010101" pitchFamily="2" charset="-122"/>
              </a:rPr>
              <a:t>请举例说明这种划分方法，或者确定不存在这种划分方法。</a:t>
            </a:r>
            <a:endParaRPr lang="zh-CN" sz="1800">
              <a:latin typeface="宋体" panose="02010600030101010101" pitchFamily="2" charset="-122"/>
              <a:cs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3" name="object 3"/>
          <p:cNvSpPr txBox="1"/>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建图技巧</a:t>
            </a:r>
            <a:endParaRPr sz="3600">
              <a:latin typeface="宋体" panose="02010600030101010101" pitchFamily="2" charset="-122"/>
              <a:cs typeface="宋体" panose="02010600030101010101" pitchFamily="2" charset="-122"/>
            </a:endParaRPr>
          </a:p>
        </p:txBody>
      </p:sp>
      <p:sp>
        <p:nvSpPr>
          <p:cNvPr id="4" name="object 4"/>
          <p:cNvSpPr txBox="1"/>
          <p:nvPr/>
        </p:nvSpPr>
        <p:spPr>
          <a:xfrm>
            <a:off x="790905" y="1622768"/>
            <a:ext cx="3300729" cy="289560"/>
          </a:xfrm>
          <a:prstGeom prst="rect">
            <a:avLst/>
          </a:prstGeom>
        </p:spPr>
        <p:txBody>
          <a:bodyPr vert="horz" wrap="square" lIns="0" tIns="12700" rIns="0" bIns="0" rtlCol="0">
            <a:spAutoFit/>
          </a:bodyPr>
          <a:lstStyle/>
          <a:p>
            <a:pPr marL="12700">
              <a:lnSpc>
                <a:spcPct val="100000"/>
              </a:lnSpc>
              <a:spcBef>
                <a:spcPts val="100"/>
              </a:spcBef>
            </a:pPr>
            <a:r>
              <a:rPr lang="en-US" sz="1800" b="1" u="sng" dirty="0">
                <a:solidFill>
                  <a:srgbClr val="99C93B"/>
                </a:solidFill>
                <a:uFill>
                  <a:solidFill>
                    <a:srgbClr val="99C93B"/>
                  </a:solidFill>
                </a:uFill>
                <a:latin typeface="宋体" panose="02010600030101010101" pitchFamily="2" charset="-122"/>
                <a:cs typeface="宋体" panose="02010600030101010101" pitchFamily="2" charset="-122"/>
                <a:hlinkClick r:id="rId1" action="ppaction://hlinkfile"/>
              </a:rPr>
              <a:t>Codeforces 1634 E</a:t>
            </a:r>
            <a:endParaRPr lang="en-US" sz="1800" b="1" u="sng" spc="-360" dirty="0">
              <a:solidFill>
                <a:srgbClr val="99C93B"/>
              </a:solidFill>
              <a:uFill>
                <a:solidFill>
                  <a:srgbClr val="99C93B"/>
                </a:solidFill>
              </a:uFill>
              <a:latin typeface="宋体" panose="02010600030101010101" pitchFamily="2" charset="-122"/>
              <a:cs typeface="宋体" panose="02010600030101010101" pitchFamily="2" charset="-122"/>
              <a:hlinkClick r:id="rId1" action="ppaction://hlinkfile"/>
            </a:endParaRPr>
          </a:p>
        </p:txBody>
      </p:sp>
      <p:pic>
        <p:nvPicPr>
          <p:cNvPr id="5" name="图片 4"/>
          <p:cNvPicPr>
            <a:picLocks noChangeAspect="1"/>
          </p:cNvPicPr>
          <p:nvPr/>
        </p:nvPicPr>
        <p:blipFill>
          <a:blip r:embed="rId2"/>
          <a:stretch>
            <a:fillRect/>
          </a:stretch>
        </p:blipFill>
        <p:spPr>
          <a:xfrm>
            <a:off x="609600" y="2209800"/>
            <a:ext cx="10673715" cy="302006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3" name="object 3"/>
          <p:cNvSpPr txBox="1"/>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建图技巧</a:t>
            </a:r>
            <a:endParaRPr sz="3600">
              <a:latin typeface="宋体" panose="02010600030101010101" pitchFamily="2" charset="-122"/>
              <a:cs typeface="宋体" panose="02010600030101010101" pitchFamily="2" charset="-122"/>
            </a:endParaRPr>
          </a:p>
        </p:txBody>
      </p:sp>
      <p:sp>
        <p:nvSpPr>
          <p:cNvPr id="4" name="object 4"/>
          <p:cNvSpPr txBox="1"/>
          <p:nvPr/>
        </p:nvSpPr>
        <p:spPr>
          <a:xfrm>
            <a:off x="790905" y="1622768"/>
            <a:ext cx="3300729" cy="289560"/>
          </a:xfrm>
          <a:prstGeom prst="rect">
            <a:avLst/>
          </a:prstGeom>
        </p:spPr>
        <p:txBody>
          <a:bodyPr vert="horz" wrap="square" lIns="0" tIns="12700" rIns="0" bIns="0" rtlCol="0">
            <a:spAutoFit/>
          </a:bodyPr>
          <a:lstStyle/>
          <a:p>
            <a:pPr marL="12700">
              <a:lnSpc>
                <a:spcPct val="100000"/>
              </a:lnSpc>
              <a:spcBef>
                <a:spcPts val="100"/>
              </a:spcBef>
            </a:pPr>
            <a:r>
              <a:rPr lang="en-US" sz="1800" b="1" u="sng" dirty="0">
                <a:solidFill>
                  <a:srgbClr val="99C93B"/>
                </a:solidFill>
                <a:uFill>
                  <a:solidFill>
                    <a:srgbClr val="99C93B"/>
                  </a:solidFill>
                </a:uFill>
                <a:latin typeface="宋体" panose="02010600030101010101" pitchFamily="2" charset="-122"/>
                <a:cs typeface="宋体" panose="02010600030101010101" pitchFamily="2" charset="-122"/>
                <a:hlinkClick r:id="rId1" action="ppaction://hlinkfile"/>
              </a:rPr>
              <a:t>Codeforces 1634 E</a:t>
            </a:r>
            <a:endParaRPr lang="en-US" sz="1800" b="1" u="sng" spc="-360" dirty="0">
              <a:solidFill>
                <a:srgbClr val="99C93B"/>
              </a:solidFill>
              <a:uFill>
                <a:solidFill>
                  <a:srgbClr val="99C93B"/>
                </a:solidFill>
              </a:uFill>
              <a:latin typeface="宋体" panose="02010600030101010101" pitchFamily="2" charset="-122"/>
              <a:cs typeface="宋体" panose="02010600030101010101" pitchFamily="2" charset="-122"/>
              <a:hlinkClick r:id="rId1" action="ppaction://hlinkfile"/>
            </a:endParaRPr>
          </a:p>
        </p:txBody>
      </p:sp>
      <p:sp>
        <p:nvSpPr>
          <p:cNvPr id="8" name="object 6"/>
          <p:cNvSpPr txBox="1"/>
          <p:nvPr/>
        </p:nvSpPr>
        <p:spPr>
          <a:xfrm>
            <a:off x="791845" y="2209800"/>
            <a:ext cx="8486775" cy="2105025"/>
          </a:xfrm>
          <a:prstGeom prst="rect">
            <a:avLst/>
          </a:prstGeom>
        </p:spPr>
        <p:txBody>
          <a:bodyPr vert="horz" wrap="square" lIns="0" tIns="12700" rIns="0" bIns="0" rtlCol="0">
            <a:noAutofit/>
          </a:bodyPr>
          <a:lstStyle/>
          <a:p>
            <a:pPr marL="12700" marR="5080">
              <a:lnSpc>
                <a:spcPct val="100000"/>
              </a:lnSpc>
              <a:spcBef>
                <a:spcPts val="100"/>
              </a:spcBef>
            </a:pPr>
            <a:r>
              <a:rPr lang="zh-CN" sz="1800">
                <a:latin typeface="宋体" panose="02010600030101010101" pitchFamily="2" charset="-122"/>
                <a:cs typeface="宋体" panose="02010600030101010101" pitchFamily="2" charset="-122"/>
              </a:rPr>
              <a:t>给你m个正整数数组。每个数组的长度都是偶数。</a:t>
            </a:r>
            <a:endParaRPr lang="zh-CN" sz="1800">
              <a:latin typeface="宋体" panose="02010600030101010101" pitchFamily="2" charset="-122"/>
              <a:cs typeface="宋体" panose="02010600030101010101" pitchFamily="2" charset="-122"/>
            </a:endParaRPr>
          </a:p>
          <a:p>
            <a:pPr marL="12700" marR="5080">
              <a:lnSpc>
                <a:spcPct val="100000"/>
              </a:lnSpc>
              <a:spcBef>
                <a:spcPts val="100"/>
              </a:spcBef>
            </a:pPr>
            <a:endParaRPr lang="zh-CN" sz="1800">
              <a:latin typeface="宋体" panose="02010600030101010101" pitchFamily="2" charset="-122"/>
              <a:cs typeface="宋体" panose="02010600030101010101" pitchFamily="2" charset="-122"/>
            </a:endParaRPr>
          </a:p>
          <a:p>
            <a:pPr marL="12700" marR="5080">
              <a:lnSpc>
                <a:spcPct val="100000"/>
              </a:lnSpc>
              <a:spcBef>
                <a:spcPts val="100"/>
              </a:spcBef>
            </a:pPr>
            <a:r>
              <a:rPr lang="zh-CN" sz="1800">
                <a:latin typeface="宋体" panose="02010600030101010101" pitchFamily="2" charset="-122"/>
                <a:cs typeface="宋体" panose="02010600030101010101" pitchFamily="2" charset="-122"/>
              </a:rPr>
              <a:t>你需要将所有这些整数分割成两个大小相等的两个可重集合L和R，也就是说，每个数组的每个元素都应进入两个集合中的一个(但不能同时进入两个)。此外，对于m个数组中的每个数组，其一半的元素应放入L中其余的应放入R中。</a:t>
            </a:r>
            <a:endParaRPr lang="zh-CN" sz="1800">
              <a:latin typeface="宋体" panose="02010600030101010101" pitchFamily="2" charset="-122"/>
              <a:cs typeface="宋体" panose="02010600030101010101" pitchFamily="2" charset="-122"/>
            </a:endParaRPr>
          </a:p>
          <a:p>
            <a:pPr marL="12700" marR="5080">
              <a:lnSpc>
                <a:spcPct val="100000"/>
              </a:lnSpc>
              <a:spcBef>
                <a:spcPts val="100"/>
              </a:spcBef>
            </a:pPr>
            <a:endParaRPr lang="zh-CN" sz="1800">
              <a:latin typeface="宋体" panose="02010600030101010101" pitchFamily="2" charset="-122"/>
              <a:cs typeface="宋体" panose="02010600030101010101" pitchFamily="2" charset="-122"/>
            </a:endParaRPr>
          </a:p>
          <a:p>
            <a:pPr marL="12700" marR="5080">
              <a:lnSpc>
                <a:spcPct val="100000"/>
              </a:lnSpc>
              <a:spcBef>
                <a:spcPts val="100"/>
              </a:spcBef>
            </a:pPr>
            <a:r>
              <a:rPr lang="zh-CN" sz="1800">
                <a:latin typeface="宋体" panose="02010600030101010101" pitchFamily="2" charset="-122"/>
                <a:cs typeface="宋体" panose="02010600030101010101" pitchFamily="2" charset="-122"/>
              </a:rPr>
              <a:t>请举例说明这种划分方法，或者确定不存在这种划分方法。</a:t>
            </a:r>
            <a:endParaRPr lang="zh-CN" sz="1800">
              <a:latin typeface="宋体" panose="02010600030101010101" pitchFamily="2" charset="-122"/>
              <a:cs typeface="宋体" panose="02010600030101010101" pitchFamily="2" charset="-122"/>
            </a:endParaRPr>
          </a:p>
        </p:txBody>
      </p:sp>
      <p:sp>
        <p:nvSpPr>
          <p:cNvPr id="5" name="object 6"/>
          <p:cNvSpPr txBox="1"/>
          <p:nvPr/>
        </p:nvSpPr>
        <p:spPr>
          <a:xfrm>
            <a:off x="838200" y="4612005"/>
            <a:ext cx="8486775" cy="1775460"/>
          </a:xfrm>
          <a:prstGeom prst="rect">
            <a:avLst/>
          </a:prstGeom>
        </p:spPr>
        <p:txBody>
          <a:bodyPr vert="horz" wrap="square" lIns="0" tIns="12700" rIns="0" bIns="0" rtlCol="0">
            <a:noAutofit/>
          </a:bodyPr>
          <a:lstStyle/>
          <a:p>
            <a:pPr marL="12700" marR="5080">
              <a:lnSpc>
                <a:spcPct val="100000"/>
              </a:lnSpc>
              <a:spcBef>
                <a:spcPts val="100"/>
              </a:spcBef>
            </a:pPr>
            <a:r>
              <a:rPr lang="zh-CN" altLang="en-US" sz="1800">
                <a:latin typeface="宋体" panose="02010600030101010101" pitchFamily="2" charset="-122"/>
                <a:cs typeface="宋体" panose="02010600030101010101" pitchFamily="2" charset="-122"/>
              </a:rPr>
              <a:t>我们把这个关系抽象成一个二分图，把数组抽象成左边的点，每一种数字抽象成右边的点。如果一个数组</a:t>
            </a:r>
            <a:r>
              <a:rPr lang="en-US" altLang="zh-CN" sz="1800">
                <a:latin typeface="宋体" panose="02010600030101010101" pitchFamily="2" charset="-122"/>
                <a:cs typeface="宋体" panose="02010600030101010101" pitchFamily="2" charset="-122"/>
              </a:rPr>
              <a:t>A</a:t>
            </a:r>
            <a:r>
              <a:rPr lang="zh-CN" altLang="en-US" sz="1800">
                <a:latin typeface="宋体" panose="02010600030101010101" pitchFamily="2" charset="-122"/>
                <a:cs typeface="宋体" panose="02010600030101010101" pitchFamily="2" charset="-122"/>
              </a:rPr>
              <a:t>包含一个数字</a:t>
            </a:r>
            <a:r>
              <a:rPr lang="en-US" altLang="zh-CN" sz="1800">
                <a:latin typeface="宋体" panose="02010600030101010101" pitchFamily="2" charset="-122"/>
                <a:cs typeface="宋体" panose="02010600030101010101" pitchFamily="2" charset="-122"/>
              </a:rPr>
              <a:t>x</a:t>
            </a:r>
            <a:r>
              <a:rPr lang="zh-CN" altLang="en-US" sz="1800">
                <a:latin typeface="宋体" panose="02010600030101010101" pitchFamily="2" charset="-122"/>
                <a:cs typeface="宋体" panose="02010600030101010101" pitchFamily="2" charset="-122"/>
              </a:rPr>
              <a:t>，那么</a:t>
            </a:r>
            <a:r>
              <a:rPr lang="en-US" altLang="zh-CN" sz="1800">
                <a:latin typeface="宋体" panose="02010600030101010101" pitchFamily="2" charset="-122"/>
                <a:cs typeface="宋体" panose="02010600030101010101" pitchFamily="2" charset="-122"/>
              </a:rPr>
              <a:t>A</a:t>
            </a:r>
            <a:r>
              <a:rPr lang="zh-CN" altLang="en-US" sz="1800">
                <a:latin typeface="宋体" panose="02010600030101010101" pitchFamily="2" charset="-122"/>
                <a:cs typeface="宋体" panose="02010600030101010101" pitchFamily="2" charset="-122"/>
              </a:rPr>
              <a:t>代表的点和</a:t>
            </a:r>
            <a:r>
              <a:rPr lang="en-US" altLang="zh-CN" sz="1800">
                <a:latin typeface="宋体" panose="02010600030101010101" pitchFamily="2" charset="-122"/>
                <a:cs typeface="宋体" panose="02010600030101010101" pitchFamily="2" charset="-122"/>
              </a:rPr>
              <a:t>x</a:t>
            </a:r>
            <a:r>
              <a:rPr lang="zh-CN" altLang="en-US" sz="1800">
                <a:latin typeface="宋体" panose="02010600030101010101" pitchFamily="2" charset="-122"/>
                <a:cs typeface="宋体" panose="02010600030101010101" pitchFamily="2" charset="-122"/>
              </a:rPr>
              <a:t>就相当于连了一条边，这样就形成了一个二分图，然后只要能在这个二分图上找到一条欧拉回路，我们就找到了一个合法的划分方法。</a:t>
            </a:r>
            <a:endParaRPr lang="zh-CN" altLang="en-US" sz="1800">
              <a:latin typeface="宋体" panose="02010600030101010101" pitchFamily="2" charset="-122"/>
              <a:cs typeface="宋体" panose="02010600030101010101" pitchFamily="2" charset="-122"/>
            </a:endParaRPr>
          </a:p>
          <a:p>
            <a:pPr marL="12700" marR="5080">
              <a:lnSpc>
                <a:spcPct val="100000"/>
              </a:lnSpc>
              <a:spcBef>
                <a:spcPts val="100"/>
              </a:spcBef>
            </a:pPr>
            <a:endParaRPr lang="zh-CN" altLang="en-US" sz="1800">
              <a:latin typeface="宋体" panose="02010600030101010101" pitchFamily="2" charset="-122"/>
              <a:cs typeface="宋体" panose="02010600030101010101" pitchFamily="2" charset="-122"/>
            </a:endParaRPr>
          </a:p>
          <a:p>
            <a:pPr marL="12700" marR="5080">
              <a:lnSpc>
                <a:spcPct val="100000"/>
              </a:lnSpc>
              <a:spcBef>
                <a:spcPts val="100"/>
              </a:spcBef>
            </a:pPr>
            <a:r>
              <a:rPr lang="zh-CN" altLang="en-US" sz="1800">
                <a:latin typeface="宋体" panose="02010600030101010101" pitchFamily="2" charset="-122"/>
                <a:cs typeface="宋体" panose="02010600030101010101" pitchFamily="2" charset="-122"/>
              </a:rPr>
              <a:t>这道题的难点就在于能够把题面抽象成图论问题</a:t>
            </a:r>
            <a:endParaRPr lang="zh-CN" altLang="en-US" sz="1800">
              <a:latin typeface="宋体" panose="02010600030101010101" pitchFamily="2" charset="-122"/>
              <a:cs typeface="宋体" panose="02010600030101010101" pitchFamily="2"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3" name="object 3"/>
          <p:cNvSpPr txBox="1"/>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建图技巧</a:t>
            </a:r>
            <a:endParaRPr sz="3600">
              <a:latin typeface="宋体" panose="02010600030101010101" pitchFamily="2" charset="-122"/>
              <a:cs typeface="宋体" panose="02010600030101010101" pitchFamily="2" charset="-122"/>
            </a:endParaRPr>
          </a:p>
        </p:txBody>
      </p:sp>
      <p:sp>
        <p:nvSpPr>
          <p:cNvPr id="4" name="object 4"/>
          <p:cNvSpPr txBox="1"/>
          <p:nvPr/>
        </p:nvSpPr>
        <p:spPr>
          <a:xfrm>
            <a:off x="790905" y="1237323"/>
            <a:ext cx="3300729" cy="289560"/>
          </a:xfrm>
          <a:prstGeom prst="rect">
            <a:avLst/>
          </a:prstGeom>
        </p:spPr>
        <p:txBody>
          <a:bodyPr vert="horz" wrap="square" lIns="0" tIns="12700" rIns="0" bIns="0" rtlCol="0">
            <a:spAutoFit/>
          </a:bodyPr>
          <a:lstStyle/>
          <a:p>
            <a:pPr marL="12700">
              <a:lnSpc>
                <a:spcPct val="100000"/>
              </a:lnSpc>
              <a:spcBef>
                <a:spcPts val="100"/>
              </a:spcBef>
            </a:pPr>
            <a:r>
              <a:rPr lang="en-US" sz="1800" b="1" u="sng" dirty="0">
                <a:solidFill>
                  <a:srgbClr val="99C93B"/>
                </a:solidFill>
                <a:uFill>
                  <a:solidFill>
                    <a:srgbClr val="99C93B"/>
                  </a:solidFill>
                </a:uFill>
                <a:latin typeface="宋体" panose="02010600030101010101" pitchFamily="2" charset="-122"/>
                <a:cs typeface="宋体" panose="02010600030101010101" pitchFamily="2" charset="-122"/>
                <a:hlinkClick r:id="rId1" action="ppaction://hlinkfile"/>
              </a:rPr>
              <a:t>Codeforces 1468 J</a:t>
            </a:r>
            <a:endParaRPr lang="en-US" sz="1800" b="1" u="sng" spc="-360" dirty="0">
              <a:solidFill>
                <a:srgbClr val="99C93B"/>
              </a:solidFill>
              <a:uFill>
                <a:solidFill>
                  <a:srgbClr val="99C93B"/>
                </a:solidFill>
              </a:uFill>
              <a:latin typeface="宋体" panose="02010600030101010101" pitchFamily="2" charset="-122"/>
              <a:cs typeface="宋体" panose="02010600030101010101" pitchFamily="2" charset="-122"/>
              <a:hlinkClick r:id="rId1" action="ppaction://hlinkfile"/>
            </a:endParaRPr>
          </a:p>
        </p:txBody>
      </p:sp>
      <p:pic>
        <p:nvPicPr>
          <p:cNvPr id="5" name="图片 4"/>
          <p:cNvPicPr>
            <a:picLocks noChangeAspect="1"/>
          </p:cNvPicPr>
          <p:nvPr/>
        </p:nvPicPr>
        <p:blipFill>
          <a:blip r:embed="rId2"/>
          <a:stretch>
            <a:fillRect/>
          </a:stretch>
        </p:blipFill>
        <p:spPr>
          <a:xfrm>
            <a:off x="791210" y="1600200"/>
            <a:ext cx="8883650" cy="274066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4012691"/>
            <a:ext cx="448309" cy="2845435"/>
          </a:xfrm>
          <a:custGeom>
            <a:avLst/>
            <a:gdLst/>
            <a:ahLst/>
            <a:cxnLst/>
            <a:rect l="l" t="t" r="r" b="b"/>
            <a:pathLst>
              <a:path w="448309" h="2845434">
                <a:moveTo>
                  <a:pt x="448056" y="2845308"/>
                </a:moveTo>
                <a:lnTo>
                  <a:pt x="0" y="2845308"/>
                </a:lnTo>
                <a:lnTo>
                  <a:pt x="0" y="0"/>
                </a:lnTo>
                <a:lnTo>
                  <a:pt x="448056" y="2845308"/>
                </a:lnTo>
                <a:close/>
              </a:path>
            </a:pathLst>
          </a:custGeom>
          <a:solidFill>
            <a:srgbClr val="90C225">
              <a:alpha val="85099"/>
            </a:srgbClr>
          </a:solidFill>
        </p:spPr>
        <p:txBody>
          <a:bodyPr wrap="square" lIns="0" tIns="0" rIns="0" bIns="0" rtlCol="0"/>
          <a:lstStyle/>
          <a:p/>
        </p:txBody>
      </p:sp>
      <p:sp>
        <p:nvSpPr>
          <p:cNvPr id="3" name="object 3"/>
          <p:cNvSpPr txBox="1"/>
          <p:nvPr/>
        </p:nvSpPr>
        <p:spPr>
          <a:xfrm>
            <a:off x="756069" y="645159"/>
            <a:ext cx="1854200" cy="574040"/>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90C225"/>
                </a:solidFill>
                <a:latin typeface="宋体" panose="02010600030101010101" pitchFamily="2" charset="-122"/>
                <a:cs typeface="宋体" panose="02010600030101010101" pitchFamily="2" charset="-122"/>
              </a:rPr>
              <a:t>建图技巧</a:t>
            </a:r>
            <a:endParaRPr sz="3600">
              <a:latin typeface="宋体" panose="02010600030101010101" pitchFamily="2" charset="-122"/>
              <a:cs typeface="宋体" panose="02010600030101010101" pitchFamily="2" charset="-122"/>
            </a:endParaRPr>
          </a:p>
        </p:txBody>
      </p:sp>
      <p:sp>
        <p:nvSpPr>
          <p:cNvPr id="4" name="object 4"/>
          <p:cNvSpPr txBox="1"/>
          <p:nvPr/>
        </p:nvSpPr>
        <p:spPr>
          <a:xfrm>
            <a:off x="790905" y="1237323"/>
            <a:ext cx="3300729" cy="289560"/>
          </a:xfrm>
          <a:prstGeom prst="rect">
            <a:avLst/>
          </a:prstGeom>
        </p:spPr>
        <p:txBody>
          <a:bodyPr vert="horz" wrap="square" lIns="0" tIns="12700" rIns="0" bIns="0" rtlCol="0">
            <a:spAutoFit/>
          </a:bodyPr>
          <a:lstStyle/>
          <a:p>
            <a:pPr marL="12700">
              <a:lnSpc>
                <a:spcPct val="100000"/>
              </a:lnSpc>
              <a:spcBef>
                <a:spcPts val="100"/>
              </a:spcBef>
            </a:pPr>
            <a:r>
              <a:rPr lang="en-US" sz="1800" b="1" u="sng" dirty="0">
                <a:solidFill>
                  <a:srgbClr val="99C93B"/>
                </a:solidFill>
                <a:uFill>
                  <a:solidFill>
                    <a:srgbClr val="99C93B"/>
                  </a:solidFill>
                </a:uFill>
                <a:latin typeface="宋体" panose="02010600030101010101" pitchFamily="2" charset="-122"/>
                <a:cs typeface="宋体" panose="02010600030101010101" pitchFamily="2" charset="-122"/>
                <a:hlinkClick r:id="rId1" action="ppaction://hlinkfile"/>
              </a:rPr>
              <a:t>Codeforces 1468 J</a:t>
            </a:r>
            <a:endParaRPr lang="en-US" sz="1800" b="1" u="sng" spc="-360" dirty="0">
              <a:solidFill>
                <a:srgbClr val="99C93B"/>
              </a:solidFill>
              <a:uFill>
                <a:solidFill>
                  <a:srgbClr val="99C93B"/>
                </a:solidFill>
              </a:uFill>
              <a:latin typeface="宋体" panose="02010600030101010101" pitchFamily="2" charset="-122"/>
              <a:cs typeface="宋体" panose="02010600030101010101" pitchFamily="2" charset="-122"/>
              <a:hlinkClick r:id="rId1" action="ppaction://hlinkfile"/>
            </a:endParaRPr>
          </a:p>
        </p:txBody>
      </p:sp>
      <p:pic>
        <p:nvPicPr>
          <p:cNvPr id="5" name="图片 4"/>
          <p:cNvPicPr>
            <a:picLocks noChangeAspect="1"/>
          </p:cNvPicPr>
          <p:nvPr/>
        </p:nvPicPr>
        <p:blipFill>
          <a:blip r:embed="rId2"/>
          <a:stretch>
            <a:fillRect/>
          </a:stretch>
        </p:blipFill>
        <p:spPr>
          <a:xfrm>
            <a:off x="791210" y="1600200"/>
            <a:ext cx="8883650" cy="2740660"/>
          </a:xfrm>
          <a:prstGeom prst="rect">
            <a:avLst/>
          </a:prstGeom>
        </p:spPr>
      </p:pic>
      <p:sp>
        <p:nvSpPr>
          <p:cNvPr id="6" name="object 6"/>
          <p:cNvSpPr txBox="1"/>
          <p:nvPr/>
        </p:nvSpPr>
        <p:spPr>
          <a:xfrm>
            <a:off x="823595" y="4411345"/>
            <a:ext cx="8501380" cy="1976120"/>
          </a:xfrm>
          <a:prstGeom prst="rect">
            <a:avLst/>
          </a:prstGeom>
        </p:spPr>
        <p:txBody>
          <a:bodyPr vert="horz" wrap="square" lIns="0" tIns="12700" rIns="0" bIns="0" rtlCol="0">
            <a:noAutofit/>
          </a:bodyPr>
          <a:lstStyle/>
          <a:p>
            <a:pPr marL="12700" marR="5080">
              <a:lnSpc>
                <a:spcPct val="100000"/>
              </a:lnSpc>
              <a:spcBef>
                <a:spcPts val="100"/>
              </a:spcBef>
            </a:pPr>
            <a:r>
              <a:rPr lang="zh-CN" altLang="en-US" sz="1800">
                <a:latin typeface="宋体" panose="02010600030101010101" pitchFamily="2" charset="-122"/>
                <a:cs typeface="宋体" panose="02010600030101010101" pitchFamily="2" charset="-122"/>
              </a:rPr>
              <a:t>假设我们只选边权小于等于</a:t>
            </a:r>
            <a:r>
              <a:rPr lang="en-US" altLang="zh-CN" sz="1800">
                <a:latin typeface="宋体" panose="02010600030101010101" pitchFamily="2" charset="-122"/>
                <a:cs typeface="宋体" panose="02010600030101010101" pitchFamily="2" charset="-122"/>
              </a:rPr>
              <a:t>k</a:t>
            </a:r>
            <a:r>
              <a:rPr lang="zh-CN" altLang="en-US" sz="1800">
                <a:latin typeface="宋体" panose="02010600030101010101" pitchFamily="2" charset="-122"/>
                <a:cs typeface="宋体" panose="02010600030101010101" pitchFamily="2" charset="-122"/>
              </a:rPr>
              <a:t>的边，如果可以连成一个联通快，那么我们把</a:t>
            </a:r>
            <a:r>
              <a:rPr lang="en-US" altLang="zh-CN" sz="1800">
                <a:latin typeface="宋体" panose="02010600030101010101" pitchFamily="2" charset="-122"/>
                <a:cs typeface="宋体" panose="02010600030101010101" pitchFamily="2" charset="-122"/>
              </a:rPr>
              <a:t>k-max(</a:t>
            </a:r>
            <a:r>
              <a:rPr lang="zh-CN" altLang="en-US" sz="1800">
                <a:latin typeface="宋体" panose="02010600030101010101" pitchFamily="2" charset="-122"/>
                <a:cs typeface="宋体" panose="02010600030101010101" pitchFamily="2" charset="-122"/>
              </a:rPr>
              <a:t>所选边权</a:t>
            </a:r>
            <a:r>
              <a:rPr lang="en-US" altLang="zh-CN" sz="1800">
                <a:latin typeface="宋体" panose="02010600030101010101" pitchFamily="2" charset="-122"/>
                <a:cs typeface="宋体" panose="02010600030101010101" pitchFamily="2" charset="-122"/>
              </a:rPr>
              <a:t>)</a:t>
            </a:r>
            <a:r>
              <a:rPr lang="zh-CN" altLang="en-US" sz="1800">
                <a:latin typeface="宋体" panose="02010600030101010101" pitchFamily="2" charset="-122"/>
                <a:cs typeface="宋体" panose="02010600030101010101" pitchFamily="2" charset="-122"/>
              </a:rPr>
              <a:t>作为一个可能的答案，接下来我们考虑往这里加边权大于</a:t>
            </a:r>
            <a:r>
              <a:rPr lang="en-US" altLang="zh-CN" sz="1800">
                <a:latin typeface="宋体" panose="02010600030101010101" pitchFamily="2" charset="-122"/>
                <a:cs typeface="宋体" panose="02010600030101010101" pitchFamily="2" charset="-122"/>
              </a:rPr>
              <a:t>k</a:t>
            </a:r>
            <a:r>
              <a:rPr lang="zh-CN" altLang="en-US" sz="1800">
                <a:latin typeface="宋体" panose="02010600030101010101" pitchFamily="2" charset="-122"/>
                <a:cs typeface="宋体" panose="02010600030101010101" pitchFamily="2" charset="-122"/>
              </a:rPr>
              <a:t>的边。</a:t>
            </a:r>
            <a:endParaRPr lang="zh-CN" altLang="en-US" sz="1800">
              <a:latin typeface="宋体" panose="02010600030101010101" pitchFamily="2" charset="-122"/>
              <a:cs typeface="宋体" panose="02010600030101010101" pitchFamily="2" charset="-122"/>
            </a:endParaRPr>
          </a:p>
          <a:p>
            <a:pPr marL="12700" marR="5080">
              <a:lnSpc>
                <a:spcPct val="100000"/>
              </a:lnSpc>
              <a:spcBef>
                <a:spcPts val="100"/>
              </a:spcBef>
            </a:pPr>
            <a:endParaRPr lang="zh-CN" altLang="en-US" sz="1800">
              <a:latin typeface="宋体" panose="02010600030101010101" pitchFamily="2" charset="-122"/>
              <a:cs typeface="宋体" panose="02010600030101010101" pitchFamily="2" charset="-122"/>
            </a:endParaRPr>
          </a:p>
          <a:p>
            <a:pPr marL="12700" marR="5080">
              <a:lnSpc>
                <a:spcPct val="100000"/>
              </a:lnSpc>
              <a:spcBef>
                <a:spcPts val="100"/>
              </a:spcBef>
            </a:pPr>
            <a:r>
              <a:rPr lang="zh-CN" altLang="en-US" sz="1800">
                <a:latin typeface="宋体" panose="02010600030101010101" pitchFamily="2" charset="-122"/>
                <a:cs typeface="宋体" panose="02010600030101010101" pitchFamily="2" charset="-122"/>
              </a:rPr>
              <a:t>因为要保证操作完最大边权等于</a:t>
            </a:r>
            <a:r>
              <a:rPr lang="en-US" altLang="zh-CN" sz="1800">
                <a:latin typeface="宋体" panose="02010600030101010101" pitchFamily="2" charset="-122"/>
                <a:cs typeface="宋体" panose="02010600030101010101" pitchFamily="2" charset="-122"/>
              </a:rPr>
              <a:t>k</a:t>
            </a:r>
            <a:r>
              <a:rPr lang="zh-CN" altLang="en-US" sz="1800">
                <a:latin typeface="宋体" panose="02010600030101010101" pitchFamily="2" charset="-122"/>
                <a:cs typeface="宋体" panose="02010600030101010101" pitchFamily="2" charset="-122"/>
              </a:rPr>
              <a:t>，所以再往图中加大于</a:t>
            </a:r>
            <a:r>
              <a:rPr lang="en-US" altLang="zh-CN" sz="1800">
                <a:latin typeface="宋体" panose="02010600030101010101" pitchFamily="2" charset="-122"/>
                <a:cs typeface="宋体" panose="02010600030101010101" pitchFamily="2" charset="-122"/>
              </a:rPr>
              <a:t>k</a:t>
            </a:r>
            <a:r>
              <a:rPr lang="zh-CN" altLang="en-US" sz="1800">
                <a:latin typeface="宋体" panose="02010600030101010101" pitchFamily="2" charset="-122"/>
                <a:cs typeface="宋体" panose="02010600030101010101" pitchFamily="2" charset="-122"/>
              </a:rPr>
              <a:t>的边造成的代价是</a:t>
            </a:r>
            <a:r>
              <a:rPr lang="en-US" altLang="zh-CN" sz="1800">
                <a:latin typeface="宋体" panose="02010600030101010101" pitchFamily="2" charset="-122"/>
                <a:cs typeface="宋体" panose="02010600030101010101" pitchFamily="2" charset="-122"/>
              </a:rPr>
              <a:t>sum(s_i-k)</a:t>
            </a:r>
            <a:r>
              <a:rPr lang="zh-CN" altLang="en-US" sz="1800">
                <a:latin typeface="宋体" panose="02010600030101010101" pitchFamily="2" charset="-122"/>
                <a:cs typeface="宋体" panose="02010600030101010101" pitchFamily="2" charset="-122"/>
              </a:rPr>
              <a:t>，所以我们可以把已经连好的联通块视作为点，剩下所有边的边权为</a:t>
            </a:r>
            <a:r>
              <a:rPr lang="en-US" altLang="zh-CN" sz="1800">
                <a:latin typeface="宋体" panose="02010600030101010101" pitchFamily="2" charset="-122"/>
                <a:cs typeface="宋体" panose="02010600030101010101" pitchFamily="2" charset="-122"/>
              </a:rPr>
              <a:t>s_i-k</a:t>
            </a:r>
            <a:r>
              <a:rPr lang="zh-CN" altLang="en-US" sz="1800">
                <a:latin typeface="宋体" panose="02010600030101010101" pitchFamily="2" charset="-122"/>
                <a:cs typeface="宋体" panose="02010600030101010101" pitchFamily="2" charset="-122"/>
              </a:rPr>
              <a:t>。跑一遍最小生成树就可以。</a:t>
            </a:r>
            <a:endParaRPr lang="zh-CN" altLang="en-US" sz="1800">
              <a:latin typeface="宋体" panose="02010600030101010101" pitchFamily="2" charset="-122"/>
              <a:cs typeface="宋体" panose="0201060003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56285" y="645160"/>
            <a:ext cx="1997710" cy="566420"/>
          </a:xfrm>
          <a:prstGeom prst="rect">
            <a:avLst/>
          </a:prstGeom>
        </p:spPr>
        <p:txBody>
          <a:bodyPr vert="horz" wrap="square" lIns="0" tIns="12700" rIns="0" bIns="0" rtlCol="0">
            <a:spAutoFit/>
          </a:bodyPr>
          <a:lstStyle/>
          <a:p>
            <a:pPr marL="12700">
              <a:lnSpc>
                <a:spcPct val="100000"/>
              </a:lnSpc>
              <a:spcBef>
                <a:spcPts val="100"/>
              </a:spcBef>
            </a:pPr>
            <a:r>
              <a:rPr lang="zh-CN" sz="3600" dirty="0">
                <a:solidFill>
                  <a:srgbClr val="90C225"/>
                </a:solidFill>
                <a:latin typeface="宋体" panose="02010600030101010101" pitchFamily="2" charset="-122"/>
                <a:cs typeface="宋体" panose="02010600030101010101" pitchFamily="2" charset="-122"/>
              </a:rPr>
              <a:t>其他知识</a:t>
            </a:r>
            <a:endParaRPr lang="zh-CN" sz="3600" dirty="0">
              <a:solidFill>
                <a:srgbClr val="90C225"/>
              </a:solidFill>
              <a:latin typeface="宋体" panose="02010600030101010101" pitchFamily="2" charset="-122"/>
              <a:cs typeface="宋体" panose="02010600030101010101" pitchFamily="2" charset="-122"/>
            </a:endParaRPr>
          </a:p>
        </p:txBody>
      </p:sp>
      <p:sp>
        <p:nvSpPr>
          <p:cNvPr id="6" name="object 6"/>
          <p:cNvSpPr txBox="1"/>
          <p:nvPr/>
        </p:nvSpPr>
        <p:spPr>
          <a:xfrm>
            <a:off x="823595" y="1419225"/>
            <a:ext cx="8441055" cy="4888865"/>
          </a:xfrm>
          <a:prstGeom prst="rect">
            <a:avLst/>
          </a:prstGeom>
        </p:spPr>
        <p:txBody>
          <a:bodyPr vert="horz" wrap="square" lIns="0" tIns="12700" rIns="0" bIns="0" rtlCol="0">
            <a:noAutofit/>
          </a:bodyPr>
          <a:lstStyle/>
          <a:p>
            <a:pPr marL="12700" marR="5080">
              <a:lnSpc>
                <a:spcPct val="100000"/>
              </a:lnSpc>
              <a:spcBef>
                <a:spcPts val="100"/>
              </a:spcBef>
            </a:pPr>
            <a:r>
              <a:rPr lang="zh-CN" altLang="en-US" sz="1800" dirty="0">
                <a:latin typeface="宋体" panose="02010600030101010101" pitchFamily="2" charset="-122"/>
                <a:cs typeface="宋体" panose="02010600030101010101" pitchFamily="2" charset="-122"/>
              </a:rPr>
              <a:t>哈密顿回路（通路，需要状压</a:t>
            </a:r>
            <a:r>
              <a:rPr lang="en-US" altLang="zh-CN" sz="1800" dirty="0" err="1">
                <a:latin typeface="宋体" panose="02010600030101010101" pitchFamily="2" charset="-122"/>
                <a:cs typeface="宋体" panose="02010600030101010101" pitchFamily="2" charset="-122"/>
              </a:rPr>
              <a:t>dp</a:t>
            </a:r>
            <a:r>
              <a:rPr lang="zh-CN" altLang="en-US" sz="1800" dirty="0">
                <a:latin typeface="宋体" panose="02010600030101010101" pitchFamily="2" charset="-122"/>
                <a:cs typeface="宋体" panose="02010600030101010101" pitchFamily="2" charset="-122"/>
              </a:rPr>
              <a:t>）</a:t>
            </a:r>
            <a:endParaRPr lang="zh-CN" altLang="en-US" sz="1800" dirty="0">
              <a:latin typeface="宋体" panose="02010600030101010101" pitchFamily="2" charset="-122"/>
              <a:cs typeface="宋体" panose="02010600030101010101" pitchFamily="2" charset="-122"/>
            </a:endParaRPr>
          </a:p>
          <a:p>
            <a:pPr marL="12700" marR="5080">
              <a:lnSpc>
                <a:spcPct val="100000"/>
              </a:lnSpc>
              <a:spcBef>
                <a:spcPts val="100"/>
              </a:spcBef>
            </a:pPr>
            <a:endParaRPr lang="en-US" altLang="zh-CN" sz="1800" dirty="0">
              <a:latin typeface="宋体" panose="02010600030101010101" pitchFamily="2" charset="-122"/>
              <a:cs typeface="宋体" panose="02010600030101010101" pitchFamily="2" charset="-122"/>
            </a:endParaRPr>
          </a:p>
          <a:p>
            <a:pPr marL="12700" marR="5080">
              <a:lnSpc>
                <a:spcPct val="100000"/>
              </a:lnSpc>
              <a:spcBef>
                <a:spcPts val="100"/>
              </a:spcBef>
            </a:pPr>
            <a:r>
              <a:rPr lang="zh-CN" altLang="en-US" sz="1800" dirty="0">
                <a:latin typeface="宋体" panose="02010600030101010101" pitchFamily="2" charset="-122"/>
                <a:cs typeface="宋体" panose="02010600030101010101" pitchFamily="2" charset="-122"/>
              </a:rPr>
              <a:t>差分约束</a:t>
            </a:r>
            <a:r>
              <a:rPr lang="en-US" altLang="zh-CN" sz="1800" dirty="0">
                <a:latin typeface="宋体" panose="02010600030101010101" pitchFamily="2" charset="-122"/>
                <a:cs typeface="宋体" panose="02010600030101010101" pitchFamily="2" charset="-122"/>
              </a:rPr>
              <a:t>(</a:t>
            </a:r>
            <a:r>
              <a:rPr lang="zh-CN" altLang="en-US" sz="1800" dirty="0">
                <a:latin typeface="宋体" panose="02010600030101010101" pitchFamily="2" charset="-122"/>
                <a:cs typeface="宋体" panose="02010600030101010101" pitchFamily="2" charset="-122"/>
              </a:rPr>
              <a:t>隶属于图论建模，不涉及新知识点</a:t>
            </a:r>
            <a:r>
              <a:rPr lang="en-US" altLang="zh-CN" sz="1800" dirty="0">
                <a:latin typeface="宋体" panose="02010600030101010101" pitchFamily="2" charset="-122"/>
                <a:cs typeface="宋体" panose="02010600030101010101" pitchFamily="2" charset="-122"/>
              </a:rPr>
              <a:t>)</a:t>
            </a:r>
            <a:endParaRPr lang="zh-CN" altLang="en-US" sz="1800" dirty="0">
              <a:latin typeface="宋体" panose="02010600030101010101" pitchFamily="2" charset="-122"/>
              <a:cs typeface="宋体" panose="02010600030101010101" pitchFamily="2" charset="-122"/>
            </a:endParaRPr>
          </a:p>
          <a:p>
            <a:pPr marL="12700" marR="5080">
              <a:lnSpc>
                <a:spcPct val="100000"/>
              </a:lnSpc>
              <a:spcBef>
                <a:spcPts val="100"/>
              </a:spcBef>
            </a:pPr>
            <a:endParaRPr lang="zh-CN" altLang="en-US" sz="1800" dirty="0">
              <a:latin typeface="宋体" panose="02010600030101010101" pitchFamily="2" charset="-122"/>
              <a:cs typeface="宋体" panose="02010600030101010101" pitchFamily="2" charset="-122"/>
            </a:endParaRPr>
          </a:p>
          <a:p>
            <a:pPr marL="12700" marR="5080">
              <a:lnSpc>
                <a:spcPct val="100000"/>
              </a:lnSpc>
              <a:spcBef>
                <a:spcPts val="100"/>
              </a:spcBef>
            </a:pPr>
            <a:r>
              <a:rPr lang="en-US" altLang="zh-CN" sz="1800" dirty="0">
                <a:latin typeface="宋体" panose="02010600030101010101" pitchFamily="2" charset="-122"/>
                <a:cs typeface="宋体" panose="02010600030101010101" pitchFamily="2" charset="-122"/>
              </a:rPr>
              <a:t>2-SAT</a:t>
            </a:r>
            <a:endParaRPr lang="en-US" altLang="zh-CN" sz="1800" dirty="0">
              <a:latin typeface="宋体" panose="02010600030101010101" pitchFamily="2" charset="-122"/>
              <a:cs typeface="宋体" panose="02010600030101010101" pitchFamily="2" charset="-122"/>
            </a:endParaRPr>
          </a:p>
          <a:p>
            <a:pPr marL="12700" marR="5080">
              <a:lnSpc>
                <a:spcPct val="100000"/>
              </a:lnSpc>
              <a:spcBef>
                <a:spcPts val="100"/>
              </a:spcBef>
            </a:pPr>
            <a:endParaRPr lang="en-US" altLang="zh-CN" sz="1800" dirty="0">
              <a:latin typeface="宋体" panose="02010600030101010101" pitchFamily="2" charset="-122"/>
              <a:cs typeface="宋体" panose="02010600030101010101" pitchFamily="2" charset="-122"/>
            </a:endParaRPr>
          </a:p>
          <a:p>
            <a:pPr marL="12700" marR="5080">
              <a:lnSpc>
                <a:spcPct val="100000"/>
              </a:lnSpc>
              <a:spcBef>
                <a:spcPts val="100"/>
              </a:spcBef>
            </a:pPr>
            <a:r>
              <a:rPr lang="zh-CN" altLang="en-US" sz="1800" dirty="0">
                <a:latin typeface="宋体" panose="02010600030101010101" pitchFamily="2" charset="-122"/>
                <a:cs typeface="宋体" panose="02010600030101010101" pitchFamily="2" charset="-122"/>
              </a:rPr>
              <a:t>竞赛图</a:t>
            </a:r>
            <a:endParaRPr lang="en-US" altLang="zh-CN" sz="1800" dirty="0">
              <a:latin typeface="宋体" panose="02010600030101010101" pitchFamily="2" charset="-122"/>
              <a:cs typeface="宋体" panose="02010600030101010101" pitchFamily="2" charset="-122"/>
            </a:endParaRPr>
          </a:p>
          <a:p>
            <a:pPr marL="12700" marR="5080">
              <a:lnSpc>
                <a:spcPct val="100000"/>
              </a:lnSpc>
              <a:spcBef>
                <a:spcPts val="100"/>
              </a:spcBef>
            </a:pPr>
            <a:endParaRPr lang="en-US" altLang="zh-CN" sz="1800" dirty="0">
              <a:latin typeface="宋体" panose="02010600030101010101" pitchFamily="2" charset="-122"/>
              <a:cs typeface="宋体" panose="02010600030101010101" pitchFamily="2" charset="-122"/>
            </a:endParaRPr>
          </a:p>
          <a:p>
            <a:pPr marL="12700" marR="5080">
              <a:lnSpc>
                <a:spcPct val="100000"/>
              </a:lnSpc>
              <a:spcBef>
                <a:spcPts val="100"/>
              </a:spcBef>
            </a:pPr>
            <a:r>
              <a:rPr lang="zh-CN" altLang="en-US" sz="1800" dirty="0">
                <a:latin typeface="宋体" panose="02010600030101010101" pitchFamily="2" charset="-122"/>
                <a:cs typeface="宋体" panose="02010600030101010101" pitchFamily="2" charset="-122"/>
              </a:rPr>
              <a:t>二分图匹配</a:t>
            </a:r>
            <a:endParaRPr lang="zh-CN" altLang="en-US" sz="1800" dirty="0">
              <a:latin typeface="宋体" panose="02010600030101010101" pitchFamily="2" charset="-122"/>
              <a:cs typeface="宋体" panose="02010600030101010101" pitchFamily="2" charset="-122"/>
            </a:endParaRPr>
          </a:p>
          <a:p>
            <a:pPr marL="12700" marR="5080">
              <a:lnSpc>
                <a:spcPct val="100000"/>
              </a:lnSpc>
              <a:spcBef>
                <a:spcPts val="100"/>
              </a:spcBef>
            </a:pPr>
            <a:endParaRPr lang="zh-CN" altLang="en-US" sz="1800" dirty="0">
              <a:latin typeface="宋体" panose="02010600030101010101" pitchFamily="2" charset="-122"/>
              <a:cs typeface="宋体" panose="02010600030101010101" pitchFamily="2" charset="-122"/>
            </a:endParaRPr>
          </a:p>
          <a:p>
            <a:pPr marL="12700" marR="5080">
              <a:lnSpc>
                <a:spcPct val="100000"/>
              </a:lnSpc>
              <a:spcBef>
                <a:spcPts val="100"/>
              </a:spcBef>
            </a:pPr>
            <a:r>
              <a:rPr lang="zh-CN" altLang="en-US" sz="1800" dirty="0">
                <a:latin typeface="宋体" panose="02010600030101010101" pitchFamily="2" charset="-122"/>
                <a:cs typeface="宋体" panose="02010600030101010101" pitchFamily="2" charset="-122"/>
              </a:rPr>
              <a:t>网络流</a:t>
            </a:r>
            <a:endParaRPr lang="zh-CN" altLang="en-US" sz="1800" dirty="0">
              <a:latin typeface="宋体" panose="02010600030101010101" pitchFamily="2" charset="-122"/>
              <a:cs typeface="宋体" panose="02010600030101010101" pitchFamily="2" charset="-122"/>
            </a:endParaRPr>
          </a:p>
          <a:p>
            <a:pPr marL="12700" marR="5080">
              <a:lnSpc>
                <a:spcPct val="100000"/>
              </a:lnSpc>
              <a:spcBef>
                <a:spcPts val="100"/>
              </a:spcBef>
            </a:pPr>
            <a:endParaRPr lang="en-US" altLang="zh-CN" sz="1800" dirty="0">
              <a:latin typeface="宋体" panose="02010600030101010101" pitchFamily="2" charset="-122"/>
              <a:cs typeface="宋体" panose="02010600030101010101" pitchFamily="2" charset="-122"/>
            </a:endParaRPr>
          </a:p>
          <a:p>
            <a:pPr marL="12700" marR="5080">
              <a:lnSpc>
                <a:spcPct val="100000"/>
              </a:lnSpc>
              <a:spcBef>
                <a:spcPts val="100"/>
              </a:spcBef>
            </a:pPr>
            <a:r>
              <a:rPr lang="zh-CN" altLang="en-US" sz="1800" dirty="0">
                <a:latin typeface="宋体" panose="02010600030101010101" pitchFamily="2" charset="-122"/>
                <a:cs typeface="宋体" panose="02010600030101010101" pitchFamily="2" charset="-122"/>
              </a:rPr>
              <a:t>支配树</a:t>
            </a:r>
            <a:endParaRPr lang="en-US" altLang="zh-CN" sz="1800" dirty="0">
              <a:latin typeface="宋体" panose="02010600030101010101" pitchFamily="2" charset="-122"/>
              <a:cs typeface="宋体" panose="02010600030101010101" pitchFamily="2" charset="-122"/>
            </a:endParaRPr>
          </a:p>
          <a:p>
            <a:pPr marL="12700" marR="5080">
              <a:lnSpc>
                <a:spcPct val="100000"/>
              </a:lnSpc>
              <a:spcBef>
                <a:spcPts val="100"/>
              </a:spcBef>
            </a:pPr>
            <a:endParaRPr lang="en-US" altLang="zh-CN" sz="1800" dirty="0">
              <a:latin typeface="宋体" panose="02010600030101010101" pitchFamily="2" charset="-122"/>
              <a:cs typeface="宋体" panose="02010600030101010101" pitchFamily="2" charset="-122"/>
            </a:endParaRPr>
          </a:p>
          <a:p>
            <a:pPr marL="12700" marR="5080">
              <a:lnSpc>
                <a:spcPct val="100000"/>
              </a:lnSpc>
              <a:spcBef>
                <a:spcPts val="100"/>
              </a:spcBef>
            </a:pPr>
            <a:r>
              <a:rPr lang="en-US" altLang="zh-CN" sz="1800" dirty="0">
                <a:latin typeface="宋体" panose="02010600030101010101" pitchFamily="2" charset="-122"/>
                <a:cs typeface="宋体" panose="02010600030101010101" pitchFamily="2" charset="-122"/>
              </a:rPr>
              <a:t>……</a:t>
            </a:r>
            <a:endParaRPr lang="en-US" altLang="zh-CN" sz="1800" dirty="0">
              <a:latin typeface="宋体" panose="02010600030101010101" pitchFamily="2" charset="-122"/>
              <a:cs typeface="宋体" panose="02010600030101010101" pitchFamily="2"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56285" y="645160"/>
            <a:ext cx="3764915" cy="566420"/>
          </a:xfrm>
          <a:prstGeom prst="rect">
            <a:avLst/>
          </a:prstGeom>
        </p:spPr>
        <p:txBody>
          <a:bodyPr vert="horz" wrap="square" lIns="0" tIns="12700" rIns="0" bIns="0" rtlCol="0">
            <a:spAutoFit/>
          </a:bodyPr>
          <a:lstStyle/>
          <a:p>
            <a:pPr marL="12700">
              <a:lnSpc>
                <a:spcPct val="100000"/>
              </a:lnSpc>
              <a:spcBef>
                <a:spcPts val="100"/>
              </a:spcBef>
            </a:pPr>
            <a:r>
              <a:rPr lang="zh-CN" sz="3600" dirty="0">
                <a:solidFill>
                  <a:srgbClr val="90C225"/>
                </a:solidFill>
                <a:latin typeface="宋体" panose="02010600030101010101" pitchFamily="2" charset="-122"/>
                <a:cs typeface="宋体" panose="02010600030101010101" pitchFamily="2" charset="-122"/>
              </a:rPr>
              <a:t>其他知识</a:t>
            </a:r>
            <a:endParaRPr lang="zh-CN" sz="3600" dirty="0">
              <a:solidFill>
                <a:srgbClr val="90C225"/>
              </a:solidFill>
              <a:latin typeface="宋体" panose="02010600030101010101" pitchFamily="2" charset="-122"/>
              <a:cs typeface="宋体" panose="02010600030101010101" pitchFamily="2" charset="-122"/>
            </a:endParaRPr>
          </a:p>
        </p:txBody>
      </p:sp>
      <p:sp>
        <p:nvSpPr>
          <p:cNvPr id="6" name="object 6"/>
          <p:cNvSpPr txBox="1"/>
          <p:nvPr/>
        </p:nvSpPr>
        <p:spPr>
          <a:xfrm>
            <a:off x="823595" y="1419225"/>
            <a:ext cx="8441055" cy="4888865"/>
          </a:xfrm>
          <a:prstGeom prst="rect">
            <a:avLst/>
          </a:prstGeom>
        </p:spPr>
        <p:txBody>
          <a:bodyPr vert="horz" wrap="square" lIns="0" tIns="12700" rIns="0" bIns="0" rtlCol="0">
            <a:noAutofit/>
          </a:bodyPr>
          <a:lstStyle/>
          <a:p>
            <a:pPr marL="12700" marR="5080">
              <a:lnSpc>
                <a:spcPct val="100000"/>
              </a:lnSpc>
              <a:spcBef>
                <a:spcPts val="100"/>
              </a:spcBef>
            </a:pPr>
            <a:r>
              <a:rPr lang="zh-CN" altLang="en-US" sz="1800">
                <a:latin typeface="宋体" panose="02010600030101010101" pitchFamily="2" charset="-122"/>
                <a:cs typeface="宋体" panose="02010600030101010101" pitchFamily="2" charset="-122"/>
              </a:rPr>
              <a:t>我们在掌握基础算法之后，往往还是不能顺利的解决图论问题，主要可能如下：</a:t>
            </a:r>
            <a:endParaRPr lang="zh-CN" altLang="en-US" sz="1800">
              <a:latin typeface="宋体" panose="02010600030101010101" pitchFamily="2" charset="-122"/>
              <a:cs typeface="宋体" panose="02010600030101010101" pitchFamily="2" charset="-122"/>
            </a:endParaRPr>
          </a:p>
          <a:p>
            <a:pPr marL="12700" marR="5080">
              <a:lnSpc>
                <a:spcPct val="100000"/>
              </a:lnSpc>
              <a:spcBef>
                <a:spcPts val="100"/>
              </a:spcBef>
            </a:pPr>
            <a:endParaRPr lang="zh-CN" altLang="en-US" sz="1800">
              <a:latin typeface="宋体" panose="02010600030101010101" pitchFamily="2" charset="-122"/>
              <a:cs typeface="宋体" panose="02010600030101010101" pitchFamily="2" charset="-122"/>
            </a:endParaRPr>
          </a:p>
          <a:p>
            <a:pPr marL="12700" marR="5080">
              <a:lnSpc>
                <a:spcPct val="100000"/>
              </a:lnSpc>
              <a:spcBef>
                <a:spcPts val="100"/>
              </a:spcBef>
            </a:pPr>
            <a:r>
              <a:rPr lang="en-US" altLang="zh-CN" sz="1800">
                <a:latin typeface="宋体" panose="02010600030101010101" pitchFamily="2" charset="-122"/>
                <a:cs typeface="宋体" panose="02010600030101010101" pitchFamily="2" charset="-122"/>
              </a:rPr>
              <a:t>1</a:t>
            </a:r>
            <a:r>
              <a:rPr lang="zh-CN" altLang="en-US" sz="1800">
                <a:latin typeface="宋体" panose="02010600030101010101" pitchFamily="2" charset="-122"/>
                <a:cs typeface="宋体" panose="02010600030101010101" pitchFamily="2" charset="-122"/>
              </a:rPr>
              <a:t>、题面里没有提到图有关的描述，根本想不到是个图论题。</a:t>
            </a:r>
            <a:endParaRPr lang="zh-CN" altLang="en-US" sz="1800">
              <a:latin typeface="宋体" panose="02010600030101010101" pitchFamily="2" charset="-122"/>
              <a:cs typeface="宋体" panose="02010600030101010101" pitchFamily="2" charset="-122"/>
            </a:endParaRPr>
          </a:p>
          <a:p>
            <a:pPr marL="12700" marR="5080">
              <a:lnSpc>
                <a:spcPct val="100000"/>
              </a:lnSpc>
              <a:spcBef>
                <a:spcPts val="100"/>
              </a:spcBef>
            </a:pPr>
            <a:endParaRPr lang="zh-CN" altLang="en-US" sz="1800">
              <a:latin typeface="宋体" panose="02010600030101010101" pitchFamily="2" charset="-122"/>
              <a:cs typeface="宋体" panose="02010600030101010101" pitchFamily="2" charset="-122"/>
            </a:endParaRPr>
          </a:p>
          <a:p>
            <a:pPr marL="12700" marR="5080">
              <a:lnSpc>
                <a:spcPct val="100000"/>
              </a:lnSpc>
              <a:spcBef>
                <a:spcPts val="100"/>
              </a:spcBef>
            </a:pPr>
            <a:r>
              <a:rPr lang="en-US" altLang="zh-CN" sz="1800">
                <a:latin typeface="宋体" panose="02010600030101010101" pitchFamily="2" charset="-122"/>
                <a:cs typeface="宋体" panose="02010600030101010101" pitchFamily="2" charset="-122"/>
              </a:rPr>
              <a:t>2</a:t>
            </a:r>
            <a:r>
              <a:rPr lang="zh-CN" altLang="en-US">
                <a:latin typeface="宋体" panose="02010600030101010101" pitchFamily="2" charset="-122"/>
                <a:cs typeface="宋体" panose="02010600030101010101" pitchFamily="2" charset="-122"/>
                <a:sym typeface="+mn-ea"/>
              </a:rPr>
              <a:t>、隐隐感觉可能能抽象成某个模型，但是还是无法成功用图成功描述题目。</a:t>
            </a:r>
            <a:endParaRPr lang="zh-CN" altLang="en-US">
              <a:latin typeface="宋体" panose="02010600030101010101" pitchFamily="2" charset="-122"/>
              <a:cs typeface="宋体" panose="02010600030101010101" pitchFamily="2" charset="-122"/>
              <a:sym typeface="+mn-ea"/>
            </a:endParaRPr>
          </a:p>
          <a:p>
            <a:pPr marL="12700" marR="5080">
              <a:lnSpc>
                <a:spcPct val="100000"/>
              </a:lnSpc>
              <a:spcBef>
                <a:spcPts val="100"/>
              </a:spcBef>
            </a:pPr>
            <a:endParaRPr lang="zh-CN" altLang="en-US">
              <a:latin typeface="宋体" panose="02010600030101010101" pitchFamily="2" charset="-122"/>
              <a:cs typeface="宋体" panose="02010600030101010101" pitchFamily="2" charset="-122"/>
              <a:sym typeface="+mn-ea"/>
            </a:endParaRPr>
          </a:p>
          <a:p>
            <a:pPr marL="12700" marR="5080">
              <a:lnSpc>
                <a:spcPct val="100000"/>
              </a:lnSpc>
              <a:spcBef>
                <a:spcPts val="100"/>
              </a:spcBef>
            </a:pPr>
            <a:r>
              <a:rPr lang="en-US" altLang="zh-CN" sz="1800">
                <a:latin typeface="宋体" panose="02010600030101010101" pitchFamily="2" charset="-122"/>
                <a:cs typeface="宋体" panose="02010600030101010101" pitchFamily="2" charset="-122"/>
              </a:rPr>
              <a:t>3</a:t>
            </a:r>
            <a:r>
              <a:rPr lang="zh-CN" altLang="en-US">
                <a:latin typeface="宋体" panose="02010600030101010101" pitchFamily="2" charset="-122"/>
                <a:cs typeface="宋体" panose="02010600030101010101" pitchFamily="2" charset="-122"/>
                <a:sym typeface="+mn-ea"/>
              </a:rPr>
              <a:t>、成功建立了模型，但是因为其他方面的知识欠缺，可能是</a:t>
            </a:r>
            <a:r>
              <a:rPr lang="en-US" altLang="zh-CN">
                <a:latin typeface="宋体" panose="02010600030101010101" pitchFamily="2" charset="-122"/>
                <a:cs typeface="宋体" panose="02010600030101010101" pitchFamily="2" charset="-122"/>
                <a:sym typeface="+mn-ea"/>
              </a:rPr>
              <a:t>dp</a:t>
            </a:r>
            <a:r>
              <a:rPr lang="zh-CN" altLang="en-US">
                <a:latin typeface="宋体" panose="02010600030101010101" pitchFamily="2" charset="-122"/>
                <a:cs typeface="宋体" panose="02010600030101010101" pitchFamily="2" charset="-122"/>
                <a:sym typeface="+mn-ea"/>
              </a:rPr>
              <a:t>，或者数据结构相关的知识。</a:t>
            </a:r>
            <a:endParaRPr lang="zh-CN" altLang="en-US">
              <a:latin typeface="宋体" panose="02010600030101010101" pitchFamily="2" charset="-122"/>
              <a:cs typeface="宋体" panose="02010600030101010101" pitchFamily="2" charset="-122"/>
              <a:sym typeface="+mn-ea"/>
            </a:endParaRPr>
          </a:p>
          <a:p>
            <a:pPr marL="12700" marR="5080">
              <a:lnSpc>
                <a:spcPct val="100000"/>
              </a:lnSpc>
              <a:spcBef>
                <a:spcPts val="100"/>
              </a:spcBef>
            </a:pPr>
            <a:endParaRPr lang="zh-CN" altLang="en-US">
              <a:latin typeface="宋体" panose="02010600030101010101" pitchFamily="2" charset="-122"/>
              <a:cs typeface="宋体" panose="02010600030101010101" pitchFamily="2" charset="-122"/>
              <a:sym typeface="+mn-ea"/>
            </a:endParaRPr>
          </a:p>
          <a:p>
            <a:pPr marL="12700" marR="5080">
              <a:lnSpc>
                <a:spcPct val="100000"/>
              </a:lnSpc>
              <a:spcBef>
                <a:spcPts val="100"/>
              </a:spcBef>
            </a:pPr>
            <a:r>
              <a:rPr lang="en-US" altLang="zh-CN" sz="1800">
                <a:latin typeface="宋体" panose="02010600030101010101" pitchFamily="2" charset="-122"/>
                <a:cs typeface="宋体" panose="02010600030101010101" pitchFamily="2" charset="-122"/>
                <a:sym typeface="+mn-ea"/>
              </a:rPr>
              <a:t>4</a:t>
            </a:r>
            <a:r>
              <a:rPr lang="zh-CN" altLang="en-US">
                <a:latin typeface="宋体" panose="02010600030101010101" pitchFamily="2" charset="-122"/>
                <a:cs typeface="宋体" panose="02010600030101010101" pitchFamily="2" charset="-122"/>
                <a:sym typeface="+mn-ea"/>
              </a:rPr>
              <a:t>、这道题考察的知识点不会。</a:t>
            </a:r>
            <a:endParaRPr lang="zh-CN" altLang="en-US">
              <a:latin typeface="宋体" panose="02010600030101010101" pitchFamily="2" charset="-122"/>
              <a:cs typeface="宋体" panose="02010600030101010101" pitchFamily="2" charset="-122"/>
              <a:sym typeface="+mn-ea"/>
            </a:endParaRPr>
          </a:p>
          <a:p>
            <a:pPr marL="12700" marR="5080">
              <a:lnSpc>
                <a:spcPct val="100000"/>
              </a:lnSpc>
              <a:spcBef>
                <a:spcPts val="100"/>
              </a:spcBef>
            </a:pPr>
            <a:endParaRPr lang="en-US" altLang="zh-CN" sz="1800">
              <a:latin typeface="宋体" panose="02010600030101010101" pitchFamily="2" charset="-122"/>
              <a:cs typeface="宋体" panose="02010600030101010101" pitchFamily="2" charset="-122"/>
              <a:sym typeface="+mn-ea"/>
            </a:endParaRPr>
          </a:p>
          <a:p>
            <a:pPr marL="12700" marR="5080">
              <a:lnSpc>
                <a:spcPct val="100000"/>
              </a:lnSpc>
              <a:spcBef>
                <a:spcPts val="100"/>
              </a:spcBef>
            </a:pPr>
            <a:r>
              <a:rPr lang="en-US" altLang="zh-CN" sz="1800">
                <a:latin typeface="宋体" panose="02010600030101010101" pitchFamily="2" charset="-122"/>
                <a:cs typeface="宋体" panose="02010600030101010101" pitchFamily="2" charset="-122"/>
                <a:sym typeface="+mn-ea"/>
              </a:rPr>
              <a:t>……</a:t>
            </a:r>
            <a:endParaRPr lang="en-US" altLang="zh-CN" sz="1800">
              <a:latin typeface="宋体" panose="02010600030101010101" pitchFamily="2" charset="-122"/>
              <a:cs typeface="宋体" panose="02010600030101010101" pitchFamily="2" charset="-122"/>
              <a:sym typeface="+mn-ea"/>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886200" y="2743200"/>
            <a:ext cx="3429000" cy="1200329"/>
          </a:xfrm>
          <a:prstGeom prst="rect">
            <a:avLst/>
          </a:prstGeom>
          <a:noFill/>
        </p:spPr>
        <p:txBody>
          <a:bodyPr wrap="square" rtlCol="0">
            <a:spAutoFit/>
          </a:bodyPr>
          <a:lstStyle/>
          <a:p>
            <a:r>
              <a:rPr lang="en-US" altLang="zh-CN" sz="7200" dirty="0"/>
              <a:t>THANKS</a:t>
            </a:r>
            <a:endParaRPr lang="zh-CN" altLang="en-US" sz="7200" dirty="0"/>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COMMONDATA" val="eyJoZGlkIjoiY2RiM2RmMTA2MTg2MjFlYzQ5NjYwY2YwYWE4OTFjOWE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9C93B"/>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9870</Words>
  <Application>WPS 演示</Application>
  <PresentationFormat>宽屏</PresentationFormat>
  <Paragraphs>959</Paragraphs>
  <Slides>103</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103</vt:i4>
      </vt:variant>
    </vt:vector>
  </HeadingPairs>
  <TitlesOfParts>
    <vt:vector size="121" baseType="lpstr">
      <vt:lpstr>Arial</vt:lpstr>
      <vt:lpstr>宋体</vt:lpstr>
      <vt:lpstr>Wingdings</vt:lpstr>
      <vt:lpstr>Trebuchet MS</vt:lpstr>
      <vt:lpstr>Lucida Sans Unicode</vt:lpstr>
      <vt:lpstr>Segoe Print</vt:lpstr>
      <vt:lpstr>Cascadia code Italic</vt:lpstr>
      <vt:lpstr>Segoe Print</vt:lpstr>
      <vt:lpstr>Cambria Math</vt:lpstr>
      <vt:lpstr>Fira Sans</vt:lpstr>
      <vt:lpstr>Calibri</vt:lpstr>
      <vt:lpstr>微软雅黑</vt:lpstr>
      <vt:lpstr>Arial Unicode MS</vt:lpstr>
      <vt:lpstr>Times New Roman</vt:lpstr>
      <vt:lpstr>Helvetica Neue</vt:lpstr>
      <vt:lpstr>Lato</vt:lpstr>
      <vt:lpstr>BatangChe</vt:lpstr>
      <vt:lpstr>Office Theme</vt:lpstr>
      <vt:lpstr>PowerPoint 演示文稿</vt:lpstr>
      <vt:lpstr>图的概念</vt:lpstr>
      <vt:lpstr>图的种类</vt:lpstr>
      <vt:lpstr>PowerPoint 演示文稿</vt:lpstr>
      <vt:lpstr>二分图</vt:lpstr>
      <vt:lpstr>PowerPoint 演示文稿</vt:lpstr>
      <vt:lpstr>Codeforces 229C Triangles</vt:lpstr>
      <vt:lpstr>Codeforces 229C Triangles</vt:lpstr>
      <vt:lpstr>子图</vt:lpstr>
      <vt:lpstr>连通性</vt:lpstr>
      <vt:lpstr>独立集与团</vt:lpstr>
      <vt:lpstr>欧拉路的判定</vt:lpstr>
      <vt:lpstr>欧拉路的判定</vt:lpstr>
      <vt:lpstr>欧拉路的判定</vt:lpstr>
      <vt:lpstr>有向图求欧拉路径（回路）</vt:lpstr>
      <vt:lpstr>无向图求欧拉路径（回路）</vt:lpstr>
      <vt:lpstr>并查集</vt:lpstr>
      <vt:lpstr>并查集</vt:lpstr>
      <vt:lpstr>并查集</vt:lpstr>
      <vt:lpstr>并查集</vt:lpstr>
      <vt:lpstr>并查集</vt:lpstr>
      <vt:lpstr>并查集</vt:lpstr>
      <vt:lpstr>并查集</vt:lpstr>
      <vt:lpstr>并查集</vt:lpstr>
      <vt:lpstr>并查集</vt:lpstr>
      <vt:lpstr>并查集</vt:lpstr>
      <vt:lpstr>并查集</vt:lpstr>
      <vt:lpstr>最小生成树</vt:lpstr>
      <vt:lpstr>最小生成树</vt:lpstr>
      <vt:lpstr>最小生成树</vt:lpstr>
      <vt:lpstr>最小生成树</vt:lpstr>
      <vt:lpstr>最小生成树</vt:lpstr>
      <vt:lpstr>最小生成树</vt:lpstr>
      <vt:lpstr>最小生成树</vt:lpstr>
      <vt:lpstr>拓扑排序</vt:lpstr>
      <vt:lpstr>拓扑排序</vt:lpstr>
      <vt:lpstr>拓扑排序</vt:lpstr>
      <vt:lpstr>拓扑排序</vt:lpstr>
      <vt:lpstr>拓扑排序</vt:lpstr>
      <vt:lpstr>拓扑排序</vt:lpstr>
      <vt:lpstr>拓扑排序</vt:lpstr>
      <vt:lpstr>拓扑排序</vt:lpstr>
      <vt:lpstr>拓扑排序</vt:lpstr>
      <vt:lpstr>拓扑排序</vt:lpstr>
      <vt:lpstr>Codeforces 510C Fox And Names</vt:lpstr>
      <vt:lpstr>Codeforces 510C Fox And Names</vt:lpstr>
      <vt:lpstr>拓扑排序</vt:lpstr>
      <vt:lpstr>拓扑排序</vt:lpstr>
      <vt:lpstr>拓扑排序</vt:lpstr>
      <vt:lpstr>特殊图最短路</vt:lpstr>
      <vt:lpstr>单源最短路</vt:lpstr>
      <vt:lpstr>Dijkstra</vt:lpstr>
      <vt:lpstr>Dijkstra</vt:lpstr>
      <vt:lpstr>Dijkstra</vt:lpstr>
      <vt:lpstr>Dijkstra</vt:lpstr>
      <vt:lpstr>Dijkstra</vt:lpstr>
      <vt:lpstr>Dijkstra</vt:lpstr>
      <vt:lpstr>Dijkstra</vt:lpstr>
      <vt:lpstr>Dijkstra</vt:lpstr>
      <vt:lpstr>Dijkstra</vt:lpstr>
      <vt:lpstr>Dijkstra</vt:lpstr>
      <vt:lpstr>为什么Dijkstra只能处理无负权图？</vt:lpstr>
      <vt:lpstr>SPFA</vt:lpstr>
      <vt:lpstr>SPFA</vt:lpstr>
      <vt:lpstr>最短路方法比较</vt:lpstr>
      <vt:lpstr>多源汇最短路</vt:lpstr>
      <vt:lpstr>PowerPoint 演示文稿</vt:lpstr>
      <vt:lpstr>多源汇最短路</vt:lpstr>
      <vt:lpstr>多源汇最短路</vt:lpstr>
      <vt:lpstr>多源汇最短路</vt:lpstr>
      <vt:lpstr>扩展：次短路</vt:lpstr>
      <vt:lpstr>扩展：次短路</vt:lpstr>
      <vt:lpstr>扩展：次短路</vt:lpstr>
      <vt:lpstr>扩展：次短路</vt:lpstr>
      <vt:lpstr>浅谈图与DP</vt:lpstr>
      <vt:lpstr>浅谈图与DP</vt:lpstr>
      <vt:lpstr>浅谈图与DP</vt:lpstr>
      <vt:lpstr>连通分量与Tarjan</vt:lpstr>
      <vt:lpstr>连通分量与Tarjan</vt:lpstr>
      <vt:lpstr>连通分量与Tarjan</vt:lpstr>
      <vt:lpstr>连通分量与Tarjan</vt:lpstr>
      <vt:lpstr>连通分量与Tarjan</vt:lpstr>
      <vt:lpstr>连通分量与Tarjan</vt:lpstr>
      <vt:lpstr>缩点</vt:lpstr>
      <vt:lpstr>缩点</vt:lpstr>
      <vt:lpstr>缩点</vt:lpstr>
      <vt:lpstr>缩点</vt:lpstr>
      <vt:lpstr>PowerPoint 演示文稿</vt:lpstr>
      <vt:lpstr>PowerPoint 演示文稿</vt:lpstr>
      <vt:lpstr>PowerPoint 演示文稿</vt:lpstr>
      <vt:lpstr>PowerPoint 演示文稿</vt:lpstr>
      <vt:lpstr>PowerPoint 演示文稿</vt:lpstr>
      <vt:lpstr>建图技巧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王百汇</cp:lastModifiedBy>
  <cp:revision>103</cp:revision>
  <dcterms:created xsi:type="dcterms:W3CDTF">2024-08-01T05:38:00Z</dcterms:created>
  <dcterms:modified xsi:type="dcterms:W3CDTF">2026-01-26T13:05:32Z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2023-08-16T08:00:00Z</vt:filetime>
  </property>
  <property fmtid="{D5CDD505-2E9C-101B-9397-08002B2CF9AE}" pid="3" name="Creator">
    <vt:lpwstr>WPS 演示</vt:lpwstr>
  </property>
  <property fmtid="{D5CDD505-2E9C-101B-9397-08002B2CF9AE}" pid="4" name="LastSaved">
    <vt:filetime>2024-08-04T08:00:00Z</vt:filetime>
  </property>
  <property fmtid="{D5CDD505-2E9C-101B-9397-08002B2CF9AE}" pid="5" name="ICV">
    <vt:lpwstr>2E067C18628F4B7EA7FE811BFB7A15CA_12</vt:lpwstr>
  </property>
  <property fmtid="{D5CDD505-2E9C-101B-9397-08002B2CF9AE}" pid="6" name="KSOProductBuildVer">
    <vt:lpwstr>2052-12.1.0.24657</vt:lpwstr>
  </property>
</Properties>
</file>