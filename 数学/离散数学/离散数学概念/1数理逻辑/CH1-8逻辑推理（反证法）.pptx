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550" r:id="rId3"/>
    <p:sldId id="551" r:id="rId4"/>
    <p:sldId id="552" r:id="rId5"/>
    <p:sldId id="553" r:id="rId6"/>
    <p:sldId id="554" r:id="rId7"/>
    <p:sldId id="555" r:id="rId8"/>
    <p:sldId id="556" r:id="rId9"/>
    <p:sldId id="557" r:id="rId10"/>
    <p:sldId id="558" r:id="rId11"/>
    <p:sldId id="559" r:id="rId12"/>
    <p:sldId id="560" r:id="rId13"/>
    <p:sldId id="561" r:id="rId14"/>
    <p:sldId id="562" r:id="rId15"/>
  </p:sldIdLst>
  <p:sldSz cx="9144000" cy="6858000" type="screen4x3"/>
  <p:notesSz cx="6797675" cy="9928225"/>
  <p:custDataLst>
    <p:tags r:id="rId2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FFCC"/>
    <a:srgbClr val="FF0000"/>
    <a:srgbClr val="800080"/>
    <a:srgbClr val="3333FF"/>
    <a:srgbClr val="99FFCC"/>
    <a:srgbClr val="9933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2" autoAdjust="0"/>
    <p:restoredTop sz="95205" autoAdjust="0"/>
  </p:normalViewPr>
  <p:slideViewPr>
    <p:cSldViewPr showGuides="1">
      <p:cViewPr varScale="1">
        <p:scale>
          <a:sx n="114" d="100"/>
          <a:sy n="114" d="100"/>
        </p:scale>
        <p:origin x="1572" y="13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318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t" anchorCtr="0" compatLnSpc="1"/>
          <a:lstStyle>
            <a:lvl1pPr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814" y="1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t" anchorCtr="0" compatLnSpc="1"/>
          <a:lstStyle>
            <a:lvl1pPr algn="r"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353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b" anchorCtr="0" compatLnSpc="1"/>
          <a:lstStyle>
            <a:lvl1pPr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814" y="9432353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b" anchorCtr="0" compatLnSpc="1"/>
          <a:lstStyle>
            <a:lvl1pPr algn="r"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BB4B81F-A7D6-4015-B8B5-25709B6C0BE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t" anchorCtr="0" compatLnSpc="1"/>
          <a:lstStyle>
            <a:lvl1pPr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814" y="1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t" anchorCtr="0" compatLnSpc="1"/>
          <a:lstStyle>
            <a:lvl1pPr algn="r"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191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952" y="4715406"/>
            <a:ext cx="4985772" cy="446747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353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b" anchorCtr="0" compatLnSpc="1"/>
          <a:lstStyle>
            <a:lvl1pPr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814" y="9432353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b" anchorCtr="0" compatLnSpc="1"/>
          <a:lstStyle>
            <a:lvl1pPr algn="r"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36B63D6-A577-4FFD-BDA7-6D48BE1130C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 userDrawn="1"/>
        </p:nvSpPr>
        <p:spPr bwMode="auto">
          <a:xfrm>
            <a:off x="0" y="6237312"/>
            <a:ext cx="9144000" cy="6302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lIns="76786" tIns="38393" rIns="76786" bIns="38393" anchor="ctr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defTabSz="1024255">
              <a:defRPr/>
            </a:pPr>
            <a:endParaRPr lang="en-US" sz="1200" dirty="0">
              <a:solidFill>
                <a:prstClr val="white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328592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668344" y="6597352"/>
            <a:ext cx="1531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东北大学 谭振华</a:t>
            </a:r>
            <a:endParaRPr lang="zh-CN" altLang="en-US" sz="1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904656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5000">
              <a:srgbClr val="FBFBFB"/>
            </a:gs>
            <a:gs pos="100000">
              <a:srgbClr val="D0D0D0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1024255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2485" indent="-320040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7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926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50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174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293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417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5356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18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489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67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85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609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734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852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976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107504" y="44624"/>
            <a:ext cx="4528256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第一篇 数理逻辑</a:t>
            </a:r>
            <a:endParaRPr lang="en-US" altLang="zh-CN" sz="2800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043608" y="2636912"/>
            <a:ext cx="7521824" cy="1378715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逻辑推理（续）</a:t>
            </a:r>
            <a:endParaRPr lang="en-US" altLang="zh-CN" sz="720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三、反证法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13414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反证法的主要思想是：假设结论不成立，可以推出矛盾的结论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</a:rPr>
              <a:t>矛盾式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。下面先介绍有关概念和定理。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zh-CN" altLang="en-US" b="1" dirty="0">
                <a:latin typeface="宋体" panose="02010600030101010101" pitchFamily="2" charset="-122"/>
              </a:rPr>
              <a:t>：设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en-US" altLang="zh-CN" b="1" dirty="0">
                <a:latin typeface="宋体" panose="02010600030101010101" pitchFamily="2" charset="-122"/>
              </a:rPr>
              <a:t>...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n</a:t>
            </a:r>
            <a:r>
              <a:rPr lang="zh-CN" altLang="en-US" b="1" dirty="0">
                <a:latin typeface="宋体" panose="02010600030101010101" pitchFamily="2" charset="-122"/>
              </a:rPr>
              <a:t>是命题公式，</a:t>
            </a:r>
            <a:r>
              <a:rPr lang="en-US" altLang="zh-CN" b="1" dirty="0">
                <a:latin typeface="宋体" panose="02010600030101010101" pitchFamily="2" charset="-122"/>
              </a:rPr>
              <a:t>P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P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,</a:t>
            </a:r>
            <a:r>
              <a:rPr lang="en-US" altLang="zh-CN" b="1" dirty="0"/>
              <a:t>…</a:t>
            </a:r>
            <a:r>
              <a:rPr lang="en-US" altLang="zh-CN" b="1" dirty="0">
                <a:latin typeface="宋体" panose="02010600030101010101" pitchFamily="2" charset="-122"/>
              </a:rPr>
              <a:t>,P</a:t>
            </a:r>
            <a:r>
              <a:rPr lang="en-US" altLang="zh-CN" b="1" baseline="-25000" dirty="0">
                <a:latin typeface="宋体" panose="02010600030101010101" pitchFamily="2" charset="-122"/>
              </a:rPr>
              <a:t>m</a:t>
            </a:r>
            <a:r>
              <a:rPr lang="zh-CN" altLang="en-US" b="1" dirty="0">
                <a:latin typeface="宋体" panose="02010600030101010101" pitchFamily="2" charset="-122"/>
              </a:rPr>
              <a:t>是公式中的命题变元，如果对所有命题变元至少有一种指派，使得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</a:t>
            </a: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latin typeface="宋体" panose="02010600030101010101" pitchFamily="2" charset="-122"/>
              </a:rPr>
              <a:t>的真值为</a:t>
            </a:r>
            <a:r>
              <a:rPr lang="en-US" altLang="zh-CN" b="1" dirty="0">
                <a:latin typeface="宋体" panose="02010600030101010101" pitchFamily="2" charset="-122"/>
              </a:rPr>
              <a:t>T</a:t>
            </a:r>
            <a:r>
              <a:rPr lang="zh-CN" altLang="en-US" b="1" dirty="0">
                <a:latin typeface="宋体" panose="02010600030101010101" pitchFamily="2" charset="-122"/>
              </a:rPr>
              <a:t>，则称公式集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合</a:t>
            </a:r>
            <a:r>
              <a:rPr lang="en-US" altLang="zh-CN" b="1" dirty="0">
                <a:latin typeface="宋体" panose="02010600030101010101" pitchFamily="2" charset="-122"/>
              </a:rPr>
              <a:t>{H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,H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,</a:t>
            </a:r>
            <a:r>
              <a:rPr lang="en-US" altLang="zh-CN" b="1" dirty="0"/>
              <a:t>…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n</a:t>
            </a:r>
            <a:r>
              <a:rPr lang="en-US" altLang="zh-CN" b="1" dirty="0">
                <a:latin typeface="宋体" panose="02010600030101010101" pitchFamily="2" charset="-122"/>
              </a:rPr>
              <a:t>}</a:t>
            </a:r>
            <a:r>
              <a:rPr lang="zh-CN" altLang="en-US" b="1" dirty="0">
                <a:latin typeface="宋体" panose="02010600030101010101" pitchFamily="2" charset="-122"/>
              </a:rPr>
              <a:t>是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相容的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</a:rPr>
              <a:t>也称是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一致的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；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如果对所有命题变元每一种指派，都使得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</a:t>
            </a:r>
            <a:r>
              <a:rPr lang="zh-CN" altLang="en-US" b="1" dirty="0">
                <a:latin typeface="宋体" panose="02010600030101010101" pitchFamily="2" charset="-122"/>
              </a:rPr>
              <a:t>的真值为</a:t>
            </a:r>
            <a:r>
              <a:rPr lang="en-US" altLang="zh-CN" b="1" dirty="0">
                <a:latin typeface="宋体" panose="02010600030101010101" pitchFamily="2" charset="-122"/>
              </a:rPr>
              <a:t>F</a:t>
            </a:r>
            <a:r>
              <a:rPr lang="zh-CN" altLang="en-US" b="1" dirty="0">
                <a:latin typeface="宋体" panose="02010600030101010101" pitchFamily="2" charset="-122"/>
              </a:rPr>
              <a:t>，则称公式集合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{H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,H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,</a:t>
            </a:r>
            <a:r>
              <a:rPr lang="en-US" altLang="zh-CN" b="1" dirty="0"/>
              <a:t>…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n</a:t>
            </a:r>
            <a:r>
              <a:rPr lang="en-US" altLang="zh-CN" b="1" dirty="0">
                <a:latin typeface="宋体" panose="02010600030101010101" pitchFamily="2" charset="-122"/>
              </a:rPr>
              <a:t>}</a:t>
            </a:r>
            <a:r>
              <a:rPr lang="zh-CN" altLang="en-US" b="1" dirty="0">
                <a:latin typeface="宋体" panose="02010600030101010101" pitchFamily="2" charset="-122"/>
              </a:rPr>
              <a:t>是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不相容的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</a:rPr>
              <a:t>也称是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不一致的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。    </a:t>
            </a:r>
            <a:endParaRPr lang="zh-CN" altLang="en-US" b="1" dirty="0"/>
          </a:p>
        </p:txBody>
      </p:sp>
    </p:spTree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14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4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4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4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7" grpId="0" autoUpdateAnimBg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517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若：</a:t>
            </a:r>
            <a:r>
              <a:rPr lang="en-US" altLang="zh-CN" b="1" dirty="0">
                <a:latin typeface="宋体" panose="02010600030101010101" pitchFamily="2" charset="-122"/>
              </a:rPr>
              <a:t>(H∧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C)</a:t>
            </a:r>
            <a:r>
              <a:rPr lang="zh-CN" altLang="en-US" b="1" dirty="0">
                <a:sym typeface="Symbol" panose="05050102010706020507" pitchFamily="18" charset="2"/>
              </a:rPr>
              <a:t> 是永假式</a:t>
            </a:r>
            <a:endParaRPr lang="en-US" altLang="zh-CN" b="1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	</a:t>
            </a:r>
            <a:r>
              <a:rPr lang="zh-CN" altLang="en-US" b="1" dirty="0">
                <a:latin typeface="宋体" panose="02010600030101010101" pitchFamily="2" charset="-122"/>
              </a:rPr>
              <a:t>则：</a:t>
            </a:r>
            <a:r>
              <a:rPr lang="zh-CN" altLang="en-US" b="1" dirty="0">
                <a:sym typeface="Symbol" panose="05050102010706020507" pitchFamily="18" charset="2"/>
              </a:rPr>
              <a:t> </a:t>
            </a:r>
            <a:r>
              <a:rPr lang="en-US" altLang="zh-CN" b="1" dirty="0">
                <a:sym typeface="Symbol" panose="05050102010706020507" pitchFamily="18" charset="2"/>
              </a:rPr>
              <a:t>(</a:t>
            </a:r>
            <a:r>
              <a:rPr lang="en-US" altLang="zh-CN" b="1" dirty="0">
                <a:latin typeface="宋体" panose="02010600030101010101" pitchFamily="2" charset="-122"/>
              </a:rPr>
              <a:t>H∧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C</a:t>
            </a:r>
            <a:r>
              <a:rPr lang="en-US" altLang="zh-CN" b="1" dirty="0">
                <a:sym typeface="Symbol" panose="05050102010706020507" pitchFamily="18" charset="2"/>
              </a:rPr>
              <a:t>)</a:t>
            </a:r>
            <a:r>
              <a:rPr lang="zh-CN" altLang="en-US" b="1" dirty="0">
                <a:sym typeface="Symbol" panose="05050102010706020507" pitchFamily="18" charset="2"/>
              </a:rPr>
              <a:t>是永真式</a:t>
            </a:r>
            <a:endParaRPr lang="en-US" altLang="zh-CN" b="1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b="1" dirty="0">
                <a:latin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zh-CN" altLang="en-US" b="1" dirty="0">
                <a:latin typeface="宋体" panose="02010600030101010101" pitchFamily="2" charset="-122"/>
                <a:sym typeface="Symbol" panose="05050102010706020507" pitchFamily="18" charset="2"/>
              </a:rPr>
              <a:t>故：</a:t>
            </a: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H∨C </a:t>
            </a:r>
            <a:r>
              <a:rPr lang="zh-CN" altLang="en-US" b="1" dirty="0">
                <a:latin typeface="宋体" panose="02010600030101010101" pitchFamily="2" charset="-122"/>
              </a:rPr>
              <a:t>是永真式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	</a:t>
            </a:r>
            <a:r>
              <a:rPr lang="zh-CN" altLang="en-US" b="1" dirty="0">
                <a:latin typeface="宋体" panose="02010600030101010101" pitchFamily="2" charset="-122"/>
              </a:rPr>
              <a:t>则：</a:t>
            </a:r>
            <a:r>
              <a:rPr lang="en-US" altLang="zh-CN" b="1" dirty="0">
                <a:latin typeface="宋体" panose="02010600030101010101" pitchFamily="2" charset="-122"/>
              </a:rPr>
              <a:t> H→C</a:t>
            </a:r>
            <a:r>
              <a:rPr lang="zh-CN" altLang="en-US" b="1" dirty="0">
                <a:latin typeface="宋体" panose="02010600030101010101" pitchFamily="2" charset="-122"/>
              </a:rPr>
              <a:t>永真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	</a:t>
            </a:r>
            <a:r>
              <a:rPr lang="zh-CN" altLang="en-US" b="1" dirty="0">
                <a:latin typeface="宋体" panose="02010600030101010101" pitchFamily="2" charset="-122"/>
              </a:rPr>
              <a:t>即：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dirty="0">
                <a:sym typeface="Symbol" panose="05050102010706020507" pitchFamily="18" charset="2"/>
              </a:rPr>
              <a:t> </a:t>
            </a:r>
            <a:r>
              <a:rPr lang="en-US" altLang="zh-CN" b="1" baseline="-25000" dirty="0"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latin typeface="宋体" panose="02010600030101010101" pitchFamily="2" charset="-122"/>
              </a:rPr>
              <a:t>C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所以：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    </a:t>
            </a:r>
            <a:r>
              <a:rPr lang="zh-CN" altLang="en-US" b="1" dirty="0">
                <a:latin typeface="宋体" panose="02010600030101010101" pitchFamily="2" charset="-122"/>
              </a:rPr>
              <a:t>如果要证明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dirty="0">
                <a:sym typeface="Symbol" panose="05050102010706020507" pitchFamily="18" charset="2"/>
              </a:rPr>
              <a:t> </a:t>
            </a:r>
            <a:r>
              <a:rPr lang="en-US" altLang="zh-CN" b="1" baseline="-25000" dirty="0"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latin typeface="宋体" panose="02010600030101010101" pitchFamily="2" charset="-122"/>
              </a:rPr>
              <a:t>C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   只需要证明</a:t>
            </a:r>
            <a:r>
              <a:rPr lang="en-US" altLang="zh-CN" b="1" dirty="0">
                <a:latin typeface="宋体" panose="02010600030101010101" pitchFamily="2" charset="-122"/>
              </a:rPr>
              <a:t>(H∧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C)</a:t>
            </a:r>
            <a:r>
              <a:rPr lang="zh-CN" altLang="en-US" b="1" dirty="0">
                <a:sym typeface="Symbol" panose="05050102010706020507" pitchFamily="18" charset="2"/>
              </a:rPr>
              <a:t> 永假</a:t>
            </a:r>
            <a:endParaRPr lang="en-US" altLang="zh-CN" b="1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这就是反证法的基本理论依据</a:t>
            </a: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17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5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5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5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1" grpId="0" autoUpdateAnimBg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517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1-7.2</a:t>
            </a: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latin typeface="宋体" panose="02010600030101010101" pitchFamily="2" charset="-122"/>
              </a:rPr>
              <a:t>若要证明相容的公式集合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{H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,H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,... H</a:t>
            </a:r>
            <a:r>
              <a:rPr lang="en-US" altLang="zh-CN" b="1" baseline="-25000" dirty="0">
                <a:latin typeface="宋体" panose="02010600030101010101" pitchFamily="2" charset="-122"/>
              </a:rPr>
              <a:t>n</a:t>
            </a:r>
            <a:r>
              <a:rPr lang="en-US" altLang="zh-CN" b="1" dirty="0">
                <a:latin typeface="宋体" panose="02010600030101010101" pitchFamily="2" charset="-122"/>
              </a:rPr>
              <a:t>}</a:t>
            </a:r>
            <a:r>
              <a:rPr lang="zh-CN" altLang="en-US" b="1" dirty="0">
                <a:latin typeface="宋体" panose="02010600030101010101" pitchFamily="2" charset="-122"/>
              </a:rPr>
              <a:t>可以推出公式</a:t>
            </a:r>
            <a:r>
              <a:rPr lang="en-US" altLang="zh-CN" b="1" dirty="0">
                <a:latin typeface="宋体" panose="02010600030101010101" pitchFamily="2" charset="-122"/>
              </a:rPr>
              <a:t>C</a:t>
            </a:r>
            <a:r>
              <a:rPr lang="zh-CN" altLang="en-US" b="1" dirty="0">
                <a:latin typeface="宋体" panose="02010600030101010101" pitchFamily="2" charset="-122"/>
              </a:rPr>
              <a:t>，只要证明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</a:t>
            </a:r>
            <a:r>
              <a:rPr lang="en-US" altLang="zh-CN" b="1" dirty="0">
                <a:latin typeface="宋体" panose="02010600030101010101" pitchFamily="2" charset="-122"/>
              </a:rPr>
              <a:t>∧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C</a:t>
            </a:r>
            <a:r>
              <a:rPr lang="zh-CN" altLang="en-US" b="1" dirty="0">
                <a:latin typeface="宋体" panose="02010600030101010101" pitchFamily="2" charset="-122"/>
              </a:rPr>
              <a:t>是个矛盾式即可。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latin typeface="宋体" panose="02010600030101010101" pitchFamily="2" charset="-122"/>
              </a:rPr>
              <a:t>设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</a:t>
            </a:r>
            <a:r>
              <a:rPr lang="en-US" altLang="zh-CN" b="1" dirty="0">
                <a:latin typeface="宋体" panose="02010600030101010101" pitchFamily="2" charset="-122"/>
              </a:rPr>
              <a:t>∧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C </a:t>
            </a:r>
            <a:r>
              <a:rPr lang="zh-CN" altLang="en-US" b="1" dirty="0">
                <a:latin typeface="宋体" panose="02010600030101010101" pitchFamily="2" charset="-122"/>
              </a:rPr>
              <a:t>是矛盾式，则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(H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</a:t>
            </a:r>
            <a:r>
              <a:rPr lang="en-US" altLang="zh-CN" b="1" dirty="0">
                <a:latin typeface="宋体" panose="02010600030101010101" pitchFamily="2" charset="-122"/>
              </a:rPr>
              <a:t>∧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C)</a:t>
            </a:r>
            <a:r>
              <a:rPr lang="zh-CN" altLang="en-US" b="1" dirty="0">
                <a:latin typeface="宋体" panose="02010600030101010101" pitchFamily="2" charset="-122"/>
              </a:rPr>
              <a:t>是个永真式。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上式</a:t>
            </a:r>
            <a:r>
              <a:rPr lang="zh-CN" altLang="en-US" b="1" dirty="0">
                <a:sym typeface="Symbol" panose="05050102010706020507" pitchFamily="18" charset="2"/>
              </a:rPr>
              <a:t> </a:t>
            </a:r>
            <a:r>
              <a:rPr lang="en-US" altLang="zh-CN" b="1" dirty="0">
                <a:latin typeface="宋体" panose="02010600030101010101" pitchFamily="2" charset="-122"/>
              </a:rPr>
              <a:t>(H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</a:t>
            </a:r>
            <a:r>
              <a:rPr lang="en-US" altLang="zh-CN" b="1" dirty="0">
                <a:latin typeface="宋体" panose="02010600030101010101" pitchFamily="2" charset="-122"/>
              </a:rPr>
              <a:t>)∨C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     </a:t>
            </a:r>
            <a:r>
              <a:rPr lang="en-US" altLang="zh-CN" b="1" dirty="0">
                <a:sym typeface="Symbol" panose="05050102010706020507" pitchFamily="18" charset="2"/>
              </a:rPr>
              <a:t></a:t>
            </a:r>
            <a:r>
              <a:rPr lang="en-US" altLang="zh-CN" b="1" dirty="0">
                <a:latin typeface="宋体" panose="02010600030101010101" pitchFamily="2" charset="-122"/>
              </a:rPr>
              <a:t>(H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</a:t>
            </a:r>
            <a:r>
              <a:rPr lang="en-US" altLang="zh-CN" b="1" dirty="0">
                <a:latin typeface="宋体" panose="02010600030101010101" pitchFamily="2" charset="-122"/>
              </a:rPr>
              <a:t>)→C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 </a:t>
            </a:r>
            <a:r>
              <a:rPr lang="zh-CN" altLang="en-US" b="1" dirty="0">
                <a:latin typeface="宋体" panose="02010600030101010101" pitchFamily="2" charset="-122"/>
              </a:rPr>
              <a:t>所以 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b="1" baseline="-25000" dirty="0"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latin typeface="宋体" panose="02010600030101010101" pitchFamily="2" charset="-122"/>
              </a:rPr>
              <a:t>C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实际上，要证明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b="1" baseline="-25000" dirty="0"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latin typeface="宋体" panose="02010600030101010101" pitchFamily="2" charset="-122"/>
              </a:rPr>
              <a:t>C</a:t>
            </a:r>
            <a:r>
              <a:rPr lang="zh-CN" altLang="en-US" b="1" dirty="0">
                <a:latin typeface="宋体" panose="02010600030101010101" pitchFamily="2" charset="-122"/>
              </a:rPr>
              <a:t>，只要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证明 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</a:t>
            </a:r>
            <a:r>
              <a:rPr lang="en-US" altLang="zh-CN" b="1" dirty="0">
                <a:latin typeface="宋体" panose="02010600030101010101" pitchFamily="2" charset="-122"/>
              </a:rPr>
              <a:t>∧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C</a:t>
            </a:r>
            <a:r>
              <a:rPr lang="zh-CN" altLang="en-US" b="1" dirty="0">
                <a:latin typeface="宋体" panose="02010600030101010101" pitchFamily="2" charset="-122"/>
              </a:rPr>
              <a:t>可推出矛盾式即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可，即   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</a:t>
            </a:r>
            <a:r>
              <a:rPr lang="en-US" altLang="zh-CN" b="1" dirty="0">
                <a:latin typeface="宋体" panose="02010600030101010101" pitchFamily="2" charset="-122"/>
              </a:rPr>
              <a:t>∧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C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b="1" dirty="0">
                <a:latin typeface="宋体" panose="02010600030101010101" pitchFamily="2" charset="-122"/>
              </a:rPr>
              <a:t> R∧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R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17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5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5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5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5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5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1" grpId="0" autoUpdateAnimBg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例７ </a:t>
            </a:r>
            <a:r>
              <a:rPr lang="en-US" altLang="zh-CN" sz="2800" b="1" dirty="0">
                <a:latin typeface="宋体" panose="02010600030101010101" pitchFamily="2" charset="-122"/>
              </a:rPr>
              <a:t>P→Q,(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Q∨R)∧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R, 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(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P∧S)</a:t>
            </a:r>
            <a:r>
              <a:rPr lang="en-US" altLang="zh-CN" dirty="0">
                <a:sym typeface="Symbol" panose="05050102010706020507" pitchFamily="18" charset="2"/>
              </a:rPr>
              <a:t></a:t>
            </a:r>
            <a:r>
              <a:rPr lang="en-US" altLang="zh-CN" sz="2800" b="1" dirty="0">
                <a:latin typeface="宋体" panose="02010600030101010101" pitchFamily="2" charset="-122"/>
              </a:rPr>
              <a:t>S 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(1)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</a:t>
            </a:r>
            <a:r>
              <a:rPr lang="en-US" altLang="zh-CN" sz="2400" b="1" dirty="0">
                <a:latin typeface="Times New Roman" panose="02020603050405020304" pitchFamily="18" charset="0"/>
              </a:rPr>
              <a:t>S                          P(</a:t>
            </a:r>
            <a:r>
              <a:rPr lang="zh-CN" altLang="en-US" sz="2400" b="1" dirty="0">
                <a:latin typeface="Times New Roman" panose="02020603050405020304" pitchFamily="18" charset="0"/>
              </a:rPr>
              <a:t>假设前提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(2) S                               T (1)       E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endParaRPr lang="en-US" altLang="zh-CN" sz="2400" b="1" baseline="-25000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(3)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P∧S)                 P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(4) P∨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S                      T (3)       E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8</a:t>
            </a:r>
            <a:endParaRPr lang="en-US" altLang="zh-CN" sz="2400" b="1" baseline="-25000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(5) P                               T (2)(4)   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10</a:t>
            </a:r>
            <a:endParaRPr lang="en-US" altLang="zh-CN" sz="2400" b="1" baseline="-25000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(6) P→Q                        P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(7) Q                              T (5)(6)   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11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(8) (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Q∨R)∧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R        P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(9)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Q∨R                    T (8)        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(10)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R                         T (8)         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endParaRPr lang="en-US" altLang="zh-CN" sz="2400" b="1" baseline="-25000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(11) R                            T (7)(9)    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10</a:t>
            </a:r>
            <a:endParaRPr lang="en-US" altLang="zh-CN" sz="2400" b="1" baseline="-25000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(12) R∧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R                  T (10)(11) 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9</a:t>
            </a:r>
            <a:endParaRPr lang="en-US" altLang="zh-CN" sz="2400" b="1" baseline="-25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19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6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6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6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6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6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6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6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6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 autoUpdateAnimBg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504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FF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下面同学动手作练习</a:t>
            </a:r>
            <a:endParaRPr lang="zh-CN" altLang="en-US" sz="2400" b="1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用反证法证明  第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47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页 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(4) a)</a:t>
            </a:r>
            <a:endParaRPr lang="en-US" altLang="zh-CN" sz="2400" b="1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 R→</a:t>
            </a:r>
            <a:r>
              <a:rPr lang="en-US" altLang="zh-CN" sz="2400" b="1">
                <a:sym typeface="Symbol" panose="05050102010706020507" pitchFamily="18" charset="2"/>
              </a:rPr>
              <a:t></a:t>
            </a:r>
            <a:r>
              <a:rPr lang="en-US" altLang="zh-CN" sz="2400" b="1">
                <a:latin typeface="宋体" panose="02010600030101010101" pitchFamily="2" charset="-122"/>
              </a:rPr>
              <a:t>Q ,</a:t>
            </a:r>
            <a:r>
              <a:rPr lang="en-US" altLang="zh-CN" sz="2400" b="1">
                <a:sym typeface="Symbol" panose="05050102010706020507" pitchFamily="18" charset="2"/>
              </a:rPr>
              <a:t> </a:t>
            </a:r>
            <a:r>
              <a:rPr lang="en-US" altLang="zh-CN" sz="2400" b="1">
                <a:latin typeface="宋体" panose="02010600030101010101" pitchFamily="2" charset="-122"/>
              </a:rPr>
              <a:t>R∨S , S→</a:t>
            </a:r>
            <a:r>
              <a:rPr lang="en-US" altLang="zh-CN" sz="2400" b="1">
                <a:sym typeface="Symbol" panose="05050102010706020507" pitchFamily="18" charset="2"/>
              </a:rPr>
              <a:t></a:t>
            </a:r>
            <a:r>
              <a:rPr lang="en-US" altLang="zh-CN" sz="2400" b="1">
                <a:latin typeface="宋体" panose="02010600030101010101" pitchFamily="2" charset="-122"/>
              </a:rPr>
              <a:t>Q ,P→Q </a:t>
            </a:r>
            <a:r>
              <a:rPr lang="en-US" altLang="zh-CN" sz="2400" b="1">
                <a:sym typeface="Symbol" panose="05050102010706020507" pitchFamily="18" charset="2"/>
              </a:rPr>
              <a:t> P</a:t>
            </a:r>
            <a:endParaRPr lang="en-US" altLang="zh-CN" sz="24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证明 </a:t>
            </a:r>
            <a:r>
              <a:rPr lang="en-US" altLang="zh-CN" sz="2400" b="1">
                <a:latin typeface="宋体" panose="02010600030101010101" pitchFamily="2" charset="-122"/>
              </a:rPr>
              <a:t>(1) </a:t>
            </a:r>
            <a:r>
              <a:rPr lang="en-US" altLang="zh-CN" sz="2400" b="1">
                <a:sym typeface="Symbol" panose="05050102010706020507" pitchFamily="18" charset="2"/>
              </a:rPr>
              <a:t></a:t>
            </a:r>
            <a:r>
              <a:rPr lang="en-US" altLang="zh-CN" sz="2400" b="1">
                <a:latin typeface="宋体" panose="02010600030101010101" pitchFamily="2" charset="-122"/>
              </a:rPr>
              <a:t>P          P(</a:t>
            </a:r>
            <a:r>
              <a:rPr lang="zh-CN" altLang="en-US" sz="2400" b="1">
                <a:latin typeface="宋体" panose="02010600030101010101" pitchFamily="2" charset="-122"/>
              </a:rPr>
              <a:t>假设前提</a:t>
            </a:r>
            <a:r>
              <a:rPr lang="en-US" altLang="zh-CN" sz="2400" b="1">
                <a:latin typeface="宋体" panose="02010600030101010101" pitchFamily="2" charset="-122"/>
              </a:rPr>
              <a:t>)</a:t>
            </a:r>
            <a:endParaRPr lang="en-US" altLang="zh-CN" sz="24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     (2) P             T (1) E</a:t>
            </a:r>
            <a:r>
              <a:rPr lang="en-US" altLang="zh-CN" sz="2400" b="1" baseline="-25000">
                <a:latin typeface="宋体" panose="02010600030101010101" pitchFamily="2" charset="-122"/>
              </a:rPr>
              <a:t>1</a:t>
            </a:r>
            <a:endParaRPr lang="en-US" altLang="zh-CN" sz="24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     (3) P→Q          P</a:t>
            </a:r>
            <a:endParaRPr lang="en-US" altLang="zh-CN" sz="24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     (4) Q             T (2)(3) I</a:t>
            </a:r>
            <a:r>
              <a:rPr lang="en-US" altLang="zh-CN" sz="2400" b="1" baseline="-25000">
                <a:latin typeface="宋体" panose="02010600030101010101" pitchFamily="2" charset="-122"/>
              </a:rPr>
              <a:t>11</a:t>
            </a:r>
            <a:endParaRPr lang="en-US" altLang="zh-CN" sz="24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     (5) R→</a:t>
            </a:r>
            <a:r>
              <a:rPr lang="en-US" altLang="zh-CN" sz="2400" b="1">
                <a:sym typeface="Symbol" panose="05050102010706020507" pitchFamily="18" charset="2"/>
              </a:rPr>
              <a:t></a:t>
            </a:r>
            <a:r>
              <a:rPr lang="en-US" altLang="zh-CN" sz="2400" b="1">
                <a:latin typeface="宋体" panose="02010600030101010101" pitchFamily="2" charset="-122"/>
              </a:rPr>
              <a:t>Q         P</a:t>
            </a:r>
            <a:endParaRPr lang="en-US" altLang="zh-CN" sz="24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     (6) </a:t>
            </a:r>
            <a:r>
              <a:rPr lang="en-US" altLang="zh-CN" sz="2400" b="1">
                <a:sym typeface="Symbol" panose="05050102010706020507" pitchFamily="18" charset="2"/>
              </a:rPr>
              <a:t></a:t>
            </a:r>
            <a:r>
              <a:rPr lang="en-US" altLang="zh-CN" sz="2400" b="1">
                <a:latin typeface="宋体" panose="02010600030101010101" pitchFamily="2" charset="-122"/>
              </a:rPr>
              <a:t>R            T (4)(5) I</a:t>
            </a:r>
            <a:r>
              <a:rPr lang="en-US" altLang="zh-CN" sz="2400" b="1" baseline="-25000">
                <a:latin typeface="宋体" panose="02010600030101010101" pitchFamily="2" charset="-122"/>
              </a:rPr>
              <a:t>12</a:t>
            </a:r>
            <a:endParaRPr lang="en-US" altLang="zh-CN" sz="24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     (7) R∨S          P</a:t>
            </a:r>
            <a:endParaRPr lang="en-US" altLang="zh-CN" sz="24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     (8) S             T (6)(7) I</a:t>
            </a:r>
            <a:r>
              <a:rPr lang="en-US" altLang="zh-CN" sz="2400" b="1" baseline="-25000">
                <a:latin typeface="宋体" panose="02010600030101010101" pitchFamily="2" charset="-122"/>
              </a:rPr>
              <a:t>10</a:t>
            </a:r>
            <a:endParaRPr lang="en-US" altLang="zh-CN" sz="2400" b="1" baseline="-2500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     (9) S→</a:t>
            </a:r>
            <a:r>
              <a:rPr lang="en-US" altLang="zh-CN" sz="2400" b="1">
                <a:sym typeface="Symbol" panose="05050102010706020507" pitchFamily="18" charset="2"/>
              </a:rPr>
              <a:t></a:t>
            </a:r>
            <a:r>
              <a:rPr lang="en-US" altLang="zh-CN" sz="2400" b="1">
                <a:latin typeface="宋体" panose="02010600030101010101" pitchFamily="2" charset="-122"/>
              </a:rPr>
              <a:t>Q         P</a:t>
            </a:r>
            <a:endParaRPr lang="en-US" altLang="zh-CN" sz="24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     (10) </a:t>
            </a:r>
            <a:r>
              <a:rPr lang="en-US" altLang="zh-CN" sz="2400" b="1">
                <a:sym typeface="Symbol" panose="05050102010706020507" pitchFamily="18" charset="2"/>
              </a:rPr>
              <a:t></a:t>
            </a:r>
            <a:r>
              <a:rPr lang="en-US" altLang="zh-CN" sz="2400" b="1">
                <a:latin typeface="宋体" panose="02010600030101010101" pitchFamily="2" charset="-122"/>
              </a:rPr>
              <a:t>Q           T (8)(9) I</a:t>
            </a:r>
            <a:r>
              <a:rPr lang="en-US" altLang="zh-CN" sz="2400" b="1" baseline="-25000">
                <a:latin typeface="宋体" panose="02010600030101010101" pitchFamily="2" charset="-122"/>
              </a:rPr>
              <a:t>12</a:t>
            </a:r>
            <a:endParaRPr lang="en-US" altLang="zh-CN" sz="24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     (11) Q∧</a:t>
            </a:r>
            <a:r>
              <a:rPr lang="en-US" altLang="zh-CN" sz="2400" b="1">
                <a:sym typeface="Symbol" panose="05050102010706020507" pitchFamily="18" charset="2"/>
              </a:rPr>
              <a:t></a:t>
            </a:r>
            <a:r>
              <a:rPr lang="en-US" altLang="zh-CN" sz="2400" b="1">
                <a:latin typeface="宋体" panose="02010600030101010101" pitchFamily="2" charset="-122"/>
              </a:rPr>
              <a:t>Q        T (4)(10)I</a:t>
            </a:r>
            <a:r>
              <a:rPr lang="en-US" altLang="zh-CN" sz="2400" b="1" baseline="-25000">
                <a:latin typeface="宋体" panose="02010600030101010101" pitchFamily="2" charset="-122"/>
              </a:rPr>
              <a:t>9</a:t>
            </a:r>
            <a:endParaRPr lang="en-US" altLang="zh-CN" sz="2400" b="1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4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5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5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5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50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50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50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3" grpId="0" autoUpdateAnimBg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练习：掌握三种推理方法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18739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FF0000"/>
                </a:solidFill>
              </a:rPr>
              <a:t>47</a:t>
            </a:r>
            <a:r>
              <a:rPr lang="en-US" altLang="zh-CN" sz="2400" b="1" dirty="0">
                <a:solidFill>
                  <a:srgbClr val="FF0000"/>
                </a:solidFill>
              </a:rPr>
              <a:t>(2)c)</a:t>
            </a:r>
            <a:r>
              <a:rPr lang="en-US" altLang="zh-CN" sz="2400" b="1" dirty="0"/>
              <a:t> (A</a:t>
            </a:r>
            <a:r>
              <a:rPr lang="en-US" altLang="zh-CN" sz="2400" b="1" dirty="0">
                <a:latin typeface="宋体" panose="02010600030101010101" pitchFamily="2" charset="-122"/>
              </a:rPr>
              <a:t>∨B)</a:t>
            </a:r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(C</a:t>
            </a:r>
            <a:r>
              <a:rPr lang="en-US" altLang="zh-CN" sz="2400" b="1" dirty="0">
                <a:latin typeface="宋体" panose="02010600030101010101" pitchFamily="2" charset="-122"/>
                <a:sym typeface="Kingsoft Phonetic Plain" pitchFamily="2" charset="2"/>
              </a:rPr>
              <a:t>∧</a:t>
            </a:r>
            <a:r>
              <a:rPr lang="en-US" altLang="zh-CN" sz="2400" b="1" dirty="0"/>
              <a:t>D), (D</a:t>
            </a:r>
            <a:r>
              <a:rPr lang="en-US" altLang="zh-CN" sz="2400" b="1" dirty="0">
                <a:latin typeface="宋体" panose="02010600030101010101" pitchFamily="2" charset="-122"/>
              </a:rPr>
              <a:t>∨E)</a:t>
            </a:r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F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sz="2400" b="1" dirty="0"/>
              <a:t> A</a:t>
            </a:r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F</a:t>
            </a:r>
            <a:endParaRPr lang="en-US" altLang="zh-CN" sz="24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1.</a:t>
            </a:r>
            <a:r>
              <a:rPr lang="zh-CN" altLang="en-US" sz="2400" b="1" dirty="0">
                <a:solidFill>
                  <a:srgbClr val="FF0000"/>
                </a:solidFill>
              </a:rPr>
              <a:t>直接推理</a:t>
            </a:r>
            <a:endParaRPr lang="zh-CN" altLang="zh-CN" sz="24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   </a:t>
            </a:r>
            <a:r>
              <a:rPr lang="zh-CN" altLang="en-US" sz="2000" b="1" dirty="0">
                <a:latin typeface="Times New Roman" panose="02020603050405020304" pitchFamily="18" charset="0"/>
              </a:rPr>
              <a:t>⑴ </a:t>
            </a:r>
            <a:r>
              <a:rPr lang="en-US" altLang="zh-CN" sz="2000" b="1" dirty="0">
                <a:latin typeface="Times New Roman" panose="02020603050405020304" pitchFamily="18" charset="0"/>
              </a:rPr>
              <a:t>(A∨B)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1" dirty="0">
                <a:latin typeface="Times New Roman" panose="02020603050405020304" pitchFamily="18" charset="0"/>
              </a:rPr>
              <a:t>(C</a:t>
            </a:r>
            <a:r>
              <a:rPr lang="en-US" altLang="zh-CN" sz="2000" b="1" dirty="0">
                <a:latin typeface="Times New Roman" panose="02020603050405020304" pitchFamily="18" charset="0"/>
                <a:sym typeface="Kingsoft Phonetic Plain" pitchFamily="2" charset="2"/>
              </a:rPr>
              <a:t>∧</a:t>
            </a:r>
            <a:r>
              <a:rPr lang="en-US" altLang="zh-CN" sz="2000" b="1" dirty="0">
                <a:latin typeface="Times New Roman" panose="02020603050405020304" pitchFamily="18" charset="0"/>
              </a:rPr>
              <a:t>D)           		 P 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⑵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1" dirty="0">
                <a:latin typeface="Times New Roman" panose="02020603050405020304" pitchFamily="18" charset="0"/>
              </a:rPr>
              <a:t>(A∨B)∨(C</a:t>
            </a:r>
            <a:r>
              <a:rPr lang="en-US" altLang="zh-CN" sz="2000" b="1" dirty="0">
                <a:latin typeface="Times New Roman" panose="02020603050405020304" pitchFamily="18" charset="0"/>
                <a:sym typeface="Kingsoft Phonetic Plain" pitchFamily="2" charset="2"/>
              </a:rPr>
              <a:t>∧</a:t>
            </a:r>
            <a:r>
              <a:rPr lang="en-US" altLang="zh-CN" sz="2000" b="1" dirty="0">
                <a:latin typeface="Times New Roman" panose="02020603050405020304" pitchFamily="18" charset="0"/>
              </a:rPr>
              <a:t>D)       		 T   ⑴   E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16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⑶ (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1" dirty="0">
                <a:latin typeface="Times New Roman" panose="02020603050405020304" pitchFamily="18" charset="0"/>
              </a:rPr>
              <a:t>A</a:t>
            </a:r>
            <a:r>
              <a:rPr lang="en-US" altLang="zh-CN" sz="2000" b="1" dirty="0">
                <a:latin typeface="Times New Roman" panose="02020603050405020304" pitchFamily="18" charset="0"/>
                <a:sym typeface="Kingsoft Phonetic Plain" pitchFamily="2" charset="2"/>
              </a:rPr>
              <a:t>∧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1" dirty="0">
                <a:latin typeface="Times New Roman" panose="02020603050405020304" pitchFamily="18" charset="0"/>
              </a:rPr>
              <a:t>B)∨(C</a:t>
            </a:r>
            <a:r>
              <a:rPr lang="en-US" altLang="zh-CN" sz="2000" b="1" dirty="0">
                <a:latin typeface="Times New Roman" panose="02020603050405020304" pitchFamily="18" charset="0"/>
                <a:sym typeface="Kingsoft Phonetic Plain" pitchFamily="2" charset="2"/>
              </a:rPr>
              <a:t>∧</a:t>
            </a:r>
            <a:r>
              <a:rPr lang="en-US" altLang="zh-CN" sz="2000" b="1" dirty="0">
                <a:latin typeface="Times New Roman" panose="02020603050405020304" pitchFamily="18" charset="0"/>
              </a:rPr>
              <a:t>D)     		 T   ⑵   E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9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⑷ (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1" dirty="0">
                <a:latin typeface="Times New Roman" panose="02020603050405020304" pitchFamily="18" charset="0"/>
              </a:rPr>
              <a:t>A∨C)</a:t>
            </a:r>
            <a:r>
              <a:rPr lang="en-US" altLang="zh-CN" sz="2000" b="1" dirty="0">
                <a:latin typeface="Times New Roman" panose="02020603050405020304" pitchFamily="18" charset="0"/>
                <a:sym typeface="Kingsoft Phonetic Plain" pitchFamily="2" charset="2"/>
              </a:rPr>
              <a:t>∧(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1" dirty="0">
                <a:latin typeface="Times New Roman" panose="02020603050405020304" pitchFamily="18" charset="0"/>
              </a:rPr>
              <a:t>B∨C)</a:t>
            </a:r>
            <a:r>
              <a:rPr lang="en-US" altLang="zh-CN" sz="2000" b="1" dirty="0">
                <a:latin typeface="Times New Roman" panose="02020603050405020304" pitchFamily="18" charset="0"/>
                <a:sym typeface="Kingsoft Phonetic Plain" pitchFamily="2" charset="2"/>
              </a:rPr>
              <a:t>∧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1" dirty="0">
                <a:latin typeface="Times New Roman" panose="02020603050405020304" pitchFamily="18" charset="0"/>
              </a:rPr>
              <a:t>A∨D)</a:t>
            </a:r>
            <a:r>
              <a:rPr lang="en-US" altLang="zh-CN" sz="2000" b="1" dirty="0">
                <a:latin typeface="Times New Roman" panose="02020603050405020304" pitchFamily="18" charset="0"/>
                <a:sym typeface="Kingsoft Phonetic Plain" pitchFamily="2" charset="2"/>
              </a:rPr>
              <a:t>∧(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1" dirty="0">
                <a:latin typeface="Times New Roman" panose="02020603050405020304" pitchFamily="18" charset="0"/>
              </a:rPr>
              <a:t>B∨D)  	T ⑶ E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7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⑸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1" dirty="0">
                <a:latin typeface="Times New Roman" panose="02020603050405020304" pitchFamily="18" charset="0"/>
              </a:rPr>
              <a:t>A∨D                            	T  ⑷    I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⑹  A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D                                	T  ⑸    E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16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⑺ (D∨E)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1" dirty="0">
                <a:latin typeface="Times New Roman" panose="02020603050405020304" pitchFamily="18" charset="0"/>
              </a:rPr>
              <a:t>F                        	P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⑻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1" dirty="0">
                <a:latin typeface="Times New Roman" panose="02020603050405020304" pitchFamily="18" charset="0"/>
              </a:rPr>
              <a:t>(D∨E)∨F                   	T  ⑺    E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16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⑼ (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1" dirty="0">
                <a:latin typeface="Times New Roman" panose="02020603050405020304" pitchFamily="18" charset="0"/>
              </a:rPr>
              <a:t>D</a:t>
            </a:r>
            <a:r>
              <a:rPr lang="en-US" altLang="zh-CN" sz="2000" b="1" dirty="0">
                <a:latin typeface="Times New Roman" panose="02020603050405020304" pitchFamily="18" charset="0"/>
                <a:sym typeface="Kingsoft Phonetic Plain" pitchFamily="2" charset="2"/>
              </a:rPr>
              <a:t>∧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1" dirty="0">
                <a:latin typeface="Times New Roman" panose="02020603050405020304" pitchFamily="18" charset="0"/>
              </a:rPr>
              <a:t>E)∨F                		T  ⑻    E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9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⑽ (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1" dirty="0">
                <a:latin typeface="Times New Roman" panose="02020603050405020304" pitchFamily="18" charset="0"/>
              </a:rPr>
              <a:t>D ∨F) </a:t>
            </a:r>
            <a:r>
              <a:rPr lang="en-US" altLang="zh-CN" sz="2000" b="1" dirty="0">
                <a:latin typeface="Times New Roman" panose="02020603050405020304" pitchFamily="18" charset="0"/>
                <a:sym typeface="Kingsoft Phonetic Plain" pitchFamily="2" charset="2"/>
              </a:rPr>
              <a:t>∧(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1" dirty="0">
                <a:latin typeface="Times New Roman" panose="02020603050405020304" pitchFamily="18" charset="0"/>
              </a:rPr>
              <a:t>E∨F)     	T  ⑼    E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7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⑾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1" dirty="0">
                <a:latin typeface="Times New Roman" panose="02020603050405020304" pitchFamily="18" charset="0"/>
              </a:rPr>
              <a:t>D∨F                             	T  ⑽     I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</a:rPr>
              <a:t>   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</a:t>
            </a:r>
            <a:r>
              <a:rPr lang="en-US" altLang="zh-CN" sz="2000" b="1" dirty="0">
                <a:latin typeface="Times New Roman" panose="02020603050405020304" pitchFamily="18" charset="0"/>
              </a:rPr>
              <a:t>⑿ D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1" dirty="0">
                <a:latin typeface="Times New Roman" panose="02020603050405020304" pitchFamily="18" charset="0"/>
              </a:rPr>
              <a:t>F                                  	T  ⑾     E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16</a:t>
            </a:r>
            <a:r>
              <a:rPr lang="en-US" altLang="zh-CN" sz="2000" b="1" dirty="0">
                <a:latin typeface="Times New Roman" panose="02020603050405020304" pitchFamily="18" charset="0"/>
              </a:rPr>
              <a:t>      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⒀ A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1" dirty="0">
                <a:latin typeface="Times New Roman" panose="02020603050405020304" pitchFamily="18" charset="0"/>
              </a:rPr>
              <a:t>F                                  	T  ⑹⑿ I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13</a:t>
            </a:r>
            <a:endParaRPr lang="en-US" altLang="zh-CN" sz="2000" b="1" baseline="-25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8739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87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87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87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87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187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87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1873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1873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1873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1873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2" dur="500"/>
                                        <p:tgtEl>
                                          <p:spTgt spid="1873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5" grpId="0" autoUpdateAnimBg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841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 dirty="0"/>
              <a:t>P</a:t>
            </a:r>
            <a:r>
              <a:rPr lang="en-US" altLang="zh-CN" sz="2400" b="1" baseline="-25000" dirty="0"/>
              <a:t>47</a:t>
            </a:r>
            <a:r>
              <a:rPr lang="en-US" altLang="zh-CN" sz="2400" b="1" dirty="0"/>
              <a:t>(2)c) (A</a:t>
            </a:r>
            <a:r>
              <a:rPr lang="en-US" altLang="zh-CN" sz="2400" b="1" dirty="0">
                <a:latin typeface="宋体" panose="02010600030101010101" pitchFamily="2" charset="-122"/>
              </a:rPr>
              <a:t>∨B)</a:t>
            </a:r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(C</a:t>
            </a:r>
            <a:r>
              <a:rPr lang="en-US" altLang="zh-CN" sz="2400" b="1" dirty="0">
                <a:latin typeface="宋体" panose="02010600030101010101" pitchFamily="2" charset="-122"/>
                <a:sym typeface="Kingsoft Phonetic Plain" pitchFamily="2" charset="2"/>
              </a:rPr>
              <a:t>∧</a:t>
            </a:r>
            <a:r>
              <a:rPr lang="en-US" altLang="zh-CN" sz="2400" b="1" dirty="0"/>
              <a:t>D), (D</a:t>
            </a:r>
            <a:r>
              <a:rPr lang="en-US" altLang="zh-CN" sz="2400" b="1" dirty="0">
                <a:latin typeface="宋体" panose="02010600030101010101" pitchFamily="2" charset="-122"/>
              </a:rPr>
              <a:t>∨E)</a:t>
            </a:r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F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sz="2400" b="1" dirty="0"/>
              <a:t> A</a:t>
            </a:r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F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2.</a:t>
            </a:r>
            <a:r>
              <a:rPr lang="zh-CN" altLang="en-US" sz="2400" b="1" dirty="0">
                <a:solidFill>
                  <a:srgbClr val="FF0000"/>
                </a:solidFill>
              </a:rPr>
              <a:t>条件论证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zh-CN" altLang="en-US" sz="2400" b="1" dirty="0"/>
              <a:t>⑴　</a:t>
            </a:r>
            <a:r>
              <a:rPr lang="en-US" altLang="zh-CN" sz="2400" b="1" dirty="0"/>
              <a:t>A                              P (</a:t>
            </a:r>
            <a:r>
              <a:rPr lang="zh-CN" altLang="en-US" sz="2400" b="1" dirty="0"/>
              <a:t>附加前提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　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zh-CN" altLang="en-US" sz="2400" b="1" dirty="0"/>
              <a:t>⑵    </a:t>
            </a:r>
            <a:r>
              <a:rPr lang="en-US" altLang="zh-CN" sz="2400" b="1" dirty="0"/>
              <a:t>A∨B</a:t>
            </a:r>
            <a:r>
              <a:rPr lang="en-US" altLang="zh-CN" sz="2400" b="1" dirty="0">
                <a:latin typeface="宋体" panose="02010600030101010101" pitchFamily="2" charset="-122"/>
              </a:rPr>
              <a:t>           	</a:t>
            </a:r>
            <a:r>
              <a:rPr lang="en-US" altLang="zh-CN" sz="2400" b="1" dirty="0"/>
              <a:t>T</a:t>
            </a:r>
            <a:r>
              <a:rPr lang="en-US" altLang="zh-CN" sz="2400" b="1" dirty="0">
                <a:latin typeface="宋体" panose="02010600030101010101" pitchFamily="2" charset="-122"/>
              </a:rPr>
              <a:t>  ⑴   I</a:t>
            </a:r>
            <a:r>
              <a:rPr lang="en-US" altLang="zh-CN" sz="2400" b="1" baseline="-25000" dirty="0"/>
              <a:t>3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⑶    (A∨B)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(C</a:t>
            </a:r>
            <a:r>
              <a:rPr lang="en-US" altLang="zh-CN" sz="2400" b="1" dirty="0">
                <a:sym typeface="Kingsoft Phonetic Plain" pitchFamily="2" charset="2"/>
              </a:rPr>
              <a:t>∧</a:t>
            </a:r>
            <a:r>
              <a:rPr lang="en-US" altLang="zh-CN" sz="2400" b="1" dirty="0"/>
              <a:t>D)  	P 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⑷    C</a:t>
            </a:r>
            <a:r>
              <a:rPr lang="en-US" altLang="zh-CN" sz="2400" b="1" dirty="0">
                <a:sym typeface="Kingsoft Phonetic Plain" pitchFamily="2" charset="2"/>
              </a:rPr>
              <a:t>∧</a:t>
            </a:r>
            <a:r>
              <a:rPr lang="en-US" altLang="zh-CN" sz="2400" b="1" dirty="0"/>
              <a:t>D                  	T   ⑵⑶   I</a:t>
            </a:r>
            <a:r>
              <a:rPr lang="en-US" altLang="zh-CN" sz="2400" b="1" baseline="-25000" dirty="0"/>
              <a:t>11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⑸    D                         	T   ⑷       I</a:t>
            </a:r>
            <a:r>
              <a:rPr lang="en-US" altLang="zh-CN" sz="2400" b="1" baseline="-25000" dirty="0"/>
              <a:t>2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⑹    D∨E</a:t>
            </a:r>
            <a:r>
              <a:rPr lang="en-US" altLang="zh-CN" sz="2400" b="1" dirty="0">
                <a:latin typeface="宋体" panose="02010600030101010101" pitchFamily="2" charset="-122"/>
              </a:rPr>
              <a:t>         	</a:t>
            </a:r>
            <a:r>
              <a:rPr lang="en-US" altLang="zh-CN" sz="2400" b="1" dirty="0"/>
              <a:t>T</a:t>
            </a:r>
            <a:r>
              <a:rPr lang="en-US" altLang="zh-CN" sz="2400" b="1" dirty="0">
                <a:latin typeface="宋体" panose="02010600030101010101" pitchFamily="2" charset="-122"/>
              </a:rPr>
              <a:t>  ⑸   I</a:t>
            </a:r>
            <a:r>
              <a:rPr lang="en-US" altLang="zh-CN" sz="2400" b="1" baseline="-25000" dirty="0"/>
              <a:t>3</a:t>
            </a:r>
            <a:r>
              <a:rPr lang="en-US" altLang="zh-CN" sz="2400" b="1" dirty="0">
                <a:latin typeface="宋体" panose="02010600030101010101" pitchFamily="2" charset="-122"/>
              </a:rPr>
              <a:t> 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⑺    (D∨E)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F        	P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⑻     F                        	T   ⑹⑺   I</a:t>
            </a:r>
            <a:r>
              <a:rPr lang="en-US" altLang="zh-CN" sz="2400" b="1" baseline="-25000" dirty="0"/>
              <a:t>11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⑼     A</a:t>
            </a:r>
            <a:r>
              <a:rPr lang="en-US" altLang="zh-CN" sz="2400" b="1" dirty="0">
                <a:sym typeface="Symbol" panose="05050102010706020507" pitchFamily="18" charset="2"/>
              </a:rPr>
              <a:t>F</a:t>
            </a:r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  		</a:t>
            </a:r>
            <a:r>
              <a:rPr lang="en-US" altLang="zh-CN" sz="2400" b="1" dirty="0">
                <a:sym typeface="Symbol" panose="05050102010706020507" pitchFamily="18" charset="2"/>
              </a:rPr>
              <a:t>CP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zh-CN" altLang="zh-CN" sz="2400" b="1" dirty="0"/>
              <a:t>显然此方法比直接推理简单。</a:t>
            </a:r>
            <a:endParaRPr lang="zh-CN" altLang="en-US" sz="2400" b="1" dirty="0"/>
          </a:p>
        </p:txBody>
      </p:sp>
    </p:spTree>
  </p:cSld>
  <p:clrMapOvr>
    <a:masterClrMapping/>
  </p:clrMapOvr>
  <p:transition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884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88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188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88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188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1884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9" grpId="0" autoUpdateAnimBg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944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P</a:t>
            </a:r>
            <a:r>
              <a:rPr lang="en-US" altLang="zh-CN" sz="2400" b="1" baseline="-25000" dirty="0"/>
              <a:t>47</a:t>
            </a:r>
            <a:r>
              <a:rPr lang="en-US" altLang="zh-CN" sz="2400" b="1" dirty="0"/>
              <a:t>(2)c) (A</a:t>
            </a:r>
            <a:r>
              <a:rPr lang="en-US" altLang="zh-CN" sz="2400" b="1" dirty="0">
                <a:latin typeface="宋体" panose="02010600030101010101" pitchFamily="2" charset="-122"/>
              </a:rPr>
              <a:t>∨B)</a:t>
            </a:r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(C</a:t>
            </a:r>
            <a:r>
              <a:rPr lang="en-US" altLang="zh-CN" sz="2400" b="1" dirty="0">
                <a:latin typeface="宋体" panose="02010600030101010101" pitchFamily="2" charset="-122"/>
                <a:sym typeface="Kingsoft Phonetic Plain" pitchFamily="2" charset="2"/>
              </a:rPr>
              <a:t>∧</a:t>
            </a:r>
            <a:r>
              <a:rPr lang="en-US" altLang="zh-CN" sz="2400" b="1" dirty="0"/>
              <a:t>D), (D</a:t>
            </a:r>
            <a:r>
              <a:rPr lang="en-US" altLang="zh-CN" sz="2400" b="1" dirty="0">
                <a:latin typeface="宋体" panose="02010600030101010101" pitchFamily="2" charset="-122"/>
              </a:rPr>
              <a:t>∨E)</a:t>
            </a:r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F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sz="2400" b="1" dirty="0"/>
              <a:t> A</a:t>
            </a:r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F</a:t>
            </a:r>
            <a:endParaRPr lang="en-US" altLang="zh-CN" sz="24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3.</a:t>
            </a:r>
            <a:r>
              <a:rPr lang="zh-CN" altLang="en-US" sz="2400" b="1" dirty="0">
                <a:solidFill>
                  <a:srgbClr val="FF0000"/>
                </a:solidFill>
              </a:rPr>
              <a:t>反证法</a:t>
            </a:r>
            <a:endParaRPr lang="zh-CN" altLang="en-US" sz="24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000" b="1" dirty="0"/>
              <a:t>⑴    </a:t>
            </a:r>
            <a:r>
              <a:rPr lang="zh-CN" altLang="en-US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dirty="0"/>
              <a:t>(A</a:t>
            </a:r>
            <a:r>
              <a:rPr lang="en-US" altLang="zh-CN" sz="2000" b="1" dirty="0">
                <a:sym typeface="Symbol" panose="05050102010706020507" pitchFamily="18" charset="2"/>
              </a:rPr>
              <a:t>F)      		P</a:t>
            </a:r>
            <a:r>
              <a:rPr lang="en-US" altLang="zh-CN" sz="2000" b="1" dirty="0">
                <a:latin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zh-CN" altLang="zh-CN" sz="2000" b="1" dirty="0">
                <a:latin typeface="宋体" panose="02010600030101010101" pitchFamily="2" charset="-122"/>
                <a:sym typeface="Symbol" panose="05050102010706020507" pitchFamily="18" charset="2"/>
              </a:rPr>
              <a:t>假设前提</a:t>
            </a:r>
            <a:r>
              <a:rPr lang="en-US" altLang="zh-CN" sz="2000" b="1" dirty="0">
                <a:latin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⑵    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dirty="0"/>
              <a:t>(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dirty="0"/>
              <a:t>A∨F)              	T</a:t>
            </a:r>
            <a:r>
              <a:rPr lang="en-US" altLang="zh-CN" sz="2000" b="1" dirty="0">
                <a:latin typeface="宋体" panose="02010600030101010101" pitchFamily="2" charset="-122"/>
              </a:rPr>
              <a:t>  </a:t>
            </a:r>
            <a:r>
              <a:rPr lang="en-US" altLang="zh-CN" sz="2000" b="1" dirty="0"/>
              <a:t>⑴   </a:t>
            </a:r>
            <a:r>
              <a:rPr lang="en-US" altLang="zh-CN" sz="2000" b="1" dirty="0">
                <a:latin typeface="Times New Roman" panose="02020603050405020304" pitchFamily="18" charset="0"/>
              </a:rPr>
              <a:t>E</a:t>
            </a:r>
            <a:r>
              <a:rPr lang="en-US" altLang="zh-CN" sz="2000" b="1" baseline="-25000" dirty="0">
                <a:latin typeface="宋体" panose="02010600030101010101" pitchFamily="2" charset="-122"/>
              </a:rPr>
              <a:t>16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⑶    A</a:t>
            </a:r>
            <a:r>
              <a:rPr lang="en-US" altLang="zh-CN" sz="2000" b="1" dirty="0">
                <a:sym typeface="Kingsoft Phonetic Plain" pitchFamily="2" charset="2"/>
              </a:rPr>
              <a:t>∧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dirty="0"/>
              <a:t>F                   	T   ⑵   </a:t>
            </a:r>
            <a:r>
              <a:rPr lang="en-US" altLang="zh-CN" sz="2000" b="1" dirty="0">
                <a:latin typeface="Times New Roman" panose="02020603050405020304" pitchFamily="18" charset="0"/>
              </a:rPr>
              <a:t>E</a:t>
            </a:r>
            <a:r>
              <a:rPr lang="en-US" altLang="zh-CN" sz="2000" b="1" baseline="-25000" dirty="0"/>
              <a:t>9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⑷    A                            	T   ⑶    </a:t>
            </a:r>
            <a:r>
              <a:rPr lang="en-US" altLang="zh-CN" sz="2000" b="1" dirty="0">
                <a:latin typeface="Times New Roman" panose="02020603050405020304" pitchFamily="18" charset="0"/>
              </a:rPr>
              <a:t>I</a:t>
            </a:r>
            <a:r>
              <a:rPr lang="en-US" altLang="zh-CN" sz="2000" b="1" baseline="-25000" dirty="0"/>
              <a:t>1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⑸    A∨B                      	T</a:t>
            </a:r>
            <a:r>
              <a:rPr lang="en-US" altLang="zh-CN" sz="2000" b="1" dirty="0">
                <a:latin typeface="宋体" panose="02010600030101010101" pitchFamily="2" charset="-122"/>
              </a:rPr>
              <a:t>  </a:t>
            </a:r>
            <a:r>
              <a:rPr lang="en-US" altLang="zh-CN" sz="2000" b="1" dirty="0"/>
              <a:t>⑴   </a:t>
            </a:r>
            <a:r>
              <a:rPr lang="en-US" altLang="zh-CN" sz="2000" b="1" dirty="0">
                <a:latin typeface="Times New Roman" panose="02020603050405020304" pitchFamily="18" charset="0"/>
              </a:rPr>
              <a:t>I</a:t>
            </a:r>
            <a:r>
              <a:rPr lang="en-US" altLang="zh-CN" sz="2000" b="1" baseline="-25000" dirty="0"/>
              <a:t>3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⑹    (A∨B)</a:t>
            </a:r>
            <a:r>
              <a:rPr lang="en-US" altLang="zh-CN" sz="2000" b="1" dirty="0">
                <a:sym typeface="Symbol" panose="05050102010706020507" pitchFamily="18" charset="2"/>
              </a:rPr>
              <a:t></a:t>
            </a:r>
            <a:r>
              <a:rPr lang="en-US" altLang="zh-CN" sz="2000" b="1" dirty="0"/>
              <a:t>(C</a:t>
            </a:r>
            <a:r>
              <a:rPr lang="en-US" altLang="zh-CN" sz="2000" b="1" dirty="0">
                <a:sym typeface="Kingsoft Phonetic Plain" pitchFamily="2" charset="2"/>
              </a:rPr>
              <a:t>∧</a:t>
            </a:r>
            <a:r>
              <a:rPr lang="en-US" altLang="zh-CN" sz="2000" b="1" dirty="0"/>
              <a:t>D)      	P 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⑺    C</a:t>
            </a:r>
            <a:r>
              <a:rPr lang="en-US" altLang="zh-CN" sz="2000" b="1" dirty="0">
                <a:sym typeface="Kingsoft Phonetic Plain" pitchFamily="2" charset="2"/>
              </a:rPr>
              <a:t>∧</a:t>
            </a:r>
            <a:r>
              <a:rPr lang="en-US" altLang="zh-CN" sz="2000" b="1" dirty="0"/>
              <a:t>D                      	T   ⑵⑶ </a:t>
            </a:r>
            <a:r>
              <a:rPr lang="en-US" altLang="zh-CN" sz="2000" b="1" dirty="0">
                <a:latin typeface="Times New Roman" panose="02020603050405020304" pitchFamily="18" charset="0"/>
              </a:rPr>
              <a:t>I</a:t>
            </a:r>
            <a:r>
              <a:rPr lang="en-US" altLang="zh-CN" sz="2000" b="1" baseline="-25000" dirty="0"/>
              <a:t>11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⑻    D                             	T  ⑷     </a:t>
            </a:r>
            <a:r>
              <a:rPr lang="en-US" altLang="zh-CN" sz="2000" b="1" dirty="0">
                <a:latin typeface="Times New Roman" panose="02020603050405020304" pitchFamily="18" charset="0"/>
              </a:rPr>
              <a:t>I</a:t>
            </a:r>
            <a:r>
              <a:rPr lang="en-US" altLang="zh-CN" sz="2000" b="1" baseline="-25000" dirty="0"/>
              <a:t>2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⑼    D∨E                       	T</a:t>
            </a:r>
            <a:r>
              <a:rPr lang="en-US" altLang="zh-CN" sz="2000" b="1" dirty="0">
                <a:latin typeface="宋体" panose="02010600030101010101" pitchFamily="2" charset="-122"/>
              </a:rPr>
              <a:t> ⑸   </a:t>
            </a:r>
            <a:r>
              <a:rPr lang="en-US" altLang="zh-CN" sz="2000" b="1" dirty="0">
                <a:latin typeface="Times New Roman" panose="02020603050405020304" pitchFamily="18" charset="0"/>
              </a:rPr>
              <a:t>I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⑽    (D</a:t>
            </a:r>
            <a:r>
              <a:rPr lang="en-US" altLang="zh-CN" sz="2000" b="1" dirty="0">
                <a:latin typeface="宋体" panose="02010600030101010101" pitchFamily="2" charset="-122"/>
              </a:rPr>
              <a:t>∨</a:t>
            </a:r>
            <a:r>
              <a:rPr lang="en-US" altLang="zh-CN" sz="2000" b="1" dirty="0"/>
              <a:t>E)</a:t>
            </a:r>
            <a:r>
              <a:rPr lang="en-US" altLang="zh-CN" sz="2000" b="1" dirty="0"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b="1" dirty="0"/>
              <a:t>F                	P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⑾    F                              	T   ⑹⑺ </a:t>
            </a:r>
            <a:r>
              <a:rPr lang="en-US" altLang="zh-CN" sz="2000" b="1" dirty="0">
                <a:latin typeface="Times New Roman" panose="02020603050405020304" pitchFamily="18" charset="0"/>
              </a:rPr>
              <a:t>I</a:t>
            </a:r>
            <a:r>
              <a:rPr lang="en-US" altLang="zh-CN" sz="2000" b="1" baseline="-25000" dirty="0"/>
              <a:t>11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⑿    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dirty="0"/>
              <a:t>F                           	T  ⑶     </a:t>
            </a:r>
            <a:r>
              <a:rPr lang="en-US" altLang="zh-CN" sz="2000" b="1" dirty="0">
                <a:latin typeface="Times New Roman" panose="02020603050405020304" pitchFamily="18" charset="0"/>
              </a:rPr>
              <a:t>I</a:t>
            </a:r>
            <a:r>
              <a:rPr lang="en-US" altLang="zh-CN" sz="2000" b="1" baseline="-25000" dirty="0"/>
              <a:t>2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⒀   F</a:t>
            </a:r>
            <a:r>
              <a:rPr lang="en-US" altLang="zh-CN" sz="2000" b="1" dirty="0">
                <a:sym typeface="Kingsoft Phonetic Plain" pitchFamily="2" charset="2"/>
              </a:rPr>
              <a:t>∧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dirty="0"/>
              <a:t>F                      	T  ⑾ ⑿ </a:t>
            </a:r>
            <a:r>
              <a:rPr lang="en-US" altLang="zh-CN" sz="2000" b="1" dirty="0">
                <a:latin typeface="Times New Roman" panose="02020603050405020304" pitchFamily="18" charset="0"/>
              </a:rPr>
              <a:t>I</a:t>
            </a:r>
            <a:r>
              <a:rPr lang="en-US" altLang="zh-CN" sz="2000" b="1" baseline="-25000" dirty="0"/>
              <a:t>9     </a:t>
            </a:r>
            <a:endParaRPr lang="en-US" altLang="zh-CN" sz="2000" b="1" baseline="-250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000" b="1" dirty="0"/>
              <a:t>可见此法也比较简单</a:t>
            </a:r>
            <a:endParaRPr lang="zh-CN" altLang="en-US" sz="2000" b="1" dirty="0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8944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89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189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1894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1894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1894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2" dur="500"/>
                                        <p:tgtEl>
                                          <p:spTgt spid="1894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7" dur="500"/>
                                        <p:tgtEl>
                                          <p:spTgt spid="1894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3" grpId="0" autoUpdateAnimBg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0290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/>
              <a:t>本节要</a:t>
            </a:r>
            <a:r>
              <a:rPr lang="zh-CN" altLang="en-US">
                <a:solidFill>
                  <a:srgbClr val="FF0000"/>
                </a:solidFill>
              </a:rPr>
              <a:t>掌握三种推理方法</a:t>
            </a:r>
            <a:r>
              <a:rPr lang="zh-CN" altLang="en-US"/>
              <a:t>，按照所要求格式正确地书写推理过程。</a:t>
            </a:r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作业</a:t>
            </a:r>
            <a:endParaRPr lang="zh-CN" altLang="en-US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/>
              <a:t>   第</a:t>
            </a:r>
            <a:r>
              <a:rPr lang="en-US" altLang="zh-CN"/>
              <a:t>47</a:t>
            </a:r>
            <a:r>
              <a:rPr lang="zh-CN" altLang="en-US"/>
              <a:t>页： </a:t>
            </a:r>
            <a:r>
              <a:rPr lang="en-US" altLang="zh-CN"/>
              <a:t>(2)  b) , e)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                   (3)  b) , c)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                   (4)  a) , c)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                   (5)  c)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第一章  小结</a:t>
            </a:r>
            <a:endParaRPr lang="zh-CN" altLang="en-US" b="1">
              <a:latin typeface="宋体" panose="02010600030101010101" pitchFamily="2" charset="-122"/>
            </a:endParaRPr>
          </a:p>
        </p:txBody>
      </p:sp>
      <p:sp>
        <p:nvSpPr>
          <p:cNvPr id="15360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</a:rPr>
              <a:t>知识网络</a:t>
            </a:r>
            <a:r>
              <a:rPr lang="zh-CN" altLang="en-US" sz="2400" b="1"/>
              <a:t>：</a:t>
            </a:r>
            <a:endParaRPr lang="zh-CN" altLang="en-US" b="1"/>
          </a:p>
          <a:p>
            <a:pPr eaLnBrk="1" hangingPunct="1"/>
            <a:endParaRPr lang="zh-CN" altLang="en-US" b="1"/>
          </a:p>
          <a:p>
            <a:pPr eaLnBrk="1" hangingPunct="1"/>
            <a:endParaRPr lang="zh-CN" altLang="en-US" b="1"/>
          </a:p>
          <a:p>
            <a:pPr eaLnBrk="1" hangingPunct="1"/>
            <a:endParaRPr lang="zh-CN" altLang="en-US" b="1"/>
          </a:p>
          <a:p>
            <a:pPr eaLnBrk="1" hangingPunct="1"/>
            <a:endParaRPr lang="zh-CN" altLang="en-US" b="1"/>
          </a:p>
          <a:p>
            <a:pPr eaLnBrk="1" hangingPunct="1"/>
            <a:endParaRPr lang="zh-CN" altLang="en-US" b="1"/>
          </a:p>
          <a:p>
            <a:pPr eaLnBrk="1" hangingPunct="1"/>
            <a:endParaRPr lang="zh-CN" altLang="en-US" b="1"/>
          </a:p>
          <a:p>
            <a:pPr eaLnBrk="1" hangingPunct="1">
              <a:buFontTx/>
              <a:buNone/>
            </a:pPr>
            <a:endParaRPr lang="en-US" altLang="zh-CN" b="1"/>
          </a:p>
        </p:txBody>
      </p:sp>
      <p:sp>
        <p:nvSpPr>
          <p:cNvPr id="196612" name="Text Box 4"/>
          <p:cNvSpPr txBox="1">
            <a:spLocks noChangeArrowheads="1"/>
          </p:cNvSpPr>
          <p:nvPr/>
        </p:nvSpPr>
        <p:spPr bwMode="auto">
          <a:xfrm>
            <a:off x="2895600" y="1143001"/>
            <a:ext cx="1066800" cy="46164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命   题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13" name="Text Box 5"/>
          <p:cNvSpPr txBox="1">
            <a:spLocks noChangeArrowheads="1"/>
          </p:cNvSpPr>
          <p:nvPr/>
        </p:nvSpPr>
        <p:spPr bwMode="auto">
          <a:xfrm>
            <a:off x="1676400" y="1828801"/>
            <a:ext cx="1524000" cy="46164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原子命题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14" name="Text Box 6"/>
          <p:cNvSpPr txBox="1">
            <a:spLocks noChangeArrowheads="1"/>
          </p:cNvSpPr>
          <p:nvPr/>
        </p:nvSpPr>
        <p:spPr bwMode="auto">
          <a:xfrm>
            <a:off x="3657600" y="1828801"/>
            <a:ext cx="1600200" cy="46164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复合命题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16" name="Text Box 8"/>
          <p:cNvSpPr txBox="1">
            <a:spLocks noChangeArrowheads="1"/>
          </p:cNvSpPr>
          <p:nvPr/>
        </p:nvSpPr>
        <p:spPr bwMode="auto">
          <a:xfrm>
            <a:off x="3733800" y="2438401"/>
            <a:ext cx="1219200" cy="46164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联结词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17" name="Text Box 9"/>
          <p:cNvSpPr txBox="1">
            <a:spLocks noChangeArrowheads="1"/>
          </p:cNvSpPr>
          <p:nvPr/>
        </p:nvSpPr>
        <p:spPr bwMode="auto">
          <a:xfrm>
            <a:off x="2590800" y="3124201"/>
            <a:ext cx="1524000" cy="46164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命题公式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20" name="Text Box 12"/>
          <p:cNvSpPr txBox="1">
            <a:spLocks noChangeArrowheads="1"/>
          </p:cNvSpPr>
          <p:nvPr/>
        </p:nvSpPr>
        <p:spPr bwMode="auto">
          <a:xfrm>
            <a:off x="2819400" y="3733800"/>
            <a:ext cx="1143000" cy="4638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984" tIns="46792" rIns="89984" bIns="4679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永真式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22" name="Text Box 14"/>
          <p:cNvSpPr txBox="1">
            <a:spLocks noChangeArrowheads="1"/>
          </p:cNvSpPr>
          <p:nvPr/>
        </p:nvSpPr>
        <p:spPr bwMode="auto">
          <a:xfrm>
            <a:off x="1828800" y="4495801"/>
            <a:ext cx="1752600" cy="4638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984" tIns="46792" rIns="89984" bIns="4679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永真蕴涵式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23" name="Text Box 15"/>
          <p:cNvSpPr txBox="1">
            <a:spLocks noChangeArrowheads="1"/>
          </p:cNvSpPr>
          <p:nvPr/>
        </p:nvSpPr>
        <p:spPr bwMode="auto">
          <a:xfrm>
            <a:off x="3886200" y="4495801"/>
            <a:ext cx="1524000" cy="4638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984" tIns="46792" rIns="89984" bIns="4679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等价公式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25" name="Text Box 17"/>
          <p:cNvSpPr txBox="1">
            <a:spLocks noChangeArrowheads="1"/>
          </p:cNvSpPr>
          <p:nvPr/>
        </p:nvSpPr>
        <p:spPr bwMode="auto">
          <a:xfrm>
            <a:off x="5867401" y="4495801"/>
            <a:ext cx="914400" cy="4638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984" tIns="46792" rIns="89984" bIns="4679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范式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26" name="Text Box 18"/>
          <p:cNvSpPr txBox="1">
            <a:spLocks noChangeArrowheads="1"/>
          </p:cNvSpPr>
          <p:nvPr/>
        </p:nvSpPr>
        <p:spPr bwMode="auto">
          <a:xfrm>
            <a:off x="2667000" y="5181600"/>
            <a:ext cx="2057400" cy="4638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984" tIns="46792" rIns="89984" bIns="4679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命题逻辑推理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27" name="Text Box 19"/>
          <p:cNvSpPr txBox="1">
            <a:spLocks noChangeArrowheads="1"/>
          </p:cNvSpPr>
          <p:nvPr/>
        </p:nvSpPr>
        <p:spPr bwMode="auto">
          <a:xfrm>
            <a:off x="2057401" y="5867400"/>
            <a:ext cx="1447800" cy="46383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984" tIns="46792" rIns="89984" bIns="4679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直接推理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28" name="Text Box 20"/>
          <p:cNvSpPr txBox="1">
            <a:spLocks noChangeArrowheads="1"/>
          </p:cNvSpPr>
          <p:nvPr/>
        </p:nvSpPr>
        <p:spPr bwMode="auto">
          <a:xfrm>
            <a:off x="3962400" y="5867400"/>
            <a:ext cx="1524000" cy="4638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984" tIns="46792" rIns="89984" bIns="4679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间接推理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29" name="Text Box 21"/>
          <p:cNvSpPr txBox="1">
            <a:spLocks noChangeArrowheads="1"/>
          </p:cNvSpPr>
          <p:nvPr/>
        </p:nvSpPr>
        <p:spPr bwMode="auto">
          <a:xfrm>
            <a:off x="5715000" y="5410200"/>
            <a:ext cx="1447800" cy="4638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984" tIns="46792" rIns="89984" bIns="4679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条件论证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30" name="Text Box 22"/>
          <p:cNvSpPr txBox="1">
            <a:spLocks noChangeArrowheads="1"/>
          </p:cNvSpPr>
          <p:nvPr/>
        </p:nvSpPr>
        <p:spPr bwMode="auto">
          <a:xfrm>
            <a:off x="5715000" y="6096000"/>
            <a:ext cx="1447800" cy="4638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984" tIns="46792" rIns="89984" bIns="4679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反证法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31" name="Line 23"/>
          <p:cNvSpPr>
            <a:spLocks noChangeShapeType="1"/>
          </p:cNvSpPr>
          <p:nvPr/>
        </p:nvSpPr>
        <p:spPr bwMode="auto">
          <a:xfrm flipH="1">
            <a:off x="2438401" y="1600201"/>
            <a:ext cx="685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984" tIns="46792" rIns="89984" bIns="46792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32" name="Line 24"/>
          <p:cNvSpPr>
            <a:spLocks noChangeShapeType="1"/>
          </p:cNvSpPr>
          <p:nvPr/>
        </p:nvSpPr>
        <p:spPr bwMode="auto">
          <a:xfrm>
            <a:off x="3733800" y="1600201"/>
            <a:ext cx="609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984" tIns="46792" rIns="89984" bIns="46792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33" name="Line 25"/>
          <p:cNvSpPr>
            <a:spLocks noChangeShapeType="1"/>
          </p:cNvSpPr>
          <p:nvPr/>
        </p:nvSpPr>
        <p:spPr bwMode="auto">
          <a:xfrm>
            <a:off x="4343400" y="2286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89984" tIns="46792" rIns="89984" bIns="46792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34" name="Line 26"/>
          <p:cNvSpPr>
            <a:spLocks noChangeShapeType="1"/>
          </p:cNvSpPr>
          <p:nvPr/>
        </p:nvSpPr>
        <p:spPr bwMode="auto">
          <a:xfrm>
            <a:off x="2438401" y="22860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89984" tIns="46792" rIns="89984" bIns="46792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35" name="Line 27"/>
          <p:cNvSpPr>
            <a:spLocks noChangeShapeType="1"/>
          </p:cNvSpPr>
          <p:nvPr/>
        </p:nvSpPr>
        <p:spPr bwMode="auto">
          <a:xfrm flipH="1">
            <a:off x="3657600" y="2895600"/>
            <a:ext cx="685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89984" tIns="46792" rIns="89984" bIns="46792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36" name="Line 28"/>
          <p:cNvSpPr>
            <a:spLocks noChangeShapeType="1"/>
          </p:cNvSpPr>
          <p:nvPr/>
        </p:nvSpPr>
        <p:spPr bwMode="auto">
          <a:xfrm>
            <a:off x="3352800" y="3581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89984" tIns="46792" rIns="89984" bIns="46792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37" name="Line 29"/>
          <p:cNvSpPr>
            <a:spLocks noChangeShapeType="1"/>
          </p:cNvSpPr>
          <p:nvPr/>
        </p:nvSpPr>
        <p:spPr bwMode="auto">
          <a:xfrm flipH="1">
            <a:off x="2743200" y="41910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89984" tIns="46792" rIns="89984" bIns="46792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38" name="Line 30"/>
          <p:cNvSpPr>
            <a:spLocks noChangeShapeType="1"/>
          </p:cNvSpPr>
          <p:nvPr/>
        </p:nvSpPr>
        <p:spPr bwMode="auto">
          <a:xfrm>
            <a:off x="3581400" y="41910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89984" tIns="46792" rIns="89984" bIns="46792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39" name="Line 31"/>
          <p:cNvSpPr>
            <a:spLocks noChangeShapeType="1"/>
          </p:cNvSpPr>
          <p:nvPr/>
        </p:nvSpPr>
        <p:spPr bwMode="auto">
          <a:xfrm>
            <a:off x="2971800" y="4953001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89984" tIns="46792" rIns="89984" bIns="46792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40" name="Line 32"/>
          <p:cNvSpPr>
            <a:spLocks noChangeShapeType="1"/>
          </p:cNvSpPr>
          <p:nvPr/>
        </p:nvSpPr>
        <p:spPr bwMode="auto">
          <a:xfrm flipH="1">
            <a:off x="4038600" y="4953001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89984" tIns="46792" rIns="89984" bIns="46792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41" name="Line 33"/>
          <p:cNvSpPr>
            <a:spLocks noChangeShapeType="1"/>
          </p:cNvSpPr>
          <p:nvPr/>
        </p:nvSpPr>
        <p:spPr bwMode="auto">
          <a:xfrm flipH="1">
            <a:off x="2819400" y="5638801"/>
            <a:ext cx="762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89984" tIns="46792" rIns="89984" bIns="46792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42" name="Line 34"/>
          <p:cNvSpPr>
            <a:spLocks noChangeShapeType="1"/>
          </p:cNvSpPr>
          <p:nvPr/>
        </p:nvSpPr>
        <p:spPr bwMode="auto">
          <a:xfrm>
            <a:off x="4114800" y="5638801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89984" tIns="46792" rIns="89984" bIns="46792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43" name="Line 35"/>
          <p:cNvSpPr>
            <a:spLocks noChangeShapeType="1"/>
          </p:cNvSpPr>
          <p:nvPr/>
        </p:nvSpPr>
        <p:spPr bwMode="auto">
          <a:xfrm flipV="1">
            <a:off x="5486400" y="5638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89984" tIns="46792" rIns="89984" bIns="46792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44" name="Line 36"/>
          <p:cNvSpPr>
            <a:spLocks noChangeShapeType="1"/>
          </p:cNvSpPr>
          <p:nvPr/>
        </p:nvSpPr>
        <p:spPr bwMode="auto">
          <a:xfrm>
            <a:off x="5486400" y="6019801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89984" tIns="46792" rIns="89984" bIns="46792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45" name="Line 37"/>
          <p:cNvSpPr>
            <a:spLocks noChangeShapeType="1"/>
          </p:cNvSpPr>
          <p:nvPr/>
        </p:nvSpPr>
        <p:spPr bwMode="auto">
          <a:xfrm>
            <a:off x="5410200" y="4724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89984" tIns="46792" rIns="89984" bIns="46792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47" name="Text Box 39"/>
          <p:cNvSpPr txBox="1">
            <a:spLocks noChangeArrowheads="1"/>
          </p:cNvSpPr>
          <p:nvPr/>
        </p:nvSpPr>
        <p:spPr bwMode="auto">
          <a:xfrm>
            <a:off x="7162800" y="3581400"/>
            <a:ext cx="914400" cy="4022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984" tIns="46792" rIns="89984" bIns="4679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析取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48" name="Text Box 40"/>
          <p:cNvSpPr txBox="1">
            <a:spLocks noChangeArrowheads="1"/>
          </p:cNvSpPr>
          <p:nvPr/>
        </p:nvSpPr>
        <p:spPr bwMode="auto">
          <a:xfrm>
            <a:off x="7162800" y="4038600"/>
            <a:ext cx="914400" cy="4022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984" tIns="46792" rIns="89984" bIns="4679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合取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49" name="Text Box 41"/>
          <p:cNvSpPr txBox="1">
            <a:spLocks noChangeArrowheads="1"/>
          </p:cNvSpPr>
          <p:nvPr/>
        </p:nvSpPr>
        <p:spPr bwMode="auto">
          <a:xfrm>
            <a:off x="7086600" y="4495800"/>
            <a:ext cx="1066800" cy="4022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984" tIns="46792" rIns="89984" bIns="4679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主析取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50" name="Text Box 42"/>
          <p:cNvSpPr txBox="1">
            <a:spLocks noChangeArrowheads="1"/>
          </p:cNvSpPr>
          <p:nvPr/>
        </p:nvSpPr>
        <p:spPr bwMode="auto">
          <a:xfrm>
            <a:off x="7086600" y="4953000"/>
            <a:ext cx="1066800" cy="4022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984" tIns="46792" rIns="89984" bIns="4679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主合取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51" name="Line 43"/>
          <p:cNvSpPr>
            <a:spLocks noChangeShapeType="1"/>
          </p:cNvSpPr>
          <p:nvPr/>
        </p:nvSpPr>
        <p:spPr bwMode="auto">
          <a:xfrm>
            <a:off x="6781800" y="4724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984" tIns="46792" rIns="89984" bIns="46792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52" name="Line 44"/>
          <p:cNvSpPr>
            <a:spLocks noChangeShapeType="1"/>
          </p:cNvSpPr>
          <p:nvPr/>
        </p:nvSpPr>
        <p:spPr bwMode="auto">
          <a:xfrm flipV="1">
            <a:off x="6781800" y="38100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984" tIns="46792" rIns="89984" bIns="46792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53" name="Line 45"/>
          <p:cNvSpPr>
            <a:spLocks noChangeShapeType="1"/>
          </p:cNvSpPr>
          <p:nvPr/>
        </p:nvSpPr>
        <p:spPr bwMode="auto">
          <a:xfrm flipV="1">
            <a:off x="6781800" y="42672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984" tIns="46792" rIns="89984" bIns="46792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6654" name="Line 46"/>
          <p:cNvSpPr>
            <a:spLocks noChangeShapeType="1"/>
          </p:cNvSpPr>
          <p:nvPr/>
        </p:nvSpPr>
        <p:spPr bwMode="auto">
          <a:xfrm>
            <a:off x="6781800" y="4876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984" tIns="46792" rIns="89984" bIns="46792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9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6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6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9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6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6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9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96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9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96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9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9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9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9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9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9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9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9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9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9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9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0" dur="500"/>
                                        <p:tgtEl>
                                          <p:spTgt spid="19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9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9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196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19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19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19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19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19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2" grpId="0" bldLvl="0" animBg="1" autoUpdateAnimBg="0"/>
      <p:bldP spid="196613" grpId="0" bldLvl="0" animBg="1" autoUpdateAnimBg="0"/>
      <p:bldP spid="196614" grpId="0" bldLvl="0" animBg="1" autoUpdateAnimBg="0"/>
      <p:bldP spid="196616" grpId="0" bldLvl="0" animBg="1" autoUpdateAnimBg="0"/>
      <p:bldP spid="196617" grpId="0" bldLvl="0" animBg="1" autoUpdateAnimBg="0"/>
      <p:bldP spid="196620" grpId="0" bldLvl="0" animBg="1" autoUpdateAnimBg="0"/>
      <p:bldP spid="196622" grpId="0" bldLvl="0" animBg="1" autoUpdateAnimBg="0"/>
      <p:bldP spid="196623" grpId="0" bldLvl="0" animBg="1" autoUpdateAnimBg="0"/>
      <p:bldP spid="196625" grpId="0" bldLvl="0" animBg="1" autoUpdateAnimBg="0"/>
      <p:bldP spid="196626" grpId="0" bldLvl="0" animBg="1" autoUpdateAnimBg="0"/>
      <p:bldP spid="196627" grpId="0" bldLvl="0" animBg="1" autoUpdateAnimBg="0"/>
      <p:bldP spid="196628" grpId="0" bldLvl="0" animBg="1" autoUpdateAnimBg="0"/>
      <p:bldP spid="196629" grpId="0" bldLvl="0" animBg="1" autoUpdateAnimBg="0"/>
      <p:bldP spid="196630" grpId="0" bldLvl="0" animBg="1" autoUpdateAnimBg="0"/>
      <p:bldP spid="196631" grpId="0" bldLvl="0" animBg="1"/>
      <p:bldP spid="196632" grpId="0" bldLvl="0" animBg="1"/>
      <p:bldP spid="196633" grpId="0" bldLvl="0" animBg="1"/>
      <p:bldP spid="196634" grpId="0" bldLvl="0" animBg="1"/>
      <p:bldP spid="196635" grpId="0" bldLvl="0" animBg="1"/>
      <p:bldP spid="196636" grpId="0" bldLvl="0" animBg="1"/>
      <p:bldP spid="196637" grpId="0" bldLvl="0" animBg="1"/>
      <p:bldP spid="196638" grpId="0" bldLvl="0" animBg="1"/>
      <p:bldP spid="196639" grpId="0" bldLvl="0" animBg="1"/>
      <p:bldP spid="196640" grpId="0" bldLvl="0" animBg="1"/>
      <p:bldP spid="196641" grpId="0" bldLvl="0" animBg="1"/>
      <p:bldP spid="196642" grpId="0" bldLvl="0" animBg="1"/>
      <p:bldP spid="196643" grpId="0" bldLvl="0" animBg="1"/>
      <p:bldP spid="196644" grpId="0" bldLvl="0" animBg="1"/>
      <p:bldP spid="196645" grpId="0" bldLvl="0" animBg="1"/>
      <p:bldP spid="196647" grpId="0" bldLvl="0" animBg="1" autoUpdateAnimBg="0"/>
      <p:bldP spid="196648" grpId="0" bldLvl="0" animBg="1" autoUpdateAnimBg="0"/>
      <p:bldP spid="196649" grpId="0" bldLvl="0" animBg="1" autoUpdateAnimBg="0"/>
      <p:bldP spid="196650" grpId="0" bldLvl="0" animBg="1" autoUpdateAnimBg="0"/>
      <p:bldP spid="196651" grpId="0" bldLvl="0" animBg="1"/>
      <p:bldP spid="196652" grpId="0" bldLvl="0" animBg="1"/>
      <p:bldP spid="196653" grpId="0" bldLvl="0" animBg="1"/>
      <p:bldP spid="196654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本章的重点内容、及要求： 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１</a:t>
            </a:r>
            <a:r>
              <a:rPr lang="en-US" altLang="zh-CN" sz="2400" b="1" dirty="0">
                <a:latin typeface="宋体" panose="02010600030101010101" pitchFamily="2" charset="-122"/>
              </a:rPr>
              <a:t>.</a:t>
            </a:r>
            <a:r>
              <a:rPr lang="zh-CN" altLang="en-US" sz="2400" b="1" dirty="0">
                <a:latin typeface="宋体" panose="02010600030101010101" pitchFamily="2" charset="-122"/>
              </a:rPr>
              <a:t>逻辑联结词，要熟练掌握联结词的真值表定义以及它们在自然语言中的含义。其中特别要注意“∨”和</a:t>
            </a:r>
            <a:r>
              <a:rPr lang="zh-CN" altLang="en-US" sz="2400" b="1" dirty="0"/>
              <a:t>“</a:t>
            </a:r>
            <a:r>
              <a:rPr lang="zh-CN" altLang="en-US" sz="2400" b="1" dirty="0">
                <a:latin typeface="宋体" panose="02010600030101010101" pitchFamily="2" charset="-122"/>
              </a:rPr>
              <a:t>→</a:t>
            </a:r>
            <a:r>
              <a:rPr lang="zh-CN" altLang="en-US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的用法。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２</a:t>
            </a:r>
            <a:r>
              <a:rPr lang="en-US" altLang="zh-CN" sz="2400" b="1" dirty="0">
                <a:latin typeface="宋体" panose="02010600030101010101" pitchFamily="2" charset="-122"/>
              </a:rPr>
              <a:t>.</a:t>
            </a:r>
            <a:r>
              <a:rPr lang="zh-CN" altLang="en-US" sz="2400" b="1" dirty="0">
                <a:latin typeface="宋体" panose="02010600030101010101" pitchFamily="2" charset="-122"/>
              </a:rPr>
              <a:t>会命题符号化。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３</a:t>
            </a:r>
            <a:r>
              <a:rPr lang="en-US" altLang="zh-CN" sz="2400" b="1" dirty="0">
                <a:latin typeface="宋体" panose="02010600030101010101" pitchFamily="2" charset="-122"/>
              </a:rPr>
              <a:t>.</a:t>
            </a:r>
            <a:r>
              <a:rPr lang="zh-CN" altLang="en-US" sz="2400" b="1" dirty="0">
                <a:latin typeface="宋体" panose="02010600030101010101" pitchFamily="2" charset="-122"/>
              </a:rPr>
              <a:t>掌握永真式的证明方法：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</a:t>
            </a:r>
            <a:r>
              <a:rPr lang="en-US" altLang="zh-CN" sz="2400" b="1" dirty="0">
                <a:latin typeface="宋体" panose="02010600030101010101" pitchFamily="2" charset="-122"/>
              </a:rPr>
              <a:t>(1).</a:t>
            </a:r>
            <a:r>
              <a:rPr lang="zh-CN" altLang="en-US" sz="2400" b="1" dirty="0">
                <a:latin typeface="宋体" panose="02010600030101010101" pitchFamily="2" charset="-122"/>
              </a:rPr>
              <a:t>真值表。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</a:t>
            </a:r>
            <a:r>
              <a:rPr lang="en-US" altLang="zh-CN" sz="2400" b="1" dirty="0">
                <a:latin typeface="宋体" panose="02010600030101010101" pitchFamily="2" charset="-122"/>
              </a:rPr>
              <a:t>(2).</a:t>
            </a:r>
            <a:r>
              <a:rPr lang="zh-CN" altLang="en-US" sz="2400" b="1" dirty="0">
                <a:latin typeface="宋体" panose="02010600030101010101" pitchFamily="2" charset="-122"/>
              </a:rPr>
              <a:t>等价变换，化简成Ｔ。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</a:t>
            </a:r>
            <a:r>
              <a:rPr lang="en-US" altLang="zh-CN" sz="2400" b="1" dirty="0">
                <a:latin typeface="宋体" panose="02010600030101010101" pitchFamily="2" charset="-122"/>
              </a:rPr>
              <a:t>(3).</a:t>
            </a:r>
            <a:r>
              <a:rPr lang="zh-CN" altLang="en-US" sz="2400" b="1" dirty="0">
                <a:latin typeface="宋体" panose="02010600030101010101" pitchFamily="2" charset="-122"/>
              </a:rPr>
              <a:t>主析取范式。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４</a:t>
            </a:r>
            <a:r>
              <a:rPr lang="en-US" altLang="zh-CN" sz="2400" b="1" dirty="0">
                <a:latin typeface="宋体" panose="02010600030101010101" pitchFamily="2" charset="-122"/>
              </a:rPr>
              <a:t>.</a:t>
            </a:r>
            <a:r>
              <a:rPr lang="zh-CN" altLang="en-US" sz="2400" b="1" dirty="0">
                <a:latin typeface="宋体" panose="02010600030101010101" pitchFamily="2" charset="-122"/>
              </a:rPr>
              <a:t>掌握永真蕴含式的证明方法，熟练记忆并会应用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</a:t>
            </a:r>
            <a:r>
              <a:rPr lang="en-US" altLang="zh-CN" sz="2400" b="1" dirty="0">
                <a:latin typeface="宋体" panose="02010600030101010101" pitchFamily="2" charset="-122"/>
              </a:rPr>
              <a:t>43</a:t>
            </a:r>
            <a:r>
              <a:rPr lang="zh-CN" altLang="en-US" sz="2400" b="1" dirty="0">
                <a:latin typeface="宋体" panose="02010600030101010101" pitchFamily="2" charset="-122"/>
              </a:rPr>
              <a:t>页中表</a:t>
            </a:r>
            <a:r>
              <a:rPr lang="en-US" altLang="zh-CN" sz="2400" b="1" dirty="0">
                <a:latin typeface="宋体" panose="02010600030101010101" pitchFamily="2" charset="-122"/>
              </a:rPr>
              <a:t>1-8.3</a:t>
            </a:r>
            <a:r>
              <a:rPr lang="zh-CN" altLang="en-US" sz="2400" b="1" dirty="0">
                <a:latin typeface="宋体" panose="02010600030101010101" pitchFamily="2" charset="-122"/>
              </a:rPr>
              <a:t>中的永真蕴含式。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５</a:t>
            </a:r>
            <a:r>
              <a:rPr lang="en-US" altLang="zh-CN" sz="2400" b="1" dirty="0">
                <a:latin typeface="宋体" panose="02010600030101010101" pitchFamily="2" charset="-122"/>
              </a:rPr>
              <a:t>.</a:t>
            </a:r>
            <a:r>
              <a:rPr lang="zh-CN" altLang="en-US" sz="2400" b="1" dirty="0">
                <a:latin typeface="宋体" panose="02010600030101010101" pitchFamily="2" charset="-122"/>
              </a:rPr>
              <a:t>掌握等价公式的证明方法，熟练记忆并会应用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</a:t>
            </a:r>
            <a:r>
              <a:rPr lang="en-US" altLang="zh-CN" sz="2400" b="1" dirty="0">
                <a:latin typeface="宋体" panose="02010600030101010101" pitchFamily="2" charset="-122"/>
              </a:rPr>
              <a:t>43</a:t>
            </a:r>
            <a:r>
              <a:rPr lang="zh-CN" altLang="en-US" sz="2400" b="1" dirty="0">
                <a:latin typeface="宋体" panose="02010600030101010101" pitchFamily="2" charset="-122"/>
              </a:rPr>
              <a:t>页表</a:t>
            </a:r>
            <a:r>
              <a:rPr lang="en-US" altLang="zh-CN" sz="2400" b="1" dirty="0">
                <a:latin typeface="宋体" panose="02010600030101010101" pitchFamily="2" charset="-122"/>
              </a:rPr>
              <a:t>1-8.4</a:t>
            </a:r>
            <a:r>
              <a:rPr lang="zh-CN" altLang="en-US" sz="2400" b="1" dirty="0">
                <a:latin typeface="宋体" panose="02010600030101010101" pitchFamily="2" charset="-122"/>
              </a:rPr>
              <a:t>中的等价公式。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６</a:t>
            </a:r>
            <a:r>
              <a:rPr lang="en-US" altLang="zh-CN" sz="2400" b="1" dirty="0">
                <a:latin typeface="宋体" panose="02010600030101010101" pitchFamily="2" charset="-122"/>
              </a:rPr>
              <a:t>.</a:t>
            </a:r>
            <a:r>
              <a:rPr lang="zh-CN" altLang="en-US" sz="2400" b="1" dirty="0">
                <a:latin typeface="宋体" panose="02010600030101010101" pitchFamily="2" charset="-122"/>
              </a:rPr>
              <a:t>熟练掌握范式的写法及其应用。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７</a:t>
            </a:r>
            <a:r>
              <a:rPr lang="en-US" altLang="zh-CN" sz="2400" b="1" dirty="0">
                <a:latin typeface="宋体" panose="02010600030101010101" pitchFamily="2" charset="-122"/>
              </a:rPr>
              <a:t>.</a:t>
            </a:r>
            <a:r>
              <a:rPr lang="zh-CN" altLang="en-US" sz="2400" b="1" dirty="0">
                <a:latin typeface="宋体" panose="02010600030101010101" pitchFamily="2" charset="-122"/>
              </a:rPr>
              <a:t>熟练掌握三种推理方法。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2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7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7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7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7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7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7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72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9" grpId="0" autoUpdateAnimBg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323528" y="2060848"/>
            <a:ext cx="8496944" cy="2736304"/>
          </a:xfrm>
        </p:spPr>
        <p:txBody>
          <a:bodyPr/>
          <a:lstStyle/>
          <a:p>
            <a:pPr marL="0" indent="0" algn="ctr">
              <a:buNone/>
            </a:pPr>
            <a:r>
              <a:rPr lang="zh-CN" altLang="en-US" sz="6600" dirty="0"/>
              <a:t>第一章 命题逻辑</a:t>
            </a:r>
            <a:endParaRPr lang="en-US" altLang="zh-CN" sz="6600" dirty="0"/>
          </a:p>
          <a:p>
            <a:pPr marL="0" indent="0" algn="ctr">
              <a:buNone/>
            </a:pPr>
            <a:r>
              <a:rPr lang="zh-CN" altLang="en-US" sz="6600" dirty="0"/>
              <a:t>结束</a:t>
            </a:r>
            <a:endParaRPr lang="zh-CN" altLang="en-US" sz="6600" dirty="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PP_MARK_KEY" val="8b450e37-bb58-48b1-a9a7-612978525af7"/>
  <p:tag name="COMMONDATA" val="eyJoZGlkIjoiOTdlZWM4ZTkzMDQwNzlhMzliMmYyZDVlZGZhZjFmYz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3536</Words>
  <Application>WPS 演示</Application>
  <PresentationFormat>全屏显示(4:3)</PresentationFormat>
  <Paragraphs>190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Arial</vt:lpstr>
      <vt:lpstr>宋体</vt:lpstr>
      <vt:lpstr>Wingdings</vt:lpstr>
      <vt:lpstr>Candara</vt:lpstr>
      <vt:lpstr>华文楷体</vt:lpstr>
      <vt:lpstr>Calibri Light</vt:lpstr>
      <vt:lpstr>楷体</vt:lpstr>
      <vt:lpstr>黑体</vt:lpstr>
      <vt:lpstr>Times New Roman</vt:lpstr>
      <vt:lpstr>Symbol</vt:lpstr>
      <vt:lpstr>Kingsoft Phonetic Plain</vt:lpstr>
      <vt:lpstr>Segoe Print</vt:lpstr>
      <vt:lpstr>微软雅黑</vt:lpstr>
      <vt:lpstr>Arial Unicode MS</vt:lpstr>
      <vt:lpstr>Lucida Sans Unicode</vt:lpstr>
      <vt:lpstr>MS Gothic</vt:lpstr>
      <vt:lpstr>Office 主题​​</vt:lpstr>
      <vt:lpstr>PowerPoint 演示文稿</vt:lpstr>
      <vt:lpstr>三、反证法 </vt:lpstr>
      <vt:lpstr>PowerPoint 演示文稿</vt:lpstr>
      <vt:lpstr>PowerPoint 演示文稿</vt:lpstr>
      <vt:lpstr>PowerPoint 演示文稿</vt:lpstr>
      <vt:lpstr>PowerPoint 演示文稿</vt:lpstr>
      <vt:lpstr>练习：掌握三种推理方法 </vt:lpstr>
      <vt:lpstr>PowerPoint 演示文稿</vt:lpstr>
      <vt:lpstr>PowerPoint 演示文稿</vt:lpstr>
      <vt:lpstr>PowerPoint 演示文稿</vt:lpstr>
      <vt:lpstr>第一章  小结</vt:lpstr>
      <vt:lpstr>PowerPoint 演示文稿</vt:lpstr>
      <vt:lpstr>PowerPoint 演示文稿</vt:lpstr>
    </vt:vector>
  </TitlesOfParts>
  <Company>homg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离散数学</dc:title>
  <dc:creator>xuxf</dc:creator>
  <cp:lastModifiedBy>谭振华</cp:lastModifiedBy>
  <cp:revision>621</cp:revision>
  <cp:lastPrinted>2020-02-29T08:49:00Z</cp:lastPrinted>
  <dcterms:created xsi:type="dcterms:W3CDTF">2001-03-04T02:11:00Z</dcterms:created>
  <dcterms:modified xsi:type="dcterms:W3CDTF">2023-03-08T01:36:01Z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00752EC6A730429284929EC3D81A7CA2</vt:lpwstr>
  </property>
  <property fmtid="{D5CDD505-2E9C-101B-9397-08002B2CF9AE}" pid="3" name="KSOProductBuildVer">
    <vt:lpwstr>2052-11.1.0.13703</vt:lpwstr>
  </property>
</Properties>
</file>