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75" r:id="rId3"/>
    <p:sldId id="486" r:id="rId4"/>
    <p:sldId id="478" r:id="rId5"/>
    <p:sldId id="483" r:id="rId6"/>
    <p:sldId id="476" r:id="rId7"/>
    <p:sldId id="480" r:id="rId8"/>
    <p:sldId id="481" r:id="rId9"/>
    <p:sldId id="482" r:id="rId10"/>
    <p:sldId id="484" r:id="rId11"/>
    <p:sldId id="485" r:id="rId12"/>
    <p:sldId id="479" r:id="rId13"/>
    <p:sldId id="498" r:id="rId14"/>
    <p:sldId id="477" r:id="rId15"/>
    <p:sldId id="487" r:id="rId16"/>
  </p:sldIdLst>
  <p:sldSz cx="9144000" cy="6858000" type="screen4x3"/>
  <p:notesSz cx="7099300" cy="10234295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2" autoAdjust="0"/>
    <p:restoredTop sz="95205" autoAdjust="0"/>
  </p:normalViewPr>
  <p:slideViewPr>
    <p:cSldViewPr showGuides="1">
      <p:cViewPr varScale="1">
        <p:scale>
          <a:sx n="109" d="100"/>
          <a:sy n="109" d="100"/>
        </p:scale>
        <p:origin x="1722" y="1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5"/>
            <a:ext cx="6858000" cy="2387600"/>
          </a:xfrm>
          <a:prstGeom prst="rect">
            <a:avLst/>
          </a:prstGeom>
        </p:spPr>
        <p:txBody>
          <a:bodyPr lIns="76786" tIns="38393" rIns="76786" bIns="38393" anchor="b"/>
          <a:lstStyle>
            <a:lvl1pPr algn="ctr">
              <a:defRPr sz="5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 lIns="76786" tIns="38393" rIns="76786" bIns="38393"/>
          <a:lstStyle>
            <a:lvl1pPr marL="0" indent="0" algn="ctr">
              <a:buNone/>
              <a:defRPr sz="2000"/>
            </a:lvl1pPr>
            <a:lvl2pPr marL="384175" indent="0" algn="ctr">
              <a:buNone/>
              <a:defRPr sz="1700"/>
            </a:lvl2pPr>
            <a:lvl3pPr marL="767715" indent="0" algn="ctr">
              <a:buNone/>
              <a:defRPr sz="1500"/>
            </a:lvl3pPr>
            <a:lvl4pPr marL="1151890" indent="0" algn="ctr">
              <a:buNone/>
              <a:defRPr sz="1300"/>
            </a:lvl4pPr>
            <a:lvl5pPr marL="1536065" indent="0" algn="ctr">
              <a:buNone/>
              <a:defRPr sz="1300"/>
            </a:lvl5pPr>
            <a:lvl6pPr marL="1920240" indent="0" algn="ctr">
              <a:buNone/>
              <a:defRPr sz="1300"/>
            </a:lvl6pPr>
            <a:lvl7pPr marL="2303780" indent="0" algn="ctr">
              <a:buNone/>
              <a:defRPr sz="1300"/>
            </a:lvl7pPr>
            <a:lvl8pPr marL="2687955" indent="0" algn="ctr">
              <a:buNone/>
              <a:defRPr sz="1300"/>
            </a:lvl8pPr>
            <a:lvl9pPr marL="3072130" indent="0" algn="ctr">
              <a:buNone/>
              <a:defRPr sz="13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/>
            </a:lvl1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/>
            </a:lvl1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-7435" y="3572983"/>
            <a:ext cx="9155487" cy="328501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lIns="76772" tIns="38386" rIns="76772" bIns="3838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9pPr>
          </a:lstStyle>
          <a:p>
            <a:pPr defTabSz="1024255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lang="zh-CN" altLang="en-US" sz="15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4050" y="981294"/>
            <a:ext cx="9144001" cy="20157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6700" b="1" dirty="0">
                <a:solidFill>
                  <a:srgbClr val="1F497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离散数学</a:t>
            </a:r>
            <a:endParaRPr lang="en-US" altLang="zh-CN" sz="6700" b="1" dirty="0">
              <a:solidFill>
                <a:srgbClr val="1F497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3700" b="1" dirty="0">
                <a:solidFill>
                  <a:srgbClr val="1F497D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Discrete Mathematics</a:t>
            </a:r>
            <a:endParaRPr lang="zh-CN" altLang="en-US" sz="3700" b="1" dirty="0">
              <a:solidFill>
                <a:srgbClr val="1F497D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2303452" y="5189850"/>
            <a:ext cx="4863552" cy="1262786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7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研究方向：图论，网络生态安全，信息安全</a:t>
            </a:r>
            <a:endParaRPr lang="en-US" altLang="zh-CN" sz="17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700" dirty="0">
                <a:solidFill>
                  <a:prstClr val="white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Email: tanzh@mail.neu.edu.cn</a:t>
            </a:r>
            <a:endParaRPr lang="en-US" altLang="zh-CN" sz="1700" dirty="0">
              <a:solidFill>
                <a:prstClr val="white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700" dirty="0">
                <a:solidFill>
                  <a:prstClr val="white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http://faculty.neu.edu.cn/</a:t>
            </a:r>
            <a:r>
              <a:rPr lang="en-US" altLang="zh-CN" sz="1700" dirty="0">
                <a:solidFill>
                  <a:prstClr val="white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tanzhenhua</a:t>
            </a:r>
            <a:endParaRPr lang="en-US" altLang="zh-CN" sz="1700" dirty="0">
              <a:solidFill>
                <a:prstClr val="white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197201" y="3716965"/>
            <a:ext cx="4863552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5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谭振华</a:t>
            </a:r>
            <a:endParaRPr lang="en-US" altLang="zh-CN" sz="45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教授  博士生导师</a:t>
            </a:r>
            <a:endParaRPr lang="en-US" altLang="zh-CN" sz="17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离散数学课程的性质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1520" y="764704"/>
            <a:ext cx="8715285" cy="4176464"/>
          </a:xfrm>
          <a:prstGeom prst="rect">
            <a:avLst/>
          </a:prstGeom>
        </p:spPr>
        <p:txBody>
          <a:bodyPr lIns="76786" tIns="38393" rIns="76786" bIns="38393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2700" dirty="0">
                <a:solidFill>
                  <a:prstClr val="black"/>
                </a:solidFill>
              </a:rPr>
              <a:t>数学所</a:t>
            </a:r>
            <a:r>
              <a:rPr lang="zh-CN" altLang="en-US" sz="2700" dirty="0">
                <a:solidFill>
                  <a:srgbClr val="FF0000"/>
                </a:solidFill>
              </a:rPr>
              <a:t>研究的对象</a:t>
            </a:r>
            <a:r>
              <a:rPr lang="zh-CN" altLang="en-US" sz="2700" dirty="0">
                <a:solidFill>
                  <a:prstClr val="black"/>
                </a:solidFill>
              </a:rPr>
              <a:t>根据它们的取值分为</a:t>
            </a:r>
            <a:endParaRPr lang="en-US" altLang="zh-CN" sz="2700" dirty="0">
              <a:solidFill>
                <a:prstClr val="black"/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sz="2700" dirty="0">
                <a:solidFill>
                  <a:srgbClr val="C0504D"/>
                </a:solidFill>
              </a:rPr>
              <a:t>连续的：</a:t>
            </a:r>
            <a:r>
              <a:rPr lang="zh-CN" altLang="en-US" sz="2700" dirty="0">
                <a:solidFill>
                  <a:prstClr val="black"/>
                </a:solidFill>
              </a:rPr>
              <a:t>如长度、温度、面积、微积分、声光电等</a:t>
            </a:r>
            <a:endParaRPr lang="en-US" altLang="zh-CN" sz="2700" dirty="0">
              <a:solidFill>
                <a:prstClr val="black"/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sz="2700" dirty="0">
                <a:solidFill>
                  <a:srgbClr val="C0504D"/>
                </a:solidFill>
              </a:rPr>
              <a:t>离散的：</a:t>
            </a:r>
            <a:r>
              <a:rPr lang="zh-CN" altLang="en-US" sz="2700" dirty="0">
                <a:solidFill>
                  <a:prstClr val="black"/>
                </a:solidFill>
              </a:rPr>
              <a:t>如商店商品，学生所学课程，数字信号等</a:t>
            </a:r>
            <a:endParaRPr lang="zh-CN" altLang="en-US" sz="2700" dirty="0">
              <a:solidFill>
                <a:prstClr val="black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700" dirty="0">
                <a:solidFill>
                  <a:srgbClr val="FF0000"/>
                </a:solidFill>
              </a:rPr>
              <a:t>离散数学</a:t>
            </a:r>
            <a:r>
              <a:rPr lang="zh-CN" altLang="en-US" sz="2700" dirty="0">
                <a:solidFill>
                  <a:prstClr val="black"/>
                </a:solidFill>
              </a:rPr>
              <a:t>是研究离散对象的结构以及它们之间相互关系的科学</a:t>
            </a:r>
            <a:endParaRPr lang="en-US" altLang="zh-CN" sz="2700" dirty="0">
              <a:solidFill>
                <a:prstClr val="black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700" dirty="0">
                <a:solidFill>
                  <a:prstClr val="black"/>
                </a:solidFill>
              </a:rPr>
              <a:t>计算机不论硬件还是软件都属于离散结构，它所应用的数学必是离散数学</a:t>
            </a:r>
            <a:endParaRPr lang="en-US" altLang="zh-CN" sz="2700" dirty="0">
              <a:solidFill>
                <a:prstClr val="black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700" dirty="0">
                <a:solidFill>
                  <a:prstClr val="black"/>
                </a:solidFill>
              </a:rPr>
              <a:t>计算机类的基础课，学位课</a:t>
            </a:r>
            <a:endParaRPr lang="zh-CN" altLang="en-US" sz="27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4964" y="4666145"/>
            <a:ext cx="3604700" cy="12961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315" y="4535852"/>
            <a:ext cx="1808165" cy="139696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624325"/>
            <a:ext cx="2416426" cy="1466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64704"/>
            <a:ext cx="8856984" cy="5328592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计算机的诞生与发展和离散数学密切相关</a:t>
            </a:r>
            <a:r>
              <a:rPr lang="zh-CN" altLang="en-US" dirty="0"/>
              <a:t> </a:t>
            </a:r>
            <a:endParaRPr lang="zh-CN" altLang="en-US" dirty="0"/>
          </a:p>
          <a:p>
            <a:pPr lvl="1"/>
            <a:r>
              <a:rPr lang="zh-CN" altLang="en-US" b="1" dirty="0">
                <a:solidFill>
                  <a:schemeClr val="tx2"/>
                </a:solidFill>
              </a:rPr>
              <a:t>计算机的</a:t>
            </a:r>
            <a:r>
              <a:rPr lang="zh-CN" altLang="en-US" b="1" dirty="0">
                <a:solidFill>
                  <a:srgbClr val="FF0000"/>
                </a:solidFill>
              </a:rPr>
              <a:t>诞生</a:t>
            </a:r>
            <a:r>
              <a:rPr lang="zh-CN" altLang="en-US" b="1" dirty="0">
                <a:solidFill>
                  <a:schemeClr val="tx2"/>
                </a:solidFill>
              </a:rPr>
              <a:t>：正是在离散数学中的图灵机的理论指导下诞生的</a:t>
            </a:r>
            <a:r>
              <a:rPr lang="en-US" altLang="zh-CN" b="1" dirty="0">
                <a:solidFill>
                  <a:schemeClr val="tx2"/>
                </a:solidFill>
              </a:rPr>
              <a:t>(1936</a:t>
            </a:r>
            <a:r>
              <a:rPr lang="zh-CN" altLang="en-US" b="1" dirty="0">
                <a:solidFill>
                  <a:schemeClr val="tx2"/>
                </a:solidFill>
              </a:rPr>
              <a:t>提出图灵机</a:t>
            </a:r>
            <a:r>
              <a:rPr lang="en-US" altLang="zh-CN" b="1" dirty="0">
                <a:solidFill>
                  <a:schemeClr val="tx2"/>
                </a:solidFill>
              </a:rPr>
              <a:t>---1946</a:t>
            </a:r>
            <a:r>
              <a:rPr lang="zh-CN" altLang="en-US" b="1" dirty="0">
                <a:solidFill>
                  <a:schemeClr val="tx2"/>
                </a:solidFill>
              </a:rPr>
              <a:t>诞生计算机</a:t>
            </a:r>
            <a:r>
              <a:rPr lang="en-US" altLang="zh-CN" b="1" dirty="0">
                <a:solidFill>
                  <a:schemeClr val="tx2"/>
                </a:solidFill>
              </a:rPr>
              <a:t>)</a:t>
            </a:r>
            <a:r>
              <a:rPr lang="zh-CN" altLang="en-US" b="1" dirty="0">
                <a:solidFill>
                  <a:schemeClr val="tx2"/>
                </a:solidFill>
              </a:rPr>
              <a:t>。</a:t>
            </a:r>
            <a:endParaRPr lang="zh-CN" altLang="en-US" b="1" dirty="0">
              <a:solidFill>
                <a:schemeClr val="tx2"/>
              </a:solidFill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</a:rPr>
              <a:t>计算机硬件的</a:t>
            </a:r>
            <a:r>
              <a:rPr lang="zh-CN" altLang="en-US" b="1" dirty="0">
                <a:solidFill>
                  <a:srgbClr val="FF0000"/>
                </a:solidFill>
              </a:rPr>
              <a:t>发展</a:t>
            </a:r>
            <a:r>
              <a:rPr lang="zh-CN" altLang="en-US" b="1" dirty="0">
                <a:solidFill>
                  <a:schemeClr val="tx2"/>
                </a:solidFill>
              </a:rPr>
              <a:t>：从第</a:t>
            </a:r>
            <a:r>
              <a:rPr lang="zh-CN" altLang="en-US" b="1" dirty="0"/>
              <a:t>一</a:t>
            </a:r>
            <a:r>
              <a:rPr lang="zh-CN" altLang="en-US" b="1" dirty="0">
                <a:solidFill>
                  <a:schemeClr val="tx2"/>
                </a:solidFill>
              </a:rPr>
              <a:t>代起现在发展到第四代</a:t>
            </a:r>
            <a:r>
              <a:rPr lang="en-US" altLang="zh-CN" b="1" dirty="0">
                <a:solidFill>
                  <a:schemeClr val="tx2"/>
                </a:solidFill>
              </a:rPr>
              <a:t>(</a:t>
            </a:r>
            <a:r>
              <a:rPr lang="zh-CN" altLang="en-US" b="1" dirty="0">
                <a:solidFill>
                  <a:schemeClr val="tx2"/>
                </a:solidFill>
              </a:rPr>
              <a:t>电子管</a:t>
            </a:r>
            <a:r>
              <a:rPr lang="zh-CN" altLang="en-US" b="1" dirty="0">
                <a:solidFill>
                  <a:schemeClr val="tx2"/>
                </a:solidFill>
                <a:sym typeface="Symbol" panose="05050102010706020507" pitchFamily="18" charset="2"/>
              </a:rPr>
              <a:t>晶体管 集成电路 大规模集成电路</a:t>
            </a:r>
            <a:r>
              <a:rPr lang="en-US" altLang="zh-CN" b="1" dirty="0">
                <a:solidFill>
                  <a:schemeClr val="tx2"/>
                </a:solidFill>
              </a:rPr>
              <a:t>)</a:t>
            </a:r>
            <a:r>
              <a:rPr lang="zh-CN" altLang="en-US" b="1" dirty="0">
                <a:solidFill>
                  <a:schemeClr val="tx2"/>
                </a:solidFill>
              </a:rPr>
              <a:t>，到当前的智能化、网络化发展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2"/>
                </a:solidFill>
              </a:rPr>
              <a:t>程序设计语言的</a:t>
            </a:r>
            <a:r>
              <a:rPr lang="zh-CN" altLang="en-US" b="1" dirty="0">
                <a:solidFill>
                  <a:srgbClr val="FF0000"/>
                </a:solidFill>
              </a:rPr>
              <a:t>发展</a:t>
            </a:r>
            <a:r>
              <a:rPr lang="zh-CN" altLang="en-US" sz="2800" b="1" dirty="0">
                <a:solidFill>
                  <a:schemeClr val="tx2"/>
                </a:solidFill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</a:rPr>
              <a:t>从机器语言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汇编语言高级面向过程语言面向对象语言智能语言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…</a:t>
            </a:r>
            <a:endParaRPr lang="en-US" altLang="zh-CN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2"/>
                </a:solidFill>
              </a:rPr>
              <a:t>系统软件的发展，</a:t>
            </a:r>
            <a:r>
              <a:rPr lang="zh-CN" altLang="en-US" sz="2800" b="1" dirty="0">
                <a:solidFill>
                  <a:srgbClr val="FF0000"/>
                </a:solidFill>
              </a:rPr>
              <a:t>从单用户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b="1" dirty="0">
                <a:solidFill>
                  <a:srgbClr val="FF0000"/>
                </a:solidFill>
              </a:rPr>
              <a:t> 多用户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b="1" dirty="0">
                <a:solidFill>
                  <a:srgbClr val="FF0000"/>
                </a:solidFill>
              </a:rPr>
              <a:t> 网络应用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…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所有这些发展都依赖于离散数学、数据结构、编译原理、操作系统、数据库原理、软件工程、网络等理论。</a:t>
            </a:r>
            <a:endParaRPr lang="en-US" altLang="zh-CN" b="1" dirty="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其中</a:t>
            </a:r>
            <a:r>
              <a:rPr lang="zh-CN" altLang="en-US" b="1" dirty="0">
                <a:solidFill>
                  <a:srgbClr val="FF0000"/>
                </a:solidFill>
              </a:rPr>
              <a:t>离散数学是基础</a:t>
            </a:r>
            <a:r>
              <a:rPr lang="zh-CN" altLang="en-US" b="1" dirty="0">
                <a:solidFill>
                  <a:schemeClr val="tx2"/>
                </a:solidFill>
              </a:rPr>
              <a:t>，其它的理论中都用到了离散数学中的基本概念、基本思想、基本方法。</a:t>
            </a:r>
            <a:endParaRPr lang="en-US" altLang="zh-CN" b="1" dirty="0">
              <a:solidFill>
                <a:schemeClr val="tx2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离散数学的理论是计算机类专业的基础理论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</a:rPr>
              <a:t>计算机、信息安全、数字媒体、信息技术、网络空间安全</a:t>
            </a:r>
            <a:endParaRPr lang="zh-CN" altLang="en-US" b="1" dirty="0">
              <a:solidFill>
                <a:schemeClr val="tx2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"/>
            <a:ext cx="9144000" cy="610793"/>
          </a:xfrm>
          <a:solidFill>
            <a:schemeClr val="tx2">
              <a:lumMod val="75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课程内容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67774" y="1925748"/>
            <a:ext cx="5895098" cy="2788175"/>
            <a:chOff x="628353" y="1664379"/>
            <a:chExt cx="5374252" cy="3066224"/>
          </a:xfrm>
        </p:grpSpPr>
        <p:grpSp>
          <p:nvGrpSpPr>
            <p:cNvPr id="5123" name="Group 2"/>
            <p:cNvGrpSpPr/>
            <p:nvPr/>
          </p:nvGrpSpPr>
          <p:grpSpPr bwMode="auto">
            <a:xfrm>
              <a:off x="628355" y="1664379"/>
              <a:ext cx="2592085" cy="720725"/>
              <a:chOff x="0" y="0"/>
              <a:chExt cx="5443" cy="1133"/>
            </a:xfrm>
          </p:grpSpPr>
          <p:sp>
            <p:nvSpPr>
              <p:cNvPr id="5358" name="AutoShape 5"/>
              <p:cNvSpPr>
                <a:spLocks noChangeArrowheads="1"/>
              </p:cNvSpPr>
              <p:nvPr/>
            </p:nvSpPr>
            <p:spPr bwMode="auto">
              <a:xfrm>
                <a:off x="0" y="112"/>
                <a:ext cx="5443" cy="922"/>
              </a:xfrm>
              <a:prstGeom prst="roundRect">
                <a:avLst>
                  <a:gd name="adj" fmla="val 42329"/>
                </a:avLst>
              </a:prstGeom>
              <a:solidFill>
                <a:schemeClr val="accent1">
                  <a:alpha val="49019"/>
                </a:schemeClr>
              </a:solidFill>
              <a:ln w="19050">
                <a:solidFill>
                  <a:srgbClr val="7F7F7F"/>
                </a:solidFill>
                <a:round/>
              </a:ln>
              <a:effectLst>
                <a:outerShdw dist="35921" dir="2700000" algn="ctr" rotWithShape="0">
                  <a:schemeClr val="bg1">
                    <a:alpha val="50000"/>
                  </a:schemeClr>
                </a:outerShdw>
              </a:effectLst>
            </p:spPr>
            <p:txBody>
              <a:bodyPr wrap="none" lIns="90171" tIns="46991" rIns="90171" bIns="46991" anchor="ctr"/>
              <a:lstStyle/>
              <a:p>
                <a:pPr algn="ctr" defTabSz="1024255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0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grpSp>
            <p:nvGrpSpPr>
              <p:cNvPr id="5359" name="Group 4"/>
              <p:cNvGrpSpPr/>
              <p:nvPr/>
            </p:nvGrpSpPr>
            <p:grpSpPr bwMode="auto">
              <a:xfrm>
                <a:off x="113" y="0"/>
                <a:ext cx="1473" cy="1133"/>
                <a:chOff x="0" y="0"/>
                <a:chExt cx="1358" cy="1030"/>
              </a:xfrm>
            </p:grpSpPr>
            <p:sp>
              <p:nvSpPr>
                <p:cNvPr id="5360" name="Oval 173"/>
                <p:cNvSpPr>
                  <a:spLocks noChangeArrowheads="1"/>
                </p:cNvSpPr>
                <p:nvPr/>
              </p:nvSpPr>
              <p:spPr bwMode="auto">
                <a:xfrm>
                  <a:off x="117" y="0"/>
                  <a:ext cx="1022" cy="1030"/>
                </a:xfrm>
                <a:prstGeom prst="ellipse">
                  <a:avLst/>
                </a:prstGeom>
                <a:solidFill>
                  <a:srgbClr val="006699"/>
                </a:solidFill>
                <a:ln w="38100">
                  <a:solidFill>
                    <a:srgbClr val="EAEAEA"/>
                  </a:solidFill>
                  <a:round/>
                </a:ln>
              </p:spPr>
              <p:txBody>
                <a:bodyPr wrap="none" lIns="90171" tIns="46991" rIns="90171" bIns="46991" anchor="ctr"/>
                <a:lstStyle/>
                <a:p>
                  <a:pPr algn="ctr" defTabSz="1024255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3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361" name="Group 6"/>
                <p:cNvGrpSpPr/>
                <p:nvPr/>
              </p:nvGrpSpPr>
              <p:grpSpPr bwMode="auto">
                <a:xfrm rot="10082854">
                  <a:off x="-3" y="743"/>
                  <a:ext cx="933" cy="228"/>
                  <a:chOff x="0" y="0"/>
                  <a:chExt cx="962" cy="234"/>
                </a:xfrm>
              </p:grpSpPr>
              <p:grpSp>
                <p:nvGrpSpPr>
                  <p:cNvPr id="5409" name="Group 7"/>
                  <p:cNvGrpSpPr/>
                  <p:nvPr/>
                </p:nvGrpSpPr>
                <p:grpSpPr bwMode="auto">
                  <a:xfrm rot="-9970459" flipH="1" flipV="1">
                    <a:off x="0" y="0"/>
                    <a:ext cx="962" cy="234"/>
                    <a:chOff x="0" y="0"/>
                    <a:chExt cx="898" cy="236"/>
                  </a:xfrm>
                </p:grpSpPr>
                <p:grpSp>
                  <p:nvGrpSpPr>
                    <p:cNvPr id="5421" name="Group 8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427" name="AutoShape 177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28" name="AutoShape 178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29" name="AutoShape 179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30" name="AutoShape 180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422" name="Group 13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423" name="AutoShape 182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24" name="AutoShape 183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25" name="AutoShape 184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26" name="AutoShape 185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5410" name="Group 18"/>
                  <p:cNvGrpSpPr/>
                  <p:nvPr/>
                </p:nvGrpSpPr>
                <p:grpSpPr bwMode="auto">
                  <a:xfrm rot="-9970459" flipH="1" flipV="1">
                    <a:off x="83" y="26"/>
                    <a:ext cx="788" cy="191"/>
                    <a:chOff x="0" y="0"/>
                    <a:chExt cx="898" cy="236"/>
                  </a:xfrm>
                </p:grpSpPr>
                <p:grpSp>
                  <p:nvGrpSpPr>
                    <p:cNvPr id="5411" name="Group 19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417" name="AutoShape 188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18" name="AutoShape 189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19" name="AutoShape 190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20" name="AutoShape 191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412" name="Group 24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413" name="AutoShape 193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14" name="AutoShape 194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15" name="AutoShape 195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416" name="AutoShape 196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362" name="Group 29"/>
                <p:cNvGrpSpPr/>
                <p:nvPr/>
              </p:nvGrpSpPr>
              <p:grpSpPr bwMode="auto">
                <a:xfrm rot="-232145">
                  <a:off x="380" y="64"/>
                  <a:ext cx="961" cy="247"/>
                  <a:chOff x="0" y="0"/>
                  <a:chExt cx="992" cy="258"/>
                </a:xfrm>
              </p:grpSpPr>
              <p:grpSp>
                <p:nvGrpSpPr>
                  <p:cNvPr id="5363" name="Group 30"/>
                  <p:cNvGrpSpPr/>
                  <p:nvPr/>
                </p:nvGrpSpPr>
                <p:grpSpPr bwMode="auto">
                  <a:xfrm rot="513316">
                    <a:off x="0" y="0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387" name="Group 31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399" name="Group 32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405" name="AutoShap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406" name="AutoShap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407" name="AutoShap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408" name="AutoShap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400" name="Group 37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401" name="AutoShap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402" name="AutoShap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403" name="AutoShap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404" name="AutoShap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388" name="Group 42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389" name="Group 43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95" name="AutoShap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96" name="AutoShap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97" name="AutoShap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98" name="AutoShap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390" name="Group 48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91" name="AutoShap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92" name="AutoShap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93" name="AutoShap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94" name="AutoShap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5364" name="Group 53"/>
                  <p:cNvGrpSpPr/>
                  <p:nvPr/>
                </p:nvGrpSpPr>
                <p:grpSpPr bwMode="auto">
                  <a:xfrm rot="513316">
                    <a:off x="30" y="24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365" name="Group 54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377" name="Group 55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83" name="AutoShap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84" name="AutoShap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85" name="AutoShap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86" name="AutoShap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378" name="Group 60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79" name="AutoShap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80" name="AutoShap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81" name="AutoShap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82" name="AutoShap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366" name="Group 65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367" name="Group 66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73" name="AutoShap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74" name="AutoShap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75" name="AutoShap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76" name="AutoShap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368" name="Group 71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69" name="AutoShap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70" name="AutoShap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71" name="AutoShap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72" name="AutoShap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5124" name="Group 76"/>
            <p:cNvGrpSpPr/>
            <p:nvPr/>
          </p:nvGrpSpPr>
          <p:grpSpPr bwMode="auto">
            <a:xfrm>
              <a:off x="628353" y="3206288"/>
              <a:ext cx="2592084" cy="719773"/>
              <a:chOff x="0" y="0"/>
              <a:chExt cx="5443" cy="1133"/>
            </a:xfrm>
          </p:grpSpPr>
          <p:sp>
            <p:nvSpPr>
              <p:cNvPr id="5285" name="AutoShape 5"/>
              <p:cNvSpPr>
                <a:spLocks noChangeArrowheads="1"/>
              </p:cNvSpPr>
              <p:nvPr/>
            </p:nvSpPr>
            <p:spPr bwMode="auto">
              <a:xfrm>
                <a:off x="0" y="112"/>
                <a:ext cx="5443" cy="922"/>
              </a:xfrm>
              <a:prstGeom prst="roundRect">
                <a:avLst>
                  <a:gd name="adj" fmla="val 42329"/>
                </a:avLst>
              </a:prstGeom>
              <a:solidFill>
                <a:schemeClr val="accent1">
                  <a:alpha val="49019"/>
                </a:schemeClr>
              </a:solidFill>
              <a:ln w="19050">
                <a:solidFill>
                  <a:srgbClr val="7F7F7F"/>
                </a:solidFill>
                <a:round/>
              </a:ln>
              <a:effectLst>
                <a:outerShdw dist="35921" dir="2700000" algn="ctr" rotWithShape="0">
                  <a:schemeClr val="bg1">
                    <a:alpha val="50000"/>
                  </a:schemeClr>
                </a:outerShdw>
              </a:effectLst>
            </p:spPr>
            <p:txBody>
              <a:bodyPr wrap="none" lIns="90171" tIns="46991" rIns="90171" bIns="46991" anchor="ctr"/>
              <a:lstStyle/>
              <a:p>
                <a:pPr algn="ctr" defTabSz="1024255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0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grpSp>
            <p:nvGrpSpPr>
              <p:cNvPr id="5286" name="Group 78"/>
              <p:cNvGrpSpPr/>
              <p:nvPr/>
            </p:nvGrpSpPr>
            <p:grpSpPr bwMode="auto">
              <a:xfrm>
                <a:off x="113" y="0"/>
                <a:ext cx="1473" cy="1133"/>
                <a:chOff x="0" y="0"/>
                <a:chExt cx="1358" cy="1030"/>
              </a:xfrm>
            </p:grpSpPr>
            <p:sp>
              <p:nvSpPr>
                <p:cNvPr id="5287" name="Oval 173"/>
                <p:cNvSpPr>
                  <a:spLocks noChangeArrowheads="1"/>
                </p:cNvSpPr>
                <p:nvPr/>
              </p:nvSpPr>
              <p:spPr bwMode="auto">
                <a:xfrm>
                  <a:off x="117" y="0"/>
                  <a:ext cx="1022" cy="1030"/>
                </a:xfrm>
                <a:prstGeom prst="ellipse">
                  <a:avLst/>
                </a:prstGeom>
                <a:solidFill>
                  <a:srgbClr val="009999"/>
                </a:solidFill>
                <a:ln w="38100">
                  <a:solidFill>
                    <a:srgbClr val="EAEAEA"/>
                  </a:solidFill>
                  <a:round/>
                </a:ln>
              </p:spPr>
              <p:txBody>
                <a:bodyPr wrap="none" lIns="90171" tIns="46991" rIns="90171" bIns="46991" anchor="ctr"/>
                <a:lstStyle/>
                <a:p>
                  <a:pPr algn="ctr" defTabSz="1024255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3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288" name="Group 80"/>
                <p:cNvGrpSpPr/>
                <p:nvPr/>
              </p:nvGrpSpPr>
              <p:grpSpPr bwMode="auto">
                <a:xfrm rot="10082854">
                  <a:off x="-3" y="743"/>
                  <a:ext cx="933" cy="228"/>
                  <a:chOff x="0" y="0"/>
                  <a:chExt cx="962" cy="234"/>
                </a:xfrm>
              </p:grpSpPr>
              <p:grpSp>
                <p:nvGrpSpPr>
                  <p:cNvPr id="5336" name="Group 81"/>
                  <p:cNvGrpSpPr/>
                  <p:nvPr/>
                </p:nvGrpSpPr>
                <p:grpSpPr bwMode="auto">
                  <a:xfrm rot="-9970459" flipH="1" flipV="1">
                    <a:off x="0" y="0"/>
                    <a:ext cx="962" cy="234"/>
                    <a:chOff x="0" y="0"/>
                    <a:chExt cx="898" cy="236"/>
                  </a:xfrm>
                </p:grpSpPr>
                <p:grpSp>
                  <p:nvGrpSpPr>
                    <p:cNvPr id="5348" name="Group 82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354" name="AutoShape 177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55" name="AutoShape 178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56" name="AutoShape 179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57" name="AutoShape 180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349" name="Group 87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350" name="AutoShape 182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51" name="AutoShape 183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52" name="AutoShape 184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53" name="AutoShape 185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5337" name="Group 92"/>
                  <p:cNvGrpSpPr/>
                  <p:nvPr/>
                </p:nvGrpSpPr>
                <p:grpSpPr bwMode="auto">
                  <a:xfrm rot="-9970459" flipH="1" flipV="1">
                    <a:off x="83" y="26"/>
                    <a:ext cx="788" cy="191"/>
                    <a:chOff x="0" y="0"/>
                    <a:chExt cx="898" cy="236"/>
                  </a:xfrm>
                </p:grpSpPr>
                <p:grpSp>
                  <p:nvGrpSpPr>
                    <p:cNvPr id="5338" name="Group 93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344" name="AutoShape 188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45" name="AutoShape 189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46" name="AutoShape 190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47" name="AutoShape 191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339" name="Group 98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340" name="AutoShape 193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41" name="AutoShape 194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42" name="AutoShape 195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43" name="AutoShape 196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289" name="Group 103"/>
                <p:cNvGrpSpPr/>
                <p:nvPr/>
              </p:nvGrpSpPr>
              <p:grpSpPr bwMode="auto">
                <a:xfrm rot="-232145">
                  <a:off x="380" y="64"/>
                  <a:ext cx="961" cy="247"/>
                  <a:chOff x="0" y="0"/>
                  <a:chExt cx="992" cy="258"/>
                </a:xfrm>
              </p:grpSpPr>
              <p:grpSp>
                <p:nvGrpSpPr>
                  <p:cNvPr id="5290" name="Group 104"/>
                  <p:cNvGrpSpPr/>
                  <p:nvPr/>
                </p:nvGrpSpPr>
                <p:grpSpPr bwMode="auto">
                  <a:xfrm rot="513316">
                    <a:off x="0" y="0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314" name="Group 105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326" name="Group 106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32" name="AutoShap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33" name="AutoShap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34" name="AutoShap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35" name="AutoShap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327" name="Group 111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28" name="AutoShap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29" name="AutoShap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30" name="AutoShap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31" name="AutoShap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315" name="Group 116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316" name="Group 117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22" name="AutoShap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23" name="AutoShap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24" name="AutoShap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25" name="AutoShap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317" name="Group 122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18" name="AutoShap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19" name="AutoShap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20" name="AutoShap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21" name="AutoShap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5291" name="Group 127"/>
                  <p:cNvGrpSpPr/>
                  <p:nvPr/>
                </p:nvGrpSpPr>
                <p:grpSpPr bwMode="auto">
                  <a:xfrm rot="513316">
                    <a:off x="30" y="24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292" name="Group 128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304" name="Group 129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10" name="AutoShap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11" name="AutoShap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12" name="AutoShap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13" name="AutoShap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305" name="Group 134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06" name="AutoShap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07" name="AutoShap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08" name="AutoShap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09" name="AutoShap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293" name="Group 139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294" name="Group 140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300" name="AutoShap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01" name="AutoShap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02" name="AutoShap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303" name="AutoShap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295" name="Group 145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96" name="AutoShap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97" name="AutoShap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98" name="AutoShap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99" name="AutoShap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5125" name="Group 150"/>
            <p:cNvGrpSpPr/>
            <p:nvPr/>
          </p:nvGrpSpPr>
          <p:grpSpPr bwMode="auto">
            <a:xfrm>
              <a:off x="628353" y="2414381"/>
              <a:ext cx="2592084" cy="719773"/>
              <a:chOff x="0" y="0"/>
              <a:chExt cx="5443" cy="1133"/>
            </a:xfrm>
          </p:grpSpPr>
          <p:sp>
            <p:nvSpPr>
              <p:cNvPr id="5212" name="AutoShape 5"/>
              <p:cNvSpPr>
                <a:spLocks noChangeArrowheads="1"/>
              </p:cNvSpPr>
              <p:nvPr/>
            </p:nvSpPr>
            <p:spPr bwMode="auto">
              <a:xfrm>
                <a:off x="0" y="112"/>
                <a:ext cx="5443" cy="922"/>
              </a:xfrm>
              <a:prstGeom prst="roundRect">
                <a:avLst>
                  <a:gd name="adj" fmla="val 42329"/>
                </a:avLst>
              </a:prstGeom>
              <a:solidFill>
                <a:schemeClr val="accent1">
                  <a:alpha val="49019"/>
                </a:schemeClr>
              </a:solidFill>
              <a:ln w="19050">
                <a:solidFill>
                  <a:srgbClr val="7F7F7F"/>
                </a:solidFill>
                <a:round/>
              </a:ln>
              <a:effectLst>
                <a:outerShdw dist="35921" dir="2700000" algn="ctr" rotWithShape="0">
                  <a:schemeClr val="bg1">
                    <a:alpha val="50000"/>
                  </a:schemeClr>
                </a:outerShdw>
              </a:effectLst>
            </p:spPr>
            <p:txBody>
              <a:bodyPr wrap="none" lIns="90171" tIns="46991" rIns="90171" bIns="46991" anchor="ctr"/>
              <a:lstStyle/>
              <a:p>
                <a:pPr algn="ctr" defTabSz="1024255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0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grpSp>
            <p:nvGrpSpPr>
              <p:cNvPr id="5213" name="Group 152"/>
              <p:cNvGrpSpPr/>
              <p:nvPr/>
            </p:nvGrpSpPr>
            <p:grpSpPr bwMode="auto">
              <a:xfrm>
                <a:off x="113" y="0"/>
                <a:ext cx="1473" cy="1133"/>
                <a:chOff x="0" y="0"/>
                <a:chExt cx="1358" cy="1030"/>
              </a:xfrm>
            </p:grpSpPr>
            <p:sp>
              <p:nvSpPr>
                <p:cNvPr id="5214" name="Oval 173"/>
                <p:cNvSpPr>
                  <a:spLocks noChangeArrowheads="1"/>
                </p:cNvSpPr>
                <p:nvPr/>
              </p:nvSpPr>
              <p:spPr bwMode="auto">
                <a:xfrm>
                  <a:off x="117" y="0"/>
                  <a:ext cx="1022" cy="1030"/>
                </a:xfrm>
                <a:prstGeom prst="ellipse">
                  <a:avLst/>
                </a:prstGeom>
                <a:solidFill>
                  <a:srgbClr val="008080">
                    <a:alpha val="94901"/>
                  </a:srgbClr>
                </a:solidFill>
                <a:ln w="38100">
                  <a:solidFill>
                    <a:srgbClr val="EAEAEA"/>
                  </a:solidFill>
                  <a:round/>
                </a:ln>
              </p:spPr>
              <p:txBody>
                <a:bodyPr wrap="none" lIns="90171" tIns="46991" rIns="90171" bIns="46991" anchor="ctr"/>
                <a:lstStyle/>
                <a:p>
                  <a:pPr algn="ctr" defTabSz="1024255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3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215" name="Group 154"/>
                <p:cNvGrpSpPr/>
                <p:nvPr/>
              </p:nvGrpSpPr>
              <p:grpSpPr bwMode="auto">
                <a:xfrm rot="10082854">
                  <a:off x="-3" y="743"/>
                  <a:ext cx="933" cy="228"/>
                  <a:chOff x="0" y="0"/>
                  <a:chExt cx="962" cy="234"/>
                </a:xfrm>
              </p:grpSpPr>
              <p:grpSp>
                <p:nvGrpSpPr>
                  <p:cNvPr id="5263" name="Group 155"/>
                  <p:cNvGrpSpPr/>
                  <p:nvPr/>
                </p:nvGrpSpPr>
                <p:grpSpPr bwMode="auto">
                  <a:xfrm rot="-9970459" flipH="1" flipV="1">
                    <a:off x="0" y="0"/>
                    <a:ext cx="962" cy="234"/>
                    <a:chOff x="0" y="0"/>
                    <a:chExt cx="898" cy="236"/>
                  </a:xfrm>
                </p:grpSpPr>
                <p:grpSp>
                  <p:nvGrpSpPr>
                    <p:cNvPr id="5275" name="Group 156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281" name="AutoShape 177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82" name="AutoShape 178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83" name="AutoShape 179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84" name="AutoShape 180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276" name="Group 161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277" name="AutoShape 182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78" name="AutoShape 183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79" name="AutoShape 184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80" name="AutoShape 185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5264" name="Group 166"/>
                  <p:cNvGrpSpPr/>
                  <p:nvPr/>
                </p:nvGrpSpPr>
                <p:grpSpPr bwMode="auto">
                  <a:xfrm rot="-9970459" flipH="1" flipV="1">
                    <a:off x="83" y="26"/>
                    <a:ext cx="788" cy="191"/>
                    <a:chOff x="0" y="0"/>
                    <a:chExt cx="898" cy="236"/>
                  </a:xfrm>
                </p:grpSpPr>
                <p:grpSp>
                  <p:nvGrpSpPr>
                    <p:cNvPr id="5265" name="Group 167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271" name="AutoShape 188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72" name="AutoShape 189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73" name="AutoShape 190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74" name="AutoShape 191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266" name="Group 172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267" name="AutoShape 193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68" name="AutoShape 194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69" name="AutoShape 195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70" name="AutoShape 196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216" name="Group 177"/>
                <p:cNvGrpSpPr/>
                <p:nvPr/>
              </p:nvGrpSpPr>
              <p:grpSpPr bwMode="auto">
                <a:xfrm rot="-232145">
                  <a:off x="380" y="64"/>
                  <a:ext cx="961" cy="247"/>
                  <a:chOff x="0" y="0"/>
                  <a:chExt cx="992" cy="258"/>
                </a:xfrm>
              </p:grpSpPr>
              <p:grpSp>
                <p:nvGrpSpPr>
                  <p:cNvPr id="5217" name="Group 178"/>
                  <p:cNvGrpSpPr/>
                  <p:nvPr/>
                </p:nvGrpSpPr>
                <p:grpSpPr bwMode="auto">
                  <a:xfrm rot="513316">
                    <a:off x="0" y="0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241" name="Group 179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253" name="Group 180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59" name="AutoShap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60" name="AutoShap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61" name="AutoShap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62" name="AutoShap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254" name="Group 185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55" name="AutoShap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56" name="AutoShap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57" name="AutoShap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58" name="AutoShap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242" name="Group 190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243" name="Group 191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49" name="AutoShap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50" name="AutoShap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51" name="AutoShap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52" name="AutoShap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244" name="Group 196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45" name="AutoShap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46" name="AutoShap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47" name="AutoShap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48" name="AutoShap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5218" name="Group 201"/>
                  <p:cNvGrpSpPr/>
                  <p:nvPr/>
                </p:nvGrpSpPr>
                <p:grpSpPr bwMode="auto">
                  <a:xfrm rot="513316">
                    <a:off x="30" y="24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219" name="Group 202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231" name="Group 203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37" name="AutoShap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38" name="AutoShap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39" name="AutoShap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40" name="AutoShap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232" name="Group 208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33" name="AutoShap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34" name="AutoShap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35" name="AutoShap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36" name="AutoShap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220" name="Group 213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221" name="Group 214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27" name="AutoShap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28" name="AutoShap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29" name="AutoShap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30" name="AutoShap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222" name="Group 219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223" name="AutoShap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24" name="AutoShap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25" name="AutoShap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226" name="AutoShap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5126" name="Group 224"/>
            <p:cNvGrpSpPr/>
            <p:nvPr/>
          </p:nvGrpSpPr>
          <p:grpSpPr bwMode="auto">
            <a:xfrm>
              <a:off x="628353" y="4009465"/>
              <a:ext cx="2592084" cy="719773"/>
              <a:chOff x="0" y="0"/>
              <a:chExt cx="5443" cy="1133"/>
            </a:xfrm>
          </p:grpSpPr>
          <p:sp>
            <p:nvSpPr>
              <p:cNvPr id="5139" name="AutoShape 5"/>
              <p:cNvSpPr>
                <a:spLocks noChangeArrowheads="1"/>
              </p:cNvSpPr>
              <p:nvPr/>
            </p:nvSpPr>
            <p:spPr bwMode="auto">
              <a:xfrm>
                <a:off x="0" y="112"/>
                <a:ext cx="5443" cy="922"/>
              </a:xfrm>
              <a:prstGeom prst="roundRect">
                <a:avLst>
                  <a:gd name="adj" fmla="val 42329"/>
                </a:avLst>
              </a:prstGeom>
              <a:solidFill>
                <a:schemeClr val="accent1">
                  <a:alpha val="49019"/>
                </a:schemeClr>
              </a:solidFill>
              <a:ln w="19050">
                <a:solidFill>
                  <a:srgbClr val="7F7F7F"/>
                </a:solidFill>
                <a:round/>
              </a:ln>
              <a:effectLst>
                <a:outerShdw dist="35921" dir="2700000" algn="ctr" rotWithShape="0">
                  <a:schemeClr val="bg1">
                    <a:alpha val="50000"/>
                  </a:schemeClr>
                </a:outerShdw>
              </a:effectLst>
            </p:spPr>
            <p:txBody>
              <a:bodyPr wrap="none" lIns="90171" tIns="46991" rIns="90171" bIns="46991" anchor="ctr"/>
              <a:lstStyle/>
              <a:p>
                <a:pPr algn="ctr" defTabSz="1024255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0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grpSp>
            <p:nvGrpSpPr>
              <p:cNvPr id="5140" name="Group 226"/>
              <p:cNvGrpSpPr/>
              <p:nvPr/>
            </p:nvGrpSpPr>
            <p:grpSpPr bwMode="auto">
              <a:xfrm>
                <a:off x="113" y="0"/>
                <a:ext cx="1473" cy="1133"/>
                <a:chOff x="0" y="0"/>
                <a:chExt cx="1358" cy="1030"/>
              </a:xfrm>
            </p:grpSpPr>
            <p:sp>
              <p:nvSpPr>
                <p:cNvPr id="5141" name="Oval 173"/>
                <p:cNvSpPr>
                  <a:spLocks noChangeArrowheads="1"/>
                </p:cNvSpPr>
                <p:nvPr/>
              </p:nvSpPr>
              <p:spPr bwMode="auto">
                <a:xfrm>
                  <a:off x="117" y="0"/>
                  <a:ext cx="1022" cy="1030"/>
                </a:xfrm>
                <a:prstGeom prst="ellipse">
                  <a:avLst/>
                </a:prstGeom>
                <a:solidFill>
                  <a:srgbClr val="41C3A6"/>
                </a:solidFill>
                <a:ln w="38100">
                  <a:solidFill>
                    <a:srgbClr val="EAEAEA"/>
                  </a:solidFill>
                  <a:round/>
                </a:ln>
              </p:spPr>
              <p:txBody>
                <a:bodyPr wrap="none" lIns="90171" tIns="46991" rIns="90171" bIns="46991" anchor="ctr"/>
                <a:lstStyle/>
                <a:p>
                  <a:pPr algn="ctr" defTabSz="1024255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3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142" name="Group 228"/>
                <p:cNvGrpSpPr/>
                <p:nvPr/>
              </p:nvGrpSpPr>
              <p:grpSpPr bwMode="auto">
                <a:xfrm rot="10082854">
                  <a:off x="-3" y="743"/>
                  <a:ext cx="933" cy="228"/>
                  <a:chOff x="0" y="0"/>
                  <a:chExt cx="962" cy="234"/>
                </a:xfrm>
              </p:grpSpPr>
              <p:grpSp>
                <p:nvGrpSpPr>
                  <p:cNvPr id="5190" name="Group 229"/>
                  <p:cNvGrpSpPr/>
                  <p:nvPr/>
                </p:nvGrpSpPr>
                <p:grpSpPr bwMode="auto">
                  <a:xfrm rot="-9970459" flipH="1" flipV="1">
                    <a:off x="0" y="0"/>
                    <a:ext cx="962" cy="234"/>
                    <a:chOff x="0" y="0"/>
                    <a:chExt cx="898" cy="236"/>
                  </a:xfrm>
                </p:grpSpPr>
                <p:grpSp>
                  <p:nvGrpSpPr>
                    <p:cNvPr id="5202" name="Group 230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208" name="AutoShape 177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09" name="AutoShape 178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10" name="AutoShape 179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11" name="AutoShape 180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203" name="Group 235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204" name="AutoShape 182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05" name="AutoShape 183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06" name="AutoShape 184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07" name="AutoShape 185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5191" name="Group 240"/>
                  <p:cNvGrpSpPr/>
                  <p:nvPr/>
                </p:nvGrpSpPr>
                <p:grpSpPr bwMode="auto">
                  <a:xfrm rot="-9970459" flipH="1" flipV="1">
                    <a:off x="83" y="26"/>
                    <a:ext cx="788" cy="191"/>
                    <a:chOff x="0" y="0"/>
                    <a:chExt cx="898" cy="236"/>
                  </a:xfrm>
                </p:grpSpPr>
                <p:grpSp>
                  <p:nvGrpSpPr>
                    <p:cNvPr id="5192" name="Group 241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198" name="AutoShape 188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199" name="AutoShape 189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00" name="AutoShape 190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01" name="AutoShape 191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193" name="Group 246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194" name="AutoShape 193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195" name="AutoShape 194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196" name="AutoShape 195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197" name="AutoShape 196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143" name="Group 251"/>
                <p:cNvGrpSpPr/>
                <p:nvPr/>
              </p:nvGrpSpPr>
              <p:grpSpPr bwMode="auto">
                <a:xfrm rot="-232145">
                  <a:off x="380" y="64"/>
                  <a:ext cx="961" cy="247"/>
                  <a:chOff x="0" y="0"/>
                  <a:chExt cx="992" cy="258"/>
                </a:xfrm>
              </p:grpSpPr>
              <p:grpSp>
                <p:nvGrpSpPr>
                  <p:cNvPr id="5144" name="Group 252"/>
                  <p:cNvGrpSpPr/>
                  <p:nvPr/>
                </p:nvGrpSpPr>
                <p:grpSpPr bwMode="auto">
                  <a:xfrm rot="513316">
                    <a:off x="0" y="0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168" name="Group 253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180" name="Group 254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86" name="AutoShap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87" name="AutoShap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88" name="AutoShap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89" name="AutoShap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181" name="Group 259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82" name="AutoShap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83" name="AutoShap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84" name="AutoShap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85" name="AutoShap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169" name="Group 264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170" name="Group 265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76" name="AutoShap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77" name="AutoShap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78" name="AutoShap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79" name="AutoShap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171" name="Group 270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72" name="AutoShap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73" name="AutoShap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74" name="AutoShap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75" name="AutoShap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5145" name="Group 275"/>
                  <p:cNvGrpSpPr/>
                  <p:nvPr/>
                </p:nvGrpSpPr>
                <p:grpSpPr bwMode="auto">
                  <a:xfrm rot="513316">
                    <a:off x="30" y="24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146" name="Group 276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158" name="Group 277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64" name="AutoShap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65" name="AutoShap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66" name="AutoShap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67" name="AutoShap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159" name="Group 282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60" name="AutoShap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61" name="AutoShap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62" name="AutoShap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63" name="AutoShap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147" name="Group 287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148" name="Group 288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54" name="AutoShap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55" name="AutoShap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56" name="AutoShap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57" name="AutoShap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149" name="Group 293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50" name="AutoShap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51" name="AutoShap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52" name="AutoShap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53" name="AutoShap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5127" name="Text Box 298"/>
            <p:cNvSpPr txBox="1">
              <a:spLocks noChangeArrowheads="1"/>
            </p:cNvSpPr>
            <p:nvPr/>
          </p:nvSpPr>
          <p:spPr bwMode="auto">
            <a:xfrm>
              <a:off x="843856" y="1808841"/>
              <a:ext cx="41152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</a:t>
              </a:r>
              <a:endParaRPr lang="zh-CN" altLang="en-US" sz="20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8" name="Text Box 299"/>
            <p:cNvSpPr txBox="1">
              <a:spLocks noChangeArrowheads="1"/>
            </p:cNvSpPr>
            <p:nvPr/>
          </p:nvSpPr>
          <p:spPr bwMode="auto">
            <a:xfrm>
              <a:off x="855763" y="2533447"/>
              <a:ext cx="41152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endParaRPr lang="zh-CN" altLang="en-US" sz="20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9" name="Text Box 300"/>
            <p:cNvSpPr txBox="1">
              <a:spLocks noChangeArrowheads="1"/>
            </p:cNvSpPr>
            <p:nvPr/>
          </p:nvSpPr>
          <p:spPr bwMode="auto">
            <a:xfrm>
              <a:off x="843856" y="3350752"/>
              <a:ext cx="41152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</a:t>
              </a:r>
              <a:endParaRPr lang="zh-CN" altLang="en-US" sz="20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" name="Text Box 301"/>
            <p:cNvSpPr txBox="1">
              <a:spLocks noChangeArrowheads="1"/>
            </p:cNvSpPr>
            <p:nvPr/>
          </p:nvSpPr>
          <p:spPr bwMode="auto">
            <a:xfrm>
              <a:off x="843856" y="4153928"/>
              <a:ext cx="41152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四</a:t>
              </a:r>
              <a:endParaRPr lang="zh-CN" altLang="en-US" sz="20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" name="Text Box 302"/>
            <p:cNvSpPr txBox="1">
              <a:spLocks noChangeArrowheads="1"/>
            </p:cNvSpPr>
            <p:nvPr/>
          </p:nvSpPr>
          <p:spPr bwMode="auto">
            <a:xfrm>
              <a:off x="1265337" y="1794554"/>
              <a:ext cx="1180965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命题逻辑</a:t>
              </a:r>
              <a:endParaRPr lang="zh-CN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2" name="Text Box 303"/>
            <p:cNvSpPr txBox="1">
              <a:spLocks noChangeArrowheads="1"/>
            </p:cNvSpPr>
            <p:nvPr/>
          </p:nvSpPr>
          <p:spPr bwMode="auto">
            <a:xfrm>
              <a:off x="1285578" y="2531858"/>
              <a:ext cx="1180965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谓词逻辑</a:t>
              </a:r>
              <a:endParaRPr lang="zh-CN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5133" name="Text Box 304"/>
            <p:cNvSpPr txBox="1">
              <a:spLocks noChangeArrowheads="1"/>
            </p:cNvSpPr>
            <p:nvPr/>
          </p:nvSpPr>
          <p:spPr bwMode="auto">
            <a:xfrm>
              <a:off x="1286771" y="3339637"/>
              <a:ext cx="924485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集合论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5134" name="Text Box 305"/>
            <p:cNvSpPr txBox="1">
              <a:spLocks noChangeArrowheads="1"/>
            </p:cNvSpPr>
            <p:nvPr/>
          </p:nvSpPr>
          <p:spPr bwMode="auto">
            <a:xfrm>
              <a:off x="1287960" y="4115830"/>
              <a:ext cx="1180965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二元关系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grpSp>
          <p:nvGrpSpPr>
            <p:cNvPr id="311" name="Group 2"/>
            <p:cNvGrpSpPr/>
            <p:nvPr/>
          </p:nvGrpSpPr>
          <p:grpSpPr bwMode="auto">
            <a:xfrm>
              <a:off x="3338972" y="1665744"/>
              <a:ext cx="2592085" cy="720725"/>
              <a:chOff x="0" y="0"/>
              <a:chExt cx="5443" cy="1133"/>
            </a:xfrm>
          </p:grpSpPr>
          <p:sp>
            <p:nvSpPr>
              <p:cNvPr id="312" name="AutoShape 5"/>
              <p:cNvSpPr>
                <a:spLocks noChangeArrowheads="1"/>
              </p:cNvSpPr>
              <p:nvPr/>
            </p:nvSpPr>
            <p:spPr bwMode="auto">
              <a:xfrm>
                <a:off x="0" y="112"/>
                <a:ext cx="5443" cy="922"/>
              </a:xfrm>
              <a:prstGeom prst="roundRect">
                <a:avLst>
                  <a:gd name="adj" fmla="val 42329"/>
                </a:avLst>
              </a:prstGeom>
              <a:solidFill>
                <a:schemeClr val="accent1">
                  <a:alpha val="49019"/>
                </a:schemeClr>
              </a:solidFill>
              <a:ln w="19050">
                <a:solidFill>
                  <a:srgbClr val="7F7F7F"/>
                </a:solidFill>
                <a:round/>
              </a:ln>
              <a:effectLst>
                <a:outerShdw dist="35921" dir="2700000" algn="ctr" rotWithShape="0">
                  <a:schemeClr val="bg1">
                    <a:alpha val="50000"/>
                  </a:schemeClr>
                </a:outerShdw>
              </a:effectLst>
            </p:spPr>
            <p:txBody>
              <a:bodyPr wrap="none" lIns="90171" tIns="46991" rIns="90171" bIns="46991" anchor="ctr"/>
              <a:lstStyle/>
              <a:p>
                <a:pPr algn="ctr" defTabSz="1024255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0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grpSp>
            <p:nvGrpSpPr>
              <p:cNvPr id="313" name="Group 4"/>
              <p:cNvGrpSpPr/>
              <p:nvPr/>
            </p:nvGrpSpPr>
            <p:grpSpPr bwMode="auto">
              <a:xfrm>
                <a:off x="113" y="0"/>
                <a:ext cx="1473" cy="1133"/>
                <a:chOff x="0" y="0"/>
                <a:chExt cx="1358" cy="1030"/>
              </a:xfrm>
            </p:grpSpPr>
            <p:sp>
              <p:nvSpPr>
                <p:cNvPr id="314" name="Oval 173"/>
                <p:cNvSpPr>
                  <a:spLocks noChangeArrowheads="1"/>
                </p:cNvSpPr>
                <p:nvPr/>
              </p:nvSpPr>
              <p:spPr bwMode="auto">
                <a:xfrm>
                  <a:off x="117" y="0"/>
                  <a:ext cx="1022" cy="1030"/>
                </a:xfrm>
                <a:prstGeom prst="ellipse">
                  <a:avLst/>
                </a:prstGeom>
                <a:solidFill>
                  <a:srgbClr val="006699"/>
                </a:solidFill>
                <a:ln w="38100">
                  <a:solidFill>
                    <a:srgbClr val="EAEAEA"/>
                  </a:solidFill>
                  <a:round/>
                </a:ln>
              </p:spPr>
              <p:txBody>
                <a:bodyPr wrap="none" lIns="90171" tIns="46991" rIns="90171" bIns="46991" anchor="ctr"/>
                <a:lstStyle/>
                <a:p>
                  <a:pPr algn="ctr" defTabSz="1024255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3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15" name="Group 6"/>
                <p:cNvGrpSpPr/>
                <p:nvPr/>
              </p:nvGrpSpPr>
              <p:grpSpPr bwMode="auto">
                <a:xfrm rot="10082854">
                  <a:off x="-3" y="743"/>
                  <a:ext cx="933" cy="228"/>
                  <a:chOff x="0" y="0"/>
                  <a:chExt cx="962" cy="234"/>
                </a:xfrm>
              </p:grpSpPr>
              <p:grpSp>
                <p:nvGrpSpPr>
                  <p:cNvPr id="363" name="Group 7"/>
                  <p:cNvGrpSpPr/>
                  <p:nvPr/>
                </p:nvGrpSpPr>
                <p:grpSpPr bwMode="auto">
                  <a:xfrm rot="-9970459" flipH="1" flipV="1">
                    <a:off x="0" y="0"/>
                    <a:ext cx="962" cy="234"/>
                    <a:chOff x="0" y="0"/>
                    <a:chExt cx="898" cy="236"/>
                  </a:xfrm>
                </p:grpSpPr>
                <p:grpSp>
                  <p:nvGrpSpPr>
                    <p:cNvPr id="375" name="Group 8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381" name="AutoShape 177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82" name="AutoShape 178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83" name="AutoShape 179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87" name="AutoShape 180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376" name="Group 13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377" name="AutoShape 182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8" name="AutoShape 183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" name="AutoShape 184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80" name="AutoShape 185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364" name="Group 18"/>
                  <p:cNvGrpSpPr/>
                  <p:nvPr/>
                </p:nvGrpSpPr>
                <p:grpSpPr bwMode="auto">
                  <a:xfrm rot="-9970459" flipH="1" flipV="1">
                    <a:off x="83" y="26"/>
                    <a:ext cx="788" cy="191"/>
                    <a:chOff x="0" y="0"/>
                    <a:chExt cx="898" cy="236"/>
                  </a:xfrm>
                </p:grpSpPr>
                <p:grpSp>
                  <p:nvGrpSpPr>
                    <p:cNvPr id="365" name="Group 19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371" name="AutoShape 188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2" name="AutoShape 189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3" name="AutoShape 190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4" name="AutoShape 191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366" name="Group 24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367" name="AutoShape 193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8" name="AutoShape 194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" name="AutoShape 195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0" name="AutoShape 196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16" name="Group 29"/>
                <p:cNvGrpSpPr/>
                <p:nvPr/>
              </p:nvGrpSpPr>
              <p:grpSpPr bwMode="auto">
                <a:xfrm rot="-232145">
                  <a:off x="380" y="64"/>
                  <a:ext cx="961" cy="247"/>
                  <a:chOff x="0" y="0"/>
                  <a:chExt cx="992" cy="258"/>
                </a:xfrm>
              </p:grpSpPr>
              <p:grpSp>
                <p:nvGrpSpPr>
                  <p:cNvPr id="317" name="Group 30"/>
                  <p:cNvGrpSpPr/>
                  <p:nvPr/>
                </p:nvGrpSpPr>
                <p:grpSpPr bwMode="auto">
                  <a:xfrm rot="513316">
                    <a:off x="0" y="0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341" name="Group 31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353" name="Group 32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359" name="AutoShap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60" name="AutoShap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61" name="AutoShap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62" name="AutoShap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54" name="Group 37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355" name="AutoShap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56" name="AutoShap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57" name="AutoShap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58" name="AutoShap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42" name="Group 42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343" name="Group 43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349" name="AutoShap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50" name="AutoShap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51" name="AutoShap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52" name="AutoShap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44" name="Group 48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345" name="AutoShap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46" name="AutoShap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47" name="AutoShap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48" name="AutoShap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318" name="Group 53"/>
                  <p:cNvGrpSpPr/>
                  <p:nvPr/>
                </p:nvGrpSpPr>
                <p:grpSpPr bwMode="auto">
                  <a:xfrm rot="513316">
                    <a:off x="30" y="24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319" name="Group 54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331" name="Group 55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337" name="AutoShap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38" name="AutoShap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39" name="AutoShap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40" name="AutoShap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32" name="Group 60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333" name="AutoShap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34" name="AutoShap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35" name="AutoShap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36" name="AutoShap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20" name="Group 65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321" name="Group 66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327" name="AutoShap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8" name="AutoShap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9" name="AutoShap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30" name="AutoShap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22" name="Group 71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323" name="AutoShap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4" name="AutoShap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5" name="AutoShap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26" name="AutoShap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388" name="Group 76"/>
            <p:cNvGrpSpPr/>
            <p:nvPr/>
          </p:nvGrpSpPr>
          <p:grpSpPr bwMode="auto">
            <a:xfrm>
              <a:off x="3338970" y="3207653"/>
              <a:ext cx="2592084" cy="719773"/>
              <a:chOff x="0" y="0"/>
              <a:chExt cx="5443" cy="1133"/>
            </a:xfrm>
          </p:grpSpPr>
          <p:sp>
            <p:nvSpPr>
              <p:cNvPr id="389" name="AutoShape 5"/>
              <p:cNvSpPr>
                <a:spLocks noChangeArrowheads="1"/>
              </p:cNvSpPr>
              <p:nvPr/>
            </p:nvSpPr>
            <p:spPr bwMode="auto">
              <a:xfrm>
                <a:off x="0" y="112"/>
                <a:ext cx="5443" cy="922"/>
              </a:xfrm>
              <a:prstGeom prst="roundRect">
                <a:avLst>
                  <a:gd name="adj" fmla="val 42329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90171" tIns="46991" rIns="90171" bIns="46991" anchor="ctr"/>
              <a:lstStyle/>
              <a:p>
                <a:pPr algn="ctr" defTabSz="1024255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00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390" name="Group 78"/>
              <p:cNvGrpSpPr/>
              <p:nvPr/>
            </p:nvGrpSpPr>
            <p:grpSpPr bwMode="auto">
              <a:xfrm>
                <a:off x="113" y="0"/>
                <a:ext cx="1473" cy="1133"/>
                <a:chOff x="0" y="0"/>
                <a:chExt cx="1358" cy="1030"/>
              </a:xfrm>
            </p:grpSpPr>
            <p:sp>
              <p:nvSpPr>
                <p:cNvPr id="391" name="Oval 173"/>
                <p:cNvSpPr>
                  <a:spLocks noChangeArrowheads="1"/>
                </p:cNvSpPr>
                <p:nvPr/>
              </p:nvSpPr>
              <p:spPr bwMode="auto">
                <a:xfrm>
                  <a:off x="117" y="0"/>
                  <a:ext cx="1022" cy="1030"/>
                </a:xfrm>
                <a:prstGeom prst="ellipse">
                  <a:avLst/>
                </a:prstGeom>
                <a:solidFill>
                  <a:srgbClr val="009999"/>
                </a:solidFill>
                <a:ln w="38100">
                  <a:solidFill>
                    <a:srgbClr val="EAEAEA"/>
                  </a:solidFill>
                  <a:round/>
                </a:ln>
              </p:spPr>
              <p:txBody>
                <a:bodyPr wrap="none" lIns="90171" tIns="46991" rIns="90171" bIns="46991" anchor="ctr"/>
                <a:lstStyle/>
                <a:p>
                  <a:pPr algn="ctr" defTabSz="1024255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3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2" name="Group 80"/>
                <p:cNvGrpSpPr/>
                <p:nvPr/>
              </p:nvGrpSpPr>
              <p:grpSpPr bwMode="auto">
                <a:xfrm rot="10082854">
                  <a:off x="-3" y="743"/>
                  <a:ext cx="933" cy="228"/>
                  <a:chOff x="0" y="0"/>
                  <a:chExt cx="962" cy="234"/>
                </a:xfrm>
              </p:grpSpPr>
              <p:grpSp>
                <p:nvGrpSpPr>
                  <p:cNvPr id="440" name="Group 81"/>
                  <p:cNvGrpSpPr/>
                  <p:nvPr/>
                </p:nvGrpSpPr>
                <p:grpSpPr bwMode="auto">
                  <a:xfrm rot="-9970459" flipH="1" flipV="1">
                    <a:off x="0" y="0"/>
                    <a:ext cx="962" cy="234"/>
                    <a:chOff x="0" y="0"/>
                    <a:chExt cx="898" cy="236"/>
                  </a:xfrm>
                </p:grpSpPr>
                <p:grpSp>
                  <p:nvGrpSpPr>
                    <p:cNvPr id="452" name="Group 82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458" name="AutoShape 177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59" name="AutoShape 178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60" name="AutoShape 179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61" name="AutoShape 180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453" name="Group 87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454" name="AutoShape 182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55" name="AutoShape 183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56" name="AutoShape 184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57" name="AutoShape 185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441" name="Group 92"/>
                  <p:cNvGrpSpPr/>
                  <p:nvPr/>
                </p:nvGrpSpPr>
                <p:grpSpPr bwMode="auto">
                  <a:xfrm rot="-9970459" flipH="1" flipV="1">
                    <a:off x="83" y="26"/>
                    <a:ext cx="788" cy="191"/>
                    <a:chOff x="0" y="0"/>
                    <a:chExt cx="898" cy="236"/>
                  </a:xfrm>
                </p:grpSpPr>
                <p:grpSp>
                  <p:nvGrpSpPr>
                    <p:cNvPr id="442" name="Group 93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448" name="AutoShape 188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49" name="AutoShape 189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50" name="AutoShape 190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51" name="AutoShape 191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443" name="Group 98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444" name="AutoShape 193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45" name="AutoShape 194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46" name="AutoShape 195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447" name="AutoShape 196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93" name="Group 103"/>
                <p:cNvGrpSpPr/>
                <p:nvPr/>
              </p:nvGrpSpPr>
              <p:grpSpPr bwMode="auto">
                <a:xfrm rot="-232145">
                  <a:off x="380" y="64"/>
                  <a:ext cx="961" cy="247"/>
                  <a:chOff x="0" y="0"/>
                  <a:chExt cx="992" cy="258"/>
                </a:xfrm>
              </p:grpSpPr>
              <p:grpSp>
                <p:nvGrpSpPr>
                  <p:cNvPr id="394" name="Group 104"/>
                  <p:cNvGrpSpPr/>
                  <p:nvPr/>
                </p:nvGrpSpPr>
                <p:grpSpPr bwMode="auto">
                  <a:xfrm rot="513316">
                    <a:off x="0" y="0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418" name="Group 105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430" name="Group 106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36" name="AutoShap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37" name="AutoShap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38" name="AutoShap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39" name="AutoShap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31" name="Group 111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32" name="AutoShap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33" name="AutoShap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34" name="AutoShap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35" name="AutoShap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19" name="Group 116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420" name="Group 117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26" name="AutoShap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27" name="AutoShap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28" name="AutoShap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29" name="AutoShap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21" name="Group 122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22" name="AutoShap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23" name="AutoShap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24" name="AutoShap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25" name="AutoShap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395" name="Group 127"/>
                  <p:cNvGrpSpPr/>
                  <p:nvPr/>
                </p:nvGrpSpPr>
                <p:grpSpPr bwMode="auto">
                  <a:xfrm rot="513316">
                    <a:off x="30" y="24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396" name="Group 128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408" name="Group 129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14" name="AutoShap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15" name="AutoShap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16" name="AutoShap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17" name="AutoShap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09" name="Group 134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10" name="AutoShap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11" name="AutoShap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12" name="AutoShap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13" name="AutoShap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97" name="Group 139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398" name="Group 140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04" name="AutoShap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5" name="AutoShap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6" name="AutoShap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7" name="AutoShap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99" name="Group 145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00" name="AutoShap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1" name="AutoShap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2" name="AutoShap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03" name="AutoShap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462" name="Group 150"/>
            <p:cNvGrpSpPr/>
            <p:nvPr/>
          </p:nvGrpSpPr>
          <p:grpSpPr bwMode="auto">
            <a:xfrm>
              <a:off x="3338970" y="2415751"/>
              <a:ext cx="2592084" cy="719773"/>
              <a:chOff x="0" y="0"/>
              <a:chExt cx="5443" cy="1133"/>
            </a:xfrm>
          </p:grpSpPr>
          <p:sp>
            <p:nvSpPr>
              <p:cNvPr id="463" name="AutoShape 5"/>
              <p:cNvSpPr>
                <a:spLocks noChangeArrowheads="1"/>
              </p:cNvSpPr>
              <p:nvPr/>
            </p:nvSpPr>
            <p:spPr bwMode="auto">
              <a:xfrm>
                <a:off x="0" y="112"/>
                <a:ext cx="5443" cy="922"/>
              </a:xfrm>
              <a:prstGeom prst="roundRect">
                <a:avLst>
                  <a:gd name="adj" fmla="val 42329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90171" tIns="46991" rIns="90171" bIns="46991" anchor="ctr"/>
              <a:lstStyle/>
              <a:p>
                <a:pPr algn="ctr" defTabSz="1024255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00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464" name="Group 152"/>
              <p:cNvGrpSpPr/>
              <p:nvPr/>
            </p:nvGrpSpPr>
            <p:grpSpPr bwMode="auto">
              <a:xfrm>
                <a:off x="113" y="0"/>
                <a:ext cx="1473" cy="1133"/>
                <a:chOff x="0" y="0"/>
                <a:chExt cx="1358" cy="1030"/>
              </a:xfrm>
            </p:grpSpPr>
            <p:sp>
              <p:nvSpPr>
                <p:cNvPr id="465" name="Oval 173"/>
                <p:cNvSpPr>
                  <a:spLocks noChangeArrowheads="1"/>
                </p:cNvSpPr>
                <p:nvPr/>
              </p:nvSpPr>
              <p:spPr bwMode="auto">
                <a:xfrm>
                  <a:off x="117" y="0"/>
                  <a:ext cx="1022" cy="1030"/>
                </a:xfrm>
                <a:prstGeom prst="ellipse">
                  <a:avLst/>
                </a:prstGeom>
                <a:solidFill>
                  <a:srgbClr val="008080">
                    <a:alpha val="94901"/>
                  </a:srgbClr>
                </a:solidFill>
                <a:ln w="38100">
                  <a:solidFill>
                    <a:srgbClr val="EAEAEA"/>
                  </a:solidFill>
                  <a:round/>
                </a:ln>
              </p:spPr>
              <p:txBody>
                <a:bodyPr wrap="none" lIns="90171" tIns="46991" rIns="90171" bIns="46991" anchor="ctr"/>
                <a:lstStyle/>
                <a:p>
                  <a:pPr algn="ctr" defTabSz="1024255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3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66" name="Group 154"/>
                <p:cNvGrpSpPr/>
                <p:nvPr/>
              </p:nvGrpSpPr>
              <p:grpSpPr bwMode="auto">
                <a:xfrm rot="10082854">
                  <a:off x="-3" y="743"/>
                  <a:ext cx="933" cy="228"/>
                  <a:chOff x="0" y="0"/>
                  <a:chExt cx="962" cy="234"/>
                </a:xfrm>
              </p:grpSpPr>
              <p:grpSp>
                <p:nvGrpSpPr>
                  <p:cNvPr id="514" name="Group 155"/>
                  <p:cNvGrpSpPr/>
                  <p:nvPr/>
                </p:nvGrpSpPr>
                <p:grpSpPr bwMode="auto">
                  <a:xfrm rot="-9970459" flipH="1" flipV="1">
                    <a:off x="0" y="0"/>
                    <a:ext cx="962" cy="234"/>
                    <a:chOff x="0" y="0"/>
                    <a:chExt cx="898" cy="236"/>
                  </a:xfrm>
                </p:grpSpPr>
                <p:grpSp>
                  <p:nvGrpSpPr>
                    <p:cNvPr id="526" name="Group 156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32" name="AutoShape 177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3" name="AutoShape 178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4" name="AutoShape 179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5" name="AutoShape 180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27" name="Group 161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28" name="AutoShape 182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9" name="AutoShape 183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0" name="AutoShape 184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31" name="AutoShape 185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515" name="Group 166"/>
                  <p:cNvGrpSpPr/>
                  <p:nvPr/>
                </p:nvGrpSpPr>
                <p:grpSpPr bwMode="auto">
                  <a:xfrm rot="-9970459" flipH="1" flipV="1">
                    <a:off x="83" y="26"/>
                    <a:ext cx="788" cy="191"/>
                    <a:chOff x="0" y="0"/>
                    <a:chExt cx="898" cy="236"/>
                  </a:xfrm>
                </p:grpSpPr>
                <p:grpSp>
                  <p:nvGrpSpPr>
                    <p:cNvPr id="516" name="Group 167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22" name="AutoShape 188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3" name="AutoShape 189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4" name="AutoShape 190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5" name="AutoShape 191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17" name="Group 172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18" name="AutoShape 193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19" name="AutoShape 194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0" name="AutoShape 195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21" name="AutoShape 196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467" name="Group 177"/>
                <p:cNvGrpSpPr/>
                <p:nvPr/>
              </p:nvGrpSpPr>
              <p:grpSpPr bwMode="auto">
                <a:xfrm rot="-232145">
                  <a:off x="380" y="64"/>
                  <a:ext cx="961" cy="247"/>
                  <a:chOff x="0" y="0"/>
                  <a:chExt cx="992" cy="258"/>
                </a:xfrm>
              </p:grpSpPr>
              <p:grpSp>
                <p:nvGrpSpPr>
                  <p:cNvPr id="468" name="Group 178"/>
                  <p:cNvGrpSpPr/>
                  <p:nvPr/>
                </p:nvGrpSpPr>
                <p:grpSpPr bwMode="auto">
                  <a:xfrm rot="513316">
                    <a:off x="0" y="0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492" name="Group 179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04" name="Group 180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10" name="AutoShap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1" name="AutoShap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2" name="AutoShap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13" name="AutoShap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05" name="Group 185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06" name="AutoShap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07" name="AutoShap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08" name="AutoShap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09" name="AutoShap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93" name="Group 190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494" name="Group 191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00" name="AutoShap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01" name="AutoShap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02" name="AutoShap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03" name="AutoShap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95" name="Group 196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96" name="AutoShap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97" name="AutoShap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98" name="AutoShap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99" name="AutoShap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469" name="Group 201"/>
                  <p:cNvGrpSpPr/>
                  <p:nvPr/>
                </p:nvGrpSpPr>
                <p:grpSpPr bwMode="auto">
                  <a:xfrm rot="513316">
                    <a:off x="30" y="24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470" name="Group 202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482" name="Group 203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88" name="AutoShap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89" name="AutoShap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90" name="AutoShap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91" name="AutoShap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83" name="Group 208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84" name="AutoShap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85" name="AutoShap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86" name="AutoShap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87" name="AutoShap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71" name="Group 213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472" name="Group 214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78" name="AutoShap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79" name="AutoShap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80" name="AutoShap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81" name="AutoShap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473" name="Group 219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474" name="AutoShap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75" name="AutoShap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76" name="AutoShap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477" name="AutoShap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536" name="Group 224"/>
            <p:cNvGrpSpPr/>
            <p:nvPr/>
          </p:nvGrpSpPr>
          <p:grpSpPr bwMode="auto">
            <a:xfrm>
              <a:off x="3338970" y="4010830"/>
              <a:ext cx="2592084" cy="719773"/>
              <a:chOff x="0" y="0"/>
              <a:chExt cx="5443" cy="1133"/>
            </a:xfrm>
          </p:grpSpPr>
          <p:sp>
            <p:nvSpPr>
              <p:cNvPr id="537" name="AutoShape 5"/>
              <p:cNvSpPr>
                <a:spLocks noChangeArrowheads="1"/>
              </p:cNvSpPr>
              <p:nvPr/>
            </p:nvSpPr>
            <p:spPr bwMode="auto">
              <a:xfrm>
                <a:off x="0" y="112"/>
                <a:ext cx="5443" cy="922"/>
              </a:xfrm>
              <a:prstGeom prst="roundRect">
                <a:avLst>
                  <a:gd name="adj" fmla="val 42329"/>
                </a:avLst>
              </a:prstGeom>
              <a:solidFill>
                <a:schemeClr val="accent1">
                  <a:alpha val="49019"/>
                </a:schemeClr>
              </a:solidFill>
              <a:ln w="19050">
                <a:solidFill>
                  <a:srgbClr val="7F7F7F"/>
                </a:solidFill>
                <a:round/>
              </a:ln>
              <a:effectLst>
                <a:outerShdw dist="35921" dir="2700000" algn="ctr" rotWithShape="0">
                  <a:schemeClr val="bg1">
                    <a:alpha val="50000"/>
                  </a:schemeClr>
                </a:outerShdw>
              </a:effectLst>
            </p:spPr>
            <p:txBody>
              <a:bodyPr wrap="none" lIns="90171" tIns="46991" rIns="90171" bIns="46991" anchor="ctr"/>
              <a:lstStyle/>
              <a:p>
                <a:pPr algn="ctr" defTabSz="1024255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20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grpSp>
            <p:nvGrpSpPr>
              <p:cNvPr id="538" name="Group 226"/>
              <p:cNvGrpSpPr/>
              <p:nvPr/>
            </p:nvGrpSpPr>
            <p:grpSpPr bwMode="auto">
              <a:xfrm>
                <a:off x="113" y="0"/>
                <a:ext cx="1473" cy="1133"/>
                <a:chOff x="0" y="0"/>
                <a:chExt cx="1358" cy="1030"/>
              </a:xfrm>
            </p:grpSpPr>
            <p:sp>
              <p:nvSpPr>
                <p:cNvPr id="539" name="Oval 173"/>
                <p:cNvSpPr>
                  <a:spLocks noChangeArrowheads="1"/>
                </p:cNvSpPr>
                <p:nvPr/>
              </p:nvSpPr>
              <p:spPr bwMode="auto">
                <a:xfrm>
                  <a:off x="117" y="0"/>
                  <a:ext cx="1022" cy="1030"/>
                </a:xfrm>
                <a:prstGeom prst="ellipse">
                  <a:avLst/>
                </a:prstGeom>
                <a:solidFill>
                  <a:srgbClr val="41C3A6"/>
                </a:solidFill>
                <a:ln w="38100">
                  <a:solidFill>
                    <a:srgbClr val="EAEAEA"/>
                  </a:solidFill>
                  <a:round/>
                </a:ln>
              </p:spPr>
              <p:txBody>
                <a:bodyPr wrap="none" lIns="90171" tIns="46991" rIns="90171" bIns="46991" anchor="ctr"/>
                <a:lstStyle/>
                <a:p>
                  <a:pPr algn="ctr" defTabSz="1024255" fontAlgn="auto">
                    <a:spcBef>
                      <a:spcPts val="0"/>
                    </a:spcBef>
                    <a:spcAft>
                      <a:spcPts val="0"/>
                    </a:spcAft>
                  </a:pPr>
                  <a:endParaRPr lang="zh-CN" altLang="en-US" sz="13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40" name="Group 228"/>
                <p:cNvGrpSpPr/>
                <p:nvPr/>
              </p:nvGrpSpPr>
              <p:grpSpPr bwMode="auto">
                <a:xfrm rot="10082854">
                  <a:off x="-3" y="743"/>
                  <a:ext cx="933" cy="228"/>
                  <a:chOff x="0" y="0"/>
                  <a:chExt cx="962" cy="234"/>
                </a:xfrm>
              </p:grpSpPr>
              <p:grpSp>
                <p:nvGrpSpPr>
                  <p:cNvPr id="588" name="Group 229"/>
                  <p:cNvGrpSpPr/>
                  <p:nvPr/>
                </p:nvGrpSpPr>
                <p:grpSpPr bwMode="auto">
                  <a:xfrm rot="-9970459" flipH="1" flipV="1">
                    <a:off x="0" y="0"/>
                    <a:ext cx="962" cy="234"/>
                    <a:chOff x="0" y="0"/>
                    <a:chExt cx="898" cy="236"/>
                  </a:xfrm>
                </p:grpSpPr>
                <p:grpSp>
                  <p:nvGrpSpPr>
                    <p:cNvPr id="600" name="Group 230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606" name="AutoShape 177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607" name="AutoShape 178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608" name="AutoShape 179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609" name="AutoShape 180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601" name="Group 235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602" name="AutoShape 182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603" name="AutoShape 183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604" name="AutoShape 184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605" name="AutoShape 185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589" name="Group 240"/>
                  <p:cNvGrpSpPr/>
                  <p:nvPr/>
                </p:nvGrpSpPr>
                <p:grpSpPr bwMode="auto">
                  <a:xfrm rot="-9970459" flipH="1" flipV="1">
                    <a:off x="83" y="26"/>
                    <a:ext cx="788" cy="191"/>
                    <a:chOff x="0" y="0"/>
                    <a:chExt cx="898" cy="236"/>
                  </a:xfrm>
                </p:grpSpPr>
                <p:grpSp>
                  <p:nvGrpSpPr>
                    <p:cNvPr id="590" name="Group 241"/>
                    <p:cNvGrpSpPr/>
                    <p:nvPr/>
                  </p:nvGrpSpPr>
                  <p:grpSpPr bwMode="auto">
                    <a:xfrm>
                      <a:off x="0" y="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96" name="AutoShape 188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97" name="AutoShape 189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98" name="AutoShape 190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99" name="AutoShape 191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91" name="Group 246"/>
                    <p:cNvGrpSpPr/>
                    <p:nvPr/>
                  </p:nvGrpSpPr>
                  <p:grpSpPr bwMode="auto">
                    <a:xfrm rot="1353540">
                      <a:off x="156" y="50"/>
                      <a:ext cx="742" cy="186"/>
                      <a:chOff x="0" y="0"/>
                      <a:chExt cx="1118" cy="279"/>
                    </a:xfrm>
                  </p:grpSpPr>
                  <p:sp>
                    <p:nvSpPr>
                      <p:cNvPr id="592" name="AutoShape 193"/>
                      <p:cNvSpPr>
                        <a:spLocks noChangeArrowheads="1"/>
                      </p:cNvSpPr>
                      <p:nvPr/>
                    </p:nvSpPr>
                    <p:spPr bwMode="auto">
                      <a:xfrm rot="5263130">
                        <a:off x="288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93" name="AutoShape 194"/>
                      <p:cNvSpPr>
                        <a:spLocks noChangeArrowheads="1"/>
                      </p:cNvSpPr>
                      <p:nvPr/>
                    </p:nvSpPr>
                    <p:spPr bwMode="auto">
                      <a:xfrm rot="6078281">
                        <a:off x="424" y="-294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94" name="AutoShape 195"/>
                      <p:cNvSpPr>
                        <a:spLocks noChangeArrowheads="1"/>
                      </p:cNvSpPr>
                      <p:nvPr/>
                    </p:nvSpPr>
                    <p:spPr bwMode="auto">
                      <a:xfrm rot="6373927">
                        <a:off x="500" y="-27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eaVert"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595" name="AutoShape 196"/>
                      <p:cNvSpPr>
                        <a:spLocks noChangeArrowheads="1"/>
                      </p:cNvSpPr>
                      <p:nvPr/>
                    </p:nvSpPr>
                    <p:spPr bwMode="auto">
                      <a:xfrm rot="6906312">
                        <a:off x="590" y="-242"/>
                        <a:ext cx="227" cy="816"/>
                      </a:xfrm>
                      <a:prstGeom prst="moon">
                        <a:avLst>
                          <a:gd name="adj" fmla="val 49773"/>
                        </a:avLst>
                      </a:prstGeom>
                      <a:solidFill>
                        <a:srgbClr val="FFFFFF">
                          <a:alpha val="3922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algn="ctr" defTabSz="1024255"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endParaRPr lang="zh-CN" altLang="en-US" sz="1300">
                          <a:solidFill>
                            <a:prstClr val="black"/>
                          </a:solidFill>
                          <a:latin typeface="Calibri" panose="020F0502020204030204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41" name="Group 251"/>
                <p:cNvGrpSpPr/>
                <p:nvPr/>
              </p:nvGrpSpPr>
              <p:grpSpPr bwMode="auto">
                <a:xfrm rot="-232145">
                  <a:off x="380" y="64"/>
                  <a:ext cx="961" cy="247"/>
                  <a:chOff x="0" y="0"/>
                  <a:chExt cx="992" cy="258"/>
                </a:xfrm>
              </p:grpSpPr>
              <p:grpSp>
                <p:nvGrpSpPr>
                  <p:cNvPr id="542" name="Group 252"/>
                  <p:cNvGrpSpPr/>
                  <p:nvPr/>
                </p:nvGrpSpPr>
                <p:grpSpPr bwMode="auto">
                  <a:xfrm rot="513316">
                    <a:off x="0" y="0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66" name="Group 253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78" name="Group 254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84" name="AutoShape 2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85" name="AutoShape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86" name="AutoShape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87" name="AutoShape 20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79" name="Group 259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80" name="AutoShape 20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81" name="AutoShape 20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82" name="AutoShape 20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83" name="AutoShape 20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67" name="Group 264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68" name="Group 265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74" name="AutoShape 2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75" name="AutoShape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76" name="AutoShape 2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77" name="AutoShape 2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69" name="Group 270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70" name="AutoShape 2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71" name="AutoShape 2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72" name="AutoShape 2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73" name="AutoShape 22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3922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543" name="Group 275"/>
                  <p:cNvGrpSpPr/>
                  <p:nvPr/>
                </p:nvGrpSpPr>
                <p:grpSpPr bwMode="auto">
                  <a:xfrm rot="513316">
                    <a:off x="30" y="24"/>
                    <a:ext cx="962" cy="234"/>
                    <a:chOff x="0" y="0"/>
                    <a:chExt cx="962" cy="234"/>
                  </a:xfrm>
                </p:grpSpPr>
                <p:grpSp>
                  <p:nvGrpSpPr>
                    <p:cNvPr id="544" name="Group 276"/>
                    <p:cNvGrpSpPr/>
                    <p:nvPr/>
                  </p:nvGrpSpPr>
                  <p:grpSpPr bwMode="auto">
                    <a:xfrm rot="-9970459" flipH="1" flipV="1">
                      <a:off x="0" y="0"/>
                      <a:ext cx="962" cy="234"/>
                      <a:chOff x="0" y="0"/>
                      <a:chExt cx="898" cy="236"/>
                    </a:xfrm>
                  </p:grpSpPr>
                  <p:grpSp>
                    <p:nvGrpSpPr>
                      <p:cNvPr id="556" name="Group 277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62" name="AutoShap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63" name="AutoShape 2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64" name="AutoShape 2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65" name="AutoShape 2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57" name="Group 282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58" name="AutoShape 2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59" name="AutoShape 2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60" name="AutoShape 2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61" name="AutoShape 2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45" name="Group 287"/>
                    <p:cNvGrpSpPr/>
                    <p:nvPr/>
                  </p:nvGrpSpPr>
                  <p:grpSpPr bwMode="auto">
                    <a:xfrm rot="-9970459" flipH="1" flipV="1">
                      <a:off x="83" y="26"/>
                      <a:ext cx="788" cy="191"/>
                      <a:chOff x="0" y="0"/>
                      <a:chExt cx="898" cy="236"/>
                    </a:xfrm>
                  </p:grpSpPr>
                  <p:grpSp>
                    <p:nvGrpSpPr>
                      <p:cNvPr id="546" name="Group 288"/>
                      <p:cNvGrpSpPr/>
                      <p:nvPr/>
                    </p:nvGrpSpPr>
                    <p:grpSpPr bwMode="auto">
                      <a:xfrm>
                        <a:off x="0" y="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52" name="AutoShape 2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53" name="AutoShape 2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54" name="AutoShape 2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55" name="AutoShape 2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47" name="Group 293"/>
                      <p:cNvGrpSpPr/>
                      <p:nvPr/>
                    </p:nvGrpSpPr>
                    <p:grpSpPr bwMode="auto">
                      <a:xfrm rot="1353540">
                        <a:off x="156" y="50"/>
                        <a:ext cx="742" cy="186"/>
                        <a:chOff x="0" y="0"/>
                        <a:chExt cx="1118" cy="279"/>
                      </a:xfrm>
                    </p:grpSpPr>
                    <p:sp>
                      <p:nvSpPr>
                        <p:cNvPr id="548" name="AutoShape 2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263130">
                          <a:off x="288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vert="eaVert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49" name="AutoShape 2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078281">
                          <a:off x="424" y="-294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50" name="AutoShape 2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373927">
                          <a:off x="500" y="-27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551" name="AutoShape 2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6906312">
                          <a:off x="590" y="-242"/>
                          <a:ext cx="227" cy="816"/>
                        </a:xfrm>
                        <a:prstGeom prst="moon">
                          <a:avLst>
                            <a:gd name="adj" fmla="val 49773"/>
                          </a:avLst>
                        </a:prstGeom>
                        <a:solidFill>
                          <a:srgbClr val="FFFFFF">
                            <a:alpha val="1961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rot="10800000" wrap="none" anchor="ctr"/>
                        <a:lstStyle/>
                        <a:p>
                          <a:pPr algn="ctr" defTabSz="1024255" fontAlgn="auto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zh-CN" altLang="en-US" sz="1300">
                            <a:solidFill>
                              <a:prstClr val="black"/>
                            </a:solidFill>
                            <a:latin typeface="Calibri" panose="020F0502020204030204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610" name="Text Box 298"/>
            <p:cNvSpPr txBox="1">
              <a:spLocks noChangeArrowheads="1"/>
            </p:cNvSpPr>
            <p:nvPr/>
          </p:nvSpPr>
          <p:spPr bwMode="auto">
            <a:xfrm>
              <a:off x="3554472" y="1810208"/>
              <a:ext cx="41152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五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1" name="Text Box 299"/>
            <p:cNvSpPr txBox="1">
              <a:spLocks noChangeArrowheads="1"/>
            </p:cNvSpPr>
            <p:nvPr/>
          </p:nvSpPr>
          <p:spPr bwMode="auto">
            <a:xfrm>
              <a:off x="3566380" y="2534816"/>
              <a:ext cx="41152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六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2" name="Text Box 300"/>
            <p:cNvSpPr txBox="1">
              <a:spLocks noChangeArrowheads="1"/>
            </p:cNvSpPr>
            <p:nvPr/>
          </p:nvSpPr>
          <p:spPr bwMode="auto">
            <a:xfrm>
              <a:off x="3554472" y="3352118"/>
              <a:ext cx="41152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七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3" name="Text Box 301"/>
            <p:cNvSpPr txBox="1">
              <a:spLocks noChangeArrowheads="1"/>
            </p:cNvSpPr>
            <p:nvPr/>
          </p:nvSpPr>
          <p:spPr bwMode="auto">
            <a:xfrm>
              <a:off x="3554472" y="4155294"/>
              <a:ext cx="41152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八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4" name="Text Box 302"/>
            <p:cNvSpPr txBox="1">
              <a:spLocks noChangeArrowheads="1"/>
            </p:cNvSpPr>
            <p:nvPr/>
          </p:nvSpPr>
          <p:spPr bwMode="auto">
            <a:xfrm>
              <a:off x="3975955" y="1795922"/>
              <a:ext cx="66800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函数</a:t>
              </a:r>
              <a:endParaRPr lang="zh-CN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5" name="Text Box 303"/>
            <p:cNvSpPr txBox="1">
              <a:spLocks noChangeArrowheads="1"/>
            </p:cNvSpPr>
            <p:nvPr/>
          </p:nvSpPr>
          <p:spPr bwMode="auto">
            <a:xfrm>
              <a:off x="3996195" y="2533227"/>
              <a:ext cx="1180965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代数结构</a:t>
              </a:r>
              <a:endParaRPr lang="zh-CN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616" name="Text Box 304"/>
            <p:cNvSpPr txBox="1">
              <a:spLocks noChangeArrowheads="1"/>
            </p:cNvSpPr>
            <p:nvPr/>
          </p:nvSpPr>
          <p:spPr bwMode="auto">
            <a:xfrm>
              <a:off x="3997387" y="3341006"/>
              <a:ext cx="1693926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格与布尔代数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617" name="Text Box 305"/>
            <p:cNvSpPr txBox="1">
              <a:spLocks noChangeArrowheads="1"/>
            </p:cNvSpPr>
            <p:nvPr/>
          </p:nvSpPr>
          <p:spPr bwMode="auto">
            <a:xfrm>
              <a:off x="3998578" y="4117195"/>
              <a:ext cx="66800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图论</a:t>
              </a:r>
              <a:endPara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618" name="Text Box 302"/>
            <p:cNvSpPr txBox="1">
              <a:spLocks noChangeArrowheads="1"/>
            </p:cNvSpPr>
            <p:nvPr/>
          </p:nvSpPr>
          <p:spPr bwMode="auto">
            <a:xfrm>
              <a:off x="2349927" y="1774296"/>
              <a:ext cx="53976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1F497D">
                      <a:lumMod val="75000"/>
                    </a:srgb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10h</a:t>
              </a:r>
              <a:endParaRPr lang="zh-CN" altLang="zh-CN" sz="2000" dirty="0">
                <a:solidFill>
                  <a:srgbClr val="1F497D">
                    <a:lumMod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9" name="Text Box 302"/>
            <p:cNvSpPr txBox="1">
              <a:spLocks noChangeArrowheads="1"/>
            </p:cNvSpPr>
            <p:nvPr/>
          </p:nvSpPr>
          <p:spPr bwMode="auto">
            <a:xfrm>
              <a:off x="2352377" y="2523746"/>
              <a:ext cx="53976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1F497D">
                      <a:lumMod val="75000"/>
                    </a:srgb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8h</a:t>
              </a:r>
              <a:endParaRPr lang="zh-CN" altLang="zh-CN" sz="2000" dirty="0">
                <a:solidFill>
                  <a:srgbClr val="1F497D">
                    <a:lumMod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0" name="Text Box 302"/>
            <p:cNvSpPr txBox="1">
              <a:spLocks noChangeArrowheads="1"/>
            </p:cNvSpPr>
            <p:nvPr/>
          </p:nvSpPr>
          <p:spPr bwMode="auto">
            <a:xfrm>
              <a:off x="2352377" y="3354523"/>
              <a:ext cx="53976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1F497D">
                      <a:lumMod val="75000"/>
                    </a:srgb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4h</a:t>
              </a:r>
              <a:endParaRPr lang="zh-CN" altLang="zh-CN" sz="2000" dirty="0">
                <a:solidFill>
                  <a:srgbClr val="1F497D">
                    <a:lumMod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1" name="Text Box 302"/>
            <p:cNvSpPr txBox="1">
              <a:spLocks noChangeArrowheads="1"/>
            </p:cNvSpPr>
            <p:nvPr/>
          </p:nvSpPr>
          <p:spPr bwMode="auto">
            <a:xfrm>
              <a:off x="2362445" y="4156213"/>
              <a:ext cx="53976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1F497D">
                      <a:lumMod val="75000"/>
                    </a:srgb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12h</a:t>
              </a:r>
              <a:endParaRPr lang="zh-CN" altLang="zh-CN" sz="2000" dirty="0">
                <a:solidFill>
                  <a:srgbClr val="1F497D">
                    <a:lumMod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2" name="Text Box 302"/>
            <p:cNvSpPr txBox="1">
              <a:spLocks noChangeArrowheads="1"/>
            </p:cNvSpPr>
            <p:nvPr/>
          </p:nvSpPr>
          <p:spPr bwMode="auto">
            <a:xfrm>
              <a:off x="5162219" y="1785589"/>
              <a:ext cx="53976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1F497D">
                      <a:lumMod val="75000"/>
                    </a:srgb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2h</a:t>
              </a:r>
              <a:endParaRPr lang="zh-CN" altLang="zh-CN" sz="2000" dirty="0">
                <a:solidFill>
                  <a:srgbClr val="1F497D">
                    <a:lumMod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3" name="Text Box 302"/>
            <p:cNvSpPr txBox="1">
              <a:spLocks noChangeArrowheads="1"/>
            </p:cNvSpPr>
            <p:nvPr/>
          </p:nvSpPr>
          <p:spPr bwMode="auto">
            <a:xfrm>
              <a:off x="5450940" y="2524978"/>
              <a:ext cx="53976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0h</a:t>
              </a:r>
              <a:endPara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4" name="Text Box 302"/>
            <p:cNvSpPr txBox="1">
              <a:spLocks noChangeArrowheads="1"/>
            </p:cNvSpPr>
            <p:nvPr/>
          </p:nvSpPr>
          <p:spPr bwMode="auto">
            <a:xfrm>
              <a:off x="5462841" y="3334903"/>
              <a:ext cx="53976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0h</a:t>
              </a:r>
              <a:endPara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5" name="Text Box 302"/>
            <p:cNvSpPr txBox="1">
              <a:spLocks noChangeArrowheads="1"/>
            </p:cNvSpPr>
            <p:nvPr/>
          </p:nvSpPr>
          <p:spPr bwMode="auto">
            <a:xfrm>
              <a:off x="5278673" y="4146169"/>
              <a:ext cx="539764" cy="385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772" tIns="38386" rIns="76772" bIns="38386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1F497D">
                      <a:lumMod val="75000"/>
                    </a:srgb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12h</a:t>
              </a:r>
              <a:endParaRPr lang="zh-CN" altLang="zh-CN" sz="2000" dirty="0">
                <a:solidFill>
                  <a:srgbClr val="1F497D">
                    <a:lumMod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626" name="Text Box 302"/>
          <p:cNvSpPr txBox="1">
            <a:spLocks noChangeArrowheads="1"/>
          </p:cNvSpPr>
          <p:nvPr/>
        </p:nvSpPr>
        <p:spPr bwMode="auto">
          <a:xfrm>
            <a:off x="1818954" y="1197270"/>
            <a:ext cx="4258731" cy="385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772" tIns="38386" rIns="76772" bIns="38386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理论授课：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学时；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习题课：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学时</a:t>
            </a:r>
            <a:endParaRPr lang="zh-CN" altLang="zh-CN" sz="2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1" name="圆角矩形 700"/>
          <p:cNvSpPr/>
          <p:nvPr/>
        </p:nvSpPr>
        <p:spPr>
          <a:xfrm>
            <a:off x="6330432" y="1991566"/>
            <a:ext cx="2634056" cy="12059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6772" tIns="38386" rIns="76772" bIns="38386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702" name="矩形 701"/>
          <p:cNvSpPr/>
          <p:nvPr/>
        </p:nvSpPr>
        <p:spPr>
          <a:xfrm>
            <a:off x="6330432" y="2452372"/>
            <a:ext cx="2626074" cy="3852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lIns="76772" tIns="38386" rIns="76772" bIns="38386">
            <a:spAutoFit/>
          </a:bodyPr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数理逻辑理论及应用</a:t>
            </a:r>
            <a:endParaRPr lang="zh-CN" altLang="en-US" sz="200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3" name="矩形 702"/>
          <p:cNvSpPr/>
          <p:nvPr/>
        </p:nvSpPr>
        <p:spPr>
          <a:xfrm>
            <a:off x="6330432" y="2013444"/>
            <a:ext cx="2626074" cy="385298"/>
          </a:xfrm>
          <a:prstGeom prst="rect">
            <a:avLst/>
          </a:prstGeom>
        </p:spPr>
        <p:txBody>
          <a:bodyPr wrap="square" lIns="76772" tIns="38386" rIns="76772" bIns="38386">
            <a:spAutoFit/>
          </a:bodyPr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实验一</a:t>
            </a:r>
            <a:endParaRPr lang="zh-CN" altLang="en-US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3" name="圆角矩形 712"/>
          <p:cNvSpPr/>
          <p:nvPr/>
        </p:nvSpPr>
        <p:spPr>
          <a:xfrm>
            <a:off x="6330432" y="3291828"/>
            <a:ext cx="2634056" cy="12059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6772" tIns="38386" rIns="76772" bIns="38386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714" name="矩形 713"/>
          <p:cNvSpPr/>
          <p:nvPr/>
        </p:nvSpPr>
        <p:spPr>
          <a:xfrm>
            <a:off x="6330432" y="3752635"/>
            <a:ext cx="2626074" cy="446854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lIns="76772" tIns="38386" rIns="76772" bIns="38386">
            <a:spAutoFit/>
          </a:bodyPr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图论理论综合应用</a:t>
            </a:r>
            <a:endParaRPr lang="zh-CN" altLang="en-US" sz="240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5" name="矩形 714"/>
          <p:cNvSpPr/>
          <p:nvPr/>
        </p:nvSpPr>
        <p:spPr>
          <a:xfrm>
            <a:off x="6330432" y="3313706"/>
            <a:ext cx="2626074" cy="385298"/>
          </a:xfrm>
          <a:prstGeom prst="rect">
            <a:avLst/>
          </a:prstGeom>
        </p:spPr>
        <p:txBody>
          <a:bodyPr wrap="square" lIns="76772" tIns="38386" rIns="76772" bIns="38386">
            <a:spAutoFit/>
          </a:bodyPr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实验二</a:t>
            </a:r>
            <a:endParaRPr lang="zh-CN" altLang="en-US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6" name="Text Box 302"/>
          <p:cNvSpPr txBox="1">
            <a:spLocks noChangeArrowheads="1"/>
          </p:cNvSpPr>
          <p:nvPr/>
        </p:nvSpPr>
        <p:spPr bwMode="auto">
          <a:xfrm>
            <a:off x="6708525" y="1197270"/>
            <a:ext cx="1822167" cy="385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772" tIns="38386" rIns="76772" bIns="38386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实验课：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学时</a:t>
            </a:r>
            <a:endParaRPr lang="zh-CN" altLang="zh-CN" sz="2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80540" y="1275939"/>
            <a:ext cx="0" cy="4391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直接连接符 716"/>
          <p:cNvCxnSpPr/>
          <p:nvPr/>
        </p:nvCxnSpPr>
        <p:spPr>
          <a:xfrm>
            <a:off x="6204736" y="1275939"/>
            <a:ext cx="0" cy="4391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1400524" y="5085184"/>
            <a:ext cx="972929" cy="94868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76772" tIns="38386" rIns="76772" bIns="38386" spcCol="0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prstClr val="white"/>
                </a:solidFill>
              </a:rPr>
              <a:t>96</a:t>
            </a:r>
            <a:endParaRPr lang="zh-CN" altLang="en-US" sz="2000" dirty="0">
              <a:solidFill>
                <a:prstClr val="white"/>
              </a:solidFill>
            </a:endParaRPr>
          </a:p>
        </p:txBody>
      </p:sp>
      <p:sp>
        <p:nvSpPr>
          <p:cNvPr id="630" name="椭圆 629"/>
          <p:cNvSpPr/>
          <p:nvPr/>
        </p:nvSpPr>
        <p:spPr>
          <a:xfrm>
            <a:off x="2796667" y="5241966"/>
            <a:ext cx="813450" cy="813123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76772" tIns="38386" rIns="76772" bIns="38386" spcCol="0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prstClr val="white"/>
                </a:solidFill>
              </a:rPr>
              <a:t>80</a:t>
            </a:r>
            <a:endParaRPr lang="zh-CN" altLang="en-US" sz="2000" dirty="0">
              <a:solidFill>
                <a:prstClr val="white"/>
              </a:solidFill>
            </a:endParaRPr>
          </a:p>
        </p:txBody>
      </p:sp>
      <p:sp>
        <p:nvSpPr>
          <p:cNvPr id="631" name="椭圆 630"/>
          <p:cNvSpPr/>
          <p:nvPr/>
        </p:nvSpPr>
        <p:spPr>
          <a:xfrm>
            <a:off x="4047161" y="5436362"/>
            <a:ext cx="627829" cy="589378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76772" tIns="38386" rIns="76772" bIns="38386" spcCol="0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prstClr val="white"/>
                </a:solidFill>
              </a:rPr>
              <a:t>64</a:t>
            </a:r>
            <a:endParaRPr lang="zh-CN" altLang="en-US" sz="2000" dirty="0">
              <a:solidFill>
                <a:prstClr val="white"/>
              </a:solidFill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2388049" y="5474716"/>
            <a:ext cx="379709" cy="161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772" tIns="38386" rIns="76772" bIns="38386" spcCol="0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634" name="右箭头 633"/>
          <p:cNvSpPr/>
          <p:nvPr/>
        </p:nvSpPr>
        <p:spPr>
          <a:xfrm>
            <a:off x="3619787" y="5584216"/>
            <a:ext cx="379709" cy="161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772" tIns="38386" rIns="76772" bIns="38386" spcCol="0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  <p:sp>
        <p:nvSpPr>
          <p:cNvPr id="635" name="右箭头 634"/>
          <p:cNvSpPr/>
          <p:nvPr/>
        </p:nvSpPr>
        <p:spPr>
          <a:xfrm>
            <a:off x="4664543" y="5663511"/>
            <a:ext cx="379709" cy="161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772" tIns="38386" rIns="76772" bIns="38386" spcCol="0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 txBox="1">
            <a:spLocks noChangeArrowheads="1"/>
          </p:cNvSpPr>
          <p:nvPr/>
        </p:nvSpPr>
        <p:spPr bwMode="auto">
          <a:xfrm>
            <a:off x="1051743" y="977483"/>
            <a:ext cx="1945481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786" tIns="38393" rIns="76786" bIns="38393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知识关联</a:t>
            </a:r>
            <a:endParaRPr lang="zh-CN" altLang="en-US" sz="3000" b="1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38477" y="1174355"/>
            <a:ext cx="4666279" cy="354535"/>
          </a:xfrm>
          <a:prstGeom prst="rect">
            <a:avLst/>
          </a:prstGeom>
        </p:spPr>
        <p:txBody>
          <a:bodyPr wrap="square" lIns="76786" tIns="38393" rIns="76786" bIns="38393">
            <a:spAutoFit/>
          </a:bodyPr>
          <a:lstStyle/>
          <a:p>
            <a:pPr defTabSz="102425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与其他课程的关系</a:t>
            </a:r>
            <a:r>
              <a:rPr lang="en-US" altLang="zh-CN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数学相关</a:t>
            </a:r>
            <a:endParaRPr lang="zh-CN" altLang="en-US" sz="2000" spc="504" dirty="0">
              <a:solidFill>
                <a:srgbClr val="2850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961085" y="1062822"/>
            <a:ext cx="0" cy="6477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3040346" y="3815059"/>
            <a:ext cx="697627" cy="532447"/>
            <a:chOff x="900289" y="2709714"/>
            <a:chExt cx="930050" cy="532570"/>
          </a:xfrm>
        </p:grpSpPr>
        <p:sp>
          <p:nvSpPr>
            <p:cNvPr id="8" name="椭圆 7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00289" y="2996006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离散数学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47013" y="2609288"/>
            <a:ext cx="697627" cy="532447"/>
            <a:chOff x="900289" y="2709714"/>
            <a:chExt cx="930050" cy="532570"/>
          </a:xfrm>
        </p:grpSpPr>
        <p:sp>
          <p:nvSpPr>
            <p:cNvPr id="18" name="椭圆 17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00289" y="2996006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高等数学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47285" y="3980650"/>
            <a:ext cx="697627" cy="532447"/>
            <a:chOff x="900289" y="2709714"/>
            <a:chExt cx="930050" cy="532570"/>
          </a:xfrm>
        </p:grpSpPr>
        <p:sp>
          <p:nvSpPr>
            <p:cNvPr id="21" name="椭圆 20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00289" y="2996006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线性代数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325356" y="3671947"/>
            <a:ext cx="627095" cy="532447"/>
            <a:chOff x="947346" y="2709714"/>
            <a:chExt cx="836018" cy="532570"/>
          </a:xfrm>
        </p:grpSpPr>
        <p:sp>
          <p:nvSpPr>
            <p:cNvPr id="24" name="椭圆 23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47346" y="2996006"/>
              <a:ext cx="836018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概 率 论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027467" y="2503228"/>
            <a:ext cx="697627" cy="532447"/>
            <a:chOff x="900289" y="2709714"/>
            <a:chExt cx="930050" cy="532570"/>
          </a:xfrm>
        </p:grpSpPr>
        <p:sp>
          <p:nvSpPr>
            <p:cNvPr id="27" name="椭圆 26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0289" y="2996006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数值分析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108390" y="4798158"/>
            <a:ext cx="697627" cy="532447"/>
            <a:chOff x="900289" y="2709714"/>
            <a:chExt cx="930050" cy="532570"/>
          </a:xfrm>
        </p:grpSpPr>
        <p:sp>
          <p:nvSpPr>
            <p:cNvPr id="30" name="椭圆 29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00289" y="2996006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数学建模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051516" y="5422317"/>
            <a:ext cx="697627" cy="532447"/>
            <a:chOff x="900289" y="2709714"/>
            <a:chExt cx="930050" cy="532570"/>
          </a:xfrm>
        </p:grpSpPr>
        <p:sp>
          <p:nvSpPr>
            <p:cNvPr id="33" name="椭圆 32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00289" y="2996006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物理概论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cxnSp>
        <p:nvCxnSpPr>
          <p:cNvPr id="36" name="直接箭头连接符 35"/>
          <p:cNvCxnSpPr>
            <a:stCxn id="18" idx="6"/>
            <a:endCxn id="8" idx="2"/>
          </p:cNvCxnSpPr>
          <p:nvPr/>
        </p:nvCxnSpPr>
        <p:spPr>
          <a:xfrm>
            <a:off x="1223448" y="2711013"/>
            <a:ext cx="2040705" cy="12057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1" idx="6"/>
            <a:endCxn id="8" idx="2"/>
          </p:cNvCxnSpPr>
          <p:nvPr/>
        </p:nvCxnSpPr>
        <p:spPr>
          <a:xfrm flipV="1">
            <a:off x="1223720" y="3916785"/>
            <a:ext cx="2040434" cy="1655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8" idx="6"/>
            <a:endCxn id="24" idx="2"/>
          </p:cNvCxnSpPr>
          <p:nvPr/>
        </p:nvCxnSpPr>
        <p:spPr>
          <a:xfrm flipV="1">
            <a:off x="3416781" y="3773674"/>
            <a:ext cx="2097085" cy="143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24" idx="7"/>
            <a:endCxn id="27" idx="2"/>
          </p:cNvCxnSpPr>
          <p:nvPr/>
        </p:nvCxnSpPr>
        <p:spPr>
          <a:xfrm flipV="1">
            <a:off x="5644142" y="2604953"/>
            <a:ext cx="1607133" cy="10967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endCxn id="30" idx="2"/>
          </p:cNvCxnSpPr>
          <p:nvPr/>
        </p:nvCxnSpPr>
        <p:spPr>
          <a:xfrm>
            <a:off x="3416781" y="3916786"/>
            <a:ext cx="3915417" cy="9830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8" idx="6"/>
          </p:cNvCxnSpPr>
          <p:nvPr/>
        </p:nvCxnSpPr>
        <p:spPr>
          <a:xfrm flipV="1">
            <a:off x="3416780" y="2604954"/>
            <a:ext cx="3834493" cy="13118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8" idx="4"/>
            <a:endCxn id="33" idx="0"/>
          </p:cNvCxnSpPr>
          <p:nvPr/>
        </p:nvCxnSpPr>
        <p:spPr>
          <a:xfrm>
            <a:off x="3340467" y="4018510"/>
            <a:ext cx="11170" cy="1403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71350" y="3066387"/>
            <a:ext cx="46284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函数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66812" y="3967490"/>
            <a:ext cx="46284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矩阵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42066" y="3037658"/>
            <a:ext cx="770625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二元关系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01658" y="4378219"/>
            <a:ext cx="1232290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图论，逻辑推理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465323" y="3619819"/>
            <a:ext cx="770625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逻辑推理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72783" y="4638334"/>
            <a:ext cx="1078401" cy="446868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集合论，谓词</a:t>
            </a:r>
            <a:br>
              <a:rPr lang="en-US" altLang="zh-CN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b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函数卷积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知识关联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 txBox="1">
            <a:spLocks noChangeArrowheads="1"/>
          </p:cNvSpPr>
          <p:nvPr/>
        </p:nvSpPr>
        <p:spPr bwMode="auto">
          <a:xfrm>
            <a:off x="1051743" y="977483"/>
            <a:ext cx="1945481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786" tIns="38393" rIns="76786" bIns="38393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知识关联</a:t>
            </a:r>
            <a:endParaRPr lang="zh-CN" altLang="en-US" sz="3000" b="1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38477" y="1174355"/>
            <a:ext cx="4666279" cy="354535"/>
          </a:xfrm>
          <a:prstGeom prst="rect">
            <a:avLst/>
          </a:prstGeom>
        </p:spPr>
        <p:txBody>
          <a:bodyPr wrap="square" lIns="76786" tIns="38393" rIns="76786" bIns="38393">
            <a:spAutoFit/>
          </a:bodyPr>
          <a:lstStyle/>
          <a:p>
            <a:pPr defTabSz="102425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与其他课程的关系</a:t>
            </a:r>
            <a:r>
              <a:rPr lang="en-US" altLang="zh-CN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打通课程</a:t>
            </a:r>
            <a:endParaRPr lang="zh-CN" altLang="en-US" sz="2000" spc="504" dirty="0">
              <a:solidFill>
                <a:srgbClr val="2850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961085" y="1062822"/>
            <a:ext cx="0" cy="6477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51500" y="3210026"/>
            <a:ext cx="697627" cy="532447"/>
            <a:chOff x="900289" y="2709714"/>
            <a:chExt cx="930050" cy="532570"/>
          </a:xfrm>
        </p:grpSpPr>
        <p:sp>
          <p:nvSpPr>
            <p:cNvPr id="8" name="椭圆 7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00289" y="2996006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离散数学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898451" y="1796940"/>
            <a:ext cx="954107" cy="532447"/>
            <a:chOff x="752547" y="2709714"/>
            <a:chExt cx="1271977" cy="532570"/>
          </a:xfrm>
        </p:grpSpPr>
        <p:sp>
          <p:nvSpPr>
            <p:cNvPr id="42" name="椭圆 41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52547" y="2996006"/>
              <a:ext cx="1271977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程序设计基础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783020" y="5170046"/>
            <a:ext cx="1210588" cy="561699"/>
            <a:chOff x="752547" y="2680455"/>
            <a:chExt cx="1613909" cy="561829"/>
          </a:xfrm>
        </p:grpSpPr>
        <p:sp>
          <p:nvSpPr>
            <p:cNvPr id="46" name="椭圆 45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52547" y="2996006"/>
              <a:ext cx="1613909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面向对象程序设计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691681" y="1796940"/>
            <a:ext cx="1082348" cy="561699"/>
            <a:chOff x="752547" y="2680455"/>
            <a:chExt cx="1442943" cy="561829"/>
          </a:xfrm>
        </p:grpSpPr>
        <p:sp>
          <p:nvSpPr>
            <p:cNvPr id="50" name="椭圆 49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2547" y="2996006"/>
              <a:ext cx="1442943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计算机组成原理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173395" y="2044244"/>
            <a:ext cx="825867" cy="568452"/>
            <a:chOff x="1003825" y="2680455"/>
            <a:chExt cx="1101013" cy="568584"/>
          </a:xfrm>
        </p:grpSpPr>
        <p:sp>
          <p:nvSpPr>
            <p:cNvPr id="61" name="椭圆 60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03825" y="3002761"/>
              <a:ext cx="1101013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计算机网络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458603" y="5693915"/>
            <a:ext cx="697627" cy="568452"/>
            <a:chOff x="1060322" y="2680455"/>
            <a:chExt cx="930050" cy="568584"/>
          </a:xfrm>
        </p:grpSpPr>
        <p:sp>
          <p:nvSpPr>
            <p:cNvPr id="64" name="椭圆 63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060322" y="3002761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操作系统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288825" y="3184934"/>
            <a:ext cx="569387" cy="557539"/>
            <a:chOff x="1137266" y="2680455"/>
            <a:chExt cx="759084" cy="557668"/>
          </a:xfrm>
        </p:grpSpPr>
        <p:sp>
          <p:nvSpPr>
            <p:cNvPr id="67" name="椭圆 66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37266" y="2991845"/>
              <a:ext cx="759084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数据库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3779057" y="4787684"/>
            <a:ext cx="1082348" cy="555099"/>
            <a:chOff x="829490" y="2680455"/>
            <a:chExt cx="1442943" cy="555228"/>
          </a:xfrm>
        </p:grpSpPr>
        <p:sp>
          <p:nvSpPr>
            <p:cNvPr id="73" name="椭圆 72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29490" y="2989405"/>
              <a:ext cx="1442943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数据结构与算法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6271793" y="4492359"/>
            <a:ext cx="697627" cy="559935"/>
            <a:chOff x="1060322" y="2680455"/>
            <a:chExt cx="930050" cy="560065"/>
          </a:xfrm>
        </p:grpSpPr>
        <p:sp>
          <p:nvSpPr>
            <p:cNvPr id="76" name="椭圆 75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060322" y="2994242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软件工程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cxnSp>
        <p:nvCxnSpPr>
          <p:cNvPr id="3" name="直接箭头连接符 2"/>
          <p:cNvCxnSpPr>
            <a:stCxn id="8" idx="6"/>
            <a:endCxn id="42" idx="2"/>
          </p:cNvCxnSpPr>
          <p:nvPr/>
        </p:nvCxnSpPr>
        <p:spPr>
          <a:xfrm flipV="1">
            <a:off x="827936" y="1898667"/>
            <a:ext cx="1405145" cy="1413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" idx="6"/>
            <a:endCxn id="46" idx="2"/>
          </p:cNvCxnSpPr>
          <p:nvPr/>
        </p:nvCxnSpPr>
        <p:spPr>
          <a:xfrm>
            <a:off x="827935" y="3311751"/>
            <a:ext cx="1409755" cy="19600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8" idx="6"/>
            <a:endCxn id="50" idx="2"/>
          </p:cNvCxnSpPr>
          <p:nvPr/>
        </p:nvCxnSpPr>
        <p:spPr>
          <a:xfrm flipV="1">
            <a:off x="827936" y="1898667"/>
            <a:ext cx="3318416" cy="1413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8" idx="6"/>
            <a:endCxn id="73" idx="2"/>
          </p:cNvCxnSpPr>
          <p:nvPr/>
        </p:nvCxnSpPr>
        <p:spPr>
          <a:xfrm>
            <a:off x="827935" y="3311751"/>
            <a:ext cx="3348077" cy="15776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8" idx="6"/>
            <a:endCxn id="64" idx="2"/>
          </p:cNvCxnSpPr>
          <p:nvPr/>
        </p:nvCxnSpPr>
        <p:spPr>
          <a:xfrm>
            <a:off x="827935" y="3311753"/>
            <a:ext cx="3854476" cy="24838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8" idx="6"/>
            <a:endCxn id="61" idx="2"/>
          </p:cNvCxnSpPr>
          <p:nvPr/>
        </p:nvCxnSpPr>
        <p:spPr>
          <a:xfrm flipV="1">
            <a:off x="827936" y="2145974"/>
            <a:ext cx="5611645" cy="11657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8" idx="6"/>
            <a:endCxn id="67" idx="2"/>
          </p:cNvCxnSpPr>
          <p:nvPr/>
        </p:nvCxnSpPr>
        <p:spPr>
          <a:xfrm flipV="1">
            <a:off x="827934" y="3286659"/>
            <a:ext cx="5626982" cy="250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8" idx="6"/>
            <a:endCxn id="76" idx="2"/>
          </p:cNvCxnSpPr>
          <p:nvPr/>
        </p:nvCxnSpPr>
        <p:spPr>
          <a:xfrm>
            <a:off x="827936" y="3311751"/>
            <a:ext cx="5667665" cy="1282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26879" y="2358030"/>
            <a:ext cx="924513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逻辑，函数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381316" y="2389352"/>
            <a:ext cx="46284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575127" y="2634110"/>
            <a:ext cx="1232290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图论，二元关系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758648" y="3259625"/>
            <a:ext cx="138617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集合论，二元关系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893046" y="4082746"/>
            <a:ext cx="1693955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逻辑，二元关系，图论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00358" y="4184654"/>
            <a:ext cx="46284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39245" y="4440233"/>
            <a:ext cx="770625" cy="446868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命题逻辑</a:t>
            </a:r>
            <a:endParaRPr lang="en-US" altLang="zh-CN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谓词逻辑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956562" y="4994970"/>
            <a:ext cx="770625" cy="631534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数理逻辑</a:t>
            </a:r>
            <a:endParaRPr lang="en-US" altLang="zh-CN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二元关系</a:t>
            </a:r>
            <a:endParaRPr lang="en-US" altLang="zh-CN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图论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知识关联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 txBox="1">
            <a:spLocks noChangeArrowheads="1"/>
          </p:cNvSpPr>
          <p:nvPr/>
        </p:nvSpPr>
        <p:spPr bwMode="auto">
          <a:xfrm>
            <a:off x="1051743" y="977483"/>
            <a:ext cx="1945481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786" tIns="38393" rIns="76786" bIns="38393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知识关联</a:t>
            </a:r>
            <a:endParaRPr lang="zh-CN" altLang="en-US" sz="3000" b="1" dirty="0">
              <a:solidFill>
                <a:srgbClr val="1F49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38477" y="1174355"/>
            <a:ext cx="5725903" cy="354535"/>
          </a:xfrm>
          <a:prstGeom prst="rect">
            <a:avLst/>
          </a:prstGeom>
        </p:spPr>
        <p:txBody>
          <a:bodyPr wrap="square" lIns="76786" tIns="38393" rIns="76786" bIns="38393">
            <a:spAutoFit/>
          </a:bodyPr>
          <a:lstStyle/>
          <a:p>
            <a:pPr defTabSz="102425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与其他课程的关系</a:t>
            </a:r>
            <a:r>
              <a:rPr lang="en-US" altLang="zh-CN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spc="504" dirty="0">
                <a:solidFill>
                  <a:srgbClr val="2850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专业课程（部分）</a:t>
            </a:r>
            <a:endParaRPr lang="zh-CN" altLang="en-US" sz="2000" spc="504" dirty="0">
              <a:solidFill>
                <a:srgbClr val="2850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961085" y="1062822"/>
            <a:ext cx="0" cy="6477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51500" y="3210026"/>
            <a:ext cx="697627" cy="532447"/>
            <a:chOff x="900289" y="2709714"/>
            <a:chExt cx="930050" cy="532570"/>
          </a:xfrm>
        </p:grpSpPr>
        <p:sp>
          <p:nvSpPr>
            <p:cNvPr id="8" name="椭圆 7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00289" y="2996006"/>
              <a:ext cx="930050" cy="246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离散数学</a:t>
              </a:r>
              <a:endParaRPr lang="zh-CN" altLang="en-US" sz="1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155928" y="1838442"/>
            <a:ext cx="894797" cy="840223"/>
            <a:chOff x="752547" y="2709714"/>
            <a:chExt cx="1192907" cy="840418"/>
          </a:xfrm>
        </p:grpSpPr>
        <p:sp>
          <p:nvSpPr>
            <p:cNvPr id="42" name="椭圆 41"/>
            <p:cNvSpPr/>
            <p:nvPr/>
          </p:nvSpPr>
          <p:spPr>
            <a:xfrm>
              <a:off x="1198661" y="2709714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52547" y="2996006"/>
              <a:ext cx="1192907" cy="554126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dirty="0">
                  <a:solidFill>
                    <a:prstClr val="white"/>
                  </a:solidFill>
                </a:rPr>
                <a:t>C++</a:t>
              </a:r>
              <a:r>
                <a:rPr lang="zh-CN" altLang="en-US" sz="1000" dirty="0">
                  <a:solidFill>
                    <a:prstClr val="white"/>
                  </a:solidFill>
                </a:rPr>
                <a:t>程序设计</a:t>
              </a:r>
              <a:br>
                <a:rPr lang="en-US" altLang="zh-CN" sz="1000" dirty="0">
                  <a:solidFill>
                    <a:prstClr val="white"/>
                  </a:solidFill>
                </a:rPr>
              </a:br>
              <a:r>
                <a:rPr lang="en-US" altLang="zh-CN" sz="1000" dirty="0">
                  <a:solidFill>
                    <a:prstClr val="white"/>
                  </a:solidFill>
                </a:rPr>
                <a:t>VB.NET</a:t>
              </a:r>
              <a:br>
                <a:rPr lang="en-US" altLang="zh-CN" sz="1000" dirty="0">
                  <a:solidFill>
                    <a:prstClr val="white"/>
                  </a:solidFill>
                </a:rPr>
              </a:br>
              <a:r>
                <a:rPr lang="en-US" altLang="zh-CN" sz="1000" dirty="0">
                  <a:solidFill>
                    <a:prstClr val="white"/>
                  </a:solidFill>
                </a:rPr>
                <a:t>Python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536346" y="5688201"/>
            <a:ext cx="697627" cy="561699"/>
            <a:chOff x="752547" y="2680455"/>
            <a:chExt cx="930048" cy="561829"/>
          </a:xfrm>
        </p:grpSpPr>
        <p:sp>
          <p:nvSpPr>
            <p:cNvPr id="46" name="椭圆 45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52547" y="2996006"/>
              <a:ext cx="930048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通信概论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30965" y="1718812"/>
            <a:ext cx="697627" cy="532447"/>
            <a:chOff x="941233" y="2680455"/>
            <a:chExt cx="930050" cy="532570"/>
          </a:xfrm>
        </p:grpSpPr>
        <p:sp>
          <p:nvSpPr>
            <p:cNvPr id="50" name="椭圆 49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41233" y="2966747"/>
              <a:ext cx="930050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编译方法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173394" y="2044244"/>
            <a:ext cx="954107" cy="568452"/>
            <a:chOff x="1003825" y="2680455"/>
            <a:chExt cx="1271977" cy="568584"/>
          </a:xfrm>
        </p:grpSpPr>
        <p:sp>
          <p:nvSpPr>
            <p:cNvPr id="61" name="椭圆 60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03825" y="3002761"/>
              <a:ext cx="1271977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软件项目管理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37976" y="5988749"/>
            <a:ext cx="954107" cy="568452"/>
            <a:chOff x="1060322" y="2680455"/>
            <a:chExt cx="1271977" cy="568584"/>
          </a:xfrm>
        </p:grpSpPr>
        <p:sp>
          <p:nvSpPr>
            <p:cNvPr id="64" name="椭圆 63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060322" y="3002761"/>
              <a:ext cx="1271977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软件需求分析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288825" y="3184934"/>
            <a:ext cx="697627" cy="557539"/>
            <a:chOff x="1137266" y="2680455"/>
            <a:chExt cx="930050" cy="557668"/>
          </a:xfrm>
        </p:grpSpPr>
        <p:sp>
          <p:nvSpPr>
            <p:cNvPr id="67" name="椭圆 66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37266" y="2991845"/>
              <a:ext cx="930050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组件技术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028130" y="5448232"/>
            <a:ext cx="1082348" cy="555099"/>
            <a:chOff x="829490" y="2680455"/>
            <a:chExt cx="1442943" cy="555228"/>
          </a:xfrm>
        </p:grpSpPr>
        <p:sp>
          <p:nvSpPr>
            <p:cNvPr id="73" name="椭圆 72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29490" y="2989405"/>
              <a:ext cx="1442943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算法分析与设计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6253304" y="4685494"/>
            <a:ext cx="944489" cy="578680"/>
            <a:chOff x="960348" y="2680455"/>
            <a:chExt cx="1259155" cy="578814"/>
          </a:xfrm>
        </p:grpSpPr>
        <p:sp>
          <p:nvSpPr>
            <p:cNvPr id="76" name="椭圆 75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60348" y="3012991"/>
              <a:ext cx="1259155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dirty="0">
                  <a:solidFill>
                    <a:prstClr val="white"/>
                  </a:solidFill>
                </a:rPr>
                <a:t>WEB</a:t>
              </a:r>
              <a:r>
                <a:rPr lang="zh-CN" altLang="en-US" sz="1000" dirty="0">
                  <a:solidFill>
                    <a:prstClr val="white"/>
                  </a:solidFill>
                </a:rPr>
                <a:t>开发技术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3" name="直接箭头连接符 2"/>
          <p:cNvCxnSpPr>
            <a:stCxn id="8" idx="6"/>
            <a:endCxn id="42" idx="2"/>
          </p:cNvCxnSpPr>
          <p:nvPr/>
        </p:nvCxnSpPr>
        <p:spPr>
          <a:xfrm flipV="1">
            <a:off x="827936" y="1940169"/>
            <a:ext cx="1662621" cy="1371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" idx="6"/>
            <a:endCxn id="46" idx="2"/>
          </p:cNvCxnSpPr>
          <p:nvPr/>
        </p:nvCxnSpPr>
        <p:spPr>
          <a:xfrm>
            <a:off x="827936" y="3311753"/>
            <a:ext cx="2163080" cy="2478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8" idx="6"/>
            <a:endCxn id="50" idx="2"/>
          </p:cNvCxnSpPr>
          <p:nvPr/>
        </p:nvCxnSpPr>
        <p:spPr>
          <a:xfrm flipV="1">
            <a:off x="827935" y="1820539"/>
            <a:ext cx="4216165" cy="14912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8" idx="6"/>
            <a:endCxn id="73" idx="2"/>
          </p:cNvCxnSpPr>
          <p:nvPr/>
        </p:nvCxnSpPr>
        <p:spPr>
          <a:xfrm>
            <a:off x="827935" y="3311751"/>
            <a:ext cx="4597150" cy="2238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8" idx="6"/>
            <a:endCxn id="64" idx="2"/>
          </p:cNvCxnSpPr>
          <p:nvPr/>
        </p:nvCxnSpPr>
        <p:spPr>
          <a:xfrm>
            <a:off x="827936" y="3311752"/>
            <a:ext cx="3433849" cy="27787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8" idx="6"/>
            <a:endCxn id="61" idx="2"/>
          </p:cNvCxnSpPr>
          <p:nvPr/>
        </p:nvCxnSpPr>
        <p:spPr>
          <a:xfrm flipV="1">
            <a:off x="827936" y="2145974"/>
            <a:ext cx="5611645" cy="11657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8" idx="6"/>
            <a:endCxn id="67" idx="2"/>
          </p:cNvCxnSpPr>
          <p:nvPr/>
        </p:nvCxnSpPr>
        <p:spPr>
          <a:xfrm flipV="1">
            <a:off x="827934" y="3286659"/>
            <a:ext cx="5626982" cy="250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8" idx="6"/>
            <a:endCxn id="76" idx="2"/>
          </p:cNvCxnSpPr>
          <p:nvPr/>
        </p:nvCxnSpPr>
        <p:spPr>
          <a:xfrm>
            <a:off x="827936" y="3311753"/>
            <a:ext cx="5724167" cy="14754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26879" y="2358030"/>
            <a:ext cx="924513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逻辑，函数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20577" y="1988806"/>
            <a:ext cx="770625" cy="446868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二元关系</a:t>
            </a:r>
            <a:br>
              <a:rPr lang="en-US" altLang="zh-CN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b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数理逻辑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575127" y="2634110"/>
            <a:ext cx="1232290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图论，二元关系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758649" y="3259625"/>
            <a:ext cx="770625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二元关系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669473" y="4082746"/>
            <a:ext cx="46284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800358" y="4184654"/>
            <a:ext cx="46284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05946" y="4284052"/>
            <a:ext cx="770625" cy="631534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命题逻辑</a:t>
            </a:r>
            <a:endParaRPr lang="en-US" altLang="zh-CN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谓词逻辑</a:t>
            </a:r>
            <a:endParaRPr lang="en-US" altLang="zh-CN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函数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956562" y="4994970"/>
            <a:ext cx="770625" cy="446868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二元关系</a:t>
            </a:r>
            <a:endParaRPr lang="en-US" altLang="zh-CN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图论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6307424" y="5485523"/>
            <a:ext cx="697627" cy="578680"/>
            <a:chOff x="1053587" y="2680455"/>
            <a:chExt cx="930050" cy="578814"/>
          </a:xfrm>
        </p:grpSpPr>
        <p:sp>
          <p:nvSpPr>
            <p:cNvPr id="53" name="椭圆 52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53587" y="3012991"/>
              <a:ext cx="930050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人工智能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788128" y="2643413"/>
            <a:ext cx="1210588" cy="566417"/>
            <a:chOff x="804696" y="2680455"/>
            <a:chExt cx="1613909" cy="566548"/>
          </a:xfrm>
        </p:grpSpPr>
        <p:sp>
          <p:nvSpPr>
            <p:cNvPr id="56" name="椭圆 55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04696" y="3000725"/>
              <a:ext cx="1613909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图像与多媒体技术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8018991" y="3895229"/>
            <a:ext cx="697627" cy="560246"/>
            <a:chOff x="1086146" y="2680455"/>
            <a:chExt cx="930050" cy="560376"/>
          </a:xfrm>
        </p:grpSpPr>
        <p:sp>
          <p:nvSpPr>
            <p:cNvPr id="59" name="椭圆 58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86146" y="2994553"/>
              <a:ext cx="930050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机器学习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7938513" y="4615324"/>
            <a:ext cx="825867" cy="539595"/>
            <a:chOff x="960114" y="2680455"/>
            <a:chExt cx="1101013" cy="539720"/>
          </a:xfrm>
        </p:grpSpPr>
        <p:sp>
          <p:nvSpPr>
            <p:cNvPr id="71" name="椭圆 70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60114" y="2973897"/>
              <a:ext cx="1101013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高性能计算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8076707" y="5780953"/>
            <a:ext cx="569387" cy="499313"/>
            <a:chOff x="1114002" y="2680455"/>
            <a:chExt cx="759084" cy="499429"/>
          </a:xfrm>
        </p:grpSpPr>
        <p:sp>
          <p:nvSpPr>
            <p:cNvPr id="81" name="椭圆 80"/>
            <p:cNvSpPr/>
            <p:nvPr/>
          </p:nvSpPr>
          <p:spPr>
            <a:xfrm>
              <a:off x="1358694" y="2680455"/>
              <a:ext cx="203477" cy="2035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2425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prstClr val="white"/>
                </a:solidFill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114002" y="2933606"/>
              <a:ext cx="759084" cy="246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defTabSz="102425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prstClr val="white"/>
                  </a:solidFill>
                </a:rPr>
                <a:t>大数据</a:t>
              </a:r>
              <a:endParaRPr lang="zh-CN" altLang="en-US" sz="10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7" name="直接箭头连接符 6"/>
          <p:cNvCxnSpPr>
            <a:stCxn id="8" idx="6"/>
            <a:endCxn id="53" idx="1"/>
          </p:cNvCxnSpPr>
          <p:nvPr/>
        </p:nvCxnSpPr>
        <p:spPr>
          <a:xfrm>
            <a:off x="827936" y="3311753"/>
            <a:ext cx="5730700" cy="22035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076480" y="4852787"/>
            <a:ext cx="616737" cy="446868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</a:t>
            </a:r>
            <a:br>
              <a:rPr lang="en-US" altLang="zh-CN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b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集合论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>
            <a:stCxn id="8" idx="6"/>
            <a:endCxn id="56" idx="2"/>
          </p:cNvCxnSpPr>
          <p:nvPr/>
        </p:nvCxnSpPr>
        <p:spPr>
          <a:xfrm flipV="1">
            <a:off x="827935" y="2745138"/>
            <a:ext cx="7375746" cy="5666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862379" y="3689250"/>
            <a:ext cx="46284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7" name="直接箭头连接符 16"/>
          <p:cNvCxnSpPr>
            <a:stCxn id="8" idx="6"/>
            <a:endCxn id="59" idx="2"/>
          </p:cNvCxnSpPr>
          <p:nvPr/>
        </p:nvCxnSpPr>
        <p:spPr>
          <a:xfrm>
            <a:off x="827935" y="3311753"/>
            <a:ext cx="7395492" cy="6852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8" idx="6"/>
            <a:endCxn id="71" idx="1"/>
          </p:cNvCxnSpPr>
          <p:nvPr/>
        </p:nvCxnSpPr>
        <p:spPr>
          <a:xfrm>
            <a:off x="827934" y="3311753"/>
            <a:ext cx="7431903" cy="13333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694927" y="4323342"/>
            <a:ext cx="1232290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二元关系，图论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21" name="直接箭头连接符 20"/>
          <p:cNvCxnSpPr>
            <a:stCxn id="8" idx="6"/>
            <a:endCxn id="81" idx="1"/>
          </p:cNvCxnSpPr>
          <p:nvPr/>
        </p:nvCxnSpPr>
        <p:spPr>
          <a:xfrm>
            <a:off x="827936" y="3311751"/>
            <a:ext cx="7454666" cy="2498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084614" y="5485523"/>
            <a:ext cx="1386178" cy="262202"/>
          </a:xfrm>
          <a:prstGeom prst="rect">
            <a:avLst/>
          </a:prstGeom>
          <a:noFill/>
        </p:spPr>
        <p:txBody>
          <a:bodyPr wrap="none" lIns="76786" tIns="38393" rIns="76786" bIns="38393" rtlCol="0">
            <a:spAutoFit/>
          </a:bodyPr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集合论，二元关系</a:t>
            </a:r>
            <a:endParaRPr lang="zh-CN" altLang="en-US" sz="12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知识关联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核心目标</a:t>
            </a:r>
            <a:endParaRPr lang="zh-CN" altLang="en-US" dirty="0"/>
          </a:p>
        </p:txBody>
      </p:sp>
      <p:sp>
        <p:nvSpPr>
          <p:cNvPr id="4" name="圆角矩形 700"/>
          <p:cNvSpPr/>
          <p:nvPr/>
        </p:nvSpPr>
        <p:spPr>
          <a:xfrm>
            <a:off x="1115616" y="1340768"/>
            <a:ext cx="2634056" cy="92210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6772" tIns="38386" rIns="76772" bIns="38386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逻辑思维</a:t>
            </a:r>
            <a:endParaRPr lang="zh-CN" altLang="en-US" sz="28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圆角矩形 700"/>
          <p:cNvSpPr/>
          <p:nvPr/>
        </p:nvSpPr>
        <p:spPr>
          <a:xfrm>
            <a:off x="2432644" y="2262875"/>
            <a:ext cx="2634056" cy="92210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6772" tIns="38386" rIns="76772" bIns="38386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理解能力</a:t>
            </a:r>
            <a:endParaRPr lang="zh-CN" altLang="en-US" sz="28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圆角矩形 700"/>
          <p:cNvSpPr/>
          <p:nvPr/>
        </p:nvSpPr>
        <p:spPr>
          <a:xfrm>
            <a:off x="3995936" y="3211965"/>
            <a:ext cx="2634056" cy="92210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6772" tIns="38386" rIns="76772" bIns="38386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抽象能力</a:t>
            </a:r>
            <a:endParaRPr lang="zh-CN" altLang="en-US" sz="28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圆角矩形 700"/>
          <p:cNvSpPr/>
          <p:nvPr/>
        </p:nvSpPr>
        <p:spPr>
          <a:xfrm>
            <a:off x="5580112" y="4179821"/>
            <a:ext cx="2634056" cy="92210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6772" tIns="38386" rIns="76772" bIns="38386" rtlCol="0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创新能力</a:t>
            </a:r>
            <a:endParaRPr lang="zh-CN" altLang="en-US" sz="28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2492896"/>
            <a:ext cx="4273202" cy="576064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indent="0" algn="ctr"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学习方法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4413" y="1208946"/>
            <a:ext cx="55446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/>
              <a:t>本课程内容较杂，概念多，定理多，比较抽象，给学习带来一定难度。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44413" y="3140968"/>
            <a:ext cx="822287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概念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：准确掌握每个概念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包括内涵及外延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：要有刻苦钻研精神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不断总结经验。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理解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：在理解内容的基础上，要较多地做些习题，从而再进一步加深理解所学内容。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训练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：注意培养分析问题和解决问题的能力。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9633" y="1637593"/>
            <a:ext cx="4014937" cy="2376198"/>
          </a:xfrm>
        </p:spPr>
        <p:txBody>
          <a:bodyPr/>
          <a:lstStyle/>
          <a:p>
            <a:r>
              <a:rPr lang="zh-CN" altLang="en-US" dirty="0"/>
              <a:t>平时周测 </a:t>
            </a:r>
            <a:r>
              <a:rPr lang="en-US" altLang="zh-CN" dirty="0"/>
              <a:t>3</a:t>
            </a:r>
            <a:r>
              <a:rPr lang="en-US" altLang="zh-CN" dirty="0"/>
              <a:t>0%</a:t>
            </a:r>
            <a:endParaRPr lang="en-US" altLang="zh-CN" dirty="0"/>
          </a:p>
          <a:p>
            <a:r>
              <a:rPr lang="zh-CN" altLang="en-US" dirty="0"/>
              <a:t>实验成绩 </a:t>
            </a:r>
            <a:r>
              <a:rPr lang="en-US" altLang="zh-CN" dirty="0"/>
              <a:t>20%</a:t>
            </a:r>
            <a:endParaRPr lang="en-US" altLang="zh-CN" dirty="0"/>
          </a:p>
          <a:p>
            <a:r>
              <a:rPr lang="zh-CN" altLang="en-US" dirty="0"/>
              <a:t>期末成绩 </a:t>
            </a:r>
            <a:r>
              <a:rPr lang="en-US" altLang="zh-CN" dirty="0"/>
              <a:t>5</a:t>
            </a:r>
            <a:r>
              <a:rPr lang="en-US" altLang="zh-CN" dirty="0"/>
              <a:t>0%</a:t>
            </a:r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6648922" y="3644974"/>
            <a:ext cx="1890456" cy="1799783"/>
          </a:xfrm>
          <a:prstGeom prst="rect">
            <a:avLst/>
          </a:prstGeom>
        </p:spPr>
        <p:txBody>
          <a:bodyPr lIns="76772" tIns="38386" rIns="76772" bIns="38386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zh-CN" altLang="en-US" sz="2700" dirty="0">
                <a:solidFill>
                  <a:prstClr val="black"/>
                </a:solidFill>
              </a:rPr>
              <a:t>认真听讲</a:t>
            </a:r>
            <a:endParaRPr lang="en-US" altLang="zh-CN" sz="2700" dirty="0">
              <a:solidFill>
                <a:prstClr val="black"/>
              </a:solidFill>
            </a:endParaRPr>
          </a:p>
          <a:p>
            <a:pPr marL="0" indent="0" algn="ctr" fontAlgn="auto">
              <a:spcAft>
                <a:spcPts val="0"/>
              </a:spcAft>
              <a:buNone/>
            </a:pPr>
            <a:r>
              <a:rPr lang="zh-CN" altLang="en-US" sz="2700" dirty="0">
                <a:solidFill>
                  <a:prstClr val="black"/>
                </a:solidFill>
              </a:rPr>
              <a:t>做好笔记</a:t>
            </a:r>
            <a:endParaRPr lang="en-US" altLang="zh-CN" sz="2700" dirty="0">
              <a:solidFill>
                <a:prstClr val="black"/>
              </a:solidFill>
            </a:endParaRPr>
          </a:p>
          <a:p>
            <a:pPr marL="0" indent="0" algn="ctr" fontAlgn="auto">
              <a:spcAft>
                <a:spcPts val="0"/>
              </a:spcAft>
              <a:buNone/>
            </a:pPr>
            <a:r>
              <a:rPr lang="zh-CN" altLang="en-US" sz="2700" dirty="0">
                <a:solidFill>
                  <a:prstClr val="black"/>
                </a:solidFill>
              </a:rPr>
              <a:t>完成作业</a:t>
            </a:r>
            <a:endParaRPr lang="zh-CN" altLang="en-US" sz="2700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471" y="1413245"/>
            <a:ext cx="2155363" cy="141244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reflection blurRad="6350" stA="50000" endA="300" endPos="55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2"/>
          <p:cNvSpPr txBox="1"/>
          <p:nvPr/>
        </p:nvSpPr>
        <p:spPr>
          <a:xfrm>
            <a:off x="899592" y="4365104"/>
            <a:ext cx="3870943" cy="864380"/>
          </a:xfrm>
          <a:prstGeom prst="rect">
            <a:avLst/>
          </a:prstGeom>
        </p:spPr>
        <p:txBody>
          <a:bodyPr lIns="76786" tIns="38393" rIns="76786" bIns="38393"/>
          <a:lstStyle>
            <a:lvl1pPr marL="384175" indent="-38417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832485" indent="-320040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2807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7926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3050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8174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293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238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41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努力！</a:t>
            </a:r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</a:rPr>
              <a:t>离散数学的周测</a:t>
            </a:r>
            <a:r>
              <a:rPr lang="zh-CN" altLang="en-US"/>
              <a:t>，定在</a:t>
            </a:r>
            <a:r>
              <a:rPr lang="zh-CN" altLang="en-US">
                <a:solidFill>
                  <a:srgbClr val="FF0000"/>
                </a:solidFill>
              </a:rPr>
              <a:t>每周五早8:00到下周一早8点</a:t>
            </a:r>
            <a:r>
              <a:rPr lang="zh-CN" altLang="en-US"/>
              <a:t>，每次周测有效时间为三天。例如本周是第一周测试时间:3月8号8时到3月11号8时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我们课程组在BB平台建立了名为“</a:t>
            </a:r>
            <a:r>
              <a:rPr lang="zh-CN" altLang="en-US">
                <a:solidFill>
                  <a:srgbClr val="FF0000"/>
                </a:solidFill>
              </a:rPr>
              <a:t>2024-2025-2-A0800010010-A084716: 2024-2025-2-离散数学（计算机类II 2401-2417）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/>
              <a:t>的合并课程，全年级的学生均可看到，请大家每周准时进入“</a:t>
            </a:r>
            <a:r>
              <a:rPr lang="zh-CN" altLang="en-US">
                <a:solidFill>
                  <a:srgbClr val="FF0000"/>
                </a:solidFill>
              </a:rPr>
              <a:t>BB平台-离散数学-测试专区</a:t>
            </a:r>
            <a:r>
              <a:rPr lang="en-US" altLang="zh-CN"/>
              <a:t>”</a:t>
            </a:r>
            <a:r>
              <a:rPr lang="zh-CN" altLang="en-US"/>
              <a:t>进行周测。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教材与参考书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教材：</a:t>
            </a:r>
            <a:endParaRPr lang="zh-CN" altLang="en-US" dirty="0"/>
          </a:p>
          <a:p>
            <a:pPr lvl="1"/>
            <a:r>
              <a:rPr lang="zh-CN" altLang="en-US" dirty="0"/>
              <a:t>左孝凌，李为鑑，刘永才</a:t>
            </a:r>
            <a:r>
              <a:rPr lang="en-US" altLang="zh-CN" dirty="0"/>
              <a:t>. </a:t>
            </a:r>
            <a:r>
              <a:rPr lang="zh-CN" altLang="en-US" dirty="0"/>
              <a:t>离散数学</a:t>
            </a:r>
            <a:r>
              <a:rPr lang="en-US" altLang="zh-CN" dirty="0"/>
              <a:t>. </a:t>
            </a:r>
            <a:r>
              <a:rPr lang="zh-CN" altLang="en-US" dirty="0"/>
              <a:t>上海科学技术文献出版社，</a:t>
            </a:r>
            <a:r>
              <a:rPr lang="en-US" altLang="zh-CN" dirty="0"/>
              <a:t>2021.</a:t>
            </a:r>
            <a:endParaRPr lang="en-US" altLang="zh-CN" dirty="0"/>
          </a:p>
          <a:p>
            <a:r>
              <a:rPr lang="zh-CN" altLang="en-US" dirty="0"/>
              <a:t>主要参考书</a:t>
            </a:r>
            <a:endParaRPr lang="zh-CN" altLang="en-US" dirty="0"/>
          </a:p>
          <a:p>
            <a:pPr lvl="1"/>
            <a:r>
              <a:rPr lang="en-US" altLang="zh-CN" dirty="0"/>
              <a:t>1.  K.H. Rosen. </a:t>
            </a:r>
            <a:r>
              <a:rPr lang="zh-CN" altLang="en-US" dirty="0"/>
              <a:t>离散数学及其应用</a:t>
            </a:r>
            <a:r>
              <a:rPr lang="en-US" altLang="zh-CN" dirty="0"/>
              <a:t>. </a:t>
            </a:r>
            <a:r>
              <a:rPr lang="zh-CN" altLang="en-US" dirty="0"/>
              <a:t>原书第七版</a:t>
            </a:r>
            <a:r>
              <a:rPr lang="en-US" altLang="zh-CN" dirty="0"/>
              <a:t>. </a:t>
            </a:r>
            <a:r>
              <a:rPr lang="zh-CN" altLang="en-US" dirty="0"/>
              <a:t>机械工业出版社，</a:t>
            </a:r>
            <a:r>
              <a:rPr lang="en-US" altLang="zh-CN" dirty="0"/>
              <a:t>2015-1.</a:t>
            </a:r>
            <a:endParaRPr lang="en-US" altLang="zh-CN" dirty="0"/>
          </a:p>
          <a:p>
            <a:pPr lvl="1"/>
            <a:r>
              <a:rPr lang="en-US" altLang="zh-CN" dirty="0"/>
              <a:t>2.  </a:t>
            </a:r>
            <a:r>
              <a:rPr lang="zh-CN" altLang="en-US" dirty="0"/>
              <a:t>屈婉玲，耿素云，张立昂</a:t>
            </a:r>
            <a:r>
              <a:rPr lang="en-US" altLang="zh-CN" dirty="0"/>
              <a:t>. </a:t>
            </a:r>
            <a:r>
              <a:rPr lang="zh-CN" altLang="en-US" dirty="0"/>
              <a:t>离散数学</a:t>
            </a:r>
            <a:r>
              <a:rPr lang="en-US" altLang="zh-CN" dirty="0"/>
              <a:t>. </a:t>
            </a:r>
            <a:r>
              <a:rPr lang="zh-CN" altLang="en-US" dirty="0"/>
              <a:t>清华大学出版社，</a:t>
            </a:r>
            <a:r>
              <a:rPr lang="en-US" altLang="zh-CN" dirty="0"/>
              <a:t>2014-1.</a:t>
            </a:r>
            <a:endParaRPr lang="zh-CN" altLang="en-US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2520280"/>
            <a:ext cx="8496944" cy="93610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dirty="0"/>
              <a:t>下面我们进入课程章节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f1b2b64-3c36-4a4a-88f2-3fa4d2d7b2ab"/>
  <p:tag name="COMMONDATA" val="eyJoZGlkIjoiOTdlZWM4ZTkzMDQwNzlhMzliMmYyZDVlZGZhZjFmYzUifQ=="/>
  <p:tag name="commondata" val="eyJoZGlkIjoiNzBjYzNlM2UyNWU0ZmNlNGM0YzIyOWE4MTQ5ZWY4Yz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WPS 演示</Application>
  <PresentationFormat>全屏显示(4:3)</PresentationFormat>
  <Paragraphs>282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Candara</vt:lpstr>
      <vt:lpstr>华文楷体</vt:lpstr>
      <vt:lpstr>Calibri Light</vt:lpstr>
      <vt:lpstr>Times New Roman</vt:lpstr>
      <vt:lpstr>Gungsuh</vt:lpstr>
      <vt:lpstr>Malgun Gothic</vt:lpstr>
      <vt:lpstr>Symbol</vt:lpstr>
      <vt:lpstr>黑体</vt:lpstr>
      <vt:lpstr>微软雅黑</vt:lpstr>
      <vt:lpstr>楷体</vt:lpstr>
      <vt:lpstr>Arial Unicode MS</vt:lpstr>
      <vt:lpstr>Office 主题​​</vt:lpstr>
      <vt:lpstr>PowerPoint 演示文稿</vt:lpstr>
      <vt:lpstr>离散数学课程的性质</vt:lpstr>
      <vt:lpstr>PowerPoint 演示文稿</vt:lpstr>
      <vt:lpstr>PowerPoint 演示文稿</vt:lpstr>
      <vt:lpstr>课程内容</vt:lpstr>
      <vt:lpstr>知识关联</vt:lpstr>
      <vt:lpstr>知识关联</vt:lpstr>
      <vt:lpstr>知识关联</vt:lpstr>
      <vt:lpstr>核心目标</vt:lpstr>
      <vt:lpstr>学习方法</vt:lpstr>
      <vt:lpstr>考核组成</vt:lpstr>
      <vt:lpstr>PowerPoint 演示文稿</vt:lpstr>
      <vt:lpstr>教材与参考书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谭振华</cp:lastModifiedBy>
  <cp:revision>408</cp:revision>
  <dcterms:created xsi:type="dcterms:W3CDTF">2001-03-04T02:11:00Z</dcterms:created>
  <dcterms:modified xsi:type="dcterms:W3CDTF">2025-03-04T02:01:17Z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6BDB5B65252F4EEFB398BD6C5819AFFF</vt:lpwstr>
  </property>
  <property fmtid="{D5CDD505-2E9C-101B-9397-08002B2CF9AE}" pid="3" name="KSOProductBuildVer">
    <vt:lpwstr>2052-12.1.0.18276</vt:lpwstr>
  </property>
</Properties>
</file>