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notesMasterIdLst>
    <p:notesMasterId r:id="rId28"/>
  </p:notesMasterIdLst>
  <p:handoutMasterIdLst>
    <p:handoutMasterId r:id="rId29"/>
  </p:handoutMasterIdLst>
  <p:sldIdLst>
    <p:sldId id="417" r:id="rId2"/>
    <p:sldId id="396" r:id="rId3"/>
    <p:sldId id="397" r:id="rId4"/>
    <p:sldId id="398" r:id="rId5"/>
    <p:sldId id="420" r:id="rId6"/>
    <p:sldId id="399" r:id="rId7"/>
    <p:sldId id="400" r:id="rId8"/>
    <p:sldId id="401" r:id="rId9"/>
    <p:sldId id="402" r:id="rId10"/>
    <p:sldId id="403" r:id="rId11"/>
    <p:sldId id="404" r:id="rId12"/>
    <p:sldId id="407" r:id="rId13"/>
    <p:sldId id="438" r:id="rId14"/>
    <p:sldId id="439" r:id="rId15"/>
    <p:sldId id="409" r:id="rId16"/>
    <p:sldId id="410" r:id="rId17"/>
    <p:sldId id="411" r:id="rId18"/>
    <p:sldId id="412" r:id="rId19"/>
    <p:sldId id="413" r:id="rId20"/>
    <p:sldId id="431" r:id="rId21"/>
    <p:sldId id="432" r:id="rId22"/>
    <p:sldId id="414" r:id="rId23"/>
    <p:sldId id="415" r:id="rId24"/>
    <p:sldId id="416" r:id="rId25"/>
    <p:sldId id="427" r:id="rId26"/>
    <p:sldId id="428" r:id="rId27"/>
  </p:sldIdLst>
  <p:sldSz cx="9144000" cy="6858000" type="screen4x3"/>
  <p:notesSz cx="6797675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17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34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51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5853" algn="l" defTabSz="914342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024" algn="l" defTabSz="914342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195" algn="l" defTabSz="914342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366" algn="l" defTabSz="914342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3" autoAdjust="0"/>
    <p:restoredTop sz="95205" autoAdjust="0"/>
  </p:normalViewPr>
  <p:slideViewPr>
    <p:cSldViewPr>
      <p:cViewPr varScale="1">
        <p:scale>
          <a:sx n="114" d="100"/>
          <a:sy n="114" d="100"/>
        </p:scale>
        <p:origin x="1572" y="15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83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814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83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83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814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83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3263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83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814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83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715406"/>
            <a:ext cx="4985772" cy="4467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83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814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830">
              <a:defRPr kumimoji="1" sz="1300">
                <a:latin typeface="Times New Roman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8685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17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34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5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68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5853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189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377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566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754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062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359766-DD05-4CBD-A26A-4114599ED0A3}"/>
              </a:ext>
            </a:extLst>
          </p:cNvPr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</a:p>
        </p:txBody>
      </p:sp>
    </p:spTree>
    <p:extLst>
      <p:ext uri="{BB962C8B-B14F-4D97-AF65-F5344CB8AC3E}">
        <p14:creationId xmlns:p14="http://schemas.microsoft.com/office/powerpoint/2010/main" val="3108089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306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88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</p:sldLayoutIdLst>
  <p:txStyles>
    <p:titleStyle>
      <a:lvl1pPr algn="ctr" defTabSz="1024062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024" indent="-384024" algn="l" defTabSz="1024062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584" indent="-320020" algn="l" defTabSz="1024062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611" indent="-256015" algn="l" defTabSz="1024062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42" indent="-256015" algn="l" defTabSz="1024062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208" indent="-256015" algn="l" defTabSz="1024062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239" indent="-256015" algn="l" defTabSz="1024062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270" indent="-256015" algn="l" defTabSz="1024062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834" indent="-256015" algn="l" defTabSz="1024062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865" indent="-256015" algn="l" defTabSz="1024062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06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2031" algn="l" defTabSz="102406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595" algn="l" defTabSz="102406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626" algn="l" defTabSz="102406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658" algn="l" defTabSz="102406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1223" algn="l" defTabSz="102406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254" algn="l" defTabSz="102406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85" algn="l" defTabSz="102406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850" algn="l" defTabSz="102406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9341805-C0BD-4414-8A5F-FF8A32E57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B135805-084F-44AA-8BFC-EB6F5CC09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2636912"/>
            <a:ext cx="7957392" cy="792088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4000" dirty="0"/>
              <a:t>第一章 习题课</a:t>
            </a:r>
          </a:p>
        </p:txBody>
      </p:sp>
    </p:spTree>
    <p:extLst>
      <p:ext uri="{BB962C8B-B14F-4D97-AF65-F5344CB8AC3E}">
        <p14:creationId xmlns:p14="http://schemas.microsoft.com/office/powerpoint/2010/main" val="5823959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黑体" pitchFamily="49" charset="-122"/>
                <a:ea typeface="黑体" pitchFamily="49" charset="-122"/>
              </a:rPr>
              <a:t>第一章  习题课</a:t>
            </a:r>
            <a:endParaRPr lang="zh-CN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609561" indent="-609561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一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.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命题符号化  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注意讲过的命题符号化方法。</a:t>
            </a:r>
            <a:endParaRPr lang="zh-CN" altLang="en-US" sz="2800" b="1" dirty="0"/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8</a:t>
            </a:r>
            <a:r>
              <a:rPr lang="zh-CN" altLang="en-US" sz="2800" b="1" dirty="0">
                <a:solidFill>
                  <a:srgbClr val="FF0000"/>
                </a:solidFill>
              </a:rPr>
              <a:t>习题</a:t>
            </a:r>
            <a:r>
              <a:rPr lang="en-US" altLang="zh-CN" sz="2800" b="1" dirty="0">
                <a:solidFill>
                  <a:srgbClr val="FF0000"/>
                </a:solidFill>
              </a:rPr>
              <a:t>(3)</a:t>
            </a:r>
            <a:r>
              <a:rPr lang="en-US" altLang="zh-CN" sz="2800" b="1" dirty="0"/>
              <a:t> </a:t>
            </a:r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P:</a:t>
            </a:r>
            <a:r>
              <a:rPr lang="zh-CN" altLang="zh-CN" sz="2800" b="1" dirty="0"/>
              <a:t>天下雪。</a:t>
            </a:r>
            <a:r>
              <a:rPr lang="en-US" altLang="zh-CN" sz="2800" b="1" dirty="0"/>
              <a:t>Q:</a:t>
            </a:r>
            <a:r>
              <a:rPr lang="zh-CN" altLang="en-US" sz="2800" b="1" dirty="0"/>
              <a:t>我将去镇上。</a:t>
            </a:r>
            <a:r>
              <a:rPr lang="en-US" altLang="zh-CN" sz="2800" b="1" dirty="0"/>
              <a:t>R:</a:t>
            </a:r>
            <a:r>
              <a:rPr lang="zh-CN" altLang="en-US" sz="2800" b="1" dirty="0"/>
              <a:t>我有时间。</a:t>
            </a:r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a)</a:t>
            </a:r>
            <a:r>
              <a:rPr lang="en-US" altLang="zh-CN" sz="2800" b="1" dirty="0"/>
              <a:t> </a:t>
            </a:r>
            <a:r>
              <a:rPr lang="zh-CN" altLang="zh-CN" sz="2800" b="1" dirty="0"/>
              <a:t>如果天不下雪且我有时间，那么我将去镇上。</a:t>
            </a:r>
            <a:endParaRPr lang="zh-CN" altLang="en-US" sz="2800" b="1" dirty="0"/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   </a:t>
            </a:r>
            <a:r>
              <a:rPr lang="zh-CN" altLang="zh-CN" sz="2800" b="1" dirty="0"/>
              <a:t>   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latin typeface="宋体" pitchFamily="2" charset="-122"/>
              </a:rPr>
              <a:t>P∧R)→Q</a:t>
            </a:r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   </a:t>
            </a:r>
            <a:r>
              <a:rPr lang="zh-CN" altLang="en-US" sz="2800" b="1" dirty="0"/>
              <a:t>只有</a:t>
            </a:r>
            <a:r>
              <a:rPr lang="zh-CN" altLang="zh-CN" sz="2800" b="1" dirty="0"/>
              <a:t>天不下雪且我有时间，我才去镇上。</a:t>
            </a:r>
            <a:endParaRPr lang="zh-CN" altLang="en-US" sz="2800" b="1" dirty="0"/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宋体" pitchFamily="2" charset="-122"/>
              </a:rPr>
              <a:t>    </a:t>
            </a:r>
            <a:r>
              <a:rPr lang="en-US" altLang="zh-CN" sz="2800" b="1" dirty="0">
                <a:latin typeface="宋体" pitchFamily="2" charset="-122"/>
              </a:rPr>
              <a:t>Q→</a:t>
            </a:r>
            <a:r>
              <a:rPr lang="zh-CN" altLang="zh-CN" sz="2800" b="1" dirty="0"/>
              <a:t>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latin typeface="宋体" pitchFamily="2" charset="-122"/>
              </a:rPr>
              <a:t>P∧R)</a:t>
            </a:r>
            <a:endParaRPr lang="en-US" altLang="zh-CN" sz="2800" b="1" dirty="0"/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b)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我将去镇上，仅当我有时间。</a:t>
            </a:r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      </a:t>
            </a:r>
            <a:r>
              <a:rPr lang="en-US" altLang="zh-CN" sz="2800" b="1" dirty="0">
                <a:latin typeface="宋体" pitchFamily="2" charset="-122"/>
              </a:rPr>
              <a:t>Q→R</a:t>
            </a:r>
            <a:endParaRPr lang="en-US" altLang="zh-CN" sz="2800" b="1" dirty="0"/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d)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天下雪，那么我不去镇上。</a:t>
            </a:r>
          </a:p>
          <a:p>
            <a:pPr marL="609561" indent="-609561"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      </a:t>
            </a:r>
            <a:r>
              <a:rPr lang="en-US" altLang="zh-CN" sz="2800" b="1" dirty="0"/>
              <a:t>P</a:t>
            </a:r>
            <a:r>
              <a:rPr lang="en-US" altLang="zh-CN" sz="2800" b="1" dirty="0">
                <a:latin typeface="宋体" pitchFamily="2" charset="-122"/>
              </a:rPr>
              <a:t>→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latin typeface="宋体" pitchFamily="2" charset="-122"/>
              </a:rPr>
              <a:t>Q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6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6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66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66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5CF5B-CD7D-4FBA-9984-5E7D61FC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12</a:t>
            </a:r>
            <a:r>
              <a:rPr lang="zh-CN" altLang="en-US" sz="2800" b="1" dirty="0">
                <a:solidFill>
                  <a:srgbClr val="FF0000"/>
                </a:solidFill>
              </a:rPr>
              <a:t>习题</a:t>
            </a:r>
            <a:r>
              <a:rPr lang="en-US" altLang="zh-CN" sz="2800" b="1" dirty="0">
                <a:solidFill>
                  <a:srgbClr val="FF0000"/>
                </a:solidFill>
              </a:rPr>
              <a:t>(5)</a:t>
            </a:r>
            <a:r>
              <a:rPr lang="en-US" altLang="zh-CN" sz="2800" b="1" dirty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a)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或者你没有给我写信，或者它在途中丢失了。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显然这里的“或者”是“</a:t>
            </a:r>
            <a:r>
              <a:rPr lang="zh-CN" altLang="en-US" sz="2400" b="1" dirty="0">
                <a:solidFill>
                  <a:srgbClr val="FF0000"/>
                </a:solidFill>
              </a:rPr>
              <a:t>不可兼取的或</a:t>
            </a:r>
            <a:r>
              <a:rPr lang="zh-CN" altLang="en-US" sz="2400" b="1" dirty="0"/>
              <a:t>”。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令 </a:t>
            </a:r>
            <a:r>
              <a:rPr lang="en-US" altLang="zh-CN" sz="2400" b="1" dirty="0"/>
              <a:t>P:</a:t>
            </a:r>
            <a:r>
              <a:rPr lang="zh-CN" altLang="en-US" sz="2400" b="1" dirty="0"/>
              <a:t>你给我写信。</a:t>
            </a:r>
            <a:r>
              <a:rPr lang="en-US" altLang="zh-CN" sz="2400" b="1" dirty="0"/>
              <a:t>Q:</a:t>
            </a:r>
            <a:r>
              <a:rPr lang="zh-CN" altLang="en-US" sz="2400" b="1" dirty="0"/>
              <a:t>信在途中丢失了。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sym typeface="Symbol" pitchFamily="18" charset="2"/>
              </a:rPr>
              <a:t>   表达式为</a:t>
            </a:r>
            <a:r>
              <a:rPr lang="en-US" altLang="zh-CN" sz="2400" b="1" dirty="0">
                <a:sym typeface="Symbol" pitchFamily="18" charset="2"/>
              </a:rPr>
              <a:t>: </a:t>
            </a:r>
            <a:r>
              <a:rPr lang="en-US" altLang="zh-CN" sz="2400" b="1" dirty="0">
                <a:sym typeface="Kingsoft Phonetic Plain" pitchFamily="2" charset="2"/>
              </a:rPr>
              <a:t>P</a:t>
            </a:r>
            <a:r>
              <a:rPr lang="en-US" altLang="zh-CN" sz="2400" b="1" dirty="0">
                <a:latin typeface="Lucida Sans Unicode" pitchFamily="34" charset="0"/>
                <a:sym typeface="Kingsoft Phonetic Plain" pitchFamily="2" charset="2"/>
              </a:rPr>
              <a:t>⊽</a:t>
            </a:r>
            <a:r>
              <a:rPr lang="en-US" altLang="zh-CN" sz="2400" b="1" dirty="0">
                <a:sym typeface="Kingsoft Phonetic Plain" pitchFamily="2" charset="2"/>
              </a:rPr>
              <a:t>Q  </a:t>
            </a:r>
            <a:r>
              <a:rPr lang="zh-CN" altLang="zh-CN" sz="2400" b="1" dirty="0">
                <a:sym typeface="Kingsoft Phonetic Plain" pitchFamily="2" charset="2"/>
              </a:rPr>
              <a:t>或</a:t>
            </a:r>
            <a:r>
              <a:rPr lang="zh-CN" altLang="en-US" sz="2400" b="1" dirty="0">
                <a:sym typeface="Kingsoft Phonetic Plain" pitchFamily="2" charset="2"/>
              </a:rPr>
              <a:t>   </a:t>
            </a:r>
            <a:r>
              <a:rPr lang="en-US" altLang="zh-CN" sz="2400" b="1" dirty="0">
                <a:sym typeface="Kingsoft Phonetic Plain" pitchFamily="2" charset="2"/>
              </a:rPr>
              <a:t>(</a:t>
            </a:r>
            <a:r>
              <a:rPr lang="en-US" altLang="zh-CN" sz="2400" b="1" dirty="0">
                <a:sym typeface="Symbol" pitchFamily="18" charset="2"/>
              </a:rPr>
              <a:t>P</a:t>
            </a:r>
            <a:r>
              <a:rPr lang="en-US" altLang="zh-CN" sz="2400" b="1" dirty="0">
                <a:sym typeface="Kingsoft Phonetic Plain" pitchFamily="2" charset="2"/>
              </a:rPr>
              <a:t>∧Q)∨(</a:t>
            </a:r>
            <a:r>
              <a:rPr lang="en-US" altLang="zh-CN" sz="2400" b="1" dirty="0">
                <a:sym typeface="Symbol" pitchFamily="18" charset="2"/>
              </a:rPr>
              <a:t></a:t>
            </a:r>
            <a:r>
              <a:rPr lang="en-US" altLang="zh-CN" sz="2400" b="1" dirty="0">
                <a:sym typeface="Kingsoft Phonetic Plain" pitchFamily="2" charset="2"/>
              </a:rPr>
              <a:t>P∧</a:t>
            </a:r>
            <a:r>
              <a:rPr lang="en-US" altLang="zh-CN" sz="2400" b="1" dirty="0">
                <a:sym typeface="Symbol" pitchFamily="18" charset="2"/>
              </a:rPr>
              <a:t>Q)</a:t>
            </a:r>
            <a:r>
              <a:rPr lang="en-US" altLang="zh-CN" sz="2400" b="1" dirty="0">
                <a:sym typeface="Kingsoft Phonetic Plain" pitchFamily="2" charset="2"/>
              </a:rPr>
              <a:t> 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c)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我们不能既划船又跑步。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令 </a:t>
            </a:r>
            <a:r>
              <a:rPr lang="en-US" altLang="zh-CN" sz="2400" b="1" dirty="0"/>
              <a:t>P:</a:t>
            </a:r>
            <a:r>
              <a:rPr lang="zh-CN" altLang="en-US" sz="2400" b="1" dirty="0"/>
              <a:t>我们划船。</a:t>
            </a:r>
            <a:r>
              <a:rPr lang="en-US" altLang="zh-CN" sz="2400" b="1" dirty="0"/>
              <a:t>Q:</a:t>
            </a:r>
            <a:r>
              <a:rPr lang="zh-CN" altLang="en-US" sz="2400" b="1" dirty="0"/>
              <a:t>我们跑步。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</a:t>
            </a:r>
            <a:r>
              <a:rPr lang="zh-CN" altLang="en-US" sz="2400" b="1" dirty="0">
                <a:sym typeface="Symbol" pitchFamily="18" charset="2"/>
              </a:rPr>
              <a:t>表达式为  </a:t>
            </a:r>
            <a:r>
              <a:rPr lang="en-US" altLang="zh-CN" sz="2400" b="1" dirty="0">
                <a:sym typeface="Symbol" pitchFamily="18" charset="2"/>
              </a:rPr>
              <a:t>(</a:t>
            </a:r>
            <a:r>
              <a:rPr lang="en-US" altLang="zh-CN" sz="2400" b="1" dirty="0">
                <a:latin typeface="宋体" pitchFamily="2" charset="-122"/>
              </a:rPr>
              <a:t>P∧Q</a:t>
            </a:r>
            <a:r>
              <a:rPr lang="en-US" altLang="zh-CN" sz="2400" b="1" dirty="0">
                <a:sym typeface="Symbol" pitchFamily="18" charset="2"/>
              </a:rPr>
              <a:t>)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d)</a:t>
            </a:r>
            <a:r>
              <a:rPr lang="zh-CN" altLang="en-US" sz="2400" b="1" dirty="0"/>
              <a:t>如果你来了，那么他唱不唱歌将看你是否为他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伴奏而定。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令 </a:t>
            </a:r>
            <a:r>
              <a:rPr lang="en-US" altLang="zh-CN" sz="2400" b="1" dirty="0"/>
              <a:t>P:</a:t>
            </a:r>
            <a:r>
              <a:rPr lang="zh-CN" altLang="en-US" sz="2400" b="1" dirty="0"/>
              <a:t>你来了。</a:t>
            </a:r>
            <a:r>
              <a:rPr lang="en-US" altLang="zh-CN" sz="2400" b="1" dirty="0"/>
              <a:t>Q:</a:t>
            </a:r>
            <a:r>
              <a:rPr lang="zh-CN" altLang="en-US" sz="2400" b="1" dirty="0"/>
              <a:t>你为他伴奏。 </a:t>
            </a:r>
            <a:r>
              <a:rPr lang="en-US" altLang="zh-CN" sz="2400" b="1" dirty="0"/>
              <a:t>R:</a:t>
            </a:r>
            <a:r>
              <a:rPr lang="zh-CN" altLang="en-US" sz="2400" b="1" dirty="0"/>
              <a:t>他唱歌。</a:t>
            </a:r>
            <a:endParaRPr lang="zh-CN" altLang="en-US" sz="2400" b="1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sym typeface="Symbol" pitchFamily="18" charset="2"/>
              </a:rPr>
              <a:t>   表达式为</a:t>
            </a:r>
            <a:r>
              <a:rPr lang="en-US" altLang="zh-CN" sz="2400" b="1" dirty="0">
                <a:sym typeface="Symbol" pitchFamily="18" charset="2"/>
              </a:rPr>
              <a:t>:  </a:t>
            </a:r>
            <a:r>
              <a:rPr lang="en-US" altLang="zh-CN" sz="2400" b="1" dirty="0">
                <a:latin typeface="宋体" pitchFamily="2" charset="-122"/>
              </a:rPr>
              <a:t>P→((Q→R)∧(</a:t>
            </a:r>
            <a:r>
              <a:rPr lang="en-US" altLang="zh-CN" sz="2400" b="1" dirty="0">
                <a:sym typeface="Symbol" pitchFamily="18" charset="2"/>
              </a:rPr>
              <a:t></a:t>
            </a:r>
            <a:r>
              <a:rPr lang="en-US" altLang="zh-CN" sz="2400" b="1" dirty="0">
                <a:latin typeface="宋体" pitchFamily="2" charset="-122"/>
              </a:rPr>
              <a:t>Q→</a:t>
            </a:r>
            <a:r>
              <a:rPr lang="en-US" altLang="zh-CN" sz="2400" b="1" dirty="0">
                <a:sym typeface="Symbol" pitchFamily="18" charset="2"/>
              </a:rPr>
              <a:t></a:t>
            </a:r>
            <a:r>
              <a:rPr lang="en-US" altLang="zh-CN" sz="2400" b="1" dirty="0">
                <a:latin typeface="宋体" pitchFamily="2" charset="-122"/>
              </a:rPr>
              <a:t>R))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  </a:t>
            </a:r>
            <a:r>
              <a:rPr lang="zh-CN" altLang="en-US" sz="2400" b="1" dirty="0">
                <a:latin typeface="宋体" pitchFamily="2" charset="-122"/>
              </a:rPr>
              <a:t>也可以写成： </a:t>
            </a:r>
            <a:r>
              <a:rPr lang="en-US" altLang="zh-CN" sz="2400" b="1" dirty="0">
                <a:latin typeface="宋体" pitchFamily="2" charset="-122"/>
              </a:rPr>
              <a:t>P→(Q</a:t>
            </a:r>
            <a:r>
              <a:rPr lang="en-US" altLang="zh-CN" sz="2400" b="1" dirty="0">
                <a:sym typeface="Symbol" pitchFamily="18" charset="2"/>
              </a:rPr>
              <a:t></a:t>
            </a:r>
            <a:r>
              <a:rPr lang="en-US" altLang="zh-CN" sz="2400" b="1" dirty="0">
                <a:latin typeface="宋体" pitchFamily="2" charset="-122"/>
              </a:rPr>
              <a:t>R)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67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67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67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67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CA611-5778-4EC8-AC38-002C03C47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P</a:t>
            </a:r>
            <a:r>
              <a:rPr lang="en-US" altLang="zh-CN" sz="2800" b="1" baseline="-25000">
                <a:solidFill>
                  <a:srgbClr val="FF0000"/>
                </a:solidFill>
              </a:rPr>
              <a:t>12</a:t>
            </a:r>
            <a:r>
              <a:rPr lang="zh-CN" altLang="en-US" sz="2800" b="1">
                <a:solidFill>
                  <a:srgbClr val="FF0000"/>
                </a:solidFill>
              </a:rPr>
              <a:t>习题</a:t>
            </a:r>
            <a:r>
              <a:rPr lang="en-US" altLang="zh-CN" sz="2800" b="1">
                <a:solidFill>
                  <a:srgbClr val="FF0000"/>
                </a:solidFill>
              </a:rPr>
              <a:t>(7)</a:t>
            </a:r>
            <a:endParaRPr lang="en-US" altLang="zh-CN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a)</a:t>
            </a:r>
            <a:r>
              <a:rPr lang="en-US" altLang="zh-CN" sz="2800" b="1"/>
              <a:t> </a:t>
            </a:r>
            <a:r>
              <a:rPr lang="zh-CN" altLang="en-US" sz="2800" b="1"/>
              <a:t>假如上午不下雨，我去看电影，否则就在家里读书或看报。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令 </a:t>
            </a:r>
            <a:r>
              <a:rPr lang="en-US" altLang="zh-CN" sz="2800" b="1"/>
              <a:t>P:</a:t>
            </a:r>
            <a:r>
              <a:rPr lang="zh-CN" altLang="en-US" sz="2800" b="1"/>
              <a:t>上午下雨。</a:t>
            </a:r>
            <a:r>
              <a:rPr lang="en-US" altLang="zh-CN" sz="2800" b="1"/>
              <a:t>Q:</a:t>
            </a:r>
            <a:r>
              <a:rPr lang="zh-CN" altLang="en-US" sz="2800" b="1"/>
              <a:t>我去看电影。 </a:t>
            </a:r>
            <a:r>
              <a:rPr lang="en-US" altLang="zh-CN" sz="2800" b="1"/>
              <a:t>R:</a:t>
            </a:r>
            <a:r>
              <a:rPr lang="zh-CN" altLang="en-US" sz="2800" b="1"/>
              <a:t>我在家里读书。</a:t>
            </a:r>
            <a:r>
              <a:rPr lang="en-US" altLang="zh-CN" sz="2800" b="1"/>
              <a:t>S:</a:t>
            </a:r>
            <a:r>
              <a:rPr lang="zh-CN" altLang="en-US" sz="2800" b="1"/>
              <a:t>我在家里看报。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Symbol" pitchFamily="18" charset="2"/>
              </a:rPr>
              <a:t>表达式为</a:t>
            </a:r>
            <a:r>
              <a:rPr lang="en-US" altLang="zh-CN" sz="2800" b="1">
                <a:sym typeface="Symbol" pitchFamily="18" charset="2"/>
              </a:rPr>
              <a:t>:  (</a:t>
            </a:r>
            <a:r>
              <a:rPr lang="en-US" altLang="zh-CN" sz="2800" b="1">
                <a:latin typeface="宋体" pitchFamily="2" charset="-122"/>
              </a:rPr>
              <a:t>P→Q)∧(P→(R </a:t>
            </a:r>
            <a:r>
              <a:rPr lang="en-US" altLang="zh-CN" sz="2800" b="1">
                <a:latin typeface="Lucida Sans Unicode" pitchFamily="34" charset="0"/>
              </a:rPr>
              <a:t>⊽ 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>
                <a:latin typeface="宋体" pitchFamily="2" charset="-122"/>
              </a:rPr>
              <a:t>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</a:rPr>
              <a:t>不可以写成</a:t>
            </a:r>
            <a:r>
              <a:rPr lang="zh-CN" altLang="en-US" sz="2800" b="1">
                <a:latin typeface="宋体" pitchFamily="2" charset="-122"/>
              </a:rPr>
              <a:t>：</a:t>
            </a:r>
            <a:r>
              <a:rPr lang="en-US" altLang="zh-CN" sz="2800" b="1">
                <a:sym typeface="Symbol" pitchFamily="18" charset="2"/>
              </a:rPr>
              <a:t>(</a:t>
            </a:r>
            <a:r>
              <a:rPr lang="en-US" altLang="zh-CN" sz="2800" b="1">
                <a:latin typeface="宋体" pitchFamily="2" charset="-122"/>
              </a:rPr>
              <a:t>P→Q)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∨</a:t>
            </a:r>
            <a:r>
              <a:rPr lang="en-US" altLang="zh-CN" sz="2800" b="1">
                <a:latin typeface="宋体" pitchFamily="2" charset="-122"/>
              </a:rPr>
              <a:t>(P→(R </a:t>
            </a:r>
            <a:r>
              <a:rPr lang="en-US" altLang="zh-CN" sz="2800" b="1">
                <a:latin typeface="Lucida Sans Unicode" pitchFamily="34" charset="0"/>
              </a:rPr>
              <a:t>⊽ 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>
                <a:latin typeface="宋体" pitchFamily="2" charset="-122"/>
              </a:rPr>
              <a:t>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itchFamily="18" charset="2"/>
              </a:rPr>
              <a:t>    (</a:t>
            </a:r>
            <a:r>
              <a:rPr lang="en-US" altLang="zh-CN" sz="2800" b="1">
                <a:latin typeface="宋体" pitchFamily="2" charset="-122"/>
              </a:rPr>
              <a:t>P→Q)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∨</a:t>
            </a:r>
            <a:r>
              <a:rPr lang="en-US" altLang="zh-CN" sz="2800" b="1">
                <a:latin typeface="宋体" pitchFamily="2" charset="-122"/>
              </a:rPr>
              <a:t>(P→(R </a:t>
            </a:r>
            <a:r>
              <a:rPr lang="en-US" altLang="zh-CN" sz="2800" b="1">
                <a:latin typeface="Lucida Sans Unicode" pitchFamily="34" charset="0"/>
              </a:rPr>
              <a:t>⊽ 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>
                <a:latin typeface="宋体" pitchFamily="2" charset="-122"/>
              </a:rPr>
              <a:t>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itchFamily="18" charset="2"/>
              </a:rPr>
              <a:t>    (P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∨Q)∨(</a:t>
            </a:r>
            <a:r>
              <a:rPr lang="en-US" altLang="zh-CN" sz="2800" b="1">
                <a:sym typeface="Symbol" pitchFamily="18" charset="2"/>
              </a:rPr>
              <a:t>P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∨(R </a:t>
            </a:r>
            <a:r>
              <a:rPr lang="en-US" altLang="zh-CN" sz="2800" b="1">
                <a:latin typeface="Lucida Sans Unicode" pitchFamily="34" charset="0"/>
              </a:rPr>
              <a:t>⊽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 S))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itchFamily="18" charset="2"/>
              </a:rPr>
              <a:t>    (P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∨Q)∨(</a:t>
            </a:r>
            <a:r>
              <a:rPr lang="en-US" altLang="zh-CN" sz="2800" b="1">
                <a:sym typeface="Symbol" pitchFamily="18" charset="2"/>
              </a:rPr>
              <a:t>P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∨(R </a:t>
            </a:r>
            <a:r>
              <a:rPr lang="en-US" altLang="zh-CN" sz="2800" b="1">
                <a:latin typeface="Lucida Sans Unicode" pitchFamily="34" charset="0"/>
              </a:rPr>
              <a:t>⊽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 S))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itchFamily="18" charset="2"/>
              </a:rPr>
              <a:t>    P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∨Q∨</a:t>
            </a:r>
            <a:r>
              <a:rPr lang="en-US" altLang="zh-CN" sz="2800" b="1">
                <a:sym typeface="Symbol" pitchFamily="18" charset="2"/>
              </a:rPr>
              <a:t>P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∨(R </a:t>
            </a:r>
            <a:r>
              <a:rPr lang="en-US" altLang="zh-CN" sz="2800" b="1">
                <a:latin typeface="Lucida Sans Unicode" pitchFamily="34" charset="0"/>
              </a:rPr>
              <a:t>⊽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 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itchFamily="18" charset="2"/>
              </a:rPr>
              <a:t>    P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itchFamily="18" charset="2"/>
              </a:rPr>
              <a:t>P 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∨Q∨(R </a:t>
            </a:r>
            <a:r>
              <a:rPr lang="en-US" altLang="zh-CN" sz="2800" b="1">
                <a:latin typeface="Lucida Sans Unicode" pitchFamily="34" charset="0"/>
              </a:rPr>
              <a:t>⊽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 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itchFamily="18" charset="2"/>
              </a:rPr>
              <a:t>    T</a:t>
            </a:r>
            <a:r>
              <a:rPr lang="en-US" altLang="zh-CN" sz="2800" b="1">
                <a:latin typeface="宋体" pitchFamily="2" charset="-122"/>
              </a:rPr>
              <a:t> </a:t>
            </a: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8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A3D58-3F6F-495F-8156-CB2780F03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b)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我今天进城，除非下雨。</a:t>
            </a:r>
          </a:p>
          <a:p>
            <a:pPr eaLnBrk="1" hangingPunct="1">
              <a:buFontTx/>
              <a:buNone/>
            </a:pPr>
            <a:r>
              <a:rPr lang="zh-CN" altLang="en-US" sz="2800" b="1" dirty="0"/>
              <a:t>令 </a:t>
            </a:r>
            <a:r>
              <a:rPr lang="en-US" altLang="zh-CN" sz="2800" b="1" dirty="0"/>
              <a:t>P:</a:t>
            </a:r>
            <a:r>
              <a:rPr lang="zh-CN" altLang="en-US" sz="2800" b="1" dirty="0"/>
              <a:t>我今天进城。</a:t>
            </a:r>
            <a:r>
              <a:rPr lang="en-US" altLang="zh-CN" sz="2800" b="1" dirty="0"/>
              <a:t>Q:</a:t>
            </a:r>
            <a:r>
              <a:rPr lang="zh-CN" altLang="en-US" sz="2800" b="1" dirty="0"/>
              <a:t>今天下雨。</a:t>
            </a:r>
          </a:p>
          <a:p>
            <a:pPr>
              <a:buNone/>
            </a:pPr>
            <a:r>
              <a:rPr lang="zh-CN" altLang="en-US" sz="2800" b="1" dirty="0">
                <a:sym typeface="Symbol" pitchFamily="18" charset="2"/>
              </a:rPr>
              <a:t>表达式为</a:t>
            </a:r>
            <a:r>
              <a:rPr lang="en-US" altLang="zh-CN" sz="2800" b="1" dirty="0">
                <a:sym typeface="Symbol" pitchFamily="18" charset="2"/>
              </a:rPr>
              <a:t>: </a:t>
            </a:r>
            <a:r>
              <a:rPr lang="en-US" altLang="zh-CN" sz="2800" b="1" dirty="0">
                <a:latin typeface="宋体" pitchFamily="2" charset="-122"/>
              </a:rPr>
              <a:t>Q→P 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c)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仅当你走我将留下。</a:t>
            </a:r>
          </a:p>
          <a:p>
            <a:pPr eaLnBrk="1" hangingPunct="1">
              <a:buFontTx/>
              <a:buNone/>
            </a:pPr>
            <a:r>
              <a:rPr lang="zh-CN" altLang="en-US" sz="2800" b="1" dirty="0"/>
              <a:t>令 </a:t>
            </a:r>
            <a:r>
              <a:rPr lang="en-US" altLang="zh-CN" sz="2800" b="1" dirty="0"/>
              <a:t>P:</a:t>
            </a:r>
            <a:r>
              <a:rPr lang="zh-CN" altLang="en-US" sz="2800" b="1" dirty="0"/>
              <a:t>你走。</a:t>
            </a:r>
            <a:r>
              <a:rPr lang="en-US" altLang="zh-CN" sz="2800" b="1" dirty="0"/>
              <a:t>Q:</a:t>
            </a:r>
            <a:r>
              <a:rPr lang="zh-CN" altLang="en-US" sz="2800" b="1" dirty="0"/>
              <a:t>我留下。</a:t>
            </a:r>
            <a:endParaRPr lang="zh-CN" altLang="en-US" sz="2800" b="1" dirty="0">
              <a:latin typeface="宋体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表达式为</a:t>
            </a:r>
            <a:r>
              <a:rPr lang="en-US" altLang="zh-CN" sz="2800" b="1" dirty="0">
                <a:sym typeface="Symbol" pitchFamily="18" charset="2"/>
              </a:rPr>
              <a:t>:  </a:t>
            </a:r>
            <a:r>
              <a:rPr lang="en-US" altLang="zh-CN" sz="2800" b="1" dirty="0">
                <a:latin typeface="宋体" pitchFamily="2" charset="-122"/>
              </a:rPr>
              <a:t>Q→P   </a:t>
            </a:r>
            <a:r>
              <a:rPr lang="zh-CN" altLang="en-US" sz="2800" b="1" dirty="0">
                <a:latin typeface="宋体" pitchFamily="2" charset="-122"/>
              </a:rPr>
              <a:t>或者 </a:t>
            </a:r>
            <a:r>
              <a:rPr lang="zh-CN" altLang="en-US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latin typeface="宋体" pitchFamily="2" charset="-122"/>
              </a:rPr>
              <a:t>P→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latin typeface="宋体" pitchFamily="2" charset="-122"/>
              </a:rPr>
              <a:t>Q</a:t>
            </a:r>
          </a:p>
          <a:p>
            <a:pPr eaLnBrk="1" hangingPunct="1">
              <a:buFontTx/>
              <a:buNone/>
            </a:pPr>
            <a:endParaRPr lang="en-US" altLang="zh-CN" sz="2800" b="1" dirty="0">
              <a:ea typeface="MS Gothic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F397A-B1BD-4D10-BD71-92E61C82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/>
              <a:t>二</a:t>
            </a:r>
            <a:r>
              <a:rPr lang="en-US" altLang="zh-CN" dirty="0"/>
              <a:t>.</a:t>
            </a:r>
            <a:r>
              <a:rPr lang="zh-CN" altLang="en-US" dirty="0">
                <a:ea typeface="黑体" pitchFamily="49" charset="-122"/>
              </a:rPr>
              <a:t>重言式的证明方法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</a:t>
            </a:r>
            <a:r>
              <a:rPr lang="zh-CN" altLang="en-US" sz="2400" dirty="0">
                <a:solidFill>
                  <a:srgbClr val="FF0000"/>
                </a:solidFill>
              </a:rPr>
              <a:t>方法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/>
              <a:t>：列真值表。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    </a:t>
            </a:r>
            <a:r>
              <a:rPr lang="zh-CN" altLang="en-US" sz="2400" dirty="0">
                <a:solidFill>
                  <a:srgbClr val="FF0000"/>
                </a:solidFill>
              </a:rPr>
              <a:t>方法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：公式的等价变换，化简成“</a:t>
            </a:r>
            <a:r>
              <a:rPr lang="en-US" altLang="zh-CN" sz="2400" dirty="0"/>
              <a:t>T”</a:t>
            </a:r>
            <a:r>
              <a:rPr lang="zh-CN" altLang="en-US" sz="2400" dirty="0"/>
              <a:t>。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    </a:t>
            </a:r>
            <a:r>
              <a:rPr lang="zh-CN" altLang="en-US" sz="2400" dirty="0">
                <a:solidFill>
                  <a:srgbClr val="FF0000"/>
                </a:solidFill>
              </a:rPr>
              <a:t>方法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/>
              <a:t>：用公式的主析取范式。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23 </a:t>
            </a:r>
            <a:r>
              <a:rPr lang="en-US" altLang="zh-CN" sz="2400" dirty="0">
                <a:solidFill>
                  <a:srgbClr val="FF0000"/>
                </a:solidFill>
              </a:rPr>
              <a:t>(2)a)</a:t>
            </a:r>
            <a:r>
              <a:rPr lang="zh-CN" altLang="en-US" sz="2400" dirty="0"/>
              <a:t>证明</a:t>
            </a:r>
            <a:r>
              <a:rPr lang="en-US" altLang="zh-CN" sz="2400" b="1" dirty="0">
                <a:latin typeface="宋体" pitchFamily="2" charset="-122"/>
              </a:rPr>
              <a:t>(P→Q)→(P→(P∧</a:t>
            </a:r>
            <a:r>
              <a:rPr lang="en-US" altLang="zh-CN" sz="2400" b="1" dirty="0">
                <a:sym typeface="Kingsoft Phonetic Plain" pitchFamily="2" charset="2"/>
              </a:rPr>
              <a:t>Q</a:t>
            </a:r>
            <a:r>
              <a:rPr lang="en-US" altLang="zh-CN" sz="2400" b="1" dirty="0">
                <a:latin typeface="宋体" pitchFamily="2" charset="-122"/>
              </a:rPr>
              <a:t>))</a:t>
            </a:r>
            <a:r>
              <a:rPr lang="zh-CN" altLang="en-US" sz="2400" b="1" dirty="0">
                <a:latin typeface="宋体" pitchFamily="2" charset="-122"/>
              </a:rPr>
              <a:t>是</a:t>
            </a:r>
            <a:r>
              <a:rPr lang="zh-CN" altLang="en-US" sz="2400" dirty="0"/>
              <a:t>重言式。</a:t>
            </a:r>
          </a:p>
          <a:p>
            <a:pPr eaLnBrk="1" hangingPunct="1"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方法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:</a:t>
            </a:r>
          </a:p>
        </p:txBody>
      </p:sp>
      <p:graphicFrame>
        <p:nvGraphicFramePr>
          <p:cNvPr id="170057" name="Group 73"/>
          <p:cNvGraphicFramePr>
            <a:graphicFrameLocks noGrp="1"/>
          </p:cNvGraphicFramePr>
          <p:nvPr/>
        </p:nvGraphicFramePr>
        <p:xfrm>
          <a:off x="914400" y="3843338"/>
          <a:ext cx="7696200" cy="2590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S Gothic" pitchFamily="49" charset="-128"/>
                          <a:sym typeface="Kingsoft Phonetic Plain" pitchFamily="2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P→(P∧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Kingsoft Phonetic Plain" pitchFamily="2" charset="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(P→Q)→(P→(P∧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Kingsoft Phonetic Plain" pitchFamily="2" charset="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0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0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90E8C-4C75-4C0E-812B-3539ED6A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>
                <a:latin typeface="宋体" pitchFamily="2" charset="-122"/>
              </a:rPr>
              <a:t>P→Q)→(P→(P∧</a:t>
            </a:r>
            <a:r>
              <a:rPr lang="en-US" altLang="zh-CN" sz="2800" b="1" dirty="0">
                <a:sym typeface="Kingsoft Phonetic Plain" pitchFamily="2" charset="2"/>
              </a:rPr>
              <a:t>Q</a:t>
            </a:r>
            <a:r>
              <a:rPr lang="en-US" altLang="zh-CN" sz="2800" b="1" dirty="0">
                <a:latin typeface="宋体" pitchFamily="2" charset="-122"/>
              </a:rPr>
              <a:t>))     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（等价变换）</a:t>
            </a:r>
            <a:endParaRPr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(P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∨Q)∨(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∨(P∧Q))             (</a:t>
            </a:r>
            <a:r>
              <a:rPr lang="en-US" altLang="zh-CN" sz="2800" b="1" dirty="0">
                <a:latin typeface="宋体" pitchFamily="2" charset="-122"/>
              </a:rPr>
              <a:t>E</a:t>
            </a:r>
            <a:r>
              <a:rPr lang="en-US" altLang="zh-CN" sz="2800" b="1" baseline="-25000" dirty="0">
                <a:latin typeface="宋体" pitchFamily="2" charset="-122"/>
              </a:rPr>
              <a:t>16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</a:t>
            </a:r>
            <a:endParaRPr lang="en-US" altLang="zh-CN" sz="28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(P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Q)∨((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∨P)∧(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∨Q))</a:t>
            </a:r>
            <a:endParaRPr lang="zh-CN" altLang="en-US" sz="2800" b="1" dirty="0">
              <a:ea typeface="MS Gothic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(P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Q)∨(T∧(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∨Q)) 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(P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∨Q)</a:t>
            </a:r>
            <a:endParaRPr lang="zh-CN" altLang="en-US" sz="28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(P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∨Q)</a:t>
            </a:r>
            <a:r>
              <a:rPr lang="en-US" altLang="zh-CN" sz="2800" b="1" dirty="0">
                <a:sym typeface="Symbol" pitchFamily="18" charset="2"/>
              </a:rPr>
              <a:t>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∨Q)) 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((P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P)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∨Q)∧(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Q∨(Q∨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</a:t>
            </a:r>
            <a:r>
              <a:rPr lang="en-US" altLang="zh-CN" sz="2800" b="1" dirty="0">
                <a:sym typeface="Symbol" pitchFamily="18" charset="2"/>
              </a:rPr>
              <a:t>) 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(T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∨Q)∧((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Q∨Q)∨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 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T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∧(T∨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                                    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 </a:t>
            </a:r>
            <a:r>
              <a:rPr lang="en-US" altLang="zh-CN" sz="2800" b="1" dirty="0">
                <a:sym typeface="Symbol" pitchFamily="18" charset="2"/>
              </a:rPr>
              <a:t>T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∧T</a:t>
            </a:r>
            <a:endParaRPr lang="zh-CN" altLang="en-US" sz="2800" b="1" dirty="0">
              <a:ea typeface="MS Gothic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 </a:t>
            </a:r>
            <a:r>
              <a:rPr lang="en-US" altLang="zh-CN" sz="2800" b="1" dirty="0">
                <a:sym typeface="Symbol" pitchFamily="18" charset="2"/>
              </a:rPr>
              <a:t>T</a:t>
            </a:r>
            <a:endParaRPr lang="zh-CN" altLang="en-US" sz="2800" b="1" dirty="0">
              <a:ea typeface="MS Gothic" pitchFamily="49" charset="-128"/>
              <a:sym typeface="Symbol" pitchFamily="18" charset="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71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71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8E3CE-738C-42CB-A200-0191D489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方法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dirty="0"/>
              <a:t> 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>
                <a:latin typeface="宋体" pitchFamily="2" charset="-122"/>
              </a:rPr>
              <a:t>P→Q)→(P→(P∧</a:t>
            </a:r>
            <a:r>
              <a:rPr lang="en-US" altLang="zh-CN" sz="2800" b="1" dirty="0">
                <a:sym typeface="Kingsoft Phonetic Plain" pitchFamily="2" charset="2"/>
              </a:rPr>
              <a:t>Q</a:t>
            </a:r>
            <a:r>
              <a:rPr lang="en-US" altLang="zh-CN" sz="2800" b="1" dirty="0">
                <a:latin typeface="宋体" pitchFamily="2" charset="-122"/>
              </a:rPr>
              <a:t>))  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（主析取范式的做法）</a:t>
            </a:r>
            <a:endParaRPr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(P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∨Q)∨(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∨(P∧Q))                          </a:t>
            </a:r>
            <a:r>
              <a:rPr lang="zh-CN" altLang="en-US" sz="2800" b="1" dirty="0">
                <a:ea typeface="MS Gothic" pitchFamily="49" charset="-128"/>
                <a:sym typeface="Kingsoft Phonetic Plain" pitchFamily="2" charset="2"/>
              </a:rPr>
              <a:t>去</a:t>
            </a:r>
            <a:r>
              <a:rPr lang="zh-CN" altLang="en-US" sz="2800" b="1" dirty="0">
                <a:latin typeface="宋体" pitchFamily="2" charset="-122"/>
              </a:rPr>
              <a:t>→</a:t>
            </a:r>
            <a:endParaRPr lang="zh-CN" altLang="en-US" sz="28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(P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Q)∨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∨(P∧Q)                            </a:t>
            </a:r>
            <a:r>
              <a:rPr lang="en-US" altLang="zh-CN" sz="2800" b="1" dirty="0">
                <a:sym typeface="Symbol" pitchFamily="18" charset="2"/>
              </a:rPr>
              <a:t> </a:t>
            </a:r>
            <a:r>
              <a:rPr lang="zh-CN" altLang="en-US" sz="2800" b="1" dirty="0">
                <a:sym typeface="Symbol" pitchFamily="18" charset="2"/>
              </a:rPr>
              <a:t>后移</a:t>
            </a:r>
            <a:endParaRPr lang="zh-CN" altLang="en-US" sz="2800" b="1" dirty="0">
              <a:ea typeface="MS Gothic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(P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∧(Q∨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Q))∨(P∧Q)     </a:t>
            </a:r>
            <a:r>
              <a:rPr lang="zh-CN" altLang="en-US" sz="2800" b="1" dirty="0">
                <a:ea typeface="MS Gothic" pitchFamily="49" charset="-128"/>
                <a:sym typeface="Kingsoft Phonetic Plain" pitchFamily="2" charset="2"/>
              </a:rPr>
              <a:t>补变元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</a:t>
            </a:r>
            <a:endParaRPr lang="en-US" altLang="zh-CN" sz="28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(P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∧Q)∨(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Q)∨(P∧Q)  </a:t>
            </a:r>
            <a:r>
              <a:rPr lang="zh-CN" altLang="en-US" sz="2800" b="1" dirty="0">
                <a:ea typeface="MS Gothic" pitchFamily="49" charset="-128"/>
                <a:sym typeface="Kingsoft Phonetic Plain" pitchFamily="2" charset="2"/>
              </a:rPr>
              <a:t>分配</a:t>
            </a:r>
            <a:endParaRPr lang="zh-CN" altLang="en-US" sz="28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 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(P∧Q)∨</a:t>
            </a:r>
            <a:r>
              <a:rPr lang="en-US" altLang="zh-CN" sz="2800" b="1" dirty="0">
                <a:sym typeface="Symbol" pitchFamily="18" charset="2"/>
              </a:rPr>
              <a:t>(P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∧Q)∨(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Q) </a:t>
            </a:r>
            <a:r>
              <a:rPr lang="zh-CN" altLang="en-US" sz="2800" b="1" dirty="0">
                <a:ea typeface="MS Gothic" pitchFamily="49" charset="-128"/>
                <a:sym typeface="Kingsoft Phonetic Plain" pitchFamily="2" charset="2"/>
              </a:rPr>
              <a:t>整理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3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2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1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0</a:t>
            </a:r>
            <a:endParaRPr lang="en-US" altLang="zh-CN" sz="28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可见，该公式的主析取范式含有全部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zh-CN" altLang="en-US" sz="2800" b="1" dirty="0">
                <a:sym typeface="Symbol" pitchFamily="18" charset="2"/>
              </a:rPr>
              <a:t>四个</a:t>
            </a:r>
            <a:r>
              <a:rPr lang="en-US" altLang="zh-CN" sz="2800" b="1" dirty="0">
                <a:sym typeface="Symbol" pitchFamily="18" charset="2"/>
              </a:rPr>
              <a:t>)</a:t>
            </a:r>
            <a:r>
              <a:rPr lang="zh-CN" altLang="en-US" sz="2800" b="1" dirty="0">
                <a:sym typeface="Symbol" pitchFamily="18" charset="2"/>
              </a:rPr>
              <a:t>小项，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这表明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>
                <a:latin typeface="宋体" pitchFamily="2" charset="-122"/>
              </a:rPr>
              <a:t>P→Q)→(P→(P∧</a:t>
            </a:r>
            <a:r>
              <a:rPr lang="en-US" altLang="zh-CN" sz="2800" b="1" dirty="0">
                <a:sym typeface="Kingsoft Phonetic Plain" pitchFamily="2" charset="2"/>
              </a:rPr>
              <a:t>Q</a:t>
            </a:r>
            <a:r>
              <a:rPr lang="en-US" altLang="zh-CN" sz="2800" b="1" dirty="0">
                <a:latin typeface="宋体" pitchFamily="2" charset="-122"/>
              </a:rPr>
              <a:t>))</a:t>
            </a:r>
            <a:r>
              <a:rPr lang="zh-CN" altLang="en-US" sz="2800" b="1" dirty="0">
                <a:latin typeface="宋体" pitchFamily="2" charset="-122"/>
              </a:rPr>
              <a:t>是永真式。</a:t>
            </a:r>
            <a:endParaRPr lang="zh-CN" altLang="en-US" sz="2800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zh-CN" altLang="en-US" sz="2800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zh-CN" sz="2800" dirty="0">
              <a:sym typeface="Symbol" pitchFamily="18" charset="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E62D6-09B4-41F6-BB8E-5C27AF88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80008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/>
              <a:t>三</a:t>
            </a:r>
            <a:r>
              <a:rPr lang="en-US" altLang="zh-CN" dirty="0"/>
              <a:t>.</a:t>
            </a:r>
            <a:r>
              <a:rPr lang="zh-CN" altLang="en-US" dirty="0">
                <a:ea typeface="黑体" pitchFamily="49" charset="-122"/>
              </a:rPr>
              <a:t>重言蕴涵式的证明方法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en-US" altLang="zh-CN" sz="2800" b="1" dirty="0">
                <a:latin typeface="宋体" pitchFamily="2" charset="-122"/>
              </a:rPr>
              <a:t>.</a:t>
            </a:r>
            <a:r>
              <a:rPr lang="zh-CN" altLang="en-US" sz="2800" b="1" dirty="0">
                <a:latin typeface="宋体" pitchFamily="2" charset="-122"/>
              </a:rPr>
              <a:t>列真值表。</a:t>
            </a:r>
            <a:r>
              <a:rPr lang="en-US" altLang="zh-CN" sz="2800" b="1" dirty="0">
                <a:latin typeface="宋体" pitchFamily="2" charset="-122"/>
              </a:rPr>
              <a:t>(</a:t>
            </a:r>
            <a:r>
              <a:rPr lang="zh-CN" altLang="en-US" sz="2800" b="1" dirty="0">
                <a:latin typeface="宋体" pitchFamily="2" charset="-122"/>
              </a:rPr>
              <a:t>即列永真式的真值表</a:t>
            </a:r>
            <a:r>
              <a:rPr lang="en-US" altLang="zh-CN" sz="2800" b="1" dirty="0">
                <a:latin typeface="宋体" pitchFamily="2" charset="-122"/>
              </a:rPr>
              <a:t>) (</a:t>
            </a:r>
            <a:r>
              <a:rPr lang="zh-CN" altLang="en-US" sz="2800" b="1" dirty="0">
                <a:latin typeface="宋体" pitchFamily="2" charset="-122"/>
              </a:rPr>
              <a:t>略</a:t>
            </a:r>
            <a:r>
              <a:rPr lang="en-US" altLang="zh-CN" sz="2800" b="1" dirty="0">
                <a:latin typeface="宋体" pitchFamily="2" charset="-122"/>
              </a:rPr>
              <a:t>)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en-US" altLang="zh-CN" sz="2800" b="1" dirty="0"/>
              <a:t>.</a:t>
            </a:r>
            <a:r>
              <a:rPr lang="zh-CN" altLang="en-US" sz="2800" b="1" dirty="0">
                <a:latin typeface="宋体" pitchFamily="2" charset="-122"/>
              </a:rPr>
              <a:t>假设前件为真，推出后件也为真。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3</a:t>
            </a:r>
            <a:r>
              <a:rPr lang="en-US" altLang="zh-CN" sz="2800" b="1" dirty="0">
                <a:latin typeface="宋体" pitchFamily="2" charset="-122"/>
              </a:rPr>
              <a:t>.</a:t>
            </a:r>
            <a:r>
              <a:rPr lang="zh-CN" altLang="en-US" sz="2800" b="1" dirty="0">
                <a:latin typeface="宋体" pitchFamily="2" charset="-122"/>
              </a:rPr>
              <a:t>假设后件为假，推出前件也为假。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宋体" pitchFamily="2" charset="-122"/>
              </a:rPr>
              <a:t>23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(8)e)</a:t>
            </a:r>
            <a:r>
              <a:rPr lang="zh-CN" altLang="zh-CN" sz="2800" b="1" dirty="0">
                <a:latin typeface="宋体" pitchFamily="2" charset="-122"/>
              </a:rPr>
              <a:t>证明</a:t>
            </a:r>
          </a:p>
          <a:p>
            <a:pPr eaLnBrk="1" hangingPunct="1">
              <a:buFontTx/>
              <a:buNone/>
            </a:pPr>
            <a:r>
              <a:rPr lang="en-US" altLang="zh-CN" sz="2800" b="1" dirty="0"/>
              <a:t>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/>
              <a:t>A</a:t>
            </a:r>
            <a:r>
              <a:rPr lang="en-US" altLang="zh-CN" sz="2800" b="1" dirty="0">
                <a:sym typeface="Symbol" pitchFamily="18" charset="2"/>
              </a:rPr>
              <a:t>(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800" b="1" dirty="0">
                <a:sym typeface="Symbol" pitchFamily="18" charset="2"/>
              </a:rPr>
              <a:t>)</a:t>
            </a:r>
            <a:r>
              <a:rPr lang="en-US" altLang="zh-CN" sz="2800" b="1" dirty="0"/>
              <a:t> 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∧(D∨E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∧((</a:t>
            </a:r>
            <a:r>
              <a:rPr lang="en-US" altLang="zh-CN" sz="2800" b="1" dirty="0"/>
              <a:t>D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sym typeface="Symbol" pitchFamily="18" charset="2"/>
              </a:rPr>
              <a:t></a:t>
            </a:r>
            <a:r>
              <a:rPr lang="en-US" altLang="zh-CN" sz="2800" b="1" dirty="0"/>
              <a:t>A) </a:t>
            </a:r>
            <a:r>
              <a:rPr lang="en-US" altLang="zh-CN" sz="2800" b="1" dirty="0">
                <a:sym typeface="Symbol" pitchFamily="18" charset="2"/>
              </a:rPr>
              <a:t> 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∨C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方法</a:t>
            </a:r>
            <a:r>
              <a:rPr lang="en-US" altLang="zh-CN" sz="2800" dirty="0">
                <a:solidFill>
                  <a:srgbClr val="FF0000"/>
                </a:solidFill>
              </a:rPr>
              <a:t>2 </a:t>
            </a:r>
            <a:r>
              <a:rPr lang="zh-CN" altLang="en-US" sz="2800" dirty="0">
                <a:solidFill>
                  <a:srgbClr val="FF0000"/>
                </a:solidFill>
              </a:rPr>
              <a:t>证明：</a:t>
            </a:r>
          </a:p>
          <a:p>
            <a:pPr eaLnBrk="1" hangingPunct="1">
              <a:buFontTx/>
              <a:buNone/>
            </a:pPr>
            <a:r>
              <a:rPr lang="zh-CN" altLang="zh-CN" sz="2400" b="1" dirty="0">
                <a:latin typeface="宋体" pitchFamily="2" charset="-122"/>
              </a:rPr>
              <a:t>设前件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ym typeface="Symbol" pitchFamily="18" charset="2"/>
              </a:rPr>
              <a:t></a:t>
            </a:r>
            <a:r>
              <a:rPr lang="en-US" altLang="zh-CN" sz="2400" b="1" dirty="0"/>
              <a:t>A</a:t>
            </a:r>
            <a:r>
              <a:rPr lang="en-US" altLang="zh-CN" sz="2400" b="1" dirty="0">
                <a:sym typeface="Symbol" pitchFamily="18" charset="2"/>
              </a:rPr>
              <a:t>(</a:t>
            </a:r>
            <a:r>
              <a:rPr lang="en-US" altLang="zh-CN" sz="2400" b="1" dirty="0"/>
              <a:t>B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400" b="1" dirty="0">
                <a:sym typeface="Symbol" pitchFamily="18" charset="2"/>
              </a:rPr>
              <a:t>)</a:t>
            </a:r>
            <a:r>
              <a:rPr lang="en-US" altLang="zh-CN" sz="2400" b="1" dirty="0"/>
              <a:t> )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∧(D∨E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∧((</a:t>
            </a:r>
            <a:r>
              <a:rPr lang="en-US" altLang="zh-CN" sz="2400" b="1" dirty="0"/>
              <a:t>D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sym typeface="Symbol" pitchFamily="18" charset="2"/>
              </a:rPr>
              <a:t></a:t>
            </a:r>
            <a:r>
              <a:rPr lang="en-US" altLang="zh-CN" sz="2400" b="1" dirty="0"/>
              <a:t>A) 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为真，则</a:t>
            </a:r>
            <a:r>
              <a:rPr lang="zh-CN" altLang="en-US" sz="2400" b="1" dirty="0">
                <a:sym typeface="Symbol" pitchFamily="18" charset="2"/>
              </a:rPr>
              <a:t></a:t>
            </a:r>
            <a:r>
              <a:rPr lang="en-US" altLang="zh-CN" sz="2400" b="1" dirty="0"/>
              <a:t>A</a:t>
            </a:r>
            <a:r>
              <a:rPr lang="en-US" altLang="zh-CN" sz="2400" b="1" dirty="0">
                <a:sym typeface="Symbol" pitchFamily="18" charset="2"/>
              </a:rPr>
              <a:t>(</a:t>
            </a:r>
            <a:r>
              <a:rPr lang="en-US" altLang="zh-CN" sz="2400" b="1" dirty="0"/>
              <a:t>B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400" b="1" dirty="0">
                <a:sym typeface="Symbol" pitchFamily="18" charset="2"/>
              </a:rPr>
              <a:t>)</a:t>
            </a:r>
            <a:r>
              <a:rPr lang="en-US" altLang="zh-CN" sz="2400" b="1" dirty="0"/>
              <a:t> , 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D∨E</a:t>
            </a:r>
            <a:r>
              <a:rPr lang="en-US" altLang="zh-CN" sz="2400" b="1" dirty="0"/>
              <a:t>, 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(</a:t>
            </a:r>
            <a:r>
              <a:rPr lang="en-US" altLang="zh-CN" sz="2400" b="1" dirty="0"/>
              <a:t>D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sym typeface="Symbol" pitchFamily="18" charset="2"/>
              </a:rPr>
              <a:t></a:t>
            </a:r>
            <a:r>
              <a:rPr lang="en-US" altLang="zh-CN" sz="2400" b="1" dirty="0"/>
              <a:t>A </a:t>
            </a:r>
            <a:r>
              <a:rPr lang="zh-CN" altLang="zh-CN" sz="2400" b="1" dirty="0"/>
              <a:t>均为</a:t>
            </a:r>
          </a:p>
          <a:p>
            <a:pPr eaLnBrk="1" hangingPunct="1">
              <a:buFontTx/>
              <a:buNone/>
            </a:pPr>
            <a:r>
              <a:rPr lang="zh-CN" altLang="zh-CN" sz="2400" b="1" dirty="0"/>
              <a:t>真。由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D∨E</a:t>
            </a:r>
            <a:r>
              <a:rPr lang="en-US" altLang="zh-CN" sz="2400" b="1" dirty="0"/>
              <a:t>, 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(</a:t>
            </a:r>
            <a:r>
              <a:rPr lang="en-US" altLang="zh-CN" sz="2400" b="1" dirty="0"/>
              <a:t>D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sym typeface="Symbol" pitchFamily="18" charset="2"/>
              </a:rPr>
              <a:t></a:t>
            </a:r>
            <a:r>
              <a:rPr lang="en-US" altLang="zh-CN" sz="2400" b="1" dirty="0"/>
              <a:t>A </a:t>
            </a:r>
            <a:r>
              <a:rPr lang="zh-CN" altLang="zh-CN" sz="2400" b="1" dirty="0"/>
              <a:t>均为真用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11</a:t>
            </a:r>
            <a:r>
              <a:rPr lang="zh-CN" altLang="zh-CN" sz="2400" b="1" dirty="0"/>
              <a:t>得</a:t>
            </a:r>
            <a:r>
              <a:rPr lang="zh-CN" altLang="en-US" sz="2400" b="1" dirty="0">
                <a:sym typeface="Symbol" pitchFamily="18" charset="2"/>
              </a:rPr>
              <a:t></a:t>
            </a:r>
            <a:r>
              <a:rPr lang="en-US" altLang="zh-CN" sz="2400" b="1" dirty="0"/>
              <a:t>A</a:t>
            </a:r>
            <a:r>
              <a:rPr lang="zh-CN" altLang="zh-CN" sz="2400" b="1" dirty="0"/>
              <a:t>为真,</a:t>
            </a:r>
          </a:p>
          <a:p>
            <a:pPr eaLnBrk="1" hangingPunct="1">
              <a:buFontTx/>
              <a:buNone/>
            </a:pPr>
            <a:r>
              <a:rPr lang="zh-CN" altLang="zh-CN" sz="2400" b="1" dirty="0"/>
              <a:t>又由</a:t>
            </a:r>
            <a:r>
              <a:rPr lang="zh-CN" altLang="en-US" sz="2400" b="1" dirty="0">
                <a:sym typeface="Symbol" pitchFamily="18" charset="2"/>
              </a:rPr>
              <a:t></a:t>
            </a:r>
            <a:r>
              <a:rPr lang="en-US" altLang="zh-CN" sz="2400" b="1" dirty="0"/>
              <a:t>A</a:t>
            </a:r>
            <a:r>
              <a:rPr lang="en-US" altLang="zh-CN" sz="2400" b="1" dirty="0">
                <a:sym typeface="Symbol" pitchFamily="18" charset="2"/>
              </a:rPr>
              <a:t>(</a:t>
            </a:r>
            <a:r>
              <a:rPr lang="en-US" altLang="zh-CN" sz="2400" b="1" dirty="0"/>
              <a:t>B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400" b="1" dirty="0">
                <a:sym typeface="Symbol" pitchFamily="18" charset="2"/>
              </a:rPr>
              <a:t>)</a:t>
            </a:r>
            <a:r>
              <a:rPr lang="zh-CN" altLang="zh-CN" sz="2400" b="1" dirty="0"/>
              <a:t>为真，得</a:t>
            </a:r>
            <a:r>
              <a:rPr lang="en-US" altLang="zh-CN" sz="2400" b="1" dirty="0"/>
              <a:t>B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zh-CN" altLang="zh-CN" sz="2400" b="1" dirty="0"/>
              <a:t>为真。所以得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(</a:t>
            </a:r>
            <a:r>
              <a:rPr lang="en-US" altLang="zh-CN" sz="2400" b="1" dirty="0">
                <a:sym typeface="Symbol" pitchFamily="18" charset="2"/>
              </a:rPr>
              <a:t></a:t>
            </a:r>
            <a:r>
              <a:rPr lang="en-US" altLang="zh-CN" sz="2400" b="1" dirty="0"/>
              <a:t>A</a:t>
            </a:r>
            <a:r>
              <a:rPr lang="en-US" altLang="zh-CN" sz="2400" b="1" dirty="0">
                <a:sym typeface="Symbol" pitchFamily="18" charset="2"/>
              </a:rPr>
              <a:t>(</a:t>
            </a:r>
            <a:r>
              <a:rPr lang="en-US" altLang="zh-CN" sz="2400" b="1" dirty="0"/>
              <a:t>B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400" b="1" dirty="0">
                <a:sym typeface="Symbol" pitchFamily="18" charset="2"/>
              </a:rPr>
              <a:t>)</a:t>
            </a:r>
            <a:r>
              <a:rPr lang="en-US" altLang="zh-CN" sz="2400" b="1" dirty="0"/>
              <a:t> )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∧(D∨E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∧((</a:t>
            </a:r>
            <a:r>
              <a:rPr lang="en-US" altLang="zh-CN" sz="2400" b="1" dirty="0"/>
              <a:t>D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sym typeface="Symbol" pitchFamily="18" charset="2"/>
              </a:rPr>
              <a:t></a:t>
            </a:r>
            <a:r>
              <a:rPr lang="en-US" altLang="zh-CN" sz="2400" b="1" dirty="0"/>
              <a:t>A) </a:t>
            </a:r>
            <a:r>
              <a:rPr lang="en-US" altLang="zh-CN" sz="2400" b="1" dirty="0">
                <a:sym typeface="Symbol" pitchFamily="18" charset="2"/>
              </a:rPr>
              <a:t> </a:t>
            </a:r>
            <a:r>
              <a:rPr lang="en-US" altLang="zh-CN" sz="2400" b="1" dirty="0"/>
              <a:t>B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∨C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3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3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3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3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3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C36C6-A079-477C-84D4-7115ED499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/>
              <a:t>(</a:t>
            </a:r>
            <a:r>
              <a:rPr lang="en-US" altLang="zh-CN" sz="2800" b="1">
                <a:sym typeface="Symbol" pitchFamily="18" charset="2"/>
              </a:rPr>
              <a:t></a:t>
            </a:r>
            <a:r>
              <a:rPr lang="en-US" altLang="zh-CN" sz="2800" b="1"/>
              <a:t>A</a:t>
            </a:r>
            <a:r>
              <a:rPr lang="en-US" altLang="zh-CN" sz="2800" b="1">
                <a:sym typeface="Symbol" pitchFamily="18" charset="2"/>
              </a:rPr>
              <a:t>(</a:t>
            </a:r>
            <a:r>
              <a:rPr lang="en-US" altLang="zh-CN" sz="2800" b="1"/>
              <a:t>B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800" b="1">
                <a:sym typeface="Symbol" pitchFamily="18" charset="2"/>
              </a:rPr>
              <a:t>)</a:t>
            </a:r>
            <a:r>
              <a:rPr lang="en-US" altLang="zh-CN" sz="2800" b="1"/>
              <a:t> 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∧(D∨E</a:t>
            </a:r>
            <a:r>
              <a:rPr lang="en-US" altLang="zh-CN" sz="2800" b="1"/>
              <a:t>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∧((</a:t>
            </a:r>
            <a:r>
              <a:rPr lang="en-US" altLang="zh-CN" sz="2800" b="1"/>
              <a:t>D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itchFamily="18" charset="2"/>
              </a:rPr>
              <a:t></a:t>
            </a:r>
            <a:r>
              <a:rPr lang="en-US" altLang="zh-CN" sz="2800" b="1"/>
              <a:t>A)</a:t>
            </a:r>
            <a:r>
              <a:rPr lang="en-US" altLang="zh-CN" sz="2800" b="1">
                <a:sym typeface="Symbol" pitchFamily="18" charset="2"/>
              </a:rPr>
              <a:t></a:t>
            </a:r>
            <a:r>
              <a:rPr lang="en-US" altLang="zh-CN" sz="2800" b="1"/>
              <a:t>B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∨C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方法</a:t>
            </a:r>
            <a:r>
              <a:rPr lang="en-US" altLang="zh-CN" sz="2800">
                <a:solidFill>
                  <a:srgbClr val="FF0000"/>
                </a:solidFill>
              </a:rPr>
              <a:t>3</a:t>
            </a:r>
            <a:r>
              <a:rPr lang="en-US" altLang="zh-CN" sz="2800"/>
              <a:t> </a:t>
            </a:r>
            <a:r>
              <a:rPr lang="zh-CN" altLang="en-US" sz="2800"/>
              <a:t>证明：设后件</a:t>
            </a:r>
            <a:r>
              <a:rPr lang="en-US" altLang="zh-CN" sz="2800" b="1"/>
              <a:t>B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为  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F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，则  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B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与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C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均为 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F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，</a:t>
            </a:r>
          </a:p>
          <a:p>
            <a:pPr eaLnBrk="1" hangingPunct="1">
              <a:buFontTx/>
              <a:buNone/>
            </a:pP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1. 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如果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D∨E 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为  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T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，则  </a:t>
            </a:r>
            <a:endParaRPr lang="zh-CN" altLang="en-US" sz="2800" b="1">
              <a:latin typeface="宋体" pitchFamily="2" charset="-122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>
                <a:latin typeface="宋体" pitchFamily="2" charset="-122"/>
                <a:sym typeface="Kingsoft Phonetic Plain" pitchFamily="2" charset="2"/>
              </a:rPr>
              <a:t>  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1).</a:t>
            </a:r>
            <a:r>
              <a:rPr lang="zh-CN" altLang="en-US" sz="2800" b="1">
                <a:latin typeface="宋体" pitchFamily="2" charset="-122"/>
                <a:sym typeface="Kingsoft Phonetic Plain" pitchFamily="2" charset="2"/>
              </a:rPr>
              <a:t>若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A</a:t>
            </a:r>
            <a:r>
              <a:rPr lang="zh-CN" altLang="en-US" sz="2800" b="1">
                <a:latin typeface="宋体" pitchFamily="2" charset="-122"/>
                <a:sym typeface="Kingsoft Phonetic Plain" pitchFamily="2" charset="2"/>
              </a:rPr>
              <a:t>为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T</a:t>
            </a:r>
            <a:r>
              <a:rPr lang="zh-CN" altLang="en-US" sz="2800" b="1">
                <a:latin typeface="宋体" pitchFamily="2" charset="-122"/>
                <a:sym typeface="Kingsoft Phonetic Plain" pitchFamily="2" charset="2"/>
              </a:rPr>
              <a:t>，则</a:t>
            </a:r>
            <a:r>
              <a:rPr lang="zh-CN" altLang="en-US" sz="2800" b="1">
                <a:sym typeface="Symbol" pitchFamily="18" charset="2"/>
              </a:rPr>
              <a:t></a:t>
            </a:r>
            <a:r>
              <a:rPr lang="en-US" altLang="zh-CN" sz="2800" b="1"/>
              <a:t>A</a:t>
            </a:r>
            <a:r>
              <a:rPr lang="zh-CN" altLang="en-US" sz="2800" b="1"/>
              <a:t>为</a:t>
            </a:r>
            <a:r>
              <a:rPr lang="en-US" altLang="zh-CN" sz="2800" b="1"/>
              <a:t>F</a:t>
            </a:r>
            <a:r>
              <a:rPr lang="zh-CN" altLang="en-US" sz="2800" b="1"/>
              <a:t>，则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(</a:t>
            </a:r>
            <a:r>
              <a:rPr lang="en-US" altLang="zh-CN" sz="2800" b="1"/>
              <a:t>D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itchFamily="18" charset="2"/>
              </a:rPr>
              <a:t></a:t>
            </a:r>
            <a:r>
              <a:rPr lang="en-US" altLang="zh-CN" sz="2800" b="1"/>
              <a:t>A</a:t>
            </a:r>
            <a:r>
              <a:rPr lang="zh-CN" altLang="en-US" sz="2800" b="1"/>
              <a:t>为</a:t>
            </a:r>
            <a:r>
              <a:rPr lang="en-US" altLang="zh-CN" sz="2800" b="1"/>
              <a:t>F</a:t>
            </a:r>
            <a:r>
              <a:rPr lang="zh-CN" altLang="en-US" sz="2800" b="1"/>
              <a:t>，于是前件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itchFamily="18" charset="2"/>
              </a:rPr>
              <a:t></a:t>
            </a:r>
            <a:r>
              <a:rPr lang="en-US" altLang="zh-CN" sz="2800" b="1"/>
              <a:t>A</a:t>
            </a:r>
            <a:r>
              <a:rPr lang="en-US" altLang="zh-CN" sz="2800" b="1">
                <a:sym typeface="Symbol" pitchFamily="18" charset="2"/>
              </a:rPr>
              <a:t>(</a:t>
            </a:r>
            <a:r>
              <a:rPr lang="en-US" altLang="zh-CN" sz="2800" b="1"/>
              <a:t>B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800" b="1">
                <a:sym typeface="Symbol" pitchFamily="18" charset="2"/>
              </a:rPr>
              <a:t>)</a:t>
            </a:r>
            <a:r>
              <a:rPr lang="en-US" altLang="zh-CN" sz="2800" b="1"/>
              <a:t> 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∧(D∨E</a:t>
            </a:r>
            <a:r>
              <a:rPr lang="en-US" altLang="zh-CN" sz="2800" b="1"/>
              <a:t>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∧((</a:t>
            </a:r>
            <a:r>
              <a:rPr lang="en-US" altLang="zh-CN" sz="2800" b="1"/>
              <a:t>D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itchFamily="18" charset="2"/>
              </a:rPr>
              <a:t></a:t>
            </a:r>
            <a:r>
              <a:rPr lang="en-US" altLang="zh-CN" sz="2800" b="1"/>
              <a:t>A) </a:t>
            </a:r>
            <a:r>
              <a:rPr lang="zh-CN" altLang="en-US" sz="2800" b="1"/>
              <a:t>为</a:t>
            </a:r>
            <a:r>
              <a:rPr lang="en-US" altLang="zh-CN" sz="2800" b="1"/>
              <a:t>F</a:t>
            </a:r>
            <a:r>
              <a:rPr lang="zh-CN" altLang="en-US" sz="2800" b="1"/>
              <a:t>。</a:t>
            </a:r>
            <a:endParaRPr lang="zh-CN" altLang="en-US" sz="2800" b="1">
              <a:ea typeface="MS Gothic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    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2). 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若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A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为  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F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，则  </a:t>
            </a:r>
            <a:r>
              <a:rPr lang="zh-CN" altLang="en-US" sz="2800" b="1">
                <a:sym typeface="Symbol" pitchFamily="18" charset="2"/>
              </a:rPr>
              <a:t></a:t>
            </a:r>
            <a:r>
              <a:rPr lang="en-US" altLang="zh-CN" sz="2800" b="1"/>
              <a:t>A</a:t>
            </a:r>
            <a:r>
              <a:rPr lang="zh-CN" altLang="en-US" sz="2800" b="1"/>
              <a:t>为</a:t>
            </a:r>
            <a:r>
              <a:rPr lang="en-US" altLang="zh-CN" sz="2800" b="1"/>
              <a:t>T</a:t>
            </a:r>
            <a:r>
              <a:rPr lang="zh-CN" altLang="en-US" sz="2800" b="1"/>
              <a:t>，于是</a:t>
            </a:r>
            <a:r>
              <a:rPr lang="zh-CN" altLang="en-US" sz="2800" b="1">
                <a:sym typeface="Symbol" pitchFamily="18" charset="2"/>
              </a:rPr>
              <a:t></a:t>
            </a:r>
            <a:r>
              <a:rPr lang="en-US" altLang="zh-CN" sz="2800" b="1"/>
              <a:t>A</a:t>
            </a:r>
            <a:r>
              <a:rPr lang="en-US" altLang="zh-CN" sz="2800" b="1">
                <a:sym typeface="Symbol" pitchFamily="18" charset="2"/>
              </a:rPr>
              <a:t>(</a:t>
            </a:r>
            <a:r>
              <a:rPr lang="en-US" altLang="zh-CN" sz="2800" b="1"/>
              <a:t>B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800" b="1">
                <a:sym typeface="Symbol" pitchFamily="18" charset="2"/>
              </a:rPr>
              <a:t>)</a:t>
            </a:r>
            <a:r>
              <a:rPr lang="en-US" altLang="zh-CN" sz="2800" b="1"/>
              <a:t> </a:t>
            </a:r>
            <a:r>
              <a:rPr lang="zh-CN" altLang="en-US" sz="2800" b="1"/>
              <a:t>为</a:t>
            </a:r>
            <a:r>
              <a:rPr lang="en-US" altLang="zh-CN" sz="2800" b="1"/>
              <a:t>F</a:t>
            </a:r>
            <a:r>
              <a:rPr lang="zh-CN" altLang="en-US" sz="2800" b="1"/>
              <a:t>，</a:t>
            </a:r>
          </a:p>
          <a:p>
            <a:pPr eaLnBrk="1" hangingPunct="1">
              <a:buFontTx/>
              <a:buNone/>
            </a:pPr>
            <a:r>
              <a:rPr lang="zh-CN" altLang="en-US" sz="2800" b="1"/>
              <a:t>   故前件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itchFamily="18" charset="2"/>
              </a:rPr>
              <a:t></a:t>
            </a:r>
            <a:r>
              <a:rPr lang="en-US" altLang="zh-CN" sz="2800" b="1"/>
              <a:t>A</a:t>
            </a:r>
            <a:r>
              <a:rPr lang="en-US" altLang="zh-CN" sz="2800" b="1">
                <a:sym typeface="Symbol" pitchFamily="18" charset="2"/>
              </a:rPr>
              <a:t>(</a:t>
            </a:r>
            <a:r>
              <a:rPr lang="en-US" altLang="zh-CN" sz="2800" b="1"/>
              <a:t>B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800" b="1">
                <a:sym typeface="Symbol" pitchFamily="18" charset="2"/>
              </a:rPr>
              <a:t>)</a:t>
            </a:r>
            <a:r>
              <a:rPr lang="en-US" altLang="zh-CN" sz="2800" b="1"/>
              <a:t> 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∧(D∨E</a:t>
            </a:r>
            <a:r>
              <a:rPr lang="en-US" altLang="zh-CN" sz="2800" b="1"/>
              <a:t>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∧((</a:t>
            </a:r>
            <a:r>
              <a:rPr lang="en-US" altLang="zh-CN" sz="2800" b="1"/>
              <a:t>D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itchFamily="18" charset="2"/>
              </a:rPr>
              <a:t></a:t>
            </a:r>
            <a:r>
              <a:rPr lang="en-US" altLang="zh-CN" sz="2800" b="1"/>
              <a:t>A)</a:t>
            </a:r>
            <a:r>
              <a:rPr lang="zh-CN" altLang="en-US" sz="2800" b="1"/>
              <a:t>为</a:t>
            </a:r>
            <a:r>
              <a:rPr lang="en-US" altLang="zh-CN" sz="2800" b="1"/>
              <a:t>F</a:t>
            </a:r>
            <a:r>
              <a:rPr lang="zh-CN" altLang="en-US" sz="2800" b="1"/>
              <a:t>。</a:t>
            </a:r>
          </a:p>
          <a:p>
            <a:pPr eaLnBrk="1" hangingPunct="1">
              <a:buFontTx/>
              <a:buNone/>
            </a:pPr>
            <a:endParaRPr lang="zh-CN" altLang="en-US" sz="2800" b="1"/>
          </a:p>
          <a:p>
            <a:pPr eaLnBrk="1" hangingPunct="1">
              <a:buFontTx/>
              <a:buNone/>
            </a:pPr>
            <a:r>
              <a:rPr lang="en-US" altLang="zh-CN" sz="2800" b="1"/>
              <a:t>2.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如果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D∨E 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为  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F</a:t>
            </a:r>
            <a:r>
              <a:rPr lang="zh-CN" altLang="en-US" sz="2800" b="1">
                <a:ea typeface="MS Gothic" pitchFamily="49" charset="-128"/>
                <a:sym typeface="Kingsoft Phonetic Plain" pitchFamily="2" charset="2"/>
              </a:rPr>
              <a:t>，则  </a:t>
            </a:r>
            <a:r>
              <a:rPr lang="zh-CN" altLang="en-US" sz="2800" b="1"/>
              <a:t>前件</a:t>
            </a:r>
          </a:p>
          <a:p>
            <a:pPr eaLnBrk="1" hangingPunct="1">
              <a:buFontTx/>
              <a:buNone/>
            </a:pPr>
            <a:r>
              <a:rPr lang="zh-CN" altLang="en-US" sz="2800" b="1"/>
              <a:t>  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itchFamily="18" charset="2"/>
              </a:rPr>
              <a:t></a:t>
            </a:r>
            <a:r>
              <a:rPr lang="en-US" altLang="zh-CN" sz="2800" b="1"/>
              <a:t>A</a:t>
            </a:r>
            <a:r>
              <a:rPr lang="en-US" altLang="zh-CN" sz="2800" b="1">
                <a:sym typeface="Symbol" pitchFamily="18" charset="2"/>
              </a:rPr>
              <a:t>(</a:t>
            </a:r>
            <a:r>
              <a:rPr lang="en-US" altLang="zh-CN" sz="2800" b="1"/>
              <a:t>B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800" b="1">
                <a:sym typeface="Symbol" pitchFamily="18" charset="2"/>
              </a:rPr>
              <a:t>)</a:t>
            </a:r>
            <a:r>
              <a:rPr lang="en-US" altLang="zh-CN" sz="2800" b="1"/>
              <a:t> 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∧(D∨E</a:t>
            </a:r>
            <a:r>
              <a:rPr lang="en-US" altLang="zh-CN" sz="2800" b="1"/>
              <a:t>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∧((</a:t>
            </a:r>
            <a:r>
              <a:rPr lang="en-US" altLang="zh-CN" sz="2800" b="1"/>
              <a:t>D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itchFamily="18" charset="2"/>
              </a:rPr>
              <a:t></a:t>
            </a:r>
            <a:r>
              <a:rPr lang="en-US" altLang="zh-CN" sz="2800" b="1"/>
              <a:t>A) </a:t>
            </a:r>
            <a:r>
              <a:rPr lang="zh-CN" altLang="en-US" sz="2800" b="1"/>
              <a:t>为</a:t>
            </a:r>
            <a:r>
              <a:rPr lang="en-US" altLang="zh-CN" sz="2800" b="1"/>
              <a:t>F</a:t>
            </a:r>
            <a:r>
              <a:rPr lang="zh-CN" altLang="en-US" sz="2800" b="1"/>
              <a:t>。</a:t>
            </a:r>
          </a:p>
          <a:p>
            <a:pPr eaLnBrk="1" hangingPunct="1">
              <a:buFontTx/>
              <a:buNone/>
            </a:pPr>
            <a:r>
              <a:rPr lang="zh-CN" altLang="en-US" sz="2800" b="1"/>
              <a:t>∴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itchFamily="18" charset="2"/>
              </a:rPr>
              <a:t></a:t>
            </a:r>
            <a:r>
              <a:rPr lang="en-US" altLang="zh-CN" sz="2800" b="1"/>
              <a:t>A</a:t>
            </a:r>
            <a:r>
              <a:rPr lang="en-US" altLang="zh-CN" sz="2800" b="1">
                <a:sym typeface="Symbol" pitchFamily="18" charset="2"/>
              </a:rPr>
              <a:t>(</a:t>
            </a:r>
            <a:r>
              <a:rPr lang="en-US" altLang="zh-CN" sz="2800" b="1"/>
              <a:t>B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∨C</a:t>
            </a:r>
            <a:r>
              <a:rPr lang="en-US" altLang="zh-CN" sz="2800" b="1">
                <a:sym typeface="Symbol" pitchFamily="18" charset="2"/>
              </a:rPr>
              <a:t>)</a:t>
            </a:r>
            <a:r>
              <a:rPr lang="en-US" altLang="zh-CN" sz="2800" b="1"/>
              <a:t> 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∧(D∨E</a:t>
            </a:r>
            <a:r>
              <a:rPr lang="en-US" altLang="zh-CN" sz="2800" b="1"/>
              <a:t>)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∧((</a:t>
            </a:r>
            <a:r>
              <a:rPr lang="en-US" altLang="zh-CN" sz="2800" b="1"/>
              <a:t>D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∨E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itchFamily="18" charset="2"/>
              </a:rPr>
              <a:t></a:t>
            </a:r>
            <a:r>
              <a:rPr lang="en-US" altLang="zh-CN" sz="2800" b="1"/>
              <a:t>A)</a:t>
            </a:r>
            <a:r>
              <a:rPr lang="en-US" altLang="zh-CN" sz="2800" b="1">
                <a:sym typeface="Symbol" pitchFamily="18" charset="2"/>
              </a:rPr>
              <a:t></a:t>
            </a:r>
            <a:r>
              <a:rPr lang="en-US" altLang="zh-CN" sz="2800" b="1"/>
              <a:t>B</a:t>
            </a:r>
            <a:r>
              <a:rPr lang="en-US" altLang="zh-CN" sz="2800" b="1">
                <a:ea typeface="MS Gothic" pitchFamily="49" charset="-128"/>
                <a:sym typeface="Kingsoft Phonetic Plain" pitchFamily="2" charset="2"/>
              </a:rPr>
              <a:t>∨C</a:t>
            </a:r>
            <a:endParaRPr lang="en-US" altLang="zh-CN" sz="2800" b="1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7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74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54C42-FE3E-40F2-8F80-CD8504C77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/>
              <a:t>四</a:t>
            </a:r>
            <a:r>
              <a:rPr lang="en-US" altLang="zh-CN" sz="2800" dirty="0"/>
              <a:t>. . </a:t>
            </a:r>
            <a:r>
              <a:rPr lang="zh-CN" altLang="en-US" sz="2800" dirty="0">
                <a:ea typeface="黑体" pitchFamily="49" charset="-122"/>
              </a:rPr>
              <a:t>等价公式的证明方法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方法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/>
              <a:t>：用列真值表。（不再举例）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方法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/>
              <a:t>：用公式的等价变换</a:t>
            </a:r>
            <a:r>
              <a:rPr lang="en-US" altLang="zh-CN" sz="2800" dirty="0"/>
              <a:t>.(</a:t>
            </a:r>
            <a:r>
              <a:rPr lang="zh-CN" altLang="en-US" sz="2800" dirty="0"/>
              <a:t>用置换定律</a:t>
            </a:r>
            <a:r>
              <a:rPr lang="en-US" altLang="zh-CN" sz="2800" dirty="0"/>
              <a:t>)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P19(7)h)</a:t>
            </a:r>
            <a:r>
              <a:rPr lang="zh-CN" altLang="en-US" sz="2800" dirty="0"/>
              <a:t>证明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((A∧B)→C)∧(B→(D∨C))</a:t>
            </a:r>
            <a:r>
              <a:rPr lang="en-US" altLang="zh-CN" sz="2400" b="1" dirty="0">
                <a:sym typeface="Symbol" pitchFamily="18" charset="2"/>
              </a:rPr>
              <a:t></a:t>
            </a:r>
            <a:r>
              <a:rPr lang="en-US" altLang="zh-CN" sz="2400" b="1" dirty="0">
                <a:latin typeface="宋体" pitchFamily="2" charset="-122"/>
              </a:rPr>
              <a:t>(B∧(D→A))→C </a:t>
            </a:r>
          </a:p>
          <a:p>
            <a:pPr eaLnBrk="1" hangingPunct="1">
              <a:buFontTx/>
              <a:buNone/>
            </a:pPr>
            <a:r>
              <a:rPr lang="zh-CN" altLang="zh-CN" sz="2400" b="1" dirty="0">
                <a:sym typeface="Symbol" pitchFamily="18" charset="2"/>
              </a:rPr>
              <a:t>左式</a:t>
            </a:r>
            <a:r>
              <a:rPr lang="zh-CN" altLang="en-US" sz="2400" b="1" dirty="0">
                <a:sym typeface="Symbol" pitchFamily="18" charset="2"/>
              </a:rPr>
              <a:t></a:t>
            </a:r>
            <a:r>
              <a:rPr lang="en-US" altLang="zh-CN" sz="2400" b="1" dirty="0">
                <a:sym typeface="Symbol" pitchFamily="18" charset="2"/>
              </a:rPr>
              <a:t>(</a:t>
            </a:r>
            <a:r>
              <a:rPr lang="en-US" altLang="zh-CN" sz="2400" dirty="0">
                <a:sym typeface="Symbol" pitchFamily="18" charset="2"/>
              </a:rPr>
              <a:t></a:t>
            </a:r>
            <a:r>
              <a:rPr lang="en-US" altLang="zh-CN" sz="2400" b="1" dirty="0">
                <a:sym typeface="Symbol" pitchFamily="18" charset="2"/>
              </a:rPr>
              <a:t>(</a:t>
            </a:r>
            <a:r>
              <a:rPr lang="en-US" altLang="zh-CN" sz="2400" b="1" dirty="0">
                <a:latin typeface="宋体" pitchFamily="2" charset="-122"/>
              </a:rPr>
              <a:t>A∧B)∨C)∧(</a:t>
            </a:r>
            <a:r>
              <a:rPr lang="en-US" altLang="zh-CN" sz="2400" b="1" dirty="0">
                <a:sym typeface="Symbol" pitchFamily="18" charset="2"/>
              </a:rPr>
              <a:t>B</a:t>
            </a:r>
            <a:r>
              <a:rPr lang="en-US" altLang="zh-CN" sz="2400" b="1" dirty="0">
                <a:latin typeface="宋体" pitchFamily="2" charset="-122"/>
              </a:rPr>
              <a:t>∨(D∨C)) E</a:t>
            </a:r>
            <a:r>
              <a:rPr lang="en-US" altLang="zh-CN" sz="2400" b="1" baseline="-25000" dirty="0">
                <a:latin typeface="宋体" pitchFamily="2" charset="-122"/>
              </a:rPr>
              <a:t>16</a:t>
            </a:r>
            <a:endParaRPr lang="en-US" altLang="zh-CN" sz="2400" b="1" dirty="0">
              <a:latin typeface="宋体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((</a:t>
            </a:r>
            <a:r>
              <a:rPr lang="en-US" altLang="zh-CN" sz="2400" dirty="0">
                <a:sym typeface="Symbol" pitchFamily="18" charset="2"/>
              </a:rPr>
              <a:t></a:t>
            </a:r>
            <a:r>
              <a:rPr lang="en-US" altLang="zh-CN" sz="2400" b="1" dirty="0">
                <a:latin typeface="宋体" pitchFamily="2" charset="-122"/>
              </a:rPr>
              <a:t>A∨</a:t>
            </a:r>
            <a:r>
              <a:rPr lang="en-US" altLang="zh-CN" sz="2400" b="1" dirty="0">
                <a:sym typeface="Symbol" pitchFamily="18" charset="2"/>
              </a:rPr>
              <a:t></a:t>
            </a:r>
            <a:r>
              <a:rPr lang="en-US" altLang="zh-CN" sz="2400" b="1" dirty="0">
                <a:latin typeface="宋体" pitchFamily="2" charset="-122"/>
              </a:rPr>
              <a:t>B)∨C)∧(</a:t>
            </a:r>
            <a:r>
              <a:rPr lang="en-US" altLang="zh-CN" sz="2400" b="1" dirty="0">
                <a:sym typeface="Symbol" pitchFamily="18" charset="2"/>
              </a:rPr>
              <a:t>B</a:t>
            </a:r>
            <a:r>
              <a:rPr lang="en-US" altLang="zh-CN" sz="2400" b="1" dirty="0">
                <a:latin typeface="宋体" pitchFamily="2" charset="-122"/>
              </a:rPr>
              <a:t>∨(D∨C))   </a:t>
            </a:r>
            <a:r>
              <a:rPr lang="zh-CN" altLang="en-US" sz="2400" b="1" dirty="0">
                <a:latin typeface="宋体" pitchFamily="2" charset="-122"/>
              </a:rPr>
              <a:t>摩根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itchFamily="18" charset="2"/>
              </a:rPr>
              <a:t></a:t>
            </a:r>
            <a:r>
              <a:rPr lang="en-US" altLang="zh-CN" sz="2400" b="1" dirty="0">
                <a:sym typeface="Symbol" pitchFamily="18" charset="2"/>
              </a:rPr>
              <a:t>((</a:t>
            </a:r>
            <a:r>
              <a:rPr lang="en-US" altLang="zh-CN" sz="2400" b="1" dirty="0">
                <a:latin typeface="宋体" pitchFamily="2" charset="-122"/>
              </a:rPr>
              <a:t>B</a:t>
            </a:r>
            <a:r>
              <a:rPr lang="en-US" altLang="zh-CN" sz="2400" b="1" dirty="0">
                <a:sym typeface="Symbol" pitchFamily="18" charset="2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dirty="0">
                <a:sym typeface="Symbol" pitchFamily="18" charset="2"/>
              </a:rPr>
              <a:t></a:t>
            </a:r>
            <a:r>
              <a:rPr lang="en-US" altLang="zh-CN" sz="2400" b="1" dirty="0">
                <a:latin typeface="宋体" pitchFamily="2" charset="-122"/>
              </a:rPr>
              <a:t>A)∨C)∧((</a:t>
            </a:r>
            <a:r>
              <a:rPr lang="en-US" altLang="zh-CN" sz="2400" b="1" dirty="0">
                <a:sym typeface="Symbol" pitchFamily="18" charset="2"/>
              </a:rPr>
              <a:t>B</a:t>
            </a:r>
            <a:r>
              <a:rPr lang="en-US" altLang="zh-CN" sz="2400" b="1" dirty="0">
                <a:latin typeface="宋体" pitchFamily="2" charset="-122"/>
              </a:rPr>
              <a:t>∨D)∨C)  </a:t>
            </a:r>
            <a:r>
              <a:rPr lang="zh-CN" altLang="en-US" sz="2400" b="1" dirty="0">
                <a:latin typeface="宋体" pitchFamily="2" charset="-122"/>
              </a:rPr>
              <a:t>交换 结合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itchFamily="18" charset="2"/>
              </a:rPr>
              <a:t></a:t>
            </a:r>
            <a:r>
              <a:rPr lang="en-US" altLang="zh-CN" sz="2400" b="1" dirty="0">
                <a:sym typeface="Symbol" pitchFamily="18" charset="2"/>
              </a:rPr>
              <a:t>((</a:t>
            </a:r>
            <a:r>
              <a:rPr lang="en-US" altLang="zh-CN" sz="2400" b="1" dirty="0">
                <a:latin typeface="宋体" pitchFamily="2" charset="-122"/>
              </a:rPr>
              <a:t>B</a:t>
            </a:r>
            <a:r>
              <a:rPr lang="en-US" altLang="zh-CN" sz="2400" b="1" dirty="0">
                <a:sym typeface="Symbol" pitchFamily="18" charset="2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dirty="0">
                <a:sym typeface="Symbol" pitchFamily="18" charset="2"/>
              </a:rPr>
              <a:t></a:t>
            </a:r>
            <a:r>
              <a:rPr lang="en-US" altLang="zh-CN" sz="2400" b="1" dirty="0">
                <a:latin typeface="宋体" pitchFamily="2" charset="-122"/>
              </a:rPr>
              <a:t>A)∧(</a:t>
            </a:r>
            <a:r>
              <a:rPr lang="en-US" altLang="zh-CN" sz="2400" b="1" dirty="0">
                <a:sym typeface="Symbol" pitchFamily="18" charset="2"/>
              </a:rPr>
              <a:t>B</a:t>
            </a:r>
            <a:r>
              <a:rPr lang="en-US" altLang="zh-CN" sz="2400" b="1" dirty="0">
                <a:latin typeface="宋体" pitchFamily="2" charset="-122"/>
              </a:rPr>
              <a:t>∨D))∨C       </a:t>
            </a:r>
            <a:r>
              <a:rPr lang="zh-CN" altLang="en-US" sz="2400" b="1" dirty="0">
                <a:latin typeface="宋体" pitchFamily="2" charset="-122"/>
              </a:rPr>
              <a:t>分配 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itchFamily="18" charset="2"/>
              </a:rPr>
              <a:t></a:t>
            </a:r>
            <a:r>
              <a:rPr lang="en-US" altLang="zh-CN" sz="2400" b="1" dirty="0">
                <a:sym typeface="Symbol" pitchFamily="18" charset="2"/>
              </a:rPr>
              <a:t>(</a:t>
            </a:r>
            <a:r>
              <a:rPr lang="en-US" altLang="zh-CN" sz="2400" b="1" dirty="0">
                <a:latin typeface="宋体" pitchFamily="2" charset="-122"/>
              </a:rPr>
              <a:t>B</a:t>
            </a:r>
            <a:r>
              <a:rPr lang="en-US" altLang="zh-CN" sz="2400" b="1" dirty="0">
                <a:sym typeface="Symbol" pitchFamily="18" charset="2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∨(</a:t>
            </a:r>
            <a:r>
              <a:rPr lang="en-US" altLang="zh-CN" sz="2400" dirty="0">
                <a:sym typeface="Symbol" pitchFamily="18" charset="2"/>
              </a:rPr>
              <a:t></a:t>
            </a:r>
            <a:r>
              <a:rPr lang="en-US" altLang="zh-CN" sz="2400" b="1" dirty="0">
                <a:latin typeface="宋体" pitchFamily="2" charset="-122"/>
              </a:rPr>
              <a:t>A∧D))∨C              </a:t>
            </a:r>
            <a:r>
              <a:rPr lang="zh-CN" altLang="en-US" sz="2400" b="1" dirty="0">
                <a:latin typeface="宋体" pitchFamily="2" charset="-122"/>
              </a:rPr>
              <a:t>分配        </a:t>
            </a:r>
            <a:endParaRPr lang="zh-CN" altLang="en-US" sz="24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itchFamily="18" charset="2"/>
              </a:rPr>
              <a:t> </a:t>
            </a:r>
            <a:r>
              <a:rPr lang="en-US" altLang="zh-CN" sz="2400" b="1" dirty="0">
                <a:sym typeface="Symbol" pitchFamily="18" charset="2"/>
              </a:rPr>
              <a:t>(</a:t>
            </a:r>
            <a:r>
              <a:rPr lang="en-US" altLang="zh-CN" sz="2400" b="1" dirty="0">
                <a:latin typeface="宋体" pitchFamily="2" charset="-122"/>
              </a:rPr>
              <a:t>B∧(A∨</a:t>
            </a:r>
            <a:r>
              <a:rPr lang="en-US" altLang="zh-CN" sz="2400" dirty="0">
                <a:sym typeface="Symbol" pitchFamily="18" charset="2"/>
              </a:rPr>
              <a:t></a:t>
            </a:r>
            <a:r>
              <a:rPr lang="en-US" altLang="zh-CN" sz="2400" b="1" dirty="0">
                <a:latin typeface="宋体" pitchFamily="2" charset="-122"/>
              </a:rPr>
              <a:t>D))∨C              </a:t>
            </a:r>
            <a:r>
              <a:rPr lang="zh-CN" altLang="en-US" sz="2400" b="1" dirty="0">
                <a:latin typeface="宋体" pitchFamily="2" charset="-122"/>
              </a:rPr>
              <a:t>摩根</a:t>
            </a:r>
            <a:endParaRPr lang="zh-CN" altLang="en-US" sz="24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itchFamily="18" charset="2"/>
              </a:rPr>
              <a:t></a:t>
            </a:r>
            <a:r>
              <a:rPr lang="en-US" altLang="zh-CN" sz="2400" b="1" dirty="0">
                <a:sym typeface="Symbol" pitchFamily="18" charset="2"/>
              </a:rPr>
              <a:t>(</a:t>
            </a:r>
            <a:r>
              <a:rPr lang="en-US" altLang="zh-CN" sz="2400" b="1" dirty="0">
                <a:latin typeface="宋体" pitchFamily="2" charset="-122"/>
              </a:rPr>
              <a:t>B∧(D→A))→C</a:t>
            </a:r>
            <a:r>
              <a:rPr lang="en-US" altLang="zh-CN" sz="2400" dirty="0">
                <a:sym typeface="Symbol" pitchFamily="18" charset="2"/>
              </a:rPr>
              <a:t>                             </a:t>
            </a:r>
            <a:r>
              <a:rPr lang="en-US" altLang="zh-CN" sz="2400" b="1" dirty="0">
                <a:latin typeface="宋体" pitchFamily="2" charset="-122"/>
              </a:rPr>
              <a:t>E</a:t>
            </a:r>
            <a:r>
              <a:rPr lang="en-US" altLang="zh-CN" sz="2400" b="1" baseline="-25000" dirty="0">
                <a:latin typeface="宋体" pitchFamily="2" charset="-122"/>
              </a:rPr>
              <a:t>16</a:t>
            </a: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7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75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75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75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75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2AF7D-F085-4C2C-925A-1389ED87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022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P19(8)c)</a:t>
            </a:r>
            <a:r>
              <a:rPr lang="zh-CN" altLang="zh-CN" dirty="0"/>
              <a:t>化简</a:t>
            </a:r>
            <a:r>
              <a:rPr lang="en-US" altLang="zh-CN" sz="2800" b="1" dirty="0">
                <a:sym typeface="Symbol" pitchFamily="18" charset="2"/>
              </a:rPr>
              <a:t>(A</a:t>
            </a:r>
            <a:r>
              <a:rPr lang="en-US" altLang="zh-CN" sz="2800" b="1" dirty="0">
                <a:latin typeface="宋体" pitchFamily="2" charset="-122"/>
              </a:rPr>
              <a:t>∧B∧C)∨(</a:t>
            </a:r>
            <a:r>
              <a:rPr lang="en-US" altLang="zh-CN" sz="2800" dirty="0">
                <a:sym typeface="Symbol" pitchFamily="18" charset="2"/>
              </a:rPr>
              <a:t></a:t>
            </a:r>
            <a:r>
              <a:rPr lang="en-US" altLang="zh-CN" sz="2800" b="1" dirty="0">
                <a:latin typeface="宋体" pitchFamily="2" charset="-122"/>
              </a:rPr>
              <a:t>A∧</a:t>
            </a:r>
            <a:r>
              <a:rPr lang="en-US" altLang="zh-CN" sz="2800" b="1" dirty="0">
                <a:sym typeface="Symbol" pitchFamily="18" charset="2"/>
              </a:rPr>
              <a:t>B</a:t>
            </a:r>
            <a:r>
              <a:rPr lang="en-US" altLang="zh-CN" sz="2800" b="1" dirty="0">
                <a:latin typeface="宋体" pitchFamily="2" charset="-122"/>
              </a:rPr>
              <a:t>∧C</a:t>
            </a:r>
            <a:r>
              <a:rPr lang="zh-CN" altLang="en-US" sz="2800" b="1" dirty="0">
                <a:latin typeface="宋体" pitchFamily="2" charset="-122"/>
              </a:rPr>
              <a:t>）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itchFamily="2" charset="-122"/>
              </a:rPr>
              <a:t>上式</a:t>
            </a:r>
            <a:r>
              <a:rPr lang="zh-CN" altLang="en-US" sz="2800" b="1" dirty="0">
                <a:sym typeface="Symbol" pitchFamily="18" charset="2"/>
              </a:rPr>
              <a:t> </a:t>
            </a:r>
            <a:r>
              <a:rPr lang="en-US" altLang="zh-CN" sz="2800" b="1" dirty="0">
                <a:sym typeface="Symbol" pitchFamily="18" charset="2"/>
              </a:rPr>
              <a:t>(A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dirty="0">
                <a:sym typeface="Symbol" pitchFamily="18" charset="2"/>
              </a:rPr>
              <a:t></a:t>
            </a:r>
            <a:r>
              <a:rPr lang="en-US" altLang="zh-CN" sz="2800" b="1" dirty="0">
                <a:latin typeface="宋体" pitchFamily="2" charset="-122"/>
              </a:rPr>
              <a:t>A)∧(</a:t>
            </a:r>
            <a:r>
              <a:rPr lang="en-US" altLang="zh-CN" sz="2800" b="1" dirty="0">
                <a:sym typeface="Symbol" pitchFamily="18" charset="2"/>
              </a:rPr>
              <a:t>B</a:t>
            </a:r>
            <a:r>
              <a:rPr lang="en-US" altLang="zh-CN" sz="2800" b="1" dirty="0">
                <a:latin typeface="宋体" pitchFamily="2" charset="-122"/>
              </a:rPr>
              <a:t>∧C</a:t>
            </a:r>
            <a:r>
              <a:rPr lang="zh-CN" altLang="en-US" sz="2800" b="1" dirty="0">
                <a:latin typeface="宋体" pitchFamily="2" charset="-122"/>
              </a:rPr>
              <a:t>）     分配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       </a:t>
            </a:r>
            <a:r>
              <a:rPr lang="en-US" altLang="zh-CN" sz="2800" b="1" dirty="0">
                <a:sym typeface="Symbol" pitchFamily="18" charset="2"/>
              </a:rPr>
              <a:t>T</a:t>
            </a:r>
            <a:r>
              <a:rPr lang="en-US" altLang="zh-CN" sz="2800" b="1" dirty="0">
                <a:latin typeface="宋体" pitchFamily="2" charset="-122"/>
              </a:rPr>
              <a:t>∧(</a:t>
            </a:r>
            <a:r>
              <a:rPr lang="en-US" altLang="zh-CN" sz="2800" b="1" dirty="0">
                <a:sym typeface="Symbol" pitchFamily="18" charset="2"/>
              </a:rPr>
              <a:t>B</a:t>
            </a:r>
            <a:r>
              <a:rPr lang="en-US" altLang="zh-CN" sz="2800" b="1" dirty="0">
                <a:latin typeface="宋体" pitchFamily="2" charset="-122"/>
              </a:rPr>
              <a:t>∧C</a:t>
            </a:r>
            <a:r>
              <a:rPr lang="zh-CN" altLang="en-US" sz="2800" b="1" dirty="0">
                <a:latin typeface="宋体" pitchFamily="2" charset="-122"/>
              </a:rPr>
              <a:t>）            互补 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itchFamily="2" charset="-122"/>
              </a:rPr>
              <a:t>    </a:t>
            </a: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B</a:t>
            </a:r>
            <a:r>
              <a:rPr lang="en-US" altLang="zh-CN" sz="2800" b="1" dirty="0">
                <a:latin typeface="宋体" pitchFamily="2" charset="-122"/>
              </a:rPr>
              <a:t>∧C                  </a:t>
            </a:r>
            <a:r>
              <a:rPr lang="zh-CN" altLang="en-US" sz="2800" b="1" dirty="0">
                <a:latin typeface="宋体" pitchFamily="2" charset="-122"/>
              </a:rPr>
              <a:t>同一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提示</a:t>
            </a:r>
            <a:r>
              <a:rPr lang="zh-CN" altLang="en-US" sz="2800" b="1" dirty="0">
                <a:latin typeface="宋体" pitchFamily="2" charset="-122"/>
              </a:rPr>
              <a:t>：化简时注意使用下面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使式子变短的公式</a:t>
            </a:r>
            <a:r>
              <a:rPr lang="zh-CN" altLang="en-US" sz="2800" b="1" dirty="0">
                <a:latin typeface="宋体" pitchFamily="2" charset="-122"/>
              </a:rPr>
              <a:t>：</a:t>
            </a:r>
          </a:p>
          <a:p>
            <a:pPr eaLnBrk="1" hangingPunct="1">
              <a:buFontTx/>
              <a:buNone/>
            </a:pPr>
            <a:r>
              <a:rPr lang="zh-CN" altLang="en-US" sz="2000" b="1" dirty="0"/>
              <a:t>分配律   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6    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R)   </a:t>
            </a:r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  E</a:t>
            </a:r>
            <a:r>
              <a:rPr lang="en-US" altLang="zh-CN" sz="2000" b="1" baseline="-25000" dirty="0"/>
              <a:t>7</a:t>
            </a:r>
            <a:r>
              <a:rPr lang="en-US" altLang="zh-CN" sz="2000" b="1" dirty="0"/>
              <a:t>      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R) </a:t>
            </a:r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 </a:t>
            </a:r>
            <a:r>
              <a:rPr lang="zh-CN" altLang="en-US" sz="2000" b="1" dirty="0"/>
              <a:t>用分配律时，是</a:t>
            </a:r>
            <a:r>
              <a:rPr lang="zh-CN" altLang="en-US" sz="2000" b="1" dirty="0">
                <a:solidFill>
                  <a:srgbClr val="FF0000"/>
                </a:solidFill>
              </a:rPr>
              <a:t>提取公因式</a:t>
            </a:r>
            <a:r>
              <a:rPr lang="zh-CN" altLang="en-US" sz="2000" b="1" dirty="0"/>
              <a:t>。               </a:t>
            </a:r>
          </a:p>
          <a:p>
            <a:pPr eaLnBrk="1" hangingPunct="1">
              <a:buFontTx/>
              <a:buNone/>
            </a:pPr>
            <a:r>
              <a:rPr lang="zh-CN" altLang="en-US" sz="2000" b="1" dirty="0"/>
              <a:t>幂等律   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10  </a:t>
            </a:r>
            <a:r>
              <a:rPr lang="en-US" altLang="zh-CN" sz="2000" b="1" dirty="0"/>
              <a:t>    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itchFamily="18" charset="2"/>
              </a:rPr>
              <a:t></a:t>
            </a:r>
            <a:r>
              <a:rPr lang="en-US" altLang="zh-CN" sz="2000" b="1" dirty="0"/>
              <a:t>P                          E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   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itchFamily="18" charset="2"/>
              </a:rPr>
              <a:t></a:t>
            </a:r>
            <a:r>
              <a:rPr lang="en-US" altLang="zh-CN" sz="2000" b="1" dirty="0"/>
              <a:t>P</a:t>
            </a:r>
            <a:endParaRPr lang="en-US" altLang="zh-CN" sz="2000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同一律   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12    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F</a:t>
            </a:r>
            <a:r>
              <a:rPr lang="en-US" altLang="zh-CN" sz="2000" b="1" dirty="0">
                <a:sym typeface="Symbol" pitchFamily="18" charset="2"/>
              </a:rPr>
              <a:t></a:t>
            </a:r>
            <a:r>
              <a:rPr lang="en-US" altLang="zh-CN" sz="2000" b="1" dirty="0"/>
              <a:t>P                           E</a:t>
            </a:r>
            <a:r>
              <a:rPr lang="en-US" altLang="zh-CN" sz="2000" b="1" baseline="-25000" dirty="0"/>
              <a:t>13  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T</a:t>
            </a:r>
            <a:r>
              <a:rPr lang="en-US" altLang="zh-CN" sz="2000" b="1" dirty="0">
                <a:sym typeface="Symbol" pitchFamily="18" charset="2"/>
              </a:rPr>
              <a:t></a:t>
            </a:r>
            <a:r>
              <a:rPr lang="en-US" altLang="zh-CN" sz="2000" b="1" dirty="0"/>
              <a:t>P</a:t>
            </a:r>
          </a:p>
          <a:p>
            <a:pPr eaLnBrk="1" hangingPunct="1">
              <a:buFontTx/>
              <a:buNone/>
            </a:pPr>
            <a:r>
              <a:rPr lang="zh-CN" altLang="en-US" sz="2000" b="1" dirty="0"/>
              <a:t>零律       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14</a:t>
            </a:r>
            <a:r>
              <a:rPr lang="en-US" altLang="zh-CN" sz="2000" b="1" dirty="0"/>
              <a:t>    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T</a:t>
            </a:r>
            <a:r>
              <a:rPr lang="en-US" altLang="zh-CN" sz="2000" b="1" dirty="0">
                <a:sym typeface="Symbol" pitchFamily="18" charset="2"/>
              </a:rPr>
              <a:t></a:t>
            </a:r>
            <a:r>
              <a:rPr lang="en-US" altLang="zh-CN" sz="2000" b="1" dirty="0"/>
              <a:t>T                           E</a:t>
            </a:r>
            <a:r>
              <a:rPr lang="en-US" altLang="zh-CN" sz="2000" b="1" baseline="-25000" dirty="0"/>
              <a:t>15</a:t>
            </a:r>
            <a:r>
              <a:rPr lang="en-US" altLang="zh-CN" sz="2000" b="1" dirty="0"/>
              <a:t>   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F</a:t>
            </a:r>
            <a:r>
              <a:rPr lang="en-US" altLang="zh-CN" sz="2000" b="1" dirty="0">
                <a:sym typeface="Symbol" pitchFamily="18" charset="2"/>
              </a:rPr>
              <a:t></a:t>
            </a:r>
            <a:r>
              <a:rPr lang="en-US" altLang="zh-CN" sz="2000" b="1" dirty="0"/>
              <a:t>F</a:t>
            </a:r>
          </a:p>
          <a:p>
            <a:pPr eaLnBrk="1" hangingPunct="1">
              <a:buFontTx/>
              <a:buNone/>
            </a:pPr>
            <a:r>
              <a:rPr lang="zh-CN" altLang="en-US" sz="2000" b="1" dirty="0"/>
              <a:t>吸收律   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itchFamily="18" charset="2"/>
              </a:rPr>
              <a:t></a:t>
            </a:r>
            <a:r>
              <a:rPr lang="en-US" altLang="zh-CN" sz="2000" b="1" dirty="0"/>
              <a:t>P                           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itchFamily="18" charset="2"/>
              </a:rPr>
              <a:t></a:t>
            </a:r>
            <a:r>
              <a:rPr lang="en-US" altLang="zh-CN" sz="2000" b="1" dirty="0"/>
              <a:t>P</a:t>
            </a:r>
          </a:p>
          <a:p>
            <a:pPr eaLnBrk="1" hangingPunct="1">
              <a:buFontTx/>
              <a:buNone/>
            </a:pPr>
            <a:r>
              <a:rPr lang="zh-CN" altLang="en-US" sz="2000" b="1" dirty="0"/>
              <a:t>互补律   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>
                <a:sym typeface="Symbol" pitchFamily="18" charset="2"/>
              </a:rPr>
              <a:t>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itchFamily="18" charset="2"/>
              </a:rPr>
              <a:t>T</a:t>
            </a:r>
            <a:r>
              <a:rPr lang="en-US" altLang="zh-CN" sz="2000" b="1" dirty="0"/>
              <a:t>                                  P</a:t>
            </a:r>
            <a:r>
              <a:rPr lang="en-US" altLang="zh-CN" sz="20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itchFamily="18" charset="2"/>
              </a:rPr>
              <a:t>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itchFamily="18" charset="2"/>
              </a:rPr>
              <a:t></a:t>
            </a:r>
            <a:r>
              <a:rPr lang="en-US" altLang="zh-CN" sz="2000" b="1" dirty="0"/>
              <a:t>F</a:t>
            </a:r>
            <a:endParaRPr lang="en-US" altLang="zh-CN" sz="2000" b="1" dirty="0">
              <a:latin typeface="宋体" pitchFamily="2" charset="-122"/>
            </a:endParaRP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0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0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0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0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80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802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75C78-C1B8-4472-9384-AEAD3448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</a:rPr>
              <a:t>补充题</a:t>
            </a:r>
            <a:r>
              <a:rPr lang="en-US" altLang="zh-CN" sz="2400" b="1" dirty="0">
                <a:solidFill>
                  <a:srgbClr val="FF0000"/>
                </a:solidFill>
              </a:rPr>
              <a:t>. </a:t>
            </a:r>
            <a:r>
              <a:rPr lang="zh-CN" altLang="en-US" sz="2400" b="1" dirty="0"/>
              <a:t>令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表示小张去，</a:t>
            </a:r>
            <a:r>
              <a:rPr lang="en-US" altLang="zh-CN" sz="2400" b="1" dirty="0"/>
              <a:t>Q</a:t>
            </a:r>
            <a:r>
              <a:rPr lang="zh-CN" altLang="en-US" sz="2400" b="1" dirty="0"/>
              <a:t>表示小李去，用最简捷的语言说明下面公式</a:t>
            </a:r>
          </a:p>
          <a:p>
            <a:pPr algn="just" eaLnBrk="1" hangingPunct="1">
              <a:buFontTx/>
              <a:buNone/>
            </a:pPr>
            <a:r>
              <a:rPr lang="zh-CN" altLang="en-US" sz="2800" dirty="0">
                <a:sym typeface="Symbol" pitchFamily="18" charset="2"/>
              </a:rPr>
              <a:t>  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Ｐ∧Ｑ</a:t>
            </a:r>
            <a:r>
              <a:rPr lang="en-US" altLang="zh-CN" sz="2400" b="1" dirty="0"/>
              <a:t>)→(</a:t>
            </a:r>
            <a:r>
              <a:rPr lang="en-US" altLang="zh-CN" sz="2800" dirty="0">
                <a:sym typeface="Symbol" pitchFamily="18" charset="2"/>
              </a:rPr>
              <a:t></a:t>
            </a:r>
            <a:r>
              <a:rPr lang="zh-CN" altLang="en-US" sz="2400" b="1" dirty="0"/>
              <a:t>Ｐ∨</a:t>
            </a:r>
            <a:r>
              <a:rPr lang="en-US" altLang="zh-CN" sz="2400" b="1" dirty="0"/>
              <a:t>(</a:t>
            </a:r>
            <a:r>
              <a:rPr lang="en-US" altLang="zh-CN" sz="2800" dirty="0">
                <a:sym typeface="Symbol" pitchFamily="18" charset="2"/>
              </a:rPr>
              <a:t></a:t>
            </a:r>
            <a:r>
              <a:rPr lang="zh-CN" altLang="en-US" sz="2400" b="1" dirty="0"/>
              <a:t>Ｐ∨Ｑ</a:t>
            </a:r>
            <a:r>
              <a:rPr lang="en-US" altLang="zh-CN" sz="2400" b="1" dirty="0"/>
              <a:t>)) </a:t>
            </a:r>
            <a:r>
              <a:rPr lang="zh-CN" altLang="en-US" sz="2400" b="1" dirty="0"/>
              <a:t>表达的含义。</a:t>
            </a:r>
          </a:p>
          <a:p>
            <a:pPr algn="just" eaLnBrk="1" hangingPunct="1">
              <a:buFontTx/>
              <a:buNone/>
            </a:pPr>
            <a:r>
              <a:rPr lang="zh-CN" altLang="en-US" sz="2400" b="1" dirty="0"/>
              <a:t>解 ：将上面公式化简</a:t>
            </a:r>
          </a:p>
          <a:p>
            <a:pPr algn="just" eaLnBrk="1" hangingPunct="1">
              <a:buFontTx/>
              <a:buNone/>
            </a:pPr>
            <a:r>
              <a:rPr lang="zh-CN" altLang="en-US" sz="2400" b="1" dirty="0"/>
              <a:t>原公式</a:t>
            </a:r>
          </a:p>
          <a:p>
            <a:pPr algn="just" eaLnBrk="1" hangingPunct="1">
              <a:buFontTx/>
              <a:buNone/>
            </a:pPr>
            <a:r>
              <a:rPr lang="zh-CN" altLang="en-US" sz="2000" b="1" dirty="0"/>
              <a:t> </a:t>
            </a:r>
            <a:r>
              <a:rPr lang="zh-CN" altLang="en-US" sz="2400" b="1" dirty="0">
                <a:sym typeface="Symbol" pitchFamily="18" charset="2"/>
              </a:rPr>
              <a:t>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Ｐ∧Ｑ</a:t>
            </a:r>
            <a:r>
              <a:rPr lang="en-US" altLang="zh-CN" sz="2400" b="1" dirty="0"/>
              <a:t>)∨((</a:t>
            </a:r>
            <a:r>
              <a:rPr lang="en-US" altLang="zh-CN" sz="2800" dirty="0">
                <a:sym typeface="Symbol" pitchFamily="18" charset="2"/>
              </a:rPr>
              <a:t></a:t>
            </a:r>
            <a:r>
              <a:rPr lang="zh-CN" altLang="en-US" sz="2400" b="1" dirty="0"/>
              <a:t>Ｐ∨</a:t>
            </a:r>
            <a:r>
              <a:rPr lang="zh-CN" altLang="en-US" sz="2800" dirty="0">
                <a:sym typeface="Symbol" pitchFamily="18" charset="2"/>
              </a:rPr>
              <a:t></a:t>
            </a:r>
            <a:r>
              <a:rPr lang="zh-CN" altLang="en-US" sz="2400" b="1" dirty="0"/>
              <a:t>Ｐ</a:t>
            </a:r>
            <a:r>
              <a:rPr lang="en-US" altLang="zh-CN" sz="2400" b="1" dirty="0"/>
              <a:t>)∨</a:t>
            </a:r>
            <a:r>
              <a:rPr lang="zh-CN" altLang="en-US" sz="2400" b="1" dirty="0"/>
              <a:t>Ｑ</a:t>
            </a:r>
            <a:r>
              <a:rPr lang="en-US" altLang="zh-CN" sz="2400" b="1" dirty="0"/>
              <a:t>)  (</a:t>
            </a:r>
            <a:r>
              <a:rPr lang="zh-CN" altLang="en-US" sz="2400" b="1" dirty="0"/>
              <a:t>Ｅ</a:t>
            </a:r>
            <a:r>
              <a:rPr lang="en-US" altLang="zh-CN" sz="2400" b="1" baseline="-30000" dirty="0"/>
              <a:t>16</a:t>
            </a:r>
            <a:r>
              <a:rPr lang="zh-CN" altLang="en-US" sz="2400" b="1" dirty="0"/>
              <a:t>，结合</a:t>
            </a:r>
            <a:r>
              <a:rPr lang="en-US" altLang="zh-CN" sz="2400" b="1" dirty="0"/>
              <a:t>)</a:t>
            </a:r>
          </a:p>
          <a:p>
            <a:pPr algn="just" eaLnBrk="1" hangingPunct="1"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itchFamily="18" charset="2"/>
              </a:rPr>
              <a:t>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Ｐ∧Ｑ</a:t>
            </a:r>
            <a:r>
              <a:rPr lang="en-US" altLang="zh-CN" sz="2400" b="1" dirty="0"/>
              <a:t>)∨(</a:t>
            </a:r>
            <a:r>
              <a:rPr lang="en-US" altLang="zh-CN" sz="2800" dirty="0">
                <a:sym typeface="Symbol" pitchFamily="18" charset="2"/>
              </a:rPr>
              <a:t></a:t>
            </a:r>
            <a:r>
              <a:rPr lang="zh-CN" altLang="en-US" sz="2400" b="1" dirty="0"/>
              <a:t>Ｐ∨Ｑ</a:t>
            </a:r>
            <a:r>
              <a:rPr lang="en-US" altLang="zh-CN" sz="2400" b="1" dirty="0"/>
              <a:t>)              (</a:t>
            </a:r>
            <a:r>
              <a:rPr lang="zh-CN" altLang="en-US" sz="2400" b="1" dirty="0"/>
              <a:t>双否律，幂等律</a:t>
            </a:r>
            <a:r>
              <a:rPr lang="en-US" altLang="zh-CN" sz="2400" b="1" dirty="0"/>
              <a:t>)</a:t>
            </a:r>
          </a:p>
          <a:p>
            <a:pPr algn="just" eaLnBrk="1" hangingPunct="1"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itchFamily="18" charset="2"/>
              </a:rPr>
              <a:t>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Ｐ∧Ｑ</a:t>
            </a:r>
            <a:r>
              <a:rPr lang="en-US" altLang="zh-CN" sz="2400" b="1" dirty="0"/>
              <a:t>)∨(</a:t>
            </a:r>
            <a:r>
              <a:rPr lang="zh-CN" altLang="en-US" sz="2400" b="1" dirty="0"/>
              <a:t>Ｑ∨</a:t>
            </a:r>
            <a:r>
              <a:rPr lang="zh-CN" altLang="en-US" sz="2800" dirty="0">
                <a:sym typeface="Symbol" pitchFamily="18" charset="2"/>
              </a:rPr>
              <a:t></a:t>
            </a:r>
            <a:r>
              <a:rPr lang="zh-CN" altLang="en-US" sz="2400" b="1" dirty="0"/>
              <a:t>Ｐ</a:t>
            </a:r>
            <a:r>
              <a:rPr lang="en-US" altLang="zh-CN" sz="2400" b="1" dirty="0"/>
              <a:t>)              (</a:t>
            </a:r>
            <a:r>
              <a:rPr lang="zh-CN" altLang="en-US" sz="2400" b="1" dirty="0"/>
              <a:t>交换律</a:t>
            </a:r>
            <a:r>
              <a:rPr lang="en-US" altLang="zh-CN" sz="2400" b="1" dirty="0"/>
              <a:t>)</a:t>
            </a:r>
          </a:p>
          <a:p>
            <a:pPr algn="just" eaLnBrk="1" hangingPunct="1"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itchFamily="18" charset="2"/>
              </a:rPr>
              <a:t></a:t>
            </a:r>
            <a:r>
              <a:rPr lang="en-US" altLang="zh-CN" sz="2400" b="1" dirty="0"/>
              <a:t>((</a:t>
            </a:r>
            <a:r>
              <a:rPr lang="zh-CN" altLang="en-US" sz="2400" b="1" dirty="0"/>
              <a:t>Ｐ∧Ｑ</a:t>
            </a:r>
            <a:r>
              <a:rPr lang="en-US" altLang="zh-CN" sz="2400" b="1" dirty="0"/>
              <a:t>)∨</a:t>
            </a:r>
            <a:r>
              <a:rPr lang="zh-CN" altLang="en-US" sz="2400" b="1" dirty="0"/>
              <a:t>Ｑ</a:t>
            </a:r>
            <a:r>
              <a:rPr lang="en-US" altLang="zh-CN" sz="2400" b="1" dirty="0"/>
              <a:t>)∨ </a:t>
            </a:r>
            <a:r>
              <a:rPr lang="en-US" altLang="zh-CN" sz="2800" dirty="0">
                <a:sym typeface="Symbol" pitchFamily="18" charset="2"/>
              </a:rPr>
              <a:t></a:t>
            </a:r>
            <a:r>
              <a:rPr lang="zh-CN" altLang="en-US" sz="2400" b="1" dirty="0"/>
              <a:t>Ｐ             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结合律</a:t>
            </a:r>
            <a:r>
              <a:rPr lang="en-US" altLang="zh-CN" sz="2400" b="1" dirty="0"/>
              <a:t>)</a:t>
            </a:r>
          </a:p>
          <a:p>
            <a:pPr algn="just" eaLnBrk="1" hangingPunct="1">
              <a:buFontTx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itchFamily="18" charset="2"/>
              </a:rPr>
              <a:t></a:t>
            </a:r>
            <a:r>
              <a:rPr lang="zh-CN" altLang="en-US" sz="2400" b="1" dirty="0"/>
              <a:t>Ｑ∨ </a:t>
            </a:r>
            <a:r>
              <a:rPr lang="zh-CN" altLang="en-US" sz="2800" dirty="0">
                <a:sym typeface="Symbol" pitchFamily="18" charset="2"/>
              </a:rPr>
              <a:t></a:t>
            </a:r>
            <a:r>
              <a:rPr lang="zh-CN" altLang="en-US" sz="2400" b="1" dirty="0"/>
              <a:t>Ｐ</a:t>
            </a:r>
            <a:r>
              <a:rPr lang="zh-CN" altLang="en-US" sz="2000" b="1" dirty="0"/>
              <a:t>                                         </a:t>
            </a:r>
            <a:r>
              <a:rPr lang="en-US" altLang="zh-CN" sz="2000" b="1" dirty="0"/>
              <a:t>(</a:t>
            </a:r>
            <a:r>
              <a:rPr lang="zh-CN" altLang="en-US" sz="2400" b="1" dirty="0"/>
              <a:t>吸收律</a:t>
            </a:r>
            <a:r>
              <a:rPr lang="en-US" altLang="zh-CN" sz="2400" b="1" dirty="0"/>
              <a:t>)</a:t>
            </a:r>
          </a:p>
          <a:p>
            <a:pPr algn="just"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 </a:t>
            </a:r>
            <a:r>
              <a:rPr lang="zh-CN" altLang="en-US" sz="2400" b="1" dirty="0"/>
              <a:t>Ｐ→Ｑ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上面公式表示：如果小张去，则小李也去。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6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6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6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6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2228B-5F0D-41C0-9C6A-AAC7117D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五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.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范式的写法及应用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P39(4)d)</a:t>
            </a:r>
            <a:r>
              <a:rPr lang="zh-CN" altLang="zh-CN" sz="2400" dirty="0"/>
              <a:t>写出</a:t>
            </a:r>
            <a:r>
              <a:rPr lang="en-US" altLang="zh-CN" sz="2400" b="1" dirty="0"/>
              <a:t>(P</a:t>
            </a:r>
            <a:r>
              <a:rPr lang="en-US" altLang="zh-CN" sz="2400" b="1" dirty="0">
                <a:sym typeface="Symbol" pitchFamily="18" charset="2"/>
              </a:rPr>
              <a:t>(</a:t>
            </a:r>
            <a:r>
              <a:rPr lang="en-US" altLang="zh-CN" sz="2400" b="1" dirty="0"/>
              <a:t>Q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∧R)</a:t>
            </a:r>
            <a:r>
              <a:rPr lang="en-US" altLang="zh-CN" sz="2400" b="1" dirty="0">
                <a:sym typeface="Symbol" pitchFamily="18" charset="2"/>
              </a:rPr>
              <a:t>)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>
                <a:sym typeface="Symbol" pitchFamily="18" charset="2"/>
              </a:rPr>
              <a:t>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P</a:t>
            </a:r>
            <a:r>
              <a:rPr lang="en-US" altLang="zh-CN" sz="2400" b="1" dirty="0">
                <a:sym typeface="Symbol" pitchFamily="18" charset="2"/>
              </a:rPr>
              <a:t>(Q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itchFamily="18" charset="2"/>
              </a:rPr>
              <a:t>R</a:t>
            </a:r>
            <a:r>
              <a:rPr lang="en-US" altLang="zh-CN" sz="2400" b="1" dirty="0"/>
              <a:t>))</a:t>
            </a:r>
            <a:r>
              <a:rPr lang="zh-CN" altLang="en-US" sz="2400" b="1" dirty="0"/>
              <a:t>的主析取范式和主合取范式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方法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/>
              <a:t>，用真值表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</a:t>
            </a:r>
            <a:r>
              <a:rPr lang="zh-CN" altLang="zh-CN" sz="2400" b="1" dirty="0"/>
              <a:t>令</a:t>
            </a:r>
            <a:r>
              <a:rPr lang="en-US" altLang="zh-CN" sz="2400" b="1" dirty="0"/>
              <a:t>A(P,Q,R)</a:t>
            </a:r>
            <a:r>
              <a:rPr lang="en-US" altLang="zh-CN" sz="2400" b="1" dirty="0">
                <a:sym typeface="Symbol" pitchFamily="18" charset="2"/>
              </a:rPr>
              <a:t></a:t>
            </a:r>
            <a:r>
              <a:rPr lang="en-US" altLang="zh-CN" sz="2400" b="1" dirty="0"/>
              <a:t>(P</a:t>
            </a:r>
            <a:r>
              <a:rPr lang="en-US" altLang="zh-CN" sz="2400" b="1" dirty="0">
                <a:sym typeface="Symbol" pitchFamily="18" charset="2"/>
              </a:rPr>
              <a:t>(</a:t>
            </a:r>
            <a:r>
              <a:rPr lang="en-US" altLang="zh-CN" sz="2400" b="1" dirty="0"/>
              <a:t>Q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∧R)</a:t>
            </a:r>
            <a:r>
              <a:rPr lang="en-US" altLang="zh-CN" sz="2400" b="1" dirty="0">
                <a:sym typeface="Symbol" pitchFamily="18" charset="2"/>
              </a:rPr>
              <a:t>)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>
                <a:sym typeface="Symbol" pitchFamily="18" charset="2"/>
              </a:rPr>
              <a:t>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P</a:t>
            </a:r>
            <a:r>
              <a:rPr lang="en-US" altLang="zh-CN" sz="2400" b="1" dirty="0">
                <a:sym typeface="Symbol" pitchFamily="18" charset="2"/>
              </a:rPr>
              <a:t>(Q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itchFamily="18" charset="2"/>
              </a:rPr>
              <a:t>R</a:t>
            </a:r>
            <a:r>
              <a:rPr lang="en-US" altLang="zh-CN" sz="2400" b="1" dirty="0"/>
              <a:t>))</a:t>
            </a:r>
          </a:p>
        </p:txBody>
      </p:sp>
      <p:graphicFrame>
        <p:nvGraphicFramePr>
          <p:cNvPr id="4" name="Group 150">
            <a:extLst>
              <a:ext uri="{FF2B5EF4-FFF2-40B4-BE49-F238E27FC236}">
                <a16:creationId xmlns:a16="http://schemas.microsoft.com/office/drawing/2014/main" id="{8C0D855F-50D8-480E-9B90-E84668F50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632799"/>
              </p:ext>
            </p:extLst>
          </p:nvPr>
        </p:nvGraphicFramePr>
        <p:xfrm>
          <a:off x="755576" y="3140968"/>
          <a:ext cx="7364412" cy="3420989"/>
        </p:xfrm>
        <a:graphic>
          <a:graphicData uri="http://schemas.openxmlformats.org/drawingml/2006/table">
            <a:tbl>
              <a:tblPr/>
              <a:tblGrid>
                <a:gridCol w="50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8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(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Gothic" pitchFamily="49" charset="-128"/>
                          <a:sym typeface="Kingsoft Phonetic Plain" pitchFamily="2" charset="2"/>
                        </a:rPr>
                        <a:t>∧R)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Gothic" pitchFamily="49" charset="-128"/>
                          <a:sym typeface="Kingsoft Phonetic Plain" pitchFamily="2" charset="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(Q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Gothic" pitchFamily="49" charset="-128"/>
                          <a:sym typeface="Kingsoft Phonetic Plain" pitchFamily="2" charset="2"/>
                        </a:rPr>
                        <a:t>∧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R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Gothic" pitchFamily="49" charset="-128"/>
                          <a:sym typeface="Kingsoft Phonetic Plain" pitchFamily="2" charset="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A(P, Q, R)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924254"/>
      </p:ext>
    </p:extLst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8B27C-CA96-4875-A4FC-DD34EDFD4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2297" name="Text Box 25"/>
          <p:cNvSpPr>
            <a:spLocks noGrp="1" noChangeArrowheads="1"/>
          </p:cNvSpPr>
          <p:nvPr>
            <p:ph idx="1"/>
          </p:nvPr>
        </p:nvSpPr>
        <p:spPr>
          <a:noFill/>
          <a:ln cap="flat">
            <a:solidFill>
              <a:srgbClr val="FF0000"/>
            </a:solidFill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A(P, Q, R)</a:t>
            </a:r>
            <a:r>
              <a:rPr lang="zh-CN" altLang="en-US" sz="2800" b="1" dirty="0"/>
              <a:t>的主析取范式中含有小项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0 </a:t>
            </a:r>
            <a:r>
              <a:rPr lang="en-US" altLang="zh-CN" sz="2800" b="1" dirty="0"/>
              <a:t>,</a:t>
            </a:r>
            <a:r>
              <a:rPr lang="en-US" altLang="zh-CN" sz="2800" b="1" baseline="-25000" dirty="0"/>
              <a:t> 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7</a:t>
            </a:r>
            <a:r>
              <a:rPr lang="zh-CN" altLang="en-US" sz="2800" b="1" dirty="0"/>
              <a:t>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主合取范式中含有大项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,M</a:t>
            </a:r>
            <a:r>
              <a:rPr lang="en-US" altLang="zh-CN" sz="2800" b="1" baseline="-25000" dirty="0"/>
              <a:t>2 </a:t>
            </a:r>
            <a:r>
              <a:rPr lang="en-US" altLang="zh-CN" sz="2800" b="1" dirty="0"/>
              <a:t>,M</a:t>
            </a:r>
            <a:r>
              <a:rPr lang="en-US" altLang="zh-CN" sz="2800" b="1" baseline="-25000" dirty="0"/>
              <a:t>3 </a:t>
            </a:r>
            <a:r>
              <a:rPr lang="en-US" altLang="zh-CN" sz="2800" b="1" dirty="0"/>
              <a:t>,M</a:t>
            </a:r>
            <a:r>
              <a:rPr lang="en-US" altLang="zh-CN" sz="2800" b="1" baseline="-25000" dirty="0"/>
              <a:t>4 </a:t>
            </a:r>
            <a:r>
              <a:rPr lang="en-US" altLang="zh-CN" sz="2800" b="1" dirty="0"/>
              <a:t>,M</a:t>
            </a:r>
            <a:r>
              <a:rPr lang="en-US" altLang="zh-CN" sz="2800" b="1" baseline="-25000" dirty="0"/>
              <a:t>5 </a:t>
            </a:r>
            <a:r>
              <a:rPr lang="en-US" altLang="zh-CN" sz="2800" b="1" dirty="0"/>
              <a:t>,M</a:t>
            </a:r>
            <a:r>
              <a:rPr lang="en-US" altLang="zh-CN" sz="2800" b="1" baseline="-25000" dirty="0"/>
              <a:t>6 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主析取范式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800" b="1" dirty="0"/>
              <a:t>A(P,Q,R)</a:t>
            </a:r>
            <a:r>
              <a:rPr lang="en-US" altLang="zh-CN" sz="2800" b="1" dirty="0">
                <a:sym typeface="Symbol" pitchFamily="18" charset="2"/>
              </a:rPr>
              <a:t>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0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baseline="-25000" dirty="0"/>
              <a:t> 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7  </a:t>
            </a:r>
          </a:p>
          <a:p>
            <a:pPr>
              <a:buNone/>
            </a:pPr>
            <a:r>
              <a:rPr lang="en-US" altLang="zh-CN" sz="2800" b="1" dirty="0">
                <a:sym typeface="Symbol" pitchFamily="18" charset="2"/>
              </a:rPr>
              <a:t>               (</a:t>
            </a:r>
            <a:r>
              <a:rPr lang="en-US" altLang="zh-CN" sz="2800" b="1" dirty="0"/>
              <a:t>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/>
              <a:t>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R</a:t>
            </a:r>
            <a:r>
              <a:rPr lang="en-US" altLang="zh-CN" sz="2800" b="1" dirty="0">
                <a:sym typeface="Symbol" pitchFamily="18" charset="2"/>
              </a:rPr>
              <a:t>)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(</a:t>
            </a:r>
            <a:r>
              <a:rPr lang="en-US" altLang="zh-CN" sz="2800" b="1" dirty="0"/>
              <a:t>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∧R</a:t>
            </a:r>
            <a:r>
              <a:rPr lang="en-US" altLang="zh-CN" sz="2800" b="1" dirty="0">
                <a:sym typeface="Symbol" pitchFamily="18" charset="2"/>
              </a:rPr>
              <a:t>)</a:t>
            </a:r>
          </a:p>
          <a:p>
            <a:r>
              <a:rPr lang="zh-CN" altLang="en-US" sz="2800" b="1" dirty="0">
                <a:solidFill>
                  <a:srgbClr val="FF0000"/>
                </a:solidFill>
              </a:rPr>
              <a:t>主合取范式</a:t>
            </a:r>
            <a:endParaRPr lang="en-US" altLang="zh-CN" sz="2800" b="1" dirty="0">
              <a:solidFill>
                <a:srgbClr val="FF00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altLang="zh-CN" sz="2800" b="1" dirty="0"/>
              <a:t>A(P,Q,R)</a:t>
            </a:r>
            <a:r>
              <a:rPr lang="en-US" altLang="zh-CN" sz="2800" b="1" dirty="0">
                <a:sym typeface="Symbol" pitchFamily="18" charset="2"/>
              </a:rPr>
              <a:t> 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1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2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3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4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5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M</a:t>
            </a:r>
            <a:r>
              <a:rPr lang="en-US" altLang="zh-CN" sz="2800" b="1" baseline="-25000" dirty="0"/>
              <a:t>6</a:t>
            </a:r>
            <a:r>
              <a:rPr lang="en-US" altLang="zh-CN" sz="2800" b="1" dirty="0"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altLang="zh-CN" sz="2800" b="1" dirty="0">
                <a:sym typeface="Symbol" pitchFamily="18" charset="2"/>
              </a:rPr>
              <a:t>(P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Q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R)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800" b="1" dirty="0">
                <a:sym typeface="Symbol" pitchFamily="18" charset="2"/>
              </a:rPr>
              <a:t>P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Q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R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)∧(</a:t>
            </a:r>
            <a:r>
              <a:rPr lang="en-US" altLang="zh-CN" sz="2800" b="1" dirty="0">
                <a:sym typeface="Symbol" pitchFamily="18" charset="2"/>
              </a:rPr>
              <a:t>P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Q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R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)∧</a:t>
            </a:r>
          </a:p>
          <a:p>
            <a:pPr>
              <a:buNone/>
            </a:pP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   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Q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R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)∧(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Q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R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)∧(</a:t>
            </a:r>
            <a:r>
              <a:rPr lang="en-US" altLang="zh-CN" sz="2800" b="1" dirty="0">
                <a:sym typeface="Symbol" pitchFamily="18" charset="2"/>
              </a:rPr>
              <a:t>P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Q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R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</a:t>
            </a:r>
            <a:endParaRPr lang="en-US" altLang="zh-CN" sz="2800" b="1" dirty="0">
              <a:sym typeface="Symbol" pitchFamily="18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 b="1" dirty="0"/>
          </a:p>
        </p:txBody>
      </p:sp>
    </p:spTree>
  </p:cSld>
  <p:clrMapOvr>
    <a:masterClrMapping/>
  </p:clrMapOvr>
  <p:transition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2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2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2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2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2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22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22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22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97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2816B-4400-474E-B13F-9AF0BF64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方法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2</a:t>
            </a:r>
            <a:r>
              <a:rPr lang="en-US" altLang="zh-CN" sz="2800" dirty="0"/>
              <a:t>.</a:t>
            </a:r>
            <a:r>
              <a:rPr lang="zh-CN" altLang="en-US" sz="2800" dirty="0">
                <a:latin typeface="宋体" pitchFamily="2" charset="-122"/>
              </a:rPr>
              <a:t>等价变换</a:t>
            </a:r>
            <a:endParaRPr lang="en-US" altLang="zh-CN" sz="2800" dirty="0">
              <a:latin typeface="宋体" pitchFamily="2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</a:rPr>
              <a:t>先化简，再补元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/>
              <a:t>(P</a:t>
            </a:r>
            <a:r>
              <a:rPr lang="en-US" altLang="zh-CN" sz="2800" b="1" dirty="0">
                <a:sym typeface="Symbol" pitchFamily="18" charset="2"/>
              </a:rPr>
              <a:t>(</a:t>
            </a:r>
            <a:r>
              <a:rPr lang="en-US" altLang="zh-CN" sz="2800" b="1" dirty="0"/>
              <a:t>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∧R)</a:t>
            </a:r>
            <a:r>
              <a:rPr lang="en-US" altLang="zh-CN" sz="2800" b="1" dirty="0">
                <a:sym typeface="Symbol" pitchFamily="18" charset="2"/>
              </a:rPr>
              <a:t>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P</a:t>
            </a:r>
            <a:r>
              <a:rPr lang="en-US" altLang="zh-CN" sz="2800" b="1" dirty="0">
                <a:sym typeface="Symbol" pitchFamily="18" charset="2"/>
              </a:rPr>
              <a:t>(Q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R</a:t>
            </a:r>
            <a:r>
              <a:rPr lang="en-US" altLang="zh-CN" sz="2800" b="1" dirty="0"/>
              <a:t>))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 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/>
              <a:t>P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∧R)</a:t>
            </a:r>
            <a:r>
              <a:rPr lang="en-US" altLang="zh-CN" sz="2800" b="1" dirty="0">
                <a:sym typeface="Symbol" pitchFamily="18" charset="2"/>
              </a:rPr>
              <a:t>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∧(P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(Q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R</a:t>
            </a:r>
            <a:r>
              <a:rPr lang="en-US" altLang="zh-CN" sz="2800" b="1" dirty="0"/>
              <a:t>))           </a:t>
            </a:r>
            <a:r>
              <a:rPr lang="en-US" altLang="zh-CN" sz="2800" b="1" dirty="0">
                <a:latin typeface="宋体" pitchFamily="2" charset="-122"/>
              </a:rPr>
              <a:t>E</a:t>
            </a:r>
            <a:r>
              <a:rPr lang="en-US" altLang="zh-CN" sz="2800" b="1" baseline="-25000" dirty="0">
                <a:latin typeface="宋体" pitchFamily="2" charset="-122"/>
              </a:rPr>
              <a:t>16</a:t>
            </a:r>
            <a:r>
              <a:rPr lang="en-US" altLang="zh-CN" sz="2800" b="1" dirty="0"/>
              <a:t> 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 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/>
              <a:t>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∧P)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P∧</a:t>
            </a:r>
            <a:r>
              <a:rPr lang="en-US" altLang="zh-CN" sz="2800" b="1" dirty="0"/>
              <a:t>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∧R)</a:t>
            </a:r>
            <a:r>
              <a:rPr lang="en-US" altLang="zh-CN" sz="2800" b="1" dirty="0">
                <a:latin typeface="宋体" pitchFamily="2" charset="-122"/>
              </a:rPr>
              <a:t>∨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     (</a:t>
            </a:r>
            <a:r>
              <a:rPr lang="en-US" altLang="zh-CN" sz="2800" b="1" dirty="0"/>
              <a:t>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R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    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     ((</a:t>
            </a:r>
            <a:r>
              <a:rPr lang="en-US" altLang="zh-CN" sz="2800" b="1" dirty="0"/>
              <a:t>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∧R)∧(</a:t>
            </a:r>
            <a:r>
              <a:rPr lang="en-US" altLang="zh-CN" sz="2800" b="1" dirty="0">
                <a:sym typeface="Symbol" pitchFamily="18" charset="2"/>
              </a:rPr>
              <a:t>Q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R</a:t>
            </a:r>
            <a:r>
              <a:rPr lang="en-US" altLang="zh-CN" sz="2800" b="1" dirty="0"/>
              <a:t>))                           </a:t>
            </a:r>
            <a:r>
              <a:rPr lang="zh-CN" altLang="en-US" sz="2800" b="1" dirty="0">
                <a:latin typeface="宋体" pitchFamily="2" charset="-122"/>
              </a:rPr>
              <a:t>分配</a:t>
            </a:r>
            <a:endParaRPr lang="zh-CN" altLang="en-US" sz="28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F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P∧</a:t>
            </a:r>
            <a:r>
              <a:rPr lang="en-US" altLang="zh-CN" sz="2800" b="1" dirty="0"/>
              <a:t>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∧R)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(</a:t>
            </a:r>
            <a:r>
              <a:rPr lang="en-US" altLang="zh-CN" sz="2800" b="1" dirty="0"/>
              <a:t>P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R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F    </a:t>
            </a:r>
            <a:r>
              <a:rPr lang="zh-CN" altLang="en-US" sz="2800" b="1" dirty="0">
                <a:sym typeface="Symbol" pitchFamily="18" charset="2"/>
              </a:rPr>
              <a:t>互补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P∧</a:t>
            </a:r>
            <a:r>
              <a:rPr lang="en-US" altLang="zh-CN" sz="2800" b="1" dirty="0">
                <a:solidFill>
                  <a:srgbClr val="FF0000"/>
                </a:solidFill>
              </a:rPr>
              <a:t>Q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∧R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</a:t>
            </a:r>
            <a:r>
              <a:rPr lang="en-US" altLang="zh-CN" sz="2800" b="1" dirty="0">
                <a:latin typeface="宋体" pitchFamily="2" charset="-122"/>
              </a:rPr>
              <a:t>∨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olidFill>
                  <a:srgbClr val="FF0000"/>
                </a:solidFill>
                <a:sym typeface="Symbol" pitchFamily="18" charset="2"/>
              </a:rPr>
              <a:t>Q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olidFill>
                  <a:srgbClr val="FF0000"/>
                </a:solidFill>
                <a:sym typeface="Symbol" pitchFamily="18" charset="2"/>
              </a:rPr>
              <a:t>R</a:t>
            </a:r>
            <a:r>
              <a:rPr lang="en-US" altLang="zh-CN" sz="2800" b="1" dirty="0"/>
              <a:t>)                </a:t>
            </a:r>
            <a:r>
              <a:rPr lang="zh-CN" altLang="en-US" sz="2800" b="1" dirty="0"/>
              <a:t>同一</a:t>
            </a:r>
            <a:endParaRPr lang="en-US" altLang="zh-CN" sz="2800" b="1" dirty="0"/>
          </a:p>
          <a:p>
            <a:pPr eaLnBrk="1" hangingPunct="1">
              <a:buFontTx/>
              <a:buNone/>
            </a:pPr>
            <a:r>
              <a:rPr lang="zh-CN" altLang="en-US" sz="2800" b="1" dirty="0"/>
              <a:t>（</a:t>
            </a:r>
            <a:r>
              <a:rPr lang="zh-CN" altLang="en-US" sz="2800" b="1" dirty="0">
                <a:solidFill>
                  <a:srgbClr val="FF0000"/>
                </a:solidFill>
              </a:rPr>
              <a:t>这个已经是主析取范式了，不需要补元</a:t>
            </a:r>
            <a:r>
              <a:rPr lang="zh-CN" altLang="en-US" sz="2800" b="1" dirty="0"/>
              <a:t>）</a:t>
            </a:r>
          </a:p>
        </p:txBody>
      </p:sp>
    </p:spTree>
  </p:cSld>
  <p:clrMapOvr>
    <a:masterClrMapping/>
  </p:clrMapOvr>
  <p:transition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3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C90DD-0EF6-4CE4-87BF-B85A7F17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主合取范式：化简，补元（析取永假式构造大项）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eaLnBrk="1" hangingPunct="1">
              <a:buFontTx/>
              <a:buNone/>
            </a:pPr>
            <a:r>
              <a:rPr lang="en-US" altLang="zh-CN" sz="2800" b="1" dirty="0"/>
              <a:t>(P</a:t>
            </a:r>
            <a:r>
              <a:rPr lang="en-US" altLang="zh-CN" sz="2800" b="1" dirty="0">
                <a:sym typeface="Symbol" pitchFamily="18" charset="2"/>
              </a:rPr>
              <a:t>(</a:t>
            </a:r>
            <a:r>
              <a:rPr lang="en-US" altLang="zh-CN" sz="2800" b="1" dirty="0"/>
              <a:t>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∧R)</a:t>
            </a:r>
            <a:r>
              <a:rPr lang="en-US" altLang="zh-CN" sz="2800" b="1" dirty="0">
                <a:sym typeface="Symbol" pitchFamily="18" charset="2"/>
              </a:rPr>
              <a:t>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800" b="1" dirty="0">
                <a:sym typeface="Symbol" pitchFamily="18" charset="2"/>
              </a:rPr>
              <a:t>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P</a:t>
            </a:r>
            <a:r>
              <a:rPr lang="en-US" altLang="zh-CN" sz="2800" b="1" dirty="0">
                <a:sym typeface="Symbol" pitchFamily="18" charset="2"/>
              </a:rPr>
              <a:t>(Q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itchFamily="18" charset="2"/>
              </a:rPr>
              <a:t>R</a:t>
            </a:r>
            <a:r>
              <a:rPr lang="en-US" altLang="zh-CN" sz="2800" b="1" dirty="0"/>
              <a:t>))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sz="2400" b="1" dirty="0">
                <a:latin typeface="Times New Roman" pitchFamily="18" charset="0"/>
              </a:rPr>
              <a:t>Q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∧R)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 (P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(Q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))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P∨Q)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R)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∧(P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Q)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∧(P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P∨Q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∨(R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∨(Q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R))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∧(P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∨(R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∧(P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∨(Q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P∨Q∨R)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P∨Q∨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     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P∨Q∨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R)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 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R)∧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     (P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latin typeface="Times New Roman" pitchFamily="18" charset="0"/>
              </a:rPr>
              <a:t>∨R)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 (P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     (P</a:t>
            </a:r>
            <a:r>
              <a:rPr lang="en-US" altLang="zh-CN" sz="2400" b="1" dirty="0">
                <a:latin typeface="Times New Roman" pitchFamily="18" charset="0"/>
              </a:rPr>
              <a:t>∨Q∨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 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∧(P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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P∨Q∨R)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P∨Q∨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     (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latin typeface="Times New Roman" pitchFamily="18" charset="0"/>
              </a:rPr>
              <a:t>P∨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R)∧(P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latin typeface="Times New Roman" pitchFamily="18" charset="0"/>
              </a:rPr>
              <a:t>∨R)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      (P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Q</a:t>
            </a:r>
            <a:r>
              <a:rPr lang="en-US" altLang="zh-CN" sz="2400" b="1" dirty="0">
                <a:latin typeface="Times New Roman" pitchFamily="18" charset="0"/>
              </a:rPr>
              <a:t>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  <a:r>
              <a:rPr lang="en-US" altLang="zh-CN" sz="2400" b="1" dirty="0">
                <a:latin typeface="Times New Roman" pitchFamily="18" charset="0"/>
                <a:ea typeface="MS Gothic" pitchFamily="49" charset="-128"/>
                <a:sym typeface="Kingsoft Phonetic Plain" pitchFamily="2" charset="2"/>
              </a:rPr>
              <a:t>∧(P</a:t>
            </a:r>
            <a:r>
              <a:rPr lang="en-US" altLang="zh-CN" sz="2400" b="1" dirty="0">
                <a:latin typeface="Times New Roman" pitchFamily="18" charset="0"/>
              </a:rPr>
              <a:t>∨Q∨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R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</a:p>
        </p:txBody>
      </p: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4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843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5DB41-26C2-4BE6-BB07-423CB2EA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范式的应用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P39(7)</a:t>
            </a:r>
            <a:r>
              <a:rPr lang="en-US" altLang="zh-CN" sz="2400" b="1" dirty="0"/>
              <a:t>A,B,C,D</a:t>
            </a:r>
            <a:r>
              <a:rPr lang="zh-CN" altLang="zh-CN" sz="2400" b="1" dirty="0"/>
              <a:t>四个人中要派两个人出差，按下述三个条件有几种派法？</a:t>
            </a:r>
          </a:p>
          <a:p>
            <a:pPr eaLnBrk="1" hangingPunct="1">
              <a:buFontTx/>
              <a:buNone/>
            </a:pPr>
            <a:r>
              <a:rPr lang="zh-CN" altLang="zh-CN" sz="2400" b="1" dirty="0"/>
              <a:t>①若</a:t>
            </a:r>
            <a:r>
              <a:rPr lang="en-US" altLang="zh-CN" sz="2400" b="1" dirty="0"/>
              <a:t>A</a:t>
            </a:r>
            <a:r>
              <a:rPr lang="zh-CN" altLang="zh-CN" sz="2400" b="1" dirty="0"/>
              <a:t>去则</a:t>
            </a:r>
            <a:r>
              <a:rPr lang="en-US" altLang="zh-CN" sz="2400" b="1" dirty="0"/>
              <a:t>C</a:t>
            </a:r>
            <a:r>
              <a:rPr lang="zh-CN" altLang="zh-CN" sz="2400" b="1" dirty="0"/>
              <a:t>和</a:t>
            </a:r>
            <a:r>
              <a:rPr lang="en-US" altLang="zh-CN" sz="2400" b="1" dirty="0"/>
              <a:t>D</a:t>
            </a:r>
            <a:r>
              <a:rPr lang="zh-CN" altLang="zh-CN" sz="2400" b="1" dirty="0"/>
              <a:t>中要去一个人。</a:t>
            </a:r>
          </a:p>
          <a:p>
            <a:pPr eaLnBrk="1" hangingPunct="1">
              <a:buFontTx/>
              <a:buNone/>
            </a:pPr>
            <a:r>
              <a:rPr lang="zh-CN" altLang="zh-CN" sz="2400" b="1" dirty="0"/>
              <a:t>②</a:t>
            </a:r>
            <a:r>
              <a:rPr lang="en-US" altLang="zh-CN" sz="2400" b="1" dirty="0"/>
              <a:t>B</a:t>
            </a:r>
            <a:r>
              <a:rPr lang="zh-CN" altLang="zh-CN" sz="2400" b="1" dirty="0"/>
              <a:t>和</a:t>
            </a:r>
            <a:r>
              <a:rPr lang="en-US" altLang="zh-CN" sz="2400" b="1" dirty="0"/>
              <a:t>C</a:t>
            </a:r>
            <a:r>
              <a:rPr lang="zh-CN" altLang="zh-CN" sz="2400" b="1" dirty="0"/>
              <a:t>不能都去。</a:t>
            </a:r>
          </a:p>
          <a:p>
            <a:pPr eaLnBrk="1" hangingPunct="1">
              <a:buFontTx/>
              <a:buNone/>
            </a:pPr>
            <a:r>
              <a:rPr lang="zh-CN" altLang="zh-CN" sz="2400" b="1" dirty="0"/>
              <a:t>③</a:t>
            </a:r>
            <a:r>
              <a:rPr lang="en-US" altLang="zh-CN" sz="2400" b="1" dirty="0"/>
              <a:t>C</a:t>
            </a:r>
            <a:r>
              <a:rPr lang="zh-CN" altLang="zh-CN" sz="2400" b="1" dirty="0"/>
              <a:t>去则</a:t>
            </a:r>
            <a:r>
              <a:rPr lang="en-US" altLang="zh-CN" sz="2400" b="1" dirty="0"/>
              <a:t>D</a:t>
            </a:r>
            <a:r>
              <a:rPr lang="zh-CN" altLang="zh-CN" sz="2400" b="1" dirty="0"/>
              <a:t>要留下。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zh-CN" sz="2400" b="1" dirty="0"/>
              <a:t>解.设</a:t>
            </a:r>
            <a:r>
              <a:rPr lang="en-US" altLang="zh-CN" sz="2400" b="1" dirty="0"/>
              <a:t>A,B,C,D</a:t>
            </a:r>
            <a:r>
              <a:rPr lang="zh-CN" altLang="zh-CN" sz="2400" b="1" dirty="0"/>
              <a:t>分别表示</a:t>
            </a:r>
            <a:r>
              <a:rPr lang="en-US" altLang="zh-CN" sz="2400" b="1" dirty="0"/>
              <a:t>A</a:t>
            </a:r>
            <a:r>
              <a:rPr lang="zh-CN" altLang="zh-CN" sz="2400" b="1" dirty="0"/>
              <a:t>去，</a:t>
            </a:r>
            <a:r>
              <a:rPr lang="en-US" altLang="zh-CN" sz="2400" b="1" dirty="0"/>
              <a:t>B</a:t>
            </a:r>
            <a:r>
              <a:rPr lang="zh-CN" altLang="zh-CN" sz="2400" b="1" dirty="0"/>
              <a:t>去，</a:t>
            </a:r>
            <a:r>
              <a:rPr lang="en-US" altLang="zh-CN" sz="2400" b="1" dirty="0"/>
              <a:t>C</a:t>
            </a:r>
            <a:r>
              <a:rPr lang="zh-CN" altLang="zh-CN" sz="2400" b="1" dirty="0"/>
              <a:t>去，</a:t>
            </a:r>
            <a:r>
              <a:rPr lang="en-US" altLang="zh-CN" sz="2400" b="1" dirty="0"/>
              <a:t>D</a:t>
            </a:r>
            <a:r>
              <a:rPr lang="zh-CN" altLang="zh-CN" sz="2400" b="1" dirty="0"/>
              <a:t>去。</a:t>
            </a:r>
          </a:p>
          <a:p>
            <a:pPr eaLnBrk="1" hangingPunct="1">
              <a:buFontTx/>
              <a:buNone/>
            </a:pPr>
            <a:r>
              <a:rPr lang="zh-CN" altLang="zh-CN" sz="2400" b="1" dirty="0"/>
              <a:t>    ①</a:t>
            </a:r>
            <a:r>
              <a:rPr lang="en-US" altLang="zh-CN" sz="2400" b="1" dirty="0"/>
              <a:t>A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/>
              <a:t>((C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/>
              <a:t>D)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/>
              <a:t>C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/>
              <a:t>D))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</a:t>
            </a:r>
            <a:r>
              <a:rPr lang="en-US" altLang="zh-CN" sz="2400" b="1" dirty="0">
                <a:sym typeface="Symbol" pitchFamily="18" charset="2"/>
              </a:rPr>
              <a:t>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/>
              <a:t>A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b="1" dirty="0"/>
              <a:t> (C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/>
              <a:t>D)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/>
              <a:t>C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/>
              <a:t>D) 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 ② 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(B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C)</a:t>
            </a:r>
            <a:r>
              <a:rPr lang="en-US" altLang="zh-CN" sz="2400" b="1" dirty="0">
                <a:sym typeface="Symbol" pitchFamily="18" charset="2"/>
              </a:rPr>
              <a:t> 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B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C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    ③ C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</a:t>
            </a:r>
            <a:r>
              <a:rPr lang="en-US" altLang="zh-CN" sz="2400" b="1" dirty="0"/>
              <a:t>D</a:t>
            </a:r>
            <a:r>
              <a:rPr lang="en-US" altLang="zh-CN" sz="2400" b="1" dirty="0">
                <a:sym typeface="Symbol" pitchFamily="18" charset="2"/>
              </a:rPr>
              <a:t> 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C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D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宋体" pitchFamily="2" charset="-122"/>
                <a:sym typeface="Symbol" pitchFamily="18" charset="2"/>
              </a:rPr>
              <a:t>总的条件为：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(</a:t>
            </a:r>
            <a:r>
              <a:rPr lang="en-US" altLang="zh-CN" sz="2400" b="1" dirty="0"/>
              <a:t>A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b="1" dirty="0"/>
              <a:t> (C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/>
              <a:t>D)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 dirty="0"/>
              <a:t>C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/>
              <a:t>D) )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(B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C) 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(C</a:t>
            </a:r>
            <a:r>
              <a:rPr lang="en-US" altLang="zh-CN" sz="2400" b="1" dirty="0">
                <a:latin typeface="宋体" pitchFamily="2" charset="-122"/>
              </a:rPr>
              <a:t>∨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D)  </a:t>
            </a:r>
            <a:r>
              <a:rPr lang="zh-CN" altLang="en-US" sz="2400" b="1" dirty="0">
                <a:latin typeface="宋体" pitchFamily="2" charset="-122"/>
                <a:sym typeface="Symbol" pitchFamily="18" charset="2"/>
              </a:rPr>
              <a:t>令此式为真。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5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5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85798-46F4-495B-B7B2-8DFDCB48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/>
              <a:t>将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(</a:t>
            </a:r>
            <a:r>
              <a:rPr lang="en-US" altLang="zh-CN" sz="2400" b="1"/>
              <a:t>A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400" b="1"/>
              <a:t> (C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D)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400" b="1"/>
              <a:t>(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/>
              <a:t>D) )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(B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C) 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(C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D) 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化成析取范式。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itchFamily="2" charset="-122"/>
                <a:sym typeface="Symbol" pitchFamily="18" charset="2"/>
              </a:rPr>
              <a:t>上式</a:t>
            </a:r>
            <a:r>
              <a:rPr lang="zh-CN" altLang="en-US" sz="2800" b="1">
                <a:sym typeface="Symbol" pitchFamily="18" charset="2"/>
              </a:rPr>
              <a:t></a:t>
            </a:r>
            <a:r>
              <a:rPr lang="en-US" altLang="zh-CN" sz="2800" b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(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A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400" b="1"/>
              <a:t> (C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D)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400" b="1"/>
              <a:t>(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/>
              <a:t>D) </a:t>
            </a:r>
            <a:r>
              <a:rPr lang="en-US" altLang="zh-CN" sz="2400" b="1">
                <a:solidFill>
                  <a:srgbClr val="FF0000"/>
                </a:solidFill>
              </a:rPr>
              <a:t>)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(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C</a:t>
            </a:r>
            <a:r>
              <a:rPr lang="en-US" altLang="zh-CN" sz="2800" b="1">
                <a:latin typeface="宋体" pitchFamily="2" charset="-122"/>
              </a:rPr>
              <a:t>∨(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B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D)</a:t>
            </a:r>
            <a:r>
              <a:rPr lang="en-US" altLang="zh-CN" sz="2800" b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)</a:t>
            </a:r>
            <a:endParaRPr lang="en-US" altLang="zh-CN" sz="2800" b="1">
              <a:latin typeface="宋体" pitchFamily="2" charset="-122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itchFamily="18" charset="2"/>
              </a:rPr>
              <a:t>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(</a:t>
            </a:r>
            <a:r>
              <a:rPr lang="en-US" altLang="zh-CN" sz="2400" b="1"/>
              <a:t>A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C)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400" b="1"/>
              <a:t> (C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D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C)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400" b="1"/>
              <a:t>(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/>
              <a:t>D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C)</a:t>
            </a:r>
            <a:r>
              <a:rPr lang="en-US" altLang="zh-CN" sz="2800" b="1">
                <a:latin typeface="宋体" pitchFamily="2" charset="-122"/>
              </a:rPr>
              <a:t>∨</a:t>
            </a:r>
            <a:endParaRPr lang="en-US" altLang="zh-CN" sz="2800" b="1">
              <a:latin typeface="宋体" pitchFamily="2" charset="-122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    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(</a:t>
            </a:r>
            <a:r>
              <a:rPr lang="en-US" altLang="zh-CN" sz="2400" b="1"/>
              <a:t>A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B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D)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400" b="1"/>
              <a:t> (C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D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B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D)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latin typeface="宋体" pitchFamily="2" charset="-122"/>
                <a:sym typeface="Symbol" pitchFamily="18" charset="2"/>
              </a:rPr>
              <a:t>    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400" b="1"/>
              <a:t>(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/>
              <a:t>D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B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D)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itchFamily="18" charset="2"/>
              </a:rPr>
              <a:t>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(</a:t>
            </a:r>
            <a:r>
              <a:rPr lang="en-US" altLang="zh-CN" sz="2400" b="1"/>
              <a:t>A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C)</a:t>
            </a:r>
            <a:r>
              <a:rPr lang="en-US" altLang="zh-CN" sz="2800" b="1">
                <a:latin typeface="宋体" pitchFamily="2" charset="-122"/>
              </a:rPr>
              <a:t>∨F∨</a:t>
            </a:r>
            <a:r>
              <a:rPr lang="en-US" altLang="zh-CN" sz="2400" b="1"/>
              <a:t>(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/>
              <a:t>D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)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(</a:t>
            </a:r>
            <a:r>
              <a:rPr lang="en-US" altLang="zh-CN" sz="2400" b="1"/>
              <a:t>A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B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D)</a:t>
            </a:r>
            <a:r>
              <a:rPr lang="en-US" altLang="zh-CN" sz="2800" b="1">
                <a:latin typeface="宋体" pitchFamily="2" charset="-122"/>
              </a:rPr>
              <a:t>∨</a:t>
            </a:r>
            <a:r>
              <a:rPr lang="en-US" altLang="zh-CN" sz="2400" b="1"/>
              <a:t> (C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D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B)</a:t>
            </a:r>
            <a:r>
              <a:rPr lang="en-US" altLang="zh-CN" sz="2800" b="1">
                <a:latin typeface="宋体" pitchFamily="2" charset="-122"/>
              </a:rPr>
              <a:t>∨F</a:t>
            </a:r>
            <a:endParaRPr lang="en-US" altLang="zh-CN" sz="24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sz="2400" b="1"/>
              <a:t>可以取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A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C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为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T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，得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B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和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D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去。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itchFamily="2" charset="-122"/>
                <a:sym typeface="Symbol" pitchFamily="18" charset="2"/>
              </a:rPr>
              <a:t>取</a:t>
            </a:r>
            <a:r>
              <a:rPr lang="en-US" altLang="zh-CN" sz="2400" b="1"/>
              <a:t>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/>
              <a:t>D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为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T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，得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A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和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D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去，或者 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B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和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D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去。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itchFamily="2" charset="-122"/>
                <a:sym typeface="Symbol" pitchFamily="18" charset="2"/>
              </a:rPr>
              <a:t>取</a:t>
            </a:r>
            <a:r>
              <a:rPr lang="en-US" altLang="zh-CN" sz="2400" b="1"/>
              <a:t>C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</a:t>
            </a:r>
            <a:r>
              <a:rPr lang="en-US" altLang="zh-CN" sz="2400" b="1"/>
              <a:t>D</a:t>
            </a:r>
            <a:r>
              <a:rPr lang="en-US" altLang="zh-CN" sz="28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B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为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T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，得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A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和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C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去 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itchFamily="2" charset="-122"/>
                <a:sym typeface="Symbol" pitchFamily="18" charset="2"/>
              </a:rPr>
              <a:t>最后得三种派法： 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A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和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C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去、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A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和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D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去、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B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和</a:t>
            </a:r>
            <a:r>
              <a:rPr lang="en-US" altLang="zh-CN" sz="2800" b="1">
                <a:latin typeface="宋体" pitchFamily="2" charset="-122"/>
                <a:sym typeface="Symbol" pitchFamily="18" charset="2"/>
              </a:rPr>
              <a:t>D</a:t>
            </a:r>
            <a:r>
              <a:rPr lang="zh-CN" altLang="en-US" sz="2800" b="1">
                <a:latin typeface="宋体" pitchFamily="2" charset="-122"/>
                <a:sym typeface="Symbol" pitchFamily="18" charset="2"/>
              </a:rPr>
              <a:t>去</a:t>
            </a:r>
            <a:r>
              <a:rPr lang="zh-CN" altLang="en-US" sz="2800">
                <a:latin typeface="宋体" pitchFamily="2" charset="-122"/>
                <a:sym typeface="Symbol" pitchFamily="18" charset="2"/>
              </a:rPr>
              <a:t>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6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6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6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32740-0D6C-4116-94AB-0BC56A71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</a:rPr>
              <a:t>补充题</a:t>
            </a:r>
            <a:r>
              <a:rPr lang="zh-CN" altLang="en-US" sz="2400" b="1" dirty="0"/>
              <a:t>：有工具箱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D</a:t>
            </a:r>
            <a:r>
              <a:rPr lang="zh-CN" altLang="en-US" sz="2400" b="1" dirty="0"/>
              <a:t>，各个箱内装的工具如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下表所示。试问如何携带数量最少工具箱，而所包含的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工具种类齐全。</a:t>
            </a:r>
          </a:p>
          <a:p>
            <a:pPr eaLnBrk="1" hangingPunct="1">
              <a:buFontTx/>
              <a:buNone/>
            </a:pPr>
            <a:endParaRPr lang="zh-CN" altLang="en-US" sz="2400" b="1" dirty="0"/>
          </a:p>
          <a:p>
            <a:pPr eaLnBrk="1" hangingPunct="1">
              <a:buFontTx/>
              <a:buNone/>
            </a:pPr>
            <a:endParaRPr lang="zh-CN" altLang="en-US" sz="2400" b="1" dirty="0"/>
          </a:p>
          <a:p>
            <a:pPr eaLnBrk="1" hangingPunct="1">
              <a:buFontTx/>
              <a:buNone/>
            </a:pPr>
            <a:endParaRPr lang="zh-CN" altLang="en-US" sz="2400" b="1" dirty="0"/>
          </a:p>
          <a:p>
            <a:pPr eaLnBrk="1" hangingPunct="1">
              <a:buFontTx/>
              <a:buNone/>
            </a:pPr>
            <a:endParaRPr lang="zh-CN" altLang="en-US" sz="2400" b="1" dirty="0"/>
          </a:p>
          <a:p>
            <a:pPr eaLnBrk="1" hangingPunct="1">
              <a:buFontTx/>
              <a:buNone/>
            </a:pPr>
            <a:endParaRPr lang="zh-CN" altLang="en-US" sz="2400" b="1" dirty="0"/>
          </a:p>
          <a:p>
            <a:pPr eaLnBrk="1" hangingPunct="1">
              <a:buFontTx/>
              <a:buNone/>
            </a:pP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解：设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D</a:t>
            </a:r>
            <a:r>
              <a:rPr lang="zh-CN" altLang="en-US" sz="2400" b="1" dirty="0"/>
              <a:t>分别表示带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D</a:t>
            </a:r>
            <a:r>
              <a:rPr lang="zh-CN" altLang="en-US" sz="2400" b="1" dirty="0"/>
              <a:t>箱。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则总的条件为：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r>
              <a:rPr lang="en-US" altLang="zh-CN" sz="2400" b="1" dirty="0">
                <a:solidFill>
                  <a:schemeClr val="tx2"/>
                </a:solidFill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solidFill>
                  <a:schemeClr val="tx2"/>
                </a:solidFill>
              </a:rPr>
              <a:t>C</a:t>
            </a:r>
            <a:r>
              <a:rPr lang="en-US" altLang="zh-CN" sz="2400" b="1" dirty="0"/>
              <a:t>)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(A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B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D)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(B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C)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(B</a:t>
            </a:r>
            <a:r>
              <a:rPr lang="en-US" altLang="zh-CN" sz="24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D) </a:t>
            </a:r>
            <a:r>
              <a:rPr lang="zh-CN" altLang="en-US" sz="2400" b="1" dirty="0"/>
              <a:t>为真。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</a:t>
            </a:r>
            <a:r>
              <a:rPr lang="zh-CN" altLang="en-US" sz="2400" b="1" dirty="0">
                <a:solidFill>
                  <a:srgbClr val="FF0000"/>
                </a:solidFill>
              </a:rPr>
              <a:t>改锥</a:t>
            </a:r>
            <a:r>
              <a:rPr lang="zh-CN" altLang="en-US" sz="2400" b="1" dirty="0"/>
              <a:t>            </a:t>
            </a:r>
            <a:r>
              <a:rPr lang="zh-CN" altLang="en-US" sz="2400" b="1" dirty="0">
                <a:solidFill>
                  <a:srgbClr val="FF0000"/>
                </a:solidFill>
              </a:rPr>
              <a:t>扳手          钳子       锤子</a:t>
            </a:r>
            <a:r>
              <a:rPr lang="zh-CN" altLang="en-US" sz="2400" b="1" dirty="0"/>
              <a:t> </a:t>
            </a:r>
            <a:endParaRPr lang="zh-CN" altLang="en-US" dirty="0"/>
          </a:p>
        </p:txBody>
      </p:sp>
      <p:graphicFrame>
        <p:nvGraphicFramePr>
          <p:cNvPr id="207950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221640"/>
              </p:ext>
            </p:extLst>
          </p:nvPr>
        </p:nvGraphicFramePr>
        <p:xfrm>
          <a:off x="1295635" y="2078676"/>
          <a:ext cx="6552730" cy="2700648"/>
        </p:xfrm>
        <a:graphic>
          <a:graphicData uri="http://schemas.openxmlformats.org/drawingml/2006/table">
            <a:tbl>
              <a:tblPr/>
              <a:tblGrid>
                <a:gridCol w="1310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5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5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工具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箱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改 锥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扳 手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钳 子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锤 子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有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有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有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有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有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有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有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有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有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07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07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07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07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C78A2-B145-410E-B832-AA67EDEC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8900" name="Rectangle 4"/>
          <p:cNvSpPr>
            <a:spLocks noGrp="1" noChangeArrowheads="1"/>
          </p:cNvSpPr>
          <p:nvPr>
            <p:ph idx="1"/>
          </p:nvPr>
        </p:nvSpPr>
        <p:spPr>
          <a:noFill/>
          <a:ln>
            <a:solidFill>
              <a:srgbClr val="00008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 dirty="0"/>
              <a:t>将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>
                <a:solidFill>
                  <a:schemeClr val="tx2"/>
                </a:solidFill>
              </a:rPr>
              <a:t>C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(A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D)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(B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C)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(B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D)</a:t>
            </a:r>
            <a:r>
              <a:rPr lang="zh-CN" altLang="en-US" sz="2800" b="1" dirty="0"/>
              <a:t>写成析取范式，上式</a:t>
            </a:r>
            <a:r>
              <a:rPr lang="zh-CN" altLang="en-US" sz="2800" b="1" dirty="0">
                <a:sym typeface="Symbol" pitchFamily="18" charset="2"/>
              </a:rPr>
              <a:t>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>
                <a:solidFill>
                  <a:schemeClr val="tx2"/>
                </a:solidFill>
              </a:rPr>
              <a:t>C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(B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C))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</a:rPr>
              <a:t>(A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800" b="1" dirty="0">
                <a:solidFill>
                  <a:srgbClr val="FF0000"/>
                </a:solidFill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>
                <a:solidFill>
                  <a:srgbClr val="FF0000"/>
                </a:solidFill>
              </a:rPr>
              <a:t>D))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olidFill>
                  <a:srgbClr val="FF0000"/>
                </a:solidFill>
              </a:rPr>
              <a:t>(B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>
                <a:solidFill>
                  <a:srgbClr val="FF0000"/>
                </a:solidFill>
              </a:rPr>
              <a:t>D)</a:t>
            </a:r>
            <a:r>
              <a:rPr lang="en-US" altLang="zh-CN" sz="2800" b="1" dirty="0">
                <a:solidFill>
                  <a:srgbClr val="FF0000"/>
                </a:solidFill>
                <a:ea typeface="MS Gothic" pitchFamily="49" charset="-128"/>
                <a:sym typeface="Kingsoft Phonetic Plain" pitchFamily="2" charset="2"/>
              </a:rPr>
              <a:t>)     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(</a:t>
            </a:r>
            <a:r>
              <a:rPr lang="zh-CN" altLang="en-US" sz="2800" b="1" dirty="0">
                <a:ea typeface="MS Gothic" pitchFamily="49" charset="-128"/>
                <a:sym typeface="Kingsoft Phonetic Plain" pitchFamily="2" charset="2"/>
              </a:rPr>
              <a:t>交换 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   (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solidFill>
                  <a:schemeClr val="tx2"/>
                </a:solidFill>
              </a:rPr>
              <a:t>)</a:t>
            </a:r>
            <a:r>
              <a:rPr lang="en-US" altLang="zh-CN" sz="2800" b="1" dirty="0">
                <a:solidFill>
                  <a:schemeClr val="tx2"/>
                </a:solidFill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C))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∧(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</a:t>
            </a:r>
            <a:r>
              <a:rPr lang="en-US" altLang="zh-CN" sz="2800" b="1" dirty="0"/>
              <a:t>D)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   (</a:t>
            </a:r>
            <a:r>
              <a:rPr lang="zh-CN" altLang="zh-CN" sz="2800" b="1" dirty="0"/>
              <a:t>分配(提取</a:t>
            </a:r>
            <a:r>
              <a:rPr lang="en-US" altLang="zh-CN" sz="2800" b="1" dirty="0"/>
              <a:t>C)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吸收</a:t>
            </a:r>
            <a:r>
              <a:rPr lang="en-US" altLang="zh-CN" sz="2800" b="1" dirty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   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 </a:t>
            </a:r>
            <a:r>
              <a:rPr lang="en-US" altLang="zh-CN" sz="2800" b="1" dirty="0">
                <a:solidFill>
                  <a:schemeClr val="tx2"/>
                </a:solidFill>
              </a:rPr>
              <a:t>)</a:t>
            </a:r>
            <a:r>
              <a:rPr lang="en-US" altLang="zh-CN" sz="2800" b="1" dirty="0">
                <a:solidFill>
                  <a:schemeClr val="tx2"/>
                </a:solidFill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800" b="1" dirty="0"/>
              <a:t>C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 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D)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800" b="1" dirty="0"/>
              <a:t>C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D)   (</a:t>
            </a:r>
            <a:r>
              <a:rPr lang="zh-CN" altLang="zh-CN" sz="2800" b="1" dirty="0"/>
              <a:t>分配</a:t>
            </a:r>
            <a:r>
              <a:rPr lang="en-US" altLang="zh-CN" sz="2800" b="1" dirty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itchFamily="18" charset="2"/>
              </a:rPr>
              <a:t>   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solidFill>
                  <a:schemeClr val="tx2"/>
                </a:solidFill>
              </a:rPr>
              <a:t>)</a:t>
            </a:r>
            <a:r>
              <a:rPr lang="en-US" altLang="zh-CN" sz="2800" b="1" dirty="0">
                <a:solidFill>
                  <a:schemeClr val="tx2"/>
                </a:solidFill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800" b="1" dirty="0"/>
              <a:t>C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 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D)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∨(</a:t>
            </a:r>
            <a:r>
              <a:rPr lang="en-US" altLang="zh-CN" sz="2800" b="1" dirty="0"/>
              <a:t>C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D)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 dirty="0"/>
              <a:t>分别可以取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</a:t>
            </a:r>
            <a:r>
              <a:rPr lang="en-US" altLang="zh-CN" sz="2800" b="1" dirty="0">
                <a:solidFill>
                  <a:schemeClr val="tx2"/>
                </a:solidFill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ea typeface="MS Gothic" pitchFamily="49" charset="-128"/>
                <a:sym typeface="Kingsoft Phonetic Plain" pitchFamily="2" charset="2"/>
              </a:rPr>
              <a:t>(</a:t>
            </a:r>
            <a:r>
              <a:rPr lang="en-US" altLang="zh-CN" sz="2800" b="1" dirty="0"/>
              <a:t>C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B )</a:t>
            </a:r>
            <a:r>
              <a:rPr lang="zh-CN" altLang="en-US" sz="2800" b="1" dirty="0"/>
              <a:t>、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(</a:t>
            </a:r>
            <a:r>
              <a:rPr lang="en-US" altLang="zh-CN" sz="2800" b="1" dirty="0"/>
              <a:t>C</a:t>
            </a:r>
            <a:r>
              <a:rPr lang="en-US" altLang="zh-CN" sz="2800" b="1" dirty="0">
                <a:ea typeface="MS Gothic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/>
              <a:t>D)</a:t>
            </a:r>
            <a:r>
              <a:rPr lang="zh-CN" altLang="en-US" sz="2800" b="1" dirty="0"/>
              <a:t>为真。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 dirty="0"/>
              <a:t>于是可以得到三种携带方法：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 dirty="0"/>
              <a:t>带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箱，  带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箱，带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箱。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8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8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89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77CCA-DEAE-4127-9D65-652D7EBB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六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. 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逻辑推理 </a:t>
            </a:r>
            <a:r>
              <a:rPr lang="zh-CN" altLang="en-US" sz="2400" b="1" dirty="0">
                <a:latin typeface="宋体" pitchFamily="2" charset="-122"/>
              </a:rPr>
              <a:t>熟练掌握三种推理方法。</a:t>
            </a:r>
            <a:endParaRPr lang="en-US" altLang="zh-CN" sz="2400" b="1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（这几道题在课上已练习完毕）</a:t>
            </a:r>
            <a:endParaRPr lang="zh-CN" altLang="en-US" sz="2400" dirty="0">
              <a:latin typeface="宋体" pitchFamily="2" charset="-122"/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47</a:t>
            </a:r>
            <a:r>
              <a:rPr lang="en-US" altLang="zh-CN" sz="2400" b="1" dirty="0">
                <a:solidFill>
                  <a:srgbClr val="FF0000"/>
                </a:solidFill>
              </a:rPr>
              <a:t>(2)c)</a:t>
            </a:r>
            <a:r>
              <a:rPr lang="en-US" altLang="zh-CN" sz="2400" b="1" dirty="0"/>
              <a:t> (A</a:t>
            </a:r>
            <a:r>
              <a:rPr lang="en-US" altLang="zh-CN" sz="2400" b="1" dirty="0">
                <a:latin typeface="宋体" pitchFamily="2" charset="-122"/>
              </a:rPr>
              <a:t>∨B)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/>
              <a:t>(C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/>
              <a:t>D), (D</a:t>
            </a:r>
            <a:r>
              <a:rPr lang="en-US" altLang="zh-CN" sz="2400" b="1" dirty="0">
                <a:latin typeface="宋体" pitchFamily="2" charset="-122"/>
              </a:rPr>
              <a:t>∨E)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/>
              <a:t>F </a:t>
            </a:r>
            <a:r>
              <a:rPr lang="en-US" altLang="zh-CN" b="1" dirty="0">
                <a:sym typeface="Symbol" pitchFamily="18" charset="2"/>
              </a:rPr>
              <a:t></a:t>
            </a:r>
            <a:r>
              <a:rPr lang="en-US" altLang="zh-CN" sz="2400" b="1" dirty="0"/>
              <a:t> A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F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</a:rPr>
              <a:t>直接推理</a:t>
            </a:r>
            <a:endParaRPr lang="zh-CN" altLang="zh-CN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</a:t>
            </a:r>
            <a:r>
              <a:rPr lang="zh-CN" altLang="en-US" sz="2000" b="1" dirty="0">
                <a:latin typeface="Times New Roman" pitchFamily="18" charset="0"/>
              </a:rPr>
              <a:t>⑴ </a:t>
            </a:r>
            <a:r>
              <a:rPr lang="en-US" altLang="zh-CN" sz="2000" b="1" dirty="0">
                <a:latin typeface="Times New Roman" pitchFamily="18" charset="0"/>
              </a:rPr>
              <a:t>(A∨B)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</a:rPr>
              <a:t>(C</a:t>
            </a:r>
            <a:r>
              <a:rPr lang="en-US" altLang="zh-CN" sz="2000" b="1" dirty="0">
                <a:latin typeface="Times New Roman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itchFamily="18" charset="0"/>
              </a:rPr>
              <a:t>D)             P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⑵ 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(A∨B)∨(C</a:t>
            </a:r>
            <a:r>
              <a:rPr lang="en-US" altLang="zh-CN" sz="2000" b="1" dirty="0">
                <a:latin typeface="Times New Roman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itchFamily="18" charset="0"/>
              </a:rPr>
              <a:t>D)         T   ⑴   E</a:t>
            </a:r>
            <a:r>
              <a:rPr lang="en-US" altLang="zh-CN" sz="2000" b="1" baseline="-25000" dirty="0">
                <a:latin typeface="Times New Roman" pitchFamily="18" charset="0"/>
              </a:rPr>
              <a:t>16</a:t>
            </a:r>
            <a:endParaRPr lang="en-US" altLang="zh-CN" sz="2000" b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⑶ (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A</a:t>
            </a:r>
            <a:r>
              <a:rPr lang="en-US" altLang="zh-CN" sz="2000" b="1" dirty="0">
                <a:latin typeface="Times New Roman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B)∨(C</a:t>
            </a:r>
            <a:r>
              <a:rPr lang="en-US" altLang="zh-CN" sz="2000" b="1" dirty="0">
                <a:latin typeface="Times New Roman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itchFamily="18" charset="0"/>
              </a:rPr>
              <a:t>D)      T   ⑵   E</a:t>
            </a:r>
            <a:r>
              <a:rPr lang="en-US" altLang="zh-CN" sz="2000" b="1" baseline="-25000" dirty="0">
                <a:latin typeface="Times New Roman" pitchFamily="18" charset="0"/>
              </a:rPr>
              <a:t>9</a:t>
            </a:r>
            <a:endParaRPr lang="en-US" altLang="zh-CN" sz="2000" b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⑷ (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A∨C)</a:t>
            </a:r>
            <a:r>
              <a:rPr lang="en-US" altLang="zh-CN" sz="2000" b="1" dirty="0">
                <a:latin typeface="Times New Roman" pitchFamily="18" charset="0"/>
                <a:sym typeface="Kingsoft Phonetic Plain" pitchFamily="2" charset="2"/>
              </a:rPr>
              <a:t>∧(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B∨C)</a:t>
            </a:r>
            <a:r>
              <a:rPr lang="en-US" altLang="zh-CN" sz="2000" b="1" dirty="0">
                <a:latin typeface="Times New Roman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itchFamily="18" charset="0"/>
              </a:rPr>
              <a:t>(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A∨D)</a:t>
            </a:r>
            <a:r>
              <a:rPr lang="en-US" altLang="zh-CN" sz="2000" b="1" dirty="0">
                <a:latin typeface="Times New Roman" pitchFamily="18" charset="0"/>
                <a:sym typeface="Kingsoft Phonetic Plain" pitchFamily="2" charset="2"/>
              </a:rPr>
              <a:t>∧(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B∨D)  T ⑶ E</a:t>
            </a:r>
            <a:r>
              <a:rPr lang="en-US" altLang="zh-CN" sz="2000" b="1" baseline="-25000" dirty="0">
                <a:latin typeface="Times New Roman" pitchFamily="18" charset="0"/>
              </a:rPr>
              <a:t>7</a:t>
            </a:r>
            <a:endParaRPr lang="en-US" altLang="zh-CN" sz="2000" b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⑸ 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A∨D                            T  ⑷    I</a:t>
            </a:r>
            <a:r>
              <a:rPr lang="en-US" altLang="zh-CN" sz="2000" b="1" baseline="-25000" dirty="0">
                <a:latin typeface="Times New Roman" pitchFamily="18" charset="0"/>
              </a:rPr>
              <a:t>2</a:t>
            </a:r>
            <a:endParaRPr lang="en-US" altLang="zh-CN" sz="2000" b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⑹  A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D                                T  ⑸    E</a:t>
            </a:r>
            <a:r>
              <a:rPr lang="en-US" altLang="zh-CN" sz="2000" b="1" baseline="-25000" dirty="0">
                <a:latin typeface="Times New Roman" pitchFamily="18" charset="0"/>
              </a:rPr>
              <a:t>16</a:t>
            </a:r>
            <a:endParaRPr lang="en-US" altLang="zh-CN" sz="2000" b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⑺ (D∨E)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</a:rPr>
              <a:t>F                        P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⑻ 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(D∨E)∨F                   T  ⑺    E</a:t>
            </a:r>
            <a:r>
              <a:rPr lang="en-US" altLang="zh-CN" sz="2000" b="1" baseline="-25000" dirty="0">
                <a:latin typeface="Times New Roman" pitchFamily="18" charset="0"/>
              </a:rPr>
              <a:t>16</a:t>
            </a:r>
            <a:endParaRPr lang="en-US" altLang="zh-CN" sz="2000" b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⑼ (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D</a:t>
            </a:r>
            <a:r>
              <a:rPr lang="en-US" altLang="zh-CN" sz="2000" b="1" dirty="0">
                <a:latin typeface="Times New Roman" pitchFamily="18" charset="0"/>
                <a:sym typeface="Kingsoft Phonetic Plain" pitchFamily="2" charset="2"/>
              </a:rPr>
              <a:t>∧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E)∨F                T  ⑻    E</a:t>
            </a:r>
            <a:r>
              <a:rPr lang="en-US" altLang="zh-CN" sz="2000" b="1" baseline="-25000" dirty="0">
                <a:latin typeface="Times New Roman" pitchFamily="18" charset="0"/>
              </a:rPr>
              <a:t>9</a:t>
            </a:r>
            <a:endParaRPr lang="en-US" altLang="zh-CN" sz="2000" b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⑽ (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D ∨F) </a:t>
            </a:r>
            <a:r>
              <a:rPr lang="en-US" altLang="zh-CN" sz="2000" b="1" dirty="0">
                <a:latin typeface="Times New Roman" pitchFamily="18" charset="0"/>
                <a:sym typeface="Kingsoft Phonetic Plain" pitchFamily="2" charset="2"/>
              </a:rPr>
              <a:t>∧(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E∨F)     T  ⑼    E</a:t>
            </a:r>
            <a:r>
              <a:rPr lang="en-US" altLang="zh-CN" sz="2000" b="1" baseline="-25000" dirty="0">
                <a:latin typeface="Times New Roman" pitchFamily="18" charset="0"/>
              </a:rPr>
              <a:t>7</a:t>
            </a:r>
            <a:endParaRPr lang="en-US" altLang="zh-CN" sz="2000" b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⑾ 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000" b="1" dirty="0">
                <a:latin typeface="Times New Roman" pitchFamily="18" charset="0"/>
              </a:rPr>
              <a:t>D∨F                             T  ⑽     I</a:t>
            </a:r>
            <a:r>
              <a:rPr lang="en-US" altLang="zh-CN" sz="2000" b="1" baseline="-25000" dirty="0">
                <a:latin typeface="Times New Roman" pitchFamily="18" charset="0"/>
              </a:rPr>
              <a:t>1</a:t>
            </a:r>
            <a:r>
              <a:rPr lang="en-US" altLang="zh-CN" sz="2000" b="1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Times New Roman" pitchFamily="18" charset="0"/>
              </a:rPr>
              <a:t>   </a:t>
            </a:r>
            <a:r>
              <a:rPr lang="en-US" altLang="zh-CN" sz="2000" b="1" dirty="0">
                <a:latin typeface="Times New Roman" pitchFamily="18" charset="0"/>
              </a:rPr>
              <a:t>⑿ D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</a:rPr>
              <a:t>F                                  T  ⑾     E</a:t>
            </a:r>
            <a:r>
              <a:rPr lang="en-US" altLang="zh-CN" sz="2000" b="1" baseline="-25000" dirty="0">
                <a:latin typeface="Times New Roman" pitchFamily="18" charset="0"/>
              </a:rPr>
              <a:t>16</a:t>
            </a:r>
            <a:r>
              <a:rPr lang="en-US" altLang="zh-CN" sz="2000" b="1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>
                <a:latin typeface="Times New Roman" pitchFamily="18" charset="0"/>
              </a:rPr>
              <a:t>   ⒀ A</a:t>
            </a:r>
            <a:r>
              <a:rPr lang="en-US" altLang="zh-CN" sz="2000" b="1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dirty="0">
                <a:latin typeface="Times New Roman" pitchFamily="18" charset="0"/>
              </a:rPr>
              <a:t>F                                  T  ⑹⑿ I</a:t>
            </a:r>
            <a:r>
              <a:rPr lang="en-US" altLang="zh-CN" sz="2000" b="1" baseline="-25000" dirty="0">
                <a:latin typeface="Times New Roman" pitchFamily="18" charset="0"/>
              </a:rPr>
              <a:t>13</a:t>
            </a: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7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7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7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87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87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187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1873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1873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1873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FE977-5EA2-4B0C-8A48-9FB44A27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/>
              <a:t>P</a:t>
            </a:r>
            <a:r>
              <a:rPr lang="en-US" altLang="zh-CN" sz="2400" b="1" baseline="-25000"/>
              <a:t>47</a:t>
            </a:r>
            <a:r>
              <a:rPr lang="en-US" altLang="zh-CN" sz="2400" b="1"/>
              <a:t>(2)c) (A</a:t>
            </a:r>
            <a:r>
              <a:rPr lang="en-US" altLang="zh-CN" sz="2400" b="1">
                <a:latin typeface="宋体" pitchFamily="2" charset="-122"/>
              </a:rPr>
              <a:t>∨B)</a:t>
            </a:r>
            <a:r>
              <a:rPr lang="en-US" altLang="zh-CN" sz="2400" b="1">
                <a:latin typeface="宋体" pitchFamily="2" charset="-122"/>
                <a:sym typeface="Symbol" pitchFamily="18" charset="2"/>
              </a:rPr>
              <a:t></a:t>
            </a:r>
            <a:r>
              <a:rPr lang="en-US" altLang="zh-CN" sz="2400" b="1"/>
              <a:t>(C</a:t>
            </a:r>
            <a:r>
              <a:rPr lang="en-US" altLang="zh-CN" sz="2400" b="1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/>
              <a:t>D), (D</a:t>
            </a:r>
            <a:r>
              <a:rPr lang="en-US" altLang="zh-CN" sz="2400" b="1">
                <a:latin typeface="宋体" pitchFamily="2" charset="-122"/>
              </a:rPr>
              <a:t>∨E)</a:t>
            </a:r>
            <a:r>
              <a:rPr lang="en-US" altLang="zh-CN" sz="2400" b="1">
                <a:latin typeface="宋体" pitchFamily="2" charset="-122"/>
                <a:sym typeface="Symbol" pitchFamily="18" charset="2"/>
              </a:rPr>
              <a:t></a:t>
            </a:r>
            <a:r>
              <a:rPr lang="en-US" altLang="zh-CN" sz="2400" b="1"/>
              <a:t>F </a:t>
            </a:r>
            <a:r>
              <a:rPr lang="en-US" altLang="zh-CN" b="1">
                <a:sym typeface="Symbol" pitchFamily="18" charset="2"/>
              </a:rPr>
              <a:t></a:t>
            </a:r>
            <a:r>
              <a:rPr lang="en-US" altLang="zh-CN" sz="2400" b="1"/>
              <a:t> A</a:t>
            </a:r>
            <a:r>
              <a:rPr lang="en-US" altLang="zh-CN" sz="2400" b="1">
                <a:latin typeface="宋体" pitchFamily="2" charset="-122"/>
                <a:sym typeface="Symbol" pitchFamily="18" charset="2"/>
              </a:rPr>
              <a:t>F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2.</a:t>
            </a:r>
            <a:r>
              <a:rPr lang="zh-CN" altLang="en-US" sz="2400" b="1">
                <a:solidFill>
                  <a:srgbClr val="FF0000"/>
                </a:solidFill>
              </a:rPr>
              <a:t>条件论证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⑴　</a:t>
            </a:r>
            <a:r>
              <a:rPr lang="en-US" altLang="zh-CN" sz="2400" b="1"/>
              <a:t>A                              P (</a:t>
            </a:r>
            <a:r>
              <a:rPr lang="zh-CN" altLang="en-US" sz="2400" b="1"/>
              <a:t>附加前提</a:t>
            </a:r>
            <a:r>
              <a:rPr lang="en-US" altLang="zh-CN" sz="2400" b="1"/>
              <a:t>)</a:t>
            </a:r>
            <a:r>
              <a:rPr lang="zh-CN" altLang="en-US" sz="2400" b="1"/>
              <a:t>　</a:t>
            </a:r>
          </a:p>
          <a:p>
            <a:pPr eaLnBrk="1" hangingPunct="1">
              <a:buFontTx/>
              <a:buNone/>
            </a:pPr>
            <a:r>
              <a:rPr lang="zh-CN" altLang="en-US" sz="2400" b="1"/>
              <a:t>⑵    </a:t>
            </a:r>
            <a:r>
              <a:rPr lang="en-US" altLang="zh-CN" sz="2400" b="1"/>
              <a:t>A∨B</a:t>
            </a:r>
            <a:r>
              <a:rPr lang="en-US" altLang="zh-CN" sz="2400" b="1">
                <a:latin typeface="宋体" pitchFamily="2" charset="-122"/>
              </a:rPr>
              <a:t>             </a:t>
            </a:r>
            <a:r>
              <a:rPr lang="en-US" altLang="zh-CN" sz="2400" b="1"/>
              <a:t>T</a:t>
            </a:r>
            <a:r>
              <a:rPr lang="en-US" altLang="zh-CN" sz="2400" b="1">
                <a:latin typeface="宋体" pitchFamily="2" charset="-122"/>
              </a:rPr>
              <a:t>  ⑴   I</a:t>
            </a:r>
            <a:r>
              <a:rPr lang="en-US" altLang="zh-CN" sz="2400" b="1" baseline="-25000"/>
              <a:t>3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⑶    (A∨B)</a:t>
            </a:r>
            <a:r>
              <a:rPr lang="en-US" altLang="zh-CN" sz="2400" b="1">
                <a:sym typeface="Symbol" pitchFamily="18" charset="2"/>
              </a:rPr>
              <a:t></a:t>
            </a:r>
            <a:r>
              <a:rPr lang="en-US" altLang="zh-CN" sz="2400" b="1"/>
              <a:t>(C</a:t>
            </a:r>
            <a:r>
              <a:rPr lang="en-US" altLang="zh-CN" sz="2400" b="1">
                <a:sym typeface="Kingsoft Phonetic Plain" pitchFamily="2" charset="2"/>
              </a:rPr>
              <a:t>∧</a:t>
            </a:r>
            <a:r>
              <a:rPr lang="en-US" altLang="zh-CN" sz="2400" b="1"/>
              <a:t>D)        P 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⑷    C</a:t>
            </a:r>
            <a:r>
              <a:rPr lang="en-US" altLang="zh-CN" sz="2400" b="1">
                <a:sym typeface="Kingsoft Phonetic Plain" pitchFamily="2" charset="2"/>
              </a:rPr>
              <a:t>∧</a:t>
            </a:r>
            <a:r>
              <a:rPr lang="en-US" altLang="zh-CN" sz="2400" b="1"/>
              <a:t>D                        T   ⑵⑶   I</a:t>
            </a:r>
            <a:r>
              <a:rPr lang="en-US" altLang="zh-CN" sz="2400" b="1" baseline="-25000"/>
              <a:t>11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⑸    D                              T   ⑷       I</a:t>
            </a:r>
            <a:r>
              <a:rPr lang="en-US" altLang="zh-CN" sz="2400" b="1" baseline="-25000"/>
              <a:t>2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⑹    D∨E</a:t>
            </a:r>
            <a:r>
              <a:rPr lang="en-US" altLang="zh-CN" sz="2400" b="1">
                <a:latin typeface="宋体" pitchFamily="2" charset="-122"/>
              </a:rPr>
              <a:t>             </a:t>
            </a:r>
            <a:r>
              <a:rPr lang="en-US" altLang="zh-CN" sz="2400" b="1"/>
              <a:t>T</a:t>
            </a:r>
            <a:r>
              <a:rPr lang="en-US" altLang="zh-CN" sz="2400" b="1">
                <a:latin typeface="宋体" pitchFamily="2" charset="-122"/>
              </a:rPr>
              <a:t>  ⑸   I</a:t>
            </a:r>
            <a:r>
              <a:rPr lang="en-US" altLang="zh-CN" sz="2400" b="1" baseline="-25000"/>
              <a:t>3</a:t>
            </a:r>
            <a:r>
              <a:rPr lang="en-US" altLang="zh-CN" sz="2400" b="1">
                <a:latin typeface="宋体" pitchFamily="2" charset="-122"/>
              </a:rPr>
              <a:t> 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⑺    (D∨E)</a:t>
            </a:r>
            <a:r>
              <a:rPr lang="en-US" altLang="zh-CN" sz="2400" b="1">
                <a:sym typeface="Symbol" pitchFamily="18" charset="2"/>
              </a:rPr>
              <a:t></a:t>
            </a:r>
            <a:r>
              <a:rPr lang="en-US" altLang="zh-CN" sz="2400" b="1"/>
              <a:t>F                 P</a:t>
            </a:r>
          </a:p>
          <a:p>
            <a:pPr eaLnBrk="1" hangingPunct="1">
              <a:buFontTx/>
              <a:buNone/>
            </a:pPr>
            <a:r>
              <a:rPr lang="en-US" altLang="zh-CN" sz="2400" b="1"/>
              <a:t>⑻     F                              T   ⑹⑺   I</a:t>
            </a:r>
            <a:r>
              <a:rPr lang="en-US" altLang="zh-CN" sz="2400" b="1" baseline="-25000"/>
              <a:t>11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⑼     A</a:t>
            </a:r>
            <a:r>
              <a:rPr lang="en-US" altLang="zh-CN" sz="2400" b="1">
                <a:sym typeface="Symbol" pitchFamily="18" charset="2"/>
              </a:rPr>
              <a:t>F</a:t>
            </a:r>
            <a:r>
              <a:rPr lang="en-US" altLang="zh-CN" sz="2400" b="1">
                <a:latin typeface="宋体" pitchFamily="2" charset="-122"/>
                <a:sym typeface="Symbol" pitchFamily="18" charset="2"/>
              </a:rPr>
              <a:t>             </a:t>
            </a:r>
            <a:r>
              <a:rPr lang="en-US" altLang="zh-CN" sz="2400" b="1">
                <a:sym typeface="Symbol" pitchFamily="18" charset="2"/>
              </a:rPr>
              <a:t>CP</a:t>
            </a:r>
            <a:endParaRPr lang="en-US" altLang="zh-CN" sz="2400" b="1"/>
          </a:p>
          <a:p>
            <a:pPr eaLnBrk="1" hangingPunct="1">
              <a:buFontTx/>
              <a:buNone/>
            </a:pPr>
            <a:endParaRPr lang="en-US" altLang="zh-CN" sz="2400" b="1"/>
          </a:p>
          <a:p>
            <a:pPr eaLnBrk="1" hangingPunct="1">
              <a:buFontTx/>
              <a:buNone/>
            </a:pPr>
            <a:r>
              <a:rPr lang="zh-CN" altLang="zh-CN" sz="2400" b="1"/>
              <a:t>显然此方法比直接推理简单。</a:t>
            </a:r>
            <a:endParaRPr lang="zh-CN" altLang="en-US" sz="2400" b="1"/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8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8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884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87780-A51F-4A9E-B940-38727D95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P</a:t>
            </a:r>
            <a:r>
              <a:rPr lang="en-US" altLang="zh-CN" sz="2400" b="1" baseline="-25000" dirty="0"/>
              <a:t>47</a:t>
            </a:r>
            <a:r>
              <a:rPr lang="en-US" altLang="zh-CN" sz="2400" b="1" dirty="0"/>
              <a:t>(2)c) (A</a:t>
            </a:r>
            <a:r>
              <a:rPr lang="en-US" altLang="zh-CN" sz="2400" b="1" dirty="0">
                <a:latin typeface="宋体" pitchFamily="2" charset="-122"/>
              </a:rPr>
              <a:t>∨B)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/>
              <a:t>(C</a:t>
            </a:r>
            <a:r>
              <a:rPr lang="en-US" altLang="zh-CN" sz="2400" b="1" dirty="0"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/>
              <a:t>D), (D</a:t>
            </a:r>
            <a:r>
              <a:rPr lang="en-US" altLang="zh-CN" sz="2400" b="1" dirty="0">
                <a:latin typeface="宋体" pitchFamily="2" charset="-122"/>
              </a:rPr>
              <a:t>∨E)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</a:t>
            </a:r>
            <a:r>
              <a:rPr lang="en-US" altLang="zh-CN" sz="2400" b="1" dirty="0"/>
              <a:t>F </a:t>
            </a:r>
            <a:r>
              <a:rPr lang="en-US" altLang="zh-CN" b="1" dirty="0">
                <a:sym typeface="Symbol" pitchFamily="18" charset="2"/>
              </a:rPr>
              <a:t></a:t>
            </a:r>
            <a:r>
              <a:rPr lang="en-US" altLang="zh-CN" sz="2400" b="1" dirty="0"/>
              <a:t> A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F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</a:rPr>
              <a:t>反证法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b="1" dirty="0"/>
              <a:t>⑴    </a:t>
            </a:r>
            <a:r>
              <a:rPr lang="zh-CN" altLang="en-US" sz="2000" b="1" dirty="0">
                <a:sym typeface="Symbol" pitchFamily="18" charset="2"/>
              </a:rPr>
              <a:t></a:t>
            </a:r>
            <a:r>
              <a:rPr lang="en-US" altLang="zh-CN" sz="2000" b="1" dirty="0"/>
              <a:t>(A</a:t>
            </a:r>
            <a:r>
              <a:rPr lang="en-US" altLang="zh-CN" sz="2000" b="1" dirty="0">
                <a:sym typeface="Symbol" pitchFamily="18" charset="2"/>
              </a:rPr>
              <a:t>F)                  P</a:t>
            </a:r>
            <a:r>
              <a:rPr lang="en-US" altLang="zh-CN" sz="2000" b="1" dirty="0">
                <a:latin typeface="宋体" pitchFamily="2" charset="-122"/>
                <a:sym typeface="Symbol" pitchFamily="18" charset="2"/>
              </a:rPr>
              <a:t> (</a:t>
            </a:r>
            <a:r>
              <a:rPr lang="zh-CN" altLang="zh-CN" sz="2000" b="1" dirty="0">
                <a:latin typeface="宋体" pitchFamily="2" charset="-122"/>
                <a:sym typeface="Symbol" pitchFamily="18" charset="2"/>
              </a:rPr>
              <a:t>假设前提</a:t>
            </a:r>
            <a:r>
              <a:rPr lang="en-US" altLang="zh-CN" sz="2000" b="1" dirty="0">
                <a:latin typeface="宋体" pitchFamily="2" charset="-122"/>
                <a:sym typeface="Symbol" pitchFamily="18" charset="2"/>
              </a:rPr>
              <a:t>)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⑵    </a:t>
            </a:r>
            <a:r>
              <a:rPr lang="en-US" altLang="zh-CN" sz="2000" b="1" dirty="0">
                <a:sym typeface="Symbol" pitchFamily="18" charset="2"/>
              </a:rPr>
              <a:t></a:t>
            </a:r>
            <a:r>
              <a:rPr lang="en-US" altLang="zh-CN" sz="2000" b="1" dirty="0"/>
              <a:t>(</a:t>
            </a:r>
            <a:r>
              <a:rPr lang="en-US" altLang="zh-CN" sz="2000" b="1" dirty="0">
                <a:sym typeface="Symbol" pitchFamily="18" charset="2"/>
              </a:rPr>
              <a:t></a:t>
            </a:r>
            <a:r>
              <a:rPr lang="en-US" altLang="zh-CN" sz="2000" b="1" dirty="0"/>
              <a:t>A∨F)              T</a:t>
            </a:r>
            <a:r>
              <a:rPr lang="en-US" altLang="zh-CN" sz="2000" b="1" dirty="0">
                <a:latin typeface="宋体" pitchFamily="2" charset="-122"/>
              </a:rPr>
              <a:t>  </a:t>
            </a:r>
            <a:r>
              <a:rPr lang="en-US" altLang="zh-CN" sz="2000" b="1" dirty="0"/>
              <a:t>⑴   </a:t>
            </a:r>
            <a:r>
              <a:rPr lang="en-US" altLang="zh-CN" sz="2000" b="1" dirty="0">
                <a:latin typeface="Times New Roman" pitchFamily="18" charset="0"/>
              </a:rPr>
              <a:t>E</a:t>
            </a:r>
            <a:r>
              <a:rPr lang="en-US" altLang="zh-CN" sz="2000" b="1" baseline="-25000" dirty="0">
                <a:latin typeface="宋体" pitchFamily="2" charset="-122"/>
              </a:rPr>
              <a:t>16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⑶    A</a:t>
            </a:r>
            <a:r>
              <a:rPr lang="en-US" altLang="zh-CN" sz="2000" b="1" dirty="0"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itchFamily="18" charset="2"/>
              </a:rPr>
              <a:t></a:t>
            </a:r>
            <a:r>
              <a:rPr lang="en-US" altLang="zh-CN" sz="2000" b="1" dirty="0"/>
              <a:t>F                   T   ⑵   </a:t>
            </a:r>
            <a:r>
              <a:rPr lang="en-US" altLang="zh-CN" sz="2000" b="1" dirty="0">
                <a:latin typeface="Times New Roman" pitchFamily="18" charset="0"/>
              </a:rPr>
              <a:t>E</a:t>
            </a:r>
            <a:r>
              <a:rPr lang="en-US" altLang="zh-CN" sz="2000" b="1" baseline="-25000" dirty="0"/>
              <a:t>9</a:t>
            </a:r>
            <a:endParaRPr lang="en-US" altLang="zh-CN" sz="2000" b="1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⑷    A                            T   ⑶    </a:t>
            </a:r>
            <a:r>
              <a:rPr lang="en-US" altLang="zh-CN" sz="2000" b="1" dirty="0">
                <a:latin typeface="Times New Roman" pitchFamily="18" charset="0"/>
              </a:rPr>
              <a:t>I</a:t>
            </a:r>
            <a:r>
              <a:rPr lang="en-US" altLang="zh-CN" sz="2000" b="1" baseline="-25000" dirty="0"/>
              <a:t>1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⑸    A∨B                      T</a:t>
            </a:r>
            <a:r>
              <a:rPr lang="en-US" altLang="zh-CN" sz="2000" b="1" dirty="0">
                <a:latin typeface="宋体" pitchFamily="2" charset="-122"/>
              </a:rPr>
              <a:t>  </a:t>
            </a:r>
            <a:r>
              <a:rPr lang="en-US" altLang="zh-CN" sz="2000" b="1" dirty="0"/>
              <a:t>⑴   </a:t>
            </a:r>
            <a:r>
              <a:rPr lang="en-US" altLang="zh-CN" sz="2000" b="1" dirty="0">
                <a:latin typeface="Times New Roman" pitchFamily="18" charset="0"/>
              </a:rPr>
              <a:t>I</a:t>
            </a:r>
            <a:r>
              <a:rPr lang="en-US" altLang="zh-CN" sz="2000" b="1" baseline="-25000" dirty="0"/>
              <a:t>3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⑹    (A∨B)</a:t>
            </a:r>
            <a:r>
              <a:rPr lang="en-US" altLang="zh-CN" sz="2000" b="1" dirty="0">
                <a:sym typeface="Symbol" pitchFamily="18" charset="2"/>
              </a:rPr>
              <a:t></a:t>
            </a:r>
            <a:r>
              <a:rPr lang="en-US" altLang="zh-CN" sz="2000" b="1" dirty="0"/>
              <a:t>(C</a:t>
            </a:r>
            <a:r>
              <a:rPr lang="en-US" altLang="zh-CN" sz="2000" b="1" dirty="0">
                <a:sym typeface="Kingsoft Phonetic Plain" pitchFamily="2" charset="2"/>
              </a:rPr>
              <a:t>∧</a:t>
            </a:r>
            <a:r>
              <a:rPr lang="en-US" altLang="zh-CN" sz="2000" b="1" dirty="0"/>
              <a:t>D)      P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⑺    C</a:t>
            </a:r>
            <a:r>
              <a:rPr lang="en-US" altLang="zh-CN" sz="2000" b="1" dirty="0">
                <a:sym typeface="Kingsoft Phonetic Plain" pitchFamily="2" charset="2"/>
              </a:rPr>
              <a:t>∧</a:t>
            </a:r>
            <a:r>
              <a:rPr lang="en-US" altLang="zh-CN" sz="2000" b="1" dirty="0"/>
              <a:t>D                      T   ⑵⑶ </a:t>
            </a:r>
            <a:r>
              <a:rPr lang="en-US" altLang="zh-CN" sz="2000" b="1" dirty="0">
                <a:latin typeface="Times New Roman" pitchFamily="18" charset="0"/>
              </a:rPr>
              <a:t>I</a:t>
            </a:r>
            <a:r>
              <a:rPr lang="en-US" altLang="zh-CN" sz="2000" b="1" baseline="-25000" dirty="0"/>
              <a:t>11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⑻    D                             T  ⑷     </a:t>
            </a:r>
            <a:r>
              <a:rPr lang="en-US" altLang="zh-CN" sz="2000" b="1" dirty="0">
                <a:latin typeface="Times New Roman" pitchFamily="18" charset="0"/>
              </a:rPr>
              <a:t>I</a:t>
            </a:r>
            <a:r>
              <a:rPr lang="en-US" altLang="zh-CN" sz="2000" b="1" baseline="-25000" dirty="0"/>
              <a:t>2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⑼    D∨E                       T</a:t>
            </a:r>
            <a:r>
              <a:rPr lang="en-US" altLang="zh-CN" sz="2000" b="1" dirty="0">
                <a:latin typeface="宋体" pitchFamily="2" charset="-122"/>
              </a:rPr>
              <a:t> ⑸   </a:t>
            </a:r>
            <a:r>
              <a:rPr lang="en-US" altLang="zh-CN" sz="2000" b="1" dirty="0">
                <a:latin typeface="Times New Roman" pitchFamily="18" charset="0"/>
              </a:rPr>
              <a:t>I</a:t>
            </a:r>
            <a:r>
              <a:rPr lang="en-US" altLang="zh-CN" sz="2000" b="1" baseline="-25000" dirty="0">
                <a:latin typeface="Times New Roman" pitchFamily="18" charset="0"/>
              </a:rPr>
              <a:t>3</a:t>
            </a:r>
            <a:r>
              <a:rPr lang="en-US" altLang="zh-CN" sz="2000" b="1" dirty="0">
                <a:latin typeface="宋体" pitchFamily="2" charset="-122"/>
              </a:rPr>
              <a:t> 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⑽    (D</a:t>
            </a:r>
            <a:r>
              <a:rPr lang="en-US" altLang="zh-CN" sz="2000" b="1" dirty="0">
                <a:latin typeface="宋体" pitchFamily="2" charset="-122"/>
              </a:rPr>
              <a:t>∨</a:t>
            </a:r>
            <a:r>
              <a:rPr lang="en-US" altLang="zh-CN" sz="2000" b="1" dirty="0"/>
              <a:t>E)</a:t>
            </a:r>
            <a:r>
              <a:rPr lang="en-US" altLang="zh-CN" sz="2000" b="1" dirty="0">
                <a:latin typeface="宋体" pitchFamily="2" charset="-122"/>
                <a:sym typeface="Symbol" pitchFamily="18" charset="2"/>
              </a:rPr>
              <a:t></a:t>
            </a:r>
            <a:r>
              <a:rPr lang="en-US" altLang="zh-CN" sz="2000" b="1" dirty="0"/>
              <a:t>F                P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⑾    F                              T   ⑹⑺ </a:t>
            </a:r>
            <a:r>
              <a:rPr lang="en-US" altLang="zh-CN" sz="2000" b="1" dirty="0">
                <a:latin typeface="Times New Roman" pitchFamily="18" charset="0"/>
              </a:rPr>
              <a:t>I</a:t>
            </a:r>
            <a:r>
              <a:rPr lang="en-US" altLang="zh-CN" sz="2000" b="1" baseline="-25000" dirty="0"/>
              <a:t>11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⑿    </a:t>
            </a:r>
            <a:r>
              <a:rPr lang="en-US" altLang="zh-CN" sz="2000" b="1" dirty="0">
                <a:sym typeface="Symbol" pitchFamily="18" charset="2"/>
              </a:rPr>
              <a:t></a:t>
            </a:r>
            <a:r>
              <a:rPr lang="en-US" altLang="zh-CN" sz="2000" b="1" dirty="0"/>
              <a:t>F                           T  ⑶     </a:t>
            </a:r>
            <a:r>
              <a:rPr lang="en-US" altLang="zh-CN" sz="2000" b="1" dirty="0">
                <a:latin typeface="Times New Roman" pitchFamily="18" charset="0"/>
              </a:rPr>
              <a:t>I</a:t>
            </a:r>
            <a:r>
              <a:rPr lang="en-US" altLang="zh-CN" sz="2000" b="1" baseline="-25000" dirty="0"/>
              <a:t>2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/>
              <a:t>⒀   F</a:t>
            </a:r>
            <a:r>
              <a:rPr lang="en-US" altLang="zh-CN" sz="2000" b="1" dirty="0"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itchFamily="18" charset="2"/>
              </a:rPr>
              <a:t></a:t>
            </a:r>
            <a:r>
              <a:rPr lang="en-US" altLang="zh-CN" sz="2000" b="1" dirty="0"/>
              <a:t>F                      T  ⑾ ⑿ </a:t>
            </a:r>
            <a:r>
              <a:rPr lang="en-US" altLang="zh-CN" sz="2000" b="1" dirty="0">
                <a:latin typeface="Times New Roman" pitchFamily="18" charset="0"/>
              </a:rPr>
              <a:t>I</a:t>
            </a:r>
            <a:r>
              <a:rPr lang="en-US" altLang="zh-CN" sz="2000" b="1" baseline="-25000" dirty="0"/>
              <a:t>9     </a:t>
            </a:r>
            <a:r>
              <a:rPr lang="zh-CN" altLang="en-US" sz="2000" b="1" dirty="0"/>
              <a:t>可见此法也比较简单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89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89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894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189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1894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1894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AA8AB-3854-4FCC-B4EC-12A06A755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</a:rPr>
              <a:t>补充题</a:t>
            </a:r>
            <a:r>
              <a:rPr lang="zh-CN" altLang="en-US" sz="2400" b="1" dirty="0"/>
              <a:t>：请根据下面事实，找出凶手：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清洁工或者秘书谋害了经理。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如果清洁工谋害了经理，则谋害不会发生在午夜前。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3.</a:t>
            </a:r>
            <a:r>
              <a:rPr lang="zh-CN" altLang="en-US" sz="2400" b="1" dirty="0"/>
              <a:t>如果秘书的证词是正确的，则谋害发生在午夜前。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4.</a:t>
            </a:r>
            <a:r>
              <a:rPr lang="zh-CN" altLang="en-US" sz="2400" b="1" dirty="0"/>
              <a:t>如果秘书的证词不正确，则午夜时屋里灯光未灭。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5. </a:t>
            </a:r>
            <a:r>
              <a:rPr lang="zh-CN" altLang="en-US" sz="2400" b="1" dirty="0"/>
              <a:t>如果清洁工富裕，则他不会谋害经理。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6.</a:t>
            </a:r>
            <a:r>
              <a:rPr lang="zh-CN" altLang="en-US" sz="2400" b="1" dirty="0"/>
              <a:t>经理有钱且清洁工不富裕。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7.</a:t>
            </a:r>
            <a:r>
              <a:rPr lang="zh-CN" altLang="en-US" sz="2400" b="1" dirty="0"/>
              <a:t>午夜时屋里灯灭了。</a:t>
            </a:r>
          </a:p>
          <a:p>
            <a:pPr eaLnBrk="1" hangingPunct="1">
              <a:buFontTx/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令</a:t>
            </a:r>
            <a:r>
              <a:rPr lang="en-US" altLang="zh-CN" sz="2000" b="1" dirty="0">
                <a:solidFill>
                  <a:srgbClr val="0000FF"/>
                </a:solidFill>
              </a:rPr>
              <a:t>A:</a:t>
            </a:r>
            <a:r>
              <a:rPr lang="zh-CN" altLang="en-US" sz="2000" b="1" dirty="0">
                <a:solidFill>
                  <a:srgbClr val="0000FF"/>
                </a:solidFill>
              </a:rPr>
              <a:t>清洁工谋害了经理。    </a:t>
            </a:r>
            <a:r>
              <a:rPr lang="en-US" altLang="zh-CN" sz="2000" b="1" dirty="0">
                <a:solidFill>
                  <a:srgbClr val="0000FF"/>
                </a:solidFill>
              </a:rPr>
              <a:t>B:</a:t>
            </a:r>
            <a:r>
              <a:rPr lang="zh-CN" altLang="en-US" sz="2000" b="1" dirty="0">
                <a:solidFill>
                  <a:srgbClr val="0000FF"/>
                </a:solidFill>
              </a:rPr>
              <a:t>秘书谋害了经理。</a:t>
            </a:r>
          </a:p>
          <a:p>
            <a:pPr eaLnBrk="1" hangingPunct="1">
              <a:buFontTx/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</a:rPr>
              <a:t>C:</a:t>
            </a:r>
            <a:r>
              <a:rPr lang="zh-CN" altLang="en-US" sz="2000" b="1" dirty="0">
                <a:solidFill>
                  <a:srgbClr val="0000FF"/>
                </a:solidFill>
              </a:rPr>
              <a:t>谋害发生在午夜前。    </a:t>
            </a:r>
            <a:r>
              <a:rPr lang="en-US" altLang="zh-CN" sz="2000" b="1" dirty="0">
                <a:solidFill>
                  <a:srgbClr val="0000FF"/>
                </a:solidFill>
              </a:rPr>
              <a:t>D:</a:t>
            </a:r>
            <a:r>
              <a:rPr lang="zh-CN" altLang="en-US" sz="2000" b="1" dirty="0">
                <a:solidFill>
                  <a:srgbClr val="0000FF"/>
                </a:solidFill>
              </a:rPr>
              <a:t>秘书的证词是正确的</a:t>
            </a:r>
            <a:r>
              <a:rPr lang="en-US" altLang="zh-CN" sz="2000" b="1" dirty="0">
                <a:solidFill>
                  <a:srgbClr val="0000FF"/>
                </a:solidFill>
              </a:rPr>
              <a:t>.</a:t>
            </a: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E:</a:t>
            </a:r>
            <a:r>
              <a:rPr lang="zh-CN" altLang="en-US" sz="2000" b="1" dirty="0">
                <a:solidFill>
                  <a:srgbClr val="0000FF"/>
                </a:solidFill>
              </a:rPr>
              <a:t>午夜时屋里灯光灭了。</a:t>
            </a:r>
            <a:r>
              <a:rPr lang="en-US" altLang="zh-CN" sz="2000" b="1" dirty="0">
                <a:solidFill>
                  <a:srgbClr val="0000FF"/>
                </a:solidFill>
              </a:rPr>
              <a:t>H:</a:t>
            </a:r>
            <a:r>
              <a:rPr lang="zh-CN" altLang="en-US" sz="2000" b="1" dirty="0">
                <a:solidFill>
                  <a:srgbClr val="0000FF"/>
                </a:solidFill>
              </a:rPr>
              <a:t>清洁工富裕</a:t>
            </a:r>
            <a:r>
              <a:rPr lang="en-US" altLang="zh-CN" sz="2000" b="1" dirty="0">
                <a:solidFill>
                  <a:srgbClr val="0000FF"/>
                </a:solidFill>
              </a:rPr>
              <a:t>.  </a:t>
            </a:r>
          </a:p>
          <a:p>
            <a:pPr eaLnBrk="1" hangingPunct="1"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 G:</a:t>
            </a:r>
            <a:r>
              <a:rPr lang="zh-CN" altLang="en-US" sz="2000" b="1" dirty="0">
                <a:solidFill>
                  <a:srgbClr val="0000FF"/>
                </a:solidFill>
              </a:rPr>
              <a:t>经理有钱</a:t>
            </a:r>
            <a:r>
              <a:rPr lang="en-US" altLang="zh-CN" sz="2000" b="1" dirty="0">
                <a:solidFill>
                  <a:srgbClr val="0000FF"/>
                </a:solidFill>
              </a:rPr>
              <a:t>.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命题符号为：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宋体" pitchFamily="2" charset="-122"/>
              </a:rPr>
              <a:t>∨B,A</a:t>
            </a:r>
            <a:r>
              <a:rPr lang="en-US" altLang="zh-CN" sz="2400" b="1" dirty="0">
                <a:solidFill>
                  <a:srgbClr val="0000FF"/>
                </a:solidFill>
                <a:latin typeface="宋体" pitchFamily="2" charset="-122"/>
                <a:sym typeface="Symbol" pitchFamily="18" charset="2"/>
              </a:rPr>
              <a:t>C,DC,DE,HA,G</a:t>
            </a:r>
            <a:r>
              <a:rPr lang="en-US" altLang="zh-CN" sz="2400" b="1" dirty="0">
                <a:solidFill>
                  <a:srgbClr val="0000FF"/>
                </a:solidFill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>
                <a:solidFill>
                  <a:srgbClr val="0000FF"/>
                </a:solidFill>
                <a:latin typeface="宋体" pitchFamily="2" charset="-122"/>
                <a:sym typeface="Symbol" pitchFamily="18" charset="2"/>
              </a:rPr>
              <a:t>H,E </a:t>
            </a:r>
            <a:r>
              <a:rPr lang="en-US" altLang="zh-CN" b="1" dirty="0">
                <a:solidFill>
                  <a:srgbClr val="0000FF"/>
                </a:solidFill>
                <a:sym typeface="Symbol" pitchFamily="18" charset="2"/>
              </a:rPr>
              <a:t>?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0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02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02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02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202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202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02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027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63FF3-A4BE-4656-B9E0-FA3993A2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8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A∨B, A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C, BC, DC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DE, HA, G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  <a:sym typeface="Kingsoft Phonetic Plain" pitchFamily="2" charset="2"/>
              </a:rPr>
              <a:t>∧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H, E 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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?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⑴ E                   P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⑵ DE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   </a:t>
            </a:r>
            <a:r>
              <a:rPr lang="en-US" altLang="zh-CN" sz="2400" b="1" dirty="0">
                <a:sym typeface="Symbol" pitchFamily="18" charset="2"/>
              </a:rPr>
              <a:t>P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 </a:t>
            </a:r>
            <a:endParaRPr lang="en-US" altLang="zh-CN" sz="24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⑶ D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      </a:t>
            </a:r>
            <a:r>
              <a:rPr lang="en-US" altLang="zh-CN" sz="2400" b="1" dirty="0">
                <a:sym typeface="Symbol" pitchFamily="18" charset="2"/>
              </a:rPr>
              <a:t>T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 </a:t>
            </a:r>
            <a:r>
              <a:rPr lang="en-US" altLang="zh-CN" sz="2400" b="1" dirty="0">
                <a:sym typeface="Symbol" pitchFamily="18" charset="2"/>
              </a:rPr>
              <a:t>⑴⑵ I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⑷ D                  T  ⑶   E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⑸ DC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      </a:t>
            </a:r>
            <a:r>
              <a:rPr lang="en-US" altLang="zh-CN" sz="2400" b="1" dirty="0">
                <a:sym typeface="Symbol" pitchFamily="18" charset="2"/>
              </a:rPr>
              <a:t>P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⑹ C                   T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 </a:t>
            </a:r>
            <a:r>
              <a:rPr lang="en-US" altLang="zh-CN" sz="2400" b="1" dirty="0">
                <a:sym typeface="Symbol" pitchFamily="18" charset="2"/>
              </a:rPr>
              <a:t>⑷⑸ I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⑺ </a:t>
            </a:r>
            <a:r>
              <a:rPr lang="en-US" altLang="zh-CN" sz="2400" b="1" dirty="0"/>
              <a:t>A</a:t>
            </a:r>
            <a:r>
              <a:rPr lang="en-US" altLang="zh-CN" sz="2400" b="1" dirty="0">
                <a:sym typeface="Symbol" pitchFamily="18" charset="2"/>
              </a:rPr>
              <a:t>C          P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⑻ A</a:t>
            </a:r>
            <a:r>
              <a:rPr lang="en-US" altLang="zh-CN" sz="2400" b="1" dirty="0">
                <a:latin typeface="宋体" pitchFamily="2" charset="-122"/>
                <a:sym typeface="Symbol" pitchFamily="18" charset="2"/>
              </a:rPr>
              <a:t>        </a:t>
            </a:r>
            <a:r>
              <a:rPr lang="en-US" altLang="zh-CN" sz="2400" b="1" dirty="0">
                <a:sym typeface="Symbol" pitchFamily="18" charset="2"/>
              </a:rPr>
              <a:t>T ⑹⑺ I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⑼ </a:t>
            </a:r>
            <a:r>
              <a:rPr lang="en-US" altLang="zh-CN" sz="2400" b="1" dirty="0"/>
              <a:t>A∨B</a:t>
            </a:r>
            <a:r>
              <a:rPr lang="en-US" altLang="zh-CN" sz="2400" b="1" dirty="0">
                <a:latin typeface="宋体" pitchFamily="2" charset="-122"/>
              </a:rPr>
              <a:t>      </a:t>
            </a:r>
            <a:r>
              <a:rPr lang="en-US" altLang="zh-CN" sz="2400" b="1" dirty="0"/>
              <a:t> P</a:t>
            </a:r>
            <a:r>
              <a:rPr lang="en-US" altLang="zh-CN" sz="2400" b="1" dirty="0">
                <a:latin typeface="宋体" pitchFamily="2" charset="-122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itchFamily="18" charset="2"/>
              </a:rPr>
              <a:t>⑽ B                   T  ⑻⑼ I</a:t>
            </a:r>
          </a:p>
          <a:p>
            <a:pPr eaLnBrk="1" hangingPunct="1">
              <a:buFontTx/>
              <a:buNone/>
            </a:pPr>
            <a:endParaRPr lang="en-US" altLang="zh-CN" sz="2400" b="1" dirty="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itchFamily="18" charset="2"/>
              </a:rPr>
              <a:t>结果是秘书谋害了经理。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861FF0-A7A4-4E55-8929-1A547F50FA5E}"/>
              </a:ext>
            </a:extLst>
          </p:cNvPr>
          <p:cNvSpPr txBox="1"/>
          <p:nvPr/>
        </p:nvSpPr>
        <p:spPr>
          <a:xfrm>
            <a:off x="5364088" y="2420888"/>
            <a:ext cx="3240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A:</a:t>
            </a:r>
            <a:r>
              <a:rPr lang="zh-CN" altLang="en-US" b="1" dirty="0">
                <a:solidFill>
                  <a:srgbClr val="0000FF"/>
                </a:solidFill>
              </a:rPr>
              <a:t>清洁工谋害了经理。</a:t>
            </a:r>
            <a:endParaRPr lang="en-US" altLang="zh-CN" b="1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B:</a:t>
            </a:r>
            <a:r>
              <a:rPr lang="zh-CN" altLang="en-US" b="1" dirty="0">
                <a:solidFill>
                  <a:srgbClr val="0000FF"/>
                </a:solidFill>
              </a:rPr>
              <a:t>秘书谋害了经理。</a:t>
            </a:r>
            <a:endParaRPr lang="en-US" altLang="zh-CN" b="1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C:</a:t>
            </a:r>
            <a:r>
              <a:rPr lang="zh-CN" altLang="en-US" b="1" dirty="0">
                <a:solidFill>
                  <a:srgbClr val="0000FF"/>
                </a:solidFill>
              </a:rPr>
              <a:t>谋害发生在午夜前。</a:t>
            </a:r>
            <a:endParaRPr lang="en-US" altLang="zh-CN" b="1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D:</a:t>
            </a:r>
            <a:r>
              <a:rPr lang="zh-CN" altLang="en-US" b="1" dirty="0">
                <a:solidFill>
                  <a:srgbClr val="0000FF"/>
                </a:solidFill>
              </a:rPr>
              <a:t>秘书的证词是正确的</a:t>
            </a:r>
            <a:r>
              <a:rPr lang="en-US" altLang="zh-CN" b="1" dirty="0">
                <a:solidFill>
                  <a:srgbClr val="0000FF"/>
                </a:solidFill>
              </a:rPr>
              <a:t>.</a:t>
            </a: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E:</a:t>
            </a:r>
            <a:r>
              <a:rPr lang="zh-CN" altLang="en-US" b="1" dirty="0">
                <a:solidFill>
                  <a:srgbClr val="0000FF"/>
                </a:solidFill>
              </a:rPr>
              <a:t>午夜时屋里灯光灭了。</a:t>
            </a:r>
            <a:endParaRPr lang="en-US" altLang="zh-CN" b="1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H:</a:t>
            </a:r>
            <a:r>
              <a:rPr lang="zh-CN" altLang="en-US" b="1" dirty="0">
                <a:solidFill>
                  <a:srgbClr val="0000FF"/>
                </a:solidFill>
              </a:rPr>
              <a:t>清洁工富裕</a:t>
            </a:r>
            <a:endParaRPr lang="en-US" altLang="zh-CN" b="1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G:</a:t>
            </a:r>
            <a:r>
              <a:rPr lang="zh-CN" altLang="en-US" b="1" dirty="0">
                <a:solidFill>
                  <a:srgbClr val="0000FF"/>
                </a:solidFill>
              </a:rPr>
              <a:t>经理有钱</a:t>
            </a:r>
            <a:r>
              <a:rPr lang="en-US" altLang="zh-CN" b="1" dirty="0">
                <a:solidFill>
                  <a:srgbClr val="0000FF"/>
                </a:solidFill>
              </a:rPr>
              <a:t>.</a:t>
            </a:r>
          </a:p>
          <a:p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3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3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3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37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build="p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14084</TotalTime>
  <Words>4202</Words>
  <Application>Microsoft Office PowerPoint</Application>
  <PresentationFormat>全屏显示(4:3)</PresentationFormat>
  <Paragraphs>391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黑体</vt:lpstr>
      <vt:lpstr>华文楷体</vt:lpstr>
      <vt:lpstr>楷体</vt:lpstr>
      <vt:lpstr>宋体</vt:lpstr>
      <vt:lpstr>Arial</vt:lpstr>
      <vt:lpstr>Lucida Sans Unicode</vt:lpstr>
      <vt:lpstr>Times New Roman</vt:lpstr>
      <vt:lpstr>Office 主题​​</vt:lpstr>
      <vt:lpstr>PowerPoint 演示文稿</vt:lpstr>
      <vt:lpstr>第一章  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范式的应用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TAN Edward</cp:lastModifiedBy>
  <cp:revision>646</cp:revision>
  <cp:lastPrinted>2020-02-29T08:49:58Z</cp:lastPrinted>
  <dcterms:created xsi:type="dcterms:W3CDTF">2001-03-04T02:11:49Z</dcterms:created>
  <dcterms:modified xsi:type="dcterms:W3CDTF">2020-03-13T01:32:58Z</dcterms:modified>
</cp:coreProperties>
</file>