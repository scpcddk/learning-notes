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584" r:id="rId3"/>
    <p:sldId id="585" r:id="rId4"/>
    <p:sldId id="586" r:id="rId5"/>
    <p:sldId id="587" r:id="rId6"/>
    <p:sldId id="588" r:id="rId7"/>
    <p:sldId id="589" r:id="rId8"/>
    <p:sldId id="590" r:id="rId9"/>
    <p:sldId id="591" r:id="rId10"/>
    <p:sldId id="592" r:id="rId11"/>
    <p:sldId id="593" r:id="rId12"/>
    <p:sldId id="594" r:id="rId13"/>
    <p:sldId id="595" r:id="rId14"/>
    <p:sldId id="596" r:id="rId15"/>
    <p:sldId id="597" r:id="rId16"/>
    <p:sldId id="598" r:id="rId17"/>
    <p:sldId id="599" r:id="rId18"/>
    <p:sldId id="600" r:id="rId19"/>
    <p:sldId id="601" r:id="rId20"/>
    <p:sldId id="602" r:id="rId21"/>
    <p:sldId id="603" r:id="rId22"/>
    <p:sldId id="604" r:id="rId23"/>
    <p:sldId id="605" r:id="rId24"/>
    <p:sldId id="606" r:id="rId25"/>
    <p:sldId id="607" r:id="rId26"/>
    <p:sldId id="608" r:id="rId27"/>
    <p:sldId id="609" r:id="rId28"/>
  </p:sldIdLst>
  <p:sldSz cx="9144000" cy="6858000" type="screen4x3"/>
  <p:notesSz cx="7099300" cy="10234295"/>
  <p:custDataLst>
    <p:tags r:id="rId34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CCFFCC"/>
    <a:srgbClr val="FF0000"/>
    <a:srgbClr val="800080"/>
    <a:srgbClr val="3333FF"/>
    <a:srgbClr val="99FFCC"/>
    <a:srgbClr val="993300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2" autoAdjust="0"/>
    <p:restoredTop sz="95205" autoAdjust="0"/>
  </p:normalViewPr>
  <p:slideViewPr>
    <p:cSldViewPr showGuides="1">
      <p:cViewPr varScale="1">
        <p:scale>
          <a:sx n="86" d="100"/>
          <a:sy n="86" d="100"/>
        </p:scale>
        <p:origin x="1392" y="67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318"/>
    </p:cViewPr>
  </p:sorterViewPr>
  <p:notesViewPr>
    <p:cSldViewPr>
      <p:cViewPr varScale="1">
        <p:scale>
          <a:sx n="37" d="100"/>
          <a:sy n="37" d="100"/>
        </p:scale>
        <p:origin x="-1090" y="-58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gs" Target="tags/tag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notesMaster" Target="notesMasters/notesMaster1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BB4B81F-A7D6-4015-B8B5-25709B6C0BE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22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zh-CN" altLang="en-US" noProof="0"/>
              <a:t>单击以编辑母版文本样式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36B63D6-A577-4FFD-BDA7-6D48BE1130C1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 userDrawn="1"/>
        </p:nvSpPr>
        <p:spPr bwMode="auto">
          <a:xfrm>
            <a:off x="0" y="6237312"/>
            <a:ext cx="9144000" cy="63021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lIns="76786" tIns="38393" rIns="76786" bIns="38393" anchor="ctr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defTabSz="1024255">
              <a:defRPr/>
            </a:pPr>
            <a:endParaRPr lang="en-US" sz="1200" dirty="0">
              <a:solidFill>
                <a:prstClr val="white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766" y="0"/>
            <a:ext cx="9144000" cy="69269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lIns="76786" tIns="38393" rIns="76786" bIns="38393"/>
          <a:lstStyle>
            <a:lvl1pPr>
              <a:defRPr sz="36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764704"/>
            <a:ext cx="8496944" cy="5328592"/>
          </a:xfrm>
          <a:prstGeom prst="rect">
            <a:avLst/>
          </a:prstGeom>
        </p:spPr>
        <p:txBody>
          <a:bodyPr lIns="76786" tIns="38393" rIns="76786" bIns="38393"/>
          <a:lstStyle>
            <a:lvl1pPr>
              <a:defRPr sz="32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 sz="2800"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668344" y="6597352"/>
            <a:ext cx="15311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东北大学 谭振华</a:t>
            </a:r>
            <a:endParaRPr lang="zh-CN" altLang="en-US" sz="14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766" y="0"/>
            <a:ext cx="9144000" cy="69269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lIns="76786" tIns="38393" rIns="76786" bIns="38393"/>
          <a:lstStyle>
            <a:lvl1pPr>
              <a:defRPr sz="36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764704"/>
            <a:ext cx="8496944" cy="5904656"/>
          </a:xfrm>
          <a:prstGeom prst="rect">
            <a:avLst/>
          </a:prstGeom>
        </p:spPr>
        <p:txBody>
          <a:bodyPr lIns="76786" tIns="38393" rIns="76786" bIns="38393"/>
          <a:lstStyle>
            <a:lvl1pPr>
              <a:defRPr sz="32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 sz="2800"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75000">
              <a:srgbClr val="FBFBFB"/>
            </a:gs>
            <a:gs pos="100000">
              <a:srgbClr val="D0D0D0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1024255" rtl="0" eaLnBrk="1" latinLnBrk="0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4175" indent="-38417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32485" indent="-320040" algn="l" defTabSz="1024255" rtl="0" eaLnBrk="1" latinLnBrk="0" hangingPunct="1">
        <a:spcBef>
          <a:spcPct val="20000"/>
        </a:spcBef>
        <a:buFont typeface="Arial" panose="020B0604020202020204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8079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9260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0505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1749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2930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4175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35356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18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489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3670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485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60955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7340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852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97655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107504" y="44624"/>
            <a:ext cx="4528256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lIns="76772" tIns="38386" rIns="76772" bIns="38386" anchor="ctr"/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第一篇 数理逻辑</a:t>
            </a:r>
            <a:endParaRPr lang="en-US" altLang="zh-CN" sz="2800" dirty="0">
              <a:solidFill>
                <a:prstClr val="whit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1043608" y="2636912"/>
            <a:ext cx="7521824" cy="1378715"/>
          </a:xfrm>
          <a:prstGeom prst="rect">
            <a:avLst/>
          </a:prstGeom>
          <a:noFill/>
          <a:ln>
            <a:noFill/>
          </a:ln>
          <a:effectLst/>
        </p:spPr>
        <p:txBody>
          <a:bodyPr lIns="76772" tIns="38386" rIns="76772" bIns="38386" anchor="ctr"/>
          <a:lstStyle/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72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1-6.</a:t>
            </a:r>
            <a:r>
              <a:rPr lang="zh-CN" altLang="en-US" sz="72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范式</a:t>
            </a:r>
            <a:r>
              <a:rPr lang="en-US" altLang="zh-CN" sz="72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(Paradigm)</a:t>
            </a:r>
            <a:endParaRPr lang="en-US" altLang="zh-CN" sz="7200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0000FF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 dirty="0">
                <a:sym typeface="Kingsoft Phonetic Plain" pitchFamily="2" charset="2"/>
              </a:rPr>
              <a:t>     </a:t>
            </a:r>
            <a:r>
              <a:rPr lang="zh-CN" altLang="en-US" sz="2800" dirty="0">
                <a:sym typeface="Kingsoft Phonetic Plain" pitchFamily="2" charset="2"/>
              </a:rPr>
              <a:t>范式就是命题公式形式的规范形式。这里约定在范式中 </a:t>
            </a:r>
            <a:r>
              <a:rPr lang="zh-CN" altLang="en-US" sz="2800" dirty="0">
                <a:solidFill>
                  <a:srgbClr val="FF0000"/>
                </a:solidFill>
              </a:rPr>
              <a:t>只含有联结词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</a:t>
            </a:r>
            <a:r>
              <a:rPr lang="zh-CN" altLang="en-US" sz="2800" dirty="0">
                <a:solidFill>
                  <a:srgbClr val="FF0000"/>
                </a:solidFill>
              </a:rPr>
              <a:t>、</a:t>
            </a:r>
            <a:r>
              <a:rPr lang="zh-CN" altLang="en-US" sz="2800" dirty="0">
                <a:solidFill>
                  <a:srgbClr val="FF0000"/>
                </a:solidFill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zh-CN" altLang="en-US" sz="2800" dirty="0">
                <a:solidFill>
                  <a:srgbClr val="FF0000"/>
                </a:solidFill>
                <a:sym typeface="Kingsoft Phonetic Plain" pitchFamily="2" charset="2"/>
              </a:rPr>
              <a:t>和</a:t>
            </a:r>
            <a:r>
              <a:rPr lang="zh-CN" altLang="en-US" sz="2800" dirty="0">
                <a:solidFill>
                  <a:srgbClr val="FF0000"/>
                </a:solidFill>
                <a:ea typeface="MS Gothic" panose="020B0609070205080204" pitchFamily="49" charset="-128"/>
                <a:sym typeface="Kingsoft Phonetic Plain" pitchFamily="2" charset="2"/>
              </a:rPr>
              <a:t>∧。</a:t>
            </a:r>
            <a:endParaRPr lang="en-US" altLang="zh-CN" sz="2800" dirty="0">
              <a:solidFill>
                <a:srgbClr val="FF0000"/>
              </a:solidFill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endParaRPr lang="zh-CN" altLang="en-US" sz="2800" dirty="0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dirty="0">
                <a:solidFill>
                  <a:srgbClr val="FF0000"/>
                </a:solidFill>
                <a:ea typeface="MS Gothic" panose="020B0609070205080204" pitchFamily="49" charset="-128"/>
                <a:sym typeface="Kingsoft Phonetic Plain" pitchFamily="2" charset="2"/>
              </a:rPr>
              <a:t>1.</a:t>
            </a:r>
            <a:r>
              <a:rPr lang="zh-CN" altLang="en-US" sz="2800" b="1" i="1" dirty="0">
                <a:solidFill>
                  <a:srgbClr val="FF0000"/>
                </a:solidFill>
                <a:sym typeface="Kingsoft Phonetic Plain" pitchFamily="2" charset="2"/>
              </a:rPr>
              <a:t>合取式与析取式</a:t>
            </a:r>
            <a:endParaRPr lang="zh-CN" altLang="en-US" sz="2800" b="1" dirty="0">
              <a:solidFill>
                <a:srgbClr val="FF0000"/>
              </a:solidFill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 sz="2800" dirty="0">
                <a:sym typeface="Kingsoft Phonetic Plain" pitchFamily="2" charset="2"/>
              </a:rPr>
              <a:t>   </a:t>
            </a:r>
            <a:r>
              <a:rPr lang="zh-CN" altLang="en-US" sz="2800" dirty="0">
                <a:solidFill>
                  <a:srgbClr val="FF0000"/>
                </a:solidFill>
                <a:ea typeface="黑体" panose="02010609060101010101" pitchFamily="49" charset="-122"/>
                <a:sym typeface="Kingsoft Phonetic Plain" pitchFamily="2" charset="2"/>
              </a:rPr>
              <a:t>合取式</a:t>
            </a:r>
            <a:r>
              <a:rPr lang="zh-CN" altLang="en-US" sz="2800" dirty="0">
                <a:sym typeface="Kingsoft Phonetic Plain" pitchFamily="2" charset="2"/>
              </a:rPr>
              <a:t>：是用“</a:t>
            </a:r>
            <a:r>
              <a:rPr lang="zh-CN" altLang="en-US" sz="2800" dirty="0">
                <a:ea typeface="MS Gothic" panose="020B0609070205080204" pitchFamily="49" charset="-128"/>
                <a:sym typeface="Kingsoft Phonetic Plain" pitchFamily="2" charset="2"/>
              </a:rPr>
              <a:t>∧”</a:t>
            </a:r>
            <a:r>
              <a:rPr lang="zh-CN" altLang="en-US" sz="2800" dirty="0">
                <a:sym typeface="Kingsoft Phonetic Plain" pitchFamily="2" charset="2"/>
              </a:rPr>
              <a:t>联结命题变元或变元的</a:t>
            </a:r>
            <a:endParaRPr lang="zh-CN" altLang="en-US" sz="2800" dirty="0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 sz="2800" dirty="0">
                <a:sym typeface="Kingsoft Phonetic Plain" pitchFamily="2" charset="2"/>
              </a:rPr>
              <a:t>否定构成的式子。</a:t>
            </a:r>
            <a:endParaRPr lang="zh-CN" altLang="en-US" sz="2800" dirty="0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 sz="2800" dirty="0">
                <a:sym typeface="Kingsoft Phonetic Plain" pitchFamily="2" charset="2"/>
              </a:rPr>
              <a:t>    如  </a:t>
            </a:r>
            <a:r>
              <a:rPr lang="en-US" altLang="zh-CN" sz="2800" dirty="0">
                <a:sym typeface="Kingsoft Phonetic Plain" pitchFamily="2" charset="2"/>
              </a:rPr>
              <a:t>P </a:t>
            </a:r>
            <a:r>
              <a:rPr lang="zh-CN" altLang="en-US" sz="2800" dirty="0">
                <a:sym typeface="Kingsoft Phonetic Plain" pitchFamily="2" charset="2"/>
              </a:rPr>
              <a:t>、</a:t>
            </a:r>
            <a:r>
              <a:rPr lang="zh-CN" altLang="en-US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>
                <a:sym typeface="Symbol" panose="05050102010706020507" pitchFamily="18" charset="2"/>
              </a:rPr>
              <a:t>P </a:t>
            </a:r>
            <a:r>
              <a:rPr lang="zh-CN" altLang="en-US" sz="2800" dirty="0">
                <a:sym typeface="Symbol" panose="05050102010706020507" pitchFamily="18" charset="2"/>
              </a:rPr>
              <a:t>、</a:t>
            </a:r>
            <a:r>
              <a:rPr lang="en-US" altLang="zh-CN" sz="2800" dirty="0">
                <a:sym typeface="Kingsoft Phonetic Plain" pitchFamily="2" charset="2"/>
              </a:rPr>
              <a:t>P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ym typeface="Symbol" panose="05050102010706020507" pitchFamily="18" charset="2"/>
              </a:rPr>
              <a:t>Q</a:t>
            </a:r>
            <a:r>
              <a:rPr lang="zh-CN" altLang="en-US" sz="2800" dirty="0">
                <a:sym typeface="Symbol" panose="05050102010706020507" pitchFamily="18" charset="2"/>
              </a:rPr>
              <a:t>、</a:t>
            </a:r>
            <a:r>
              <a:rPr lang="en-US" altLang="zh-CN" sz="2800" dirty="0">
                <a:sym typeface="Symbol" panose="05050102010706020507" pitchFamily="18" charset="2"/>
              </a:rPr>
              <a:t>P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ym typeface="Symbol" panose="05050102010706020507" pitchFamily="18" charset="2"/>
              </a:rPr>
              <a:t>Q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ym typeface="Symbol" panose="05050102010706020507" pitchFamily="18" charset="2"/>
              </a:rPr>
              <a:t>R</a:t>
            </a:r>
            <a:endParaRPr lang="en-US" altLang="zh-CN" sz="2800" dirty="0">
              <a:sym typeface="Kingsoft Phonetic Plain" pitchFamily="2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dirty="0">
                <a:solidFill>
                  <a:srgbClr val="FF0000"/>
                </a:solidFill>
                <a:sym typeface="Kingsoft Phonetic Plain" pitchFamily="2" charset="2"/>
              </a:rPr>
              <a:t>   </a:t>
            </a:r>
            <a:r>
              <a:rPr lang="zh-CN" altLang="en-US" sz="2800" dirty="0">
                <a:solidFill>
                  <a:srgbClr val="FF0000"/>
                </a:solidFill>
                <a:ea typeface="黑体" panose="02010609060101010101" pitchFamily="49" charset="-122"/>
                <a:sym typeface="Kingsoft Phonetic Plain" pitchFamily="2" charset="2"/>
              </a:rPr>
              <a:t>析取式</a:t>
            </a:r>
            <a:r>
              <a:rPr lang="zh-CN" altLang="en-US" sz="2800" dirty="0">
                <a:sym typeface="Kingsoft Phonetic Plain" pitchFamily="2" charset="2"/>
              </a:rPr>
              <a:t>：是用“</a:t>
            </a:r>
            <a:r>
              <a:rPr lang="zh-CN" altLang="en-US" sz="2800" dirty="0">
                <a:ea typeface="MS Gothic" panose="020B0609070205080204" pitchFamily="49" charset="-128"/>
                <a:sym typeface="Kingsoft Phonetic Plain" pitchFamily="2" charset="2"/>
              </a:rPr>
              <a:t>∨”</a:t>
            </a:r>
            <a:r>
              <a:rPr lang="zh-CN" altLang="en-US" sz="2800" dirty="0">
                <a:sym typeface="Kingsoft Phonetic Plain" pitchFamily="2" charset="2"/>
              </a:rPr>
              <a:t> 联结命题变元或变元</a:t>
            </a:r>
            <a:endParaRPr lang="zh-CN" altLang="en-US" sz="2800" dirty="0">
              <a:sym typeface="Kingsoft Phonetic Plain" pitchFamily="2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800" dirty="0">
                <a:sym typeface="Kingsoft Phonetic Plain" pitchFamily="2" charset="2"/>
              </a:rPr>
              <a:t>的否定构成的式子。</a:t>
            </a:r>
            <a:endParaRPr lang="zh-CN" altLang="en-US" sz="2800" dirty="0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 sz="2800" dirty="0">
                <a:sym typeface="Kingsoft Phonetic Plain" pitchFamily="2" charset="2"/>
              </a:rPr>
              <a:t>    如  </a:t>
            </a:r>
            <a:r>
              <a:rPr lang="en-US" altLang="zh-CN" sz="2800" dirty="0">
                <a:sym typeface="Kingsoft Phonetic Plain" pitchFamily="2" charset="2"/>
              </a:rPr>
              <a:t>P </a:t>
            </a:r>
            <a:r>
              <a:rPr lang="zh-CN" altLang="en-US" sz="2800" dirty="0">
                <a:sym typeface="Kingsoft Phonetic Plain" pitchFamily="2" charset="2"/>
              </a:rPr>
              <a:t>、</a:t>
            </a:r>
            <a:r>
              <a:rPr lang="zh-CN" altLang="en-US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>
                <a:sym typeface="Symbol" panose="05050102010706020507" pitchFamily="18" charset="2"/>
              </a:rPr>
              <a:t>P </a:t>
            </a:r>
            <a:r>
              <a:rPr lang="zh-CN" altLang="en-US" sz="2800" dirty="0">
                <a:sym typeface="Symbol" panose="05050102010706020507" pitchFamily="18" charset="2"/>
              </a:rPr>
              <a:t>、</a:t>
            </a:r>
            <a:r>
              <a:rPr lang="en-US" altLang="zh-CN" sz="2800" dirty="0">
                <a:sym typeface="Kingsoft Phonetic Plain" pitchFamily="2" charset="2"/>
              </a:rPr>
              <a:t>P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dirty="0">
                <a:sym typeface="Symbol" panose="05050102010706020507" pitchFamily="18" charset="2"/>
              </a:rPr>
              <a:t>Q</a:t>
            </a:r>
            <a:r>
              <a:rPr lang="zh-CN" altLang="en-US" sz="2800" dirty="0">
                <a:sym typeface="Symbol" panose="05050102010706020507" pitchFamily="18" charset="2"/>
              </a:rPr>
              <a:t>、</a:t>
            </a:r>
            <a:r>
              <a:rPr lang="en-US" altLang="zh-CN" sz="2800" dirty="0">
                <a:sym typeface="Symbol" panose="05050102010706020507" pitchFamily="18" charset="2"/>
              </a:rPr>
              <a:t>P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dirty="0">
                <a:sym typeface="Symbol" panose="05050102010706020507" pitchFamily="18" charset="2"/>
              </a:rPr>
              <a:t>Q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dirty="0">
                <a:sym typeface="Symbol" panose="05050102010706020507" pitchFamily="18" charset="2"/>
              </a:rPr>
              <a:t>R</a:t>
            </a:r>
            <a:endParaRPr lang="en-US" altLang="zh-CN" sz="2800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注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:∵ </a:t>
            </a:r>
            <a:r>
              <a:rPr lang="en-US" altLang="zh-CN" sz="2800" dirty="0">
                <a:solidFill>
                  <a:srgbClr val="FF0000"/>
                </a:solidFill>
              </a:rPr>
              <a:t>P</a:t>
            </a:r>
            <a:r>
              <a:rPr lang="en-US" altLang="zh-CN" sz="2800" dirty="0">
                <a:solidFill>
                  <a:srgbClr val="FF0000"/>
                </a:solidFill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dirty="0">
                <a:solidFill>
                  <a:srgbClr val="FF0000"/>
                </a:solidFill>
              </a:rPr>
              <a:t>P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</a:t>
            </a:r>
            <a:r>
              <a:rPr lang="en-US" altLang="zh-CN" sz="2800" dirty="0">
                <a:solidFill>
                  <a:srgbClr val="FF0000"/>
                </a:solidFill>
              </a:rPr>
              <a:t>P  P</a:t>
            </a:r>
            <a:r>
              <a:rPr lang="en-US" altLang="zh-CN" sz="2800" dirty="0">
                <a:solidFill>
                  <a:srgbClr val="FF0000"/>
                </a:solidFill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olidFill>
                  <a:srgbClr val="FF0000"/>
                </a:solidFill>
              </a:rPr>
              <a:t>P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</a:t>
            </a:r>
            <a:r>
              <a:rPr lang="en-US" altLang="zh-CN" sz="2800" dirty="0">
                <a:solidFill>
                  <a:srgbClr val="FF0000"/>
                </a:solidFill>
              </a:rPr>
              <a:t>P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 ∴P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是合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析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取式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.</a:t>
            </a:r>
            <a:endParaRPr lang="en-US" altLang="zh-CN" sz="2800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</a:t>
            </a:r>
            <a:r>
              <a:rPr lang="en-US" altLang="zh-CN" dirty="0"/>
              <a:t>.</a:t>
            </a:r>
            <a:r>
              <a:rPr lang="zh-CN" altLang="en-US" dirty="0"/>
              <a:t>析取范式与合取范式</a:t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23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5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5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5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5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5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5" grpId="0" autoUpdateAnimBg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625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CC00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>
                <a:solidFill>
                  <a:srgbClr val="FF0000"/>
                </a:solidFill>
                <a:ea typeface="MS Gothic" panose="020B0609070205080204" pitchFamily="49" charset="-128"/>
                <a:sym typeface="Kingsoft Phonetic Plain" pitchFamily="2" charset="2"/>
              </a:rPr>
              <a:t>2.</a:t>
            </a:r>
            <a:r>
              <a:rPr lang="zh-CN" altLang="zh-CN" b="1" i="1">
                <a:solidFill>
                  <a:srgbClr val="FF0000"/>
                </a:solidFill>
                <a:sym typeface="Kingsoft Phonetic Plain" pitchFamily="2" charset="2"/>
              </a:rPr>
              <a:t>析取范式</a:t>
            </a:r>
            <a:endParaRPr lang="zh-CN" altLang="zh-CN">
              <a:solidFill>
                <a:srgbClr val="FF0000"/>
              </a:solidFill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zh-CN">
                <a:sym typeface="Kingsoft Phonetic Plain" pitchFamily="2" charset="2"/>
              </a:rPr>
              <a:t>   公式</a:t>
            </a:r>
            <a:r>
              <a:rPr lang="en-US" altLang="zh-CN">
                <a:sym typeface="Kingsoft Phonetic Plain" pitchFamily="2" charset="2"/>
              </a:rPr>
              <a:t>A</a:t>
            </a:r>
            <a:r>
              <a:rPr lang="zh-CN" altLang="zh-CN">
                <a:sym typeface="Kingsoft Phonetic Plain" pitchFamily="2" charset="2"/>
              </a:rPr>
              <a:t>如果写成如下形式：</a:t>
            </a:r>
            <a:endParaRPr lang="zh-CN" altLang="zh-CN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zh-CN">
                <a:sym typeface="Kingsoft Phonetic Plain" pitchFamily="2" charset="2"/>
              </a:rPr>
              <a:t>       </a:t>
            </a:r>
            <a:r>
              <a:rPr lang="en-US" altLang="zh-CN">
                <a:sym typeface="Kingsoft Phonetic Plain" pitchFamily="2" charset="2"/>
              </a:rPr>
              <a:t>A</a:t>
            </a:r>
            <a:r>
              <a:rPr lang="en-US" altLang="zh-CN" baseline="-25000">
                <a:sym typeface="Kingsoft Phonetic Plain" pitchFamily="2" charset="2"/>
              </a:rPr>
              <a:t>1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Kingsoft Phonetic Plain" pitchFamily="2" charset="2"/>
              </a:rPr>
              <a:t>A</a:t>
            </a:r>
            <a:r>
              <a:rPr lang="en-US" altLang="zh-CN" baseline="-25000">
                <a:sym typeface="Kingsoft Phonetic Plain" pitchFamily="2" charset="2"/>
              </a:rPr>
              <a:t>2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∨...∨</a:t>
            </a:r>
            <a:r>
              <a:rPr lang="en-US" altLang="zh-CN">
                <a:sym typeface="Kingsoft Phonetic Plain" pitchFamily="2" charset="2"/>
              </a:rPr>
              <a:t>A</a:t>
            </a:r>
            <a:r>
              <a:rPr lang="en-US" altLang="zh-CN" baseline="-25000">
                <a:sym typeface="Kingsoft Phonetic Plain" pitchFamily="2" charset="2"/>
              </a:rPr>
              <a:t>n  </a:t>
            </a:r>
            <a:r>
              <a:rPr lang="en-US" altLang="zh-CN">
                <a:sym typeface="Kingsoft Phonetic Plain" pitchFamily="2" charset="2"/>
              </a:rPr>
              <a:t>(n≥1) </a:t>
            </a:r>
            <a:r>
              <a:rPr lang="zh-CN" altLang="zh-CN">
                <a:sym typeface="Kingsoft Phonetic Plain" pitchFamily="2" charset="2"/>
              </a:rPr>
              <a:t>其中每个</a:t>
            </a:r>
            <a:r>
              <a:rPr lang="en-US" altLang="zh-CN">
                <a:sym typeface="Kingsoft Phonetic Plain" pitchFamily="2" charset="2"/>
              </a:rPr>
              <a:t>A</a:t>
            </a:r>
            <a:r>
              <a:rPr lang="en-US" altLang="zh-CN" baseline="-25000">
                <a:sym typeface="Kingsoft Phonetic Plain" pitchFamily="2" charset="2"/>
              </a:rPr>
              <a:t>i</a:t>
            </a:r>
            <a:r>
              <a:rPr lang="en-US" altLang="zh-CN">
                <a:sym typeface="Kingsoft Phonetic Plain" pitchFamily="2" charset="2"/>
              </a:rPr>
              <a:t> </a:t>
            </a:r>
            <a:endParaRPr lang="en-US" altLang="zh-CN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>
                <a:sym typeface="Kingsoft Phonetic Plain" pitchFamily="2" charset="2"/>
              </a:rPr>
              <a:t>(i=1,2,…,n)</a:t>
            </a:r>
            <a:r>
              <a:rPr lang="zh-CN" altLang="en-US">
                <a:sym typeface="Kingsoft Phonetic Plain" pitchFamily="2" charset="2"/>
              </a:rPr>
              <a:t>是</a:t>
            </a:r>
            <a:r>
              <a:rPr lang="zh-CN" altLang="zh-CN">
                <a:sym typeface="Kingsoft Phonetic Plain" pitchFamily="2" charset="2"/>
              </a:rPr>
              <a:t>合取式，称之为</a:t>
            </a:r>
            <a:r>
              <a:rPr lang="en-US" altLang="zh-CN">
                <a:sym typeface="Kingsoft Phonetic Plain" pitchFamily="2" charset="2"/>
              </a:rPr>
              <a:t>A</a:t>
            </a:r>
            <a:r>
              <a:rPr lang="zh-CN" altLang="zh-CN">
                <a:sym typeface="Kingsoft Phonetic Plain" pitchFamily="2" charset="2"/>
              </a:rPr>
              <a:t>的</a:t>
            </a:r>
            <a:r>
              <a:rPr lang="zh-CN" altLang="zh-CN">
                <a:ea typeface="黑体" panose="02010609060101010101" pitchFamily="49" charset="-122"/>
                <a:sym typeface="Kingsoft Phonetic Plain" pitchFamily="2" charset="2"/>
              </a:rPr>
              <a:t>析取范式</a:t>
            </a:r>
            <a:r>
              <a:rPr lang="zh-CN" altLang="zh-CN">
                <a:sym typeface="Kingsoft Phonetic Plain" pitchFamily="2" charset="2"/>
              </a:rPr>
              <a:t>。</a:t>
            </a:r>
            <a:r>
              <a:rPr lang="zh-CN" altLang="zh-CN" baseline="-25000">
                <a:sym typeface="Kingsoft Phonetic Plain" pitchFamily="2" charset="2"/>
              </a:rPr>
              <a:t>  </a:t>
            </a:r>
            <a:endParaRPr lang="zh-CN" altLang="en-US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>
                <a:solidFill>
                  <a:srgbClr val="FF0000"/>
                </a:solidFill>
                <a:ea typeface="MS Gothic" panose="020B0609070205080204" pitchFamily="49" charset="-128"/>
                <a:sym typeface="Kingsoft Phonetic Plain" pitchFamily="2" charset="2"/>
              </a:rPr>
              <a:t>3.</a:t>
            </a:r>
            <a:r>
              <a:rPr lang="zh-CN" altLang="zh-CN" b="1" i="1">
                <a:solidFill>
                  <a:srgbClr val="FF0000"/>
                </a:solidFill>
                <a:sym typeface="Kingsoft Phonetic Plain" pitchFamily="2" charset="2"/>
              </a:rPr>
              <a:t>合取范式</a:t>
            </a:r>
            <a:endParaRPr lang="zh-CN" altLang="zh-CN" i="1">
              <a:solidFill>
                <a:srgbClr val="FF0000"/>
              </a:solidFill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zh-CN">
                <a:sym typeface="Kingsoft Phonetic Plain" pitchFamily="2" charset="2"/>
              </a:rPr>
              <a:t>   公式</a:t>
            </a:r>
            <a:r>
              <a:rPr lang="en-US" altLang="zh-CN">
                <a:sym typeface="Kingsoft Phonetic Plain" pitchFamily="2" charset="2"/>
              </a:rPr>
              <a:t>A</a:t>
            </a:r>
            <a:r>
              <a:rPr lang="zh-CN" altLang="zh-CN">
                <a:sym typeface="Kingsoft Phonetic Plain" pitchFamily="2" charset="2"/>
              </a:rPr>
              <a:t>如果写成如下形式：</a:t>
            </a:r>
            <a:endParaRPr lang="zh-CN" altLang="zh-CN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zh-CN">
                <a:sym typeface="Kingsoft Phonetic Plain" pitchFamily="2" charset="2"/>
              </a:rPr>
              <a:t>       </a:t>
            </a:r>
            <a:r>
              <a:rPr lang="en-US" altLang="zh-CN">
                <a:sym typeface="Kingsoft Phonetic Plain" pitchFamily="2" charset="2"/>
              </a:rPr>
              <a:t>A</a:t>
            </a:r>
            <a:r>
              <a:rPr lang="en-US" altLang="zh-CN" baseline="-25000">
                <a:sym typeface="Kingsoft Phonetic Plain" pitchFamily="2" charset="2"/>
              </a:rPr>
              <a:t>1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>
                <a:sym typeface="Kingsoft Phonetic Plain" pitchFamily="2" charset="2"/>
              </a:rPr>
              <a:t>A</a:t>
            </a:r>
            <a:r>
              <a:rPr lang="en-US" altLang="zh-CN" baseline="-25000">
                <a:sym typeface="Kingsoft Phonetic Plain" pitchFamily="2" charset="2"/>
              </a:rPr>
              <a:t>2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∧...∧</a:t>
            </a:r>
            <a:r>
              <a:rPr lang="en-US" altLang="zh-CN">
                <a:sym typeface="Kingsoft Phonetic Plain" pitchFamily="2" charset="2"/>
              </a:rPr>
              <a:t>A</a:t>
            </a:r>
            <a:r>
              <a:rPr lang="en-US" altLang="zh-CN" baseline="-25000">
                <a:sym typeface="Kingsoft Phonetic Plain" pitchFamily="2" charset="2"/>
              </a:rPr>
              <a:t>n  </a:t>
            </a:r>
            <a:r>
              <a:rPr lang="en-US" altLang="zh-CN">
                <a:sym typeface="Kingsoft Phonetic Plain" pitchFamily="2" charset="2"/>
              </a:rPr>
              <a:t>(n≥1) </a:t>
            </a:r>
            <a:r>
              <a:rPr lang="en-US" altLang="zh-CN" baseline="-25000">
                <a:sym typeface="Kingsoft Phonetic Plain" pitchFamily="2" charset="2"/>
              </a:rPr>
              <a:t> </a:t>
            </a:r>
            <a:r>
              <a:rPr lang="zh-CN" altLang="zh-CN">
                <a:sym typeface="Kingsoft Phonetic Plain" pitchFamily="2" charset="2"/>
              </a:rPr>
              <a:t>其中每个</a:t>
            </a:r>
            <a:r>
              <a:rPr lang="en-US" altLang="zh-CN">
                <a:sym typeface="Kingsoft Phonetic Plain" pitchFamily="2" charset="2"/>
              </a:rPr>
              <a:t>A</a:t>
            </a:r>
            <a:r>
              <a:rPr lang="en-US" altLang="zh-CN" baseline="-25000">
                <a:sym typeface="Kingsoft Phonetic Plain" pitchFamily="2" charset="2"/>
              </a:rPr>
              <a:t>i</a:t>
            </a:r>
            <a:r>
              <a:rPr lang="en-US" altLang="zh-CN">
                <a:sym typeface="Kingsoft Phonetic Plain" pitchFamily="2" charset="2"/>
              </a:rPr>
              <a:t> </a:t>
            </a:r>
            <a:endParaRPr lang="en-US" altLang="zh-CN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>
                <a:sym typeface="Kingsoft Phonetic Plain" pitchFamily="2" charset="2"/>
              </a:rPr>
              <a:t>(i=1,2,…,n)</a:t>
            </a:r>
            <a:r>
              <a:rPr lang="zh-CN" altLang="en-US">
                <a:sym typeface="Kingsoft Phonetic Plain" pitchFamily="2" charset="2"/>
              </a:rPr>
              <a:t>是</a:t>
            </a:r>
            <a:r>
              <a:rPr lang="zh-CN" altLang="zh-CN">
                <a:sym typeface="Kingsoft Phonetic Plain" pitchFamily="2" charset="2"/>
              </a:rPr>
              <a:t>析取式，称之为</a:t>
            </a:r>
            <a:r>
              <a:rPr lang="en-US" altLang="zh-CN">
                <a:sym typeface="Kingsoft Phonetic Plain" pitchFamily="2" charset="2"/>
              </a:rPr>
              <a:t>A</a:t>
            </a:r>
            <a:r>
              <a:rPr lang="zh-CN" altLang="zh-CN">
                <a:sym typeface="Kingsoft Phonetic Plain" pitchFamily="2" charset="2"/>
              </a:rPr>
              <a:t>的</a:t>
            </a:r>
            <a:r>
              <a:rPr lang="zh-CN" altLang="zh-CN">
                <a:ea typeface="黑体" panose="02010609060101010101" pitchFamily="49" charset="-122"/>
                <a:sym typeface="Kingsoft Phonetic Plain" pitchFamily="2" charset="2"/>
              </a:rPr>
              <a:t>合取范式</a:t>
            </a:r>
            <a:r>
              <a:rPr lang="zh-CN" altLang="zh-CN">
                <a:sym typeface="Kingsoft Phonetic Plain" pitchFamily="2" charset="2"/>
              </a:rPr>
              <a:t>。</a:t>
            </a:r>
            <a:endParaRPr lang="zh-CN" altLang="en-US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   例如，</a:t>
            </a:r>
            <a:r>
              <a:rPr lang="en-US" altLang="zh-CN"/>
              <a:t>P</a:t>
            </a:r>
            <a:r>
              <a:rPr lang="en-US" altLang="zh-CN">
                <a:sym typeface="Symbol" panose="05050102010706020507" pitchFamily="18" charset="2"/>
              </a:rPr>
              <a:t>Q</a:t>
            </a:r>
            <a:r>
              <a:rPr lang="en-US" altLang="zh-CN"/>
              <a:t> </a:t>
            </a:r>
            <a:r>
              <a:rPr lang="zh-CN" altLang="en-US"/>
              <a:t>的</a:t>
            </a:r>
            <a:r>
              <a:rPr lang="zh-CN" altLang="zh-CN">
                <a:sym typeface="Kingsoft Phonetic Plain" pitchFamily="2" charset="2"/>
              </a:rPr>
              <a:t>析取范式与合取范式：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   </a:t>
            </a:r>
            <a:r>
              <a:rPr lang="en-US" altLang="zh-CN"/>
              <a:t>P</a:t>
            </a:r>
            <a:r>
              <a:rPr lang="en-US" altLang="zh-CN">
                <a:sym typeface="Symbol" panose="05050102010706020507" pitchFamily="18" charset="2"/>
              </a:rPr>
              <a:t>Q (</a:t>
            </a:r>
            <a:r>
              <a:rPr lang="en-US" altLang="zh-CN"/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/>
              <a:t>Q)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(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Q)----</a:t>
            </a:r>
            <a:r>
              <a:rPr lang="zh-CN" altLang="zh-CN">
                <a:sym typeface="Kingsoft Phonetic Plain" pitchFamily="2" charset="2"/>
              </a:rPr>
              <a:t>析取范式</a:t>
            </a:r>
            <a:endParaRPr lang="zh-CN" altLang="zh-CN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   </a:t>
            </a:r>
            <a:r>
              <a:rPr lang="en-US" altLang="zh-CN"/>
              <a:t>P</a:t>
            </a:r>
            <a:r>
              <a:rPr lang="en-US" altLang="zh-CN">
                <a:sym typeface="Symbol" panose="05050102010706020507" pitchFamily="18" charset="2"/>
              </a:rPr>
              <a:t>Q (</a:t>
            </a:r>
            <a:r>
              <a:rPr lang="en-US" altLang="zh-CN"/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Q)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/>
              <a:t>(P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Q)----</a:t>
            </a:r>
            <a:r>
              <a:rPr lang="zh-CN" altLang="zh-CN">
                <a:sym typeface="Kingsoft Phonetic Plain" pitchFamily="2" charset="2"/>
              </a:rPr>
              <a:t>合取范式</a:t>
            </a:r>
            <a:endParaRPr lang="zh-CN" altLang="en-US">
              <a:sym typeface="Kingsoft Phonetic Plain" pitchFamily="2" charset="2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25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6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6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6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6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62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62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9" grpId="0" autoUpdateAnimBg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ea typeface="MS Gothic" panose="020B0609070205080204" pitchFamily="49" charset="-128"/>
                <a:sym typeface="Kingsoft Phonetic Plain" pitchFamily="2" charset="2"/>
              </a:rPr>
              <a:t>4.</a:t>
            </a:r>
            <a:r>
              <a:rPr lang="zh-CN" altLang="zh-CN" sz="2800" b="1" i="1">
                <a:solidFill>
                  <a:srgbClr val="FF0000"/>
                </a:solidFill>
                <a:sym typeface="Kingsoft Phonetic Plain" pitchFamily="2" charset="2"/>
              </a:rPr>
              <a:t>析取范式与合取范式的写法</a:t>
            </a:r>
            <a:endParaRPr lang="zh-CN" altLang="en-US" sz="2800" b="1" i="1">
              <a:solidFill>
                <a:srgbClr val="FF0000"/>
              </a:solidFill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>
                <a:sym typeface="Kingsoft Phonetic Plain" pitchFamily="2" charset="2"/>
              </a:rPr>
              <a:t>  </a:t>
            </a:r>
            <a:r>
              <a:rPr lang="zh-CN" altLang="en-US" sz="2800" b="1">
                <a:solidFill>
                  <a:srgbClr val="FF0000"/>
                </a:solidFill>
                <a:sym typeface="Kingsoft Phonetic Plain" pitchFamily="2" charset="2"/>
              </a:rPr>
              <a:t>⑴先用相应的公式去掉</a:t>
            </a:r>
            <a:r>
              <a:rPr lang="zh-CN" altLang="en-US" sz="2800" b="1">
                <a:solidFill>
                  <a:srgbClr val="FF0000"/>
                </a:solidFill>
                <a:sym typeface="Symbol" panose="05050102010706020507" pitchFamily="18" charset="2"/>
              </a:rPr>
              <a:t>和。</a:t>
            </a:r>
            <a:endParaRPr lang="zh-CN" altLang="en-US" sz="2800" b="1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/>
              <a:t>   公式</a:t>
            </a:r>
            <a:r>
              <a:rPr lang="en-US" altLang="zh-CN" sz="2800" b="1"/>
              <a:t>E</a:t>
            </a:r>
            <a:r>
              <a:rPr lang="en-US" altLang="zh-CN" sz="2800" b="1" baseline="-25000"/>
              <a:t>16      </a:t>
            </a:r>
            <a:r>
              <a:rPr lang="en-US" altLang="zh-CN" sz="2800" b="1"/>
              <a:t>  P</a:t>
            </a:r>
            <a:r>
              <a:rPr lang="en-US" altLang="zh-CN" sz="2800" b="1">
                <a:sym typeface="Symbol" panose="05050102010706020507" pitchFamily="18" charset="2"/>
              </a:rPr>
              <a:t></a:t>
            </a:r>
            <a:r>
              <a:rPr lang="en-US" altLang="zh-CN" sz="2800" b="1"/>
              <a:t>Q </a:t>
            </a:r>
            <a:r>
              <a:rPr lang="en-US" altLang="zh-CN" sz="2800" b="1">
                <a:sym typeface="Symbol" panose="05050102010706020507" pitchFamily="18" charset="2"/>
              </a:rPr>
              <a:t> </a:t>
            </a:r>
            <a:r>
              <a:rPr lang="en-US" altLang="zh-CN" sz="2800" b="1"/>
              <a:t>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/>
              <a:t>Q </a:t>
            </a:r>
            <a:endParaRPr lang="en-US" altLang="zh-CN" sz="2800" b="1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/>
              <a:t>   </a:t>
            </a:r>
            <a:r>
              <a:rPr lang="zh-CN" altLang="en-US" sz="2800" b="1"/>
              <a:t>公式</a:t>
            </a:r>
            <a:r>
              <a:rPr lang="en-US" altLang="zh-CN" sz="2800" b="1"/>
              <a:t>E</a:t>
            </a:r>
            <a:r>
              <a:rPr lang="en-US" altLang="zh-CN" sz="2800" b="1" baseline="-25000"/>
              <a:t>21</a:t>
            </a:r>
            <a:r>
              <a:rPr lang="en-US" altLang="zh-CN" sz="2800" b="1"/>
              <a:t>      P</a:t>
            </a:r>
            <a:r>
              <a:rPr lang="en-US" altLang="zh-CN" sz="2800" b="1">
                <a:sym typeface="Symbol" panose="05050102010706020507" pitchFamily="18" charset="2"/>
              </a:rPr>
              <a:t>Q (</a:t>
            </a:r>
            <a:r>
              <a:rPr lang="en-US" altLang="zh-CN" sz="2800" b="1"/>
              <a:t>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/>
              <a:t>Q)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/>
              <a:t>(</a:t>
            </a:r>
            <a:r>
              <a:rPr lang="en-US" altLang="zh-CN" sz="2800" b="1">
                <a:sym typeface="Symbol" panose="05050102010706020507" pitchFamily="18" charset="2"/>
              </a:rPr>
              <a:t></a:t>
            </a:r>
            <a:r>
              <a:rPr lang="en-US" altLang="zh-CN" sz="2800" b="1"/>
              <a:t>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>
                <a:sym typeface="Symbol" panose="05050102010706020507" pitchFamily="18" charset="2"/>
              </a:rPr>
              <a:t></a:t>
            </a:r>
            <a:r>
              <a:rPr lang="en-US" altLang="zh-CN" sz="2800" b="1"/>
              <a:t>Q) </a:t>
            </a:r>
            <a:endParaRPr lang="en-US" altLang="zh-CN" sz="2800" b="1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/>
              <a:t>   </a:t>
            </a:r>
            <a:r>
              <a:rPr lang="zh-CN" altLang="en-US" sz="2800" b="1"/>
              <a:t>公式</a:t>
            </a:r>
            <a:r>
              <a:rPr lang="en-US" altLang="zh-CN" sz="2800" b="1"/>
              <a:t>E</a:t>
            </a:r>
            <a:r>
              <a:rPr lang="en-US" altLang="zh-CN" sz="2800" b="1" baseline="-25000"/>
              <a:t>20         </a:t>
            </a:r>
            <a:r>
              <a:rPr lang="en-US" altLang="zh-CN" sz="2800" b="1"/>
              <a:t>P</a:t>
            </a:r>
            <a:r>
              <a:rPr lang="en-US" altLang="zh-CN" sz="2800" b="1">
                <a:sym typeface="Symbol" panose="05050102010706020507" pitchFamily="18" charset="2"/>
              </a:rPr>
              <a:t>Q (</a:t>
            </a:r>
            <a:r>
              <a:rPr lang="en-US" altLang="zh-CN" sz="2800" b="1"/>
              <a:t>P</a:t>
            </a:r>
            <a:r>
              <a:rPr lang="en-US" altLang="zh-CN" sz="2800" b="1">
                <a:sym typeface="Symbol" panose="05050102010706020507" pitchFamily="18" charset="2"/>
              </a:rPr>
              <a:t></a:t>
            </a:r>
            <a:r>
              <a:rPr lang="en-US" altLang="zh-CN" sz="2800" b="1"/>
              <a:t>Q)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/>
              <a:t>(Q</a:t>
            </a:r>
            <a:r>
              <a:rPr lang="en-US" altLang="zh-CN" sz="2800" b="1">
                <a:sym typeface="Symbol" panose="05050102010706020507" pitchFamily="18" charset="2"/>
              </a:rPr>
              <a:t></a:t>
            </a:r>
            <a:r>
              <a:rPr lang="en-US" altLang="zh-CN" sz="2800" b="1"/>
              <a:t>P) </a:t>
            </a:r>
            <a:endParaRPr lang="en-US" altLang="zh-CN" sz="2800" b="1" baseline="-250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/>
              <a:t>   </a:t>
            </a:r>
            <a:r>
              <a:rPr lang="zh-CN" altLang="en-US" sz="2800" b="1"/>
              <a:t>再用</a:t>
            </a:r>
            <a:r>
              <a:rPr lang="en-US" altLang="zh-CN" sz="2800" b="1"/>
              <a:t>E</a:t>
            </a:r>
            <a:r>
              <a:rPr lang="en-US" altLang="zh-CN" sz="2800" b="1" baseline="-25000"/>
              <a:t>16       </a:t>
            </a:r>
            <a:r>
              <a:rPr lang="en-US" altLang="zh-CN" sz="2800" b="1"/>
              <a:t> P</a:t>
            </a:r>
            <a:r>
              <a:rPr lang="en-US" altLang="zh-CN" sz="2800" b="1">
                <a:sym typeface="Symbol" panose="05050102010706020507" pitchFamily="18" charset="2"/>
              </a:rPr>
              <a:t>Q (</a:t>
            </a:r>
            <a:r>
              <a:rPr lang="en-US" altLang="zh-CN" sz="2800" b="1"/>
              <a:t>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/>
              <a:t>Q)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/>
              <a:t>(P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anose="05050102010706020507" pitchFamily="18" charset="2"/>
              </a:rPr>
              <a:t></a:t>
            </a:r>
            <a:r>
              <a:rPr lang="en-US" altLang="zh-CN" sz="2800" b="1"/>
              <a:t>Q) </a:t>
            </a:r>
            <a:endParaRPr lang="en-US" altLang="zh-CN" sz="2800" b="1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sym typeface="Kingsoft Phonetic Plain" pitchFamily="2" charset="2"/>
              </a:rPr>
              <a:t> </a:t>
            </a:r>
            <a:r>
              <a:rPr lang="en-US" altLang="zh-CN" sz="2800" b="1">
                <a:solidFill>
                  <a:srgbClr val="FF0000"/>
                </a:solidFill>
                <a:sym typeface="Kingsoft Phonetic Plain" pitchFamily="2" charset="2"/>
              </a:rPr>
              <a:t> ⑵</a:t>
            </a:r>
            <a:r>
              <a:rPr lang="zh-CN" altLang="en-US" sz="2800" b="1">
                <a:solidFill>
                  <a:srgbClr val="FF0000"/>
                </a:solidFill>
                <a:sym typeface="Kingsoft Phonetic Plain" pitchFamily="2" charset="2"/>
              </a:rPr>
              <a:t>用公式的否定公式或摩根定律将</a:t>
            </a:r>
            <a:r>
              <a:rPr lang="zh-CN" altLang="en-US" sz="2800" b="1">
                <a:solidFill>
                  <a:srgbClr val="FF0000"/>
                </a:solidFill>
                <a:sym typeface="Symbol" panose="05050102010706020507" pitchFamily="18" charset="2"/>
              </a:rPr>
              <a:t>后移到命题</a:t>
            </a:r>
            <a:endParaRPr lang="zh-CN" altLang="en-US" sz="2800" b="1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sym typeface="Symbol" panose="05050102010706020507" pitchFamily="18" charset="2"/>
              </a:rPr>
              <a:t>变元之前。</a:t>
            </a:r>
            <a:endParaRPr lang="zh-CN" altLang="en-US" sz="2800" b="1">
              <a:sym typeface="Kingsoft Phonetic Plain" pitchFamily="2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800" b="1">
                <a:sym typeface="Kingsoft Phonetic Plain" pitchFamily="2" charset="2"/>
              </a:rPr>
              <a:t>    </a:t>
            </a:r>
            <a:r>
              <a:rPr lang="zh-CN" altLang="en-US" sz="2800" b="1">
                <a:sym typeface="Symbol" panose="05050102010706020507" pitchFamily="18" charset="2"/>
              </a:rPr>
              <a:t></a:t>
            </a:r>
            <a:r>
              <a:rPr lang="en-US" altLang="zh-CN" sz="2800" b="1"/>
              <a:t>A(P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,P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,…,P</a:t>
            </a:r>
            <a:r>
              <a:rPr lang="en-US" altLang="zh-CN" sz="2800" b="1" baseline="-25000"/>
              <a:t>n</a:t>
            </a:r>
            <a:r>
              <a:rPr lang="en-US" altLang="zh-CN" sz="2800" b="1"/>
              <a:t>)</a:t>
            </a:r>
            <a:r>
              <a:rPr lang="en-US" altLang="zh-CN" sz="2800" b="1">
                <a:sym typeface="Symbol" panose="05050102010706020507" pitchFamily="18" charset="2"/>
              </a:rPr>
              <a:t></a:t>
            </a:r>
            <a:r>
              <a:rPr lang="en-US" altLang="zh-CN" sz="2800" b="1"/>
              <a:t>A*(</a:t>
            </a:r>
            <a:r>
              <a:rPr lang="en-US" altLang="zh-CN" sz="2800" b="1">
                <a:sym typeface="Symbol" panose="05050102010706020507" pitchFamily="18" charset="2"/>
              </a:rPr>
              <a:t></a:t>
            </a:r>
            <a:r>
              <a:rPr lang="en-US" altLang="zh-CN" sz="2800" b="1"/>
              <a:t>P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,</a:t>
            </a:r>
            <a:r>
              <a:rPr lang="en-US" altLang="zh-CN" sz="2800" b="1">
                <a:sym typeface="Symbol" panose="05050102010706020507" pitchFamily="18" charset="2"/>
              </a:rPr>
              <a:t></a:t>
            </a:r>
            <a:r>
              <a:rPr lang="en-US" altLang="zh-CN" sz="2800" b="1"/>
              <a:t>P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,…,</a:t>
            </a:r>
            <a:r>
              <a:rPr lang="en-US" altLang="zh-CN" sz="2800" b="1">
                <a:sym typeface="Symbol" panose="05050102010706020507" pitchFamily="18" charset="2"/>
              </a:rPr>
              <a:t></a:t>
            </a:r>
            <a:r>
              <a:rPr lang="en-US" altLang="zh-CN" sz="2800" b="1"/>
              <a:t>P</a:t>
            </a:r>
            <a:r>
              <a:rPr lang="en-US" altLang="zh-CN" sz="2800" b="1" baseline="-25000"/>
              <a:t>n</a:t>
            </a:r>
            <a:r>
              <a:rPr lang="en-US" altLang="zh-CN" sz="2800" b="1"/>
              <a:t>)</a:t>
            </a:r>
            <a:endParaRPr lang="en-US" altLang="zh-CN" sz="2800" b="1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/>
              <a:t>    </a:t>
            </a:r>
            <a:r>
              <a:rPr lang="zh-CN" altLang="en-US" sz="2800" b="1"/>
              <a:t>底</a:t>
            </a:r>
            <a:r>
              <a:rPr lang="en-US" altLang="zh-CN" sz="2800" b="1"/>
              <a:t>-</a:t>
            </a:r>
            <a:r>
              <a:rPr lang="zh-CN" altLang="en-US" sz="2800" b="1"/>
              <a:t>摩根定律   </a:t>
            </a:r>
            <a:r>
              <a:rPr lang="zh-CN" altLang="en-US" sz="2800" b="1">
                <a:sym typeface="Symbol" panose="05050102010706020507" pitchFamily="18" charset="2"/>
              </a:rPr>
              <a:t></a:t>
            </a:r>
            <a:r>
              <a:rPr lang="en-US" altLang="zh-CN" sz="2800" b="1">
                <a:sym typeface="Symbol" panose="05050102010706020507" pitchFamily="18" charset="2"/>
              </a:rPr>
              <a:t>(</a:t>
            </a:r>
            <a:r>
              <a:rPr lang="en-US" altLang="zh-CN" sz="2800" b="1"/>
              <a:t>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/>
              <a:t>Q) </a:t>
            </a:r>
            <a:r>
              <a:rPr lang="en-US" altLang="zh-CN" sz="2800" b="1">
                <a:sym typeface="Symbol" panose="05050102010706020507" pitchFamily="18" charset="2"/>
              </a:rPr>
              <a:t></a:t>
            </a:r>
            <a:r>
              <a:rPr lang="en-US" altLang="zh-CN" sz="2800" b="1"/>
              <a:t>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>
                <a:sym typeface="Symbol" panose="05050102010706020507" pitchFamily="18" charset="2"/>
              </a:rPr>
              <a:t></a:t>
            </a:r>
            <a:r>
              <a:rPr lang="en-US" altLang="zh-CN" sz="2800" b="1"/>
              <a:t>Q   </a:t>
            </a:r>
            <a:endParaRPr lang="en-US" altLang="zh-CN" sz="2800" b="1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/>
              <a:t>                           </a:t>
            </a:r>
            <a:r>
              <a:rPr lang="en-US" altLang="zh-CN" sz="2800" b="1">
                <a:sym typeface="Symbol" panose="05050102010706020507" pitchFamily="18" charset="2"/>
              </a:rPr>
              <a:t>(</a:t>
            </a:r>
            <a:r>
              <a:rPr lang="en-US" altLang="zh-CN" sz="2800" b="1"/>
              <a:t>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/>
              <a:t>Q)</a:t>
            </a:r>
            <a:r>
              <a:rPr lang="en-US" altLang="zh-CN" sz="2800" b="1">
                <a:sym typeface="Symbol" panose="05050102010706020507" pitchFamily="18" charset="2"/>
              </a:rPr>
              <a:t></a:t>
            </a:r>
            <a:r>
              <a:rPr lang="en-US" altLang="zh-CN" sz="2800" b="1"/>
              <a:t>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anose="05050102010706020507" pitchFamily="18" charset="2"/>
              </a:rPr>
              <a:t></a:t>
            </a:r>
            <a:r>
              <a:rPr lang="en-US" altLang="zh-CN" sz="2800" b="1"/>
              <a:t>Q</a:t>
            </a:r>
            <a:endParaRPr lang="en-US" altLang="zh-CN" sz="2800" b="1">
              <a:sym typeface="Kingsoft Phonetic Plain" pitchFamily="2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b="1">
                <a:sym typeface="Kingsoft Phonetic Plain" pitchFamily="2" charset="2"/>
              </a:rPr>
              <a:t>  </a:t>
            </a:r>
            <a:r>
              <a:rPr lang="en-US" altLang="zh-CN" sz="2800" b="1">
                <a:solidFill>
                  <a:srgbClr val="FF0000"/>
                </a:solidFill>
                <a:sym typeface="Kingsoft Phonetic Plain" pitchFamily="2" charset="2"/>
              </a:rPr>
              <a:t>⑶</a:t>
            </a:r>
            <a:r>
              <a:rPr lang="zh-CN" altLang="en-US" sz="2800" b="1">
                <a:solidFill>
                  <a:srgbClr val="FF0000"/>
                </a:solidFill>
                <a:sym typeface="Kingsoft Phonetic Plain" pitchFamily="2" charset="2"/>
              </a:rPr>
              <a:t>用分配律、幂等律等公式进行整理，使之成</a:t>
            </a:r>
            <a:endParaRPr lang="zh-CN" altLang="en-US" sz="2800" b="1">
              <a:solidFill>
                <a:srgbClr val="FF0000"/>
              </a:solidFill>
              <a:sym typeface="Kingsoft Phonetic Plain" pitchFamily="2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sym typeface="Kingsoft Phonetic Plain" pitchFamily="2" charset="2"/>
              </a:rPr>
              <a:t>为所要求的形式。</a:t>
            </a:r>
            <a:r>
              <a:rPr lang="zh-CN" altLang="en-US">
                <a:ea typeface="MS Gothic" panose="020B0609070205080204" pitchFamily="49" charset="-128"/>
                <a:sym typeface="Kingsoft Phonetic Plain" pitchFamily="2" charset="2"/>
              </a:rPr>
              <a:t> </a:t>
            </a:r>
            <a:r>
              <a:rPr lang="zh-CN" altLang="en-US">
                <a:latin typeface="宋体" panose="02010600030101010101" pitchFamily="2" charset="-122"/>
                <a:sym typeface="Kingsoft Phonetic Plain" pitchFamily="2" charset="2"/>
              </a:rPr>
              <a:t> </a:t>
            </a:r>
            <a:endParaRPr lang="zh-CN" altLang="en-US">
              <a:latin typeface="宋体" panose="02010600030101010101" pitchFamily="2" charset="-122"/>
              <a:sym typeface="Kingsoft Phonetic Plain" pitchFamily="2" charset="2"/>
            </a:endParaRPr>
          </a:p>
        </p:txBody>
      </p:sp>
    </p:spTree>
  </p:cSld>
  <p:clrMapOvr>
    <a:masterClrMapping/>
  </p:clrMapOvr>
  <p:transition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28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728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7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7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7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72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72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72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72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972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3" grpId="0" autoUpdateAnimBg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0771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>
                <a:latin typeface="宋体" panose="02010600030101010101" pitchFamily="2" charset="-122"/>
                <a:sym typeface="Kingsoft Phonetic Plain" pitchFamily="2" charset="2"/>
              </a:rPr>
              <a:t>例如求</a:t>
            </a:r>
            <a:r>
              <a:rPr lang="en-US" altLang="zh-CN">
                <a:latin typeface="宋体" panose="02010600030101010101" pitchFamily="2" charset="-122"/>
                <a:sym typeface="Kingsoft Phonetic Plain" pitchFamily="2" charset="2"/>
              </a:rPr>
              <a:t>(P</a:t>
            </a:r>
            <a:r>
              <a:rPr lang="en-US" altLang="zh-CN">
                <a:sym typeface="Symbol" panose="05050102010706020507" pitchFamily="18" charset="2"/>
              </a:rPr>
              <a:t></a:t>
            </a:r>
            <a:r>
              <a:rPr lang="en-US" altLang="zh-CN"/>
              <a:t>Q)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R</a:t>
            </a:r>
            <a:r>
              <a:rPr lang="zh-CN" altLang="en-US"/>
              <a:t>的</a:t>
            </a:r>
            <a:r>
              <a:rPr lang="zh-CN" altLang="zh-CN">
                <a:sym typeface="Kingsoft Phonetic Plain" pitchFamily="2" charset="2"/>
              </a:rPr>
              <a:t>析取范式与合取范式</a:t>
            </a:r>
            <a:endParaRPr lang="zh-CN" altLang="en-US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latin typeface="宋体" panose="02010600030101010101" pitchFamily="2" charset="-122"/>
                <a:sym typeface="Kingsoft Phonetic Plain" pitchFamily="2" charset="2"/>
              </a:rPr>
              <a:t>  </a:t>
            </a:r>
            <a:r>
              <a:rPr lang="en-US" altLang="zh-CN">
                <a:latin typeface="宋体" panose="02010600030101010101" pitchFamily="2" charset="-122"/>
                <a:sym typeface="Kingsoft Phonetic Plain" pitchFamily="2" charset="2"/>
              </a:rPr>
              <a:t>(P</a:t>
            </a:r>
            <a:r>
              <a:rPr lang="en-US" altLang="zh-CN">
                <a:sym typeface="Symbol" panose="05050102010706020507" pitchFamily="18" charset="2"/>
              </a:rPr>
              <a:t></a:t>
            </a:r>
            <a:r>
              <a:rPr lang="en-US" altLang="zh-CN"/>
              <a:t>Q)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R 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>
                <a:sym typeface="Symbol" panose="05050102010706020507" pitchFamily="18" charset="2"/>
              </a:rPr>
              <a:t> ((P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Q)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>
                <a:sym typeface="Symbol" panose="05050102010706020507" pitchFamily="18" charset="2"/>
              </a:rPr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Q))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R</a:t>
            </a:r>
            <a:endParaRPr lang="en-US" altLang="zh-CN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>
                <a:sym typeface="Symbol" panose="05050102010706020507" pitchFamily="18" charset="2"/>
              </a:rPr>
              <a:t> (P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>
                <a:sym typeface="Symbol" panose="05050102010706020507" pitchFamily="18" charset="2"/>
              </a:rPr>
              <a:t>Q)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∨(</a:t>
            </a:r>
            <a:r>
              <a:rPr lang="en-US" altLang="zh-CN">
                <a:sym typeface="Symbol" panose="05050102010706020507" pitchFamily="18" charset="2"/>
              </a:rPr>
              <a:t>P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>
                <a:sym typeface="Symbol" panose="05050102010706020507" pitchFamily="18" charset="2"/>
              </a:rPr>
              <a:t>Q)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R  ------</a:t>
            </a:r>
            <a:r>
              <a:rPr lang="zh-CN" altLang="zh-CN">
                <a:sym typeface="Symbol" panose="05050102010706020507" pitchFamily="18" charset="2"/>
              </a:rPr>
              <a:t>析取范式</a:t>
            </a:r>
            <a:endParaRPr lang="zh-CN" altLang="zh-CN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latin typeface="宋体" panose="02010600030101010101" pitchFamily="2" charset="-122"/>
                <a:sym typeface="Kingsoft Phonetic Plain" pitchFamily="2" charset="2"/>
              </a:rPr>
              <a:t>  </a:t>
            </a:r>
            <a:r>
              <a:rPr lang="en-US" altLang="zh-CN">
                <a:latin typeface="宋体" panose="02010600030101010101" pitchFamily="2" charset="-122"/>
                <a:sym typeface="Kingsoft Phonetic Plain" pitchFamily="2" charset="2"/>
              </a:rPr>
              <a:t>(P</a:t>
            </a:r>
            <a:r>
              <a:rPr lang="en-US" altLang="zh-CN">
                <a:sym typeface="Symbol" panose="05050102010706020507" pitchFamily="18" charset="2"/>
              </a:rPr>
              <a:t></a:t>
            </a:r>
            <a:r>
              <a:rPr lang="en-US" altLang="zh-CN"/>
              <a:t>Q)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R</a:t>
            </a:r>
            <a:r>
              <a:rPr lang="en-US" altLang="zh-CN">
                <a:sym typeface="Symbol" panose="05050102010706020507" pitchFamily="18" charset="2"/>
              </a:rPr>
              <a:t>((P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>
                <a:sym typeface="Symbol" panose="05050102010706020507" pitchFamily="18" charset="2"/>
              </a:rPr>
              <a:t>Q)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∨(</a:t>
            </a:r>
            <a:r>
              <a:rPr lang="en-US" altLang="zh-CN">
                <a:sym typeface="Symbol" panose="05050102010706020507" pitchFamily="18" charset="2"/>
              </a:rPr>
              <a:t>P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>
                <a:sym typeface="Symbol" panose="05050102010706020507" pitchFamily="18" charset="2"/>
              </a:rPr>
              <a:t>Q))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R</a:t>
            </a:r>
            <a:endParaRPr lang="en-US" altLang="zh-CN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>
                <a:sym typeface="Symbol" panose="05050102010706020507" pitchFamily="18" charset="2"/>
              </a:rPr>
              <a:t> ((P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Q)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>
                <a:sym typeface="Symbol" panose="05050102010706020507" pitchFamily="18" charset="2"/>
              </a:rPr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Q))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R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>
                <a:sym typeface="Symbol" panose="05050102010706020507" pitchFamily="18" charset="2"/>
              </a:rPr>
              <a:t> (P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Q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R)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>
                <a:sym typeface="Symbol" panose="05050102010706020507" pitchFamily="18" charset="2"/>
              </a:rPr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Q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R) ---</a:t>
            </a:r>
            <a:r>
              <a:rPr lang="zh-CN" altLang="en-US">
                <a:sym typeface="Symbol" panose="05050102010706020507" pitchFamily="18" charset="2"/>
              </a:rPr>
              <a:t>合取范式</a:t>
            </a:r>
            <a:endParaRPr lang="zh-CN" altLang="en-US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6077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60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60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160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160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1" grpId="0" autoUpdateAnimBg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</a:t>
            </a:r>
            <a:r>
              <a:rPr lang="en-US" altLang="zh-CN" dirty="0"/>
              <a:t>.</a:t>
            </a:r>
            <a:r>
              <a:rPr lang="zh-CN" altLang="en-US" dirty="0"/>
              <a:t>主析取范式与主合取范式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98307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1" dirty="0">
                <a:sym typeface="Symbol" panose="05050102010706020507" pitchFamily="18" charset="2"/>
              </a:rPr>
              <a:t>一个公式的</a:t>
            </a:r>
            <a:r>
              <a:rPr lang="zh-CN" altLang="zh-CN" sz="2800" b="1" dirty="0">
                <a:sym typeface="Kingsoft Phonetic Plain" pitchFamily="2" charset="2"/>
              </a:rPr>
              <a:t>析取范式与合取范式的形式是不唯</a:t>
            </a:r>
            <a:endParaRPr lang="zh-CN" altLang="en-US" sz="2800" b="1" dirty="0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zh-CN" sz="2800" b="1" dirty="0">
                <a:sym typeface="Kingsoft Phonetic Plain" pitchFamily="2" charset="2"/>
              </a:rPr>
              <a:t>一的。下面定义形式唯一的</a:t>
            </a:r>
            <a:r>
              <a:rPr lang="zh-CN" altLang="en-US" sz="2800" b="1" dirty="0">
                <a:sym typeface="Symbol" panose="05050102010706020507" pitchFamily="18" charset="2"/>
              </a:rPr>
              <a:t>主析取范式与主</a:t>
            </a:r>
            <a:r>
              <a:rPr lang="zh-CN" altLang="zh-CN" sz="2800" b="1" dirty="0">
                <a:sym typeface="Kingsoft Phonetic Plain" pitchFamily="2" charset="2"/>
              </a:rPr>
              <a:t>合取</a:t>
            </a:r>
            <a:endParaRPr lang="zh-CN" altLang="en-US" sz="2800" b="1" dirty="0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zh-CN" sz="2800" b="1" dirty="0">
                <a:sym typeface="Kingsoft Phonetic Plain" pitchFamily="2" charset="2"/>
              </a:rPr>
              <a:t>范式。</a:t>
            </a:r>
            <a:endParaRPr lang="zh-CN" altLang="en-US" sz="2800" b="1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㈠主析取范式</a:t>
            </a:r>
            <a:endParaRPr lang="zh-CN" altLang="en-US" sz="2800" b="1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sym typeface="Symbol" panose="05050102010706020507" pitchFamily="18" charset="2"/>
              </a:rPr>
              <a:t>    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1.</a:t>
            </a:r>
            <a:r>
              <a:rPr lang="zh-CN" altLang="en-US" sz="2800" b="1" dirty="0">
                <a:solidFill>
                  <a:srgbClr val="FF00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小项</a:t>
            </a:r>
            <a:endParaRPr lang="zh-CN" altLang="en-US" sz="2800" b="1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sym typeface="Symbol" panose="05050102010706020507" pitchFamily="18" charset="2"/>
              </a:rPr>
              <a:t>      </a:t>
            </a:r>
            <a:r>
              <a:rPr lang="zh-CN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⑴定义</a:t>
            </a:r>
            <a:r>
              <a:rPr lang="zh-CN" altLang="en-US" sz="2800" b="1" dirty="0">
                <a:sym typeface="Symbol" panose="05050102010706020507" pitchFamily="18" charset="2"/>
              </a:rPr>
              <a:t>：在一个有</a:t>
            </a:r>
            <a:r>
              <a:rPr lang="en-US" altLang="zh-CN" sz="2800" b="1" dirty="0">
                <a:sym typeface="Symbol" panose="05050102010706020507" pitchFamily="18" charset="2"/>
              </a:rPr>
              <a:t>n</a:t>
            </a:r>
            <a:r>
              <a:rPr lang="zh-CN" altLang="en-US" sz="2800" b="1" dirty="0">
                <a:sym typeface="Symbol" panose="05050102010706020507" pitchFamily="18" charset="2"/>
              </a:rPr>
              <a:t>个命题变元的合取式中，</a:t>
            </a:r>
            <a:endParaRPr lang="zh-CN" altLang="en-US" sz="2800" b="1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sym typeface="Symbol" panose="05050102010706020507" pitchFamily="18" charset="2"/>
              </a:rPr>
              <a:t>每个变元必出现且仅出现一次，称这个合取式是</a:t>
            </a:r>
            <a:endParaRPr lang="zh-CN" altLang="en-US" sz="2800" b="1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sym typeface="Symbol" panose="05050102010706020507" pitchFamily="18" charset="2"/>
              </a:rPr>
              <a:t>个</a:t>
            </a:r>
            <a:r>
              <a:rPr lang="zh-CN" altLang="en-US" sz="2800" b="1" dirty="0">
                <a:highlight>
                  <a:srgbClr val="FFFF00"/>
                </a:highlight>
                <a:ea typeface="黑体" panose="02010609060101010101" pitchFamily="49" charset="-122"/>
                <a:sym typeface="Symbol" panose="05050102010706020507" pitchFamily="18" charset="2"/>
              </a:rPr>
              <a:t>小项</a:t>
            </a:r>
            <a:r>
              <a:rPr lang="zh-CN" altLang="en-US" sz="2800" b="1" dirty="0">
                <a:sym typeface="Symbol" panose="05050102010706020507" pitchFamily="18" charset="2"/>
              </a:rPr>
              <a:t>。</a:t>
            </a:r>
            <a:endParaRPr lang="zh-CN" altLang="en-US" sz="2800" b="1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sym typeface="Symbol" panose="05050102010706020507" pitchFamily="18" charset="2"/>
              </a:rPr>
              <a:t>      例如，有两个变元的小项：</a:t>
            </a:r>
            <a:endParaRPr lang="zh-CN" altLang="en-US" sz="2800" b="1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sym typeface="Symbol" panose="05050102010706020507" pitchFamily="18" charset="2"/>
              </a:rPr>
              <a:t>      </a:t>
            </a:r>
            <a:r>
              <a:rPr lang="en-US" altLang="zh-CN" sz="2800" b="1" dirty="0">
                <a:sym typeface="Symbol" panose="05050102010706020507" pitchFamily="18" charset="2"/>
              </a:rPr>
              <a:t>P</a:t>
            </a:r>
            <a:r>
              <a:rPr lang="en-US" altLang="zh-CN" sz="28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>
                <a:sym typeface="Symbol" panose="05050102010706020507" pitchFamily="18" charset="2"/>
              </a:rPr>
              <a:t>Q</a:t>
            </a:r>
            <a:r>
              <a:rPr lang="zh-CN" altLang="en-US" sz="2800" b="1" dirty="0">
                <a:sym typeface="Symbol" panose="05050102010706020507" pitchFamily="18" charset="2"/>
              </a:rPr>
              <a:t>、</a:t>
            </a:r>
            <a:r>
              <a:rPr lang="en-US" altLang="zh-CN" sz="2800" b="1" dirty="0">
                <a:sym typeface="Symbol" panose="05050102010706020507" pitchFamily="18" charset="2"/>
              </a:rPr>
              <a:t>P</a:t>
            </a:r>
            <a:r>
              <a:rPr lang="en-US" altLang="zh-CN" sz="28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>
                <a:sym typeface="Symbol" panose="05050102010706020507" pitchFamily="18" charset="2"/>
              </a:rPr>
              <a:t>Q</a:t>
            </a:r>
            <a:r>
              <a:rPr lang="zh-CN" altLang="en-US" sz="2800" b="1" dirty="0">
                <a:sym typeface="Symbol" panose="05050102010706020507" pitchFamily="18" charset="2"/>
              </a:rPr>
              <a:t>、 </a:t>
            </a:r>
            <a:r>
              <a:rPr lang="en-US" altLang="zh-CN" sz="2800" b="1" dirty="0">
                <a:sym typeface="Symbol" panose="05050102010706020507" pitchFamily="18" charset="2"/>
              </a:rPr>
              <a:t>P</a:t>
            </a:r>
            <a:r>
              <a:rPr lang="en-US" altLang="zh-CN" sz="28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>
                <a:sym typeface="Symbol" panose="05050102010706020507" pitchFamily="18" charset="2"/>
              </a:rPr>
              <a:t>Q</a:t>
            </a:r>
            <a:r>
              <a:rPr lang="zh-CN" altLang="en-US" sz="2800" b="1" dirty="0">
                <a:sym typeface="Symbol" panose="05050102010706020507" pitchFamily="18" charset="2"/>
              </a:rPr>
              <a:t>、 </a:t>
            </a:r>
            <a:r>
              <a:rPr lang="en-US" altLang="zh-CN" sz="2800" b="1" dirty="0">
                <a:sym typeface="Symbol" panose="05050102010706020507" pitchFamily="18" charset="2"/>
              </a:rPr>
              <a:t>P</a:t>
            </a:r>
            <a:r>
              <a:rPr lang="en-US" altLang="zh-CN" sz="28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>
                <a:sym typeface="Symbol" panose="05050102010706020507" pitchFamily="18" charset="2"/>
              </a:rPr>
              <a:t>Q</a:t>
            </a:r>
            <a:endParaRPr lang="en-US" altLang="zh-CN" sz="2800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830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830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8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8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8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8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7" grpId="0" autoUpdateAnimBg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0000FF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  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⑵</a:t>
            </a:r>
            <a:r>
              <a:rPr lang="zh-CN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小项的性质</a:t>
            </a:r>
            <a:endParaRPr lang="zh-CN" altLang="en-US" sz="2800" b="1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 sz="28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ym typeface="Symbol" panose="05050102010706020507" pitchFamily="18" charset="2"/>
              </a:rPr>
              <a:t> </a:t>
            </a:r>
            <a:endParaRPr lang="en-US" altLang="zh-CN" sz="2800" b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ym typeface="Symbol" panose="05050102010706020507" pitchFamily="18" charset="2"/>
              </a:rPr>
              <a:t> 00</a:t>
            </a:r>
            <a:endParaRPr lang="en-US" altLang="zh-CN" sz="2800" b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ym typeface="Symbol" panose="05050102010706020507" pitchFamily="18" charset="2"/>
              </a:rPr>
              <a:t> 01</a:t>
            </a:r>
            <a:endParaRPr lang="en-US" altLang="zh-CN" sz="2800" b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ym typeface="Symbol" panose="05050102010706020507" pitchFamily="18" charset="2"/>
              </a:rPr>
              <a:t> 10</a:t>
            </a:r>
            <a:endParaRPr lang="en-US" altLang="zh-CN" sz="2800" b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ym typeface="Symbol" panose="05050102010706020507" pitchFamily="18" charset="2"/>
              </a:rPr>
              <a:t> 11</a:t>
            </a:r>
            <a:endParaRPr lang="en-US" altLang="zh-CN" sz="2800" b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/>
              <a:t>  </a:t>
            </a:r>
            <a:r>
              <a:rPr lang="en-US" altLang="zh-CN" sz="2400" b="1" dirty="0"/>
              <a:t>a).</a:t>
            </a:r>
            <a:r>
              <a:rPr lang="zh-CN" altLang="en-US" sz="2400" b="1" dirty="0">
                <a:solidFill>
                  <a:srgbClr val="FF0000"/>
                </a:solidFill>
              </a:rPr>
              <a:t>有</a:t>
            </a:r>
            <a:r>
              <a:rPr lang="en-US" altLang="zh-CN" sz="2400" b="1" dirty="0">
                <a:solidFill>
                  <a:srgbClr val="FF0000"/>
                </a:solidFill>
              </a:rPr>
              <a:t>n</a:t>
            </a:r>
            <a:r>
              <a:rPr lang="zh-CN" altLang="en-US" sz="2400" b="1" dirty="0">
                <a:solidFill>
                  <a:srgbClr val="FF0000"/>
                </a:solidFill>
              </a:rPr>
              <a:t>个变元，则有</a:t>
            </a:r>
            <a:r>
              <a:rPr lang="en-US" altLang="zh-CN" sz="2400" b="1" dirty="0">
                <a:solidFill>
                  <a:srgbClr val="FF0000"/>
                </a:solidFill>
              </a:rPr>
              <a:t>2</a:t>
            </a:r>
            <a:r>
              <a:rPr lang="en-US" altLang="zh-CN" sz="2400" b="1" baseline="30000" dirty="0">
                <a:solidFill>
                  <a:srgbClr val="FF0000"/>
                </a:solidFill>
              </a:rPr>
              <a:t>n</a:t>
            </a:r>
            <a:r>
              <a:rPr lang="zh-CN" altLang="en-US" sz="2400" b="1" dirty="0">
                <a:solidFill>
                  <a:srgbClr val="FF0000"/>
                </a:solidFill>
              </a:rPr>
              <a:t>个小项</a:t>
            </a:r>
            <a:r>
              <a:rPr lang="zh-CN" altLang="en-US" sz="2400" b="1" dirty="0"/>
              <a:t>。</a:t>
            </a:r>
            <a:endParaRPr lang="en-US" altLang="en-US" sz="24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/>
              <a:t>  </a:t>
            </a:r>
            <a:r>
              <a:rPr lang="en-US" altLang="zh-CN" sz="2400" b="1" dirty="0"/>
              <a:t>b).</a:t>
            </a:r>
            <a:r>
              <a:rPr lang="zh-CN" altLang="en-US" sz="2400" b="1" dirty="0"/>
              <a:t>每一组指派有且</a:t>
            </a:r>
            <a:r>
              <a:rPr lang="zh-CN" altLang="en-US" sz="2400" b="1" dirty="0">
                <a:solidFill>
                  <a:srgbClr val="FF0000"/>
                </a:solidFill>
              </a:rPr>
              <a:t>只有一个</a:t>
            </a:r>
            <a:r>
              <a:rPr lang="zh-CN" altLang="en-US" sz="2400" b="1" dirty="0"/>
              <a:t>小项为</a:t>
            </a:r>
            <a:r>
              <a:rPr lang="en-US" altLang="zh-CN" sz="2400" b="1" dirty="0">
                <a:solidFill>
                  <a:srgbClr val="FF0000"/>
                </a:solidFill>
              </a:rPr>
              <a:t>T</a:t>
            </a:r>
            <a:r>
              <a:rPr lang="zh-CN" altLang="en-US" sz="2400" b="1" dirty="0"/>
              <a:t>。</a:t>
            </a:r>
            <a:endParaRPr lang="zh-CN" altLang="en-US" sz="24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/>
              <a:t>为了记忆方便，可将各组指派对应的为</a:t>
            </a:r>
            <a:r>
              <a:rPr lang="en-US" altLang="zh-CN" sz="2400" b="1" dirty="0">
                <a:solidFill>
                  <a:srgbClr val="FF0000"/>
                </a:solidFill>
              </a:rPr>
              <a:t>T</a:t>
            </a:r>
            <a:r>
              <a:rPr lang="zh-CN" altLang="en-US" sz="2400" b="1" dirty="0"/>
              <a:t>的小项分别记作</a:t>
            </a:r>
            <a:r>
              <a:rPr lang="en-US" altLang="zh-CN" sz="2400" b="1" dirty="0"/>
              <a:t>m</a:t>
            </a:r>
            <a:r>
              <a:rPr lang="en-US" altLang="zh-CN" sz="2400" b="1" baseline="-25000" dirty="0"/>
              <a:t>0</a:t>
            </a:r>
            <a:r>
              <a:rPr lang="en-US" altLang="zh-CN" sz="2400" b="1" dirty="0"/>
              <a:t>,m</a:t>
            </a:r>
            <a:r>
              <a:rPr lang="en-US" altLang="zh-CN" sz="2400" b="1" baseline="-25000" dirty="0"/>
              <a:t>1</a:t>
            </a:r>
            <a:r>
              <a:rPr lang="en-US" altLang="zh-CN" sz="2400" b="1" dirty="0"/>
              <a:t>,m</a:t>
            </a:r>
            <a:r>
              <a:rPr lang="en-US" altLang="zh-CN" sz="2400" b="1" baseline="-25000" dirty="0"/>
              <a:t>2</a:t>
            </a:r>
            <a:r>
              <a:rPr lang="en-US" altLang="zh-CN" sz="2400" b="1" dirty="0"/>
              <a:t>,…,m</a:t>
            </a:r>
            <a:r>
              <a:rPr lang="en-US" altLang="zh-CN" sz="2400" b="1" baseline="-25000" dirty="0"/>
              <a:t>2</a:t>
            </a:r>
            <a:r>
              <a:rPr lang="en-US" altLang="zh-CN" sz="2400" b="1" baseline="30000" dirty="0"/>
              <a:t>n</a:t>
            </a:r>
            <a:r>
              <a:rPr lang="en-US" altLang="zh-CN" sz="2400" b="1" baseline="-25000" dirty="0"/>
              <a:t>-1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上例中 </a:t>
            </a:r>
            <a:endParaRPr lang="zh-CN" altLang="en-US" sz="2400" b="1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b="1" dirty="0"/>
              <a:t>    </a:t>
            </a:r>
            <a:r>
              <a:rPr lang="en-US" altLang="zh-CN" sz="2400" b="1" dirty="0"/>
              <a:t>m</a:t>
            </a:r>
            <a:r>
              <a:rPr lang="en-US" altLang="zh-CN" sz="2400" b="1" baseline="-25000" dirty="0"/>
              <a:t>0</a:t>
            </a:r>
            <a:r>
              <a:rPr lang="en-US" altLang="zh-CN" sz="2400" dirty="0"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sym typeface="Symbol" panose="05050102010706020507" pitchFamily="18" charset="2"/>
              </a:rPr>
              <a:t>P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>
                <a:sym typeface="Symbol" panose="05050102010706020507" pitchFamily="18" charset="2"/>
              </a:rPr>
              <a:t>Q</a:t>
            </a:r>
            <a:r>
              <a:rPr lang="en-US" altLang="zh-CN" sz="2400" b="1" dirty="0"/>
              <a:t>         m</a:t>
            </a:r>
            <a:r>
              <a:rPr lang="en-US" altLang="zh-CN" sz="2400" b="1" baseline="-25000" dirty="0"/>
              <a:t>1</a:t>
            </a:r>
            <a:r>
              <a:rPr lang="en-US" altLang="zh-CN" sz="2400" dirty="0"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sym typeface="Symbol" panose="05050102010706020507" pitchFamily="18" charset="2"/>
              </a:rPr>
              <a:t>P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>
                <a:sym typeface="Symbol" panose="05050102010706020507" pitchFamily="18" charset="2"/>
              </a:rPr>
              <a:t>Q    </a:t>
            </a:r>
            <a:endParaRPr lang="en-US" altLang="zh-CN" sz="2400" b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ym typeface="Symbol" panose="05050102010706020507" pitchFamily="18" charset="2"/>
              </a:rPr>
              <a:t>    </a:t>
            </a:r>
            <a:r>
              <a:rPr lang="en-US" altLang="zh-CN" sz="2400" b="1" dirty="0"/>
              <a:t>m</a:t>
            </a:r>
            <a:r>
              <a:rPr lang="en-US" altLang="zh-CN" sz="2400" b="1" baseline="-25000" dirty="0"/>
              <a:t>2</a:t>
            </a:r>
            <a:r>
              <a:rPr lang="en-US" altLang="zh-CN" sz="2400" dirty="0"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sym typeface="Symbol" panose="05050102010706020507" pitchFamily="18" charset="2"/>
              </a:rPr>
              <a:t>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>
                <a:sym typeface="Symbol" panose="05050102010706020507" pitchFamily="18" charset="2"/>
              </a:rPr>
              <a:t>Q</a:t>
            </a:r>
            <a:r>
              <a:rPr lang="en-US" altLang="zh-CN" sz="2400" b="1" dirty="0"/>
              <a:t>            m</a:t>
            </a:r>
            <a:r>
              <a:rPr lang="en-US" altLang="zh-CN" sz="2400" b="1" baseline="-25000" dirty="0"/>
              <a:t>3</a:t>
            </a:r>
            <a:r>
              <a:rPr lang="en-US" altLang="zh-CN" sz="2400" dirty="0"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sym typeface="Symbol" panose="05050102010706020507" pitchFamily="18" charset="2"/>
              </a:rPr>
              <a:t>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>
                <a:sym typeface="Symbol" panose="05050102010706020507" pitchFamily="18" charset="2"/>
              </a:rPr>
              <a:t>Q</a:t>
            </a:r>
            <a:endParaRPr lang="en-US" altLang="zh-CN" sz="2400" b="1" dirty="0">
              <a:sym typeface="Symbol" panose="05050102010706020507" pitchFamily="18" charset="2"/>
            </a:endParaRPr>
          </a:p>
        </p:txBody>
      </p:sp>
      <p:graphicFrame>
        <p:nvGraphicFramePr>
          <p:cNvPr id="99429" name="Group 101"/>
          <p:cNvGraphicFramePr>
            <a:graphicFrameLocks noGrp="1"/>
          </p:cNvGraphicFramePr>
          <p:nvPr/>
        </p:nvGraphicFramePr>
        <p:xfrm>
          <a:off x="1208434" y="1340768"/>
          <a:ext cx="6705600" cy="2743200"/>
        </p:xfrm>
        <a:graphic>
          <a:graphicData uri="http://schemas.openxmlformats.org/drawingml/2006/table">
            <a:tbl>
              <a:tblPr/>
              <a:tblGrid>
                <a:gridCol w="533400"/>
                <a:gridCol w="533400"/>
                <a:gridCol w="1219200"/>
                <a:gridCol w="1371600"/>
                <a:gridCol w="1371600"/>
                <a:gridCol w="167640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P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Gothic" panose="020B0609070205080204" pitchFamily="49" charset="-128"/>
                          <a:sym typeface="Kingsoft Phonetic Plain" pitchFamily="2" charset="2"/>
                        </a:rPr>
                        <a:t>∧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P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Gothic" panose="020B0609070205080204" pitchFamily="49" charset="-128"/>
                          <a:sym typeface="Kingsoft Phonetic Plain" pitchFamily="2" charset="2"/>
                        </a:rPr>
                        <a:t>∧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Q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P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Gothic" panose="020B0609070205080204" pitchFamily="49" charset="-128"/>
                          <a:sym typeface="Kingsoft Phonetic Plain" pitchFamily="2" charset="2"/>
                        </a:rPr>
                        <a:t>∧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P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Gothic" panose="020B0609070205080204" pitchFamily="49" charset="-128"/>
                          <a:sym typeface="Kingsoft Phonetic Plain" pitchFamily="2" charset="2"/>
                        </a:rPr>
                        <a:t>∧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Q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933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933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9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9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9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9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9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9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93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993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993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993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993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993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1" grpId="0" animBg="1" autoUpdateAnimBg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主析取范式定义</a:t>
            </a:r>
            <a:endParaRPr lang="zh-CN" altLang="en-US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/>
              <a:t>    </a:t>
            </a:r>
            <a:r>
              <a:rPr lang="zh-CN" altLang="zh-CN" dirty="0">
                <a:sym typeface="Kingsoft Phonetic Plain" pitchFamily="2" charset="2"/>
              </a:rPr>
              <a:t>析取范式 </a:t>
            </a:r>
            <a:r>
              <a:rPr lang="en-US" altLang="zh-CN" dirty="0">
                <a:sym typeface="Kingsoft Phonetic Plain" pitchFamily="2" charset="2"/>
              </a:rPr>
              <a:t>A</a:t>
            </a:r>
            <a:r>
              <a:rPr lang="en-US" altLang="zh-CN" baseline="-25000" dirty="0">
                <a:sym typeface="Kingsoft Phonetic Plain" pitchFamily="2" charset="2"/>
              </a:rPr>
              <a:t>1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>
                <a:sym typeface="Kingsoft Phonetic Plain" pitchFamily="2" charset="2"/>
              </a:rPr>
              <a:t>A</a:t>
            </a:r>
            <a:r>
              <a:rPr lang="en-US" altLang="zh-CN" baseline="-25000" dirty="0">
                <a:sym typeface="Kingsoft Phonetic Plain" pitchFamily="2" charset="2"/>
              </a:rPr>
              <a:t>2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∨...∨</a:t>
            </a:r>
            <a:r>
              <a:rPr lang="en-US" altLang="zh-CN" dirty="0">
                <a:sym typeface="Kingsoft Phonetic Plain" pitchFamily="2" charset="2"/>
              </a:rPr>
              <a:t>A</a:t>
            </a:r>
            <a:r>
              <a:rPr lang="en-US" altLang="zh-CN" baseline="-25000" dirty="0">
                <a:sym typeface="Kingsoft Phonetic Plain" pitchFamily="2" charset="2"/>
              </a:rPr>
              <a:t>n, </a:t>
            </a:r>
            <a:r>
              <a:rPr lang="en-US" altLang="zh-CN" dirty="0">
                <a:sym typeface="Kingsoft Phonetic Plain" pitchFamily="2" charset="2"/>
              </a:rPr>
              <a:t>, </a:t>
            </a:r>
            <a:r>
              <a:rPr lang="zh-CN" altLang="zh-CN" dirty="0">
                <a:sym typeface="Kingsoft Phonetic Plain" pitchFamily="2" charset="2"/>
              </a:rPr>
              <a:t>其中每个</a:t>
            </a:r>
            <a:r>
              <a:rPr lang="en-US" altLang="zh-CN" dirty="0">
                <a:sym typeface="Kingsoft Phonetic Plain" pitchFamily="2" charset="2"/>
              </a:rPr>
              <a:t>A</a:t>
            </a:r>
            <a:r>
              <a:rPr lang="en-US" altLang="zh-CN" baseline="-25000" dirty="0">
                <a:sym typeface="Kingsoft Phonetic Plain" pitchFamily="2" charset="2"/>
              </a:rPr>
              <a:t>i</a:t>
            </a:r>
            <a:r>
              <a:rPr lang="en-US" altLang="zh-CN" dirty="0">
                <a:sym typeface="Kingsoft Phonetic Plain" pitchFamily="2" charset="2"/>
              </a:rPr>
              <a:t> </a:t>
            </a:r>
            <a:endParaRPr lang="en-US" altLang="zh-CN" dirty="0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>
                <a:sym typeface="Kingsoft Phonetic Plain" pitchFamily="2" charset="2"/>
              </a:rPr>
              <a:t>(</a:t>
            </a:r>
            <a:r>
              <a:rPr lang="en-US" altLang="zh-CN" dirty="0" err="1">
                <a:sym typeface="Kingsoft Phonetic Plain" pitchFamily="2" charset="2"/>
              </a:rPr>
              <a:t>i</a:t>
            </a:r>
            <a:r>
              <a:rPr lang="en-US" altLang="zh-CN" dirty="0">
                <a:sym typeface="Kingsoft Phonetic Plain" pitchFamily="2" charset="2"/>
              </a:rPr>
              <a:t>=1,2,…,n)</a:t>
            </a:r>
            <a:r>
              <a:rPr lang="zh-CN" altLang="zh-CN" dirty="0">
                <a:sym typeface="Kingsoft Phonetic Plain" pitchFamily="2" charset="2"/>
              </a:rPr>
              <a:t>都</a:t>
            </a:r>
            <a:r>
              <a:rPr lang="zh-CN" altLang="en-US" dirty="0">
                <a:sym typeface="Kingsoft Phonetic Plain" pitchFamily="2" charset="2"/>
              </a:rPr>
              <a:t>是</a:t>
            </a:r>
            <a:r>
              <a:rPr lang="zh-CN" altLang="zh-CN" dirty="0">
                <a:sym typeface="Kingsoft Phonetic Plain" pitchFamily="2" charset="2"/>
              </a:rPr>
              <a:t>小项，称之为</a:t>
            </a:r>
            <a:r>
              <a:rPr lang="zh-CN" altLang="en-US" dirty="0">
                <a:ea typeface="黑体" panose="02010609060101010101" pitchFamily="49" charset="-122"/>
                <a:sym typeface="Symbol" panose="05050102010706020507" pitchFamily="18" charset="2"/>
              </a:rPr>
              <a:t>主析取范式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3.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主析取范式的写法</a:t>
            </a:r>
            <a:endParaRPr lang="zh-CN" altLang="en-US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方法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Ⅰ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：</a:t>
            </a:r>
            <a:r>
              <a:rPr lang="zh-CN" altLang="en-US" sz="2800" dirty="0">
                <a:sym typeface="Symbol" panose="05050102010706020507" pitchFamily="18" charset="2"/>
              </a:rPr>
              <a:t>列真值表</a:t>
            </a:r>
            <a:endParaRPr lang="zh-CN" altLang="en-US" sz="28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800" dirty="0">
                <a:sym typeface="Symbol" panose="05050102010706020507" pitchFamily="18" charset="2"/>
              </a:rPr>
              <a:t>   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⑴</a:t>
            </a:r>
            <a:r>
              <a:rPr lang="zh-CN" altLang="en-US" sz="2800" dirty="0">
                <a:sym typeface="Symbol" panose="05050102010706020507" pitchFamily="18" charset="2"/>
              </a:rPr>
              <a:t>列出给定公式的真值表。</a:t>
            </a:r>
            <a:endParaRPr lang="zh-CN" altLang="en-US" sz="28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>
                <a:sym typeface="Symbol" panose="05050102010706020507" pitchFamily="18" charset="2"/>
              </a:rPr>
              <a:t>   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⑵</a:t>
            </a:r>
            <a:r>
              <a:rPr lang="zh-CN" altLang="en-US" sz="2800" dirty="0">
                <a:sym typeface="Symbol" panose="05050102010706020507" pitchFamily="18" charset="2"/>
              </a:rPr>
              <a:t>找出真值表中每个“</a:t>
            </a:r>
            <a:r>
              <a:rPr lang="en-US" altLang="zh-CN" sz="2800" dirty="0">
                <a:sym typeface="Symbol" panose="05050102010706020507" pitchFamily="18" charset="2"/>
              </a:rPr>
              <a:t>T”</a:t>
            </a:r>
            <a:r>
              <a:rPr lang="zh-CN" altLang="en-US" sz="2800" dirty="0">
                <a:sym typeface="Symbol" panose="05050102010706020507" pitchFamily="18" charset="2"/>
              </a:rPr>
              <a:t>对应的小项。</a:t>
            </a:r>
            <a:endParaRPr lang="zh-CN" altLang="en-US" sz="28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(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如何</a:t>
            </a:r>
            <a:r>
              <a:rPr lang="zh-CN" altLang="en-US" sz="2800" dirty="0">
                <a:sym typeface="Symbol" panose="05050102010706020507" pitchFamily="18" charset="2"/>
              </a:rPr>
              <a:t>根据一组指派写对应的为“</a:t>
            </a:r>
            <a:r>
              <a:rPr lang="en-US" altLang="zh-CN" sz="2800" dirty="0">
                <a:sym typeface="Symbol" panose="05050102010706020507" pitchFamily="18" charset="2"/>
              </a:rPr>
              <a:t>T”</a:t>
            </a:r>
            <a:r>
              <a:rPr lang="zh-CN" altLang="en-US" sz="2800" dirty="0">
                <a:sym typeface="Symbol" panose="05050102010706020507" pitchFamily="18" charset="2"/>
              </a:rPr>
              <a:t>的项：</a:t>
            </a:r>
            <a:endParaRPr lang="zh-CN" altLang="en-US" sz="28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>
                <a:sym typeface="Symbol" panose="05050102010706020507" pitchFamily="18" charset="2"/>
              </a:rPr>
              <a:t>如果变元</a:t>
            </a:r>
            <a:r>
              <a:rPr lang="en-US" altLang="zh-CN" sz="2800" dirty="0">
                <a:sym typeface="Symbol" panose="05050102010706020507" pitchFamily="18" charset="2"/>
              </a:rPr>
              <a:t>P</a:t>
            </a:r>
            <a:r>
              <a:rPr lang="zh-CN" altLang="en-US" sz="2800" dirty="0">
                <a:sym typeface="Symbol" panose="05050102010706020507" pitchFamily="18" charset="2"/>
              </a:rPr>
              <a:t>被指派为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T</a:t>
            </a:r>
            <a:r>
              <a:rPr lang="zh-CN" altLang="en-US" sz="2800" dirty="0">
                <a:sym typeface="Symbol" panose="05050102010706020507" pitchFamily="18" charset="2"/>
              </a:rPr>
              <a:t>，</a:t>
            </a:r>
            <a:r>
              <a:rPr lang="en-US" altLang="zh-CN" sz="2800" dirty="0">
                <a:sym typeface="Symbol" panose="05050102010706020507" pitchFamily="18" charset="2"/>
              </a:rPr>
              <a:t>P</a:t>
            </a:r>
            <a:r>
              <a:rPr lang="zh-CN" altLang="en-US" sz="2800" dirty="0">
                <a:sym typeface="Symbol" panose="05050102010706020507" pitchFamily="18" charset="2"/>
              </a:rPr>
              <a:t>在小项中以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P</a:t>
            </a:r>
            <a:r>
              <a:rPr lang="zh-CN" altLang="en-US" sz="2800" dirty="0">
                <a:sym typeface="Symbol" panose="05050102010706020507" pitchFamily="18" charset="2"/>
              </a:rPr>
              <a:t>形式</a:t>
            </a:r>
            <a:endParaRPr lang="zh-CN" altLang="en-US" sz="28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>
                <a:sym typeface="Symbol" panose="05050102010706020507" pitchFamily="18" charset="2"/>
              </a:rPr>
              <a:t>出现；如变元</a:t>
            </a:r>
            <a:r>
              <a:rPr lang="en-US" altLang="zh-CN" sz="2800" dirty="0">
                <a:sym typeface="Symbol" panose="05050102010706020507" pitchFamily="18" charset="2"/>
              </a:rPr>
              <a:t>P</a:t>
            </a:r>
            <a:r>
              <a:rPr lang="zh-CN" altLang="en-US" sz="2800" dirty="0">
                <a:sym typeface="Symbol" panose="05050102010706020507" pitchFamily="18" charset="2"/>
              </a:rPr>
              <a:t>被指派为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F,</a:t>
            </a:r>
            <a:r>
              <a:rPr lang="en-US" altLang="zh-CN" sz="2800" dirty="0">
                <a:sym typeface="Symbol" panose="05050102010706020507" pitchFamily="18" charset="2"/>
              </a:rPr>
              <a:t>P</a:t>
            </a:r>
            <a:r>
              <a:rPr lang="zh-CN" altLang="en-US" sz="2800" dirty="0">
                <a:sym typeface="Symbol" panose="05050102010706020507" pitchFamily="18" charset="2"/>
              </a:rPr>
              <a:t>在小项中以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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P</a:t>
            </a:r>
            <a:endParaRPr lang="en-US" altLang="zh-CN" sz="2800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>
                <a:sym typeface="Symbol" panose="05050102010706020507" pitchFamily="18" charset="2"/>
              </a:rPr>
              <a:t>形式出现</a:t>
            </a:r>
            <a:r>
              <a:rPr lang="en-US" altLang="zh-CN" sz="2800" dirty="0">
                <a:sym typeface="Symbol" panose="05050102010706020507" pitchFamily="18" charset="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要保证该小项为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T</a:t>
            </a:r>
            <a:r>
              <a:rPr lang="en-US" altLang="zh-CN" sz="2800" dirty="0">
                <a:sym typeface="Symbol" panose="05050102010706020507" pitchFamily="18" charset="2"/>
              </a:rPr>
              <a:t>))</a:t>
            </a:r>
            <a:r>
              <a:rPr lang="zh-CN" altLang="en-US" sz="2800" dirty="0">
                <a:sym typeface="Symbol" panose="05050102010706020507" pitchFamily="18" charset="2"/>
              </a:rPr>
              <a:t>。</a:t>
            </a:r>
            <a:endParaRPr lang="zh-CN" altLang="en-US" sz="28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>
                <a:sym typeface="Symbol" panose="05050102010706020507" pitchFamily="18" charset="2"/>
              </a:rPr>
              <a:t>   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⑶</a:t>
            </a:r>
            <a:r>
              <a:rPr lang="zh-CN" altLang="en-US" sz="2800" dirty="0">
                <a:sym typeface="Symbol" panose="05050102010706020507" pitchFamily="18" charset="2"/>
              </a:rPr>
              <a:t>用“</a:t>
            </a:r>
            <a:r>
              <a:rPr lang="zh-CN" altLang="en-US" sz="2800" dirty="0">
                <a:ea typeface="MS Gothic" panose="020B0609070205080204" pitchFamily="49" charset="-128"/>
                <a:sym typeface="Kingsoft Phonetic Plain" pitchFamily="2" charset="2"/>
              </a:rPr>
              <a:t>∨”</a:t>
            </a:r>
            <a:r>
              <a:rPr lang="zh-CN" altLang="en-US" sz="2800" dirty="0">
                <a:sym typeface="Symbol" panose="05050102010706020507" pitchFamily="18" charset="2"/>
              </a:rPr>
              <a:t>联结上述小项，即可。</a:t>
            </a:r>
            <a:endParaRPr lang="zh-CN" altLang="en-US" sz="28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35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0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03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03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03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5" grpId="0" autoUpdateAnimBg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2403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例如求 </a:t>
            </a:r>
            <a:r>
              <a:rPr lang="en-US" altLang="zh-CN" dirty="0">
                <a:sym typeface="Symbol" panose="05050102010706020507" pitchFamily="18" charset="2"/>
              </a:rPr>
              <a:t>PQ</a:t>
            </a:r>
            <a:r>
              <a:rPr lang="zh-CN" altLang="en-US" dirty="0">
                <a:sym typeface="Symbol" panose="05050102010706020507" pitchFamily="18" charset="2"/>
              </a:rPr>
              <a:t>和</a:t>
            </a:r>
            <a:r>
              <a:rPr lang="en-US" altLang="zh-CN" dirty="0">
                <a:sym typeface="Symbol" panose="05050102010706020507" pitchFamily="18" charset="2"/>
              </a:rPr>
              <a:t>P</a:t>
            </a:r>
            <a:r>
              <a:rPr lang="en-US" altLang="zh-CN" dirty="0"/>
              <a:t>Q</a:t>
            </a:r>
            <a:r>
              <a:rPr lang="zh-CN" altLang="en-US" dirty="0"/>
              <a:t>的</a:t>
            </a:r>
            <a:r>
              <a:rPr lang="zh-CN" altLang="en-US" dirty="0">
                <a:sym typeface="Symbol" panose="05050102010706020507" pitchFamily="18" charset="2"/>
              </a:rPr>
              <a:t>主析取范式</a:t>
            </a: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    </a:t>
            </a:r>
            <a:r>
              <a:rPr lang="en-US" altLang="zh-CN" dirty="0">
                <a:sym typeface="Symbol" panose="05050102010706020507" pitchFamily="18" charset="2"/>
              </a:rPr>
              <a:t>PQ </a:t>
            </a:r>
            <a:r>
              <a:rPr lang="en-US" altLang="zh-CN" dirty="0"/>
              <a:t>m</a:t>
            </a:r>
            <a:r>
              <a:rPr lang="en-US" altLang="zh-CN" baseline="-25000" dirty="0"/>
              <a:t>0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m</a:t>
            </a:r>
            <a:r>
              <a:rPr lang="en-US" altLang="zh-CN" baseline="-25000" dirty="0"/>
              <a:t>1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m</a:t>
            </a:r>
            <a:r>
              <a:rPr lang="en-US" altLang="zh-CN" baseline="-25000" dirty="0"/>
              <a:t>3</a:t>
            </a:r>
            <a:r>
              <a:rPr lang="en-US" altLang="zh-CN" dirty="0">
                <a:latin typeface="宋体" panose="02010600030101010101" pitchFamily="2" charset="-122"/>
                <a:sym typeface="Kingsoft Phonetic Plain" pitchFamily="2" charset="2"/>
              </a:rPr>
              <a:t>       </a:t>
            </a:r>
            <a:endParaRPr lang="en-US" altLang="zh-CN" dirty="0">
              <a:latin typeface="宋体" panose="02010600030101010101" pitchFamily="2" charset="-122"/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宋体" panose="02010600030101010101" pitchFamily="2" charset="-122"/>
                <a:sym typeface="Kingsoft Phonetic Plain" pitchFamily="2" charset="2"/>
              </a:rPr>
              <a:t>       </a:t>
            </a:r>
            <a:r>
              <a:rPr lang="en-US" altLang="zh-CN" dirty="0">
                <a:sym typeface="Symbol" panose="05050102010706020507" pitchFamily="18" charset="2"/>
              </a:rPr>
              <a:t>(P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>
                <a:sym typeface="Symbol" panose="05050102010706020507" pitchFamily="18" charset="2"/>
              </a:rPr>
              <a:t>Q)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>
                <a:sym typeface="Symbol" panose="05050102010706020507" pitchFamily="18" charset="2"/>
              </a:rPr>
              <a:t>(P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>
                <a:sym typeface="Symbol" panose="05050102010706020507" pitchFamily="18" charset="2"/>
              </a:rPr>
              <a:t>Q)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>
                <a:sym typeface="Symbol" panose="05050102010706020507" pitchFamily="18" charset="2"/>
              </a:rPr>
              <a:t>(P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>
                <a:sym typeface="Symbol" panose="05050102010706020507" pitchFamily="18" charset="2"/>
              </a:rPr>
              <a:t>Q)</a:t>
            </a:r>
            <a:endParaRPr lang="en-US" altLang="zh-CN" dirty="0">
              <a:latin typeface="宋体" panose="02010600030101010101" pitchFamily="2" charset="-122"/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宋体" panose="02010600030101010101" pitchFamily="2" charset="-122"/>
                <a:sym typeface="Kingsoft Phonetic Plain" pitchFamily="2" charset="2"/>
              </a:rPr>
              <a:t>  </a:t>
            </a:r>
            <a:r>
              <a:rPr lang="en-US" altLang="zh-CN" dirty="0">
                <a:sym typeface="Symbol" panose="05050102010706020507" pitchFamily="18" charset="2"/>
              </a:rPr>
              <a:t>P</a:t>
            </a:r>
            <a:r>
              <a:rPr lang="en-US" altLang="zh-CN" dirty="0"/>
              <a:t>Q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m</a:t>
            </a:r>
            <a:r>
              <a:rPr lang="en-US" altLang="zh-CN" baseline="-25000" dirty="0"/>
              <a:t>0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m</a:t>
            </a:r>
            <a:r>
              <a:rPr lang="en-US" altLang="zh-CN" baseline="-25000" dirty="0"/>
              <a:t>3</a:t>
            </a:r>
            <a:endParaRPr lang="en-US" altLang="zh-CN" baseline="-250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     (P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>
                <a:sym typeface="Symbol" panose="05050102010706020507" pitchFamily="18" charset="2"/>
              </a:rPr>
              <a:t>Q)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>
                <a:sym typeface="Symbol" panose="05050102010706020507" pitchFamily="18" charset="2"/>
              </a:rPr>
              <a:t>(P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>
                <a:sym typeface="Symbol" panose="05050102010706020507" pitchFamily="18" charset="2"/>
              </a:rPr>
              <a:t>Q)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dirty="0">
                <a:solidFill>
                  <a:srgbClr val="FF0000"/>
                </a:solidFill>
              </a:rPr>
              <a:t>思考题</a:t>
            </a:r>
            <a:r>
              <a:rPr lang="en-US" altLang="zh-CN" dirty="0"/>
              <a:t>:</a:t>
            </a:r>
            <a:r>
              <a:rPr lang="zh-CN" altLang="en-US" dirty="0"/>
              <a:t>永真式的</a:t>
            </a:r>
            <a:r>
              <a:rPr lang="zh-CN" altLang="en-US" dirty="0">
                <a:sym typeface="Symbol" panose="05050102010706020507" pitchFamily="18" charset="2"/>
              </a:rPr>
              <a:t>主析取范式是什么样 ？</a:t>
            </a:r>
            <a:endParaRPr lang="zh-CN" altLang="en-US" dirty="0">
              <a:sym typeface="Symbol" panose="05050102010706020507" pitchFamily="18" charset="2"/>
            </a:endParaRPr>
          </a:p>
        </p:txBody>
      </p:sp>
      <p:graphicFrame>
        <p:nvGraphicFramePr>
          <p:cNvPr id="102453" name="Group 53"/>
          <p:cNvGraphicFramePr>
            <a:graphicFrameLocks noGrp="1"/>
          </p:cNvGraphicFramePr>
          <p:nvPr/>
        </p:nvGraphicFramePr>
        <p:xfrm>
          <a:off x="1403648" y="1412776"/>
          <a:ext cx="6172200" cy="2590800"/>
        </p:xfrm>
        <a:graphic>
          <a:graphicData uri="http://schemas.openxmlformats.org/drawingml/2006/table">
            <a:tbl>
              <a:tblPr/>
              <a:tblGrid>
                <a:gridCol w="1543050"/>
                <a:gridCol w="1543050"/>
                <a:gridCol w="1543050"/>
                <a:gridCol w="1543050"/>
              </a:tblGrid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PQ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Kingsoft Phonetic Plain" pitchFamily="2" charset="2"/>
                        </a:rPr>
                        <a:t>P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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0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0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24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24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24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24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3" grpId="0" animBg="1" autoUpdateAnimBg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方法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Ⅱ</a:t>
            </a:r>
            <a:r>
              <a:rPr lang="zh-CN" altLang="en-US" dirty="0">
                <a:sym typeface="Symbol" panose="05050102010706020507" pitchFamily="18" charset="2"/>
              </a:rPr>
              <a:t>：</a:t>
            </a:r>
            <a:r>
              <a:rPr lang="zh-CN" altLang="en-US" dirty="0">
                <a:highlight>
                  <a:srgbClr val="FFFF00"/>
                </a:highlight>
                <a:sym typeface="Symbol" panose="05050102010706020507" pitchFamily="18" charset="2"/>
              </a:rPr>
              <a:t>用公式的等价变换</a:t>
            </a:r>
            <a:endParaRPr lang="zh-CN" altLang="en-US" dirty="0">
              <a:highlight>
                <a:srgbClr val="FFFF00"/>
              </a:highlight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⑴</a:t>
            </a:r>
            <a:r>
              <a:rPr lang="zh-CN" altLang="en-US" dirty="0">
                <a:sym typeface="Symbol" panose="05050102010706020507" pitchFamily="18" charset="2"/>
              </a:rPr>
              <a:t>先写出给定公式的析取范式 </a:t>
            </a:r>
            <a:r>
              <a:rPr lang="en-US" altLang="zh-CN" dirty="0">
                <a:sym typeface="Kingsoft Phonetic Plain" pitchFamily="2" charset="2"/>
              </a:rPr>
              <a:t>A</a:t>
            </a:r>
            <a:r>
              <a:rPr lang="en-US" altLang="zh-CN" baseline="-25000" dirty="0">
                <a:sym typeface="Kingsoft Phonetic Plain" pitchFamily="2" charset="2"/>
              </a:rPr>
              <a:t>1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>
                <a:sym typeface="Kingsoft Phonetic Plain" pitchFamily="2" charset="2"/>
              </a:rPr>
              <a:t>A</a:t>
            </a:r>
            <a:r>
              <a:rPr lang="en-US" altLang="zh-CN" baseline="-25000" dirty="0">
                <a:sym typeface="Kingsoft Phonetic Plain" pitchFamily="2" charset="2"/>
              </a:rPr>
              <a:t>2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∨...∨</a:t>
            </a:r>
            <a:r>
              <a:rPr lang="en-US" altLang="zh-CN" dirty="0">
                <a:sym typeface="Kingsoft Phonetic Plain" pitchFamily="2" charset="2"/>
              </a:rPr>
              <a:t>A</a:t>
            </a:r>
            <a:r>
              <a:rPr lang="en-US" altLang="zh-CN" baseline="-25000" dirty="0">
                <a:sym typeface="Kingsoft Phonetic Plain" pitchFamily="2" charset="2"/>
              </a:rPr>
              <a:t>n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⑵</a:t>
            </a:r>
            <a:r>
              <a:rPr lang="zh-CN" altLang="en-US" dirty="0">
                <a:sym typeface="Symbol" panose="05050102010706020507" pitchFamily="18" charset="2"/>
              </a:rPr>
              <a:t>为使每个</a:t>
            </a:r>
            <a:r>
              <a:rPr lang="en-US" altLang="zh-CN" dirty="0">
                <a:sym typeface="Kingsoft Phonetic Plain" pitchFamily="2" charset="2"/>
              </a:rPr>
              <a:t>A</a:t>
            </a:r>
            <a:r>
              <a:rPr lang="en-US" altLang="zh-CN" baseline="-25000" dirty="0">
                <a:sym typeface="Kingsoft Phonetic Plain" pitchFamily="2" charset="2"/>
              </a:rPr>
              <a:t>i</a:t>
            </a:r>
            <a:r>
              <a:rPr lang="zh-CN" altLang="en-US" dirty="0">
                <a:sym typeface="Symbol" panose="05050102010706020507" pitchFamily="18" charset="2"/>
              </a:rPr>
              <a:t>都变成小项，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对缺少变元的</a:t>
            </a:r>
            <a:r>
              <a:rPr lang="en-US" altLang="zh-CN" dirty="0">
                <a:solidFill>
                  <a:srgbClr val="FF0000"/>
                </a:solidFill>
                <a:sym typeface="Kingsoft Phonetic Plain" pitchFamily="2" charset="2"/>
              </a:rPr>
              <a:t>A</a:t>
            </a:r>
            <a:r>
              <a:rPr lang="en-US" altLang="zh-CN" baseline="-25000" dirty="0">
                <a:solidFill>
                  <a:srgbClr val="FF0000"/>
                </a:solidFill>
                <a:sym typeface="Kingsoft Phonetic Plain" pitchFamily="2" charset="2"/>
              </a:rPr>
              <a:t>i</a:t>
            </a:r>
            <a:endParaRPr lang="en-US" altLang="zh-CN" baseline="-25000" dirty="0">
              <a:solidFill>
                <a:srgbClr val="FF0000"/>
              </a:solidFill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补全变元</a:t>
            </a:r>
            <a:r>
              <a:rPr lang="zh-CN" altLang="en-US" dirty="0">
                <a:sym typeface="Symbol" panose="05050102010706020507" pitchFamily="18" charset="2"/>
              </a:rPr>
              <a:t>，比如缺变元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zh-CN" altLang="en-US" dirty="0">
                <a:sym typeface="Symbol" panose="05050102010706020507" pitchFamily="18" charset="2"/>
              </a:rPr>
              <a:t>，就用</a:t>
            </a:r>
            <a:r>
              <a:rPr lang="zh-CN" altLang="en-US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zh-CN" altLang="en-US" dirty="0">
                <a:sym typeface="Kingsoft Phonetic Plain" pitchFamily="2" charset="2"/>
              </a:rPr>
              <a:t>联结永真</a:t>
            </a:r>
            <a:endParaRPr lang="zh-CN" altLang="en-US" dirty="0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ym typeface="Kingsoft Phonetic Plain" pitchFamily="2" charset="2"/>
              </a:rPr>
              <a:t>式</a:t>
            </a:r>
            <a:r>
              <a:rPr lang="en-US" altLang="zh-CN" dirty="0">
                <a:sym typeface="Kingsoft Phonetic Plain" pitchFamily="2" charset="2"/>
              </a:rPr>
              <a:t>(R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>
                <a:sym typeface="Kingsoft Phonetic Plain" pitchFamily="2" charset="2"/>
              </a:rPr>
              <a:t>R)</a:t>
            </a:r>
            <a:r>
              <a:rPr lang="zh-CN" altLang="en-US" dirty="0">
                <a:sym typeface="Kingsoft Phonetic Plain" pitchFamily="2" charset="2"/>
              </a:rPr>
              <a:t>形式补</a:t>
            </a:r>
            <a:r>
              <a:rPr lang="en-US" altLang="zh-CN" dirty="0">
                <a:sym typeface="Kingsoft Phonetic Plain" pitchFamily="2" charset="2"/>
              </a:rPr>
              <a:t>R</a:t>
            </a:r>
            <a:r>
              <a:rPr lang="zh-CN" altLang="en-US" dirty="0">
                <a:sym typeface="Kingsoft Phonetic Plain" pitchFamily="2" charset="2"/>
              </a:rPr>
              <a:t>。</a:t>
            </a: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⑶</a:t>
            </a:r>
            <a:r>
              <a:rPr lang="zh-CN" altLang="en-US" dirty="0">
                <a:sym typeface="Symbol" panose="05050102010706020507" pitchFamily="18" charset="2"/>
              </a:rPr>
              <a:t>用分配律等公式加以整理。</a:t>
            </a: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PQP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>
                <a:sym typeface="Symbol" panose="05050102010706020507" pitchFamily="18" charset="2"/>
              </a:rPr>
              <a:t>Q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(P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∧(Q∨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Q))∨((P∨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 P)∧ </a:t>
            </a:r>
            <a:r>
              <a:rPr lang="en-US" altLang="zh-CN" dirty="0">
                <a:sym typeface="Symbol" panose="05050102010706020507" pitchFamily="18" charset="2"/>
              </a:rPr>
              <a:t>Q)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(P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∧Q)∨(</a:t>
            </a:r>
            <a:r>
              <a:rPr lang="en-US" altLang="zh-CN" dirty="0">
                <a:sym typeface="Symbol" panose="05050102010706020507" pitchFamily="18" charset="2"/>
              </a:rPr>
              <a:t>P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Q)∨(P∧</a:t>
            </a:r>
            <a:r>
              <a:rPr lang="en-US" altLang="zh-CN" dirty="0">
                <a:sym typeface="Symbol" panose="05050102010706020507" pitchFamily="18" charset="2"/>
              </a:rPr>
              <a:t>Q)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∨(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P∧</a:t>
            </a:r>
            <a:r>
              <a:rPr lang="en-US" altLang="zh-CN" dirty="0">
                <a:sym typeface="Symbol" panose="05050102010706020507" pitchFamily="18" charset="2"/>
              </a:rPr>
              <a:t>Q)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(P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∧Q)∨(</a:t>
            </a:r>
            <a:r>
              <a:rPr lang="en-US" altLang="zh-CN" dirty="0">
                <a:sym typeface="Symbol" panose="05050102010706020507" pitchFamily="18" charset="2"/>
              </a:rPr>
              <a:t>P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Q)∨(P∧</a:t>
            </a:r>
            <a:r>
              <a:rPr lang="en-US" altLang="zh-CN" dirty="0">
                <a:sym typeface="Symbol" panose="05050102010706020507" pitchFamily="18" charset="2"/>
              </a:rPr>
              <a:t>Q)</a:t>
            </a:r>
            <a:endParaRPr lang="en-US" altLang="zh-CN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137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0137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101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101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1013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9" grpId="0" autoUpdateAnimBg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3427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㈡</a:t>
            </a:r>
            <a:r>
              <a:rPr lang="zh-CN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主</a:t>
            </a:r>
            <a:r>
              <a:rPr lang="zh-CN" altLang="zh-CN" b="1" dirty="0">
                <a:solidFill>
                  <a:srgbClr val="FF0000"/>
                </a:solidFill>
                <a:sym typeface="Kingsoft Phonetic Plain" pitchFamily="2" charset="2"/>
              </a:rPr>
              <a:t>合取范式</a:t>
            </a:r>
            <a:endParaRPr lang="zh-CN" altLang="en-US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1.</a:t>
            </a:r>
            <a:r>
              <a:rPr lang="zh-CN" altLang="en-US" b="1" dirty="0">
                <a:ea typeface="黑体" panose="02010609060101010101" pitchFamily="49" charset="-122"/>
                <a:sym typeface="Symbol" panose="05050102010706020507" pitchFamily="18" charset="2"/>
              </a:rPr>
              <a:t>大项</a:t>
            </a:r>
            <a:endParaRPr lang="zh-CN" altLang="en-US" b="1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⑴定义</a:t>
            </a:r>
            <a:r>
              <a:rPr lang="en-US" altLang="zh-CN" dirty="0">
                <a:sym typeface="Symbol" panose="05050102010706020507" pitchFamily="18" charset="2"/>
              </a:rPr>
              <a:t>:</a:t>
            </a:r>
            <a:r>
              <a:rPr lang="zh-CN" altLang="en-US" dirty="0">
                <a:sym typeface="Symbol" panose="05050102010706020507" pitchFamily="18" charset="2"/>
              </a:rPr>
              <a:t>在有</a:t>
            </a:r>
            <a:r>
              <a:rPr lang="en-US" altLang="zh-CN" dirty="0">
                <a:sym typeface="Symbol" panose="05050102010706020507" pitchFamily="18" charset="2"/>
              </a:rPr>
              <a:t>n</a:t>
            </a:r>
            <a:r>
              <a:rPr lang="zh-CN" altLang="en-US" dirty="0">
                <a:sym typeface="Symbol" panose="05050102010706020507" pitchFamily="18" charset="2"/>
              </a:rPr>
              <a:t>个命题变元的析取式中，每</a:t>
            </a: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   个变元必出现且仅出现一次</a:t>
            </a:r>
            <a:r>
              <a:rPr lang="en-US" altLang="zh-CN" dirty="0">
                <a:sym typeface="Symbol" panose="05050102010706020507" pitchFamily="18" charset="2"/>
              </a:rPr>
              <a:t>,</a:t>
            </a:r>
            <a:r>
              <a:rPr lang="zh-CN" altLang="en-US" dirty="0">
                <a:sym typeface="Symbol" panose="05050102010706020507" pitchFamily="18" charset="2"/>
              </a:rPr>
              <a:t>称之为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大项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   例如，有两个变元的大项及其真值表：</a:t>
            </a:r>
            <a:r>
              <a:rPr lang="zh-CN" altLang="en-US" dirty="0"/>
              <a:t>               </a:t>
            </a:r>
            <a:endParaRPr lang="zh-CN" altLang="en-US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103500" name="Group 76"/>
          <p:cNvGraphicFramePr>
            <a:graphicFrameLocks noGrp="1"/>
          </p:cNvGraphicFramePr>
          <p:nvPr/>
        </p:nvGraphicFramePr>
        <p:xfrm>
          <a:off x="1219200" y="3717032"/>
          <a:ext cx="6705600" cy="2743200"/>
        </p:xfrm>
        <a:graphic>
          <a:graphicData uri="http://schemas.openxmlformats.org/drawingml/2006/table">
            <a:tbl>
              <a:tblPr/>
              <a:tblGrid>
                <a:gridCol w="533400"/>
                <a:gridCol w="533400"/>
                <a:gridCol w="1219200"/>
                <a:gridCol w="1371600"/>
                <a:gridCol w="1371600"/>
                <a:gridCol w="167640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P 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Gothic" panose="020B0609070205080204" pitchFamily="49" charset="-128"/>
                          <a:sym typeface="Kingsoft Phonetic Plain" pitchFamily="2" charset="2"/>
                        </a:rPr>
                        <a:t>∨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Gothic" panose="020B0609070205080204" pitchFamily="49" charset="-128"/>
                          <a:sym typeface="Kingsoft Phonetic Plain" pitchFamily="2" charset="2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P 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Gothic" panose="020B0609070205080204" pitchFamily="49" charset="-128"/>
                          <a:sym typeface="Kingsoft Phonetic Plain" pitchFamily="2" charset="2"/>
                        </a:rPr>
                        <a:t>∨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Gothic" panose="020B0609070205080204" pitchFamily="49" charset="-128"/>
                          <a:sym typeface="Kingsoft Phonetic Plain" pitchFamily="2" charset="2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Q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P 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Gothic" panose="020B0609070205080204" pitchFamily="49" charset="-128"/>
                          <a:sym typeface="Kingsoft Phonetic Plain" pitchFamily="2" charset="2"/>
                        </a:rPr>
                        <a:t>∨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Gothic" panose="020B0609070205080204" pitchFamily="49" charset="-128"/>
                          <a:sym typeface="Kingsoft Phonetic Plain" pitchFamily="2" charset="2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P 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Gothic" panose="020B0609070205080204" pitchFamily="49" charset="-128"/>
                          <a:sym typeface="Kingsoft Phonetic Plain" pitchFamily="2" charset="2"/>
                        </a:rPr>
                        <a:t>∨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Gothic" panose="020B0609070205080204" pitchFamily="49" charset="-128"/>
                          <a:sym typeface="Kingsoft Phonetic Plain" pitchFamily="2" charset="2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Q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4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34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3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3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3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3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3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3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7" grpId="0" autoUpdateAnimBg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451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FF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⑵</a:t>
            </a: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大项的性质</a:t>
            </a:r>
            <a:endParaRPr lang="zh-CN" altLang="en-US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/>
              <a:t>  </a:t>
            </a:r>
            <a:r>
              <a:rPr lang="en-US" altLang="zh-CN">
                <a:solidFill>
                  <a:srgbClr val="FF0000"/>
                </a:solidFill>
              </a:rPr>
              <a:t>a).</a:t>
            </a:r>
            <a:r>
              <a:rPr lang="zh-CN" altLang="en-US"/>
              <a:t>有</a:t>
            </a:r>
            <a:r>
              <a:rPr lang="en-US" altLang="zh-CN"/>
              <a:t>n</a:t>
            </a:r>
            <a:r>
              <a:rPr lang="zh-CN" altLang="en-US"/>
              <a:t>个变元，则有</a:t>
            </a:r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en-US" altLang="zh-CN" baseline="30000">
                <a:solidFill>
                  <a:srgbClr val="FF0000"/>
                </a:solidFill>
              </a:rPr>
              <a:t>n</a:t>
            </a:r>
            <a:r>
              <a:rPr lang="zh-CN" altLang="en-US">
                <a:solidFill>
                  <a:srgbClr val="FF0000"/>
                </a:solidFill>
              </a:rPr>
              <a:t>个</a:t>
            </a:r>
            <a:r>
              <a:rPr lang="zh-CN" altLang="en-US"/>
              <a:t>大项。</a:t>
            </a:r>
            <a:endParaRPr lang="en-US" altLang="en-US"/>
          </a:p>
          <a:p>
            <a:pPr eaLnBrk="1" hangingPunct="1">
              <a:buFontTx/>
              <a:buNone/>
            </a:pPr>
            <a:r>
              <a:rPr lang="en-US" altLang="en-US"/>
              <a:t>  </a:t>
            </a:r>
            <a:r>
              <a:rPr lang="en-US" altLang="zh-CN">
                <a:solidFill>
                  <a:srgbClr val="FF0000"/>
                </a:solidFill>
              </a:rPr>
              <a:t>b).</a:t>
            </a:r>
            <a:r>
              <a:rPr lang="zh-CN" altLang="en-US"/>
              <a:t>每一组指派</a:t>
            </a:r>
            <a:r>
              <a:rPr lang="zh-CN" altLang="en-US">
                <a:solidFill>
                  <a:srgbClr val="FF0000"/>
                </a:solidFill>
              </a:rPr>
              <a:t>有且只有一个</a:t>
            </a:r>
            <a:r>
              <a:rPr lang="zh-CN" altLang="en-US"/>
              <a:t>大项为</a:t>
            </a:r>
            <a:r>
              <a:rPr lang="en-US" altLang="zh-CN" b="1">
                <a:solidFill>
                  <a:srgbClr val="FF0000"/>
                </a:solidFill>
              </a:rPr>
              <a:t>F</a:t>
            </a:r>
            <a:r>
              <a:rPr lang="zh-CN" altLang="en-US"/>
              <a:t>。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   为了记忆方便，可将各组指派对应的为</a:t>
            </a:r>
            <a:r>
              <a:rPr lang="en-US" altLang="zh-CN" b="1">
                <a:solidFill>
                  <a:srgbClr val="FF0000"/>
                </a:solidFill>
              </a:rPr>
              <a:t>F</a:t>
            </a:r>
            <a:endParaRPr lang="en-US" altLang="zh-CN" b="1">
              <a:solidFill>
                <a:srgbClr val="FF0000"/>
              </a:solidFill>
            </a:endParaRPr>
          </a:p>
          <a:p>
            <a:pPr eaLnBrk="1" hangingPunct="1">
              <a:buFontTx/>
              <a:buNone/>
            </a:pPr>
            <a:r>
              <a:rPr lang="en-US" altLang="zh-CN" b="1">
                <a:solidFill>
                  <a:srgbClr val="FF0000"/>
                </a:solidFill>
              </a:rPr>
              <a:t>   </a:t>
            </a:r>
            <a:r>
              <a:rPr lang="zh-CN" altLang="en-US"/>
              <a:t>的大项分别记作</a:t>
            </a:r>
            <a:r>
              <a:rPr lang="en-US" altLang="zh-CN"/>
              <a:t>M</a:t>
            </a:r>
            <a:r>
              <a:rPr lang="en-US" altLang="zh-CN" baseline="-25000"/>
              <a:t>0</a:t>
            </a:r>
            <a:r>
              <a:rPr lang="en-US" altLang="zh-CN"/>
              <a:t>,M</a:t>
            </a:r>
            <a:r>
              <a:rPr lang="en-US" altLang="zh-CN" baseline="-25000"/>
              <a:t>1</a:t>
            </a:r>
            <a:r>
              <a:rPr lang="en-US" altLang="zh-CN"/>
              <a:t>,M</a:t>
            </a:r>
            <a:r>
              <a:rPr lang="en-US" altLang="zh-CN" baseline="-25000"/>
              <a:t>2</a:t>
            </a:r>
            <a:r>
              <a:rPr lang="en-US" altLang="zh-CN"/>
              <a:t>,…,M</a:t>
            </a:r>
            <a:r>
              <a:rPr lang="en-US" altLang="zh-CN" baseline="-25000"/>
              <a:t>2</a:t>
            </a:r>
            <a:r>
              <a:rPr lang="en-US" altLang="zh-CN" baseline="30000"/>
              <a:t>n</a:t>
            </a:r>
            <a:r>
              <a:rPr lang="en-US" altLang="zh-CN" baseline="-25000"/>
              <a:t>-1</a:t>
            </a:r>
            <a:r>
              <a:rPr lang="en-US" altLang="zh-CN"/>
              <a:t> </a:t>
            </a:r>
            <a:r>
              <a:rPr lang="zh-CN" altLang="en-US"/>
              <a:t>。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   上例中：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   </a:t>
            </a:r>
            <a:r>
              <a:rPr lang="en-US" altLang="zh-CN"/>
              <a:t>M</a:t>
            </a:r>
            <a:r>
              <a:rPr lang="en-US" altLang="zh-CN" baseline="-25000"/>
              <a:t>0 </a:t>
            </a:r>
            <a:r>
              <a:rPr lang="en-US" altLang="zh-CN">
                <a:sym typeface="Symbol" panose="05050102010706020507" pitchFamily="18" charset="2"/>
              </a:rPr>
              <a:t>P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Q</a:t>
            </a:r>
            <a:r>
              <a:rPr lang="en-US" altLang="zh-CN"/>
              <a:t>            M</a:t>
            </a:r>
            <a:r>
              <a:rPr lang="en-US" altLang="zh-CN" baseline="-25000"/>
              <a:t>1 </a:t>
            </a:r>
            <a:r>
              <a:rPr lang="en-US" altLang="zh-CN">
                <a:sym typeface="Symbol" panose="05050102010706020507" pitchFamily="18" charset="2"/>
              </a:rPr>
              <a:t>P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Q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>
                <a:sym typeface="Symbol" panose="05050102010706020507" pitchFamily="18" charset="2"/>
              </a:rPr>
              <a:t>   </a:t>
            </a:r>
            <a:r>
              <a:rPr lang="en-US" altLang="zh-CN"/>
              <a:t>M</a:t>
            </a:r>
            <a:r>
              <a:rPr lang="en-US" altLang="zh-CN" baseline="-25000"/>
              <a:t>2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 baseline="-25000"/>
              <a:t> </a:t>
            </a:r>
            <a:r>
              <a:rPr lang="en-US" altLang="zh-CN">
                <a:sym typeface="Symbol" panose="05050102010706020507" pitchFamily="18" charset="2"/>
              </a:rPr>
              <a:t>P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Q </a:t>
            </a:r>
            <a:r>
              <a:rPr lang="en-US" altLang="zh-CN"/>
              <a:t>        M</a:t>
            </a:r>
            <a:r>
              <a:rPr lang="en-US" altLang="zh-CN" baseline="-25000"/>
              <a:t>3 </a:t>
            </a:r>
            <a:r>
              <a:rPr lang="en-US" altLang="zh-CN">
                <a:sym typeface="Symbol" panose="05050102010706020507" pitchFamily="18" charset="2"/>
              </a:rPr>
              <a:t>P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Q 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endParaRPr lang="en-US" altLang="zh-CN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cover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445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0445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104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10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104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 autoUpdateAnimBg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5475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FF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 b="1" dirty="0">
                <a:solidFill>
                  <a:srgbClr val="FF0000"/>
                </a:solidFill>
              </a:rPr>
              <a:t>2.</a:t>
            </a:r>
            <a:r>
              <a:rPr lang="zh-CN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主合取范式定义</a:t>
            </a:r>
            <a:endParaRPr lang="zh-CN" altLang="en-US" sz="2800" b="1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/>
              <a:t>    合</a:t>
            </a:r>
            <a:r>
              <a:rPr lang="zh-CN" altLang="zh-CN" sz="2800" b="1" dirty="0">
                <a:sym typeface="Kingsoft Phonetic Plain" pitchFamily="2" charset="2"/>
              </a:rPr>
              <a:t>取范式 </a:t>
            </a:r>
            <a:r>
              <a:rPr lang="en-US" altLang="zh-CN" sz="2800" b="1" dirty="0">
                <a:sym typeface="Kingsoft Phonetic Plain" pitchFamily="2" charset="2"/>
              </a:rPr>
              <a:t>A</a:t>
            </a:r>
            <a:r>
              <a:rPr lang="en-US" altLang="zh-CN" sz="2800" b="1" baseline="-25000" dirty="0">
                <a:sym typeface="Kingsoft Phonetic Plain" pitchFamily="2" charset="2"/>
              </a:rPr>
              <a:t>1</a:t>
            </a:r>
            <a:r>
              <a:rPr lang="en-US" altLang="zh-CN" sz="28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 dirty="0">
                <a:sym typeface="Kingsoft Phonetic Plain" pitchFamily="2" charset="2"/>
              </a:rPr>
              <a:t>A</a:t>
            </a:r>
            <a:r>
              <a:rPr lang="en-US" altLang="zh-CN" sz="2800" b="1" baseline="-25000" dirty="0">
                <a:sym typeface="Kingsoft Phonetic Plain" pitchFamily="2" charset="2"/>
              </a:rPr>
              <a:t>2</a:t>
            </a:r>
            <a:r>
              <a:rPr lang="en-US" altLang="zh-CN" sz="2800" b="1" dirty="0">
                <a:ea typeface="MS Gothic" panose="020B0609070205080204" pitchFamily="49" charset="-128"/>
                <a:sym typeface="Kingsoft Phonetic Plain" pitchFamily="2" charset="2"/>
              </a:rPr>
              <a:t>∧... ∧</a:t>
            </a:r>
            <a:r>
              <a:rPr lang="en-US" altLang="zh-CN" sz="2800" b="1" dirty="0">
                <a:sym typeface="Kingsoft Phonetic Plain" pitchFamily="2" charset="2"/>
              </a:rPr>
              <a:t>A</a:t>
            </a:r>
            <a:r>
              <a:rPr lang="en-US" altLang="zh-CN" sz="2800" b="1" baseline="-25000" dirty="0">
                <a:sym typeface="Kingsoft Phonetic Plain" pitchFamily="2" charset="2"/>
              </a:rPr>
              <a:t>n, </a:t>
            </a:r>
            <a:r>
              <a:rPr lang="en-US" altLang="zh-CN" sz="2800" b="1" dirty="0">
                <a:sym typeface="Kingsoft Phonetic Plain" pitchFamily="2" charset="2"/>
              </a:rPr>
              <a:t>, </a:t>
            </a:r>
            <a:r>
              <a:rPr lang="zh-CN" altLang="zh-CN" sz="2800" b="1" dirty="0">
                <a:sym typeface="Kingsoft Phonetic Plain" pitchFamily="2" charset="2"/>
              </a:rPr>
              <a:t>其中每个</a:t>
            </a:r>
            <a:r>
              <a:rPr lang="en-US" altLang="zh-CN" sz="2800" b="1" dirty="0">
                <a:sym typeface="Kingsoft Phonetic Plain" pitchFamily="2" charset="2"/>
              </a:rPr>
              <a:t>A</a:t>
            </a:r>
            <a:r>
              <a:rPr lang="en-US" altLang="zh-CN" sz="2800" b="1" baseline="-25000" dirty="0">
                <a:sym typeface="Kingsoft Phonetic Plain" pitchFamily="2" charset="2"/>
              </a:rPr>
              <a:t>i</a:t>
            </a:r>
            <a:r>
              <a:rPr lang="en-US" altLang="zh-CN" sz="2800" b="1" dirty="0">
                <a:sym typeface="Kingsoft Phonetic Plain" pitchFamily="2" charset="2"/>
              </a:rPr>
              <a:t> </a:t>
            </a:r>
            <a:endParaRPr lang="en-US" altLang="zh-CN" sz="2800" b="1" dirty="0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sym typeface="Kingsoft Phonetic Plain" pitchFamily="2" charset="2"/>
              </a:rPr>
              <a:t>(</a:t>
            </a:r>
            <a:r>
              <a:rPr lang="en-US" altLang="zh-CN" sz="2800" b="1" dirty="0" err="1">
                <a:sym typeface="Kingsoft Phonetic Plain" pitchFamily="2" charset="2"/>
              </a:rPr>
              <a:t>i</a:t>
            </a:r>
            <a:r>
              <a:rPr lang="en-US" altLang="zh-CN" sz="2800" b="1" dirty="0">
                <a:sym typeface="Kingsoft Phonetic Plain" pitchFamily="2" charset="2"/>
              </a:rPr>
              <a:t>=1,2,…,n)</a:t>
            </a:r>
            <a:r>
              <a:rPr lang="zh-CN" altLang="zh-CN" sz="2800" b="1" dirty="0">
                <a:sym typeface="Kingsoft Phonetic Plain" pitchFamily="2" charset="2"/>
              </a:rPr>
              <a:t>都</a:t>
            </a:r>
            <a:r>
              <a:rPr lang="zh-CN" altLang="en-US" sz="2800" b="1" dirty="0">
                <a:sym typeface="Kingsoft Phonetic Plain" pitchFamily="2" charset="2"/>
              </a:rPr>
              <a:t>是</a:t>
            </a:r>
            <a:r>
              <a:rPr lang="zh-CN" altLang="zh-CN" sz="2800" b="1" dirty="0">
                <a:sym typeface="Kingsoft Phonetic Plain" pitchFamily="2" charset="2"/>
              </a:rPr>
              <a:t>大项，称之为</a:t>
            </a:r>
            <a:r>
              <a:rPr lang="zh-CN" altLang="en-US" sz="2800" b="1" dirty="0">
                <a:ea typeface="黑体" panose="02010609060101010101" pitchFamily="49" charset="-122"/>
                <a:sym typeface="Symbol" panose="05050102010706020507" pitchFamily="18" charset="2"/>
              </a:rPr>
              <a:t>主合取范式</a:t>
            </a:r>
            <a:r>
              <a:rPr lang="zh-CN" altLang="en-US" sz="2800" b="1" dirty="0">
                <a:sym typeface="Symbol" panose="05050102010706020507" pitchFamily="18" charset="2"/>
              </a:rPr>
              <a:t>。</a:t>
            </a:r>
            <a:endParaRPr lang="zh-CN" altLang="en-US" sz="2800" b="1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3.</a:t>
            </a:r>
            <a:r>
              <a:rPr lang="zh-CN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主合取范式的写法</a:t>
            </a:r>
            <a:endParaRPr lang="zh-CN" altLang="en-US" sz="2800" b="1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sym typeface="Symbol" panose="05050102010706020507" pitchFamily="18" charset="2"/>
              </a:rPr>
              <a:t>方法</a:t>
            </a:r>
            <a:r>
              <a:rPr lang="en-US" altLang="zh-CN" sz="2400" b="1" dirty="0">
                <a:solidFill>
                  <a:srgbClr val="FF0000"/>
                </a:solidFill>
                <a:sym typeface="Symbol" panose="05050102010706020507" pitchFamily="18" charset="2"/>
              </a:rPr>
              <a:t>Ⅰ</a:t>
            </a:r>
            <a:r>
              <a:rPr lang="zh-CN" altLang="en-US" sz="2400" b="1" dirty="0">
                <a:sym typeface="Symbol" panose="05050102010706020507" pitchFamily="18" charset="2"/>
              </a:rPr>
              <a:t>：列真值表</a:t>
            </a:r>
            <a:endParaRPr lang="zh-CN" altLang="en-US" sz="2400" b="1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400" b="1" dirty="0">
                <a:sym typeface="Symbol" panose="05050102010706020507" pitchFamily="18" charset="2"/>
              </a:rPr>
              <a:t>   </a:t>
            </a:r>
            <a:r>
              <a:rPr lang="zh-CN" altLang="en-US" sz="2400" b="1" dirty="0">
                <a:solidFill>
                  <a:srgbClr val="FF0000"/>
                </a:solidFill>
                <a:sym typeface="Symbol" panose="05050102010706020507" pitchFamily="18" charset="2"/>
              </a:rPr>
              <a:t>⑴</a:t>
            </a:r>
            <a:r>
              <a:rPr lang="zh-CN" altLang="en-US" sz="2400" b="1" dirty="0">
                <a:sym typeface="Symbol" panose="05050102010706020507" pitchFamily="18" charset="2"/>
              </a:rPr>
              <a:t>列出给定公式的真值表。</a:t>
            </a:r>
            <a:endParaRPr lang="zh-CN" altLang="en-US" sz="2400" b="1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400" b="1" dirty="0">
                <a:sym typeface="Symbol" panose="05050102010706020507" pitchFamily="18" charset="2"/>
              </a:rPr>
              <a:t>   </a:t>
            </a:r>
            <a:r>
              <a:rPr lang="zh-CN" altLang="en-US" sz="2400" b="1" dirty="0">
                <a:solidFill>
                  <a:srgbClr val="FF0000"/>
                </a:solidFill>
                <a:sym typeface="Symbol" panose="05050102010706020507" pitchFamily="18" charset="2"/>
              </a:rPr>
              <a:t>⑵</a:t>
            </a:r>
            <a:r>
              <a:rPr lang="zh-CN" altLang="en-US" sz="2400" b="1" dirty="0">
                <a:sym typeface="Symbol" panose="05050102010706020507" pitchFamily="18" charset="2"/>
              </a:rPr>
              <a:t>找出真值表中每个“</a:t>
            </a:r>
            <a:r>
              <a:rPr lang="en-US" altLang="zh-CN" sz="2400" b="1" dirty="0">
                <a:sym typeface="Symbol" panose="05050102010706020507" pitchFamily="18" charset="2"/>
              </a:rPr>
              <a:t>F”</a:t>
            </a:r>
            <a:r>
              <a:rPr lang="zh-CN" altLang="en-US" sz="2400" b="1" dirty="0">
                <a:sym typeface="Symbol" panose="05050102010706020507" pitchFamily="18" charset="2"/>
              </a:rPr>
              <a:t>对应的大项。</a:t>
            </a:r>
            <a:endParaRPr lang="zh-CN" altLang="en-US" sz="2400" b="1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400" b="1" dirty="0">
                <a:sym typeface="Symbol" panose="05050102010706020507" pitchFamily="18" charset="2"/>
              </a:rPr>
              <a:t>   </a:t>
            </a:r>
            <a:r>
              <a:rPr lang="zh-CN" altLang="zh-CN" sz="2400" b="1" dirty="0">
                <a:solidFill>
                  <a:srgbClr val="FF0000"/>
                </a:solidFill>
                <a:sym typeface="Symbol" panose="05050102010706020507" pitchFamily="18" charset="2"/>
              </a:rPr>
              <a:t>如何</a:t>
            </a:r>
            <a:r>
              <a:rPr lang="zh-CN" altLang="en-US" sz="2400" b="1" dirty="0">
                <a:sym typeface="Symbol" panose="05050102010706020507" pitchFamily="18" charset="2"/>
              </a:rPr>
              <a:t>根据一组指派写对应的为“</a:t>
            </a:r>
            <a:r>
              <a:rPr lang="en-US" altLang="zh-CN" sz="2400" b="1" dirty="0">
                <a:solidFill>
                  <a:srgbClr val="FF0000"/>
                </a:solidFill>
                <a:sym typeface="Symbol" panose="05050102010706020507" pitchFamily="18" charset="2"/>
              </a:rPr>
              <a:t>F</a:t>
            </a:r>
            <a:r>
              <a:rPr lang="en-US" altLang="zh-CN" sz="2400" b="1" dirty="0">
                <a:sym typeface="Symbol" panose="05050102010706020507" pitchFamily="18" charset="2"/>
              </a:rPr>
              <a:t>”</a:t>
            </a:r>
            <a:r>
              <a:rPr lang="zh-CN" altLang="en-US" sz="2400" b="1" dirty="0">
                <a:sym typeface="Symbol" panose="05050102010706020507" pitchFamily="18" charset="2"/>
              </a:rPr>
              <a:t>的大项：</a:t>
            </a:r>
            <a:endParaRPr lang="zh-CN" altLang="en-US" sz="2400" b="1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400" b="1" dirty="0">
                <a:sym typeface="Symbol" panose="05050102010706020507" pitchFamily="18" charset="2"/>
              </a:rPr>
              <a:t>如果变元</a:t>
            </a:r>
            <a:r>
              <a:rPr lang="en-US" altLang="zh-CN" sz="2400" b="1" dirty="0">
                <a:sym typeface="Symbol" panose="05050102010706020507" pitchFamily="18" charset="2"/>
              </a:rPr>
              <a:t>P</a:t>
            </a:r>
            <a:r>
              <a:rPr lang="zh-CN" altLang="en-US" sz="2400" b="1" dirty="0">
                <a:sym typeface="Symbol" panose="05050102010706020507" pitchFamily="18" charset="2"/>
              </a:rPr>
              <a:t>被指派为</a:t>
            </a:r>
            <a:r>
              <a:rPr lang="en-US" altLang="zh-CN" sz="2400" b="1" dirty="0">
                <a:solidFill>
                  <a:srgbClr val="FF0000"/>
                </a:solidFill>
                <a:sym typeface="Symbol" panose="05050102010706020507" pitchFamily="18" charset="2"/>
              </a:rPr>
              <a:t>F</a:t>
            </a:r>
            <a:r>
              <a:rPr lang="zh-CN" altLang="en-US" sz="2400" b="1" dirty="0">
                <a:sym typeface="Symbol" panose="05050102010706020507" pitchFamily="18" charset="2"/>
              </a:rPr>
              <a:t>，</a:t>
            </a:r>
            <a:r>
              <a:rPr lang="en-US" altLang="zh-CN" sz="2400" b="1" dirty="0">
                <a:sym typeface="Symbol" panose="05050102010706020507" pitchFamily="18" charset="2"/>
              </a:rPr>
              <a:t>P</a:t>
            </a:r>
            <a:r>
              <a:rPr lang="zh-CN" altLang="en-US" sz="2400" b="1" dirty="0">
                <a:sym typeface="Symbol" panose="05050102010706020507" pitchFamily="18" charset="2"/>
              </a:rPr>
              <a:t>在大项中以</a:t>
            </a:r>
            <a:r>
              <a:rPr lang="en-US" altLang="zh-CN" sz="2400" b="1" dirty="0">
                <a:solidFill>
                  <a:srgbClr val="FF0000"/>
                </a:solidFill>
                <a:sym typeface="Symbol" panose="05050102010706020507" pitchFamily="18" charset="2"/>
              </a:rPr>
              <a:t>P</a:t>
            </a:r>
            <a:r>
              <a:rPr lang="zh-CN" altLang="en-US" sz="2400" b="1" dirty="0">
                <a:sym typeface="Symbol" panose="05050102010706020507" pitchFamily="18" charset="2"/>
              </a:rPr>
              <a:t>形式出现；</a:t>
            </a:r>
            <a:endParaRPr lang="zh-CN" altLang="en-US" sz="2400" b="1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400" b="1" dirty="0">
                <a:sym typeface="Symbol" panose="05050102010706020507" pitchFamily="18" charset="2"/>
              </a:rPr>
              <a:t>如果变元</a:t>
            </a:r>
            <a:r>
              <a:rPr lang="en-US" altLang="zh-CN" sz="2400" b="1" dirty="0">
                <a:sym typeface="Symbol" panose="05050102010706020507" pitchFamily="18" charset="2"/>
              </a:rPr>
              <a:t>P</a:t>
            </a:r>
            <a:r>
              <a:rPr lang="zh-CN" altLang="en-US" sz="2400" b="1" dirty="0">
                <a:sym typeface="Symbol" panose="05050102010706020507" pitchFamily="18" charset="2"/>
              </a:rPr>
              <a:t>被指派为</a:t>
            </a:r>
            <a:r>
              <a:rPr lang="en-US" altLang="zh-CN" sz="2400" b="1" dirty="0">
                <a:solidFill>
                  <a:srgbClr val="FF0000"/>
                </a:solidFill>
                <a:sym typeface="Symbol" panose="05050102010706020507" pitchFamily="18" charset="2"/>
              </a:rPr>
              <a:t>T</a:t>
            </a:r>
            <a:r>
              <a:rPr lang="zh-CN" altLang="en-US" sz="2400" b="1" dirty="0">
                <a:sym typeface="Symbol" panose="05050102010706020507" pitchFamily="18" charset="2"/>
              </a:rPr>
              <a:t>，</a:t>
            </a:r>
            <a:r>
              <a:rPr lang="en-US" altLang="zh-CN" sz="2400" b="1" dirty="0">
                <a:sym typeface="Symbol" panose="05050102010706020507" pitchFamily="18" charset="2"/>
              </a:rPr>
              <a:t>P</a:t>
            </a:r>
            <a:r>
              <a:rPr lang="zh-CN" altLang="en-US" sz="2400" b="1" dirty="0">
                <a:sym typeface="Symbol" panose="05050102010706020507" pitchFamily="18" charset="2"/>
              </a:rPr>
              <a:t>在大项中以</a:t>
            </a:r>
            <a:r>
              <a:rPr lang="zh-CN" altLang="en-US" sz="2400" b="1" dirty="0">
                <a:solidFill>
                  <a:srgbClr val="FF0000"/>
                </a:solidFill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solidFill>
                  <a:srgbClr val="FF0000"/>
                </a:solidFill>
                <a:sym typeface="Symbol" panose="05050102010706020507" pitchFamily="18" charset="2"/>
              </a:rPr>
              <a:t>P</a:t>
            </a:r>
            <a:r>
              <a:rPr lang="zh-CN" altLang="en-US" sz="2400" b="1" dirty="0">
                <a:sym typeface="Symbol" panose="05050102010706020507" pitchFamily="18" charset="2"/>
              </a:rPr>
              <a:t>形式出现</a:t>
            </a:r>
            <a:endParaRPr lang="zh-CN" altLang="en-US" sz="2400" b="1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sym typeface="Symbol" panose="05050102010706020507" pitchFamily="18" charset="2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sym typeface="Symbol" panose="05050102010706020507" pitchFamily="18" charset="2"/>
              </a:rPr>
              <a:t>确保该大项为</a:t>
            </a:r>
            <a:r>
              <a:rPr lang="en-US" altLang="zh-CN" sz="2400" b="1" dirty="0">
                <a:solidFill>
                  <a:srgbClr val="FF0000"/>
                </a:solidFill>
                <a:sym typeface="Symbol" panose="05050102010706020507" pitchFamily="18" charset="2"/>
              </a:rPr>
              <a:t>F</a:t>
            </a:r>
            <a:r>
              <a:rPr lang="en-US" altLang="zh-CN" sz="2400" b="1" dirty="0">
                <a:sym typeface="Symbol" panose="05050102010706020507" pitchFamily="18" charset="2"/>
              </a:rPr>
              <a:t>)</a:t>
            </a:r>
            <a:r>
              <a:rPr lang="zh-CN" altLang="en-US" sz="2400" b="1" dirty="0">
                <a:sym typeface="Symbol" panose="05050102010706020507" pitchFamily="18" charset="2"/>
              </a:rPr>
              <a:t>。</a:t>
            </a:r>
            <a:endParaRPr lang="zh-CN" altLang="en-US" sz="2400" b="1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400" b="1" dirty="0">
                <a:sym typeface="Symbol" panose="05050102010706020507" pitchFamily="18" charset="2"/>
              </a:rPr>
              <a:t>   </a:t>
            </a:r>
            <a:r>
              <a:rPr lang="zh-CN" altLang="en-US" sz="2400" b="1" dirty="0">
                <a:solidFill>
                  <a:srgbClr val="FF0000"/>
                </a:solidFill>
                <a:sym typeface="Symbol" panose="05050102010706020507" pitchFamily="18" charset="2"/>
              </a:rPr>
              <a:t>⑶</a:t>
            </a:r>
            <a:r>
              <a:rPr lang="zh-CN" altLang="en-US" sz="2400" b="1" dirty="0">
                <a:sym typeface="Symbol" panose="05050102010706020507" pitchFamily="18" charset="2"/>
              </a:rPr>
              <a:t>用“</a:t>
            </a:r>
            <a:r>
              <a:rPr lang="zh-CN" altLang="en-US" sz="24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zh-CN" altLang="en-US" sz="2400" b="1" dirty="0">
                <a:sym typeface="Symbol" panose="05050102010706020507" pitchFamily="18" charset="2"/>
              </a:rPr>
              <a:t>”联结上述大项，即可。</a:t>
            </a:r>
            <a:endParaRPr lang="zh-CN" altLang="en-US" sz="2400" b="1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47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5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5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5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54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54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54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54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5" grpId="0" autoUpdateAnimBg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649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1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>
                <a:sym typeface="Symbol" panose="05050102010706020507" pitchFamily="18" charset="2"/>
              </a:rPr>
              <a:t>例如求 </a:t>
            </a:r>
            <a:r>
              <a:rPr lang="en-US" altLang="zh-CN">
                <a:sym typeface="Symbol" panose="05050102010706020507" pitchFamily="18" charset="2"/>
              </a:rPr>
              <a:t>PQ</a:t>
            </a:r>
            <a:r>
              <a:rPr lang="zh-CN" altLang="en-US">
                <a:sym typeface="Symbol" panose="05050102010706020507" pitchFamily="18" charset="2"/>
              </a:rPr>
              <a:t>和</a:t>
            </a:r>
            <a:r>
              <a:rPr lang="en-US" altLang="zh-CN">
                <a:sym typeface="Symbol" panose="05050102010706020507" pitchFamily="18" charset="2"/>
              </a:rPr>
              <a:t>P</a:t>
            </a:r>
            <a:r>
              <a:rPr lang="en-US" altLang="zh-CN"/>
              <a:t>Q</a:t>
            </a:r>
            <a:r>
              <a:rPr lang="zh-CN" altLang="en-US"/>
              <a:t>的</a:t>
            </a:r>
            <a:r>
              <a:rPr lang="zh-CN" altLang="en-US">
                <a:sym typeface="Symbol" panose="05050102010706020507" pitchFamily="18" charset="2"/>
              </a:rPr>
              <a:t>主合取范式</a:t>
            </a: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sym typeface="Symbol" panose="05050102010706020507" pitchFamily="18" charset="2"/>
              </a:rPr>
              <a:t>        </a:t>
            </a: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sym typeface="Symbol" panose="05050102010706020507" pitchFamily="18" charset="2"/>
              </a:rPr>
              <a:t>   </a:t>
            </a: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sym typeface="Symbol" panose="05050102010706020507" pitchFamily="18" charset="2"/>
              </a:rPr>
              <a:t>    </a:t>
            </a:r>
            <a:r>
              <a:rPr lang="en-US" altLang="zh-CN">
                <a:sym typeface="Symbol" panose="05050102010706020507" pitchFamily="18" charset="2"/>
              </a:rPr>
              <a:t>PQ  </a:t>
            </a:r>
            <a:r>
              <a:rPr lang="en-US" altLang="zh-CN"/>
              <a:t>M</a:t>
            </a:r>
            <a:r>
              <a:rPr lang="en-US" altLang="zh-CN" baseline="-25000"/>
              <a:t>2</a:t>
            </a:r>
            <a:r>
              <a:rPr lang="en-US" altLang="zh-CN">
                <a:sym typeface="Symbol" panose="05050102010706020507" pitchFamily="18" charset="2"/>
              </a:rPr>
              <a:t>  P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Q </a:t>
            </a:r>
            <a:endParaRPr lang="en-US" altLang="zh-CN">
              <a:latin typeface="宋体" panose="02010600030101010101" pitchFamily="2" charset="-122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>
                <a:latin typeface="宋体" panose="02010600030101010101" pitchFamily="2" charset="-122"/>
                <a:sym typeface="Kingsoft Phonetic Plain" pitchFamily="2" charset="2"/>
              </a:rPr>
              <a:t>  </a:t>
            </a:r>
            <a:r>
              <a:rPr lang="en-US" altLang="zh-CN">
                <a:sym typeface="Symbol" panose="05050102010706020507" pitchFamily="18" charset="2"/>
              </a:rPr>
              <a:t>P</a:t>
            </a:r>
            <a:r>
              <a:rPr lang="en-US" altLang="zh-CN"/>
              <a:t>Q </a:t>
            </a:r>
            <a:r>
              <a:rPr lang="en-US" altLang="zh-CN">
                <a:sym typeface="Symbol" panose="05050102010706020507" pitchFamily="18" charset="2"/>
              </a:rPr>
              <a:t> </a:t>
            </a:r>
            <a:r>
              <a:rPr lang="en-US" altLang="zh-CN"/>
              <a:t>M</a:t>
            </a:r>
            <a:r>
              <a:rPr lang="en-US" altLang="zh-CN" baseline="-25000"/>
              <a:t>1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>
                <a:sym typeface="Symbol" panose="05050102010706020507" pitchFamily="18" charset="2"/>
              </a:rPr>
              <a:t>M</a:t>
            </a:r>
            <a:r>
              <a:rPr lang="en-US" altLang="zh-CN" baseline="-25000"/>
              <a:t>2 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>
                <a:sym typeface="Symbol" panose="05050102010706020507" pitchFamily="18" charset="2"/>
              </a:rPr>
              <a:t>              (P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Q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 </a:t>
            </a:r>
            <a:r>
              <a:rPr lang="en-US" altLang="zh-CN">
                <a:sym typeface="Symbol" panose="05050102010706020507" pitchFamily="18" charset="2"/>
              </a:rPr>
              <a:t>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>
                <a:sym typeface="Symbol" panose="05050102010706020507" pitchFamily="18" charset="2"/>
              </a:rPr>
              <a:t>(P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Q)</a:t>
            </a:r>
            <a:endParaRPr lang="en-US" altLang="zh-CN">
              <a:sym typeface="Symbol" panose="05050102010706020507" pitchFamily="18" charset="2"/>
            </a:endParaRPr>
          </a:p>
        </p:txBody>
      </p:sp>
      <p:graphicFrame>
        <p:nvGraphicFramePr>
          <p:cNvPr id="106509" name="Group 13"/>
          <p:cNvGraphicFramePr>
            <a:graphicFrameLocks noGrp="1"/>
          </p:cNvGraphicFramePr>
          <p:nvPr/>
        </p:nvGraphicFramePr>
        <p:xfrm>
          <a:off x="1259632" y="1556792"/>
          <a:ext cx="6172200" cy="2590800"/>
        </p:xfrm>
        <a:graphic>
          <a:graphicData uri="http://schemas.openxmlformats.org/drawingml/2006/table">
            <a:tbl>
              <a:tblPr/>
              <a:tblGrid>
                <a:gridCol w="1543050"/>
                <a:gridCol w="1543050"/>
                <a:gridCol w="1543050"/>
                <a:gridCol w="1543050"/>
              </a:tblGrid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PQ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Kingsoft Phonetic Plain" pitchFamily="2" charset="2"/>
                        </a:rPr>
                        <a:t>P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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49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49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6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6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6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6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6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6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6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6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9" grpId="0" animBg="1" autoUpdateAnimBg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6498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</a:rPr>
              <a:t>课堂练习</a:t>
            </a:r>
            <a:r>
              <a:rPr lang="zh-CN" altLang="en-US" sz="2400" b="1"/>
              <a:t>：</a:t>
            </a:r>
            <a:endParaRPr lang="zh-CN" altLang="en-US" sz="2400" b="1"/>
          </a:p>
          <a:p>
            <a:pPr eaLnBrk="1" hangingPunct="1">
              <a:buFontTx/>
              <a:buNone/>
            </a:pPr>
            <a:r>
              <a:rPr lang="en-US" altLang="zh-CN" sz="2400" b="1"/>
              <a:t>1.</a:t>
            </a:r>
            <a:r>
              <a:rPr lang="zh-CN" altLang="en-US" sz="2400" b="1"/>
              <a:t>已知</a:t>
            </a:r>
            <a:r>
              <a:rPr lang="en-US" altLang="zh-CN" sz="2400" b="1"/>
              <a:t>A(P,Q,R)</a:t>
            </a:r>
            <a:r>
              <a:rPr lang="zh-CN" altLang="en-US" sz="2400" b="1"/>
              <a:t>的真值表如图：</a:t>
            </a:r>
            <a:endParaRPr lang="zh-CN" altLang="en-US" sz="2400" b="1"/>
          </a:p>
          <a:p>
            <a:pPr eaLnBrk="1" hangingPunct="1">
              <a:buFontTx/>
              <a:buNone/>
            </a:pPr>
            <a:r>
              <a:rPr lang="zh-CN" altLang="en-US" sz="2400" b="1"/>
              <a:t>求它的主析取和主合取范式。</a:t>
            </a:r>
            <a:endParaRPr lang="zh-CN" altLang="en-US" sz="2400" b="1"/>
          </a:p>
          <a:p>
            <a:pPr eaLnBrk="1" hangingPunct="1">
              <a:buFontTx/>
              <a:buNone/>
            </a:pPr>
            <a:endParaRPr lang="zh-CN" altLang="en-US" sz="2400" b="1"/>
          </a:p>
          <a:p>
            <a:pPr eaLnBrk="1" hangingPunct="1">
              <a:buFontTx/>
              <a:buNone/>
            </a:pPr>
            <a:endParaRPr lang="zh-CN" altLang="en-US" sz="2400" b="1"/>
          </a:p>
          <a:p>
            <a:pPr eaLnBrk="1" hangingPunct="1">
              <a:buFontTx/>
              <a:buNone/>
            </a:pPr>
            <a:endParaRPr lang="zh-CN" altLang="en-US" sz="2400" b="1"/>
          </a:p>
          <a:p>
            <a:pPr eaLnBrk="1" hangingPunct="1">
              <a:buFontTx/>
              <a:buNone/>
            </a:pPr>
            <a:endParaRPr lang="zh-CN" altLang="en-US" sz="2400" b="1"/>
          </a:p>
          <a:p>
            <a:pPr eaLnBrk="1" hangingPunct="1">
              <a:buFontTx/>
              <a:buNone/>
            </a:pPr>
            <a:endParaRPr lang="zh-CN" altLang="en-US" sz="2400" b="1"/>
          </a:p>
          <a:p>
            <a:pPr eaLnBrk="1" hangingPunct="1">
              <a:buFontTx/>
              <a:buNone/>
            </a:pPr>
            <a:endParaRPr lang="zh-CN" altLang="en-US" sz="2400" b="1"/>
          </a:p>
          <a:p>
            <a:pPr eaLnBrk="1" hangingPunct="1">
              <a:buFontTx/>
              <a:buNone/>
            </a:pPr>
            <a:r>
              <a:rPr lang="en-US" altLang="zh-CN" sz="2400" b="1"/>
              <a:t>2.</a:t>
            </a:r>
            <a:r>
              <a:rPr lang="zh-CN" altLang="en-US" sz="2400" b="1"/>
              <a:t>已知</a:t>
            </a:r>
            <a:r>
              <a:rPr lang="en-US" altLang="zh-CN" sz="2400" b="1"/>
              <a:t>A(P,Q,R)</a:t>
            </a:r>
            <a:r>
              <a:rPr lang="zh-CN" altLang="en-US" sz="2400" b="1"/>
              <a:t>的主析取范式中含有下面小项</a:t>
            </a:r>
            <a:r>
              <a:rPr lang="en-US" altLang="zh-CN" sz="2400" b="1"/>
              <a:t>m</a:t>
            </a:r>
            <a:r>
              <a:rPr lang="en-US" altLang="zh-CN" sz="2400" b="1" baseline="-25000"/>
              <a:t>1</a:t>
            </a:r>
            <a:r>
              <a:rPr lang="en-US" altLang="zh-CN" sz="2400" b="1"/>
              <a:t>, m</a:t>
            </a:r>
            <a:r>
              <a:rPr lang="en-US" altLang="zh-CN" sz="2400" b="1" baseline="-25000"/>
              <a:t>3</a:t>
            </a:r>
            <a:r>
              <a:rPr lang="en-US" altLang="zh-CN" sz="2400" b="1"/>
              <a:t>, m</a:t>
            </a:r>
            <a:r>
              <a:rPr lang="en-US" altLang="zh-CN" sz="2400" b="1" baseline="-25000"/>
              <a:t>5</a:t>
            </a:r>
            <a:r>
              <a:rPr lang="en-US" altLang="zh-CN" sz="2400" b="1"/>
              <a:t>, m</a:t>
            </a:r>
            <a:r>
              <a:rPr lang="en-US" altLang="zh-CN" sz="2400" b="1" baseline="-25000"/>
              <a:t>7</a:t>
            </a:r>
            <a:r>
              <a:rPr lang="zh-CN" altLang="en-US" sz="2400" b="1"/>
              <a:t>求它的主合取范式</a:t>
            </a:r>
            <a:r>
              <a:rPr lang="en-US" altLang="zh-CN" sz="2400" b="1"/>
              <a:t>.</a:t>
            </a:r>
            <a:endParaRPr lang="en-US" altLang="zh-CN" sz="2400" b="1"/>
          </a:p>
          <a:p>
            <a:pPr eaLnBrk="1" hangingPunct="1">
              <a:buFontTx/>
              <a:buNone/>
            </a:pPr>
            <a:r>
              <a:rPr lang="en-US" altLang="zh-CN" sz="2400" b="1"/>
              <a:t>3.</a:t>
            </a:r>
            <a:r>
              <a:rPr lang="zh-CN" altLang="en-US" sz="2400" b="1"/>
              <a:t>已知</a:t>
            </a:r>
            <a:r>
              <a:rPr lang="en-US" altLang="zh-CN" sz="2400" b="1"/>
              <a:t>A(P</a:t>
            </a:r>
            <a:r>
              <a:rPr lang="en-US" altLang="zh-CN" sz="2400" b="1" baseline="-25000"/>
              <a:t>1</a:t>
            </a:r>
            <a:r>
              <a:rPr lang="en-US" altLang="zh-CN" sz="2400" b="1"/>
              <a:t>,P</a:t>
            </a:r>
            <a:r>
              <a:rPr lang="en-US" altLang="zh-CN" sz="2400" b="1" baseline="-25000"/>
              <a:t>2</a:t>
            </a:r>
            <a:r>
              <a:rPr lang="en-US" altLang="zh-CN" sz="2400" b="1"/>
              <a:t>,…,P</a:t>
            </a:r>
            <a:r>
              <a:rPr lang="en-US" altLang="zh-CN" sz="2400" b="1" baseline="-25000"/>
              <a:t>n</a:t>
            </a:r>
            <a:r>
              <a:rPr lang="en-US" altLang="zh-CN" sz="2400" b="1"/>
              <a:t>)</a:t>
            </a:r>
            <a:r>
              <a:rPr lang="zh-CN" altLang="en-US" sz="2400" b="1"/>
              <a:t>的主合取范式中含有</a:t>
            </a:r>
            <a:r>
              <a:rPr lang="en-US" altLang="zh-CN" sz="2400" b="1"/>
              <a:t>k</a:t>
            </a:r>
            <a:r>
              <a:rPr lang="zh-CN" altLang="en-US" sz="2400" b="1"/>
              <a:t>个大项，问它的主析取范式中有多少个小项？</a:t>
            </a:r>
            <a:endParaRPr lang="zh-CN" altLang="en-US" sz="2400" b="1"/>
          </a:p>
        </p:txBody>
      </p:sp>
      <p:graphicFrame>
        <p:nvGraphicFramePr>
          <p:cNvPr id="197722" name="Group 90"/>
          <p:cNvGraphicFramePr>
            <a:graphicFrameLocks noGrp="1"/>
          </p:cNvGraphicFramePr>
          <p:nvPr/>
        </p:nvGraphicFramePr>
        <p:xfrm>
          <a:off x="4932040" y="908720"/>
          <a:ext cx="3352800" cy="3565746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  <a:gridCol w="1295400"/>
              </a:tblGrid>
              <a:tr h="3961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A(P,Q,R)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865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/>
              <a:t>练习答案：</a:t>
            </a:r>
            <a:endParaRPr lang="zh-CN" altLang="en-US" sz="2800" b="1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/>
              <a:t>1.</a:t>
            </a:r>
            <a:r>
              <a:rPr lang="en-US" altLang="zh-CN" sz="2800" b="1">
                <a:solidFill>
                  <a:srgbClr val="FF0000"/>
                </a:solidFill>
              </a:rPr>
              <a:t>A(P,Q,R)</a:t>
            </a:r>
            <a:r>
              <a:rPr lang="zh-CN" altLang="en-US" sz="2800" b="1">
                <a:solidFill>
                  <a:srgbClr val="FF0000"/>
                </a:solidFill>
              </a:rPr>
              <a:t>的主析取范式</a:t>
            </a:r>
            <a:r>
              <a:rPr lang="en-US" altLang="zh-CN" sz="2800" b="1"/>
              <a:t>:</a:t>
            </a:r>
            <a:endParaRPr lang="en-US" altLang="zh-CN" sz="2800" b="1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/>
              <a:t>   A(P,Q,R)</a:t>
            </a:r>
            <a:r>
              <a:rPr lang="en-US" altLang="zh-CN" sz="2800" b="1">
                <a:sym typeface="Symbol" panose="05050102010706020507" pitchFamily="18" charset="2"/>
              </a:rPr>
              <a:t> </a:t>
            </a:r>
            <a:r>
              <a:rPr lang="en-US" altLang="zh-CN" sz="2800" b="1"/>
              <a:t>m</a:t>
            </a:r>
            <a:r>
              <a:rPr lang="en-US" altLang="zh-CN" sz="2800" b="1" baseline="-25000"/>
              <a:t>0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/>
              <a:t>m</a:t>
            </a:r>
            <a:r>
              <a:rPr lang="en-US" altLang="zh-CN" sz="2800" b="1" baseline="-25000"/>
              <a:t>3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/>
              <a:t>m</a:t>
            </a:r>
            <a:r>
              <a:rPr lang="en-US" altLang="zh-CN" sz="2800" b="1" baseline="-25000"/>
              <a:t>4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/>
              <a:t>m</a:t>
            </a:r>
            <a:r>
              <a:rPr lang="en-US" altLang="zh-CN" sz="2800" b="1" baseline="-25000"/>
              <a:t>6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/>
              <a:t>m</a:t>
            </a:r>
            <a:r>
              <a:rPr lang="en-US" altLang="zh-CN" sz="2800" b="1" baseline="-25000"/>
              <a:t>7</a:t>
            </a:r>
            <a:r>
              <a:rPr lang="en-US" altLang="zh-CN" sz="2800" b="1">
                <a:latin typeface="宋体" panose="02010600030101010101" pitchFamily="2" charset="-122"/>
                <a:sym typeface="Kingsoft Phonetic Plain" pitchFamily="2" charset="2"/>
              </a:rPr>
              <a:t> </a:t>
            </a:r>
            <a:endParaRPr lang="en-US" altLang="zh-CN" sz="2800" b="1">
              <a:latin typeface="宋体" panose="02010600030101010101" pitchFamily="2" charset="-122"/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sym typeface="Symbol" panose="05050102010706020507" pitchFamily="18" charset="2"/>
              </a:rPr>
              <a:t>(P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>
                <a:sym typeface="Symbol" panose="05050102010706020507" pitchFamily="18" charset="2"/>
              </a:rPr>
              <a:t>Q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>
                <a:sym typeface="Symbol" panose="05050102010706020507" pitchFamily="18" charset="2"/>
              </a:rPr>
              <a:t>R)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anose="05050102010706020507" pitchFamily="18" charset="2"/>
              </a:rPr>
              <a:t>(P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>
                <a:sym typeface="Symbol" panose="05050102010706020507" pitchFamily="18" charset="2"/>
              </a:rPr>
              <a:t>Q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>
                <a:sym typeface="Symbol" panose="05050102010706020507" pitchFamily="18" charset="2"/>
              </a:rPr>
              <a:t>R)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endParaRPr lang="en-US" altLang="zh-CN" sz="2800" b="1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sym typeface="Symbol" panose="05050102010706020507" pitchFamily="18" charset="2"/>
              </a:rPr>
              <a:t>(P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>
                <a:sym typeface="Symbol" panose="05050102010706020507" pitchFamily="18" charset="2"/>
              </a:rPr>
              <a:t>Q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>
                <a:sym typeface="Symbol" panose="05050102010706020507" pitchFamily="18" charset="2"/>
              </a:rPr>
              <a:t>R)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anose="05050102010706020507" pitchFamily="18" charset="2"/>
              </a:rPr>
              <a:t>(P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>
                <a:sym typeface="Symbol" panose="05050102010706020507" pitchFamily="18" charset="2"/>
              </a:rPr>
              <a:t>Q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>
                <a:sym typeface="Symbol" panose="05050102010706020507" pitchFamily="18" charset="2"/>
              </a:rPr>
              <a:t>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R</a:t>
            </a:r>
            <a:r>
              <a:rPr lang="en-US" altLang="zh-CN" sz="2800" b="1">
                <a:sym typeface="Symbol" panose="05050102010706020507" pitchFamily="18" charset="2"/>
              </a:rPr>
              <a:t>)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anose="05050102010706020507" pitchFamily="18" charset="2"/>
              </a:rPr>
              <a:t>(P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>
                <a:sym typeface="Symbol" panose="05050102010706020507" pitchFamily="18" charset="2"/>
              </a:rPr>
              <a:t>Q 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>
                <a:sym typeface="Symbol" panose="05050102010706020507" pitchFamily="18" charset="2"/>
              </a:rPr>
              <a:t>R)</a:t>
            </a:r>
            <a:endParaRPr lang="en-US" altLang="zh-CN" sz="2800" b="1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/>
              <a:t>   </a:t>
            </a:r>
            <a:r>
              <a:rPr lang="en-US" altLang="zh-CN" sz="2800" b="1">
                <a:solidFill>
                  <a:srgbClr val="FF0000"/>
                </a:solidFill>
              </a:rPr>
              <a:t>A(P,Q,R)</a:t>
            </a:r>
            <a:r>
              <a:rPr lang="zh-CN" altLang="zh-CN" sz="2800" b="1">
                <a:solidFill>
                  <a:srgbClr val="FF0000"/>
                </a:solidFill>
              </a:rPr>
              <a:t>的</a:t>
            </a:r>
            <a:r>
              <a:rPr lang="zh-CN" altLang="en-US" sz="2800" b="1">
                <a:solidFill>
                  <a:srgbClr val="FF0000"/>
                </a:solidFill>
              </a:rPr>
              <a:t>主合取范式</a:t>
            </a:r>
            <a:r>
              <a:rPr lang="zh-CN" altLang="en-US" sz="2800" b="1"/>
              <a:t>：</a:t>
            </a:r>
            <a:endParaRPr lang="zh-CN" altLang="en-US" sz="2800" b="1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/>
              <a:t>   </a:t>
            </a:r>
            <a:r>
              <a:rPr lang="en-US" altLang="zh-CN" sz="2800" b="1"/>
              <a:t>A(P,Q,R)</a:t>
            </a:r>
            <a:r>
              <a:rPr lang="en-US" altLang="zh-CN" sz="2800" b="1">
                <a:sym typeface="Symbol" panose="05050102010706020507" pitchFamily="18" charset="2"/>
              </a:rPr>
              <a:t> </a:t>
            </a:r>
            <a:r>
              <a:rPr lang="en-US" altLang="zh-CN" sz="2800" b="1"/>
              <a:t>M</a:t>
            </a:r>
            <a:r>
              <a:rPr lang="en-US" altLang="zh-CN" sz="2800" b="1" baseline="-25000"/>
              <a:t>1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>
                <a:sym typeface="Symbol" panose="05050102010706020507" pitchFamily="18" charset="2"/>
              </a:rPr>
              <a:t>M</a:t>
            </a:r>
            <a:r>
              <a:rPr lang="en-US" altLang="zh-CN" sz="2800" b="1" baseline="-25000"/>
              <a:t>2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/>
              <a:t>M</a:t>
            </a:r>
            <a:r>
              <a:rPr lang="en-US" altLang="zh-CN" sz="2800" b="1" baseline="-25000"/>
              <a:t>5 </a:t>
            </a:r>
            <a:endParaRPr lang="en-US" altLang="zh-CN" sz="2800" b="1" baseline="-250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sym typeface="Symbol" panose="05050102010706020507" pitchFamily="18" charset="2"/>
              </a:rPr>
              <a:t>(P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anose="05050102010706020507" pitchFamily="18" charset="2"/>
              </a:rPr>
              <a:t>Q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anose="05050102010706020507" pitchFamily="18" charset="2"/>
              </a:rPr>
              <a:t>R)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>
                <a:sym typeface="Symbol" panose="05050102010706020507" pitchFamily="18" charset="2"/>
              </a:rPr>
              <a:t>(P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anose="05050102010706020507" pitchFamily="18" charset="2"/>
              </a:rPr>
              <a:t>Q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anose="05050102010706020507" pitchFamily="18" charset="2"/>
              </a:rPr>
              <a:t>R)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>
                <a:sym typeface="Symbol" panose="05050102010706020507" pitchFamily="18" charset="2"/>
              </a:rPr>
              <a:t>(P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anose="05050102010706020507" pitchFamily="18" charset="2"/>
              </a:rPr>
              <a:t>Q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anose="05050102010706020507" pitchFamily="18" charset="2"/>
              </a:rPr>
              <a:t>R) </a:t>
            </a:r>
            <a:endParaRPr lang="en-US" altLang="zh-CN" sz="2800" b="1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sym typeface="Symbol" panose="05050102010706020507" pitchFamily="18" charset="2"/>
              </a:rPr>
              <a:t>2. </a:t>
            </a:r>
            <a:r>
              <a:rPr lang="en-US" altLang="zh-CN" sz="2800" b="1"/>
              <a:t>A(P,Q,R)</a:t>
            </a:r>
            <a:r>
              <a:rPr lang="en-US" altLang="zh-CN" sz="2800" b="1">
                <a:sym typeface="Symbol" panose="05050102010706020507" pitchFamily="18" charset="2"/>
              </a:rPr>
              <a:t> </a:t>
            </a:r>
            <a:r>
              <a:rPr lang="en-US" altLang="zh-CN" sz="2800" b="1"/>
              <a:t>M</a:t>
            </a:r>
            <a:r>
              <a:rPr lang="en-US" altLang="zh-CN" sz="2800" b="1" baseline="-25000"/>
              <a:t>0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>
                <a:sym typeface="Symbol" panose="05050102010706020507" pitchFamily="18" charset="2"/>
              </a:rPr>
              <a:t>M</a:t>
            </a:r>
            <a:r>
              <a:rPr lang="en-US" altLang="zh-CN" sz="2800" b="1" baseline="-25000"/>
              <a:t>2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/>
              <a:t>M</a:t>
            </a:r>
            <a:r>
              <a:rPr lang="en-US" altLang="zh-CN" sz="2800" b="1" baseline="-25000"/>
              <a:t>4 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/>
              <a:t>M</a:t>
            </a:r>
            <a:r>
              <a:rPr lang="en-US" altLang="zh-CN" sz="2800" b="1" baseline="-25000"/>
              <a:t>6 </a:t>
            </a:r>
            <a:endParaRPr lang="en-US" altLang="zh-CN" sz="2800" b="1" baseline="-250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sym typeface="Symbol" panose="05050102010706020507" pitchFamily="18" charset="2"/>
              </a:rPr>
              <a:t>(P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anose="05050102010706020507" pitchFamily="18" charset="2"/>
              </a:rPr>
              <a:t>Q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anose="05050102010706020507" pitchFamily="18" charset="2"/>
              </a:rPr>
              <a:t>R)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>
                <a:sym typeface="Symbol" panose="05050102010706020507" pitchFamily="18" charset="2"/>
              </a:rPr>
              <a:t>(P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anose="05050102010706020507" pitchFamily="18" charset="2"/>
              </a:rPr>
              <a:t>Q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anose="05050102010706020507" pitchFamily="18" charset="2"/>
              </a:rPr>
              <a:t>R)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>
                <a:sym typeface="Symbol" panose="05050102010706020507" pitchFamily="18" charset="2"/>
              </a:rPr>
              <a:t>(P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anose="05050102010706020507" pitchFamily="18" charset="2"/>
              </a:rPr>
              <a:t>Q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anose="05050102010706020507" pitchFamily="18" charset="2"/>
              </a:rPr>
              <a:t>R) </a:t>
            </a:r>
            <a:endParaRPr lang="en-US" altLang="zh-CN" sz="2800" b="1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sym typeface="Symbol" panose="05050102010706020507" pitchFamily="18" charset="2"/>
              </a:rPr>
              <a:t>   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b="1">
                <a:sym typeface="Symbol" panose="05050102010706020507" pitchFamily="18" charset="2"/>
              </a:rPr>
              <a:t>(P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anose="05050102010706020507" pitchFamily="18" charset="2"/>
              </a:rPr>
              <a:t>Q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b="1">
                <a:sym typeface="Symbol" panose="05050102010706020507" pitchFamily="18" charset="2"/>
              </a:rPr>
              <a:t>R)</a:t>
            </a:r>
            <a:endParaRPr lang="en-US" altLang="zh-CN" sz="2800" b="1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sym typeface="Symbol" panose="05050102010706020507" pitchFamily="18" charset="2"/>
              </a:rPr>
              <a:t>3. </a:t>
            </a:r>
            <a:r>
              <a:rPr lang="en-US" altLang="zh-CN" sz="2800" b="1"/>
              <a:t>A(P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,P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,…,P</a:t>
            </a:r>
            <a:r>
              <a:rPr lang="en-US" altLang="zh-CN" sz="2800" b="1" baseline="-25000"/>
              <a:t>n</a:t>
            </a:r>
            <a:r>
              <a:rPr lang="en-US" altLang="zh-CN" sz="2800" b="1"/>
              <a:t>)</a:t>
            </a:r>
            <a:r>
              <a:rPr lang="zh-CN" altLang="en-US" sz="2800" b="1"/>
              <a:t>的主析取范式中含有</a:t>
            </a:r>
            <a:r>
              <a:rPr lang="en-US" altLang="zh-CN" sz="2800" b="1"/>
              <a:t>2</a:t>
            </a:r>
            <a:r>
              <a:rPr lang="en-US" altLang="zh-CN" sz="2800" b="1" baseline="30000"/>
              <a:t>n</a:t>
            </a:r>
            <a:r>
              <a:rPr lang="en-US" altLang="zh-CN" sz="2800" b="1"/>
              <a:t>-k</a:t>
            </a:r>
            <a:r>
              <a:rPr lang="zh-CN" altLang="en-US" sz="2800" b="1"/>
              <a:t>个小项</a:t>
            </a:r>
            <a:r>
              <a:rPr lang="en-US" altLang="zh-CN" sz="2800" b="1"/>
              <a:t>.</a:t>
            </a:r>
            <a:endParaRPr lang="en-US" altLang="zh-CN" sz="2800" b="1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865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8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8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8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8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8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8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8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8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8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86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86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86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59" grpId="0" autoUpdateAnimBg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7523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方法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Ⅱ</a:t>
            </a: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：用公式的等价变换</a:t>
            </a:r>
            <a:endParaRPr lang="zh-CN" altLang="en-US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⑴</a:t>
            </a:r>
            <a:r>
              <a:rPr lang="zh-CN" altLang="en-US">
                <a:sym typeface="Symbol" panose="05050102010706020507" pitchFamily="18" charset="2"/>
              </a:rPr>
              <a:t>先写出给定公式的合取范式</a:t>
            </a: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sym typeface="Symbol" panose="05050102010706020507" pitchFamily="18" charset="2"/>
              </a:rPr>
              <a:t>      </a:t>
            </a:r>
            <a:r>
              <a:rPr lang="en-US" altLang="zh-CN">
                <a:sym typeface="Kingsoft Phonetic Plain" pitchFamily="2" charset="2"/>
              </a:rPr>
              <a:t>A</a:t>
            </a:r>
            <a:r>
              <a:rPr lang="en-US" altLang="zh-CN" baseline="-25000">
                <a:sym typeface="Kingsoft Phonetic Plain" pitchFamily="2" charset="2"/>
              </a:rPr>
              <a:t>1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>
                <a:sym typeface="Kingsoft Phonetic Plain" pitchFamily="2" charset="2"/>
              </a:rPr>
              <a:t>A</a:t>
            </a:r>
            <a:r>
              <a:rPr lang="en-US" altLang="zh-CN" baseline="-25000">
                <a:sym typeface="Kingsoft Phonetic Plain" pitchFamily="2" charset="2"/>
              </a:rPr>
              <a:t>2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∧...∧</a:t>
            </a:r>
            <a:r>
              <a:rPr lang="en-US" altLang="zh-CN">
                <a:sym typeface="Kingsoft Phonetic Plain" pitchFamily="2" charset="2"/>
              </a:rPr>
              <a:t>A</a:t>
            </a:r>
            <a:r>
              <a:rPr lang="en-US" altLang="zh-CN" baseline="-25000">
                <a:sym typeface="Kingsoft Phonetic Plain" pitchFamily="2" charset="2"/>
              </a:rPr>
              <a:t>n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zh-CN" altLang="en-US">
                <a:sym typeface="Symbol" panose="05050102010706020507" pitchFamily="18" charset="2"/>
              </a:rPr>
              <a:t>。</a:t>
            </a: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⑵</a:t>
            </a:r>
            <a:r>
              <a:rPr lang="zh-CN" altLang="en-US">
                <a:sym typeface="Symbol" panose="05050102010706020507" pitchFamily="18" charset="2"/>
              </a:rPr>
              <a:t>为使每个</a:t>
            </a:r>
            <a:r>
              <a:rPr lang="en-US" altLang="zh-CN">
                <a:sym typeface="Kingsoft Phonetic Plain" pitchFamily="2" charset="2"/>
              </a:rPr>
              <a:t>A</a:t>
            </a:r>
            <a:r>
              <a:rPr lang="en-US" altLang="zh-CN" baseline="-25000">
                <a:sym typeface="Kingsoft Phonetic Plain" pitchFamily="2" charset="2"/>
              </a:rPr>
              <a:t>i</a:t>
            </a:r>
            <a:r>
              <a:rPr lang="zh-CN" altLang="en-US">
                <a:sym typeface="Symbol" panose="05050102010706020507" pitchFamily="18" charset="2"/>
              </a:rPr>
              <a:t>变成大项，对缺少变元的析</a:t>
            </a: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sym typeface="Symbol" panose="05050102010706020507" pitchFamily="18" charset="2"/>
              </a:rPr>
              <a:t>取式</a:t>
            </a:r>
            <a:r>
              <a:rPr lang="en-US" altLang="zh-CN">
                <a:sym typeface="Kingsoft Phonetic Plain" pitchFamily="2" charset="2"/>
              </a:rPr>
              <a:t>A</a:t>
            </a:r>
            <a:r>
              <a:rPr lang="en-US" altLang="zh-CN" baseline="-25000">
                <a:sym typeface="Kingsoft Phonetic Plain" pitchFamily="2" charset="2"/>
              </a:rPr>
              <a:t>i</a:t>
            </a:r>
            <a:r>
              <a:rPr lang="zh-CN" altLang="en-US">
                <a:sym typeface="Symbol" panose="05050102010706020507" pitchFamily="18" charset="2"/>
              </a:rPr>
              <a:t>补全变元，比如缺变元</a:t>
            </a:r>
            <a:r>
              <a:rPr lang="en-US" altLang="zh-CN">
                <a:sym typeface="Symbol" panose="05050102010706020507" pitchFamily="18" charset="2"/>
              </a:rPr>
              <a:t>R</a:t>
            </a:r>
            <a:r>
              <a:rPr lang="zh-CN" altLang="en-US">
                <a:sym typeface="Symbol" panose="05050102010706020507" pitchFamily="18" charset="2"/>
              </a:rPr>
              <a:t>，就用</a:t>
            </a:r>
            <a:r>
              <a:rPr lang="zh-CN" altLang="en-US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zh-CN" altLang="en-US">
                <a:sym typeface="Kingsoft Phonetic Plain" pitchFamily="2" charset="2"/>
              </a:rPr>
              <a:t>联</a:t>
            </a:r>
            <a:endParaRPr lang="zh-CN" altLang="en-US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sym typeface="Kingsoft Phonetic Plain" pitchFamily="2" charset="2"/>
              </a:rPr>
              <a:t>结永假式</a:t>
            </a:r>
            <a:r>
              <a:rPr lang="en-US" altLang="zh-CN">
                <a:sym typeface="Kingsoft Phonetic Plain" pitchFamily="2" charset="2"/>
              </a:rPr>
              <a:t>(R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>
                <a:sym typeface="Kingsoft Phonetic Plain" pitchFamily="2" charset="2"/>
              </a:rPr>
              <a:t>R)</a:t>
            </a:r>
            <a:r>
              <a:rPr lang="zh-CN" altLang="en-US">
                <a:sym typeface="Kingsoft Phonetic Plain" pitchFamily="2" charset="2"/>
              </a:rPr>
              <a:t>形式补</a:t>
            </a:r>
            <a:r>
              <a:rPr lang="en-US" altLang="zh-CN">
                <a:sym typeface="Kingsoft Phonetic Plain" pitchFamily="2" charset="2"/>
              </a:rPr>
              <a:t>R</a:t>
            </a:r>
            <a:r>
              <a:rPr lang="zh-CN" altLang="en-US">
                <a:sym typeface="Kingsoft Phonetic Plain" pitchFamily="2" charset="2"/>
              </a:rPr>
              <a:t>。</a:t>
            </a: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⑶</a:t>
            </a:r>
            <a:r>
              <a:rPr lang="zh-CN" altLang="en-US">
                <a:sym typeface="Symbol" panose="05050102010706020507" pitchFamily="18" charset="2"/>
              </a:rPr>
              <a:t>用分配律等公式加以整理。</a:t>
            </a:r>
            <a:endParaRPr lang="zh-CN" altLang="en-US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52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7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7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3" grpId="0" autoUpdateAnimBg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例如，求</a:t>
            </a:r>
            <a:r>
              <a:rPr lang="en-US" altLang="zh-CN" dirty="0">
                <a:sym typeface="Symbol" panose="05050102010706020507" pitchFamily="18" charset="2"/>
              </a:rPr>
              <a:t>(PQ)R</a:t>
            </a:r>
            <a:r>
              <a:rPr lang="zh-CN" altLang="en-US" dirty="0">
                <a:sym typeface="Symbol" panose="05050102010706020507" pitchFamily="18" charset="2"/>
              </a:rPr>
              <a:t>的主合取范式</a:t>
            </a: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    </a:t>
            </a:r>
            <a:r>
              <a:rPr lang="en-US" altLang="zh-CN" dirty="0">
                <a:sym typeface="Symbol" panose="05050102010706020507" pitchFamily="18" charset="2"/>
              </a:rPr>
              <a:t>(PQ)R 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 (P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∨Q)∨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 (P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Q)∨R</a:t>
            </a:r>
            <a:endParaRPr lang="en-US" altLang="zh-CN" dirty="0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 (P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>
                <a:sym typeface="Symbol" panose="05050102010706020507" pitchFamily="18" charset="2"/>
              </a:rPr>
              <a:t>R)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Q∨R)</a:t>
            </a:r>
            <a:endParaRPr lang="en-US" altLang="zh-CN" dirty="0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 (P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∨(Q∧</a:t>
            </a:r>
            <a:r>
              <a:rPr lang="en-US" altLang="zh-CN" dirty="0">
                <a:sym typeface="Symbol" panose="05050102010706020507" pitchFamily="18" charset="2"/>
              </a:rPr>
              <a:t>Q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)∨</a:t>
            </a:r>
            <a:r>
              <a:rPr lang="en-US" altLang="zh-CN" dirty="0">
                <a:sym typeface="Symbol" panose="05050102010706020507" pitchFamily="18" charset="2"/>
              </a:rPr>
              <a:t>R)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∧((</a:t>
            </a:r>
            <a:r>
              <a:rPr lang="en-US" altLang="zh-CN" dirty="0">
                <a:sym typeface="Symbol" panose="05050102010706020507" pitchFamily="18" charset="2"/>
              </a:rPr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>
                <a:sym typeface="Symbol" panose="05050102010706020507" pitchFamily="18" charset="2"/>
              </a:rPr>
              <a:t>P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)∨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Q∨R)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 (P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∨Q∨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)∧ (P∨</a:t>
            </a:r>
            <a:r>
              <a:rPr lang="en-US" altLang="zh-CN" dirty="0">
                <a:sym typeface="Symbol" panose="05050102010706020507" pitchFamily="18" charset="2"/>
              </a:rPr>
              <a:t>Q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>
                <a:sym typeface="Symbol" panose="05050102010706020507" pitchFamily="18" charset="2"/>
              </a:rPr>
              <a:t>R)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endParaRPr lang="en-US" altLang="zh-CN" dirty="0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     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(</a:t>
            </a:r>
            <a:r>
              <a:rPr lang="en-US" altLang="zh-CN" dirty="0">
                <a:sym typeface="Symbol" panose="05050102010706020507" pitchFamily="18" charset="2"/>
              </a:rPr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Q∨R)∧(</a:t>
            </a:r>
            <a:r>
              <a:rPr lang="en-US" altLang="zh-CN" dirty="0">
                <a:sym typeface="Symbol" panose="05050102010706020507" pitchFamily="18" charset="2"/>
              </a:rPr>
              <a:t>P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Q∨R)</a:t>
            </a:r>
            <a:endParaRPr lang="en-US" altLang="zh-CN" dirty="0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 (P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∨Q∨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)∧(P∨</a:t>
            </a:r>
            <a:r>
              <a:rPr lang="en-US" altLang="zh-CN" dirty="0">
                <a:sym typeface="Symbol" panose="05050102010706020507" pitchFamily="18" charset="2"/>
              </a:rPr>
              <a:t>Q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>
                <a:sym typeface="Symbol" panose="05050102010706020507" pitchFamily="18" charset="2"/>
              </a:rPr>
              <a:t>R)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 dirty="0">
                <a:sym typeface="Symbol" panose="05050102010706020507" pitchFamily="18" charset="2"/>
              </a:rPr>
              <a:t>P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Q∨R)</a:t>
            </a:r>
            <a:endParaRPr lang="en-US" altLang="zh-CN" dirty="0">
              <a:ea typeface="MS Gothic" panose="020B0609070205080204" pitchFamily="49" charset="-128"/>
              <a:sym typeface="Kingsoft Phonetic Plain" pitchFamily="2" charset="2"/>
            </a:endParaRPr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54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8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8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85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7" grpId="0" autoUpdateAnimBg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>
                <a:ea typeface="MS Gothic" panose="020B0609070205080204" pitchFamily="49" charset="-128"/>
                <a:sym typeface="Kingsoft Phonetic Plain" pitchFamily="2" charset="2"/>
              </a:rPr>
              <a:t>三</a:t>
            </a: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.</a:t>
            </a:r>
            <a:r>
              <a:rPr lang="zh-CN" altLang="en-US" sz="2800" b="1">
                <a:ea typeface="黑体" panose="02010609060101010101" pitchFamily="49" charset="-122"/>
                <a:sym typeface="Kingsoft Phonetic Plain" pitchFamily="2" charset="2"/>
              </a:rPr>
              <a:t>范式的应用</a:t>
            </a:r>
            <a:endParaRPr lang="zh-CN" altLang="en-US" sz="2800" b="1">
              <a:ea typeface="黑体" panose="02010609060101010101" pitchFamily="49" charset="-122"/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>
                <a:sym typeface="Kingsoft Phonetic Plain" pitchFamily="2" charset="2"/>
              </a:rPr>
              <a:t>     范式在逻辑设计方面有广泛的应用。</a:t>
            </a:r>
            <a:endParaRPr lang="zh-CN" altLang="en-US" sz="2800" b="1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>
                <a:sym typeface="Kingsoft Phonetic Plain" pitchFamily="2" charset="2"/>
              </a:rPr>
              <a:t>例</a:t>
            </a:r>
            <a:r>
              <a:rPr lang="en-US" altLang="zh-CN" sz="2800" b="1">
                <a:sym typeface="Kingsoft Phonetic Plain" pitchFamily="2" charset="2"/>
              </a:rPr>
              <a:t>1.</a:t>
            </a:r>
            <a:r>
              <a:rPr lang="zh-CN" altLang="en-US" sz="2800" b="1">
                <a:sym typeface="Kingsoft Phonetic Plain" pitchFamily="2" charset="2"/>
              </a:rPr>
              <a:t>加法器的设计，有两个</a:t>
            </a:r>
            <a:r>
              <a:rPr lang="en-US" altLang="zh-CN" sz="2800" b="1">
                <a:sym typeface="Kingsoft Phonetic Plain" pitchFamily="2" charset="2"/>
              </a:rPr>
              <a:t>n</a:t>
            </a:r>
            <a:r>
              <a:rPr lang="zh-CN" altLang="en-US" sz="2800" b="1">
                <a:sym typeface="Kingsoft Phonetic Plain" pitchFamily="2" charset="2"/>
              </a:rPr>
              <a:t>位二进制数</a:t>
            </a:r>
            <a:r>
              <a:rPr lang="en-US" altLang="zh-CN" sz="2800" b="1">
                <a:sym typeface="Kingsoft Phonetic Plain" pitchFamily="2" charset="2"/>
              </a:rPr>
              <a:t>a,b</a:t>
            </a:r>
            <a:r>
              <a:rPr lang="zh-CN" altLang="en-US" sz="2800" b="1">
                <a:sym typeface="Kingsoft Phonetic Plain" pitchFamily="2" charset="2"/>
              </a:rPr>
              <a:t>相加和为</a:t>
            </a:r>
            <a:r>
              <a:rPr lang="en-US" altLang="zh-CN" sz="2800" b="1">
                <a:sym typeface="Kingsoft Phonetic Plain" pitchFamily="2" charset="2"/>
              </a:rPr>
              <a:t>s(s=a+b)</a:t>
            </a:r>
            <a:r>
              <a:rPr lang="zh-CN" altLang="en-US" sz="2800" b="1">
                <a:sym typeface="Kingsoft Phonetic Plain" pitchFamily="2" charset="2"/>
              </a:rPr>
              <a:t>，</a:t>
            </a:r>
            <a:r>
              <a:rPr lang="en-US" altLang="zh-CN" sz="2800" b="1">
                <a:sym typeface="Kingsoft Phonetic Plain" pitchFamily="2" charset="2"/>
              </a:rPr>
              <a:t>a,b</a:t>
            </a:r>
            <a:r>
              <a:rPr lang="zh-CN" altLang="en-US" sz="2800" b="1">
                <a:sym typeface="Kingsoft Phonetic Plain" pitchFamily="2" charset="2"/>
              </a:rPr>
              <a:t>分别写成：</a:t>
            </a:r>
            <a:endParaRPr lang="zh-CN" altLang="en-US" sz="2800" b="1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>
                <a:sym typeface="Kingsoft Phonetic Plain" pitchFamily="2" charset="2"/>
              </a:rPr>
              <a:t>             </a:t>
            </a:r>
            <a:r>
              <a:rPr lang="en-US" altLang="zh-CN" sz="2800" b="1">
                <a:sym typeface="Kingsoft Phonetic Plain" pitchFamily="2" charset="2"/>
              </a:rPr>
              <a:t>a=a</a:t>
            </a:r>
            <a:r>
              <a:rPr lang="en-US" altLang="zh-CN" sz="2800" b="1" baseline="-25000">
                <a:sym typeface="Kingsoft Phonetic Plain" pitchFamily="2" charset="2"/>
              </a:rPr>
              <a:t>n  </a:t>
            </a:r>
            <a:r>
              <a:rPr lang="en-US" altLang="zh-CN" sz="2800" b="1">
                <a:sym typeface="Kingsoft Phonetic Plain" pitchFamily="2" charset="2"/>
              </a:rPr>
              <a:t>a</a:t>
            </a:r>
            <a:r>
              <a:rPr lang="en-US" altLang="zh-CN" sz="2800" b="1" baseline="-25000">
                <a:sym typeface="Kingsoft Phonetic Plain" pitchFamily="2" charset="2"/>
              </a:rPr>
              <a:t>n-1</a:t>
            </a:r>
            <a:r>
              <a:rPr lang="en-US" altLang="zh-CN" sz="2800" b="1">
                <a:sym typeface="Kingsoft Phonetic Plain" pitchFamily="2" charset="2"/>
              </a:rPr>
              <a:t>…</a:t>
            </a:r>
            <a:r>
              <a:rPr lang="en-US" altLang="zh-CN" sz="2800" b="1">
                <a:solidFill>
                  <a:srgbClr val="FF0000"/>
                </a:solidFill>
                <a:sym typeface="Kingsoft Phonetic Plain" pitchFamily="2" charset="2"/>
              </a:rPr>
              <a:t>a</a:t>
            </a:r>
            <a:r>
              <a:rPr lang="en-US" altLang="zh-CN" sz="2800" b="1" baseline="-25000">
                <a:solidFill>
                  <a:srgbClr val="FF0000"/>
                </a:solidFill>
                <a:sym typeface="Kingsoft Phonetic Plain" pitchFamily="2" charset="2"/>
              </a:rPr>
              <a:t>i  </a:t>
            </a:r>
            <a:r>
              <a:rPr lang="en-US" altLang="zh-CN" sz="2800" b="1">
                <a:sym typeface="Kingsoft Phonetic Plain" pitchFamily="2" charset="2"/>
              </a:rPr>
              <a:t>...  a</a:t>
            </a:r>
            <a:r>
              <a:rPr lang="en-US" altLang="zh-CN" sz="2800" b="1" baseline="-25000">
                <a:sym typeface="Kingsoft Phonetic Plain" pitchFamily="2" charset="2"/>
              </a:rPr>
              <a:t>2</a:t>
            </a:r>
            <a:r>
              <a:rPr lang="en-US" altLang="zh-CN" sz="2800" b="1">
                <a:sym typeface="Kingsoft Phonetic Plain" pitchFamily="2" charset="2"/>
              </a:rPr>
              <a:t>a</a:t>
            </a:r>
            <a:r>
              <a:rPr lang="en-US" altLang="zh-CN" sz="2800" b="1" baseline="-25000">
                <a:sym typeface="Kingsoft Phonetic Plain" pitchFamily="2" charset="2"/>
              </a:rPr>
              <a:t>1</a:t>
            </a:r>
            <a:r>
              <a:rPr lang="en-US" altLang="zh-CN" sz="2800" b="1">
                <a:sym typeface="Kingsoft Phonetic Plain" pitchFamily="2" charset="2"/>
              </a:rPr>
              <a:t>,</a:t>
            </a:r>
            <a:endParaRPr lang="en-US" altLang="zh-CN" sz="2800" b="1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      +     </a:t>
            </a:r>
            <a:r>
              <a:rPr lang="en-US" altLang="zh-CN" sz="2800" b="1">
                <a:sym typeface="Kingsoft Phonetic Plain" pitchFamily="2" charset="2"/>
              </a:rPr>
              <a:t>b=b</a:t>
            </a:r>
            <a:r>
              <a:rPr lang="en-US" altLang="zh-CN" sz="2800" b="1" baseline="-25000">
                <a:sym typeface="Kingsoft Phonetic Plain" pitchFamily="2" charset="2"/>
              </a:rPr>
              <a:t>n  </a:t>
            </a:r>
            <a:r>
              <a:rPr lang="en-US" altLang="zh-CN" sz="2800" b="1">
                <a:sym typeface="Kingsoft Phonetic Plain" pitchFamily="2" charset="2"/>
              </a:rPr>
              <a:t>b</a:t>
            </a:r>
            <a:r>
              <a:rPr lang="en-US" altLang="zh-CN" sz="2800" b="1" baseline="-25000">
                <a:sym typeface="Kingsoft Phonetic Plain" pitchFamily="2" charset="2"/>
              </a:rPr>
              <a:t>n-1</a:t>
            </a:r>
            <a:r>
              <a:rPr lang="en-US" altLang="zh-CN" sz="2800" b="1">
                <a:sym typeface="Kingsoft Phonetic Plain" pitchFamily="2" charset="2"/>
              </a:rPr>
              <a:t>…</a:t>
            </a:r>
            <a:r>
              <a:rPr lang="en-US" altLang="zh-CN" sz="2800" b="1">
                <a:solidFill>
                  <a:srgbClr val="FF0000"/>
                </a:solidFill>
                <a:sym typeface="Kingsoft Phonetic Plain" pitchFamily="2" charset="2"/>
              </a:rPr>
              <a:t>b</a:t>
            </a:r>
            <a:r>
              <a:rPr lang="en-US" altLang="zh-CN" sz="2800" b="1" baseline="-25000">
                <a:solidFill>
                  <a:srgbClr val="FF0000"/>
                </a:solidFill>
                <a:sym typeface="Kingsoft Phonetic Plain" pitchFamily="2" charset="2"/>
              </a:rPr>
              <a:t>i  </a:t>
            </a:r>
            <a:r>
              <a:rPr lang="en-US" altLang="zh-CN" sz="2800" b="1">
                <a:sym typeface="Kingsoft Phonetic Plain" pitchFamily="2" charset="2"/>
              </a:rPr>
              <a:t>...  b</a:t>
            </a:r>
            <a:r>
              <a:rPr lang="en-US" altLang="zh-CN" sz="2800" b="1" baseline="-25000">
                <a:sym typeface="Kingsoft Phonetic Plain" pitchFamily="2" charset="2"/>
              </a:rPr>
              <a:t>2</a:t>
            </a:r>
            <a:r>
              <a:rPr lang="en-US" altLang="zh-CN" sz="2800" b="1">
                <a:sym typeface="Kingsoft Phonetic Plain" pitchFamily="2" charset="2"/>
              </a:rPr>
              <a:t>b</a:t>
            </a:r>
            <a:r>
              <a:rPr lang="en-US" altLang="zh-CN" sz="2800" b="1" baseline="-25000">
                <a:sym typeface="Kingsoft Phonetic Plain" pitchFamily="2" charset="2"/>
              </a:rPr>
              <a:t>1  </a:t>
            </a:r>
            <a:endParaRPr lang="en-US" altLang="zh-CN" sz="2800" b="1" baseline="-25000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sym typeface="Kingsoft Phonetic Plain" pitchFamily="2" charset="2"/>
              </a:rPr>
              <a:t>              c</a:t>
            </a:r>
            <a:r>
              <a:rPr lang="en-US" altLang="zh-CN" sz="2800" b="1" baseline="-25000">
                <a:sym typeface="Kingsoft Phonetic Plain" pitchFamily="2" charset="2"/>
              </a:rPr>
              <a:t>n </a:t>
            </a:r>
            <a:r>
              <a:rPr lang="en-US" altLang="zh-CN" sz="2800" b="1">
                <a:sym typeface="Kingsoft Phonetic Plain" pitchFamily="2" charset="2"/>
              </a:rPr>
              <a:t>c</a:t>
            </a:r>
            <a:r>
              <a:rPr lang="en-US" altLang="zh-CN" sz="2800" b="1" baseline="-25000">
                <a:sym typeface="Kingsoft Phonetic Plain" pitchFamily="2" charset="2"/>
              </a:rPr>
              <a:t>n-1</a:t>
            </a:r>
            <a:r>
              <a:rPr lang="en-US" altLang="zh-CN" sz="2800" b="1">
                <a:sym typeface="Kingsoft Phonetic Plain" pitchFamily="2" charset="2"/>
              </a:rPr>
              <a:t>c</a:t>
            </a:r>
            <a:r>
              <a:rPr lang="en-US" altLang="zh-CN" sz="2800" b="1" baseline="-25000">
                <a:sym typeface="Kingsoft Phonetic Plain" pitchFamily="2" charset="2"/>
              </a:rPr>
              <a:t>n-2 </a:t>
            </a:r>
            <a:r>
              <a:rPr lang="en-US" altLang="zh-CN" sz="2800" b="1">
                <a:sym typeface="Kingsoft Phonetic Plain" pitchFamily="2" charset="2"/>
              </a:rPr>
              <a:t>…</a:t>
            </a:r>
            <a:r>
              <a:rPr lang="en-US" altLang="zh-CN" sz="2800" b="1">
                <a:solidFill>
                  <a:srgbClr val="FF0000"/>
                </a:solidFill>
                <a:sym typeface="Kingsoft Phonetic Plain" pitchFamily="2" charset="2"/>
              </a:rPr>
              <a:t>c</a:t>
            </a:r>
            <a:r>
              <a:rPr lang="en-US" altLang="zh-CN" sz="2800" b="1" baseline="-25000">
                <a:solidFill>
                  <a:srgbClr val="FF0000"/>
                </a:solidFill>
                <a:sym typeface="Kingsoft Phonetic Plain" pitchFamily="2" charset="2"/>
              </a:rPr>
              <a:t>i-1</a:t>
            </a:r>
            <a:r>
              <a:rPr lang="en-US" altLang="zh-CN" sz="2800" b="1">
                <a:sym typeface="Kingsoft Phonetic Plain" pitchFamily="2" charset="2"/>
              </a:rPr>
              <a:t>…c</a:t>
            </a:r>
            <a:r>
              <a:rPr lang="en-US" altLang="zh-CN" sz="2800" b="1" baseline="-25000">
                <a:sym typeface="Kingsoft Phonetic Plain" pitchFamily="2" charset="2"/>
              </a:rPr>
              <a:t>1</a:t>
            </a:r>
            <a:endParaRPr lang="en-US" altLang="zh-CN" sz="2800" b="1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ea typeface="MS Gothic" panose="020B0609070205080204" pitchFamily="49" charset="-128"/>
                <a:sym typeface="Kingsoft Phonetic Plain" pitchFamily="2" charset="2"/>
              </a:rPr>
              <a:t>          </a:t>
            </a:r>
            <a:r>
              <a:rPr lang="en-US" altLang="zh-CN" sz="2800" b="1">
                <a:sym typeface="Kingsoft Phonetic Plain" pitchFamily="2" charset="2"/>
              </a:rPr>
              <a:t>s= c</a:t>
            </a:r>
            <a:r>
              <a:rPr lang="en-US" altLang="zh-CN" sz="2800" b="1" baseline="-25000">
                <a:sym typeface="Kingsoft Phonetic Plain" pitchFamily="2" charset="2"/>
              </a:rPr>
              <a:t>n </a:t>
            </a:r>
            <a:r>
              <a:rPr lang="en-US" altLang="zh-CN" sz="2800" b="1">
                <a:sym typeface="Kingsoft Phonetic Plain" pitchFamily="2" charset="2"/>
              </a:rPr>
              <a:t>s</a:t>
            </a:r>
            <a:r>
              <a:rPr lang="en-US" altLang="zh-CN" sz="2800" b="1" baseline="-25000">
                <a:sym typeface="Kingsoft Phonetic Plain" pitchFamily="2" charset="2"/>
              </a:rPr>
              <a:t>n   </a:t>
            </a:r>
            <a:r>
              <a:rPr lang="en-US" altLang="zh-CN" sz="2800" b="1">
                <a:sym typeface="Kingsoft Phonetic Plain" pitchFamily="2" charset="2"/>
              </a:rPr>
              <a:t>s</a:t>
            </a:r>
            <a:r>
              <a:rPr lang="en-US" altLang="zh-CN" sz="2800" b="1" baseline="-25000">
                <a:sym typeface="Kingsoft Phonetic Plain" pitchFamily="2" charset="2"/>
              </a:rPr>
              <a:t>n-1</a:t>
            </a:r>
            <a:r>
              <a:rPr lang="en-US" altLang="zh-CN" sz="2800" b="1">
                <a:sym typeface="Kingsoft Phonetic Plain" pitchFamily="2" charset="2"/>
              </a:rPr>
              <a:t>…</a:t>
            </a:r>
            <a:r>
              <a:rPr lang="en-US" altLang="zh-CN" sz="2800" b="1">
                <a:solidFill>
                  <a:srgbClr val="FF0000"/>
                </a:solidFill>
                <a:sym typeface="Kingsoft Phonetic Plain" pitchFamily="2" charset="2"/>
              </a:rPr>
              <a:t>s</a:t>
            </a:r>
            <a:r>
              <a:rPr lang="en-US" altLang="zh-CN" sz="2800" b="1" baseline="-25000">
                <a:solidFill>
                  <a:srgbClr val="FF0000"/>
                </a:solidFill>
                <a:sym typeface="Kingsoft Phonetic Plain" pitchFamily="2" charset="2"/>
              </a:rPr>
              <a:t>i   </a:t>
            </a:r>
            <a:r>
              <a:rPr lang="en-US" altLang="zh-CN" sz="2800" b="1">
                <a:sym typeface="Kingsoft Phonetic Plain" pitchFamily="2" charset="2"/>
              </a:rPr>
              <a:t>… s</a:t>
            </a:r>
            <a:r>
              <a:rPr lang="en-US" altLang="zh-CN" sz="2800" b="1" baseline="-25000">
                <a:sym typeface="Kingsoft Phonetic Plain" pitchFamily="2" charset="2"/>
              </a:rPr>
              <a:t>2 </a:t>
            </a:r>
            <a:r>
              <a:rPr lang="en-US" altLang="zh-CN" sz="2800" b="1">
                <a:sym typeface="Kingsoft Phonetic Plain" pitchFamily="2" charset="2"/>
              </a:rPr>
              <a:t>s</a:t>
            </a:r>
            <a:r>
              <a:rPr lang="en-US" altLang="zh-CN" sz="2800" b="1" baseline="-25000">
                <a:sym typeface="Kingsoft Phonetic Plain" pitchFamily="2" charset="2"/>
              </a:rPr>
              <a:t>1        </a:t>
            </a:r>
            <a:endParaRPr lang="en-US" altLang="zh-CN" sz="2800" b="1" baseline="-25000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>
                <a:sym typeface="Kingsoft Phonetic Plain" pitchFamily="2" charset="2"/>
              </a:rPr>
              <a:t>其中</a:t>
            </a:r>
            <a:r>
              <a:rPr lang="en-US" altLang="zh-CN" sz="2800" b="1">
                <a:sym typeface="Kingsoft Phonetic Plain" pitchFamily="2" charset="2"/>
              </a:rPr>
              <a:t>s</a:t>
            </a:r>
            <a:r>
              <a:rPr lang="en-US" altLang="zh-CN" sz="2800" b="1" baseline="-25000">
                <a:sym typeface="Kingsoft Phonetic Plain" pitchFamily="2" charset="2"/>
              </a:rPr>
              <a:t>i</a:t>
            </a:r>
            <a:r>
              <a:rPr lang="zh-CN" altLang="en-US" sz="2800" b="1">
                <a:sym typeface="Kingsoft Phonetic Plain" pitchFamily="2" charset="2"/>
              </a:rPr>
              <a:t>是第</a:t>
            </a:r>
            <a:r>
              <a:rPr lang="en-US" altLang="zh-CN" sz="2800" b="1">
                <a:sym typeface="Kingsoft Phonetic Plain" pitchFamily="2" charset="2"/>
              </a:rPr>
              <a:t>i</a:t>
            </a:r>
            <a:r>
              <a:rPr lang="zh-CN" altLang="en-US" sz="2800" b="1">
                <a:sym typeface="Kingsoft Phonetic Plain" pitchFamily="2" charset="2"/>
              </a:rPr>
              <a:t>位</a:t>
            </a:r>
            <a:r>
              <a:rPr lang="en-US" altLang="zh-CN" sz="2800" b="1">
                <a:sym typeface="Kingsoft Phonetic Plain" pitchFamily="2" charset="2"/>
              </a:rPr>
              <a:t>a</a:t>
            </a:r>
            <a:r>
              <a:rPr lang="en-US" altLang="zh-CN" sz="2800" b="1" baseline="-25000">
                <a:sym typeface="Kingsoft Phonetic Plain" pitchFamily="2" charset="2"/>
              </a:rPr>
              <a:t>i</a:t>
            </a:r>
            <a:r>
              <a:rPr lang="zh-CN" altLang="en-US" sz="2800" b="1">
                <a:sym typeface="Kingsoft Phonetic Plain" pitchFamily="2" charset="2"/>
              </a:rPr>
              <a:t>、</a:t>
            </a:r>
            <a:r>
              <a:rPr lang="en-US" altLang="zh-CN" sz="2800" b="1">
                <a:sym typeface="Kingsoft Phonetic Plain" pitchFamily="2" charset="2"/>
              </a:rPr>
              <a:t>b</a:t>
            </a:r>
            <a:r>
              <a:rPr lang="en-US" altLang="zh-CN" sz="2800" b="1" baseline="-25000">
                <a:sym typeface="Kingsoft Phonetic Plain" pitchFamily="2" charset="2"/>
              </a:rPr>
              <a:t>i</a:t>
            </a:r>
            <a:r>
              <a:rPr lang="zh-CN" altLang="en-US" sz="2800" b="1">
                <a:sym typeface="Kingsoft Phonetic Plain" pitchFamily="2" charset="2"/>
              </a:rPr>
              <a:t>及</a:t>
            </a:r>
            <a:r>
              <a:rPr lang="en-US" altLang="zh-CN" sz="2800" b="1">
                <a:sym typeface="Kingsoft Phonetic Plain" pitchFamily="2" charset="2"/>
              </a:rPr>
              <a:t>c</a:t>
            </a:r>
            <a:r>
              <a:rPr lang="en-US" altLang="zh-CN" sz="2800" b="1" baseline="-25000">
                <a:sym typeface="Kingsoft Phonetic Plain" pitchFamily="2" charset="2"/>
              </a:rPr>
              <a:t>i-1 </a:t>
            </a:r>
            <a:r>
              <a:rPr lang="en-US" altLang="zh-CN" sz="2800" b="1">
                <a:sym typeface="Kingsoft Phonetic Plain" pitchFamily="2" charset="2"/>
              </a:rPr>
              <a:t>(c</a:t>
            </a:r>
            <a:r>
              <a:rPr lang="en-US" altLang="zh-CN" sz="2800" b="1" baseline="-25000">
                <a:sym typeface="Kingsoft Phonetic Plain" pitchFamily="2" charset="2"/>
              </a:rPr>
              <a:t>i-1</a:t>
            </a:r>
            <a:r>
              <a:rPr lang="zh-CN" altLang="en-US" sz="2800" b="1">
                <a:sym typeface="Kingsoft Phonetic Plain" pitchFamily="2" charset="2"/>
              </a:rPr>
              <a:t>是第</a:t>
            </a:r>
            <a:r>
              <a:rPr lang="en-US" altLang="zh-CN" sz="2800" b="1">
                <a:sym typeface="Kingsoft Phonetic Plain" pitchFamily="2" charset="2"/>
              </a:rPr>
              <a:t>i-1</a:t>
            </a:r>
            <a:r>
              <a:rPr lang="zh-CN" altLang="en-US" sz="2800" b="1">
                <a:sym typeface="Kingsoft Phonetic Plain" pitchFamily="2" charset="2"/>
              </a:rPr>
              <a:t>位向第</a:t>
            </a:r>
            <a:r>
              <a:rPr lang="en-US" altLang="zh-CN" sz="2800" b="1">
                <a:sym typeface="Kingsoft Phonetic Plain" pitchFamily="2" charset="2"/>
              </a:rPr>
              <a:t>i</a:t>
            </a:r>
            <a:r>
              <a:rPr lang="zh-CN" altLang="zh-CN" sz="2800" b="1">
                <a:sym typeface="Kingsoft Phonetic Plain" pitchFamily="2" charset="2"/>
              </a:rPr>
              <a:t>位的</a:t>
            </a:r>
            <a:endParaRPr lang="zh-CN" altLang="en-US" sz="2800" b="1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>
                <a:sym typeface="Kingsoft Phonetic Plain" pitchFamily="2" charset="2"/>
              </a:rPr>
              <a:t>进位</a:t>
            </a:r>
            <a:r>
              <a:rPr lang="en-US" altLang="zh-CN" sz="2800" b="1">
                <a:sym typeface="Kingsoft Phonetic Plain" pitchFamily="2" charset="2"/>
              </a:rPr>
              <a:t>) </a:t>
            </a:r>
            <a:r>
              <a:rPr lang="zh-CN" altLang="en-US" sz="2800" b="1">
                <a:sym typeface="Kingsoft Phonetic Plain" pitchFamily="2" charset="2"/>
              </a:rPr>
              <a:t>的和，</a:t>
            </a:r>
            <a:r>
              <a:rPr lang="en-US" altLang="zh-CN" sz="2800" b="1">
                <a:sym typeface="Kingsoft Phonetic Plain" pitchFamily="2" charset="2"/>
              </a:rPr>
              <a:t>s</a:t>
            </a:r>
            <a:r>
              <a:rPr lang="en-US" altLang="zh-CN" sz="2800" b="1" baseline="-25000">
                <a:sym typeface="Kingsoft Phonetic Plain" pitchFamily="2" charset="2"/>
              </a:rPr>
              <a:t>i</a:t>
            </a:r>
            <a:r>
              <a:rPr lang="zh-CN" altLang="en-US" sz="2800" b="1">
                <a:sym typeface="Kingsoft Phonetic Plain" pitchFamily="2" charset="2"/>
              </a:rPr>
              <a:t>是</a:t>
            </a:r>
            <a:r>
              <a:rPr lang="en-US" altLang="zh-CN" sz="2800" b="1">
                <a:sym typeface="Kingsoft Phonetic Plain" pitchFamily="2" charset="2"/>
              </a:rPr>
              <a:t>a</a:t>
            </a:r>
            <a:r>
              <a:rPr lang="en-US" altLang="zh-CN" sz="2800" b="1" baseline="-25000">
                <a:sym typeface="Kingsoft Phonetic Plain" pitchFamily="2" charset="2"/>
              </a:rPr>
              <a:t>i</a:t>
            </a:r>
            <a:r>
              <a:rPr lang="zh-CN" altLang="en-US" sz="2800" b="1">
                <a:sym typeface="Kingsoft Phonetic Plain" pitchFamily="2" charset="2"/>
              </a:rPr>
              <a:t>、</a:t>
            </a:r>
            <a:r>
              <a:rPr lang="en-US" altLang="zh-CN" sz="2800" b="1">
                <a:sym typeface="Kingsoft Phonetic Plain" pitchFamily="2" charset="2"/>
              </a:rPr>
              <a:t>b</a:t>
            </a:r>
            <a:r>
              <a:rPr lang="en-US" altLang="zh-CN" sz="2800" b="1" baseline="-25000">
                <a:sym typeface="Kingsoft Phonetic Plain" pitchFamily="2" charset="2"/>
              </a:rPr>
              <a:t>i</a:t>
            </a:r>
            <a:r>
              <a:rPr lang="zh-CN" altLang="en-US" sz="2800" b="1">
                <a:sym typeface="Kingsoft Phonetic Plain" pitchFamily="2" charset="2"/>
              </a:rPr>
              <a:t>及</a:t>
            </a:r>
            <a:r>
              <a:rPr lang="en-US" altLang="zh-CN" sz="2800" b="1">
                <a:sym typeface="Kingsoft Phonetic Plain" pitchFamily="2" charset="2"/>
              </a:rPr>
              <a:t>c</a:t>
            </a:r>
            <a:r>
              <a:rPr lang="en-US" altLang="zh-CN" sz="2800" b="1" baseline="-25000">
                <a:sym typeface="Kingsoft Phonetic Plain" pitchFamily="2" charset="2"/>
              </a:rPr>
              <a:t>i-1</a:t>
            </a:r>
            <a:r>
              <a:rPr lang="zh-CN" altLang="en-US" sz="2800" b="1">
                <a:sym typeface="Kingsoft Phonetic Plain" pitchFamily="2" charset="2"/>
              </a:rPr>
              <a:t>的函数</a:t>
            </a:r>
            <a:r>
              <a:rPr lang="en-US" altLang="zh-CN" sz="2800" b="1">
                <a:sym typeface="Kingsoft Phonetic Plain" pitchFamily="2" charset="2"/>
              </a:rPr>
              <a:t>, </a:t>
            </a:r>
            <a:r>
              <a:rPr lang="zh-CN" altLang="en-US" sz="2800" b="1">
                <a:sym typeface="Kingsoft Phonetic Plain" pitchFamily="2" charset="2"/>
              </a:rPr>
              <a:t>进位</a:t>
            </a:r>
            <a:r>
              <a:rPr lang="en-US" altLang="zh-CN" sz="2800" b="1">
                <a:sym typeface="Kingsoft Phonetic Plain" pitchFamily="2" charset="2"/>
              </a:rPr>
              <a:t>c</a:t>
            </a:r>
            <a:r>
              <a:rPr lang="en-US" altLang="zh-CN" sz="2800" b="1" baseline="-25000">
                <a:sym typeface="Kingsoft Phonetic Plain" pitchFamily="2" charset="2"/>
              </a:rPr>
              <a:t>i</a:t>
            </a:r>
            <a:r>
              <a:rPr lang="zh-CN" altLang="en-US" sz="2800" b="1">
                <a:sym typeface="Kingsoft Phonetic Plain" pitchFamily="2" charset="2"/>
              </a:rPr>
              <a:t>也是</a:t>
            </a:r>
            <a:r>
              <a:rPr lang="en-US" altLang="zh-CN" sz="2800" b="1">
                <a:sym typeface="Kingsoft Phonetic Plain" pitchFamily="2" charset="2"/>
              </a:rPr>
              <a:t>a</a:t>
            </a:r>
            <a:r>
              <a:rPr lang="en-US" altLang="zh-CN" sz="2800" b="1" baseline="-25000">
                <a:sym typeface="Kingsoft Phonetic Plain" pitchFamily="2" charset="2"/>
              </a:rPr>
              <a:t>i</a:t>
            </a:r>
            <a:r>
              <a:rPr lang="en-US" altLang="zh-CN" sz="2800" b="1">
                <a:sym typeface="Kingsoft Phonetic Plain" pitchFamily="2" charset="2"/>
              </a:rPr>
              <a:t> </a:t>
            </a:r>
            <a:r>
              <a:rPr lang="zh-CN" altLang="en-US" sz="2800" b="1">
                <a:sym typeface="Kingsoft Phonetic Plain" pitchFamily="2" charset="2"/>
              </a:rPr>
              <a:t>、</a:t>
            </a:r>
            <a:endParaRPr lang="zh-CN" altLang="en-US" sz="2800" b="1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sym typeface="Kingsoft Phonetic Plain" pitchFamily="2" charset="2"/>
              </a:rPr>
              <a:t>b</a:t>
            </a:r>
            <a:r>
              <a:rPr lang="en-US" altLang="zh-CN" sz="2800" b="1" baseline="-25000">
                <a:sym typeface="Kingsoft Phonetic Plain" pitchFamily="2" charset="2"/>
              </a:rPr>
              <a:t>i</a:t>
            </a:r>
            <a:r>
              <a:rPr lang="zh-CN" altLang="en-US" sz="2800" b="1">
                <a:sym typeface="Kingsoft Phonetic Plain" pitchFamily="2" charset="2"/>
              </a:rPr>
              <a:t>及</a:t>
            </a:r>
            <a:r>
              <a:rPr lang="en-US" altLang="zh-CN" sz="2800" b="1">
                <a:sym typeface="Kingsoft Phonetic Plain" pitchFamily="2" charset="2"/>
              </a:rPr>
              <a:t>c</a:t>
            </a:r>
            <a:r>
              <a:rPr lang="en-US" altLang="zh-CN" sz="2800" b="1" baseline="-25000">
                <a:sym typeface="Kingsoft Phonetic Plain" pitchFamily="2" charset="2"/>
              </a:rPr>
              <a:t>i-1</a:t>
            </a:r>
            <a:r>
              <a:rPr lang="zh-CN" altLang="en-US" sz="2800" b="1">
                <a:sym typeface="Kingsoft Phonetic Plain" pitchFamily="2" charset="2"/>
              </a:rPr>
              <a:t>的函数</a:t>
            </a:r>
            <a:r>
              <a:rPr lang="en-US" altLang="zh-CN" sz="2800" b="1">
                <a:sym typeface="Kingsoft Phonetic Plain" pitchFamily="2" charset="2"/>
              </a:rPr>
              <a:t>, </a:t>
            </a:r>
            <a:r>
              <a:rPr lang="zh-CN" altLang="en-US" sz="2800" b="1">
                <a:sym typeface="Kingsoft Phonetic Plain" pitchFamily="2" charset="2"/>
              </a:rPr>
              <a:t>分别写成</a:t>
            </a:r>
            <a:r>
              <a:rPr lang="en-US" altLang="zh-CN" sz="2800" b="1">
                <a:sym typeface="Kingsoft Phonetic Plain" pitchFamily="2" charset="2"/>
              </a:rPr>
              <a:t>s</a:t>
            </a:r>
            <a:r>
              <a:rPr lang="en-US" altLang="zh-CN" sz="2800" b="1" baseline="-25000">
                <a:sym typeface="Kingsoft Phonetic Plain" pitchFamily="2" charset="2"/>
              </a:rPr>
              <a:t>i</a:t>
            </a:r>
            <a:r>
              <a:rPr lang="en-US" altLang="zh-CN" sz="2800" b="1">
                <a:sym typeface="Kingsoft Phonetic Plain" pitchFamily="2" charset="2"/>
              </a:rPr>
              <a:t>(a</a:t>
            </a:r>
            <a:r>
              <a:rPr lang="en-US" altLang="zh-CN" sz="2800" b="1" baseline="-25000">
                <a:sym typeface="Kingsoft Phonetic Plain" pitchFamily="2" charset="2"/>
              </a:rPr>
              <a:t>i</a:t>
            </a:r>
            <a:r>
              <a:rPr lang="en-US" altLang="zh-CN" sz="2800" b="1">
                <a:sym typeface="Kingsoft Phonetic Plain" pitchFamily="2" charset="2"/>
              </a:rPr>
              <a:t>,b</a:t>
            </a:r>
            <a:r>
              <a:rPr lang="en-US" altLang="zh-CN" sz="2800" b="1" baseline="-25000">
                <a:sym typeface="Kingsoft Phonetic Plain" pitchFamily="2" charset="2"/>
              </a:rPr>
              <a:t>i</a:t>
            </a:r>
            <a:r>
              <a:rPr lang="en-US" altLang="zh-CN" sz="2800" b="1">
                <a:sym typeface="Kingsoft Phonetic Plain" pitchFamily="2" charset="2"/>
              </a:rPr>
              <a:t>,c</a:t>
            </a:r>
            <a:r>
              <a:rPr lang="en-US" altLang="zh-CN" sz="2800" b="1" baseline="-25000">
                <a:sym typeface="Kingsoft Phonetic Plain" pitchFamily="2" charset="2"/>
              </a:rPr>
              <a:t>i-1</a:t>
            </a:r>
            <a:r>
              <a:rPr lang="en-US" altLang="zh-CN" sz="2800" b="1">
                <a:sym typeface="Kingsoft Phonetic Plain" pitchFamily="2" charset="2"/>
              </a:rPr>
              <a:t>)</a:t>
            </a:r>
            <a:r>
              <a:rPr lang="zh-CN" altLang="en-US" sz="2800" b="1">
                <a:sym typeface="Kingsoft Phonetic Plain" pitchFamily="2" charset="2"/>
              </a:rPr>
              <a:t>，</a:t>
            </a:r>
            <a:r>
              <a:rPr lang="en-US" altLang="zh-CN" sz="2800" b="1">
                <a:sym typeface="Kingsoft Phonetic Plain" pitchFamily="2" charset="2"/>
              </a:rPr>
              <a:t>c</a:t>
            </a:r>
            <a:r>
              <a:rPr lang="en-US" altLang="zh-CN" sz="2800" b="1" baseline="-25000">
                <a:sym typeface="Kingsoft Phonetic Plain" pitchFamily="2" charset="2"/>
              </a:rPr>
              <a:t>i</a:t>
            </a:r>
            <a:r>
              <a:rPr lang="en-US" altLang="zh-CN" sz="2800" b="1">
                <a:sym typeface="Kingsoft Phonetic Plain" pitchFamily="2" charset="2"/>
              </a:rPr>
              <a:t>(a</a:t>
            </a:r>
            <a:r>
              <a:rPr lang="en-US" altLang="zh-CN" sz="2800" b="1" baseline="-25000">
                <a:sym typeface="Kingsoft Phonetic Plain" pitchFamily="2" charset="2"/>
              </a:rPr>
              <a:t>i</a:t>
            </a:r>
            <a:r>
              <a:rPr lang="en-US" altLang="zh-CN" sz="2800" b="1">
                <a:sym typeface="Kingsoft Phonetic Plain" pitchFamily="2" charset="2"/>
              </a:rPr>
              <a:t>,b</a:t>
            </a:r>
            <a:r>
              <a:rPr lang="en-US" altLang="zh-CN" sz="2800" b="1" baseline="-25000">
                <a:sym typeface="Kingsoft Phonetic Plain" pitchFamily="2" charset="2"/>
              </a:rPr>
              <a:t>i</a:t>
            </a:r>
            <a:r>
              <a:rPr lang="en-US" altLang="zh-CN" sz="2800" b="1">
                <a:sym typeface="Kingsoft Phonetic Plain" pitchFamily="2" charset="2"/>
              </a:rPr>
              <a:t>,c</a:t>
            </a:r>
            <a:r>
              <a:rPr lang="en-US" altLang="zh-CN" sz="2800" b="1" baseline="-25000">
                <a:sym typeface="Kingsoft Phonetic Plain" pitchFamily="2" charset="2"/>
              </a:rPr>
              <a:t>i-1</a:t>
            </a:r>
            <a:r>
              <a:rPr lang="en-US" altLang="zh-CN" sz="2800" b="1">
                <a:sym typeface="Kingsoft Phonetic Plain" pitchFamily="2" charset="2"/>
              </a:rPr>
              <a:t>)</a:t>
            </a:r>
            <a:r>
              <a:rPr lang="zh-CN" altLang="en-US" sz="2800" b="1">
                <a:sym typeface="Kingsoft Phonetic Plain" pitchFamily="2" charset="2"/>
              </a:rPr>
              <a:t>。</a:t>
            </a:r>
            <a:endParaRPr lang="zh-CN" altLang="en-US" sz="2800" b="1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>
                <a:sym typeface="Kingsoft Phonetic Plain" pitchFamily="2" charset="2"/>
              </a:rPr>
              <a:t>它们与</a:t>
            </a:r>
            <a:r>
              <a:rPr lang="en-US" altLang="zh-CN" sz="2800" b="1">
                <a:sym typeface="Kingsoft Phonetic Plain" pitchFamily="2" charset="2"/>
              </a:rPr>
              <a:t>a</a:t>
            </a:r>
            <a:r>
              <a:rPr lang="en-US" altLang="zh-CN" sz="2800" b="1" baseline="-25000">
                <a:sym typeface="Kingsoft Phonetic Plain" pitchFamily="2" charset="2"/>
              </a:rPr>
              <a:t>i</a:t>
            </a:r>
            <a:r>
              <a:rPr lang="en-US" altLang="zh-CN" sz="2800" b="1">
                <a:sym typeface="Kingsoft Phonetic Plain" pitchFamily="2" charset="2"/>
              </a:rPr>
              <a:t>,b</a:t>
            </a:r>
            <a:r>
              <a:rPr lang="en-US" altLang="zh-CN" sz="2800" b="1" baseline="-25000">
                <a:sym typeface="Kingsoft Phonetic Plain" pitchFamily="2" charset="2"/>
              </a:rPr>
              <a:t>i</a:t>
            </a:r>
            <a:r>
              <a:rPr lang="en-US" altLang="zh-CN" sz="2800" b="1">
                <a:sym typeface="Kingsoft Phonetic Plain" pitchFamily="2" charset="2"/>
              </a:rPr>
              <a:t>,c</a:t>
            </a:r>
            <a:r>
              <a:rPr lang="en-US" altLang="zh-CN" sz="2800" b="1" baseline="-25000">
                <a:sym typeface="Kingsoft Phonetic Plain" pitchFamily="2" charset="2"/>
              </a:rPr>
              <a:t>i-1</a:t>
            </a:r>
            <a:r>
              <a:rPr lang="zh-CN" altLang="en-US" sz="2800" b="1">
                <a:sym typeface="Kingsoft Phonetic Plain" pitchFamily="2" charset="2"/>
              </a:rPr>
              <a:t>的关系如下表：</a:t>
            </a:r>
            <a:endParaRPr lang="zh-CN" altLang="en-US" sz="2800"/>
          </a:p>
        </p:txBody>
      </p:sp>
      <p:sp>
        <p:nvSpPr>
          <p:cNvPr id="110595" name="Line 4"/>
          <p:cNvSpPr>
            <a:spLocks noChangeShapeType="1"/>
          </p:cNvSpPr>
          <p:nvPr/>
        </p:nvSpPr>
        <p:spPr bwMode="auto">
          <a:xfrm>
            <a:off x="1066801" y="3505200"/>
            <a:ext cx="441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425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4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4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4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4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4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4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4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4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4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42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42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59" grpId="0" autoUpdateAnimBg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1618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1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>
                <a:sym typeface="Kingsoft Phonetic Plain" pitchFamily="2" charset="2"/>
              </a:rPr>
              <a:t>  </a:t>
            </a:r>
            <a:endParaRPr lang="en-US" altLang="en-US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en-US">
                <a:sym typeface="Kingsoft Phonetic Plain" pitchFamily="2" charset="2"/>
              </a:rPr>
              <a:t>    </a:t>
            </a:r>
            <a:endParaRPr lang="en-US" altLang="zh-CN">
              <a:sym typeface="Kingsoft Phonetic Plain" pitchFamily="2" charset="2"/>
            </a:endParaRPr>
          </a:p>
        </p:txBody>
      </p:sp>
      <p:graphicFrame>
        <p:nvGraphicFramePr>
          <p:cNvPr id="112726" name="Group 86"/>
          <p:cNvGraphicFramePr>
            <a:graphicFrameLocks noGrp="1"/>
          </p:cNvGraphicFramePr>
          <p:nvPr/>
        </p:nvGraphicFramePr>
        <p:xfrm>
          <a:off x="755576" y="1030557"/>
          <a:ext cx="7391400" cy="5638803"/>
        </p:xfrm>
        <a:graphic>
          <a:graphicData uri="http://schemas.openxmlformats.org/drawingml/2006/table">
            <a:tbl>
              <a:tblPr/>
              <a:tblGrid>
                <a:gridCol w="1090613"/>
                <a:gridCol w="1090612"/>
                <a:gridCol w="1090613"/>
                <a:gridCol w="2058987"/>
                <a:gridCol w="2060575"/>
              </a:tblGrid>
              <a:tr h="627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a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i</a:t>
                      </a:r>
                      <a:endParaRPr kumimoji="0" lang="en-US" altLang="zh-CN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Kingsoft Phonetic Plain" pitchFamily="2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b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i</a:t>
                      </a:r>
                      <a:endParaRPr kumimoji="0" lang="en-US" altLang="zh-CN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Kingsoft Phonetic Plain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c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i-1</a:t>
                      </a:r>
                      <a:endParaRPr kumimoji="0" lang="en-US" altLang="zh-CN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Kingsoft Phonetic Plain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s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i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(a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i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,b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i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,c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i-1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)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Kingsoft Phonetic Plain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c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i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(a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i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,b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i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,c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i-1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)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Kingsoft Phonetic Plain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7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7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7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7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7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0"/>
                                        <p:tgtEl>
                                          <p:spTgt spid="112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2642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1" dirty="0"/>
              <a:t>在电路逻辑设计中用如下逻辑部件：</a:t>
            </a:r>
            <a:endParaRPr lang="zh-CN" altLang="en-US" sz="2800" b="1" dirty="0"/>
          </a:p>
          <a:p>
            <a:pPr eaLnBrk="1" hangingPunct="1">
              <a:buFontTx/>
              <a:buNone/>
            </a:pPr>
            <a:r>
              <a:rPr lang="zh-CN" altLang="en-US" sz="2800" b="1" dirty="0"/>
              <a:t>        非门                 与门                      或门</a:t>
            </a:r>
            <a:endParaRPr lang="zh-CN" altLang="en-US" sz="2800" b="1" dirty="0"/>
          </a:p>
          <a:p>
            <a:pPr eaLnBrk="1" hangingPunct="1">
              <a:buFontTx/>
              <a:buNone/>
            </a:pPr>
            <a:r>
              <a:rPr lang="zh-CN" altLang="en-US" sz="2400" b="1" dirty="0"/>
              <a:t>                   </a:t>
            </a:r>
            <a:endParaRPr lang="zh-CN" altLang="en-US" sz="2400" b="1" dirty="0"/>
          </a:p>
          <a:p>
            <a:pPr eaLnBrk="1" hangingPunct="1">
              <a:buFontTx/>
              <a:buNone/>
            </a:pPr>
            <a:r>
              <a:rPr lang="zh-CN" altLang="en-US" sz="2400" b="1" dirty="0"/>
              <a:t>    </a:t>
            </a:r>
            <a:endParaRPr lang="zh-CN" altLang="en-US" sz="2400" b="1" dirty="0"/>
          </a:p>
        </p:txBody>
      </p:sp>
      <p:graphicFrame>
        <p:nvGraphicFramePr>
          <p:cNvPr id="112643" name="Object 35"/>
          <p:cNvGraphicFramePr>
            <a:graphicFrameLocks noChangeAspect="1"/>
          </p:cNvGraphicFramePr>
          <p:nvPr/>
        </p:nvGraphicFramePr>
        <p:xfrm>
          <a:off x="4514850" y="3321051"/>
          <a:ext cx="1127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5" name="公式" r:id="rId1" imgW="114300" imgH="215900" progId="Equation.3">
                  <p:embed/>
                </p:oleObj>
              </mc:Choice>
              <mc:Fallback>
                <p:oleObj name="公式" r:id="rId1" imgW="114300" imgH="21590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1"/>
                        <a:ext cx="112713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44" name="Text Box 39"/>
          <p:cNvSpPr txBox="1">
            <a:spLocks noChangeArrowheads="1"/>
          </p:cNvSpPr>
          <p:nvPr/>
        </p:nvSpPr>
        <p:spPr bwMode="auto">
          <a:xfrm>
            <a:off x="762001" y="2770486"/>
            <a:ext cx="7770813" cy="3754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根据前边的表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,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列出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s</a:t>
            </a:r>
            <a:r>
              <a:rPr kumimoji="1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(a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,b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,c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的主析取范式：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ymbol" panose="05050102010706020507" pitchFamily="18" charset="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s</a:t>
            </a:r>
            <a:r>
              <a:rPr kumimoji="1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(a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,b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,c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)=(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a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b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∧c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)∨(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a</a:t>
            </a:r>
            <a:r>
              <a:rPr kumimoji="1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∧b</a:t>
            </a:r>
            <a:r>
              <a:rPr kumimoji="1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c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)∨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Kingsoft Phonetic Plain" pitchFamily="2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                   (a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 ∧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b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c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)∨(a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∧b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∧c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)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Kingsoft Phonetic Plain" pitchFamily="2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类似可以求出进位位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c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(a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,b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,c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的表达式。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Kingsoft Phonetic Plain" pitchFamily="2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  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在指派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001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、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010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、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100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、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111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时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s</a:t>
            </a:r>
            <a:r>
              <a:rPr kumimoji="1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为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1)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Kingsoft Phonetic Plain" pitchFamily="2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下面设计出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s</a:t>
            </a:r>
            <a:r>
              <a:rPr kumimoji="1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(a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,b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,c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的线路图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。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Kingsoft Phonetic Plain" pitchFamily="2" charset="2"/>
            </a:endParaRPr>
          </a:p>
        </p:txBody>
      </p:sp>
      <p:grpSp>
        <p:nvGrpSpPr>
          <p:cNvPr id="112645" name="Group 44"/>
          <p:cNvGrpSpPr/>
          <p:nvPr/>
        </p:nvGrpSpPr>
        <p:grpSpPr bwMode="auto">
          <a:xfrm>
            <a:off x="500974" y="1657405"/>
            <a:ext cx="7467600" cy="1168400"/>
            <a:chOff x="528" y="912"/>
            <a:chExt cx="4704" cy="736"/>
          </a:xfrm>
        </p:grpSpPr>
        <p:sp>
          <p:nvSpPr>
            <p:cNvPr id="112646" name="AutoShape 4"/>
            <p:cNvSpPr>
              <a:spLocks noChangeArrowheads="1"/>
            </p:cNvSpPr>
            <p:nvPr/>
          </p:nvSpPr>
          <p:spPr bwMode="auto">
            <a:xfrm>
              <a:off x="2544" y="1056"/>
              <a:ext cx="384" cy="384"/>
            </a:xfrm>
            <a:prstGeom prst="flowChartDelay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47" name="Line 8"/>
            <p:cNvSpPr>
              <a:spLocks noChangeShapeType="1"/>
            </p:cNvSpPr>
            <p:nvPr/>
          </p:nvSpPr>
          <p:spPr bwMode="auto">
            <a:xfrm>
              <a:off x="2928" y="124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48" name="Line 9"/>
            <p:cNvSpPr>
              <a:spLocks noChangeShapeType="1"/>
            </p:cNvSpPr>
            <p:nvPr/>
          </p:nvSpPr>
          <p:spPr bwMode="auto">
            <a:xfrm>
              <a:off x="2352" y="110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49" name="Line 10"/>
            <p:cNvSpPr>
              <a:spLocks noChangeShapeType="1"/>
            </p:cNvSpPr>
            <p:nvPr/>
          </p:nvSpPr>
          <p:spPr bwMode="auto">
            <a:xfrm>
              <a:off x="2352" y="134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50" name="AutoShape 6"/>
            <p:cNvSpPr>
              <a:spLocks noChangeArrowheads="1"/>
            </p:cNvSpPr>
            <p:nvPr/>
          </p:nvSpPr>
          <p:spPr bwMode="auto">
            <a:xfrm rot="10800000">
              <a:off x="4128" y="1104"/>
              <a:ext cx="336" cy="384"/>
            </a:xfrm>
            <a:prstGeom prst="flowChartOnlineStorage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51" name="Line 11"/>
            <p:cNvSpPr>
              <a:spLocks noChangeShapeType="1"/>
            </p:cNvSpPr>
            <p:nvPr/>
          </p:nvSpPr>
          <p:spPr bwMode="auto">
            <a:xfrm>
              <a:off x="3936" y="120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52" name="Line 12"/>
            <p:cNvSpPr>
              <a:spLocks noChangeShapeType="1"/>
            </p:cNvSpPr>
            <p:nvPr/>
          </p:nvSpPr>
          <p:spPr bwMode="auto">
            <a:xfrm>
              <a:off x="3936" y="139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53" name="Line 13"/>
            <p:cNvSpPr>
              <a:spLocks noChangeShapeType="1"/>
            </p:cNvSpPr>
            <p:nvPr/>
          </p:nvSpPr>
          <p:spPr bwMode="auto">
            <a:xfrm>
              <a:off x="4464" y="129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54" name="AutoShape 7"/>
            <p:cNvSpPr>
              <a:spLocks noChangeArrowheads="1"/>
            </p:cNvSpPr>
            <p:nvPr/>
          </p:nvSpPr>
          <p:spPr bwMode="auto">
            <a:xfrm rot="-5400000">
              <a:off x="984" y="1080"/>
              <a:ext cx="192" cy="144"/>
            </a:xfrm>
            <a:prstGeom prst="flowChartMerge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55" name="Line 14"/>
            <p:cNvSpPr>
              <a:spLocks noChangeShapeType="1"/>
            </p:cNvSpPr>
            <p:nvPr/>
          </p:nvSpPr>
          <p:spPr bwMode="auto">
            <a:xfrm>
              <a:off x="768" y="115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56" name="Line 15"/>
            <p:cNvSpPr>
              <a:spLocks noChangeShapeType="1"/>
            </p:cNvSpPr>
            <p:nvPr/>
          </p:nvSpPr>
          <p:spPr bwMode="auto">
            <a:xfrm>
              <a:off x="1200" y="115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57" name="Oval 20"/>
            <p:cNvSpPr>
              <a:spLocks noChangeArrowheads="1"/>
            </p:cNvSpPr>
            <p:nvPr/>
          </p:nvSpPr>
          <p:spPr bwMode="auto">
            <a:xfrm>
              <a:off x="1152" y="1152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58" name="Text Box 23"/>
            <p:cNvSpPr txBox="1">
              <a:spLocks noChangeArrowheads="1"/>
            </p:cNvSpPr>
            <p:nvPr/>
          </p:nvSpPr>
          <p:spPr bwMode="auto">
            <a:xfrm>
              <a:off x="2064" y="912"/>
              <a:ext cx="336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anose="05050102010706020507" pitchFamily="18" charset="2"/>
                  <a:ea typeface="宋体" panose="02010600030101010101" pitchFamily="2" charset="-122"/>
                  <a:cs typeface="+mn-cs"/>
                </a:rPr>
                <a:t> 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59" name="Text Box 24"/>
            <p:cNvSpPr txBox="1">
              <a:spLocks noChangeArrowheads="1"/>
            </p:cNvSpPr>
            <p:nvPr/>
          </p:nvSpPr>
          <p:spPr bwMode="auto">
            <a:xfrm>
              <a:off x="2064" y="912"/>
              <a:ext cx="384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a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b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60" name="Text Box 25"/>
            <p:cNvSpPr txBox="1">
              <a:spLocks noChangeArrowheads="1"/>
            </p:cNvSpPr>
            <p:nvPr/>
          </p:nvSpPr>
          <p:spPr bwMode="auto">
            <a:xfrm>
              <a:off x="3120" y="1056"/>
              <a:ext cx="52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a∧b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61" name="Text Box 28"/>
            <p:cNvSpPr txBox="1">
              <a:spLocks noChangeArrowheads="1"/>
            </p:cNvSpPr>
            <p:nvPr/>
          </p:nvSpPr>
          <p:spPr bwMode="auto">
            <a:xfrm>
              <a:off x="528" y="1008"/>
              <a:ext cx="24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a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62" name="Text Box 30"/>
            <p:cNvSpPr txBox="1">
              <a:spLocks noChangeArrowheads="1"/>
            </p:cNvSpPr>
            <p:nvPr/>
          </p:nvSpPr>
          <p:spPr bwMode="auto">
            <a:xfrm>
              <a:off x="3648" y="1008"/>
              <a:ext cx="336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anose="05050102010706020507" pitchFamily="18" charset="2"/>
                  <a:ea typeface="宋体" panose="02010600030101010101" pitchFamily="2" charset="-122"/>
                  <a:cs typeface="+mn-cs"/>
                </a:rPr>
                <a:t> 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63" name="Text Box 32"/>
            <p:cNvSpPr txBox="1">
              <a:spLocks noChangeArrowheads="1"/>
            </p:cNvSpPr>
            <p:nvPr/>
          </p:nvSpPr>
          <p:spPr bwMode="auto">
            <a:xfrm>
              <a:off x="3696" y="960"/>
              <a:ext cx="384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a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b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64" name="Text Box 33"/>
            <p:cNvSpPr txBox="1">
              <a:spLocks noChangeArrowheads="1"/>
            </p:cNvSpPr>
            <p:nvPr/>
          </p:nvSpPr>
          <p:spPr bwMode="auto">
            <a:xfrm>
              <a:off x="4704" y="1152"/>
              <a:ext cx="52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a∨b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65" name="Text Box 36"/>
            <p:cNvSpPr txBox="1">
              <a:spLocks noChangeArrowheads="1"/>
            </p:cNvSpPr>
            <p:nvPr/>
          </p:nvSpPr>
          <p:spPr bwMode="auto">
            <a:xfrm>
              <a:off x="1440" y="960"/>
              <a:ext cx="48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66" name="Text Box 42"/>
            <p:cNvSpPr txBox="1">
              <a:spLocks noChangeArrowheads="1"/>
            </p:cNvSpPr>
            <p:nvPr/>
          </p:nvSpPr>
          <p:spPr bwMode="auto">
            <a:xfrm>
              <a:off x="1440" y="1008"/>
              <a:ext cx="48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</a:t>
              </a: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a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3666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3366FF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endParaRPr lang="en-US" altLang="zh-CN"/>
          </a:p>
          <a:p>
            <a:pPr eaLnBrk="1" hangingPunct="1">
              <a:buFontTx/>
              <a:buNone/>
            </a:pPr>
            <a:endParaRPr lang="en-US" altLang="zh-CN"/>
          </a:p>
          <a:p>
            <a:pPr eaLnBrk="1" hangingPunct="1">
              <a:buFontTx/>
              <a:buNone/>
            </a:pPr>
            <a:endParaRPr lang="en-US" altLang="zh-CN"/>
          </a:p>
        </p:txBody>
      </p:sp>
      <p:sp>
        <p:nvSpPr>
          <p:cNvPr id="113667" name="Rectangle 81"/>
          <p:cNvSpPr>
            <a:spLocks noChangeArrowheads="1"/>
          </p:cNvSpPr>
          <p:nvPr/>
        </p:nvSpPr>
        <p:spPr bwMode="auto">
          <a:xfrm>
            <a:off x="1219200" y="5208238"/>
            <a:ext cx="7162799" cy="1015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3" tIns="45712" rIns="91423" bIns="45712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s</a:t>
            </a:r>
            <a:r>
              <a:rPr kumimoji="1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(a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,b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,c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)=(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a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b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∧c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)∨(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a</a:t>
            </a:r>
            <a:r>
              <a:rPr kumimoji="1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∧b</a:t>
            </a:r>
            <a:r>
              <a:rPr kumimoji="1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c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)∨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Kingsoft Phonetic Plain" pitchFamily="2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                   (a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 ∧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b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c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)∨(a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∧b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∧c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)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Kingsoft Phonetic Plain" pitchFamily="2" charset="2"/>
            </a:endParaRPr>
          </a:p>
        </p:txBody>
      </p:sp>
      <p:sp>
        <p:nvSpPr>
          <p:cNvPr id="115791" name="Text Box 79"/>
          <p:cNvSpPr txBox="1">
            <a:spLocks noChangeArrowheads="1"/>
          </p:cNvSpPr>
          <p:nvPr/>
        </p:nvSpPr>
        <p:spPr bwMode="auto">
          <a:xfrm>
            <a:off x="6781800" y="3019142"/>
            <a:ext cx="1600200" cy="461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s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(a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,b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,c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)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Kingsoft Phonetic Plain" pitchFamily="2" charset="2"/>
            </a:endParaRPr>
          </a:p>
        </p:txBody>
      </p:sp>
      <p:sp>
        <p:nvSpPr>
          <p:cNvPr id="115717" name="AutoShape 5"/>
          <p:cNvSpPr>
            <a:spLocks noChangeArrowheads="1"/>
          </p:cNvSpPr>
          <p:nvPr/>
        </p:nvSpPr>
        <p:spPr bwMode="auto">
          <a:xfrm>
            <a:off x="3962400" y="885542"/>
            <a:ext cx="609600" cy="838200"/>
          </a:xfrm>
          <a:prstGeom prst="flowChartDelay">
            <a:avLst/>
          </a:prstGeom>
          <a:noFill/>
          <a:ln w="381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18" name="Line 6"/>
          <p:cNvSpPr>
            <a:spLocks noChangeShapeType="1"/>
          </p:cNvSpPr>
          <p:nvPr/>
        </p:nvSpPr>
        <p:spPr bwMode="auto">
          <a:xfrm>
            <a:off x="4572000" y="1266542"/>
            <a:ext cx="990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19" name="Line 7"/>
          <p:cNvSpPr>
            <a:spLocks noChangeShapeType="1"/>
          </p:cNvSpPr>
          <p:nvPr/>
        </p:nvSpPr>
        <p:spPr bwMode="auto">
          <a:xfrm flipV="1">
            <a:off x="2971800" y="961742"/>
            <a:ext cx="990600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20" name="Line 8"/>
          <p:cNvSpPr>
            <a:spLocks noChangeShapeType="1"/>
          </p:cNvSpPr>
          <p:nvPr/>
        </p:nvSpPr>
        <p:spPr bwMode="auto">
          <a:xfrm>
            <a:off x="3429000" y="1418942"/>
            <a:ext cx="533400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21" name="AutoShape 9"/>
          <p:cNvSpPr>
            <a:spLocks noChangeArrowheads="1"/>
          </p:cNvSpPr>
          <p:nvPr/>
        </p:nvSpPr>
        <p:spPr bwMode="auto">
          <a:xfrm rot="10800000">
            <a:off x="5867400" y="2485742"/>
            <a:ext cx="838200" cy="1066800"/>
          </a:xfrm>
          <a:prstGeom prst="flowChartOnlineStorage">
            <a:avLst/>
          </a:prstGeom>
          <a:noFill/>
          <a:ln w="2857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22" name="Line 10"/>
          <p:cNvSpPr>
            <a:spLocks noChangeShapeType="1"/>
          </p:cNvSpPr>
          <p:nvPr/>
        </p:nvSpPr>
        <p:spPr bwMode="auto">
          <a:xfrm>
            <a:off x="5562600" y="2638142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23" name="Line 11"/>
          <p:cNvSpPr>
            <a:spLocks noChangeShapeType="1"/>
          </p:cNvSpPr>
          <p:nvPr/>
        </p:nvSpPr>
        <p:spPr bwMode="auto">
          <a:xfrm>
            <a:off x="5562600" y="3400142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24" name="Line 12"/>
          <p:cNvSpPr>
            <a:spLocks noChangeShapeType="1"/>
          </p:cNvSpPr>
          <p:nvPr/>
        </p:nvSpPr>
        <p:spPr bwMode="auto">
          <a:xfrm>
            <a:off x="6705600" y="3019142"/>
            <a:ext cx="990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26" name="Line 14"/>
          <p:cNvSpPr>
            <a:spLocks noChangeShapeType="1"/>
          </p:cNvSpPr>
          <p:nvPr/>
        </p:nvSpPr>
        <p:spPr bwMode="auto">
          <a:xfrm>
            <a:off x="1143000" y="2028542"/>
            <a:ext cx="7620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27" name="Line 15"/>
          <p:cNvSpPr>
            <a:spLocks noChangeShapeType="1"/>
          </p:cNvSpPr>
          <p:nvPr/>
        </p:nvSpPr>
        <p:spPr bwMode="auto">
          <a:xfrm>
            <a:off x="2209800" y="2028542"/>
            <a:ext cx="762000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150"/>
          <p:cNvGrpSpPr/>
          <p:nvPr/>
        </p:nvGrpSpPr>
        <p:grpSpPr bwMode="auto">
          <a:xfrm>
            <a:off x="1905000" y="1876143"/>
            <a:ext cx="304800" cy="304800"/>
            <a:chOff x="864" y="576"/>
            <a:chExt cx="192" cy="192"/>
          </a:xfrm>
        </p:grpSpPr>
        <p:sp>
          <p:nvSpPr>
            <p:cNvPr id="113763" name="AutoShape 13"/>
            <p:cNvSpPr>
              <a:spLocks noChangeArrowheads="1"/>
            </p:cNvSpPr>
            <p:nvPr/>
          </p:nvSpPr>
          <p:spPr bwMode="auto">
            <a:xfrm rot="-5400000">
              <a:off x="840" y="600"/>
              <a:ext cx="192" cy="144"/>
            </a:xfrm>
            <a:prstGeom prst="flowChartMerge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764" name="Oval 16"/>
            <p:cNvSpPr>
              <a:spLocks noChangeArrowheads="1"/>
            </p:cNvSpPr>
            <p:nvPr/>
          </p:nvSpPr>
          <p:spPr bwMode="auto">
            <a:xfrm>
              <a:off x="1008" y="672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15732" name="Text Box 20"/>
          <p:cNvSpPr txBox="1">
            <a:spLocks noChangeArrowheads="1"/>
          </p:cNvSpPr>
          <p:nvPr/>
        </p:nvSpPr>
        <p:spPr bwMode="auto">
          <a:xfrm>
            <a:off x="762000" y="1799942"/>
            <a:ext cx="609600" cy="461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ymbol" panose="05050102010706020507" pitchFamily="18" charset="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37" name="Text Box 25"/>
          <p:cNvSpPr txBox="1">
            <a:spLocks noChangeArrowheads="1"/>
          </p:cNvSpPr>
          <p:nvPr/>
        </p:nvSpPr>
        <p:spPr bwMode="auto">
          <a:xfrm>
            <a:off x="2057400" y="1571342"/>
            <a:ext cx="762000" cy="461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47" name="Line 35"/>
          <p:cNvSpPr>
            <a:spLocks noChangeShapeType="1"/>
          </p:cNvSpPr>
          <p:nvPr/>
        </p:nvSpPr>
        <p:spPr bwMode="auto">
          <a:xfrm>
            <a:off x="1066800" y="2942942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48" name="Line 36"/>
          <p:cNvSpPr>
            <a:spLocks noChangeShapeType="1"/>
          </p:cNvSpPr>
          <p:nvPr/>
        </p:nvSpPr>
        <p:spPr bwMode="auto">
          <a:xfrm>
            <a:off x="2265364" y="2942942"/>
            <a:ext cx="1011237" cy="0"/>
          </a:xfrm>
          <a:prstGeom prst="line">
            <a:avLst/>
          </a:prstGeom>
          <a:noFill/>
          <a:ln w="28575">
            <a:solidFill>
              <a:srgbClr val="99336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50" name="Text Box 38"/>
          <p:cNvSpPr txBox="1">
            <a:spLocks noChangeArrowheads="1"/>
          </p:cNvSpPr>
          <p:nvPr/>
        </p:nvSpPr>
        <p:spPr bwMode="auto">
          <a:xfrm>
            <a:off x="762000" y="2714343"/>
            <a:ext cx="609600" cy="461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ymbol" panose="05050102010706020507" pitchFamily="18" charset="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51" name="Text Box 39"/>
          <p:cNvSpPr txBox="1">
            <a:spLocks noChangeArrowheads="1"/>
          </p:cNvSpPr>
          <p:nvPr/>
        </p:nvSpPr>
        <p:spPr bwMode="auto">
          <a:xfrm>
            <a:off x="2209800" y="2485743"/>
            <a:ext cx="762000" cy="461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57" name="Line 45"/>
          <p:cNvSpPr>
            <a:spLocks noChangeShapeType="1"/>
          </p:cNvSpPr>
          <p:nvPr/>
        </p:nvSpPr>
        <p:spPr bwMode="auto">
          <a:xfrm>
            <a:off x="1066801" y="3933542"/>
            <a:ext cx="838200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58" name="Line 46"/>
          <p:cNvSpPr>
            <a:spLocks noChangeShapeType="1"/>
          </p:cNvSpPr>
          <p:nvPr/>
        </p:nvSpPr>
        <p:spPr bwMode="auto">
          <a:xfrm>
            <a:off x="2209800" y="3933542"/>
            <a:ext cx="1447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60" name="Text Box 48"/>
          <p:cNvSpPr txBox="1">
            <a:spLocks noChangeArrowheads="1"/>
          </p:cNvSpPr>
          <p:nvPr/>
        </p:nvSpPr>
        <p:spPr bwMode="auto">
          <a:xfrm>
            <a:off x="685800" y="3704942"/>
            <a:ext cx="685800" cy="461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C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i-1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ymbol" panose="05050102010706020507" pitchFamily="18" charset="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61" name="Text Box 49"/>
          <p:cNvSpPr txBox="1">
            <a:spLocks noChangeArrowheads="1"/>
          </p:cNvSpPr>
          <p:nvPr/>
        </p:nvSpPr>
        <p:spPr bwMode="auto">
          <a:xfrm>
            <a:off x="2133600" y="3400143"/>
            <a:ext cx="914400" cy="461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c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i-1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64" name="AutoShape 52"/>
          <p:cNvSpPr>
            <a:spLocks noChangeArrowheads="1"/>
          </p:cNvSpPr>
          <p:nvPr/>
        </p:nvSpPr>
        <p:spPr bwMode="auto">
          <a:xfrm>
            <a:off x="3962400" y="1952342"/>
            <a:ext cx="609600" cy="838200"/>
          </a:xfrm>
          <a:prstGeom prst="flowChartDelay">
            <a:avLst/>
          </a:prstGeom>
          <a:noFill/>
          <a:ln w="381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65" name="Line 53"/>
          <p:cNvSpPr>
            <a:spLocks noChangeShapeType="1"/>
          </p:cNvSpPr>
          <p:nvPr/>
        </p:nvSpPr>
        <p:spPr bwMode="auto">
          <a:xfrm>
            <a:off x="4572000" y="2333342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66" name="Line 54"/>
          <p:cNvSpPr>
            <a:spLocks noChangeShapeType="1"/>
          </p:cNvSpPr>
          <p:nvPr/>
        </p:nvSpPr>
        <p:spPr bwMode="auto">
          <a:xfrm>
            <a:off x="2895600" y="2028542"/>
            <a:ext cx="1066800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67" name="Line 55"/>
          <p:cNvSpPr>
            <a:spLocks noChangeShapeType="1"/>
          </p:cNvSpPr>
          <p:nvPr/>
        </p:nvSpPr>
        <p:spPr bwMode="auto">
          <a:xfrm>
            <a:off x="3657600" y="2561942"/>
            <a:ext cx="304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69" name="AutoShape 57"/>
          <p:cNvSpPr>
            <a:spLocks noChangeArrowheads="1"/>
          </p:cNvSpPr>
          <p:nvPr/>
        </p:nvSpPr>
        <p:spPr bwMode="auto">
          <a:xfrm>
            <a:off x="3962400" y="3095342"/>
            <a:ext cx="609600" cy="990600"/>
          </a:xfrm>
          <a:prstGeom prst="flowChartDelay">
            <a:avLst/>
          </a:prstGeom>
          <a:noFill/>
          <a:ln w="381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70" name="Line 58"/>
          <p:cNvSpPr>
            <a:spLocks noChangeShapeType="1"/>
          </p:cNvSpPr>
          <p:nvPr/>
        </p:nvSpPr>
        <p:spPr bwMode="auto">
          <a:xfrm>
            <a:off x="4572000" y="3552542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71" name="Line 59"/>
          <p:cNvSpPr>
            <a:spLocks noChangeShapeType="1"/>
          </p:cNvSpPr>
          <p:nvPr/>
        </p:nvSpPr>
        <p:spPr bwMode="auto">
          <a:xfrm>
            <a:off x="3429000" y="3247742"/>
            <a:ext cx="5334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72" name="Line 60"/>
          <p:cNvSpPr>
            <a:spLocks noChangeShapeType="1"/>
          </p:cNvSpPr>
          <p:nvPr/>
        </p:nvSpPr>
        <p:spPr bwMode="auto">
          <a:xfrm>
            <a:off x="3276600" y="3552542"/>
            <a:ext cx="685800" cy="0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74" name="AutoShape 62"/>
          <p:cNvSpPr>
            <a:spLocks noChangeArrowheads="1"/>
          </p:cNvSpPr>
          <p:nvPr/>
        </p:nvSpPr>
        <p:spPr bwMode="auto">
          <a:xfrm>
            <a:off x="3886200" y="4238342"/>
            <a:ext cx="609600" cy="914400"/>
          </a:xfrm>
          <a:prstGeom prst="flowChartDelay">
            <a:avLst/>
          </a:prstGeom>
          <a:noFill/>
          <a:ln w="381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75" name="Line 63"/>
          <p:cNvSpPr>
            <a:spLocks noChangeShapeType="1"/>
          </p:cNvSpPr>
          <p:nvPr/>
        </p:nvSpPr>
        <p:spPr bwMode="auto">
          <a:xfrm>
            <a:off x="4495801" y="4695542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79" name="Line 67"/>
          <p:cNvSpPr>
            <a:spLocks noChangeShapeType="1"/>
          </p:cNvSpPr>
          <p:nvPr/>
        </p:nvSpPr>
        <p:spPr bwMode="auto">
          <a:xfrm flipV="1">
            <a:off x="4953000" y="2866742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80" name="Line 68"/>
          <p:cNvSpPr>
            <a:spLocks noChangeShapeType="1"/>
          </p:cNvSpPr>
          <p:nvPr/>
        </p:nvSpPr>
        <p:spPr bwMode="auto">
          <a:xfrm flipV="1">
            <a:off x="4953000" y="3171542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82" name="Line 70"/>
          <p:cNvSpPr>
            <a:spLocks noChangeShapeType="1"/>
          </p:cNvSpPr>
          <p:nvPr/>
        </p:nvSpPr>
        <p:spPr bwMode="auto">
          <a:xfrm>
            <a:off x="5562600" y="1266542"/>
            <a:ext cx="0" cy="1371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84" name="Line 72"/>
          <p:cNvSpPr>
            <a:spLocks noChangeShapeType="1"/>
          </p:cNvSpPr>
          <p:nvPr/>
        </p:nvSpPr>
        <p:spPr bwMode="auto">
          <a:xfrm>
            <a:off x="4953000" y="2333342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85" name="Line 73"/>
          <p:cNvSpPr>
            <a:spLocks noChangeShapeType="1"/>
          </p:cNvSpPr>
          <p:nvPr/>
        </p:nvSpPr>
        <p:spPr bwMode="auto">
          <a:xfrm flipV="1">
            <a:off x="4953000" y="3171542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86" name="Line 74"/>
          <p:cNvSpPr>
            <a:spLocks noChangeShapeType="1"/>
          </p:cNvSpPr>
          <p:nvPr/>
        </p:nvSpPr>
        <p:spPr bwMode="auto">
          <a:xfrm flipV="1">
            <a:off x="5562600" y="3400142"/>
            <a:ext cx="0" cy="1295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87" name="Line 75"/>
          <p:cNvSpPr>
            <a:spLocks noChangeShapeType="1"/>
          </p:cNvSpPr>
          <p:nvPr/>
        </p:nvSpPr>
        <p:spPr bwMode="auto">
          <a:xfrm>
            <a:off x="3276600" y="1190342"/>
            <a:ext cx="685800" cy="0"/>
          </a:xfrm>
          <a:prstGeom prst="line">
            <a:avLst/>
          </a:prstGeom>
          <a:noFill/>
          <a:ln w="28575">
            <a:solidFill>
              <a:srgbClr val="99336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88" name="Line 76"/>
          <p:cNvSpPr>
            <a:spLocks noChangeShapeType="1"/>
          </p:cNvSpPr>
          <p:nvPr/>
        </p:nvSpPr>
        <p:spPr bwMode="auto">
          <a:xfrm>
            <a:off x="3429000" y="2333342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89" name="Line 77"/>
          <p:cNvSpPr>
            <a:spLocks noChangeShapeType="1"/>
          </p:cNvSpPr>
          <p:nvPr/>
        </p:nvSpPr>
        <p:spPr bwMode="auto">
          <a:xfrm>
            <a:off x="3657600" y="3933542"/>
            <a:ext cx="304800" cy="0"/>
          </a:xfrm>
          <a:prstGeom prst="line">
            <a:avLst/>
          </a:prstGeom>
          <a:noFill/>
          <a:ln w="28575">
            <a:solidFill>
              <a:srgbClr val="3333FF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94" name="Line 82"/>
          <p:cNvSpPr>
            <a:spLocks noChangeShapeType="1"/>
          </p:cNvSpPr>
          <p:nvPr/>
        </p:nvSpPr>
        <p:spPr bwMode="auto">
          <a:xfrm flipV="1">
            <a:off x="2971800" y="961742"/>
            <a:ext cx="0" cy="10668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96" name="Line 84"/>
          <p:cNvSpPr>
            <a:spLocks noChangeShapeType="1"/>
          </p:cNvSpPr>
          <p:nvPr/>
        </p:nvSpPr>
        <p:spPr bwMode="auto">
          <a:xfrm flipV="1">
            <a:off x="3276600" y="1190342"/>
            <a:ext cx="0" cy="1752600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97" name="Line 85"/>
          <p:cNvSpPr>
            <a:spLocks noChangeShapeType="1"/>
          </p:cNvSpPr>
          <p:nvPr/>
        </p:nvSpPr>
        <p:spPr bwMode="auto">
          <a:xfrm>
            <a:off x="3276600" y="2942943"/>
            <a:ext cx="0" cy="609600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04" name="Arc 92"/>
          <p:cNvSpPr/>
          <p:nvPr/>
        </p:nvSpPr>
        <p:spPr bwMode="auto">
          <a:xfrm rot="16200000" flipH="1">
            <a:off x="1701800" y="2917542"/>
            <a:ext cx="254000" cy="152400"/>
          </a:xfrm>
          <a:custGeom>
            <a:avLst/>
            <a:gdLst>
              <a:gd name="T0" fmla="*/ 0 w 40399"/>
              <a:gd name="T1" fmla="*/ 1712041478 h 21600"/>
              <a:gd name="T2" fmla="*/ 2147483647 w 40399"/>
              <a:gd name="T3" fmla="*/ 1729559512 h 21600"/>
              <a:gd name="T4" fmla="*/ 1246085201 w 40399"/>
              <a:gd name="T5" fmla="*/ 2147483647 h 21600"/>
              <a:gd name="T6" fmla="*/ 0 60000 65536"/>
              <a:gd name="T7" fmla="*/ 0 60000 65536"/>
              <a:gd name="T8" fmla="*/ 0 60000 65536"/>
              <a:gd name="T9" fmla="*/ 0 w 40399"/>
              <a:gd name="T10" fmla="*/ 0 h 21600"/>
              <a:gd name="T11" fmla="*/ 40399 w 40399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399" h="21600" fill="none" extrusionOk="0">
                <a:moveTo>
                  <a:pt x="0" y="13878"/>
                </a:moveTo>
                <a:cubicBezTo>
                  <a:pt x="3199" y="5519"/>
                  <a:pt x="11222" y="-1"/>
                  <a:pt x="20173" y="0"/>
                </a:cubicBezTo>
                <a:cubicBezTo>
                  <a:pt x="29178" y="0"/>
                  <a:pt x="37238" y="5587"/>
                  <a:pt x="40399" y="14019"/>
                </a:cubicBezTo>
              </a:path>
              <a:path w="40399" h="21600" stroke="0" extrusionOk="0">
                <a:moveTo>
                  <a:pt x="0" y="13878"/>
                </a:moveTo>
                <a:cubicBezTo>
                  <a:pt x="3199" y="5519"/>
                  <a:pt x="11222" y="-1"/>
                  <a:pt x="20173" y="0"/>
                </a:cubicBezTo>
                <a:cubicBezTo>
                  <a:pt x="29178" y="0"/>
                  <a:pt x="37238" y="5587"/>
                  <a:pt x="40399" y="14019"/>
                </a:cubicBezTo>
                <a:lnTo>
                  <a:pt x="20173" y="21600"/>
                </a:lnTo>
                <a:lnTo>
                  <a:pt x="0" y="13878"/>
                </a:lnTo>
                <a:close/>
              </a:path>
            </a:pathLst>
          </a:custGeom>
          <a:noFill/>
          <a:ln w="28575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05" name="Arc 93"/>
          <p:cNvSpPr/>
          <p:nvPr/>
        </p:nvSpPr>
        <p:spPr bwMode="auto">
          <a:xfrm rot="10800000" flipH="1">
            <a:off x="3184526" y="2985805"/>
            <a:ext cx="268288" cy="381000"/>
          </a:xfrm>
          <a:custGeom>
            <a:avLst/>
            <a:gdLst>
              <a:gd name="T0" fmla="*/ 0 w 32856"/>
              <a:gd name="T1" fmla="*/ 2147483647 h 21600"/>
              <a:gd name="T2" fmla="*/ 2147483647 w 32856"/>
              <a:gd name="T3" fmla="*/ 2147483647 h 21600"/>
              <a:gd name="T4" fmla="*/ 2147483647 w 32856"/>
              <a:gd name="T5" fmla="*/ 2147483647 h 21600"/>
              <a:gd name="T6" fmla="*/ 0 60000 65536"/>
              <a:gd name="T7" fmla="*/ 0 60000 65536"/>
              <a:gd name="T8" fmla="*/ 0 60000 65536"/>
              <a:gd name="T9" fmla="*/ 0 w 32856"/>
              <a:gd name="T10" fmla="*/ 0 h 21600"/>
              <a:gd name="T11" fmla="*/ 32856 w 32856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856" h="21600" fill="none" extrusionOk="0">
                <a:moveTo>
                  <a:pt x="0" y="6983"/>
                </a:moveTo>
                <a:cubicBezTo>
                  <a:pt x="4090" y="2532"/>
                  <a:pt x="9858" y="-1"/>
                  <a:pt x="15903" y="0"/>
                </a:cubicBezTo>
                <a:cubicBezTo>
                  <a:pt x="22513" y="0"/>
                  <a:pt x="28759" y="3026"/>
                  <a:pt x="32855" y="8215"/>
                </a:cubicBezTo>
              </a:path>
              <a:path w="32856" h="21600" stroke="0" extrusionOk="0">
                <a:moveTo>
                  <a:pt x="0" y="6983"/>
                </a:moveTo>
                <a:cubicBezTo>
                  <a:pt x="4090" y="2532"/>
                  <a:pt x="9858" y="-1"/>
                  <a:pt x="15903" y="0"/>
                </a:cubicBezTo>
                <a:cubicBezTo>
                  <a:pt x="22513" y="0"/>
                  <a:pt x="28759" y="3026"/>
                  <a:pt x="32855" y="8215"/>
                </a:cubicBezTo>
                <a:lnTo>
                  <a:pt x="15903" y="21600"/>
                </a:lnTo>
                <a:lnTo>
                  <a:pt x="0" y="6983"/>
                </a:lnTo>
                <a:close/>
              </a:path>
            </a:pathLst>
          </a:custGeom>
          <a:noFill/>
          <a:ln w="28575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06" name="Line 94"/>
          <p:cNvSpPr>
            <a:spLocks noChangeShapeType="1"/>
          </p:cNvSpPr>
          <p:nvPr/>
        </p:nvSpPr>
        <p:spPr bwMode="auto">
          <a:xfrm flipV="1">
            <a:off x="1828800" y="2104742"/>
            <a:ext cx="0" cy="7620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08" name="Arc 96"/>
          <p:cNvSpPr/>
          <p:nvPr/>
        </p:nvSpPr>
        <p:spPr bwMode="auto">
          <a:xfrm rot="16200000" flipH="1">
            <a:off x="1701800" y="1926942"/>
            <a:ext cx="254000" cy="152400"/>
          </a:xfrm>
          <a:custGeom>
            <a:avLst/>
            <a:gdLst>
              <a:gd name="T0" fmla="*/ 0 w 40399"/>
              <a:gd name="T1" fmla="*/ 1712041478 h 21600"/>
              <a:gd name="T2" fmla="*/ 2147483647 w 40399"/>
              <a:gd name="T3" fmla="*/ 1729559512 h 21600"/>
              <a:gd name="T4" fmla="*/ 1246085201 w 40399"/>
              <a:gd name="T5" fmla="*/ 2147483647 h 21600"/>
              <a:gd name="T6" fmla="*/ 0 60000 65536"/>
              <a:gd name="T7" fmla="*/ 0 60000 65536"/>
              <a:gd name="T8" fmla="*/ 0 60000 65536"/>
              <a:gd name="T9" fmla="*/ 0 w 40399"/>
              <a:gd name="T10" fmla="*/ 0 h 21600"/>
              <a:gd name="T11" fmla="*/ 40399 w 40399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399" h="21600" fill="none" extrusionOk="0">
                <a:moveTo>
                  <a:pt x="0" y="13878"/>
                </a:moveTo>
                <a:cubicBezTo>
                  <a:pt x="3199" y="5519"/>
                  <a:pt x="11222" y="-1"/>
                  <a:pt x="20173" y="0"/>
                </a:cubicBezTo>
                <a:cubicBezTo>
                  <a:pt x="29178" y="0"/>
                  <a:pt x="37238" y="5587"/>
                  <a:pt x="40399" y="14019"/>
                </a:cubicBezTo>
              </a:path>
              <a:path w="40399" h="21600" stroke="0" extrusionOk="0">
                <a:moveTo>
                  <a:pt x="0" y="13878"/>
                </a:moveTo>
                <a:cubicBezTo>
                  <a:pt x="3199" y="5519"/>
                  <a:pt x="11222" y="-1"/>
                  <a:pt x="20173" y="0"/>
                </a:cubicBezTo>
                <a:cubicBezTo>
                  <a:pt x="29178" y="0"/>
                  <a:pt x="37238" y="5587"/>
                  <a:pt x="40399" y="14019"/>
                </a:cubicBezTo>
                <a:lnTo>
                  <a:pt x="20173" y="21600"/>
                </a:lnTo>
                <a:lnTo>
                  <a:pt x="0" y="13878"/>
                </a:lnTo>
                <a:close/>
              </a:path>
            </a:pathLst>
          </a:custGeom>
          <a:noFill/>
          <a:ln w="28575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09" name="Line 97"/>
          <p:cNvSpPr>
            <a:spLocks noChangeShapeType="1"/>
          </p:cNvSpPr>
          <p:nvPr/>
        </p:nvSpPr>
        <p:spPr bwMode="auto">
          <a:xfrm flipV="1">
            <a:off x="1828800" y="1418942"/>
            <a:ext cx="0" cy="4572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10" name="Line 98"/>
          <p:cNvSpPr>
            <a:spLocks noChangeShapeType="1"/>
          </p:cNvSpPr>
          <p:nvPr/>
        </p:nvSpPr>
        <p:spPr bwMode="auto">
          <a:xfrm>
            <a:off x="1828800" y="3095342"/>
            <a:ext cx="0" cy="8382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16" name="Line 104"/>
          <p:cNvSpPr>
            <a:spLocks noChangeShapeType="1"/>
          </p:cNvSpPr>
          <p:nvPr/>
        </p:nvSpPr>
        <p:spPr bwMode="auto">
          <a:xfrm>
            <a:off x="1828800" y="3933542"/>
            <a:ext cx="0" cy="4572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17" name="Line 105"/>
          <p:cNvSpPr>
            <a:spLocks noChangeShapeType="1"/>
          </p:cNvSpPr>
          <p:nvPr/>
        </p:nvSpPr>
        <p:spPr bwMode="auto">
          <a:xfrm flipH="1">
            <a:off x="1828801" y="4390742"/>
            <a:ext cx="2057400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18" name="Arc 106"/>
          <p:cNvSpPr/>
          <p:nvPr/>
        </p:nvSpPr>
        <p:spPr bwMode="auto">
          <a:xfrm rot="16200000" flipH="1">
            <a:off x="1485901" y="3895442"/>
            <a:ext cx="228600" cy="152400"/>
          </a:xfrm>
          <a:custGeom>
            <a:avLst/>
            <a:gdLst>
              <a:gd name="T0" fmla="*/ 0 w 40399"/>
              <a:gd name="T1" fmla="*/ 1712041478 h 21600"/>
              <a:gd name="T2" fmla="*/ 1326185573 w 40399"/>
              <a:gd name="T3" fmla="*/ 1729559512 h 21600"/>
              <a:gd name="T4" fmla="*/ 662222393 w 40399"/>
              <a:gd name="T5" fmla="*/ 2147483647 h 21600"/>
              <a:gd name="T6" fmla="*/ 0 60000 65536"/>
              <a:gd name="T7" fmla="*/ 0 60000 65536"/>
              <a:gd name="T8" fmla="*/ 0 60000 65536"/>
              <a:gd name="T9" fmla="*/ 0 w 40399"/>
              <a:gd name="T10" fmla="*/ 0 h 21600"/>
              <a:gd name="T11" fmla="*/ 40399 w 40399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399" h="21600" fill="none" extrusionOk="0">
                <a:moveTo>
                  <a:pt x="0" y="13878"/>
                </a:moveTo>
                <a:cubicBezTo>
                  <a:pt x="3199" y="5519"/>
                  <a:pt x="11222" y="-1"/>
                  <a:pt x="20173" y="0"/>
                </a:cubicBezTo>
                <a:cubicBezTo>
                  <a:pt x="29178" y="0"/>
                  <a:pt x="37238" y="5587"/>
                  <a:pt x="40399" y="14019"/>
                </a:cubicBezTo>
              </a:path>
              <a:path w="40399" h="21600" stroke="0" extrusionOk="0">
                <a:moveTo>
                  <a:pt x="0" y="13878"/>
                </a:moveTo>
                <a:cubicBezTo>
                  <a:pt x="3199" y="5519"/>
                  <a:pt x="11222" y="-1"/>
                  <a:pt x="20173" y="0"/>
                </a:cubicBezTo>
                <a:cubicBezTo>
                  <a:pt x="29178" y="0"/>
                  <a:pt x="37238" y="5587"/>
                  <a:pt x="40399" y="14019"/>
                </a:cubicBezTo>
                <a:lnTo>
                  <a:pt x="20173" y="21600"/>
                </a:lnTo>
                <a:lnTo>
                  <a:pt x="0" y="13878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19" name="Line 107"/>
          <p:cNvSpPr>
            <a:spLocks noChangeShapeType="1"/>
          </p:cNvSpPr>
          <p:nvPr/>
        </p:nvSpPr>
        <p:spPr bwMode="auto">
          <a:xfrm>
            <a:off x="1600200" y="2942942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20" name="Line 108"/>
          <p:cNvSpPr>
            <a:spLocks noChangeShapeType="1"/>
          </p:cNvSpPr>
          <p:nvPr/>
        </p:nvSpPr>
        <p:spPr bwMode="auto">
          <a:xfrm>
            <a:off x="1600200" y="4085943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21" name="Line 109"/>
          <p:cNvSpPr>
            <a:spLocks noChangeShapeType="1"/>
          </p:cNvSpPr>
          <p:nvPr/>
        </p:nvSpPr>
        <p:spPr bwMode="auto">
          <a:xfrm flipH="1">
            <a:off x="1600200" y="4695542"/>
            <a:ext cx="228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23" name="Arc 111"/>
          <p:cNvSpPr/>
          <p:nvPr/>
        </p:nvSpPr>
        <p:spPr bwMode="auto">
          <a:xfrm rot="16200000" flipH="1">
            <a:off x="1168401" y="3831942"/>
            <a:ext cx="254000" cy="152400"/>
          </a:xfrm>
          <a:custGeom>
            <a:avLst/>
            <a:gdLst>
              <a:gd name="T0" fmla="*/ 0 w 40399"/>
              <a:gd name="T1" fmla="*/ 1712041478 h 21600"/>
              <a:gd name="T2" fmla="*/ 2147483647 w 40399"/>
              <a:gd name="T3" fmla="*/ 1729559512 h 21600"/>
              <a:gd name="T4" fmla="*/ 1246085201 w 40399"/>
              <a:gd name="T5" fmla="*/ 2147483647 h 21600"/>
              <a:gd name="T6" fmla="*/ 0 60000 65536"/>
              <a:gd name="T7" fmla="*/ 0 60000 65536"/>
              <a:gd name="T8" fmla="*/ 0 60000 65536"/>
              <a:gd name="T9" fmla="*/ 0 w 40399"/>
              <a:gd name="T10" fmla="*/ 0 h 21600"/>
              <a:gd name="T11" fmla="*/ 40399 w 40399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399" h="21600" fill="none" extrusionOk="0">
                <a:moveTo>
                  <a:pt x="0" y="13878"/>
                </a:moveTo>
                <a:cubicBezTo>
                  <a:pt x="3199" y="5519"/>
                  <a:pt x="11222" y="-1"/>
                  <a:pt x="20173" y="0"/>
                </a:cubicBezTo>
                <a:cubicBezTo>
                  <a:pt x="29178" y="0"/>
                  <a:pt x="37238" y="5587"/>
                  <a:pt x="40399" y="14019"/>
                </a:cubicBezTo>
              </a:path>
              <a:path w="40399" h="21600" stroke="0" extrusionOk="0">
                <a:moveTo>
                  <a:pt x="0" y="13878"/>
                </a:moveTo>
                <a:cubicBezTo>
                  <a:pt x="3199" y="5519"/>
                  <a:pt x="11222" y="-1"/>
                  <a:pt x="20173" y="0"/>
                </a:cubicBezTo>
                <a:cubicBezTo>
                  <a:pt x="29178" y="0"/>
                  <a:pt x="37238" y="5587"/>
                  <a:pt x="40399" y="14019"/>
                </a:cubicBezTo>
                <a:lnTo>
                  <a:pt x="20173" y="21600"/>
                </a:lnTo>
                <a:lnTo>
                  <a:pt x="0" y="13878"/>
                </a:lnTo>
                <a:close/>
              </a:path>
            </a:pathLst>
          </a:custGeom>
          <a:noFill/>
          <a:ln w="28575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24" name="Line 112"/>
          <p:cNvSpPr>
            <a:spLocks noChangeShapeType="1"/>
          </p:cNvSpPr>
          <p:nvPr/>
        </p:nvSpPr>
        <p:spPr bwMode="auto">
          <a:xfrm>
            <a:off x="1295400" y="2028542"/>
            <a:ext cx="0" cy="8382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25" name="Line 113"/>
          <p:cNvSpPr>
            <a:spLocks noChangeShapeType="1"/>
          </p:cNvSpPr>
          <p:nvPr/>
        </p:nvSpPr>
        <p:spPr bwMode="auto">
          <a:xfrm>
            <a:off x="1295400" y="3247743"/>
            <a:ext cx="0" cy="6096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26" name="Line 114"/>
          <p:cNvSpPr>
            <a:spLocks noChangeShapeType="1"/>
          </p:cNvSpPr>
          <p:nvPr/>
        </p:nvSpPr>
        <p:spPr bwMode="auto">
          <a:xfrm>
            <a:off x="1295400" y="4009742"/>
            <a:ext cx="0" cy="9906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27" name="Line 115"/>
          <p:cNvSpPr>
            <a:spLocks noChangeShapeType="1"/>
          </p:cNvSpPr>
          <p:nvPr/>
        </p:nvSpPr>
        <p:spPr bwMode="auto">
          <a:xfrm flipH="1">
            <a:off x="1295400" y="5000342"/>
            <a:ext cx="25908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" name="Group 170"/>
          <p:cNvGrpSpPr/>
          <p:nvPr/>
        </p:nvGrpSpPr>
        <p:grpSpPr bwMode="auto">
          <a:xfrm>
            <a:off x="3581400" y="3095342"/>
            <a:ext cx="152400" cy="838200"/>
            <a:chOff x="2256" y="1728"/>
            <a:chExt cx="96" cy="528"/>
          </a:xfrm>
        </p:grpSpPr>
        <p:sp>
          <p:nvSpPr>
            <p:cNvPr id="113759" name="Arc 121"/>
            <p:cNvSpPr/>
            <p:nvPr/>
          </p:nvSpPr>
          <p:spPr bwMode="auto">
            <a:xfrm rot="16200000" flipH="1">
              <a:off x="2224" y="1760"/>
              <a:ext cx="160" cy="96"/>
            </a:xfrm>
            <a:custGeom>
              <a:avLst/>
              <a:gdLst>
                <a:gd name="T0" fmla="*/ 0 w 40399"/>
                <a:gd name="T1" fmla="*/ 0 h 21600"/>
                <a:gd name="T2" fmla="*/ 0 w 40399"/>
                <a:gd name="T3" fmla="*/ 0 h 21600"/>
                <a:gd name="T4" fmla="*/ 0 w 40399"/>
                <a:gd name="T5" fmla="*/ 0 h 21600"/>
                <a:gd name="T6" fmla="*/ 0 60000 65536"/>
                <a:gd name="T7" fmla="*/ 0 60000 65536"/>
                <a:gd name="T8" fmla="*/ 0 60000 65536"/>
                <a:gd name="T9" fmla="*/ 0 w 40399"/>
                <a:gd name="T10" fmla="*/ 0 h 21600"/>
                <a:gd name="T11" fmla="*/ 40399 w 4039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399" h="21600" fill="none" extrusionOk="0">
                  <a:moveTo>
                    <a:pt x="0" y="13878"/>
                  </a:moveTo>
                  <a:cubicBezTo>
                    <a:pt x="3199" y="5519"/>
                    <a:pt x="11222" y="-1"/>
                    <a:pt x="20173" y="0"/>
                  </a:cubicBezTo>
                  <a:cubicBezTo>
                    <a:pt x="29178" y="0"/>
                    <a:pt x="37238" y="5587"/>
                    <a:pt x="40399" y="14019"/>
                  </a:cubicBezTo>
                </a:path>
                <a:path w="40399" h="21600" stroke="0" extrusionOk="0">
                  <a:moveTo>
                    <a:pt x="0" y="13878"/>
                  </a:moveTo>
                  <a:cubicBezTo>
                    <a:pt x="3199" y="5519"/>
                    <a:pt x="11222" y="-1"/>
                    <a:pt x="20173" y="0"/>
                  </a:cubicBezTo>
                  <a:cubicBezTo>
                    <a:pt x="29178" y="0"/>
                    <a:pt x="37238" y="5587"/>
                    <a:pt x="40399" y="14019"/>
                  </a:cubicBezTo>
                  <a:lnTo>
                    <a:pt x="20173" y="21600"/>
                  </a:lnTo>
                  <a:lnTo>
                    <a:pt x="0" y="13878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760" name="Arc 122"/>
            <p:cNvSpPr/>
            <p:nvPr/>
          </p:nvSpPr>
          <p:spPr bwMode="auto">
            <a:xfrm rot="16200000" flipH="1">
              <a:off x="2232" y="1992"/>
              <a:ext cx="144" cy="96"/>
            </a:xfrm>
            <a:custGeom>
              <a:avLst/>
              <a:gdLst>
                <a:gd name="T0" fmla="*/ 0 w 40399"/>
                <a:gd name="T1" fmla="*/ 0 h 21600"/>
                <a:gd name="T2" fmla="*/ 0 w 40399"/>
                <a:gd name="T3" fmla="*/ 0 h 21600"/>
                <a:gd name="T4" fmla="*/ 0 w 40399"/>
                <a:gd name="T5" fmla="*/ 0 h 21600"/>
                <a:gd name="T6" fmla="*/ 0 60000 65536"/>
                <a:gd name="T7" fmla="*/ 0 60000 65536"/>
                <a:gd name="T8" fmla="*/ 0 60000 65536"/>
                <a:gd name="T9" fmla="*/ 0 w 40399"/>
                <a:gd name="T10" fmla="*/ 0 h 21600"/>
                <a:gd name="T11" fmla="*/ 40399 w 4039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399" h="21600" fill="none" extrusionOk="0">
                  <a:moveTo>
                    <a:pt x="0" y="13878"/>
                  </a:moveTo>
                  <a:cubicBezTo>
                    <a:pt x="3199" y="5519"/>
                    <a:pt x="11222" y="-1"/>
                    <a:pt x="20173" y="0"/>
                  </a:cubicBezTo>
                  <a:cubicBezTo>
                    <a:pt x="29178" y="0"/>
                    <a:pt x="37238" y="5587"/>
                    <a:pt x="40399" y="14019"/>
                  </a:cubicBezTo>
                </a:path>
                <a:path w="40399" h="21600" stroke="0" extrusionOk="0">
                  <a:moveTo>
                    <a:pt x="0" y="13878"/>
                  </a:moveTo>
                  <a:cubicBezTo>
                    <a:pt x="3199" y="5519"/>
                    <a:pt x="11222" y="-1"/>
                    <a:pt x="20173" y="0"/>
                  </a:cubicBezTo>
                  <a:cubicBezTo>
                    <a:pt x="29178" y="0"/>
                    <a:pt x="37238" y="5587"/>
                    <a:pt x="40399" y="14019"/>
                  </a:cubicBezTo>
                  <a:lnTo>
                    <a:pt x="20173" y="21600"/>
                  </a:lnTo>
                  <a:lnTo>
                    <a:pt x="0" y="13878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761" name="Line 124"/>
            <p:cNvSpPr>
              <a:spLocks noChangeShapeType="1"/>
            </p:cNvSpPr>
            <p:nvPr/>
          </p:nvSpPr>
          <p:spPr bwMode="auto">
            <a:xfrm flipV="1">
              <a:off x="2304" y="2112"/>
              <a:ext cx="0" cy="14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762" name="Line 125"/>
            <p:cNvSpPr>
              <a:spLocks noChangeShapeType="1"/>
            </p:cNvSpPr>
            <p:nvPr/>
          </p:nvSpPr>
          <p:spPr bwMode="auto">
            <a:xfrm flipV="1">
              <a:off x="2304" y="1872"/>
              <a:ext cx="0" cy="9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15838" name="Line 126"/>
          <p:cNvSpPr>
            <a:spLocks noChangeShapeType="1"/>
          </p:cNvSpPr>
          <p:nvPr/>
        </p:nvSpPr>
        <p:spPr bwMode="auto">
          <a:xfrm flipV="1">
            <a:off x="3657600" y="2561942"/>
            <a:ext cx="0" cy="5334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" name="Group 158"/>
          <p:cNvGrpSpPr/>
          <p:nvPr/>
        </p:nvGrpSpPr>
        <p:grpSpPr bwMode="auto">
          <a:xfrm>
            <a:off x="2819400" y="1342743"/>
            <a:ext cx="635000" cy="152400"/>
            <a:chOff x="1776" y="624"/>
            <a:chExt cx="400" cy="96"/>
          </a:xfrm>
        </p:grpSpPr>
        <p:sp>
          <p:nvSpPr>
            <p:cNvPr id="113756" name="Arc 123"/>
            <p:cNvSpPr/>
            <p:nvPr/>
          </p:nvSpPr>
          <p:spPr bwMode="auto">
            <a:xfrm rot="10800000" flipH="1">
              <a:off x="2016" y="624"/>
              <a:ext cx="160" cy="96"/>
            </a:xfrm>
            <a:custGeom>
              <a:avLst/>
              <a:gdLst>
                <a:gd name="T0" fmla="*/ 0 w 40399"/>
                <a:gd name="T1" fmla="*/ 0 h 21600"/>
                <a:gd name="T2" fmla="*/ 0 w 40399"/>
                <a:gd name="T3" fmla="*/ 0 h 21600"/>
                <a:gd name="T4" fmla="*/ 0 w 40399"/>
                <a:gd name="T5" fmla="*/ 0 h 21600"/>
                <a:gd name="T6" fmla="*/ 0 60000 65536"/>
                <a:gd name="T7" fmla="*/ 0 60000 65536"/>
                <a:gd name="T8" fmla="*/ 0 60000 65536"/>
                <a:gd name="T9" fmla="*/ 0 w 40399"/>
                <a:gd name="T10" fmla="*/ 0 h 21600"/>
                <a:gd name="T11" fmla="*/ 40399 w 4039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399" h="21600" fill="none" extrusionOk="0">
                  <a:moveTo>
                    <a:pt x="0" y="13878"/>
                  </a:moveTo>
                  <a:cubicBezTo>
                    <a:pt x="3199" y="5519"/>
                    <a:pt x="11222" y="-1"/>
                    <a:pt x="20173" y="0"/>
                  </a:cubicBezTo>
                  <a:cubicBezTo>
                    <a:pt x="29178" y="0"/>
                    <a:pt x="37238" y="5587"/>
                    <a:pt x="40399" y="14019"/>
                  </a:cubicBezTo>
                </a:path>
                <a:path w="40399" h="21600" stroke="0" extrusionOk="0">
                  <a:moveTo>
                    <a:pt x="0" y="13878"/>
                  </a:moveTo>
                  <a:cubicBezTo>
                    <a:pt x="3199" y="5519"/>
                    <a:pt x="11222" y="-1"/>
                    <a:pt x="20173" y="0"/>
                  </a:cubicBezTo>
                  <a:cubicBezTo>
                    <a:pt x="29178" y="0"/>
                    <a:pt x="37238" y="5587"/>
                    <a:pt x="40399" y="14019"/>
                  </a:cubicBezTo>
                  <a:lnTo>
                    <a:pt x="20173" y="21600"/>
                  </a:lnTo>
                  <a:lnTo>
                    <a:pt x="0" y="13878"/>
                  </a:lnTo>
                  <a:close/>
                </a:path>
              </a:pathLst>
            </a:custGeom>
            <a:noFill/>
            <a:ln w="28575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757" name="Arc 128"/>
            <p:cNvSpPr/>
            <p:nvPr/>
          </p:nvSpPr>
          <p:spPr bwMode="auto">
            <a:xfrm rot="10800000" flipH="1">
              <a:off x="1776" y="624"/>
              <a:ext cx="160" cy="96"/>
            </a:xfrm>
            <a:custGeom>
              <a:avLst/>
              <a:gdLst>
                <a:gd name="T0" fmla="*/ 0 w 40399"/>
                <a:gd name="T1" fmla="*/ 0 h 21600"/>
                <a:gd name="T2" fmla="*/ 0 w 40399"/>
                <a:gd name="T3" fmla="*/ 0 h 21600"/>
                <a:gd name="T4" fmla="*/ 0 w 40399"/>
                <a:gd name="T5" fmla="*/ 0 h 21600"/>
                <a:gd name="T6" fmla="*/ 0 60000 65536"/>
                <a:gd name="T7" fmla="*/ 0 60000 65536"/>
                <a:gd name="T8" fmla="*/ 0 60000 65536"/>
                <a:gd name="T9" fmla="*/ 0 w 40399"/>
                <a:gd name="T10" fmla="*/ 0 h 21600"/>
                <a:gd name="T11" fmla="*/ 40399 w 4039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399" h="21600" fill="none" extrusionOk="0">
                  <a:moveTo>
                    <a:pt x="0" y="13878"/>
                  </a:moveTo>
                  <a:cubicBezTo>
                    <a:pt x="3199" y="5519"/>
                    <a:pt x="11222" y="-1"/>
                    <a:pt x="20173" y="0"/>
                  </a:cubicBezTo>
                  <a:cubicBezTo>
                    <a:pt x="29178" y="0"/>
                    <a:pt x="37238" y="5587"/>
                    <a:pt x="40399" y="14019"/>
                  </a:cubicBezTo>
                </a:path>
                <a:path w="40399" h="21600" stroke="0" extrusionOk="0">
                  <a:moveTo>
                    <a:pt x="0" y="13878"/>
                  </a:moveTo>
                  <a:cubicBezTo>
                    <a:pt x="3199" y="5519"/>
                    <a:pt x="11222" y="-1"/>
                    <a:pt x="20173" y="0"/>
                  </a:cubicBezTo>
                  <a:cubicBezTo>
                    <a:pt x="29178" y="0"/>
                    <a:pt x="37238" y="5587"/>
                    <a:pt x="40399" y="14019"/>
                  </a:cubicBezTo>
                  <a:lnTo>
                    <a:pt x="20173" y="21600"/>
                  </a:lnTo>
                  <a:lnTo>
                    <a:pt x="0" y="13878"/>
                  </a:lnTo>
                  <a:close/>
                </a:path>
              </a:pathLst>
            </a:custGeom>
            <a:noFill/>
            <a:ln w="28575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758" name="Line 129"/>
            <p:cNvSpPr>
              <a:spLocks noChangeShapeType="1"/>
            </p:cNvSpPr>
            <p:nvPr/>
          </p:nvSpPr>
          <p:spPr bwMode="auto">
            <a:xfrm flipV="1">
              <a:off x="1920" y="672"/>
              <a:ext cx="96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15842" name="Line 130"/>
          <p:cNvSpPr>
            <a:spLocks noChangeShapeType="1"/>
          </p:cNvSpPr>
          <p:nvPr/>
        </p:nvSpPr>
        <p:spPr bwMode="auto">
          <a:xfrm>
            <a:off x="1828800" y="1418942"/>
            <a:ext cx="990600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43" name="Line 131"/>
          <p:cNvSpPr>
            <a:spLocks noChangeShapeType="1"/>
          </p:cNvSpPr>
          <p:nvPr/>
        </p:nvSpPr>
        <p:spPr bwMode="auto">
          <a:xfrm flipV="1">
            <a:off x="1600200" y="2333343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45" name="Arc 133"/>
          <p:cNvSpPr/>
          <p:nvPr/>
        </p:nvSpPr>
        <p:spPr bwMode="auto">
          <a:xfrm rot="10800000" flipH="1">
            <a:off x="3200400" y="2257142"/>
            <a:ext cx="254000" cy="152400"/>
          </a:xfrm>
          <a:custGeom>
            <a:avLst/>
            <a:gdLst>
              <a:gd name="T0" fmla="*/ 0 w 40399"/>
              <a:gd name="T1" fmla="*/ 1712041478 h 21600"/>
              <a:gd name="T2" fmla="*/ 2147483647 w 40399"/>
              <a:gd name="T3" fmla="*/ 1729559512 h 21600"/>
              <a:gd name="T4" fmla="*/ 1246085201 w 40399"/>
              <a:gd name="T5" fmla="*/ 2147483647 h 21600"/>
              <a:gd name="T6" fmla="*/ 0 60000 65536"/>
              <a:gd name="T7" fmla="*/ 0 60000 65536"/>
              <a:gd name="T8" fmla="*/ 0 60000 65536"/>
              <a:gd name="T9" fmla="*/ 0 w 40399"/>
              <a:gd name="T10" fmla="*/ 0 h 21600"/>
              <a:gd name="T11" fmla="*/ 40399 w 40399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399" h="21600" fill="none" extrusionOk="0">
                <a:moveTo>
                  <a:pt x="0" y="13878"/>
                </a:moveTo>
                <a:cubicBezTo>
                  <a:pt x="3199" y="5519"/>
                  <a:pt x="11222" y="-1"/>
                  <a:pt x="20173" y="0"/>
                </a:cubicBezTo>
                <a:cubicBezTo>
                  <a:pt x="29178" y="0"/>
                  <a:pt x="37238" y="5587"/>
                  <a:pt x="40399" y="14019"/>
                </a:cubicBezTo>
              </a:path>
              <a:path w="40399" h="21600" stroke="0" extrusionOk="0">
                <a:moveTo>
                  <a:pt x="0" y="13878"/>
                </a:moveTo>
                <a:cubicBezTo>
                  <a:pt x="3199" y="5519"/>
                  <a:pt x="11222" y="-1"/>
                  <a:pt x="20173" y="0"/>
                </a:cubicBezTo>
                <a:cubicBezTo>
                  <a:pt x="29178" y="0"/>
                  <a:pt x="37238" y="5587"/>
                  <a:pt x="40399" y="14019"/>
                </a:cubicBezTo>
                <a:lnTo>
                  <a:pt x="20173" y="21600"/>
                </a:lnTo>
                <a:lnTo>
                  <a:pt x="0" y="13878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48" name="Line 136"/>
          <p:cNvSpPr>
            <a:spLocks noChangeShapeType="1"/>
          </p:cNvSpPr>
          <p:nvPr/>
        </p:nvSpPr>
        <p:spPr bwMode="auto">
          <a:xfrm flipH="1">
            <a:off x="1905000" y="2333342"/>
            <a:ext cx="1295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Group 164"/>
          <p:cNvGrpSpPr/>
          <p:nvPr/>
        </p:nvGrpSpPr>
        <p:grpSpPr bwMode="auto">
          <a:xfrm>
            <a:off x="1600200" y="2257142"/>
            <a:ext cx="330200" cy="152400"/>
            <a:chOff x="1008" y="1200"/>
            <a:chExt cx="208" cy="96"/>
          </a:xfrm>
        </p:grpSpPr>
        <p:sp>
          <p:nvSpPr>
            <p:cNvPr id="113754" name="Arc 132"/>
            <p:cNvSpPr/>
            <p:nvPr/>
          </p:nvSpPr>
          <p:spPr bwMode="auto">
            <a:xfrm rot="10800000" flipH="1">
              <a:off x="1056" y="1200"/>
              <a:ext cx="160" cy="96"/>
            </a:xfrm>
            <a:custGeom>
              <a:avLst/>
              <a:gdLst>
                <a:gd name="T0" fmla="*/ 0 w 40399"/>
                <a:gd name="T1" fmla="*/ 0 h 21600"/>
                <a:gd name="T2" fmla="*/ 0 w 40399"/>
                <a:gd name="T3" fmla="*/ 0 h 21600"/>
                <a:gd name="T4" fmla="*/ 0 w 40399"/>
                <a:gd name="T5" fmla="*/ 0 h 21600"/>
                <a:gd name="T6" fmla="*/ 0 60000 65536"/>
                <a:gd name="T7" fmla="*/ 0 60000 65536"/>
                <a:gd name="T8" fmla="*/ 0 60000 65536"/>
                <a:gd name="T9" fmla="*/ 0 w 40399"/>
                <a:gd name="T10" fmla="*/ 0 h 21600"/>
                <a:gd name="T11" fmla="*/ 40399 w 4039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399" h="21600" fill="none" extrusionOk="0">
                  <a:moveTo>
                    <a:pt x="0" y="13878"/>
                  </a:moveTo>
                  <a:cubicBezTo>
                    <a:pt x="3199" y="5519"/>
                    <a:pt x="11222" y="-1"/>
                    <a:pt x="20173" y="0"/>
                  </a:cubicBezTo>
                  <a:cubicBezTo>
                    <a:pt x="29178" y="0"/>
                    <a:pt x="37238" y="5587"/>
                    <a:pt x="40399" y="14019"/>
                  </a:cubicBezTo>
                </a:path>
                <a:path w="40399" h="21600" stroke="0" extrusionOk="0">
                  <a:moveTo>
                    <a:pt x="0" y="13878"/>
                  </a:moveTo>
                  <a:cubicBezTo>
                    <a:pt x="3199" y="5519"/>
                    <a:pt x="11222" y="-1"/>
                    <a:pt x="20173" y="0"/>
                  </a:cubicBezTo>
                  <a:cubicBezTo>
                    <a:pt x="29178" y="0"/>
                    <a:pt x="37238" y="5587"/>
                    <a:pt x="40399" y="14019"/>
                  </a:cubicBezTo>
                  <a:lnTo>
                    <a:pt x="20173" y="21600"/>
                  </a:lnTo>
                  <a:lnTo>
                    <a:pt x="0" y="13878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755" name="Line 137"/>
            <p:cNvSpPr>
              <a:spLocks noChangeShapeType="1"/>
            </p:cNvSpPr>
            <p:nvPr/>
          </p:nvSpPr>
          <p:spPr bwMode="auto">
            <a:xfrm flipH="1">
              <a:off x="1008" y="1248"/>
              <a:ext cx="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15852" name="Arc 140"/>
          <p:cNvSpPr/>
          <p:nvPr/>
        </p:nvSpPr>
        <p:spPr bwMode="auto">
          <a:xfrm rot="10800000" flipH="1">
            <a:off x="1430338" y="3247742"/>
            <a:ext cx="550862" cy="228600"/>
          </a:xfrm>
          <a:custGeom>
            <a:avLst/>
            <a:gdLst>
              <a:gd name="T0" fmla="*/ 490194816 w 43200"/>
              <a:gd name="T1" fmla="*/ 2147483647 h 25153"/>
              <a:gd name="T2" fmla="*/ 2147483647 w 43200"/>
              <a:gd name="T3" fmla="*/ 2147483647 h 25153"/>
              <a:gd name="T4" fmla="*/ 2147483647 w 43200"/>
              <a:gd name="T5" fmla="*/ 2147483647 h 25153"/>
              <a:gd name="T6" fmla="*/ 0 60000 65536"/>
              <a:gd name="T7" fmla="*/ 0 60000 65536"/>
              <a:gd name="T8" fmla="*/ 0 60000 65536"/>
              <a:gd name="T9" fmla="*/ 0 w 43200"/>
              <a:gd name="T10" fmla="*/ 0 h 25153"/>
              <a:gd name="T11" fmla="*/ 43200 w 43200"/>
              <a:gd name="T12" fmla="*/ 25153 h 2515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5153" fill="none" extrusionOk="0">
                <a:moveTo>
                  <a:pt x="114" y="23818"/>
                </a:moveTo>
                <a:cubicBezTo>
                  <a:pt x="38" y="23081"/>
                  <a:pt x="0" y="2234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2790"/>
                  <a:pt x="43101" y="23978"/>
                  <a:pt x="42905" y="25152"/>
                </a:cubicBezTo>
              </a:path>
              <a:path w="43200" h="25153" stroke="0" extrusionOk="0">
                <a:moveTo>
                  <a:pt x="114" y="23818"/>
                </a:moveTo>
                <a:cubicBezTo>
                  <a:pt x="38" y="23081"/>
                  <a:pt x="0" y="2234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2790"/>
                  <a:pt x="43101" y="23978"/>
                  <a:pt x="42905" y="25152"/>
                </a:cubicBezTo>
                <a:lnTo>
                  <a:pt x="21600" y="21600"/>
                </a:lnTo>
                <a:lnTo>
                  <a:pt x="114" y="23818"/>
                </a:lnTo>
                <a:close/>
              </a:path>
            </a:pathLst>
          </a:custGeom>
          <a:noFill/>
          <a:ln w="28575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853" name="Line 141"/>
          <p:cNvSpPr>
            <a:spLocks noChangeShapeType="1"/>
          </p:cNvSpPr>
          <p:nvPr/>
        </p:nvSpPr>
        <p:spPr bwMode="auto">
          <a:xfrm>
            <a:off x="1981200" y="3247742"/>
            <a:ext cx="1219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" name="Group 151"/>
          <p:cNvGrpSpPr/>
          <p:nvPr/>
        </p:nvGrpSpPr>
        <p:grpSpPr bwMode="auto">
          <a:xfrm>
            <a:off x="1981200" y="2790542"/>
            <a:ext cx="304800" cy="304800"/>
            <a:chOff x="864" y="576"/>
            <a:chExt cx="192" cy="192"/>
          </a:xfrm>
        </p:grpSpPr>
        <p:sp>
          <p:nvSpPr>
            <p:cNvPr id="113752" name="AutoShape 152"/>
            <p:cNvSpPr>
              <a:spLocks noChangeArrowheads="1"/>
            </p:cNvSpPr>
            <p:nvPr/>
          </p:nvSpPr>
          <p:spPr bwMode="auto">
            <a:xfrm rot="-5400000">
              <a:off x="840" y="600"/>
              <a:ext cx="192" cy="144"/>
            </a:xfrm>
            <a:prstGeom prst="flowChartMerge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753" name="Oval 153"/>
            <p:cNvSpPr>
              <a:spLocks noChangeArrowheads="1"/>
            </p:cNvSpPr>
            <p:nvPr/>
          </p:nvSpPr>
          <p:spPr bwMode="auto">
            <a:xfrm>
              <a:off x="1008" y="672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Group 154"/>
          <p:cNvGrpSpPr/>
          <p:nvPr/>
        </p:nvGrpSpPr>
        <p:grpSpPr bwMode="auto">
          <a:xfrm>
            <a:off x="1905000" y="3781143"/>
            <a:ext cx="304800" cy="304800"/>
            <a:chOff x="864" y="576"/>
            <a:chExt cx="192" cy="192"/>
          </a:xfrm>
        </p:grpSpPr>
        <p:sp>
          <p:nvSpPr>
            <p:cNvPr id="113750" name="AutoShape 155"/>
            <p:cNvSpPr>
              <a:spLocks noChangeArrowheads="1"/>
            </p:cNvSpPr>
            <p:nvPr/>
          </p:nvSpPr>
          <p:spPr bwMode="auto">
            <a:xfrm rot="-5400000">
              <a:off x="840" y="600"/>
              <a:ext cx="192" cy="144"/>
            </a:xfrm>
            <a:prstGeom prst="flowChartMerge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751" name="Oval 156"/>
            <p:cNvSpPr>
              <a:spLocks noChangeArrowheads="1"/>
            </p:cNvSpPr>
            <p:nvPr/>
          </p:nvSpPr>
          <p:spPr bwMode="auto">
            <a:xfrm>
              <a:off x="1008" y="672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15872" name="Text Box 160"/>
          <p:cNvSpPr txBox="1">
            <a:spLocks noChangeArrowheads="1"/>
          </p:cNvSpPr>
          <p:nvPr/>
        </p:nvSpPr>
        <p:spPr bwMode="auto">
          <a:xfrm>
            <a:off x="4495800" y="733142"/>
            <a:ext cx="2133600" cy="461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a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b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∧c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endParaRPr kumimoji="1" lang="en-US" altLang="zh-CN" sz="2400" b="1" i="0" u="none" strike="noStrike" kern="1200" cap="none" spc="0" normalizeH="0" baseline="-2500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Kingsoft Phonetic Plain" pitchFamily="2" charset="2"/>
            </a:endParaRPr>
          </a:p>
        </p:txBody>
      </p:sp>
      <p:sp>
        <p:nvSpPr>
          <p:cNvPr id="115874" name="Text Box 162"/>
          <p:cNvSpPr txBox="1">
            <a:spLocks noChangeArrowheads="1"/>
          </p:cNvSpPr>
          <p:nvPr/>
        </p:nvSpPr>
        <p:spPr bwMode="auto">
          <a:xfrm>
            <a:off x="4495800" y="1876143"/>
            <a:ext cx="2133600" cy="461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a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∧b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c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endParaRPr kumimoji="1" lang="en-US" altLang="zh-CN" sz="2400" b="1" i="0" u="none" strike="noStrike" kern="1200" cap="none" spc="0" normalizeH="0" baseline="-2500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Kingsoft Phonetic Plain" pitchFamily="2" charset="2"/>
            </a:endParaRPr>
          </a:p>
        </p:txBody>
      </p:sp>
      <p:grpSp>
        <p:nvGrpSpPr>
          <p:cNvPr id="8" name="Group 166"/>
          <p:cNvGrpSpPr/>
          <p:nvPr/>
        </p:nvGrpSpPr>
        <p:grpSpPr bwMode="auto">
          <a:xfrm>
            <a:off x="1219200" y="2866742"/>
            <a:ext cx="228600" cy="381000"/>
            <a:chOff x="768" y="1584"/>
            <a:chExt cx="144" cy="240"/>
          </a:xfrm>
        </p:grpSpPr>
        <p:sp>
          <p:nvSpPr>
            <p:cNvPr id="113747" name="Arc 110"/>
            <p:cNvSpPr/>
            <p:nvPr/>
          </p:nvSpPr>
          <p:spPr bwMode="auto">
            <a:xfrm rot="16200000" flipH="1">
              <a:off x="736" y="1616"/>
              <a:ext cx="160" cy="96"/>
            </a:xfrm>
            <a:custGeom>
              <a:avLst/>
              <a:gdLst>
                <a:gd name="T0" fmla="*/ 0 w 40399"/>
                <a:gd name="T1" fmla="*/ 0 h 21600"/>
                <a:gd name="T2" fmla="*/ 0 w 40399"/>
                <a:gd name="T3" fmla="*/ 0 h 21600"/>
                <a:gd name="T4" fmla="*/ 0 w 40399"/>
                <a:gd name="T5" fmla="*/ 0 h 21600"/>
                <a:gd name="T6" fmla="*/ 0 60000 65536"/>
                <a:gd name="T7" fmla="*/ 0 60000 65536"/>
                <a:gd name="T8" fmla="*/ 0 60000 65536"/>
                <a:gd name="T9" fmla="*/ 0 w 40399"/>
                <a:gd name="T10" fmla="*/ 0 h 21600"/>
                <a:gd name="T11" fmla="*/ 40399 w 4039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399" h="21600" fill="none" extrusionOk="0">
                  <a:moveTo>
                    <a:pt x="0" y="13878"/>
                  </a:moveTo>
                  <a:cubicBezTo>
                    <a:pt x="3199" y="5519"/>
                    <a:pt x="11222" y="-1"/>
                    <a:pt x="20173" y="0"/>
                  </a:cubicBezTo>
                  <a:cubicBezTo>
                    <a:pt x="29178" y="0"/>
                    <a:pt x="37238" y="5587"/>
                    <a:pt x="40399" y="14019"/>
                  </a:cubicBezTo>
                </a:path>
                <a:path w="40399" h="21600" stroke="0" extrusionOk="0">
                  <a:moveTo>
                    <a:pt x="0" y="13878"/>
                  </a:moveTo>
                  <a:cubicBezTo>
                    <a:pt x="3199" y="5519"/>
                    <a:pt x="11222" y="-1"/>
                    <a:pt x="20173" y="0"/>
                  </a:cubicBezTo>
                  <a:cubicBezTo>
                    <a:pt x="29178" y="0"/>
                    <a:pt x="37238" y="5587"/>
                    <a:pt x="40399" y="14019"/>
                  </a:cubicBezTo>
                  <a:lnTo>
                    <a:pt x="20173" y="21600"/>
                  </a:lnTo>
                  <a:lnTo>
                    <a:pt x="0" y="13878"/>
                  </a:lnTo>
                  <a:close/>
                </a:path>
              </a:pathLst>
            </a:custGeom>
            <a:noFill/>
            <a:ln w="2857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748" name="Line 139"/>
            <p:cNvSpPr>
              <a:spLocks noChangeShapeType="1"/>
            </p:cNvSpPr>
            <p:nvPr/>
          </p:nvSpPr>
          <p:spPr bwMode="auto">
            <a:xfrm>
              <a:off x="816" y="1824"/>
              <a:ext cx="96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749" name="Line 165"/>
            <p:cNvSpPr>
              <a:spLocks noChangeShapeType="1"/>
            </p:cNvSpPr>
            <p:nvPr/>
          </p:nvSpPr>
          <p:spPr bwMode="auto">
            <a:xfrm>
              <a:off x="816" y="1728"/>
              <a:ext cx="0" cy="96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15879" name="Text Box 167"/>
          <p:cNvSpPr txBox="1">
            <a:spLocks noChangeArrowheads="1"/>
          </p:cNvSpPr>
          <p:nvPr/>
        </p:nvSpPr>
        <p:spPr bwMode="auto">
          <a:xfrm>
            <a:off x="4648200" y="3552543"/>
            <a:ext cx="2286000" cy="461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a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 ∧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b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c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endParaRPr kumimoji="1" lang="en-US" altLang="zh-CN" sz="2400" b="1" i="0" u="none" strike="noStrike" kern="1200" cap="none" spc="0" normalizeH="0" baseline="-2500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Kingsoft Phonetic Plain" pitchFamily="2" charset="2"/>
            </a:endParaRPr>
          </a:p>
        </p:txBody>
      </p:sp>
      <p:sp>
        <p:nvSpPr>
          <p:cNvPr id="115880" name="Text Box 168"/>
          <p:cNvSpPr txBox="1">
            <a:spLocks noChangeArrowheads="1"/>
          </p:cNvSpPr>
          <p:nvPr/>
        </p:nvSpPr>
        <p:spPr bwMode="auto">
          <a:xfrm>
            <a:off x="4495800" y="4695543"/>
            <a:ext cx="1752600" cy="461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a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∧b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∧c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endParaRPr kumimoji="1" lang="en-US" altLang="zh-CN" sz="2400" b="1" i="0" u="none" strike="noStrike" kern="1200" cap="none" spc="0" normalizeH="0" baseline="-2500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Kingsoft Phonetic Plain" pitchFamily="2" charset="2"/>
            </a:endParaRPr>
          </a:p>
        </p:txBody>
      </p:sp>
      <p:sp>
        <p:nvSpPr>
          <p:cNvPr id="115883" name="Text Box 171"/>
          <p:cNvSpPr txBox="1">
            <a:spLocks noChangeArrowheads="1"/>
          </p:cNvSpPr>
          <p:nvPr/>
        </p:nvSpPr>
        <p:spPr bwMode="auto">
          <a:xfrm>
            <a:off x="1257300" y="6211407"/>
            <a:ext cx="4953000" cy="461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c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(a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,b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,c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i-2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)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的线路图与之类似。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Kingsoft Phonetic Plain" pitchFamily="2" charset="2"/>
            </a:endParaRP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5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5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57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57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5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5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57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57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5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5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57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57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5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5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57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57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15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15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157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157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157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157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157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157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15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115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15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15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157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157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115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158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15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158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158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158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1158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1158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1158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115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115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1158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1158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115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115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1157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1157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11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115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115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1158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1158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115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115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1157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1157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115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115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1158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500" fill="hold"/>
                                        <p:tgtEl>
                                          <p:spTgt spid="1158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115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1157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1157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1157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115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115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1157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1157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9" dur="500"/>
                                        <p:tgtEl>
                                          <p:spTgt spid="115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2" dur="500" fill="hold"/>
                                        <p:tgtEl>
                                          <p:spTgt spid="1158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500" fill="hold"/>
                                        <p:tgtEl>
                                          <p:spTgt spid="1158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00" fill="hold"/>
                                        <p:tgtEl>
                                          <p:spTgt spid="1158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500" fill="hold"/>
                                        <p:tgtEl>
                                          <p:spTgt spid="1158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4" dur="500" fill="hold"/>
                                        <p:tgtEl>
                                          <p:spTgt spid="115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5" dur="500" fill="hold"/>
                                        <p:tgtEl>
                                          <p:spTgt spid="115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6" dur="500" fill="hold"/>
                                        <p:tgtEl>
                                          <p:spTgt spid="1157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500" fill="hold"/>
                                        <p:tgtEl>
                                          <p:spTgt spid="1157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2" dur="500" fill="hold"/>
                                        <p:tgtEl>
                                          <p:spTgt spid="115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3" dur="500" fill="hold"/>
                                        <p:tgtEl>
                                          <p:spTgt spid="115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500" fill="hold"/>
                                        <p:tgtEl>
                                          <p:spTgt spid="1157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00" fill="hold"/>
                                        <p:tgtEl>
                                          <p:spTgt spid="1157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0" dur="500" fill="hold"/>
                                        <p:tgtEl>
                                          <p:spTgt spid="115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1" dur="500" fill="hold"/>
                                        <p:tgtEl>
                                          <p:spTgt spid="115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500" fill="hold"/>
                                        <p:tgtEl>
                                          <p:spTgt spid="1157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3" dur="500" fill="hold"/>
                                        <p:tgtEl>
                                          <p:spTgt spid="1157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8" dur="500"/>
                                        <p:tgtEl>
                                          <p:spTgt spid="115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3" dur="500" fill="hold"/>
                                        <p:tgtEl>
                                          <p:spTgt spid="115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4" dur="500" fill="hold"/>
                                        <p:tgtEl>
                                          <p:spTgt spid="115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5" dur="500" fill="hold"/>
                                        <p:tgtEl>
                                          <p:spTgt spid="1157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00" fill="hold"/>
                                        <p:tgtEl>
                                          <p:spTgt spid="1157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9" dur="500" fill="hold"/>
                                        <p:tgtEl>
                                          <p:spTgt spid="1158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500" fill="hold"/>
                                        <p:tgtEl>
                                          <p:spTgt spid="1158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1" dur="500" fill="hold"/>
                                        <p:tgtEl>
                                          <p:spTgt spid="1158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2" dur="500" fill="hold"/>
                                        <p:tgtEl>
                                          <p:spTgt spid="1158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1" dur="500" fill="hold"/>
                                        <p:tgtEl>
                                          <p:spTgt spid="1158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500" fill="hold"/>
                                        <p:tgtEl>
                                          <p:spTgt spid="1158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3" dur="500" fill="hold"/>
                                        <p:tgtEl>
                                          <p:spTgt spid="1158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500" fill="hold"/>
                                        <p:tgtEl>
                                          <p:spTgt spid="1158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9" dur="500" fill="hold"/>
                                        <p:tgtEl>
                                          <p:spTgt spid="115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0" dur="500" fill="hold"/>
                                        <p:tgtEl>
                                          <p:spTgt spid="115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500" fill="hold"/>
                                        <p:tgtEl>
                                          <p:spTgt spid="1158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2" dur="500" fill="hold"/>
                                        <p:tgtEl>
                                          <p:spTgt spid="1158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indefinite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7" dur="500" fill="hold"/>
                                        <p:tgtEl>
                                          <p:spTgt spid="115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500" fill="hold"/>
                                        <p:tgtEl>
                                          <p:spTgt spid="115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9" dur="500" fill="hold"/>
                                        <p:tgtEl>
                                          <p:spTgt spid="1158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0" dur="500" fill="hold"/>
                                        <p:tgtEl>
                                          <p:spTgt spid="1158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9" dur="500" fill="hold"/>
                                        <p:tgtEl>
                                          <p:spTgt spid="115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0" dur="500" fill="hold"/>
                                        <p:tgtEl>
                                          <p:spTgt spid="115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1" dur="500" fill="hold"/>
                                        <p:tgtEl>
                                          <p:spTgt spid="1158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00" fill="hold"/>
                                        <p:tgtEl>
                                          <p:spTgt spid="1158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7" dur="500" fill="hold"/>
                                        <p:tgtEl>
                                          <p:spTgt spid="115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8" dur="500" fill="hold"/>
                                        <p:tgtEl>
                                          <p:spTgt spid="115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500" fill="hold"/>
                                        <p:tgtEl>
                                          <p:spTgt spid="1158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0" dur="500" fill="hold"/>
                                        <p:tgtEl>
                                          <p:spTgt spid="1158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5" dur="500"/>
                                        <p:tgtEl>
                                          <p:spTgt spid="115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6" fill="hold">
                      <p:stCondLst>
                        <p:cond delay="indefinite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id="38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0" dur="500" fill="hold"/>
                                        <p:tgtEl>
                                          <p:spTgt spid="1158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1" dur="500" fill="hold"/>
                                        <p:tgtEl>
                                          <p:spTgt spid="1158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2" dur="500" fill="hold"/>
                                        <p:tgtEl>
                                          <p:spTgt spid="1158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500" fill="hold"/>
                                        <p:tgtEl>
                                          <p:spTgt spid="1158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>
                      <p:stCondLst>
                        <p:cond delay="indefinite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8" dur="500" fill="hold"/>
                                        <p:tgtEl>
                                          <p:spTgt spid="115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9" dur="500" fill="hold"/>
                                        <p:tgtEl>
                                          <p:spTgt spid="115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00" fill="hold"/>
                                        <p:tgtEl>
                                          <p:spTgt spid="1157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1" dur="500" fill="hold"/>
                                        <p:tgtEl>
                                          <p:spTgt spid="1157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2" fill="hold">
                      <p:stCondLst>
                        <p:cond delay="indefinite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id="4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" fill="hold">
                      <p:stCondLst>
                        <p:cond delay="indefinite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0" fill="hold">
                      <p:stCondLst>
                        <p:cond delay="indefinite"/>
                      </p:stCondLst>
                      <p:childTnLst>
                        <p:par>
                          <p:cTn id="411" fill="hold">
                            <p:stCondLst>
                              <p:cond delay="0"/>
                            </p:stCondLst>
                            <p:childTnLst>
                              <p:par>
                                <p:cTn id="41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4" dur="500" fill="hold"/>
                                        <p:tgtEl>
                                          <p:spTgt spid="115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5" dur="500" fill="hold"/>
                                        <p:tgtEl>
                                          <p:spTgt spid="115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6" dur="500" fill="hold"/>
                                        <p:tgtEl>
                                          <p:spTgt spid="1157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500" fill="hold"/>
                                        <p:tgtEl>
                                          <p:spTgt spid="1157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8" fill="hold">
                      <p:stCondLst>
                        <p:cond delay="indefinite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2" dur="500" fill="hold"/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3" dur="500" fill="hold"/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500" fill="hold"/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5" dur="500" fill="hold"/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6" fill="hold">
                      <p:stCondLst>
                        <p:cond delay="indefinite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0" dur="500" fill="hold"/>
                                        <p:tgtEl>
                                          <p:spTgt spid="1157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500" fill="hold"/>
                                        <p:tgtEl>
                                          <p:spTgt spid="1157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2" dur="500" fill="hold"/>
                                        <p:tgtEl>
                                          <p:spTgt spid="1157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3" dur="500" fill="hold"/>
                                        <p:tgtEl>
                                          <p:spTgt spid="1157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4" fill="hold">
                      <p:stCondLst>
                        <p:cond delay="indefinite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id="43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8" dur="500" fill="hold"/>
                                        <p:tgtEl>
                                          <p:spTgt spid="115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9" dur="500" fill="hold"/>
                                        <p:tgtEl>
                                          <p:spTgt spid="115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0" dur="500" fill="hold"/>
                                        <p:tgtEl>
                                          <p:spTgt spid="1157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1" dur="500" fill="hold"/>
                                        <p:tgtEl>
                                          <p:spTgt spid="1157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2" fill="hold">
                      <p:stCondLst>
                        <p:cond delay="indefinite"/>
                      </p:stCondLst>
                      <p:childTnLst>
                        <p:par>
                          <p:cTn id="443" fill="hold">
                            <p:stCondLst>
                              <p:cond delay="0"/>
                            </p:stCondLst>
                            <p:childTnLst>
                              <p:par>
                                <p:cTn id="444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6" dur="500" fill="hold"/>
                                        <p:tgtEl>
                                          <p:spTgt spid="1157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7" dur="500" fill="hold"/>
                                        <p:tgtEl>
                                          <p:spTgt spid="1157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8" dur="500" fill="hold"/>
                                        <p:tgtEl>
                                          <p:spTgt spid="1157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9" dur="500" fill="hold"/>
                                        <p:tgtEl>
                                          <p:spTgt spid="1157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0" fill="hold">
                      <p:stCondLst>
                        <p:cond delay="indefinite"/>
                      </p:stCondLst>
                      <p:childTnLst>
                        <p:par>
                          <p:cTn id="451" fill="hold">
                            <p:stCondLst>
                              <p:cond delay="0"/>
                            </p:stCondLst>
                            <p:childTnLst>
                              <p:par>
                                <p:cTn id="45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4" dur="500" fill="hold"/>
                                        <p:tgtEl>
                                          <p:spTgt spid="115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5" dur="500" fill="hold"/>
                                        <p:tgtEl>
                                          <p:spTgt spid="115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6" dur="500" fill="hold"/>
                                        <p:tgtEl>
                                          <p:spTgt spid="1157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7" dur="500" fill="hold"/>
                                        <p:tgtEl>
                                          <p:spTgt spid="1157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8" fill="hold">
                      <p:stCondLst>
                        <p:cond delay="indefinite"/>
                      </p:stCondLst>
                      <p:childTnLst>
                        <p:par>
                          <p:cTn id="459" fill="hold">
                            <p:stCondLst>
                              <p:cond delay="0"/>
                            </p:stCondLst>
                            <p:childTnLst>
                              <p:par>
                                <p:cTn id="460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2" dur="500" fill="hold"/>
                                        <p:tgtEl>
                                          <p:spTgt spid="1157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500" fill="hold"/>
                                        <p:tgtEl>
                                          <p:spTgt spid="115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4" dur="500" fill="hold"/>
                                        <p:tgtEl>
                                          <p:spTgt spid="1157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5" dur="500" fill="hold"/>
                                        <p:tgtEl>
                                          <p:spTgt spid="1157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6" fill="hold">
                      <p:stCondLst>
                        <p:cond delay="indefinite"/>
                      </p:stCondLst>
                      <p:childTnLst>
                        <p:par>
                          <p:cTn id="467" fill="hold">
                            <p:stCondLst>
                              <p:cond delay="0"/>
                            </p:stCondLst>
                            <p:childTnLst>
                              <p:par>
                                <p:cTn id="46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0" dur="500" fill="hold"/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1" dur="500" fill="hold"/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2" dur="500" fill="hold"/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500" fill="hold"/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4" fill="hold">
                      <p:stCondLst>
                        <p:cond delay="indefinite"/>
                      </p:stCondLst>
                      <p:childTnLst>
                        <p:par>
                          <p:cTn id="475" fill="hold">
                            <p:stCondLst>
                              <p:cond delay="0"/>
                            </p:stCondLst>
                            <p:childTnLst>
                              <p:par>
                                <p:cTn id="47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8" dur="500" fill="hold"/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9" dur="500" fill="hold"/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0" dur="500" fill="hold"/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1" dur="500" fill="hold"/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2" fill="hold">
                      <p:stCondLst>
                        <p:cond delay="indefinite"/>
                      </p:stCondLst>
                      <p:childTnLst>
                        <p:par>
                          <p:cTn id="483" fill="hold">
                            <p:stCondLst>
                              <p:cond delay="0"/>
                            </p:stCondLst>
                            <p:childTnLst>
                              <p:par>
                                <p:cTn id="4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6" fill="hold">
                      <p:stCondLst>
                        <p:cond delay="indefinite"/>
                      </p:stCondLst>
                      <p:childTnLst>
                        <p:par>
                          <p:cTn id="487" fill="hold">
                            <p:stCondLst>
                              <p:cond delay="0"/>
                            </p:stCondLst>
                            <p:childTnLst>
                              <p:par>
                                <p:cTn id="4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0" dur="500"/>
                                        <p:tgtEl>
                                          <p:spTgt spid="115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91" grpId="0" autoUpdateAnimBg="0"/>
      <p:bldP spid="115717" grpId="0" bldLvl="0" animBg="1"/>
      <p:bldP spid="115718" grpId="0" bldLvl="0" animBg="1"/>
      <p:bldP spid="115719" grpId="0" bldLvl="0" animBg="1"/>
      <p:bldP spid="115720" grpId="0" bldLvl="0" animBg="1"/>
      <p:bldP spid="115721" grpId="0" bldLvl="0" animBg="1"/>
      <p:bldP spid="115722" grpId="0" bldLvl="0" animBg="1"/>
      <p:bldP spid="115723" grpId="0" bldLvl="0" animBg="1"/>
      <p:bldP spid="115724" grpId="0" bldLvl="0" animBg="1"/>
      <p:bldP spid="115726" grpId="0" bldLvl="0" animBg="1"/>
      <p:bldP spid="115727" grpId="0" bldLvl="0" animBg="1"/>
      <p:bldP spid="115732" grpId="0" autoUpdateAnimBg="0"/>
      <p:bldP spid="115737" grpId="0" autoUpdateAnimBg="0"/>
      <p:bldP spid="115747" grpId="0" bldLvl="0" animBg="1"/>
      <p:bldP spid="115748" grpId="0" bldLvl="0" animBg="1"/>
      <p:bldP spid="115750" grpId="0" autoUpdateAnimBg="0"/>
      <p:bldP spid="115751" grpId="0" autoUpdateAnimBg="0"/>
      <p:bldP spid="115757" grpId="0" bldLvl="0" animBg="1"/>
      <p:bldP spid="115758" grpId="0" bldLvl="0" animBg="1"/>
      <p:bldP spid="115760" grpId="0" autoUpdateAnimBg="0"/>
      <p:bldP spid="115761" grpId="0" autoUpdateAnimBg="0"/>
      <p:bldP spid="115764" grpId="0" bldLvl="0" animBg="1"/>
      <p:bldP spid="115765" grpId="0" bldLvl="0" animBg="1"/>
      <p:bldP spid="115766" grpId="0" bldLvl="0" animBg="1"/>
      <p:bldP spid="115767" grpId="0" bldLvl="0" animBg="1"/>
      <p:bldP spid="115769" grpId="0" bldLvl="0" animBg="1"/>
      <p:bldP spid="115770" grpId="0" bldLvl="0" animBg="1"/>
      <p:bldP spid="115771" grpId="0" bldLvl="0" animBg="1"/>
      <p:bldP spid="115772" grpId="0" bldLvl="0" animBg="1"/>
      <p:bldP spid="115774" grpId="0" bldLvl="0" animBg="1"/>
      <p:bldP spid="115775" grpId="0" bldLvl="0" animBg="1"/>
      <p:bldP spid="115779" grpId="0" bldLvl="0" animBg="1"/>
      <p:bldP spid="115780" grpId="0" bldLvl="0" animBg="1"/>
      <p:bldP spid="115782" grpId="0" bldLvl="0" animBg="1"/>
      <p:bldP spid="115784" grpId="0" bldLvl="0" animBg="1"/>
      <p:bldP spid="115785" grpId="0" bldLvl="0" animBg="1"/>
      <p:bldP spid="115786" grpId="0" bldLvl="0" animBg="1"/>
      <p:bldP spid="115787" grpId="0" bldLvl="0" animBg="1"/>
      <p:bldP spid="115788" grpId="0" bldLvl="0" animBg="1"/>
      <p:bldP spid="115789" grpId="0" bldLvl="0" animBg="1"/>
      <p:bldP spid="115794" grpId="0" bldLvl="0" animBg="1"/>
      <p:bldP spid="115796" grpId="0" bldLvl="0" animBg="1"/>
      <p:bldP spid="115797" grpId="0" bldLvl="0" animBg="1"/>
      <p:bldP spid="115804" grpId="0" bldLvl="0" animBg="1"/>
      <p:bldP spid="115805" grpId="0" bldLvl="0" animBg="1"/>
      <p:bldP spid="115806" grpId="0" bldLvl="0" animBg="1"/>
      <p:bldP spid="115808" grpId="0" bldLvl="0" animBg="1"/>
      <p:bldP spid="115809" grpId="0" bldLvl="0" animBg="1"/>
      <p:bldP spid="115810" grpId="0" bldLvl="0" animBg="1"/>
      <p:bldP spid="115816" grpId="0" bldLvl="0" animBg="1"/>
      <p:bldP spid="115817" grpId="0" bldLvl="0" animBg="1"/>
      <p:bldP spid="115818" grpId="0" bldLvl="0" animBg="1"/>
      <p:bldP spid="115819" grpId="0" bldLvl="0" animBg="1"/>
      <p:bldP spid="115820" grpId="0" bldLvl="0" animBg="1"/>
      <p:bldP spid="115821" grpId="0" bldLvl="0" animBg="1"/>
      <p:bldP spid="115823" grpId="0" bldLvl="0" animBg="1"/>
      <p:bldP spid="115824" grpId="0" bldLvl="0" animBg="1"/>
      <p:bldP spid="115825" grpId="0" bldLvl="0" animBg="1"/>
      <p:bldP spid="115826" grpId="0" bldLvl="0" animBg="1"/>
      <p:bldP spid="115827" grpId="0" bldLvl="0" animBg="1"/>
      <p:bldP spid="115838" grpId="0" bldLvl="0" animBg="1"/>
      <p:bldP spid="115842" grpId="0" bldLvl="0" animBg="1"/>
      <p:bldP spid="115843" grpId="0" bldLvl="0" animBg="1"/>
      <p:bldP spid="115845" grpId="0" bldLvl="0" animBg="1"/>
      <p:bldP spid="115848" grpId="0" bldLvl="0" animBg="1"/>
      <p:bldP spid="115852" grpId="0" bldLvl="0" animBg="1"/>
      <p:bldP spid="115853" grpId="0" bldLvl="0" animBg="1"/>
      <p:bldP spid="115872" grpId="0" autoUpdateAnimBg="0"/>
      <p:bldP spid="115874" grpId="0" autoUpdateAnimBg="0"/>
      <p:bldP spid="115879" grpId="0" autoUpdateAnimBg="0"/>
      <p:bldP spid="115880" grpId="0" autoUpdateAnimBg="0"/>
      <p:bldP spid="115883" grpId="0" autoUpdateAnimBg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4690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FF"/>
            </a:solidFill>
            <a:miter lim="800000"/>
          </a:ln>
        </p:spPr>
        <p:txBody>
          <a:bodyPr/>
          <a:lstStyle/>
          <a:p>
            <a:pPr eaLnBrk="1" hangingPunct="1"/>
            <a:r>
              <a:rPr lang="en-US" altLang="zh-CN" sz="2400"/>
              <a:t>a</a:t>
            </a:r>
            <a:r>
              <a:rPr lang="zh-CN" altLang="en-US" sz="2400"/>
              <a:t>与</a:t>
            </a:r>
            <a:r>
              <a:rPr lang="en-US" altLang="zh-CN" sz="2400"/>
              <a:t>b</a:t>
            </a:r>
            <a:r>
              <a:rPr lang="zh-CN" altLang="en-US" sz="2400"/>
              <a:t>的和</a:t>
            </a:r>
            <a:r>
              <a:rPr lang="en-US" altLang="zh-CN" sz="2400"/>
              <a:t>s</a:t>
            </a:r>
            <a:r>
              <a:rPr lang="zh-CN" altLang="en-US" sz="2400"/>
              <a:t>的图：由</a:t>
            </a:r>
            <a:r>
              <a:rPr lang="en-US" altLang="zh-CN" sz="2400"/>
              <a:t>n</a:t>
            </a:r>
            <a:r>
              <a:rPr lang="zh-CN" altLang="en-US" sz="2400"/>
              <a:t>个</a:t>
            </a:r>
            <a:r>
              <a:rPr lang="en-US" altLang="zh-CN" sz="2400"/>
              <a:t>s</a:t>
            </a:r>
            <a:r>
              <a:rPr lang="en-US" altLang="zh-CN" sz="2400" baseline="-25000"/>
              <a:t>i</a:t>
            </a:r>
            <a:r>
              <a:rPr lang="zh-CN" altLang="en-US" sz="2400"/>
              <a:t>的图与</a:t>
            </a:r>
            <a:r>
              <a:rPr lang="en-US" altLang="zh-CN" sz="2400"/>
              <a:t>n</a:t>
            </a:r>
            <a:r>
              <a:rPr lang="zh-CN" altLang="en-US" sz="2400"/>
              <a:t>个</a:t>
            </a:r>
            <a:r>
              <a:rPr lang="en-US" altLang="zh-CN" sz="2400"/>
              <a:t>c</a:t>
            </a:r>
            <a:r>
              <a:rPr lang="en-US" altLang="zh-CN" sz="2400" baseline="-25000"/>
              <a:t>i</a:t>
            </a:r>
            <a:r>
              <a:rPr lang="zh-CN" altLang="en-US" sz="2400"/>
              <a:t>的图合并而成。</a:t>
            </a:r>
            <a:endParaRPr lang="zh-CN" altLang="en-US" sz="2400"/>
          </a:p>
        </p:txBody>
      </p:sp>
      <p:grpSp>
        <p:nvGrpSpPr>
          <p:cNvPr id="2" name="Group 101"/>
          <p:cNvGrpSpPr/>
          <p:nvPr/>
        </p:nvGrpSpPr>
        <p:grpSpPr bwMode="auto">
          <a:xfrm>
            <a:off x="7010401" y="2819400"/>
            <a:ext cx="533400" cy="990600"/>
            <a:chOff x="4416" y="1776"/>
            <a:chExt cx="336" cy="624"/>
          </a:xfrm>
        </p:grpSpPr>
        <p:sp>
          <p:nvSpPr>
            <p:cNvPr id="114776" name="Rectangle 23"/>
            <p:cNvSpPr>
              <a:spLocks noChangeArrowheads="1"/>
            </p:cNvSpPr>
            <p:nvPr/>
          </p:nvSpPr>
          <p:spPr bwMode="auto">
            <a:xfrm>
              <a:off x="4416" y="1776"/>
              <a:ext cx="192" cy="624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77" name="Text Box 25"/>
            <p:cNvSpPr txBox="1">
              <a:spLocks noChangeArrowheads="1"/>
            </p:cNvSpPr>
            <p:nvPr/>
          </p:nvSpPr>
          <p:spPr bwMode="auto">
            <a:xfrm>
              <a:off x="4416" y="1920"/>
              <a:ext cx="3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" name="Group 102"/>
          <p:cNvGrpSpPr/>
          <p:nvPr/>
        </p:nvGrpSpPr>
        <p:grpSpPr bwMode="auto">
          <a:xfrm>
            <a:off x="6629401" y="2819400"/>
            <a:ext cx="533400" cy="990600"/>
            <a:chOff x="4176" y="1776"/>
            <a:chExt cx="336" cy="624"/>
          </a:xfrm>
        </p:grpSpPr>
        <p:sp>
          <p:nvSpPr>
            <p:cNvPr id="114774" name="Rectangle 22"/>
            <p:cNvSpPr>
              <a:spLocks noChangeArrowheads="1"/>
            </p:cNvSpPr>
            <p:nvPr/>
          </p:nvSpPr>
          <p:spPr bwMode="auto">
            <a:xfrm>
              <a:off x="4176" y="1776"/>
              <a:ext cx="240" cy="624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rgbClr val="3333FF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75" name="Text Box 26"/>
            <p:cNvSpPr txBox="1">
              <a:spLocks noChangeArrowheads="1"/>
            </p:cNvSpPr>
            <p:nvPr/>
          </p:nvSpPr>
          <p:spPr bwMode="auto">
            <a:xfrm>
              <a:off x="4176" y="1920"/>
              <a:ext cx="3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" name="Group 103"/>
          <p:cNvGrpSpPr/>
          <p:nvPr/>
        </p:nvGrpSpPr>
        <p:grpSpPr bwMode="auto">
          <a:xfrm>
            <a:off x="6096000" y="2819400"/>
            <a:ext cx="533400" cy="990600"/>
            <a:chOff x="3840" y="1776"/>
            <a:chExt cx="336" cy="624"/>
          </a:xfrm>
        </p:grpSpPr>
        <p:sp>
          <p:nvSpPr>
            <p:cNvPr id="114772" name="Rectangle 35"/>
            <p:cNvSpPr>
              <a:spLocks noChangeArrowheads="1"/>
            </p:cNvSpPr>
            <p:nvPr/>
          </p:nvSpPr>
          <p:spPr bwMode="auto">
            <a:xfrm>
              <a:off x="3840" y="1776"/>
              <a:ext cx="192" cy="624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73" name="Text Box 36"/>
            <p:cNvSpPr txBox="1">
              <a:spLocks noChangeArrowheads="1"/>
            </p:cNvSpPr>
            <p:nvPr/>
          </p:nvSpPr>
          <p:spPr bwMode="auto">
            <a:xfrm>
              <a:off x="3840" y="1920"/>
              <a:ext cx="3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" name="Group 104"/>
          <p:cNvGrpSpPr/>
          <p:nvPr/>
        </p:nvGrpSpPr>
        <p:grpSpPr bwMode="auto">
          <a:xfrm>
            <a:off x="5715000" y="2819400"/>
            <a:ext cx="533400" cy="990600"/>
            <a:chOff x="3600" y="1776"/>
            <a:chExt cx="336" cy="624"/>
          </a:xfrm>
        </p:grpSpPr>
        <p:sp>
          <p:nvSpPr>
            <p:cNvPr id="114770" name="Rectangle 34"/>
            <p:cNvSpPr>
              <a:spLocks noChangeArrowheads="1"/>
            </p:cNvSpPr>
            <p:nvPr/>
          </p:nvSpPr>
          <p:spPr bwMode="auto">
            <a:xfrm>
              <a:off x="3600" y="1776"/>
              <a:ext cx="240" cy="624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rgbClr val="3333FF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71" name="Text Box 37"/>
            <p:cNvSpPr txBox="1">
              <a:spLocks noChangeArrowheads="1"/>
            </p:cNvSpPr>
            <p:nvPr/>
          </p:nvSpPr>
          <p:spPr bwMode="auto">
            <a:xfrm>
              <a:off x="3600" y="1920"/>
              <a:ext cx="3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21223" name="Line 39"/>
          <p:cNvSpPr>
            <a:spLocks noChangeShapeType="1"/>
          </p:cNvSpPr>
          <p:nvPr/>
        </p:nvSpPr>
        <p:spPr bwMode="auto">
          <a:xfrm flipV="1">
            <a:off x="6248400" y="38100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1224" name="Line 40"/>
          <p:cNvSpPr>
            <a:spLocks noChangeShapeType="1"/>
          </p:cNvSpPr>
          <p:nvPr/>
        </p:nvSpPr>
        <p:spPr bwMode="auto">
          <a:xfrm flipV="1">
            <a:off x="5943600" y="38100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1226" name="Line 42"/>
          <p:cNvSpPr>
            <a:spLocks noChangeShapeType="1"/>
          </p:cNvSpPr>
          <p:nvPr/>
        </p:nvSpPr>
        <p:spPr bwMode="auto">
          <a:xfrm flipH="1">
            <a:off x="6400800" y="3276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" name="Group 105"/>
          <p:cNvGrpSpPr/>
          <p:nvPr/>
        </p:nvGrpSpPr>
        <p:grpSpPr bwMode="auto">
          <a:xfrm>
            <a:off x="5943600" y="2514600"/>
            <a:ext cx="762000" cy="304800"/>
            <a:chOff x="3744" y="1584"/>
            <a:chExt cx="480" cy="192"/>
          </a:xfrm>
        </p:grpSpPr>
        <p:sp>
          <p:nvSpPr>
            <p:cNvPr id="114767" name="Line 44"/>
            <p:cNvSpPr>
              <a:spLocks noChangeShapeType="1"/>
            </p:cNvSpPr>
            <p:nvPr/>
          </p:nvSpPr>
          <p:spPr bwMode="auto">
            <a:xfrm flipV="1">
              <a:off x="4224" y="158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68" name="Line 45"/>
            <p:cNvSpPr>
              <a:spLocks noChangeShapeType="1"/>
            </p:cNvSpPr>
            <p:nvPr/>
          </p:nvSpPr>
          <p:spPr bwMode="auto">
            <a:xfrm flipH="1">
              <a:off x="3744" y="1584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69" name="Line 46"/>
            <p:cNvSpPr>
              <a:spLocks noChangeShapeType="1"/>
            </p:cNvSpPr>
            <p:nvPr/>
          </p:nvSpPr>
          <p:spPr bwMode="auto">
            <a:xfrm>
              <a:off x="3744" y="158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Group 108"/>
          <p:cNvGrpSpPr/>
          <p:nvPr/>
        </p:nvGrpSpPr>
        <p:grpSpPr bwMode="auto">
          <a:xfrm>
            <a:off x="3048000" y="2819400"/>
            <a:ext cx="609600" cy="990600"/>
            <a:chOff x="1920" y="1776"/>
            <a:chExt cx="384" cy="624"/>
          </a:xfrm>
        </p:grpSpPr>
        <p:sp>
          <p:nvSpPr>
            <p:cNvPr id="114765" name="Rectangle 51"/>
            <p:cNvSpPr>
              <a:spLocks noChangeArrowheads="1"/>
            </p:cNvSpPr>
            <p:nvPr/>
          </p:nvSpPr>
          <p:spPr bwMode="auto">
            <a:xfrm>
              <a:off x="1968" y="1776"/>
              <a:ext cx="192" cy="624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66" name="Text Box 52"/>
            <p:cNvSpPr txBox="1">
              <a:spLocks noChangeArrowheads="1"/>
            </p:cNvSpPr>
            <p:nvPr/>
          </p:nvSpPr>
          <p:spPr bwMode="auto">
            <a:xfrm>
              <a:off x="1920" y="1920"/>
              <a:ext cx="38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n-1</a:t>
              </a:r>
              <a:endPara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8" name="Group 110"/>
          <p:cNvGrpSpPr/>
          <p:nvPr/>
        </p:nvGrpSpPr>
        <p:grpSpPr bwMode="auto">
          <a:xfrm>
            <a:off x="2667000" y="2819400"/>
            <a:ext cx="609600" cy="990600"/>
            <a:chOff x="1680" y="1776"/>
            <a:chExt cx="384" cy="624"/>
          </a:xfrm>
        </p:grpSpPr>
        <p:sp>
          <p:nvSpPr>
            <p:cNvPr id="114763" name="Rectangle 50"/>
            <p:cNvSpPr>
              <a:spLocks noChangeArrowheads="1"/>
            </p:cNvSpPr>
            <p:nvPr/>
          </p:nvSpPr>
          <p:spPr bwMode="auto">
            <a:xfrm>
              <a:off x="1728" y="1776"/>
              <a:ext cx="240" cy="624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rgbClr val="3333FF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64" name="Text Box 53"/>
            <p:cNvSpPr txBox="1">
              <a:spLocks noChangeArrowheads="1"/>
            </p:cNvSpPr>
            <p:nvPr/>
          </p:nvSpPr>
          <p:spPr bwMode="auto">
            <a:xfrm>
              <a:off x="1680" y="1920"/>
              <a:ext cx="38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n-1</a:t>
              </a:r>
              <a:endPara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21238" name="Line 54"/>
          <p:cNvSpPr>
            <a:spLocks noChangeShapeType="1"/>
          </p:cNvSpPr>
          <p:nvPr/>
        </p:nvSpPr>
        <p:spPr bwMode="auto">
          <a:xfrm>
            <a:off x="3200400" y="19050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1239" name="Line 55"/>
          <p:cNvSpPr>
            <a:spLocks noChangeShapeType="1"/>
          </p:cNvSpPr>
          <p:nvPr/>
        </p:nvSpPr>
        <p:spPr bwMode="auto">
          <a:xfrm flipV="1">
            <a:off x="3276600" y="38100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1240" name="Line 56"/>
          <p:cNvSpPr>
            <a:spLocks noChangeShapeType="1"/>
          </p:cNvSpPr>
          <p:nvPr/>
        </p:nvSpPr>
        <p:spPr bwMode="auto">
          <a:xfrm flipV="1">
            <a:off x="2971800" y="38100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1241" name="Line 57"/>
          <p:cNvSpPr>
            <a:spLocks noChangeShapeType="1"/>
          </p:cNvSpPr>
          <p:nvPr/>
        </p:nvSpPr>
        <p:spPr bwMode="auto">
          <a:xfrm>
            <a:off x="2895600" y="19050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9" name="Group 115"/>
          <p:cNvGrpSpPr/>
          <p:nvPr/>
        </p:nvGrpSpPr>
        <p:grpSpPr bwMode="auto">
          <a:xfrm>
            <a:off x="2209801" y="2819400"/>
            <a:ext cx="533400" cy="990600"/>
            <a:chOff x="1392" y="1776"/>
            <a:chExt cx="336" cy="624"/>
          </a:xfrm>
        </p:grpSpPr>
        <p:sp>
          <p:nvSpPr>
            <p:cNvPr id="114761" name="Rectangle 60"/>
            <p:cNvSpPr>
              <a:spLocks noChangeArrowheads="1"/>
            </p:cNvSpPr>
            <p:nvPr/>
          </p:nvSpPr>
          <p:spPr bwMode="auto">
            <a:xfrm>
              <a:off x="1392" y="1776"/>
              <a:ext cx="192" cy="624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62" name="Text Box 61"/>
            <p:cNvSpPr txBox="1">
              <a:spLocks noChangeArrowheads="1"/>
            </p:cNvSpPr>
            <p:nvPr/>
          </p:nvSpPr>
          <p:spPr bwMode="auto">
            <a:xfrm>
              <a:off x="1392" y="1920"/>
              <a:ext cx="3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endPara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" name="Group 116"/>
          <p:cNvGrpSpPr/>
          <p:nvPr/>
        </p:nvGrpSpPr>
        <p:grpSpPr bwMode="auto">
          <a:xfrm>
            <a:off x="1828801" y="2819400"/>
            <a:ext cx="533400" cy="990600"/>
            <a:chOff x="1152" y="1776"/>
            <a:chExt cx="336" cy="624"/>
          </a:xfrm>
        </p:grpSpPr>
        <p:sp>
          <p:nvSpPr>
            <p:cNvPr id="114759" name="Rectangle 59"/>
            <p:cNvSpPr>
              <a:spLocks noChangeArrowheads="1"/>
            </p:cNvSpPr>
            <p:nvPr/>
          </p:nvSpPr>
          <p:spPr bwMode="auto">
            <a:xfrm>
              <a:off x="1152" y="1776"/>
              <a:ext cx="240" cy="624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rgbClr val="3333FF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60" name="Text Box 62"/>
            <p:cNvSpPr txBox="1">
              <a:spLocks noChangeArrowheads="1"/>
            </p:cNvSpPr>
            <p:nvPr/>
          </p:nvSpPr>
          <p:spPr bwMode="auto">
            <a:xfrm>
              <a:off x="1152" y="1920"/>
              <a:ext cx="3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endPara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21247" name="Line 63"/>
          <p:cNvSpPr>
            <a:spLocks noChangeShapeType="1"/>
          </p:cNvSpPr>
          <p:nvPr/>
        </p:nvSpPr>
        <p:spPr bwMode="auto">
          <a:xfrm>
            <a:off x="2286000" y="19050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1248" name="Line 64"/>
          <p:cNvSpPr>
            <a:spLocks noChangeShapeType="1"/>
          </p:cNvSpPr>
          <p:nvPr/>
        </p:nvSpPr>
        <p:spPr bwMode="auto">
          <a:xfrm flipV="1">
            <a:off x="2362200" y="38100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1249" name="Line 65"/>
          <p:cNvSpPr>
            <a:spLocks noChangeShapeType="1"/>
          </p:cNvSpPr>
          <p:nvPr/>
        </p:nvSpPr>
        <p:spPr bwMode="auto">
          <a:xfrm flipV="1">
            <a:off x="2057400" y="38100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1250" name="Line 66"/>
          <p:cNvSpPr>
            <a:spLocks noChangeShapeType="1"/>
          </p:cNvSpPr>
          <p:nvPr/>
        </p:nvSpPr>
        <p:spPr bwMode="auto">
          <a:xfrm>
            <a:off x="1981200" y="19050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1251" name="Line 67"/>
          <p:cNvSpPr>
            <a:spLocks noChangeShapeType="1"/>
          </p:cNvSpPr>
          <p:nvPr/>
        </p:nvSpPr>
        <p:spPr bwMode="auto">
          <a:xfrm flipH="1">
            <a:off x="2514600" y="3276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1" name="Group 117"/>
          <p:cNvGrpSpPr/>
          <p:nvPr/>
        </p:nvGrpSpPr>
        <p:grpSpPr bwMode="auto">
          <a:xfrm>
            <a:off x="2057400" y="2514600"/>
            <a:ext cx="762000" cy="304800"/>
            <a:chOff x="1296" y="1584"/>
            <a:chExt cx="480" cy="192"/>
          </a:xfrm>
        </p:grpSpPr>
        <p:sp>
          <p:nvSpPr>
            <p:cNvPr id="114756" name="Line 68"/>
            <p:cNvSpPr>
              <a:spLocks noChangeShapeType="1"/>
            </p:cNvSpPr>
            <p:nvPr/>
          </p:nvSpPr>
          <p:spPr bwMode="auto">
            <a:xfrm flipV="1">
              <a:off x="1776" y="158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57" name="Line 69"/>
            <p:cNvSpPr>
              <a:spLocks noChangeShapeType="1"/>
            </p:cNvSpPr>
            <p:nvPr/>
          </p:nvSpPr>
          <p:spPr bwMode="auto">
            <a:xfrm flipH="1">
              <a:off x="1296" y="1584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58" name="Line 70"/>
            <p:cNvSpPr>
              <a:spLocks noChangeShapeType="1"/>
            </p:cNvSpPr>
            <p:nvPr/>
          </p:nvSpPr>
          <p:spPr bwMode="auto">
            <a:xfrm>
              <a:off x="1296" y="158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21260" name="Text Box 76"/>
          <p:cNvSpPr txBox="1">
            <a:spLocks noChangeArrowheads="1"/>
          </p:cNvSpPr>
          <p:nvPr/>
        </p:nvSpPr>
        <p:spPr bwMode="auto">
          <a:xfrm>
            <a:off x="4114801" y="3200401"/>
            <a:ext cx="1066800" cy="461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……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2" name="Group 99"/>
          <p:cNvGrpSpPr/>
          <p:nvPr/>
        </p:nvGrpSpPr>
        <p:grpSpPr bwMode="auto">
          <a:xfrm>
            <a:off x="990600" y="1295400"/>
            <a:ext cx="6477000" cy="655638"/>
            <a:chOff x="624" y="816"/>
            <a:chExt cx="4080" cy="413"/>
          </a:xfrm>
        </p:grpSpPr>
        <p:sp>
          <p:nvSpPr>
            <p:cNvPr id="114745" name="Rectangle 4"/>
            <p:cNvSpPr>
              <a:spLocks noChangeArrowheads="1"/>
            </p:cNvSpPr>
            <p:nvPr/>
          </p:nvSpPr>
          <p:spPr bwMode="auto">
            <a:xfrm>
              <a:off x="1056" y="816"/>
              <a:ext cx="364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46" name="Line 5"/>
            <p:cNvSpPr>
              <a:spLocks noChangeShapeType="1"/>
            </p:cNvSpPr>
            <p:nvPr/>
          </p:nvSpPr>
          <p:spPr bwMode="auto">
            <a:xfrm>
              <a:off x="4080" y="81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47" name="Line 6"/>
            <p:cNvSpPr>
              <a:spLocks noChangeShapeType="1"/>
            </p:cNvSpPr>
            <p:nvPr/>
          </p:nvSpPr>
          <p:spPr bwMode="auto">
            <a:xfrm>
              <a:off x="3504" y="81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48" name="Line 7"/>
            <p:cNvSpPr>
              <a:spLocks noChangeShapeType="1"/>
            </p:cNvSpPr>
            <p:nvPr/>
          </p:nvSpPr>
          <p:spPr bwMode="auto">
            <a:xfrm>
              <a:off x="1680" y="81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49" name="Line 8"/>
            <p:cNvSpPr>
              <a:spLocks noChangeShapeType="1"/>
            </p:cNvSpPr>
            <p:nvPr/>
          </p:nvSpPr>
          <p:spPr bwMode="auto">
            <a:xfrm>
              <a:off x="2208" y="81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50" name="Text Box 9"/>
            <p:cNvSpPr txBox="1">
              <a:spLocks noChangeArrowheads="1"/>
            </p:cNvSpPr>
            <p:nvPr/>
          </p:nvSpPr>
          <p:spPr bwMode="auto">
            <a:xfrm>
              <a:off x="4272" y="864"/>
              <a:ext cx="3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51" name="Text Box 10"/>
            <p:cNvSpPr txBox="1">
              <a:spLocks noChangeArrowheads="1"/>
            </p:cNvSpPr>
            <p:nvPr/>
          </p:nvSpPr>
          <p:spPr bwMode="auto">
            <a:xfrm>
              <a:off x="3600" y="864"/>
              <a:ext cx="3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52" name="Text Box 11"/>
            <p:cNvSpPr txBox="1">
              <a:spLocks noChangeArrowheads="1"/>
            </p:cNvSpPr>
            <p:nvPr/>
          </p:nvSpPr>
          <p:spPr bwMode="auto">
            <a:xfrm>
              <a:off x="1248" y="864"/>
              <a:ext cx="3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endPara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53" name="Text Box 12"/>
            <p:cNvSpPr txBox="1">
              <a:spLocks noChangeArrowheads="1"/>
            </p:cNvSpPr>
            <p:nvPr/>
          </p:nvSpPr>
          <p:spPr bwMode="auto">
            <a:xfrm>
              <a:off x="1824" y="864"/>
              <a:ext cx="38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n-1</a:t>
              </a:r>
              <a:endPara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54" name="Text Box 32"/>
            <p:cNvSpPr txBox="1">
              <a:spLocks noChangeArrowheads="1"/>
            </p:cNvSpPr>
            <p:nvPr/>
          </p:nvSpPr>
          <p:spPr bwMode="auto">
            <a:xfrm>
              <a:off x="624" y="864"/>
              <a:ext cx="33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  <a:endPara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55" name="Text Box 77"/>
            <p:cNvSpPr txBox="1">
              <a:spLocks noChangeArrowheads="1"/>
            </p:cNvSpPr>
            <p:nvPr/>
          </p:nvSpPr>
          <p:spPr bwMode="auto">
            <a:xfrm>
              <a:off x="2496" y="864"/>
              <a:ext cx="67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……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21273" name="Line 89"/>
          <p:cNvSpPr>
            <a:spLocks noChangeShapeType="1"/>
          </p:cNvSpPr>
          <p:nvPr/>
        </p:nvSpPr>
        <p:spPr bwMode="auto">
          <a:xfrm>
            <a:off x="7162800" y="19050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1274" name="Line 90"/>
          <p:cNvSpPr>
            <a:spLocks noChangeShapeType="1"/>
          </p:cNvSpPr>
          <p:nvPr/>
        </p:nvSpPr>
        <p:spPr bwMode="auto">
          <a:xfrm>
            <a:off x="6858000" y="19050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1275" name="Line 91"/>
          <p:cNvSpPr>
            <a:spLocks noChangeShapeType="1"/>
          </p:cNvSpPr>
          <p:nvPr/>
        </p:nvSpPr>
        <p:spPr bwMode="auto">
          <a:xfrm flipH="1">
            <a:off x="6248400" y="19050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1277" name="Line 93"/>
          <p:cNvSpPr>
            <a:spLocks noChangeShapeType="1"/>
          </p:cNvSpPr>
          <p:nvPr/>
        </p:nvSpPr>
        <p:spPr bwMode="auto">
          <a:xfrm>
            <a:off x="5867400" y="19050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1278" name="Line 94"/>
          <p:cNvSpPr>
            <a:spLocks noChangeShapeType="1"/>
          </p:cNvSpPr>
          <p:nvPr/>
        </p:nvSpPr>
        <p:spPr bwMode="auto">
          <a:xfrm flipV="1">
            <a:off x="7162800" y="38100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1279" name="Line 95"/>
          <p:cNvSpPr>
            <a:spLocks noChangeShapeType="1"/>
          </p:cNvSpPr>
          <p:nvPr/>
        </p:nvSpPr>
        <p:spPr bwMode="auto">
          <a:xfrm flipV="1">
            <a:off x="6858000" y="38100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4721" name="Text Box 96"/>
          <p:cNvSpPr txBox="1">
            <a:spLocks noChangeArrowheads="1"/>
          </p:cNvSpPr>
          <p:nvPr/>
        </p:nvSpPr>
        <p:spPr bwMode="auto">
          <a:xfrm>
            <a:off x="1066800" y="3124201"/>
            <a:ext cx="533400" cy="602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s:</a:t>
            </a:r>
            <a:endParaRPr kumimoji="1" lang="en-US" altLang="zh-CN" sz="3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3" name="Group 100"/>
          <p:cNvGrpSpPr/>
          <p:nvPr/>
        </p:nvGrpSpPr>
        <p:grpSpPr bwMode="auto">
          <a:xfrm>
            <a:off x="1143000" y="4724400"/>
            <a:ext cx="6324600" cy="731838"/>
            <a:chOff x="720" y="2976"/>
            <a:chExt cx="3984" cy="461"/>
          </a:xfrm>
        </p:grpSpPr>
        <p:sp>
          <p:nvSpPr>
            <p:cNvPr id="114734" name="Rectangle 13"/>
            <p:cNvSpPr>
              <a:spLocks noChangeArrowheads="1"/>
            </p:cNvSpPr>
            <p:nvPr/>
          </p:nvSpPr>
          <p:spPr bwMode="auto">
            <a:xfrm>
              <a:off x="1200" y="2976"/>
              <a:ext cx="3504" cy="432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35" name="Line 14"/>
            <p:cNvSpPr>
              <a:spLocks noChangeShapeType="1"/>
            </p:cNvSpPr>
            <p:nvPr/>
          </p:nvSpPr>
          <p:spPr bwMode="auto">
            <a:xfrm>
              <a:off x="4128" y="2976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36" name="Line 15"/>
            <p:cNvSpPr>
              <a:spLocks noChangeShapeType="1"/>
            </p:cNvSpPr>
            <p:nvPr/>
          </p:nvSpPr>
          <p:spPr bwMode="auto">
            <a:xfrm>
              <a:off x="3600" y="2976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37" name="Line 16"/>
            <p:cNvSpPr>
              <a:spLocks noChangeShapeType="1"/>
            </p:cNvSpPr>
            <p:nvPr/>
          </p:nvSpPr>
          <p:spPr bwMode="auto">
            <a:xfrm>
              <a:off x="1680" y="2976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38" name="Line 17"/>
            <p:cNvSpPr>
              <a:spLocks noChangeShapeType="1"/>
            </p:cNvSpPr>
            <p:nvPr/>
          </p:nvSpPr>
          <p:spPr bwMode="auto">
            <a:xfrm>
              <a:off x="2160" y="2976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39" name="Text Box 18"/>
            <p:cNvSpPr txBox="1">
              <a:spLocks noChangeArrowheads="1"/>
            </p:cNvSpPr>
            <p:nvPr/>
          </p:nvSpPr>
          <p:spPr bwMode="auto">
            <a:xfrm>
              <a:off x="4320" y="3072"/>
              <a:ext cx="3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40" name="Text Box 19"/>
            <p:cNvSpPr txBox="1">
              <a:spLocks noChangeArrowheads="1"/>
            </p:cNvSpPr>
            <p:nvPr/>
          </p:nvSpPr>
          <p:spPr bwMode="auto">
            <a:xfrm>
              <a:off x="3744" y="3072"/>
              <a:ext cx="3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41" name="Text Box 20"/>
            <p:cNvSpPr txBox="1">
              <a:spLocks noChangeArrowheads="1"/>
            </p:cNvSpPr>
            <p:nvPr/>
          </p:nvSpPr>
          <p:spPr bwMode="auto">
            <a:xfrm>
              <a:off x="1776" y="3072"/>
              <a:ext cx="48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n-1</a:t>
              </a:r>
              <a:endPara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42" name="Text Box 21"/>
            <p:cNvSpPr txBox="1">
              <a:spLocks noChangeArrowheads="1"/>
            </p:cNvSpPr>
            <p:nvPr/>
          </p:nvSpPr>
          <p:spPr bwMode="auto">
            <a:xfrm>
              <a:off x="1296" y="3072"/>
              <a:ext cx="3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endPara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43" name="Text Box 75"/>
            <p:cNvSpPr txBox="1">
              <a:spLocks noChangeArrowheads="1"/>
            </p:cNvSpPr>
            <p:nvPr/>
          </p:nvSpPr>
          <p:spPr bwMode="auto">
            <a:xfrm>
              <a:off x="2640" y="3072"/>
              <a:ext cx="67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……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44" name="Text Box 97"/>
            <p:cNvSpPr txBox="1">
              <a:spLocks noChangeArrowheads="1"/>
            </p:cNvSpPr>
            <p:nvPr/>
          </p:nvSpPr>
          <p:spPr bwMode="auto">
            <a:xfrm>
              <a:off x="720" y="3072"/>
              <a:ext cx="33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b:</a:t>
              </a:r>
              <a:endPara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21282" name="Text Box 98"/>
          <p:cNvSpPr txBox="1">
            <a:spLocks noChangeArrowheads="1"/>
          </p:cNvSpPr>
          <p:nvPr/>
        </p:nvSpPr>
        <p:spPr bwMode="auto">
          <a:xfrm>
            <a:off x="1066800" y="5638800"/>
            <a:ext cx="3124200" cy="523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S=c</a:t>
            </a:r>
            <a:r>
              <a:rPr kumimoji="1" lang="en-US" altLang="zh-CN" sz="2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 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 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 -1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</a:t>
            </a:r>
            <a:r>
              <a:rPr kumimoji="1" lang="en-US" altLang="zh-CN" sz="2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 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endParaRPr kumimoji="1" lang="en-US" altLang="zh-CN" sz="2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4" name="Group 107"/>
          <p:cNvGrpSpPr/>
          <p:nvPr/>
        </p:nvGrpSpPr>
        <p:grpSpPr bwMode="auto">
          <a:xfrm>
            <a:off x="5410200" y="2514600"/>
            <a:ext cx="381000" cy="304800"/>
            <a:chOff x="3408" y="1584"/>
            <a:chExt cx="240" cy="192"/>
          </a:xfrm>
        </p:grpSpPr>
        <p:sp>
          <p:nvSpPr>
            <p:cNvPr id="114730" name="Line 72"/>
            <p:cNvSpPr>
              <a:spLocks noChangeShapeType="1"/>
            </p:cNvSpPr>
            <p:nvPr/>
          </p:nvSpPr>
          <p:spPr bwMode="auto">
            <a:xfrm flipV="1">
              <a:off x="3408" y="158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31" name="Line 73"/>
            <p:cNvSpPr>
              <a:spLocks noChangeShapeType="1"/>
            </p:cNvSpPr>
            <p:nvPr/>
          </p:nvSpPr>
          <p:spPr bwMode="auto">
            <a:xfrm flipH="1">
              <a:off x="3408" y="158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32" name="Line 74"/>
            <p:cNvSpPr>
              <a:spLocks noChangeShapeType="1"/>
            </p:cNvSpPr>
            <p:nvPr/>
          </p:nvSpPr>
          <p:spPr bwMode="auto">
            <a:xfrm>
              <a:off x="3408" y="158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33" name="Line 106"/>
            <p:cNvSpPr>
              <a:spLocks noChangeShapeType="1"/>
            </p:cNvSpPr>
            <p:nvPr/>
          </p:nvSpPr>
          <p:spPr bwMode="auto">
            <a:xfrm>
              <a:off x="3648" y="158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21293" name="Line 109"/>
          <p:cNvSpPr>
            <a:spLocks noChangeShapeType="1"/>
          </p:cNvSpPr>
          <p:nvPr/>
        </p:nvSpPr>
        <p:spPr bwMode="auto">
          <a:xfrm flipH="1">
            <a:off x="3429000" y="3276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3" tIns="45712" rIns="91423" bIns="45712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5" name="Group 114"/>
          <p:cNvGrpSpPr/>
          <p:nvPr/>
        </p:nvGrpSpPr>
        <p:grpSpPr bwMode="auto">
          <a:xfrm>
            <a:off x="3048000" y="2514600"/>
            <a:ext cx="762000" cy="304800"/>
            <a:chOff x="1920" y="1584"/>
            <a:chExt cx="480" cy="192"/>
          </a:xfrm>
        </p:grpSpPr>
        <p:sp>
          <p:nvSpPr>
            <p:cNvPr id="114727" name="Line 111"/>
            <p:cNvSpPr>
              <a:spLocks noChangeShapeType="1"/>
            </p:cNvSpPr>
            <p:nvPr/>
          </p:nvSpPr>
          <p:spPr bwMode="auto">
            <a:xfrm flipH="1">
              <a:off x="1920" y="1584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28" name="Line 112"/>
            <p:cNvSpPr>
              <a:spLocks noChangeShapeType="1"/>
            </p:cNvSpPr>
            <p:nvPr/>
          </p:nvSpPr>
          <p:spPr bwMode="auto">
            <a:xfrm>
              <a:off x="1920" y="158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729" name="Line 113"/>
            <p:cNvSpPr>
              <a:spLocks noChangeShapeType="1"/>
            </p:cNvSpPr>
            <p:nvPr/>
          </p:nvSpPr>
          <p:spPr bwMode="auto">
            <a:xfrm>
              <a:off x="2400" y="158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2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2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2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2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2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21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221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2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2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221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221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221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221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221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221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221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221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3" dur="500"/>
                                        <p:tgtEl>
                                          <p:spTgt spid="22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22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221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221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223" grpId="0" bldLvl="0" animBg="1"/>
      <p:bldP spid="221224" grpId="0" bldLvl="0" animBg="1"/>
      <p:bldP spid="221226" grpId="0" bldLvl="0" animBg="1"/>
      <p:bldP spid="221238" grpId="0" bldLvl="0" animBg="1"/>
      <p:bldP spid="221239" grpId="0" bldLvl="0" animBg="1"/>
      <p:bldP spid="221240" grpId="0" bldLvl="0" animBg="1"/>
      <p:bldP spid="221241" grpId="0" bldLvl="0" animBg="1"/>
      <p:bldP spid="221247" grpId="0" bldLvl="0" animBg="1"/>
      <p:bldP spid="221248" grpId="0" bldLvl="0" animBg="1"/>
      <p:bldP spid="221249" grpId="0" bldLvl="0" animBg="1"/>
      <p:bldP spid="221250" grpId="0" bldLvl="0" animBg="1"/>
      <p:bldP spid="221251" grpId="0" bldLvl="0" animBg="1"/>
      <p:bldP spid="221260" grpId="0" autoUpdateAnimBg="0"/>
      <p:bldP spid="221273" grpId="0" bldLvl="0" animBg="1"/>
      <p:bldP spid="221274" grpId="0" bldLvl="0" animBg="1"/>
      <p:bldP spid="221275" grpId="0" bldLvl="0" animBg="1"/>
      <p:bldP spid="221277" grpId="0" bldLvl="0" animBg="1"/>
      <p:bldP spid="221278" grpId="0" bldLvl="0" animBg="1"/>
      <p:bldP spid="221279" grpId="0" bldLvl="0" animBg="1"/>
      <p:bldP spid="221282" grpId="0" autoUpdateAnimBg="0" build="p"/>
      <p:bldP spid="221293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4691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1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>
                <a:sym typeface="Kingsoft Phonetic Plain" pitchFamily="2" charset="2"/>
              </a:rPr>
              <a:t>例</a:t>
            </a:r>
            <a:r>
              <a:rPr lang="en-US" altLang="zh-CN" dirty="0">
                <a:sym typeface="Kingsoft Phonetic Plain" pitchFamily="2" charset="2"/>
              </a:rPr>
              <a:t>2. </a:t>
            </a:r>
            <a:r>
              <a:rPr lang="zh-CN" altLang="en-US" dirty="0">
                <a:sym typeface="Kingsoft Phonetic Plain" pitchFamily="2" charset="2"/>
              </a:rPr>
              <a:t>安排课表，教语言课的教师希望将课程安排在第一或第三节；教数学课的教师希望将课程安排在第二或第三节；教原理课的教师希望将课程安排在第一或第二节。如何安排课表，使得三位教师都满意。</a:t>
            </a:r>
            <a:endParaRPr lang="en-US" altLang="zh-CN" dirty="0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 dirty="0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>
                <a:sym typeface="Kingsoft Phonetic Plain" pitchFamily="2" charset="2"/>
              </a:rPr>
              <a:t>令：</a:t>
            </a:r>
            <a:endParaRPr lang="en-US" altLang="zh-CN" dirty="0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dirty="0">
                <a:sym typeface="Kingsoft Phonetic Plain" pitchFamily="2" charset="2"/>
              </a:rPr>
              <a:t>L</a:t>
            </a:r>
            <a:r>
              <a:rPr lang="en-US" altLang="zh-CN" sz="2800" baseline="-25000" dirty="0">
                <a:sym typeface="Kingsoft Phonetic Plain" pitchFamily="2" charset="2"/>
              </a:rPr>
              <a:t>1</a:t>
            </a:r>
            <a:r>
              <a:rPr lang="zh-CN" altLang="en-US" sz="2800" dirty="0">
                <a:sym typeface="Kingsoft Phonetic Plain" pitchFamily="2" charset="2"/>
              </a:rPr>
              <a:t>、</a:t>
            </a:r>
            <a:r>
              <a:rPr lang="en-US" altLang="zh-CN" sz="2800" dirty="0">
                <a:sym typeface="Kingsoft Phonetic Plain" pitchFamily="2" charset="2"/>
              </a:rPr>
              <a:t>L</a:t>
            </a:r>
            <a:r>
              <a:rPr lang="en-US" altLang="zh-CN" sz="2800" baseline="-25000" dirty="0">
                <a:sym typeface="Kingsoft Phonetic Plain" pitchFamily="2" charset="2"/>
              </a:rPr>
              <a:t>2</a:t>
            </a:r>
            <a:r>
              <a:rPr lang="zh-CN" altLang="en-US" sz="2800" dirty="0">
                <a:sym typeface="Kingsoft Phonetic Plain" pitchFamily="2" charset="2"/>
              </a:rPr>
              <a:t>、</a:t>
            </a:r>
            <a:r>
              <a:rPr lang="en-US" altLang="zh-CN" sz="2800" dirty="0">
                <a:sym typeface="Kingsoft Phonetic Plain" pitchFamily="2" charset="2"/>
              </a:rPr>
              <a:t>L</a:t>
            </a:r>
            <a:r>
              <a:rPr lang="en-US" altLang="zh-CN" sz="2800" baseline="-25000" dirty="0">
                <a:sym typeface="Kingsoft Phonetic Plain" pitchFamily="2" charset="2"/>
              </a:rPr>
              <a:t>3</a:t>
            </a:r>
            <a:r>
              <a:rPr lang="zh-CN" altLang="en-US" sz="2800" dirty="0">
                <a:sym typeface="Kingsoft Phonetic Plain" pitchFamily="2" charset="2"/>
              </a:rPr>
              <a:t>分别表示语言课排在第一、第二、第三节。</a:t>
            </a:r>
            <a:endParaRPr lang="zh-CN" altLang="en-US" sz="2800" dirty="0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dirty="0">
                <a:sym typeface="Kingsoft Phonetic Plain" pitchFamily="2" charset="2"/>
              </a:rPr>
              <a:t>M</a:t>
            </a:r>
            <a:r>
              <a:rPr lang="en-US" altLang="zh-CN" sz="2800" baseline="-25000" dirty="0">
                <a:sym typeface="Kingsoft Phonetic Plain" pitchFamily="2" charset="2"/>
              </a:rPr>
              <a:t>1</a:t>
            </a:r>
            <a:r>
              <a:rPr lang="zh-CN" altLang="en-US" sz="2800" dirty="0">
                <a:sym typeface="Kingsoft Phonetic Plain" pitchFamily="2" charset="2"/>
              </a:rPr>
              <a:t>、</a:t>
            </a:r>
            <a:r>
              <a:rPr lang="en-US" altLang="zh-CN" sz="2800" dirty="0">
                <a:sym typeface="Kingsoft Phonetic Plain" pitchFamily="2" charset="2"/>
              </a:rPr>
              <a:t>M</a:t>
            </a:r>
            <a:r>
              <a:rPr lang="en-US" altLang="zh-CN" sz="2800" baseline="-25000" dirty="0">
                <a:sym typeface="Kingsoft Phonetic Plain" pitchFamily="2" charset="2"/>
              </a:rPr>
              <a:t>2</a:t>
            </a:r>
            <a:r>
              <a:rPr lang="zh-CN" altLang="en-US" sz="2800" dirty="0">
                <a:sym typeface="Kingsoft Phonetic Plain" pitchFamily="2" charset="2"/>
              </a:rPr>
              <a:t>、</a:t>
            </a:r>
            <a:r>
              <a:rPr lang="en-US" altLang="zh-CN" sz="2800" dirty="0">
                <a:sym typeface="Kingsoft Phonetic Plain" pitchFamily="2" charset="2"/>
              </a:rPr>
              <a:t>M</a:t>
            </a:r>
            <a:r>
              <a:rPr lang="en-US" altLang="zh-CN" sz="2800" baseline="-25000" dirty="0">
                <a:sym typeface="Kingsoft Phonetic Plain" pitchFamily="2" charset="2"/>
              </a:rPr>
              <a:t>3</a:t>
            </a:r>
            <a:r>
              <a:rPr lang="zh-CN" altLang="en-US" sz="2800" dirty="0">
                <a:sym typeface="Kingsoft Phonetic Plain" pitchFamily="2" charset="2"/>
              </a:rPr>
              <a:t>分别表示数学课排在第一、第二、第三节。</a:t>
            </a:r>
            <a:endParaRPr lang="zh-CN" altLang="en-US" sz="2800" dirty="0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P</a:t>
            </a:r>
            <a:r>
              <a:rPr lang="en-US" altLang="zh-CN" sz="2800" baseline="-25000" dirty="0">
                <a:sym typeface="Kingsoft Phonetic Plain" pitchFamily="2" charset="2"/>
              </a:rPr>
              <a:t>1</a:t>
            </a:r>
            <a:r>
              <a:rPr lang="zh-CN" altLang="en-US" sz="2800" dirty="0">
                <a:sym typeface="Kingsoft Phonetic Plain" pitchFamily="2" charset="2"/>
              </a:rPr>
              <a:t>、</a:t>
            </a:r>
            <a:r>
              <a:rPr lang="en-US" altLang="zh-CN" sz="2800" dirty="0">
                <a:sym typeface="Kingsoft Phonetic Plain" pitchFamily="2" charset="2"/>
              </a:rPr>
              <a:t>P</a:t>
            </a:r>
            <a:r>
              <a:rPr lang="en-US" altLang="zh-CN" sz="2800" baseline="-25000" dirty="0">
                <a:sym typeface="Kingsoft Phonetic Plain" pitchFamily="2" charset="2"/>
              </a:rPr>
              <a:t>2</a:t>
            </a:r>
            <a:r>
              <a:rPr lang="zh-CN" altLang="en-US" sz="2800" dirty="0">
                <a:sym typeface="Kingsoft Phonetic Plain" pitchFamily="2" charset="2"/>
              </a:rPr>
              <a:t>、</a:t>
            </a:r>
            <a:r>
              <a:rPr lang="en-US" altLang="zh-CN" sz="2800" dirty="0">
                <a:sym typeface="Kingsoft Phonetic Plain" pitchFamily="2" charset="2"/>
              </a:rPr>
              <a:t>P</a:t>
            </a:r>
            <a:r>
              <a:rPr lang="en-US" altLang="zh-CN" sz="2800" baseline="-25000" dirty="0">
                <a:sym typeface="Kingsoft Phonetic Plain" pitchFamily="2" charset="2"/>
              </a:rPr>
              <a:t>3</a:t>
            </a:r>
            <a:r>
              <a:rPr lang="zh-CN" altLang="en-US" sz="2800" dirty="0">
                <a:sym typeface="Kingsoft Phonetic Plain" pitchFamily="2" charset="2"/>
              </a:rPr>
              <a:t>分别表示原理课排在第一、第二、第三节。</a:t>
            </a:r>
            <a:endParaRPr lang="zh-CN" altLang="en-US" sz="2800" dirty="0">
              <a:ea typeface="MS Gothic" panose="020B0609070205080204" pitchFamily="49" charset="-128"/>
              <a:sym typeface="Kingsoft Phonetic Plain" pitchFamily="2" charset="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469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4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4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4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1" grpId="0" autoUpdateAnimBg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8787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dirty="0">
                <a:sym typeface="Kingsoft Phonetic Plain" pitchFamily="2" charset="2"/>
              </a:rPr>
              <a:t>三位教师都满意的条件是：</a:t>
            </a:r>
            <a:endParaRPr lang="zh-CN" altLang="en-US" sz="2800" dirty="0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en-US" sz="2800" dirty="0">
                <a:sym typeface="Kingsoft Phonetic Plain" pitchFamily="2" charset="2"/>
              </a:rPr>
              <a:t>(</a:t>
            </a:r>
            <a:r>
              <a:rPr lang="en-US" altLang="zh-CN" sz="2800" dirty="0">
                <a:sym typeface="Kingsoft Phonetic Plain" pitchFamily="2" charset="2"/>
              </a:rPr>
              <a:t>L</a:t>
            </a:r>
            <a:r>
              <a:rPr lang="en-US" altLang="zh-CN" sz="2800" baseline="-25000" dirty="0">
                <a:sym typeface="Kingsoft Phonetic Plain" pitchFamily="2" charset="2"/>
              </a:rPr>
              <a:t>1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dirty="0">
                <a:sym typeface="Kingsoft Phonetic Plain" pitchFamily="2" charset="2"/>
              </a:rPr>
              <a:t>L</a:t>
            </a:r>
            <a:r>
              <a:rPr lang="en-US" altLang="zh-CN" sz="2800" baseline="-25000" dirty="0">
                <a:sym typeface="Kingsoft Phonetic Plain" pitchFamily="2" charset="2"/>
              </a:rPr>
              <a:t>3</a:t>
            </a:r>
            <a:r>
              <a:rPr lang="en-US" altLang="zh-CN" sz="2800" dirty="0">
                <a:sym typeface="Kingsoft Phonetic Plain" pitchFamily="2" charset="2"/>
              </a:rPr>
              <a:t>)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ym typeface="Kingsoft Phonetic Plain" pitchFamily="2" charset="2"/>
              </a:rPr>
              <a:t>(M</a:t>
            </a:r>
            <a:r>
              <a:rPr lang="en-US" altLang="zh-CN" sz="2800" baseline="-25000" dirty="0">
                <a:sym typeface="Kingsoft Phonetic Plain" pitchFamily="2" charset="2"/>
              </a:rPr>
              <a:t>2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dirty="0">
                <a:sym typeface="Kingsoft Phonetic Plain" pitchFamily="2" charset="2"/>
              </a:rPr>
              <a:t>M</a:t>
            </a:r>
            <a:r>
              <a:rPr lang="en-US" altLang="zh-CN" sz="2800" baseline="-25000" dirty="0">
                <a:sym typeface="Kingsoft Phonetic Plain" pitchFamily="2" charset="2"/>
              </a:rPr>
              <a:t>3</a:t>
            </a:r>
            <a:r>
              <a:rPr lang="en-US" altLang="zh-CN" sz="2800" dirty="0">
                <a:sym typeface="Kingsoft Phonetic Plain" pitchFamily="2" charset="2"/>
              </a:rPr>
              <a:t>)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ym typeface="Kingsoft Phonetic Plain" pitchFamily="2" charset="2"/>
              </a:rPr>
              <a:t>(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P</a:t>
            </a:r>
            <a:r>
              <a:rPr lang="en-US" altLang="zh-CN" sz="2800" baseline="-25000" dirty="0">
                <a:sym typeface="Kingsoft Phonetic Plain" pitchFamily="2" charset="2"/>
              </a:rPr>
              <a:t>1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dirty="0">
                <a:sym typeface="Kingsoft Phonetic Plain" pitchFamily="2" charset="2"/>
              </a:rPr>
              <a:t>P</a:t>
            </a:r>
            <a:r>
              <a:rPr lang="en-US" altLang="zh-CN" sz="2800" baseline="-25000" dirty="0">
                <a:sym typeface="Kingsoft Phonetic Plain" pitchFamily="2" charset="2"/>
              </a:rPr>
              <a:t>2 </a:t>
            </a:r>
            <a:r>
              <a:rPr lang="en-US" altLang="zh-CN" sz="2800" dirty="0">
                <a:sym typeface="Kingsoft Phonetic Plain" pitchFamily="2" charset="2"/>
              </a:rPr>
              <a:t>) </a:t>
            </a:r>
            <a:r>
              <a:rPr lang="zh-CN" altLang="en-US" sz="2800" dirty="0">
                <a:sym typeface="Kingsoft Phonetic Plain" pitchFamily="2" charset="2"/>
              </a:rPr>
              <a:t>为真。</a:t>
            </a:r>
            <a:endParaRPr lang="zh-CN" altLang="en-US" sz="2800" dirty="0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 sz="2800" dirty="0">
                <a:sym typeface="Kingsoft Phonetic Plain" pitchFamily="2" charset="2"/>
              </a:rPr>
              <a:t>将上式写成析取范式</a:t>
            </a:r>
            <a:r>
              <a:rPr lang="en-US" altLang="zh-CN" sz="2800" dirty="0">
                <a:sym typeface="Kingsoft Phonetic Plain" pitchFamily="2" charset="2"/>
              </a:rPr>
              <a:t>(</a:t>
            </a:r>
            <a:r>
              <a:rPr lang="zh-CN" altLang="en-US" sz="2800" dirty="0">
                <a:sym typeface="Kingsoft Phonetic Plain" pitchFamily="2" charset="2"/>
              </a:rPr>
              <a:t>用分配律</a:t>
            </a:r>
            <a:r>
              <a:rPr lang="en-US" altLang="zh-CN" sz="2800" dirty="0">
                <a:sym typeface="Kingsoft Phonetic Plain" pitchFamily="2" charset="2"/>
              </a:rPr>
              <a:t>)</a:t>
            </a:r>
            <a:r>
              <a:rPr lang="zh-CN" altLang="en-US" sz="2800" dirty="0">
                <a:sym typeface="Kingsoft Phonetic Plain" pitchFamily="2" charset="2"/>
              </a:rPr>
              <a:t>得：</a:t>
            </a:r>
            <a:endParaRPr lang="en-US" altLang="en-US" sz="2800" baseline="-25000" dirty="0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en-US" sz="2800" dirty="0">
                <a:solidFill>
                  <a:srgbClr val="FF0000"/>
                </a:solidFill>
                <a:sym typeface="Kingsoft Phonetic Plain" pitchFamily="2" charset="2"/>
              </a:rPr>
              <a:t>(</a:t>
            </a:r>
            <a:r>
              <a:rPr lang="en-US" altLang="en-US" sz="2800" dirty="0">
                <a:sym typeface="Kingsoft Phonetic Plain" pitchFamily="2" charset="2"/>
              </a:rPr>
              <a:t>(</a:t>
            </a:r>
            <a:r>
              <a:rPr lang="en-US" altLang="zh-CN" sz="2800" dirty="0">
                <a:sym typeface="Kingsoft Phonetic Plain" pitchFamily="2" charset="2"/>
              </a:rPr>
              <a:t>L</a:t>
            </a:r>
            <a:r>
              <a:rPr lang="en-US" altLang="zh-CN" sz="2800" baseline="-25000" dirty="0">
                <a:sym typeface="Kingsoft Phonetic Plain" pitchFamily="2" charset="2"/>
              </a:rPr>
              <a:t>1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ym typeface="Kingsoft Phonetic Plain" pitchFamily="2" charset="2"/>
              </a:rPr>
              <a:t>M</a:t>
            </a:r>
            <a:r>
              <a:rPr lang="en-US" altLang="zh-CN" sz="2800" baseline="-25000" dirty="0">
                <a:sym typeface="Kingsoft Phonetic Plain" pitchFamily="2" charset="2"/>
              </a:rPr>
              <a:t>2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)∨</a:t>
            </a:r>
            <a:r>
              <a:rPr lang="en-US" altLang="zh-CN" sz="2800" dirty="0">
                <a:sym typeface="Kingsoft Phonetic Plain" pitchFamily="2" charset="2"/>
              </a:rPr>
              <a:t>(L</a:t>
            </a:r>
            <a:r>
              <a:rPr lang="en-US" altLang="zh-CN" sz="2800" baseline="-25000" dirty="0">
                <a:sym typeface="Kingsoft Phonetic Plain" pitchFamily="2" charset="2"/>
              </a:rPr>
              <a:t>1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ym typeface="Kingsoft Phonetic Plain" pitchFamily="2" charset="2"/>
              </a:rPr>
              <a:t>M</a:t>
            </a:r>
            <a:r>
              <a:rPr lang="en-US" altLang="zh-CN" sz="2800" baseline="-25000" dirty="0">
                <a:sym typeface="Kingsoft Phonetic Plain" pitchFamily="2" charset="2"/>
              </a:rPr>
              <a:t>3</a:t>
            </a:r>
            <a:r>
              <a:rPr lang="en-US" altLang="zh-CN" sz="2800" dirty="0">
                <a:sym typeface="Kingsoft Phonetic Plain" pitchFamily="2" charset="2"/>
              </a:rPr>
              <a:t>)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∨(</a:t>
            </a:r>
            <a:r>
              <a:rPr lang="en-US" altLang="zh-CN" sz="2800" dirty="0">
                <a:sym typeface="Kingsoft Phonetic Plain" pitchFamily="2" charset="2"/>
              </a:rPr>
              <a:t>L</a:t>
            </a:r>
            <a:r>
              <a:rPr lang="en-US" altLang="zh-CN" sz="2800" baseline="-25000" dirty="0">
                <a:sym typeface="Kingsoft Phonetic Plain" pitchFamily="2" charset="2"/>
              </a:rPr>
              <a:t>3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ym typeface="Kingsoft Phonetic Plain" pitchFamily="2" charset="2"/>
              </a:rPr>
              <a:t>M</a:t>
            </a:r>
            <a:r>
              <a:rPr lang="en-US" altLang="zh-CN" sz="2800" baseline="-25000" dirty="0">
                <a:sym typeface="Kingsoft Phonetic Plain" pitchFamily="2" charset="2"/>
              </a:rPr>
              <a:t>2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)∨</a:t>
            </a:r>
            <a:endParaRPr lang="en-US" altLang="zh-CN" sz="2800" dirty="0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(</a:t>
            </a:r>
            <a:r>
              <a:rPr lang="en-US" altLang="zh-CN" sz="2800" dirty="0">
                <a:sym typeface="Kingsoft Phonetic Plain" pitchFamily="2" charset="2"/>
              </a:rPr>
              <a:t>L</a:t>
            </a:r>
            <a:r>
              <a:rPr lang="en-US" altLang="zh-CN" sz="2800" baseline="-25000" dirty="0">
                <a:sym typeface="Kingsoft Phonetic Plain" pitchFamily="2" charset="2"/>
              </a:rPr>
              <a:t>3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ym typeface="Kingsoft Phonetic Plain" pitchFamily="2" charset="2"/>
              </a:rPr>
              <a:t>M</a:t>
            </a:r>
            <a:r>
              <a:rPr lang="en-US" altLang="zh-CN" sz="2800" baseline="-25000" dirty="0">
                <a:sym typeface="Kingsoft Phonetic Plain" pitchFamily="2" charset="2"/>
              </a:rPr>
              <a:t>3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)</a:t>
            </a:r>
            <a:r>
              <a:rPr lang="en-US" altLang="zh-CN" sz="2800" dirty="0">
                <a:solidFill>
                  <a:srgbClr val="FF0000"/>
                </a:solidFill>
                <a:ea typeface="MS Gothic" panose="020B0609070205080204" pitchFamily="49" charset="-128"/>
                <a:sym typeface="Kingsoft Phonetic Plain" pitchFamily="2" charset="2"/>
              </a:rPr>
              <a:t>)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ym typeface="Kingsoft Phonetic Plain" pitchFamily="2" charset="2"/>
              </a:rPr>
              <a:t>(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P</a:t>
            </a:r>
            <a:r>
              <a:rPr lang="en-US" altLang="zh-CN" sz="2800" baseline="-25000" dirty="0">
                <a:sym typeface="Kingsoft Phonetic Plain" pitchFamily="2" charset="2"/>
              </a:rPr>
              <a:t>1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dirty="0">
                <a:sym typeface="Kingsoft Phonetic Plain" pitchFamily="2" charset="2"/>
              </a:rPr>
              <a:t>P</a:t>
            </a:r>
            <a:r>
              <a:rPr lang="en-US" altLang="zh-CN" sz="2800" baseline="-25000" dirty="0">
                <a:sym typeface="Kingsoft Phonetic Plain" pitchFamily="2" charset="2"/>
              </a:rPr>
              <a:t>2</a:t>
            </a:r>
            <a:r>
              <a:rPr lang="en-US" altLang="zh-CN" sz="2800" dirty="0">
                <a:sym typeface="Kingsoft Phonetic Plain" pitchFamily="2" charset="2"/>
              </a:rPr>
              <a:t>)</a:t>
            </a:r>
            <a:endParaRPr lang="en-US" altLang="zh-CN" sz="2800" dirty="0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 sz="2800" dirty="0">
                <a:sym typeface="Symbol" panose="05050102010706020507" pitchFamily="18" charset="2"/>
              </a:rPr>
              <a:t></a:t>
            </a:r>
            <a:r>
              <a:rPr lang="en-US" altLang="zh-CN" sz="2800" dirty="0">
                <a:sym typeface="Kingsoft Phonetic Plain" pitchFamily="2" charset="2"/>
              </a:rPr>
              <a:t>(L</a:t>
            </a:r>
            <a:r>
              <a:rPr lang="en-US" altLang="zh-CN" sz="2800" baseline="-25000" dirty="0">
                <a:sym typeface="Kingsoft Phonetic Plain" pitchFamily="2" charset="2"/>
              </a:rPr>
              <a:t>1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ym typeface="Kingsoft Phonetic Plain" pitchFamily="2" charset="2"/>
              </a:rPr>
              <a:t>M</a:t>
            </a:r>
            <a:r>
              <a:rPr lang="en-US" altLang="zh-CN" sz="2800" baseline="-25000" dirty="0">
                <a:sym typeface="Kingsoft Phonetic Plain" pitchFamily="2" charset="2"/>
              </a:rPr>
              <a:t>2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∧P</a:t>
            </a:r>
            <a:r>
              <a:rPr lang="en-US" altLang="zh-CN" sz="2800" baseline="-25000" dirty="0">
                <a:sym typeface="Kingsoft Phonetic Plain" pitchFamily="2" charset="2"/>
              </a:rPr>
              <a:t>1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)∨</a:t>
            </a:r>
            <a:r>
              <a:rPr lang="en-US" altLang="zh-CN" sz="2800" dirty="0">
                <a:sym typeface="Kingsoft Phonetic Plain" pitchFamily="2" charset="2"/>
              </a:rPr>
              <a:t>(L</a:t>
            </a:r>
            <a:r>
              <a:rPr lang="en-US" altLang="zh-CN" sz="2800" baseline="-25000" dirty="0">
                <a:sym typeface="Kingsoft Phonetic Plain" pitchFamily="2" charset="2"/>
              </a:rPr>
              <a:t>1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ym typeface="Kingsoft Phonetic Plain" pitchFamily="2" charset="2"/>
              </a:rPr>
              <a:t>M</a:t>
            </a:r>
            <a:r>
              <a:rPr lang="en-US" altLang="zh-CN" sz="2800" baseline="-25000" dirty="0">
                <a:sym typeface="Kingsoft Phonetic Plain" pitchFamily="2" charset="2"/>
              </a:rPr>
              <a:t>3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∧P</a:t>
            </a:r>
            <a:r>
              <a:rPr lang="en-US" altLang="zh-CN" sz="2800" baseline="-25000" dirty="0">
                <a:sym typeface="Kingsoft Phonetic Plain" pitchFamily="2" charset="2"/>
              </a:rPr>
              <a:t>1</a:t>
            </a:r>
            <a:r>
              <a:rPr lang="en-US" altLang="zh-CN" sz="2800" dirty="0">
                <a:sym typeface="Kingsoft Phonetic Plain" pitchFamily="2" charset="2"/>
              </a:rPr>
              <a:t>)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endParaRPr lang="en-US" altLang="zh-CN" sz="2800" dirty="0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    (</a:t>
            </a:r>
            <a:r>
              <a:rPr lang="en-US" altLang="zh-CN" sz="2800" dirty="0">
                <a:sym typeface="Kingsoft Phonetic Plain" pitchFamily="2" charset="2"/>
              </a:rPr>
              <a:t>L</a:t>
            </a:r>
            <a:r>
              <a:rPr lang="en-US" altLang="zh-CN" sz="2800" baseline="-25000" dirty="0">
                <a:sym typeface="Kingsoft Phonetic Plain" pitchFamily="2" charset="2"/>
              </a:rPr>
              <a:t>3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ym typeface="Kingsoft Phonetic Plain" pitchFamily="2" charset="2"/>
              </a:rPr>
              <a:t>M</a:t>
            </a:r>
            <a:r>
              <a:rPr lang="en-US" altLang="zh-CN" sz="2800" baseline="-25000" dirty="0">
                <a:sym typeface="Kingsoft Phonetic Plain" pitchFamily="2" charset="2"/>
              </a:rPr>
              <a:t>2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∧P</a:t>
            </a:r>
            <a:r>
              <a:rPr lang="en-US" altLang="zh-CN" sz="2800" baseline="-25000" dirty="0">
                <a:sym typeface="Kingsoft Phonetic Plain" pitchFamily="2" charset="2"/>
              </a:rPr>
              <a:t>1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)∨(</a:t>
            </a:r>
            <a:r>
              <a:rPr lang="en-US" altLang="zh-CN" sz="2800" dirty="0">
                <a:sym typeface="Kingsoft Phonetic Plain" pitchFamily="2" charset="2"/>
              </a:rPr>
              <a:t>L</a:t>
            </a:r>
            <a:r>
              <a:rPr lang="en-US" altLang="zh-CN" sz="2800" baseline="-25000" dirty="0">
                <a:sym typeface="Kingsoft Phonetic Plain" pitchFamily="2" charset="2"/>
              </a:rPr>
              <a:t>3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ym typeface="Kingsoft Phonetic Plain" pitchFamily="2" charset="2"/>
              </a:rPr>
              <a:t>M</a:t>
            </a:r>
            <a:r>
              <a:rPr lang="en-US" altLang="zh-CN" sz="2800" baseline="-25000" dirty="0">
                <a:sym typeface="Kingsoft Phonetic Plain" pitchFamily="2" charset="2"/>
              </a:rPr>
              <a:t>3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∧P</a:t>
            </a:r>
            <a:r>
              <a:rPr lang="en-US" altLang="zh-CN" sz="2800" baseline="-25000" dirty="0">
                <a:sym typeface="Kingsoft Phonetic Plain" pitchFamily="2" charset="2"/>
              </a:rPr>
              <a:t>1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)∨</a:t>
            </a:r>
            <a:endParaRPr lang="en-US" altLang="zh-CN" sz="2800" dirty="0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 sz="2800" dirty="0">
                <a:sym typeface="Kingsoft Phonetic Plain" pitchFamily="2" charset="2"/>
              </a:rPr>
              <a:t>    (L</a:t>
            </a:r>
            <a:r>
              <a:rPr lang="en-US" altLang="zh-CN" sz="2800" baseline="-25000" dirty="0">
                <a:sym typeface="Kingsoft Phonetic Plain" pitchFamily="2" charset="2"/>
              </a:rPr>
              <a:t>1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ym typeface="Kingsoft Phonetic Plain" pitchFamily="2" charset="2"/>
              </a:rPr>
              <a:t>M</a:t>
            </a:r>
            <a:r>
              <a:rPr lang="en-US" altLang="zh-CN" sz="2800" baseline="-25000" dirty="0">
                <a:sym typeface="Kingsoft Phonetic Plain" pitchFamily="2" charset="2"/>
              </a:rPr>
              <a:t>2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∧P</a:t>
            </a:r>
            <a:r>
              <a:rPr lang="en-US" altLang="zh-CN" sz="2800" baseline="-25000" dirty="0">
                <a:sym typeface="Kingsoft Phonetic Plain" pitchFamily="2" charset="2"/>
              </a:rPr>
              <a:t>2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)∨</a:t>
            </a:r>
            <a:r>
              <a:rPr lang="en-US" altLang="zh-CN" sz="2800" dirty="0">
                <a:sym typeface="Kingsoft Phonetic Plain" pitchFamily="2" charset="2"/>
              </a:rPr>
              <a:t>(L</a:t>
            </a:r>
            <a:r>
              <a:rPr lang="en-US" altLang="zh-CN" sz="2800" baseline="-25000" dirty="0">
                <a:sym typeface="Kingsoft Phonetic Plain" pitchFamily="2" charset="2"/>
              </a:rPr>
              <a:t>1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ym typeface="Kingsoft Phonetic Plain" pitchFamily="2" charset="2"/>
              </a:rPr>
              <a:t>M</a:t>
            </a:r>
            <a:r>
              <a:rPr lang="en-US" altLang="zh-CN" sz="2800" baseline="-25000" dirty="0">
                <a:sym typeface="Kingsoft Phonetic Plain" pitchFamily="2" charset="2"/>
              </a:rPr>
              <a:t>3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∧P</a:t>
            </a:r>
            <a:r>
              <a:rPr lang="en-US" altLang="zh-CN" sz="2800" baseline="-25000" dirty="0">
                <a:sym typeface="Kingsoft Phonetic Plain" pitchFamily="2" charset="2"/>
              </a:rPr>
              <a:t>2</a:t>
            </a:r>
            <a:r>
              <a:rPr lang="en-US" altLang="zh-CN" sz="2800" dirty="0">
                <a:sym typeface="Kingsoft Phonetic Plain" pitchFamily="2" charset="2"/>
              </a:rPr>
              <a:t>)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endParaRPr lang="en-US" altLang="zh-CN" sz="2800" dirty="0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    (</a:t>
            </a:r>
            <a:r>
              <a:rPr lang="en-US" altLang="zh-CN" sz="2800" dirty="0">
                <a:sym typeface="Kingsoft Phonetic Plain" pitchFamily="2" charset="2"/>
              </a:rPr>
              <a:t>L</a:t>
            </a:r>
            <a:r>
              <a:rPr lang="en-US" altLang="zh-CN" sz="2800" baseline="-25000" dirty="0">
                <a:sym typeface="Kingsoft Phonetic Plain" pitchFamily="2" charset="2"/>
              </a:rPr>
              <a:t>3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ym typeface="Kingsoft Phonetic Plain" pitchFamily="2" charset="2"/>
              </a:rPr>
              <a:t>M</a:t>
            </a:r>
            <a:r>
              <a:rPr lang="en-US" altLang="zh-CN" sz="2800" baseline="-25000" dirty="0">
                <a:sym typeface="Kingsoft Phonetic Plain" pitchFamily="2" charset="2"/>
              </a:rPr>
              <a:t>2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∧P</a:t>
            </a:r>
            <a:r>
              <a:rPr lang="en-US" altLang="zh-CN" sz="2800" baseline="-25000" dirty="0">
                <a:sym typeface="Kingsoft Phonetic Plain" pitchFamily="2" charset="2"/>
              </a:rPr>
              <a:t>2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)∨(</a:t>
            </a:r>
            <a:r>
              <a:rPr lang="en-US" altLang="zh-CN" sz="2800" dirty="0">
                <a:sym typeface="Kingsoft Phonetic Plain" pitchFamily="2" charset="2"/>
              </a:rPr>
              <a:t>L</a:t>
            </a:r>
            <a:r>
              <a:rPr lang="en-US" altLang="zh-CN" sz="2800" baseline="-25000" dirty="0">
                <a:sym typeface="Kingsoft Phonetic Plain" pitchFamily="2" charset="2"/>
              </a:rPr>
              <a:t>3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ym typeface="Kingsoft Phonetic Plain" pitchFamily="2" charset="2"/>
              </a:rPr>
              <a:t>M</a:t>
            </a:r>
            <a:r>
              <a:rPr lang="en-US" altLang="zh-CN" sz="2800" baseline="-25000" dirty="0">
                <a:sym typeface="Kingsoft Phonetic Plain" pitchFamily="2" charset="2"/>
              </a:rPr>
              <a:t>3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∧P</a:t>
            </a:r>
            <a:r>
              <a:rPr lang="en-US" altLang="zh-CN" sz="2800" baseline="-25000" dirty="0">
                <a:sym typeface="Kingsoft Phonetic Plain" pitchFamily="2" charset="2"/>
              </a:rPr>
              <a:t>2</a:t>
            </a:r>
            <a:r>
              <a:rPr lang="en-US" altLang="zh-CN" sz="2800" dirty="0">
                <a:ea typeface="MS Gothic" panose="020B0609070205080204" pitchFamily="49" charset="-128"/>
                <a:sym typeface="Kingsoft Phonetic Plain" pitchFamily="2" charset="2"/>
              </a:rPr>
              <a:t>) </a:t>
            </a:r>
            <a:endParaRPr lang="en-US" altLang="zh-CN" sz="2800" dirty="0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 sz="2800" dirty="0">
                <a:sym typeface="Kingsoft Phonetic Plain" pitchFamily="2" charset="2"/>
              </a:rPr>
              <a:t>可以取</a:t>
            </a:r>
            <a:r>
              <a:rPr lang="en-US" altLang="zh-CN" sz="2800" dirty="0">
                <a:solidFill>
                  <a:srgbClr val="FF0000"/>
                </a:solidFill>
                <a:sym typeface="Kingsoft Phonetic Plain" pitchFamily="2" charset="2"/>
              </a:rPr>
              <a:t>(L</a:t>
            </a:r>
            <a:r>
              <a:rPr lang="en-US" altLang="zh-CN" sz="2800" baseline="-25000" dirty="0">
                <a:solidFill>
                  <a:srgbClr val="FF0000"/>
                </a:solidFill>
                <a:sym typeface="Kingsoft Phonetic Plain" pitchFamily="2" charset="2"/>
              </a:rPr>
              <a:t>3 </a:t>
            </a:r>
            <a:r>
              <a:rPr lang="en-US" altLang="zh-CN" sz="2800" dirty="0">
                <a:solidFill>
                  <a:srgbClr val="FF0000"/>
                </a:solidFill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olidFill>
                  <a:srgbClr val="FF0000"/>
                </a:solidFill>
                <a:sym typeface="Kingsoft Phonetic Plain" pitchFamily="2" charset="2"/>
              </a:rPr>
              <a:t>M</a:t>
            </a:r>
            <a:r>
              <a:rPr lang="en-US" altLang="zh-CN" sz="2800" baseline="-25000" dirty="0">
                <a:solidFill>
                  <a:srgbClr val="FF0000"/>
                </a:solidFill>
                <a:sym typeface="Kingsoft Phonetic Plain" pitchFamily="2" charset="2"/>
              </a:rPr>
              <a:t>2</a:t>
            </a:r>
            <a:r>
              <a:rPr lang="en-US" altLang="zh-CN" sz="2800" dirty="0">
                <a:solidFill>
                  <a:srgbClr val="FF0000"/>
                </a:solidFill>
                <a:ea typeface="MS Gothic" panose="020B0609070205080204" pitchFamily="49" charset="-128"/>
                <a:sym typeface="Kingsoft Phonetic Plain" pitchFamily="2" charset="2"/>
              </a:rPr>
              <a:t>∧P</a:t>
            </a:r>
            <a:r>
              <a:rPr lang="en-US" altLang="zh-CN" sz="2800" baseline="-25000" dirty="0">
                <a:solidFill>
                  <a:srgbClr val="FF0000"/>
                </a:solidFill>
                <a:sym typeface="Kingsoft Phonetic Plain" pitchFamily="2" charset="2"/>
              </a:rPr>
              <a:t>1</a:t>
            </a:r>
            <a:r>
              <a:rPr lang="en-US" altLang="zh-CN" sz="2800" dirty="0">
                <a:solidFill>
                  <a:srgbClr val="FF0000"/>
                </a:solidFill>
                <a:sym typeface="Kingsoft Phonetic Plain" pitchFamily="2" charset="2"/>
              </a:rPr>
              <a:t>)</a:t>
            </a:r>
            <a:r>
              <a:rPr lang="zh-CN" altLang="en-US" sz="2800" dirty="0">
                <a:solidFill>
                  <a:srgbClr val="FF0000"/>
                </a:solidFill>
                <a:sym typeface="Kingsoft Phonetic Plain" pitchFamily="2" charset="2"/>
              </a:rPr>
              <a:t>、</a:t>
            </a:r>
            <a:r>
              <a:rPr lang="en-US" altLang="zh-CN" sz="2800" dirty="0">
                <a:solidFill>
                  <a:srgbClr val="FF0000"/>
                </a:solidFill>
                <a:sym typeface="Kingsoft Phonetic Plain" pitchFamily="2" charset="2"/>
              </a:rPr>
              <a:t>(L</a:t>
            </a:r>
            <a:r>
              <a:rPr lang="en-US" altLang="zh-CN" sz="2800" baseline="-25000" dirty="0">
                <a:solidFill>
                  <a:srgbClr val="FF0000"/>
                </a:solidFill>
                <a:sym typeface="Kingsoft Phonetic Plain" pitchFamily="2" charset="2"/>
              </a:rPr>
              <a:t>1</a:t>
            </a:r>
            <a:r>
              <a:rPr lang="en-US" altLang="zh-CN" sz="2800" dirty="0">
                <a:solidFill>
                  <a:srgbClr val="FF0000"/>
                </a:solidFill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olidFill>
                  <a:srgbClr val="FF0000"/>
                </a:solidFill>
                <a:sym typeface="Kingsoft Phonetic Plain" pitchFamily="2" charset="2"/>
              </a:rPr>
              <a:t>M</a:t>
            </a:r>
            <a:r>
              <a:rPr lang="en-US" altLang="zh-CN" sz="2800" baseline="-25000" dirty="0">
                <a:solidFill>
                  <a:srgbClr val="FF0000"/>
                </a:solidFill>
                <a:sym typeface="Kingsoft Phonetic Plain" pitchFamily="2" charset="2"/>
              </a:rPr>
              <a:t>3</a:t>
            </a:r>
            <a:r>
              <a:rPr lang="en-US" altLang="zh-CN" sz="2800" dirty="0">
                <a:solidFill>
                  <a:srgbClr val="FF0000"/>
                </a:solidFill>
                <a:ea typeface="MS Gothic" panose="020B0609070205080204" pitchFamily="49" charset="-128"/>
                <a:sym typeface="Kingsoft Phonetic Plain" pitchFamily="2" charset="2"/>
              </a:rPr>
              <a:t>∧P</a:t>
            </a:r>
            <a:r>
              <a:rPr lang="en-US" altLang="zh-CN" sz="2800" baseline="-25000" dirty="0">
                <a:solidFill>
                  <a:srgbClr val="FF0000"/>
                </a:solidFill>
                <a:sym typeface="Kingsoft Phonetic Plain" pitchFamily="2" charset="2"/>
              </a:rPr>
              <a:t>2</a:t>
            </a:r>
            <a:r>
              <a:rPr lang="en-US" altLang="zh-CN" sz="2800" dirty="0">
                <a:solidFill>
                  <a:srgbClr val="FF0000"/>
                </a:solidFill>
                <a:sym typeface="Kingsoft Phonetic Plain" pitchFamily="2" charset="2"/>
              </a:rPr>
              <a:t>)</a:t>
            </a:r>
            <a:r>
              <a:rPr lang="zh-CN" altLang="en-US" sz="2800" dirty="0">
                <a:sym typeface="Kingsoft Phonetic Plain" pitchFamily="2" charset="2"/>
              </a:rPr>
              <a:t>为</a:t>
            </a:r>
            <a:r>
              <a:rPr lang="en-US" altLang="zh-CN" sz="2800" dirty="0">
                <a:sym typeface="Kingsoft Phonetic Plain" pitchFamily="2" charset="2"/>
              </a:rPr>
              <a:t>T</a:t>
            </a:r>
            <a:r>
              <a:rPr lang="zh-CN" altLang="en-US" sz="2800" dirty="0">
                <a:sym typeface="Kingsoft Phonetic Plain" pitchFamily="2" charset="2"/>
              </a:rPr>
              <a:t>，</a:t>
            </a:r>
            <a:endParaRPr lang="zh-CN" altLang="en-US" sz="2800" dirty="0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 sz="2800" dirty="0">
                <a:sym typeface="Kingsoft Phonetic Plain" pitchFamily="2" charset="2"/>
              </a:rPr>
              <a:t>得到两种排法。</a:t>
            </a:r>
            <a:endParaRPr lang="zh-CN" altLang="en-US" sz="2800" dirty="0">
              <a:sym typeface="Kingsoft Phonetic Plain" pitchFamily="2" charset="2"/>
            </a:endParaRP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78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8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8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8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8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87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87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87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87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7" grpId="0" autoUpdateAnimBg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7762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本节要掌握：</a:t>
            </a:r>
            <a:endParaRPr lang="zh-CN" altLang="en-US">
              <a:solidFill>
                <a:srgbClr val="FF0000"/>
              </a:solidFill>
            </a:endParaRPr>
          </a:p>
          <a:p>
            <a:pPr eaLnBrk="1" hangingPunct="1">
              <a:buFontTx/>
              <a:buNone/>
            </a:pPr>
            <a:r>
              <a:rPr lang="zh-CN" altLang="en-US">
                <a:solidFill>
                  <a:srgbClr val="FF0000"/>
                </a:solidFill>
              </a:rPr>
              <a:t>   析取范</a:t>
            </a:r>
            <a:r>
              <a:rPr lang="zh-CN" altLang="en-US"/>
              <a:t>式、合取范式、主析取范式、主合取范式的</a:t>
            </a:r>
            <a:r>
              <a:rPr lang="zh-CN" altLang="en-US">
                <a:solidFill>
                  <a:srgbClr val="FF0000"/>
                </a:solidFill>
              </a:rPr>
              <a:t>写法</a:t>
            </a:r>
            <a:r>
              <a:rPr lang="zh-CN" altLang="en-US"/>
              <a:t>，范式的</a:t>
            </a:r>
            <a:r>
              <a:rPr lang="zh-CN" altLang="en-US">
                <a:solidFill>
                  <a:srgbClr val="FF0000"/>
                </a:solidFill>
              </a:rPr>
              <a:t>应用</a:t>
            </a:r>
            <a:r>
              <a:rPr lang="zh-CN" altLang="en-US"/>
              <a:t>。</a:t>
            </a:r>
            <a:endParaRPr lang="zh-CN" altLang="en-US"/>
          </a:p>
          <a:p>
            <a:pPr eaLnBrk="1" hangingPunct="1">
              <a:buFontTx/>
              <a:buNone/>
            </a:pPr>
            <a:endParaRPr lang="zh-CN" altLang="en-US"/>
          </a:p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作业</a:t>
            </a:r>
            <a:endParaRPr lang="zh-CN" altLang="en-US">
              <a:solidFill>
                <a:srgbClr val="FF0000"/>
              </a:solidFill>
            </a:endParaRPr>
          </a:p>
          <a:p>
            <a:pPr eaLnBrk="1" hangingPunct="1">
              <a:buFontTx/>
              <a:buNone/>
            </a:pPr>
            <a:r>
              <a:rPr lang="zh-CN" altLang="en-US"/>
              <a:t>    第</a:t>
            </a:r>
            <a:r>
              <a:rPr lang="en-US" altLang="zh-CN"/>
              <a:t>39</a:t>
            </a:r>
            <a:r>
              <a:rPr lang="zh-CN" altLang="en-US"/>
              <a:t>页： </a:t>
            </a:r>
            <a:r>
              <a:rPr lang="en-US" altLang="zh-CN"/>
              <a:t>(2) d)  , 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/>
              <a:t>                    (3) d) , 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/>
              <a:t>                    (4) c) d)  ,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/>
              <a:t>                    (7) </a:t>
            </a:r>
            <a:endParaRPr lang="en-US" altLang="zh-CN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PP_MARK_KEY" val="f07cbab6-8e1d-4313-a135-10d6a42cf436"/>
  <p:tag name="COMMONDATA" val="eyJoZGlkIjoiOTdlZWM4ZTkzMDQwNzlhMzliMmYyZDVlZGZhZjFmYz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4856</Words>
  <Application>WPS 演示</Application>
  <PresentationFormat>全屏显示(4:3)</PresentationFormat>
  <Paragraphs>728</Paragraphs>
  <Slides>26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3" baseType="lpstr">
      <vt:lpstr>Arial</vt:lpstr>
      <vt:lpstr>宋体</vt:lpstr>
      <vt:lpstr>Wingdings</vt:lpstr>
      <vt:lpstr>Candara</vt:lpstr>
      <vt:lpstr>华文楷体</vt:lpstr>
      <vt:lpstr>Calibri Light</vt:lpstr>
      <vt:lpstr>楷体</vt:lpstr>
      <vt:lpstr>黑体</vt:lpstr>
      <vt:lpstr>Times New Roman</vt:lpstr>
      <vt:lpstr>Kingsoft Phonetic Plain</vt:lpstr>
      <vt:lpstr>Segoe Print</vt:lpstr>
      <vt:lpstr>Symbol</vt:lpstr>
      <vt:lpstr>MS Gothic</vt:lpstr>
      <vt:lpstr>微软雅黑</vt:lpstr>
      <vt:lpstr>Arial Unicode MS</vt:lpstr>
      <vt:lpstr>Office 主题​​</vt:lpstr>
      <vt:lpstr>Equation.3</vt:lpstr>
      <vt:lpstr>PowerPoint 演示文稿</vt:lpstr>
      <vt:lpstr>一.析取范式与合取范式 </vt:lpstr>
      <vt:lpstr>PowerPoint 演示文稿</vt:lpstr>
      <vt:lpstr>PowerPoint 演示文稿</vt:lpstr>
      <vt:lpstr>PowerPoint 演示文稿</vt:lpstr>
      <vt:lpstr>二.主析取范式与主合取范式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homg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离散数学</dc:title>
  <dc:creator>xuxf</dc:creator>
  <cp:lastModifiedBy>鲍建华</cp:lastModifiedBy>
  <cp:revision>512</cp:revision>
  <dcterms:created xsi:type="dcterms:W3CDTF">2001-03-04T02:11:00Z</dcterms:created>
  <dcterms:modified xsi:type="dcterms:W3CDTF">2026-07-05T12:01:48Z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8B52DF1AAC54486EA075D08A010EAA2E_12</vt:lpwstr>
  </property>
  <property fmtid="{D5CDD505-2E9C-101B-9397-08002B2CF9AE}" pid="3" name="KSOProductBuildVer">
    <vt:lpwstr>2052-12.1.0.22175</vt:lpwstr>
  </property>
</Properties>
</file>