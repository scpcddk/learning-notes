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29"/>
  </p:notesMasterIdLst>
  <p:sldIdLst>
    <p:sldId id="879" r:id="rId2"/>
    <p:sldId id="880" r:id="rId3"/>
    <p:sldId id="881" r:id="rId4"/>
    <p:sldId id="911" r:id="rId5"/>
    <p:sldId id="882" r:id="rId6"/>
    <p:sldId id="912" r:id="rId7"/>
    <p:sldId id="883" r:id="rId8"/>
    <p:sldId id="884" r:id="rId9"/>
    <p:sldId id="885" r:id="rId10"/>
    <p:sldId id="886" r:id="rId11"/>
    <p:sldId id="887" r:id="rId12"/>
    <p:sldId id="888" r:id="rId13"/>
    <p:sldId id="889" r:id="rId14"/>
    <p:sldId id="890" r:id="rId15"/>
    <p:sldId id="891" r:id="rId16"/>
    <p:sldId id="892" r:id="rId17"/>
    <p:sldId id="893" r:id="rId18"/>
    <p:sldId id="894" r:id="rId19"/>
    <p:sldId id="895" r:id="rId20"/>
    <p:sldId id="896" r:id="rId21"/>
    <p:sldId id="900" r:id="rId22"/>
    <p:sldId id="897" r:id="rId23"/>
    <p:sldId id="904" r:id="rId24"/>
    <p:sldId id="905" r:id="rId25"/>
    <p:sldId id="906" r:id="rId26"/>
    <p:sldId id="907" r:id="rId27"/>
    <p:sldId id="908" r:id="rId28"/>
  </p:sldIdLst>
  <p:sldSz cx="12195175" cy="6859588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82600" indent="1270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66788" indent="250825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449388" indent="377825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933575" indent="503238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2">
          <p15:clr>
            <a:srgbClr val="A4A3A4"/>
          </p15:clr>
        </p15:guide>
        <p15:guide id="2" pos="320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80808"/>
    <a:srgbClr val="800000"/>
    <a:srgbClr val="FFFFFF"/>
    <a:srgbClr val="FFFF00"/>
    <a:srgbClr val="FF99FF"/>
    <a:srgbClr val="CB68DC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3" autoAdjust="0"/>
    <p:restoredTop sz="93135" autoAdjust="0"/>
  </p:normalViewPr>
  <p:slideViewPr>
    <p:cSldViewPr>
      <p:cViewPr varScale="1">
        <p:scale>
          <a:sx n="61" d="100"/>
          <a:sy n="61" d="100"/>
        </p:scale>
        <p:origin x="668" y="60"/>
      </p:cViewPr>
      <p:guideLst>
        <p:guide orient="horz" pos="4082"/>
        <p:guide pos="32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3774"/>
    </p:cViewPr>
  </p:sorterViewPr>
  <p:notesViewPr>
    <p:cSldViewPr>
      <p:cViewPr varScale="1">
        <p:scale>
          <a:sx n="53" d="100"/>
          <a:sy n="53" d="100"/>
        </p:scale>
        <p:origin x="-294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0B550A2-DFF5-4695-A07B-12AFBECFFB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03C3A49-E7C5-400C-870E-096382FDBCF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670DEF5F-47C7-4245-AB21-0C3BB7DD40A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2412842-B331-4324-9A1E-5CC0191A042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F775D5B-E9CC-4323-98D7-2D89745447D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EC2212F-8A20-4BE6-B217-400178CFAB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41CAC01D-DB7D-4C08-BE4B-CCDE1882EB6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8260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6678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44938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93357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419462" algn="l" defTabSz="96778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03356" algn="l" defTabSz="96778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387245" algn="l" defTabSz="96778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871139" algn="l" defTabSz="96778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CAC01D-DB7D-4C08-BE4B-CCDE1882EB6E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5122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7D72388-EB9A-4CD6-96A3-36FE6A4B3A43}"/>
              </a:ext>
            </a:extLst>
          </p:cNvPr>
          <p:cNvCxnSpPr/>
          <p:nvPr userDrawn="1"/>
        </p:nvCxnSpPr>
        <p:spPr>
          <a:xfrm>
            <a:off x="0" y="950586"/>
            <a:ext cx="12195175" cy="2117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" name="Picture 17" descr="logo">
            <a:extLst>
              <a:ext uri="{FF2B5EF4-FFF2-40B4-BE49-F238E27FC236}">
                <a16:creationId xmlns:a16="http://schemas.microsoft.com/office/drawing/2014/main" id="{7727962C-6C26-4074-AC7F-8A32558A53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1275" y="188913"/>
            <a:ext cx="1633538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8FC95743-1CE0-4ED8-BBB0-F6104EF4ADE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113713" y="279400"/>
            <a:ext cx="2344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数学系：郭阳</a:t>
            </a:r>
          </a:p>
        </p:txBody>
      </p:sp>
    </p:spTree>
    <p:extLst>
      <p:ext uri="{BB962C8B-B14F-4D97-AF65-F5344CB8AC3E}">
        <p14:creationId xmlns:p14="http://schemas.microsoft.com/office/powerpoint/2010/main" val="1753862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A36E01E1-49DE-4A84-B1ED-BF9F04502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423025"/>
            <a:ext cx="2846388" cy="366713"/>
          </a:xfrm>
          <a:prstGeom prst="rect">
            <a:avLst/>
          </a:prstGeom>
        </p:spPr>
        <p:txBody>
          <a:bodyPr vert="horz" lIns="96778" tIns="48388" rIns="96778" bIns="0" anchor="b"/>
          <a:lstStyle>
            <a:lvl1pPr algn="l">
              <a:spcBef>
                <a:spcPct val="0"/>
              </a:spcBef>
              <a:defRPr kumimoji="0" sz="1100">
                <a:solidFill>
                  <a:schemeClr val="tx2">
                    <a:shade val="50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1BFE8283-18FB-4860-BFA8-EF225B107BD5}" type="datetimeFigureOut">
              <a:rPr lang="en-US"/>
              <a:pPr>
                <a:defRPr/>
              </a:pPr>
              <a:t>12/22/2025</a:t>
            </a:fld>
            <a:endParaRPr lang="en-US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777BF287-EF1C-422D-9250-910F58A56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7188" y="6423025"/>
            <a:ext cx="3860800" cy="366713"/>
          </a:xfrm>
          <a:prstGeom prst="rect">
            <a:avLst/>
          </a:prstGeom>
        </p:spPr>
        <p:txBody>
          <a:bodyPr vert="horz" lIns="0" tIns="48388" rIns="0" bIns="0" anchor="b"/>
          <a:lstStyle>
            <a:lvl1pPr algn="ctr">
              <a:spcBef>
                <a:spcPct val="0"/>
              </a:spcBef>
              <a:defRPr kumimoji="0" sz="1100">
                <a:solidFill>
                  <a:schemeClr val="tx2">
                    <a:shade val="50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7C557705-1FF3-4FD8-AA68-292CDAC6ED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74375" y="6423025"/>
            <a:ext cx="1016000" cy="366713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kumimoji="0" sz="1100">
                <a:solidFill>
                  <a:srgbClr val="000000"/>
                </a:solidFill>
              </a:defRPr>
            </a:lvl1pPr>
          </a:lstStyle>
          <a:p>
            <a:fld id="{7F0A99CE-C275-4EEF-81DD-26CF20ED11B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  <a:ea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  <a:ea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  <a:ea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  <a:ea typeface="宋体" charset="-122"/>
        </a:defRPr>
      </a:lvl5pPr>
      <a:lvl6pPr marL="609743" algn="l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Franklin Gothic Book" pitchFamily="34" charset="0"/>
          <a:ea typeface="宋体" charset="-122"/>
        </a:defRPr>
      </a:lvl6pPr>
      <a:lvl7pPr marL="1219487" algn="l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Franklin Gothic Book" pitchFamily="34" charset="0"/>
          <a:ea typeface="宋体" charset="-122"/>
        </a:defRPr>
      </a:lvl7pPr>
      <a:lvl8pPr marL="1829230" algn="l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Franklin Gothic Book" pitchFamily="34" charset="0"/>
          <a:ea typeface="宋体" charset="-122"/>
        </a:defRPr>
      </a:lvl8pPr>
      <a:lvl9pPr marL="2438974" algn="l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Franklin Gothic Book" pitchFamily="34" charset="0"/>
          <a:ea typeface="宋体" charset="-122"/>
        </a:defRPr>
      </a:lvl9pPr>
    </p:titleStyle>
    <p:bodyStyle>
      <a:lvl1pPr marL="444500" indent="-4032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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763588" indent="-2889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 2" panose="05020102010507070707" pitchFamily="18" charset="2"/>
        <a:buChar char="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062038" indent="-268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Arial" panose="020B0604020202020204" pitchFamily="34" charset="0"/>
        <a:buChar char="○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52550" indent="-249238" algn="l" rtl="0" eaLnBrk="0" fontAlgn="base" hangingPunct="0">
        <a:spcBef>
          <a:spcPct val="20000"/>
        </a:spcBef>
        <a:spcAft>
          <a:spcPct val="0"/>
        </a:spcAft>
        <a:buClr>
          <a:srgbClr val="2A1801"/>
        </a:buClr>
        <a:buSzPct val="90000"/>
        <a:buFont typeface="Wingdings 2" panose="05020102010507070707" pitchFamily="18" charset="2"/>
        <a:buChar char="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76388" indent="-192088" algn="l" rtl="0" eaLnBrk="0" fontAlgn="base" hangingPunct="0">
        <a:spcBef>
          <a:spcPct val="20000"/>
        </a:spcBef>
        <a:spcAft>
          <a:spcPct val="0"/>
        </a:spcAft>
        <a:buClr>
          <a:srgbClr val="00ADDC"/>
        </a:buClr>
        <a:buSzPct val="100000"/>
        <a:buFont typeface="Arial" panose="020B0604020202020204" pitchFamily="34" charset="0"/>
        <a:buChar char="-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00078" indent="-193557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1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32347" indent="-193557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9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64617" indent="-193557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2467850" indent="-193557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609743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487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230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974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717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460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204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947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2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5" Type="http://schemas.openxmlformats.org/officeDocument/2006/relationships/image" Target="../media/image15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1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3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6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6.wmf"/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34.bin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5" Type="http://schemas.openxmlformats.org/officeDocument/2006/relationships/image" Target="../media/image37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3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47.wmf"/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12" Type="http://schemas.openxmlformats.org/officeDocument/2006/relationships/oleObject" Target="../embeddings/oleObject45.bin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53.wmf"/><Relationship Id="rId18" Type="http://schemas.openxmlformats.org/officeDocument/2006/relationships/oleObject" Target="../embeddings/oleObject54.bin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51.bin"/><Relationship Id="rId17" Type="http://schemas.openxmlformats.org/officeDocument/2006/relationships/image" Target="../media/image55.wmf"/><Relationship Id="rId2" Type="http://schemas.openxmlformats.org/officeDocument/2006/relationships/oleObject" Target="../embeddings/oleObject46.bin"/><Relationship Id="rId16" Type="http://schemas.openxmlformats.org/officeDocument/2006/relationships/oleObject" Target="../embeddings/oleObject53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5" Type="http://schemas.openxmlformats.org/officeDocument/2006/relationships/image" Target="../media/image54.wmf"/><Relationship Id="rId10" Type="http://schemas.openxmlformats.org/officeDocument/2006/relationships/oleObject" Target="../embeddings/oleObject50.bin"/><Relationship Id="rId19" Type="http://schemas.openxmlformats.org/officeDocument/2006/relationships/image" Target="../media/image56.wmf"/><Relationship Id="rId4" Type="http://schemas.openxmlformats.org/officeDocument/2006/relationships/oleObject" Target="../embeddings/oleObject47.bin"/><Relationship Id="rId9" Type="http://schemas.openxmlformats.org/officeDocument/2006/relationships/image" Target="../media/image51.wmf"/><Relationship Id="rId14" Type="http://schemas.openxmlformats.org/officeDocument/2006/relationships/oleObject" Target="../embeddings/oleObject5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wmf"/><Relationship Id="rId4" Type="http://schemas.openxmlformats.org/officeDocument/2006/relationships/oleObject" Target="../embeddings/oleObject5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69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7" Type="http://schemas.openxmlformats.org/officeDocument/2006/relationships/image" Target="../media/image65.svg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7.svg"/><Relationship Id="rId4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7" Type="http://schemas.openxmlformats.org/officeDocument/2006/relationships/image" Target="../media/image76.w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75.wmf"/><Relationship Id="rId4" Type="http://schemas.openxmlformats.org/officeDocument/2006/relationships/oleObject" Target="../embeddings/oleObject61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7" Type="http://schemas.openxmlformats.org/officeDocument/2006/relationships/image" Target="../media/image79.w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65.bin"/><Relationship Id="rId5" Type="http://schemas.openxmlformats.org/officeDocument/2006/relationships/image" Target="../media/image78.wmf"/><Relationship Id="rId4" Type="http://schemas.openxmlformats.org/officeDocument/2006/relationships/oleObject" Target="../embeddings/oleObject64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1.wmf"/><Relationship Id="rId4" Type="http://schemas.openxmlformats.org/officeDocument/2006/relationships/oleObject" Target="../embeddings/oleObject67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.wmf"/><Relationship Id="rId4" Type="http://schemas.openxmlformats.org/officeDocument/2006/relationships/oleObject" Target="../embeddings/oleObject6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>
            <a:extLst>
              <a:ext uri="{FF2B5EF4-FFF2-40B4-BE49-F238E27FC236}">
                <a16:creationId xmlns:a16="http://schemas.microsoft.com/office/drawing/2014/main" id="{0755B6EE-64C2-4CCF-8B73-85CD0FE06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3" y="1270000"/>
            <a:ext cx="12145962" cy="280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在线性空间中，向量之间的基本运算只有线性运算，即加法与数量乘法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 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如果我们以几何空间中的向量作为线性空间理论的一个具体模型，那么就会发现向量的度量性质，如长度、角度等，在线性空间理论中并没有得到反映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 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但是向量的度量性质在很多问题中有着特殊的地位，因此有必要在线性空间中引入度量的概念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zh-CN" altLang="en-US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A8E57854-B989-452F-B370-E55B530B5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557338"/>
            <a:ext cx="9144000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endParaRPr lang="zh-CN" altLang="en-US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6324" name="Rectangle 5">
            <a:extLst>
              <a:ext uri="{FF2B5EF4-FFF2-40B4-BE49-F238E27FC236}">
                <a16:creationId xmlns:a16="http://schemas.microsoft.com/office/drawing/2014/main" id="{2D8F3A51-C9A4-419A-B936-713C8490E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欧几里得空间的定义及例子</a:t>
            </a:r>
          </a:p>
        </p:txBody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ACA50355-1A57-4F79-A1C4-177EC000C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3" y="4365625"/>
            <a:ext cx="12144375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在几何空间中，向量的长度与夹角等度量性质都可以通过向量的内积来表示，而且向量的内积有明显的代数性质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 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因此，我们要引进内积作为基本概念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</a:t>
            </a:r>
            <a:endParaRPr lang="zh-CN" altLang="en-US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>
            <a:extLst>
              <a:ext uri="{FF2B5EF4-FFF2-40B4-BE49-F238E27FC236}">
                <a16:creationId xmlns:a16="http://schemas.microsoft.com/office/drawing/2014/main" id="{E1AFFD6B-B7E7-4593-94FE-0DF8D5FB6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3" y="1125538"/>
            <a:ext cx="12145962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定义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设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实数域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上的一个线性空间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上定义一个二元实函数，记作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[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],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如果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对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, , V,   kR,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满足如下性质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:       </a:t>
            </a:r>
            <a:endParaRPr lang="zh-CN" altLang="en-US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36D9B772-7BC5-4D1C-B8B1-97A723255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2420938"/>
            <a:ext cx="914400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(1) </a:t>
            </a:r>
            <a:r>
              <a:rPr lang="en-US" altLang="zh-CN" sz="2800">
                <a:latin typeface="华文新魏" panose="02010800040101010101" pitchFamily="2" charset="-122"/>
                <a:ea typeface="MS PGothic" panose="020B0600070205080204" pitchFamily="34" charset="-128"/>
              </a:rPr>
              <a:t>[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]=</a:t>
            </a:r>
            <a:r>
              <a:rPr lang="en-US" altLang="zh-CN" sz="2800">
                <a:latin typeface="华文新魏" panose="02010800040101010101" pitchFamily="2" charset="-122"/>
                <a:ea typeface="MS PGothic" panose="020B0600070205080204" pitchFamily="34" charset="-128"/>
              </a:rPr>
              <a:t>[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, ]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（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对称性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）；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8DCE2E72-1663-4D3D-8DD0-ED0AD4F3F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3162300"/>
            <a:ext cx="979170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(2) </a:t>
            </a:r>
            <a:r>
              <a:rPr lang="en-US" altLang="zh-CN" sz="2800">
                <a:latin typeface="华文新魏" panose="02010800040101010101" pitchFamily="2" charset="-122"/>
                <a:ea typeface="MS PGothic" panose="020B0600070205080204" pitchFamily="34" charset="-128"/>
              </a:rPr>
              <a:t>[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+, ]=</a:t>
            </a:r>
            <a:r>
              <a:rPr lang="en-US" altLang="zh-CN" sz="2800">
                <a:latin typeface="华文新魏" panose="02010800040101010101" pitchFamily="2" charset="-122"/>
                <a:ea typeface="MS PGothic" panose="020B0600070205080204" pitchFamily="34" charset="-128"/>
              </a:rPr>
              <a:t>[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]+[, ]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  </a:t>
            </a:r>
            <a:r>
              <a:rPr lang="en-US" altLang="zh-CN" sz="2800">
                <a:latin typeface="华文新魏" panose="02010800040101010101" pitchFamily="2" charset="-122"/>
                <a:ea typeface="MS PGothic" panose="020B0600070205080204" pitchFamily="34" charset="-128"/>
              </a:rPr>
              <a:t>[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]=k</a:t>
            </a:r>
            <a:r>
              <a:rPr lang="en-US" altLang="zh-CN" sz="2800">
                <a:latin typeface="华文新魏" panose="02010800040101010101" pitchFamily="2" charset="-122"/>
                <a:ea typeface="MS PGothic" panose="020B0600070205080204" pitchFamily="34" charset="-128"/>
              </a:rPr>
              <a:t>[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]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（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线性性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）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;</a:t>
            </a:r>
          </a:p>
        </p:txBody>
      </p:sp>
      <p:sp>
        <p:nvSpPr>
          <p:cNvPr id="57349" name="Text Box 10">
            <a:extLst>
              <a:ext uri="{FF2B5EF4-FFF2-40B4-BE49-F238E27FC236}">
                <a16:creationId xmlns:a16="http://schemas.microsoft.com/office/drawing/2014/main" id="{0EDBC5BD-3AF2-4881-A137-EEDD0F4A1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3" y="4725988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      </a:t>
            </a:r>
            <a:endParaRPr lang="en-US" altLang="zh-CN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31C5BBAB-53D9-48A6-ADF3-BFC92844B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3929063"/>
            <a:ext cx="914400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(3) </a:t>
            </a:r>
            <a:r>
              <a:rPr lang="en-US" altLang="zh-CN" sz="2800">
                <a:latin typeface="华文新魏" panose="02010800040101010101" pitchFamily="2" charset="-122"/>
                <a:ea typeface="MS PGothic" panose="020B0600070205080204" pitchFamily="34" charset="-128"/>
              </a:rPr>
              <a:t>[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]</a:t>
            </a:r>
            <a:r>
              <a:rPr lang="en-US" altLang="zh-CN" sz="2800">
                <a:ea typeface="华文新魏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0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当且仅当 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=0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时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en-US" altLang="zh-CN" sz="2800">
                <a:latin typeface="华文新魏" panose="02010800040101010101" pitchFamily="2" charset="-122"/>
                <a:ea typeface="MS PGothic" panose="020B0600070205080204" pitchFamily="34" charset="-128"/>
              </a:rPr>
              <a:t>[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]=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0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（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正定性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）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2E63422F-3F3E-43C6-A56B-874242A90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4649788"/>
            <a:ext cx="9144000" cy="607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则称二元实函数 </a:t>
            </a:r>
            <a:r>
              <a:rPr lang="en-US" altLang="zh-CN" sz="2800" dirty="0">
                <a:latin typeface="华文新魏" panose="02010800040101010101" pitchFamily="2" charset="-122"/>
                <a:ea typeface="MS PGothic" panose="020B0600070205080204" pitchFamily="34" charset="-128"/>
              </a:rPr>
              <a:t>[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]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上的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内积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  </a:t>
            </a: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3822632D-C84D-41CC-8057-A3AE43A1F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6018213"/>
            <a:ext cx="11809413" cy="61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定义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 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定义了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内积的实线性空间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称为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欧几里得空间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，简称为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欧氏空间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  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86BBC50C-AF6C-46D5-AAA1-CC698508F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5297488"/>
            <a:ext cx="116649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注：由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(1)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(2)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可知，</a:t>
            </a:r>
            <a:r>
              <a:rPr lang="en-US" altLang="zh-CN" sz="2800" dirty="0">
                <a:latin typeface="华文新魏" panose="02010800040101010101" pitchFamily="2" charset="-122"/>
                <a:ea typeface="MS PGothic" panose="020B0600070205080204" pitchFamily="34" charset="-128"/>
              </a:rPr>
              <a:t> [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 + ]=</a:t>
            </a:r>
            <a:r>
              <a:rPr lang="en-US" altLang="zh-CN" sz="2800" dirty="0">
                <a:latin typeface="华文新魏" panose="02010800040101010101" pitchFamily="2" charset="-122"/>
                <a:ea typeface="MS PGothic" panose="020B0600070205080204" pitchFamily="34" charset="-128"/>
              </a:rPr>
              <a:t>[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]+[, ]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  </a:t>
            </a:r>
            <a:r>
              <a:rPr lang="en-US" altLang="zh-CN" sz="2800" dirty="0">
                <a:latin typeface="华文新魏" panose="02010800040101010101" pitchFamily="2" charset="-122"/>
                <a:ea typeface="MS PGothic" panose="020B0600070205080204" pitchFamily="34" charset="-128"/>
              </a:rPr>
              <a:t>[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]=k</a:t>
            </a:r>
            <a:r>
              <a:rPr lang="en-US" altLang="zh-CN" sz="2800" dirty="0">
                <a:latin typeface="华文新魏" panose="02010800040101010101" pitchFamily="2" charset="-122"/>
                <a:ea typeface="MS PGothic" panose="020B0600070205080204" pitchFamily="34" charset="-128"/>
              </a:rPr>
              <a:t>[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].  </a:t>
            </a:r>
          </a:p>
        </p:txBody>
      </p:sp>
      <p:sp>
        <p:nvSpPr>
          <p:cNvPr id="57354" name="Rectangle 5">
            <a:extLst>
              <a:ext uri="{FF2B5EF4-FFF2-40B4-BE49-F238E27FC236}">
                <a16:creationId xmlns:a16="http://schemas.microsoft.com/office/drawing/2014/main" id="{88F57C13-C421-482A-BF21-13667424A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欧几里得空间的定义及例子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7" grpId="0" autoUpdateAnimBg="0"/>
      <p:bldP spid="8" grpId="0" autoUpdateAnimBg="0"/>
      <p:bldP spid="9" grpId="0" autoUpdateAnimBg="0"/>
      <p:bldP spid="10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>
            <a:extLst>
              <a:ext uri="{FF2B5EF4-FFF2-40B4-BE49-F238E27FC236}">
                <a16:creationId xmlns:a16="http://schemas.microsoft.com/office/drawing/2014/main" id="{263BF79F-F165-4112-9BCA-630273B2E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497013"/>
            <a:ext cx="12145962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1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中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对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=(a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a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,a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=(b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b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,b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R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定义二元实函数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           </a:t>
            </a:r>
            <a:r>
              <a:rPr lang="en-US" altLang="zh-CN" sz="2800">
                <a:latin typeface="华文新魏" panose="02010800040101010101" pitchFamily="2" charset="-122"/>
                <a:ea typeface="MS PGothic" panose="020B0600070205080204" pitchFamily="34" charset="-128"/>
              </a:rPr>
              <a:t>[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]=a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 a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 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...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 a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显然，这个二元实函数满足内积定义的三个条件，因此它是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中的一个内积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进而，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就成为了一个欧几里得空间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 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904B2F45-9EBC-4C38-BDEF-101509524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3833813"/>
            <a:ext cx="12145962" cy="233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2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中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对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=(a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a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,a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=(b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b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,b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R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定义二元实函数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           </a:t>
            </a:r>
            <a:r>
              <a:rPr lang="en-US" altLang="zh-CN" sz="2800">
                <a:latin typeface="华文新魏" panose="02010800040101010101" pitchFamily="2" charset="-122"/>
                <a:ea typeface="MS PGothic" panose="020B0600070205080204" pitchFamily="34" charset="-128"/>
              </a:rPr>
              <a:t>[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]=a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+ 2a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 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...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 na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这个二元实函数也满足内积定义的三个条件，因此它也是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中的一个内积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从而，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就成为了另一个欧几里得空间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 </a:t>
            </a: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F82FFF48-B673-4A53-94DD-16EF67D00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6129338"/>
            <a:ext cx="11809413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注：同一个实线性空间，不同的内积给出了不同的欧氏空间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  </a:t>
            </a:r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31B48C6D-0059-4E33-8EA0-43C892A04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欧几里得空间的定义及例子</a:t>
            </a:r>
          </a:p>
        </p:txBody>
      </p:sp>
      <p:sp>
        <p:nvSpPr>
          <p:cNvPr id="58374" name="Text Box 11">
            <a:extLst>
              <a:ext uri="{FF2B5EF4-FFF2-40B4-BE49-F238E27FC236}">
                <a16:creationId xmlns:a16="http://schemas.microsoft.com/office/drawing/2014/main" id="{4FC3CF27-AF2D-4E93-8AEC-BFCC12001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981075"/>
            <a:ext cx="11809412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几个例子：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3" name="Rectangle 5">
            <a:extLst>
              <a:ext uri="{FF2B5EF4-FFF2-40B4-BE49-F238E27FC236}">
                <a16:creationId xmlns:a16="http://schemas.microsoft.com/office/drawing/2014/main" id="{31B48C6D-0059-4E33-8EA0-43C892A04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欧几里得空间的定义及例子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890C9FF-951B-4DE7-BC56-99C0C047C1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455418"/>
              </p:ext>
            </p:extLst>
          </p:nvPr>
        </p:nvGraphicFramePr>
        <p:xfrm>
          <a:off x="82563" y="1053530"/>
          <a:ext cx="12030047" cy="1413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2" imgW="4432320" imgH="520560" progId="Paint.Picture">
                  <p:embed/>
                </p:oleObj>
              </mc:Choice>
              <mc:Fallback>
                <p:oleObj name="BMP 图像" r:id="rId2" imgW="4432320" imgH="5205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563" y="1053530"/>
                        <a:ext cx="12030047" cy="1413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631582F-3DFD-42EA-869C-8B1C9E8582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9018"/>
              </p:ext>
            </p:extLst>
          </p:nvPr>
        </p:nvGraphicFramePr>
        <p:xfrm>
          <a:off x="768995" y="2771475"/>
          <a:ext cx="9005965" cy="621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4" imgW="3314880" imgH="228600" progId="Paint.Picture">
                  <p:embed/>
                </p:oleObj>
              </mc:Choice>
              <mc:Fallback>
                <p:oleObj name="BMP 图像" r:id="rId4" imgW="3314880" imgH="2286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8995" y="2771475"/>
                        <a:ext cx="9005965" cy="6211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329A429-1B22-4D7B-9E92-526CB09921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832801"/>
              </p:ext>
            </p:extLst>
          </p:nvPr>
        </p:nvGraphicFramePr>
        <p:xfrm>
          <a:off x="336947" y="3625112"/>
          <a:ext cx="8695409" cy="621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6" imgW="2844720" imgH="203040" progId="Paint.Picture">
                  <p:embed/>
                </p:oleObj>
              </mc:Choice>
              <mc:Fallback>
                <p:oleObj name="BMP 图像" r:id="rId6" imgW="2844720" imgH="2030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6947" y="3625112"/>
                        <a:ext cx="8695409" cy="6211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74432E5-AC51-4BE7-AEEC-C9B7B1ED64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971901"/>
              </p:ext>
            </p:extLst>
          </p:nvPr>
        </p:nvGraphicFramePr>
        <p:xfrm>
          <a:off x="3057320" y="4299322"/>
          <a:ext cx="4317871" cy="748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8" imgW="1428840" imgH="247680" progId="Paint.Picture">
                  <p:embed/>
                </p:oleObj>
              </mc:Choice>
              <mc:Fallback>
                <p:oleObj name="BMP 图像" r:id="rId8" imgW="1428840" imgH="2476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57320" y="4299322"/>
                        <a:ext cx="4317871" cy="7484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641ECAC-C47A-4901-A001-0FD95E8A14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446851"/>
              </p:ext>
            </p:extLst>
          </p:nvPr>
        </p:nvGraphicFramePr>
        <p:xfrm>
          <a:off x="335846" y="5121097"/>
          <a:ext cx="11320067" cy="621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10" imgW="3587760" imgH="196920" progId="Paint.Picture">
                  <p:embed/>
                </p:oleObj>
              </mc:Choice>
              <mc:Fallback>
                <p:oleObj name="BMP 图像" r:id="rId10" imgW="3587760" imgH="1969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35846" y="5121097"/>
                        <a:ext cx="11320067" cy="6211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D559D76-802D-4683-A9CB-1EB5009477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3213617"/>
              </p:ext>
            </p:extLst>
          </p:nvPr>
        </p:nvGraphicFramePr>
        <p:xfrm>
          <a:off x="3057320" y="5888885"/>
          <a:ext cx="5837770" cy="748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12" imgW="1981080" imgH="254160" progId="Paint.Picture">
                  <p:embed/>
                </p:oleObj>
              </mc:Choice>
              <mc:Fallback>
                <p:oleObj name="BMP 图像" r:id="rId12" imgW="1981080" imgH="2541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057320" y="5888885"/>
                        <a:ext cx="5837770" cy="7484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252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13">
            <a:extLst>
              <a:ext uri="{FF2B5EF4-FFF2-40B4-BE49-F238E27FC236}">
                <a16:creationId xmlns:a16="http://schemas.microsoft.com/office/drawing/2014/main" id="{C3CCD678-64E2-47BC-84FC-DB2F4443B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025525"/>
            <a:ext cx="12145962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3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在线性空间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R[x]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中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对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f(x),  g(x) 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R[x]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定义二元实函数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</a:p>
          <a:p>
            <a:pPr eaLnBrk="1" hangingPunct="1">
              <a:lnSpc>
                <a:spcPct val="130000"/>
              </a:lnSpc>
            </a:pP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求证：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[f(x),  g(x)]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R[x]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上的一个内积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graphicFrame>
        <p:nvGraphicFramePr>
          <p:cNvPr id="59395" name="Object 17">
            <a:extLst>
              <a:ext uri="{FF2B5EF4-FFF2-40B4-BE49-F238E27FC236}">
                <a16:creationId xmlns:a16="http://schemas.microsoft.com/office/drawing/2014/main" id="{F3BC77F7-6F2D-4520-BE12-A771B6D9CB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9300" y="1643063"/>
          <a:ext cx="4611688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90700" imgH="330200" progId="Equation.3">
                  <p:embed/>
                </p:oleObj>
              </mc:Choice>
              <mc:Fallback>
                <p:oleObj name="公式" r:id="rId2" imgW="1790700" imgH="330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1643063"/>
                        <a:ext cx="4611688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4">
            <a:extLst>
              <a:ext uri="{FF2B5EF4-FFF2-40B4-BE49-F238E27FC236}">
                <a16:creationId xmlns:a16="http://schemas.microsoft.com/office/drawing/2014/main" id="{F55F88CA-E0F8-4AEB-A690-51547A348A40}"/>
              </a:ext>
            </a:extLst>
          </p:cNvPr>
          <p:cNvGrpSpPr>
            <a:grpSpLocks/>
          </p:cNvGrpSpPr>
          <p:nvPr/>
        </p:nvGrpSpPr>
        <p:grpSpPr bwMode="auto">
          <a:xfrm>
            <a:off x="49213" y="2889250"/>
            <a:ext cx="11809412" cy="1317625"/>
            <a:chOff x="48915" y="2889327"/>
            <a:chExt cx="11809312" cy="1316755"/>
          </a:xfrm>
        </p:grpSpPr>
        <p:sp>
          <p:nvSpPr>
            <p:cNvPr id="59405" name="Text Box 11">
              <a:extLst>
                <a:ext uri="{FF2B5EF4-FFF2-40B4-BE49-F238E27FC236}">
                  <a16:creationId xmlns:a16="http://schemas.microsoft.com/office/drawing/2014/main" id="{A6581E5C-C8E1-4BEC-B560-C8C555906F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15" y="2889327"/>
              <a:ext cx="11809312" cy="612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证明：由定积分的性质可知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9406" name="Object 3">
              <a:extLst>
                <a:ext uri="{FF2B5EF4-FFF2-40B4-BE49-F238E27FC236}">
                  <a16:creationId xmlns:a16="http://schemas.microsoft.com/office/drawing/2014/main" id="{FE591DAB-F5DC-4BB7-875E-1D88D797C2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0988" y="3429794"/>
            <a:ext cx="8274050" cy="776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797300" imgH="355600" progId="Equation.DSMT4">
                    <p:embed/>
                  </p:oleObj>
                </mc:Choice>
                <mc:Fallback>
                  <p:oleObj name="Equation" r:id="rId4" imgW="3797300" imgH="3556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988" y="3429794"/>
                          <a:ext cx="8274050" cy="776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48" name="Object 4">
            <a:extLst>
              <a:ext uri="{FF2B5EF4-FFF2-40B4-BE49-F238E27FC236}">
                <a16:creationId xmlns:a16="http://schemas.microsoft.com/office/drawing/2014/main" id="{C4CDB182-A948-4667-8A8A-EF7756D162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400" y="4149725"/>
          <a:ext cx="11622088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334000" imgH="355600" progId="Equation.DSMT4">
                  <p:embed/>
                </p:oleObj>
              </mc:Choice>
              <mc:Fallback>
                <p:oleObj name="Equation" r:id="rId6" imgW="5334000" imgH="355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" y="4149725"/>
                        <a:ext cx="11622088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>
            <a:extLst>
              <a:ext uri="{FF2B5EF4-FFF2-40B4-BE49-F238E27FC236}">
                <a16:creationId xmlns:a16="http://schemas.microsoft.com/office/drawing/2014/main" id="{5A5D6491-3D8D-4D98-A84D-2876501405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8288" y="4870450"/>
          <a:ext cx="8797925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38600" imgH="355600" progId="Equation.DSMT4">
                  <p:embed/>
                </p:oleObj>
              </mc:Choice>
              <mc:Fallback>
                <p:oleObj name="Equation" r:id="rId8" imgW="4038600" imgH="355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8" y="4870450"/>
                        <a:ext cx="8797925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1">
            <a:extLst>
              <a:ext uri="{FF2B5EF4-FFF2-40B4-BE49-F238E27FC236}">
                <a16:creationId xmlns:a16="http://schemas.microsoft.com/office/drawing/2014/main" id="{61B5EE4E-6541-4803-A0F1-E76E84289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6129338"/>
            <a:ext cx="8135938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所以，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[f(x),  g(x)]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R[x]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上的一个内积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9401" name="Rectangle 5">
            <a:extLst>
              <a:ext uri="{FF2B5EF4-FFF2-40B4-BE49-F238E27FC236}">
                <a16:creationId xmlns:a16="http://schemas.microsoft.com/office/drawing/2014/main" id="{32D71992-FD68-4307-8DCE-EF9570D1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欧几里得空间的定义及例子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CB48FBA-70DB-9E04-9174-BA0692E0F355}"/>
              </a:ext>
            </a:extLst>
          </p:cNvPr>
          <p:cNvGrpSpPr/>
          <p:nvPr/>
        </p:nvGrpSpPr>
        <p:grpSpPr>
          <a:xfrm>
            <a:off x="293688" y="5589588"/>
            <a:ext cx="11120437" cy="1036778"/>
            <a:chOff x="293688" y="5589588"/>
            <a:chExt cx="11120437" cy="1036778"/>
          </a:xfrm>
        </p:grpSpPr>
        <p:grpSp>
          <p:nvGrpSpPr>
            <p:cNvPr id="3" name="组合 12">
              <a:extLst>
                <a:ext uri="{FF2B5EF4-FFF2-40B4-BE49-F238E27FC236}">
                  <a16:creationId xmlns:a16="http://schemas.microsoft.com/office/drawing/2014/main" id="{A30DA6A3-7232-428F-8E09-9EB427D7BB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688" y="5589588"/>
              <a:ext cx="11120437" cy="776287"/>
              <a:chOff x="294435" y="5677843"/>
              <a:chExt cx="11119690" cy="776287"/>
            </a:xfrm>
          </p:grpSpPr>
          <p:graphicFrame>
            <p:nvGraphicFramePr>
              <p:cNvPr id="59402" name="Object 6">
                <a:extLst>
                  <a:ext uri="{FF2B5EF4-FFF2-40B4-BE49-F238E27FC236}">
                    <a16:creationId xmlns:a16="http://schemas.microsoft.com/office/drawing/2014/main" id="{57EFAB63-914E-4FD4-A5DC-5328E4D90D6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4435" y="5677843"/>
              <a:ext cx="4122737" cy="7762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892300" imgH="355600" progId="Equation.DSMT4">
                      <p:embed/>
                    </p:oleObj>
                  </mc:Choice>
                  <mc:Fallback>
                    <p:oleObj name="Equation" r:id="rId10" imgW="1892300" imgH="355600" progId="Equation.DSMT4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4435" y="5677843"/>
                            <a:ext cx="4122737" cy="7762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9403" name="Text Box 11">
                <a:extLst>
                  <a:ext uri="{FF2B5EF4-FFF2-40B4-BE49-F238E27FC236}">
                    <a16:creationId xmlns:a16="http://schemas.microsoft.com/office/drawing/2014/main" id="{2BB33664-A124-4462-8376-E5FF70E503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7387" y="5719302"/>
                <a:ext cx="2016224" cy="652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50000"/>
                  </a:spcBef>
                </a:pPr>
                <a:r>
                  <a:rPr lang="zh-CN" altLang="en-US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当且仅当</a:t>
                </a:r>
                <a:endPara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endParaRPr>
              </a:p>
            </p:txBody>
          </p:sp>
          <p:graphicFrame>
            <p:nvGraphicFramePr>
              <p:cNvPr id="59404" name="Object 7">
                <a:extLst>
                  <a:ext uri="{FF2B5EF4-FFF2-40B4-BE49-F238E27FC236}">
                    <a16:creationId xmlns:a16="http://schemas.microsoft.com/office/drawing/2014/main" id="{DABD6EDA-4055-4BD5-AF97-54E3DD57254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937250" y="5815013"/>
              <a:ext cx="5476875" cy="4714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2514600" imgH="215900" progId="Equation.DSMT4">
                      <p:embed/>
                    </p:oleObj>
                  </mc:Choice>
                  <mc:Fallback>
                    <p:oleObj name="Equation" r:id="rId12" imgW="2514600" imgH="215900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37250" y="5815013"/>
                            <a:ext cx="5476875" cy="4714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5" name="Object 7">
              <a:extLst>
                <a:ext uri="{FF2B5EF4-FFF2-40B4-BE49-F238E27FC236}">
                  <a16:creationId xmlns:a16="http://schemas.microsoft.com/office/drawing/2014/main" id="{2D08CFAD-DF7C-8335-1C2B-54B4631A33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2409767"/>
                </p:ext>
              </p:extLst>
            </p:nvPr>
          </p:nvGraphicFramePr>
          <p:xfrm>
            <a:off x="6931136" y="6181866"/>
            <a:ext cx="240665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104840" imgH="203040" progId="Equation.DSMT4">
                    <p:embed/>
                  </p:oleObj>
                </mc:Choice>
                <mc:Fallback>
                  <p:oleObj name="Equation" r:id="rId14" imgW="1104840" imgH="203040" progId="Equation.DSMT4">
                    <p:embed/>
                    <p:pic>
                      <p:nvPicPr>
                        <p:cNvPr id="59404" name="Object 7">
                          <a:extLst>
                            <a:ext uri="{FF2B5EF4-FFF2-40B4-BE49-F238E27FC236}">
                              <a16:creationId xmlns:a16="http://schemas.microsoft.com/office/drawing/2014/main" id="{DABD6EDA-4055-4BD5-AF97-54E3DD5725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31136" y="6181866"/>
                          <a:ext cx="2406650" cy="444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13">
            <a:extLst>
              <a:ext uri="{FF2B5EF4-FFF2-40B4-BE49-F238E27FC236}">
                <a16:creationId xmlns:a16="http://schemas.microsoft.com/office/drawing/2014/main" id="{C3CCD678-64E2-47BC-84FC-DB2F4443B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017728"/>
            <a:ext cx="12145962" cy="1958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4  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在线性空间</a:t>
            </a:r>
            <a:r>
              <a:rPr lang="en-US" altLang="zh-CN" sz="28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mxn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中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,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对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 A,  B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mxn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定义二元实函数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</a:p>
          <a:p>
            <a:pPr eaLnBrk="1" hangingPunct="1">
              <a:lnSpc>
                <a:spcPct val="130000"/>
              </a:lnSpc>
            </a:pPr>
            <a:endParaRPr lang="en-US" altLang="zh-CN" sz="2800" dirty="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显然，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[A,  B]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8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mxn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上的一个内积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graphicFrame>
        <p:nvGraphicFramePr>
          <p:cNvPr id="59395" name="Object 17">
            <a:extLst>
              <a:ext uri="{FF2B5EF4-FFF2-40B4-BE49-F238E27FC236}">
                <a16:creationId xmlns:a16="http://schemas.microsoft.com/office/drawing/2014/main" id="{F3BC77F7-6F2D-4520-BE12-A771B6D9CB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88354"/>
              </p:ext>
            </p:extLst>
          </p:nvPr>
        </p:nvGraphicFramePr>
        <p:xfrm>
          <a:off x="1897063" y="1670050"/>
          <a:ext cx="811212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49280" imgH="291960" progId="Equation.DSMT4">
                  <p:embed/>
                </p:oleObj>
              </mc:Choice>
              <mc:Fallback>
                <p:oleObj name="Equation" r:id="rId2" imgW="3149280" imgH="291960" progId="Equation.DSMT4">
                  <p:embed/>
                  <p:pic>
                    <p:nvPicPr>
                      <p:cNvPr id="59395" name="Object 17">
                        <a:extLst>
                          <a:ext uri="{FF2B5EF4-FFF2-40B4-BE49-F238E27FC236}">
                            <a16:creationId xmlns:a16="http://schemas.microsoft.com/office/drawing/2014/main" id="{F3BC77F7-6F2D-4520-BE12-A771B6D9CB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7063" y="1670050"/>
                        <a:ext cx="811212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1" name="Rectangle 5">
            <a:extLst>
              <a:ext uri="{FF2B5EF4-FFF2-40B4-BE49-F238E27FC236}">
                <a16:creationId xmlns:a16="http://schemas.microsoft.com/office/drawing/2014/main" id="{32D71992-FD68-4307-8DCE-EF9570D1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欧几里得空间的定义及例子</a:t>
            </a:r>
          </a:p>
        </p:txBody>
      </p:sp>
    </p:spTree>
    <p:extLst>
      <p:ext uri="{BB962C8B-B14F-4D97-AF65-F5344CB8AC3E}">
        <p14:creationId xmlns:p14="http://schemas.microsoft.com/office/powerpoint/2010/main" val="332400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>
            <a:extLst>
              <a:ext uri="{FF2B5EF4-FFF2-40B4-BE49-F238E27FC236}">
                <a16:creationId xmlns:a16="http://schemas.microsoft.com/office/drawing/2014/main" id="{BAF2DAF4-CED1-4DF9-BD3D-F9011E3E0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557338"/>
            <a:ext cx="9144000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endParaRPr lang="zh-CN" altLang="en-US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0419" name="Rectangle 5">
            <a:extLst>
              <a:ext uri="{FF2B5EF4-FFF2-40B4-BE49-F238E27FC236}">
                <a16:creationId xmlns:a16="http://schemas.microsoft.com/office/drawing/2014/main" id="{53264D93-08BA-4877-B7C9-C68F142A9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欧氏空间中向量的长度和角度</a:t>
            </a:r>
          </a:p>
        </p:txBody>
      </p:sp>
      <p:sp>
        <p:nvSpPr>
          <p:cNvPr id="60420" name="Text Box 16">
            <a:extLst>
              <a:ext uri="{FF2B5EF4-FFF2-40B4-BE49-F238E27FC236}">
                <a16:creationId xmlns:a16="http://schemas.microsoft.com/office/drawing/2014/main" id="{BFAF61FF-A402-4052-9BDD-10FFAAABA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0775"/>
            <a:ext cx="1219517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    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利用内积的概念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可以定义欧氏空间中向量的长度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向量间夹角等概念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grpSp>
        <p:nvGrpSpPr>
          <p:cNvPr id="2" name="组合 6">
            <a:extLst>
              <a:ext uri="{FF2B5EF4-FFF2-40B4-BE49-F238E27FC236}">
                <a16:creationId xmlns:a16="http://schemas.microsoft.com/office/drawing/2014/main" id="{519DE52C-7D0E-4BBD-800D-BBF0C96E6736}"/>
              </a:ext>
            </a:extLst>
          </p:cNvPr>
          <p:cNvGrpSpPr>
            <a:grpSpLocks/>
          </p:cNvGrpSpPr>
          <p:nvPr/>
        </p:nvGrpSpPr>
        <p:grpSpPr bwMode="auto">
          <a:xfrm>
            <a:off x="0" y="1857375"/>
            <a:ext cx="12195175" cy="1212850"/>
            <a:chOff x="-1" y="1773610"/>
            <a:chExt cx="12195175" cy="1212640"/>
          </a:xfrm>
        </p:grpSpPr>
        <p:sp>
          <p:nvSpPr>
            <p:cNvPr id="60430" name="Text Box 5">
              <a:extLst>
                <a:ext uri="{FF2B5EF4-FFF2-40B4-BE49-F238E27FC236}">
                  <a16:creationId xmlns:a16="http://schemas.microsoft.com/office/drawing/2014/main" id="{CEBD8895-9632-42CF-8AD4-2DA7C5F91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" y="1773610"/>
              <a:ext cx="12195175" cy="1212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定义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  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设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V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是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欧氏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空间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, 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V, 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非负实数              称为</a:t>
              </a:r>
              <a:r>
                <a:rPr lang="zh-CN" altLang="en-US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向量的长度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(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或范数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 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或模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),  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记为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||(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或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)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.</a:t>
              </a:r>
            </a:p>
          </p:txBody>
        </p:sp>
        <p:graphicFrame>
          <p:nvGraphicFramePr>
            <p:cNvPr id="60431" name="Object 2">
              <a:extLst>
                <a:ext uri="{FF2B5EF4-FFF2-40B4-BE49-F238E27FC236}">
                  <a16:creationId xmlns:a16="http://schemas.microsoft.com/office/drawing/2014/main" id="{6327A820-3567-4930-B7DB-83EC7E038E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97587" y="1830870"/>
            <a:ext cx="1094521" cy="5760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82391" imgH="253890" progId="Equation.DSMT4">
                    <p:embed/>
                  </p:oleObj>
                </mc:Choice>
                <mc:Fallback>
                  <p:oleObj name="Equation" r:id="rId2" imgW="482391" imgH="25389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7587" y="1830870"/>
                          <a:ext cx="1094521" cy="5760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Text Box 16">
            <a:extLst>
              <a:ext uri="{FF2B5EF4-FFF2-40B4-BE49-F238E27FC236}">
                <a16:creationId xmlns:a16="http://schemas.microsoft.com/office/drawing/2014/main" id="{8B414225-0135-4D7E-A137-176F27EAF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938" y="3321050"/>
            <a:ext cx="12195176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注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: (1)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向量的长度一般是正数，只有零向量的长度才是零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                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" name="组合 14">
            <a:extLst>
              <a:ext uri="{FF2B5EF4-FFF2-40B4-BE49-F238E27FC236}">
                <a16:creationId xmlns:a16="http://schemas.microsoft.com/office/drawing/2014/main" id="{B7F1C981-8519-4579-920D-B93846CA2AFF}"/>
              </a:ext>
            </a:extLst>
          </p:cNvPr>
          <p:cNvGrpSpPr>
            <a:grpSpLocks/>
          </p:cNvGrpSpPr>
          <p:nvPr/>
        </p:nvGrpSpPr>
        <p:grpSpPr bwMode="auto">
          <a:xfrm>
            <a:off x="0" y="4076700"/>
            <a:ext cx="12195175" cy="720725"/>
            <a:chOff x="0" y="3918362"/>
            <a:chExt cx="12195175" cy="720725"/>
          </a:xfrm>
        </p:grpSpPr>
        <p:graphicFrame>
          <p:nvGraphicFramePr>
            <p:cNvPr id="60428" name="Object 3">
              <a:extLst>
                <a:ext uri="{FF2B5EF4-FFF2-40B4-BE49-F238E27FC236}">
                  <a16:creationId xmlns:a16="http://schemas.microsoft.com/office/drawing/2014/main" id="{F7A115E3-B509-4169-82AB-BE221FFF27D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0038" y="3918362"/>
            <a:ext cx="6650037" cy="720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933700" imgH="317500" progId="Equation.DSMT4">
                    <p:embed/>
                  </p:oleObj>
                </mc:Choice>
                <mc:Fallback>
                  <p:oleObj name="Equation" r:id="rId4" imgW="2933700" imgH="3175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038" y="3918362"/>
                          <a:ext cx="6650037" cy="720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29" name="Text Box 16">
              <a:extLst>
                <a:ext uri="{FF2B5EF4-FFF2-40B4-BE49-F238E27FC236}">
                  <a16:creationId xmlns:a16="http://schemas.microsoft.com/office/drawing/2014/main" id="{592A8D31-A744-4DDB-8A5E-8646ED3AD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991110"/>
              <a:ext cx="12195175" cy="607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      (2)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对 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k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R, V, 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有                  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8" name="Text Box 16">
            <a:extLst>
              <a:ext uri="{FF2B5EF4-FFF2-40B4-BE49-F238E27FC236}">
                <a16:creationId xmlns:a16="http://schemas.microsoft.com/office/drawing/2014/main" id="{05952E1C-D000-4A2F-A35A-CB71C8157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3813" y="4937125"/>
            <a:ext cx="12195176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     (3)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长度等于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的向量称为单位向量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          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" name="组合 18">
            <a:extLst>
              <a:ext uri="{FF2B5EF4-FFF2-40B4-BE49-F238E27FC236}">
                <a16:creationId xmlns:a16="http://schemas.microsoft.com/office/drawing/2014/main" id="{63D44209-30C6-4665-9E19-A76A3E807593}"/>
              </a:ext>
            </a:extLst>
          </p:cNvPr>
          <p:cNvGrpSpPr>
            <a:grpSpLocks/>
          </p:cNvGrpSpPr>
          <p:nvPr/>
        </p:nvGrpSpPr>
        <p:grpSpPr bwMode="auto">
          <a:xfrm>
            <a:off x="-23813" y="5588000"/>
            <a:ext cx="12195176" cy="1009650"/>
            <a:chOff x="-23093" y="5270968"/>
            <a:chExt cx="12195175" cy="1009650"/>
          </a:xfrm>
        </p:grpSpPr>
        <p:sp>
          <p:nvSpPr>
            <p:cNvPr id="60426" name="Text Box 16">
              <a:extLst>
                <a:ext uri="{FF2B5EF4-FFF2-40B4-BE49-F238E27FC236}">
                  <a16:creationId xmlns:a16="http://schemas.microsoft.com/office/drawing/2014/main" id="{D077B978-0894-4D43-A4F6-433418777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3093" y="5369596"/>
              <a:ext cx="12195175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      (4)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若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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不是零向量，那么        为单位向量，这个过程称为把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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单位化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.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          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60427" name="Object 4">
              <a:extLst>
                <a:ext uri="{FF2B5EF4-FFF2-40B4-BE49-F238E27FC236}">
                  <a16:creationId xmlns:a16="http://schemas.microsoft.com/office/drawing/2014/main" id="{F7FBF6F5-7E59-49F6-818D-E923DCA62D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85419" y="5270968"/>
            <a:ext cx="690563" cy="1009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04536" imgH="444114" progId="Equation.DSMT4">
                    <p:embed/>
                  </p:oleObj>
                </mc:Choice>
                <mc:Fallback>
                  <p:oleObj name="Equation" r:id="rId6" imgW="304536" imgH="444114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5419" y="5270968"/>
                          <a:ext cx="690563" cy="1009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utoUpdateAnimBg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5">
            <a:extLst>
              <a:ext uri="{FF2B5EF4-FFF2-40B4-BE49-F238E27FC236}">
                <a16:creationId xmlns:a16="http://schemas.microsoft.com/office/drawing/2014/main" id="{60A51127-1A6A-41CA-954E-AED73F97A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欧氏空间中向量的长度和角度</a:t>
            </a:r>
          </a:p>
        </p:txBody>
      </p:sp>
      <p:sp>
        <p:nvSpPr>
          <p:cNvPr id="61443" name="矩形 2">
            <a:extLst>
              <a:ext uri="{FF2B5EF4-FFF2-40B4-BE49-F238E27FC236}">
                <a16:creationId xmlns:a16="http://schemas.microsoft.com/office/drawing/2014/main" id="{F4C9892F-4C96-49D7-81AF-74BC9A17A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3" y="1054100"/>
            <a:ext cx="116665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柯西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布涅科夫斯基不等式</a:t>
            </a:r>
            <a:endParaRPr lang="en-US" altLang="zh-CN" sz="28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61444" name="组合 3">
            <a:extLst>
              <a:ext uri="{FF2B5EF4-FFF2-40B4-BE49-F238E27FC236}">
                <a16:creationId xmlns:a16="http://schemas.microsoft.com/office/drawing/2014/main" id="{F15021E0-D0DF-4900-893B-07EF17503692}"/>
              </a:ext>
            </a:extLst>
          </p:cNvPr>
          <p:cNvGrpSpPr>
            <a:grpSpLocks/>
          </p:cNvGrpSpPr>
          <p:nvPr/>
        </p:nvGrpSpPr>
        <p:grpSpPr bwMode="auto">
          <a:xfrm>
            <a:off x="63500" y="1684338"/>
            <a:ext cx="12074525" cy="954087"/>
            <a:chOff x="63663" y="1683599"/>
            <a:chExt cx="12074252" cy="954107"/>
          </a:xfrm>
        </p:grpSpPr>
        <p:sp>
          <p:nvSpPr>
            <p:cNvPr id="61456" name="矩形 4">
              <a:extLst>
                <a:ext uri="{FF2B5EF4-FFF2-40B4-BE49-F238E27FC236}">
                  <a16:creationId xmlns:a16="http://schemas.microsoft.com/office/drawing/2014/main" id="{7E3D8074-9125-4E02-9476-ECD41741D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63" y="1683599"/>
              <a:ext cx="12074252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     设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V</a:t>
              </a:r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是</a:t>
              </a:r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欧氏</a:t>
              </a:r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空间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, </a:t>
              </a:r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对任意 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, 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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V</a:t>
              </a:r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有                        当且仅当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, 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</a:t>
              </a:r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线性相关时，等号成立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. </a:t>
              </a:r>
              <a:endParaRPr lang="zh-CN" altLang="en-US"/>
            </a:p>
          </p:txBody>
        </p:sp>
        <p:graphicFrame>
          <p:nvGraphicFramePr>
            <p:cNvPr id="61457" name="Object 2">
              <a:extLst>
                <a:ext uri="{FF2B5EF4-FFF2-40B4-BE49-F238E27FC236}">
                  <a16:creationId xmlns:a16="http://schemas.microsoft.com/office/drawing/2014/main" id="{CEC4E5B5-C00B-4D82-9754-E3F32FA72E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97587" y="1688586"/>
            <a:ext cx="1936540" cy="561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75920" imgH="253890" progId="Equation.DSMT4">
                    <p:embed/>
                  </p:oleObj>
                </mc:Choice>
                <mc:Fallback>
                  <p:oleObj name="Equation" r:id="rId2" imgW="875920" imgH="25389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7587" y="1688586"/>
                          <a:ext cx="1936540" cy="561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Text Box 11">
            <a:extLst>
              <a:ext uri="{FF2B5EF4-FFF2-40B4-BE49-F238E27FC236}">
                <a16:creationId xmlns:a16="http://schemas.microsoft.com/office/drawing/2014/main" id="{742B6822-3899-4477-B161-B29BAFEB3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2638425"/>
            <a:ext cx="11809412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证明：当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=0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时，显然成立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现设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 ≠0.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令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 R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，作向量</a:t>
            </a:r>
            <a:r>
              <a:rPr lang="el-GR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γ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+t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.</a:t>
            </a:r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19B14D42-8D21-446F-A9E9-7E766E2322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475" y="3573463"/>
          <a:ext cx="73564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84500" imgH="292100" progId="Equation.DSMT4">
                  <p:embed/>
                </p:oleObj>
              </mc:Choice>
              <mc:Fallback>
                <p:oleObj name="Equation" r:id="rId4" imgW="2984500" imgH="292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75" y="3573463"/>
                        <a:ext cx="735647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8">
            <a:extLst>
              <a:ext uri="{FF2B5EF4-FFF2-40B4-BE49-F238E27FC236}">
                <a16:creationId xmlns:a16="http://schemas.microsoft.com/office/drawing/2014/main" id="{C0D213D3-F301-46BB-8888-19A0F0CF954F}"/>
              </a:ext>
            </a:extLst>
          </p:cNvPr>
          <p:cNvGrpSpPr>
            <a:grpSpLocks/>
          </p:cNvGrpSpPr>
          <p:nvPr/>
        </p:nvGrpSpPr>
        <p:grpSpPr bwMode="auto">
          <a:xfrm>
            <a:off x="8761413" y="3357563"/>
            <a:ext cx="2535237" cy="1368425"/>
            <a:chOff x="8761883" y="3357786"/>
            <a:chExt cx="2535536" cy="1368152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F96CF331-80EA-42AF-ACC6-27C1F221054F}"/>
                </a:ext>
              </a:extLst>
            </p:cNvPr>
            <p:cNvCxnSpPr/>
            <p:nvPr/>
          </p:nvCxnSpPr>
          <p:spPr>
            <a:xfrm>
              <a:off x="8761883" y="4294224"/>
              <a:ext cx="2232288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329000BF-2777-4273-BD55-1E976A49C347}"/>
                </a:ext>
              </a:extLst>
            </p:cNvPr>
            <p:cNvCxnSpPr/>
            <p:nvPr/>
          </p:nvCxnSpPr>
          <p:spPr>
            <a:xfrm flipV="1">
              <a:off x="9914544" y="3357786"/>
              <a:ext cx="0" cy="136815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任意多边形 11">
              <a:extLst>
                <a:ext uri="{FF2B5EF4-FFF2-40B4-BE49-F238E27FC236}">
                  <a16:creationId xmlns:a16="http://schemas.microsoft.com/office/drawing/2014/main" id="{30909675-9C94-4AEB-BF56-332432D67FF4}"/>
                </a:ext>
              </a:extLst>
            </p:cNvPr>
            <p:cNvSpPr/>
            <p:nvPr/>
          </p:nvSpPr>
          <p:spPr>
            <a:xfrm>
              <a:off x="9587480" y="3586340"/>
              <a:ext cx="1046285" cy="563450"/>
            </a:xfrm>
            <a:custGeom>
              <a:avLst/>
              <a:gdLst>
                <a:gd name="connsiteX0" fmla="*/ 0 w 1047135"/>
                <a:gd name="connsiteY0" fmla="*/ 0 h 562896"/>
                <a:gd name="connsiteX1" fmla="*/ 530942 w 1047135"/>
                <a:gd name="connsiteY1" fmla="*/ 560438 h 562896"/>
                <a:gd name="connsiteX2" fmla="*/ 1032387 w 1047135"/>
                <a:gd name="connsiteY2" fmla="*/ 14748 h 562896"/>
                <a:gd name="connsiteX3" fmla="*/ 1032387 w 1047135"/>
                <a:gd name="connsiteY3" fmla="*/ 14748 h 562896"/>
                <a:gd name="connsiteX4" fmla="*/ 1047135 w 1047135"/>
                <a:gd name="connsiteY4" fmla="*/ 14748 h 56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135" h="562896">
                  <a:moveTo>
                    <a:pt x="0" y="0"/>
                  </a:moveTo>
                  <a:cubicBezTo>
                    <a:pt x="179439" y="278990"/>
                    <a:pt x="358878" y="557980"/>
                    <a:pt x="530942" y="560438"/>
                  </a:cubicBezTo>
                  <a:cubicBezTo>
                    <a:pt x="703006" y="562896"/>
                    <a:pt x="1032387" y="14748"/>
                    <a:pt x="1032387" y="14748"/>
                  </a:cubicBezTo>
                  <a:lnTo>
                    <a:pt x="1032387" y="14748"/>
                  </a:lnTo>
                  <a:lnTo>
                    <a:pt x="1047135" y="14748"/>
                  </a:ln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" name="任意多边形 12">
              <a:extLst>
                <a:ext uri="{FF2B5EF4-FFF2-40B4-BE49-F238E27FC236}">
                  <a16:creationId xmlns:a16="http://schemas.microsoft.com/office/drawing/2014/main" id="{B1480249-5BE0-4371-97DA-ED7B482F1221}"/>
                </a:ext>
              </a:extLst>
            </p:cNvPr>
            <p:cNvSpPr/>
            <p:nvPr/>
          </p:nvSpPr>
          <p:spPr>
            <a:xfrm>
              <a:off x="8833328" y="3732361"/>
              <a:ext cx="1047874" cy="563450"/>
            </a:xfrm>
            <a:custGeom>
              <a:avLst/>
              <a:gdLst>
                <a:gd name="connsiteX0" fmla="*/ 0 w 1047135"/>
                <a:gd name="connsiteY0" fmla="*/ 0 h 562896"/>
                <a:gd name="connsiteX1" fmla="*/ 530942 w 1047135"/>
                <a:gd name="connsiteY1" fmla="*/ 560438 h 562896"/>
                <a:gd name="connsiteX2" fmla="*/ 1032387 w 1047135"/>
                <a:gd name="connsiteY2" fmla="*/ 14748 h 562896"/>
                <a:gd name="connsiteX3" fmla="*/ 1032387 w 1047135"/>
                <a:gd name="connsiteY3" fmla="*/ 14748 h 562896"/>
                <a:gd name="connsiteX4" fmla="*/ 1047135 w 1047135"/>
                <a:gd name="connsiteY4" fmla="*/ 14748 h 56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135" h="562896">
                  <a:moveTo>
                    <a:pt x="0" y="0"/>
                  </a:moveTo>
                  <a:cubicBezTo>
                    <a:pt x="179439" y="278990"/>
                    <a:pt x="358878" y="557980"/>
                    <a:pt x="530942" y="560438"/>
                  </a:cubicBezTo>
                  <a:cubicBezTo>
                    <a:pt x="703006" y="562896"/>
                    <a:pt x="1032387" y="14748"/>
                    <a:pt x="1032387" y="14748"/>
                  </a:cubicBezTo>
                  <a:lnTo>
                    <a:pt x="1032387" y="14748"/>
                  </a:lnTo>
                  <a:lnTo>
                    <a:pt x="1047135" y="14748"/>
                  </a:ln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1455" name="矩形 13">
              <a:extLst>
                <a:ext uri="{FF2B5EF4-FFF2-40B4-BE49-F238E27FC236}">
                  <a16:creationId xmlns:a16="http://schemas.microsoft.com/office/drawing/2014/main" id="{CBC7AFB2-318A-4F35-B8B9-834910117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4131" y="4005858"/>
              <a:ext cx="3032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t</a:t>
              </a:r>
              <a:endParaRPr lang="zh-CN" altLang="en-US"/>
            </a:p>
          </p:txBody>
        </p:sp>
      </p:grpSp>
      <p:graphicFrame>
        <p:nvGraphicFramePr>
          <p:cNvPr id="15" name="Object 4">
            <a:extLst>
              <a:ext uri="{FF2B5EF4-FFF2-40B4-BE49-F238E27FC236}">
                <a16:creationId xmlns:a16="http://schemas.microsoft.com/office/drawing/2014/main" id="{4C900628-9F56-481E-9F97-FC3AA7E54E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475" y="4365625"/>
          <a:ext cx="40703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1000" imgH="292100" progId="Equation.DSMT4">
                  <p:embed/>
                </p:oleObj>
              </mc:Choice>
              <mc:Fallback>
                <p:oleObj name="Equation" r:id="rId6" imgW="1651000" imgH="292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75" y="4365625"/>
                        <a:ext cx="407035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">
            <a:extLst>
              <a:ext uri="{FF2B5EF4-FFF2-40B4-BE49-F238E27FC236}">
                <a16:creationId xmlns:a16="http://schemas.microsoft.com/office/drawing/2014/main" id="{A4E1F23C-A3D2-4C37-8374-1101D47415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70438" y="4443413"/>
          <a:ext cx="259715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54100" imgH="254000" progId="Equation.DSMT4">
                  <p:embed/>
                </p:oleObj>
              </mc:Choice>
              <mc:Fallback>
                <p:oleObj name="Equation" r:id="rId8" imgW="10541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0438" y="4443413"/>
                        <a:ext cx="2597150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1">
            <a:extLst>
              <a:ext uri="{FF2B5EF4-FFF2-40B4-BE49-F238E27FC236}">
                <a16:creationId xmlns:a16="http://schemas.microsoft.com/office/drawing/2014/main" id="{D74D0C9A-1ED4-4BDC-9BDB-BC47CA1B9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5013325"/>
            <a:ext cx="11809412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当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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线性相关时，等号显然成立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  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反过来，若等号成立，则由以上证明可以看出，或者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=0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，或者取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t=-[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]/||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，有</a:t>
            </a:r>
            <a:r>
              <a:rPr lang="el-GR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γ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-[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]/||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=0,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即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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线性相关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1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5">
            <a:extLst>
              <a:ext uri="{FF2B5EF4-FFF2-40B4-BE49-F238E27FC236}">
                <a16:creationId xmlns:a16="http://schemas.microsoft.com/office/drawing/2014/main" id="{57E432A4-DB8C-4D81-9A8E-98A9EC837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欧氏空间中向量的长度和角度</a:t>
            </a:r>
          </a:p>
        </p:txBody>
      </p:sp>
      <p:sp>
        <p:nvSpPr>
          <p:cNvPr id="62467" name="矩形 2">
            <a:extLst>
              <a:ext uri="{FF2B5EF4-FFF2-40B4-BE49-F238E27FC236}">
                <a16:creationId xmlns:a16="http://schemas.microsoft.com/office/drawing/2014/main" id="{309E3BD7-52B4-49E8-8C77-B4D2B2651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3" y="1054100"/>
            <a:ext cx="118824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下面结合两个具体欧氏空间的例子来看一下柯西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布涅科夫斯基不等式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grpSp>
        <p:nvGrpSpPr>
          <p:cNvPr id="2" name="组合 10">
            <a:extLst>
              <a:ext uri="{FF2B5EF4-FFF2-40B4-BE49-F238E27FC236}">
                <a16:creationId xmlns:a16="http://schemas.microsoft.com/office/drawing/2014/main" id="{666E8EE0-4F51-4319-94B5-0FE58370BEB8}"/>
              </a:ext>
            </a:extLst>
          </p:cNvPr>
          <p:cNvGrpSpPr>
            <a:grpSpLocks/>
          </p:cNvGrpSpPr>
          <p:nvPr/>
        </p:nvGrpSpPr>
        <p:grpSpPr bwMode="auto">
          <a:xfrm>
            <a:off x="103188" y="1701800"/>
            <a:ext cx="11898312" cy="2016125"/>
            <a:chOff x="103633" y="1701602"/>
            <a:chExt cx="11898610" cy="2016224"/>
          </a:xfrm>
        </p:grpSpPr>
        <p:sp>
          <p:nvSpPr>
            <p:cNvPr id="62475" name="矩形 3">
              <a:extLst>
                <a:ext uri="{FF2B5EF4-FFF2-40B4-BE49-F238E27FC236}">
                  <a16:creationId xmlns:a16="http://schemas.microsoft.com/office/drawing/2014/main" id="{6C9D5ACB-1B7A-4836-B15C-1C198C13E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33" y="1701602"/>
              <a:ext cx="11898610" cy="1212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514350" indent="-5143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buFontTx/>
                <a:buAutoNum type="arabicParenBoth"/>
              </a:pPr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在欧氏空间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R</a:t>
              </a:r>
              <a:r>
                <a:rPr lang="en-US" altLang="zh-CN" sz="2800" baseline="300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中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,  </a:t>
              </a:r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内积为</a:t>
              </a:r>
              <a:r>
                <a:rPr lang="en-US" altLang="zh-CN" sz="2800">
                  <a:latin typeface="华文新魏" panose="02010800040101010101" pitchFamily="2" charset="-122"/>
                  <a:ea typeface="MS PGothic" panose="020B0600070205080204" pitchFamily="34" charset="-128"/>
                </a:rPr>
                <a:t>[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, ]=a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1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1 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+ a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2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2 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+ </a:t>
              </a:r>
              <a:r>
                <a:rPr lang="en-US" altLang="zh-CN" sz="2800">
                  <a:ea typeface="华文新魏" panose="02010800040101010101" pitchFamily="2" charset="-122"/>
                  <a:sym typeface="Symbol" panose="05050102010706020507" pitchFamily="18" charset="2"/>
                </a:rPr>
                <a:t>... 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+ a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n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n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 </a:t>
              </a:r>
            </a:p>
            <a:p>
              <a:pPr eaLnBrk="1" hangingPunct="1">
                <a:lnSpc>
                  <a:spcPct val="130000"/>
                </a:lnSpc>
              </a:pP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                                                        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对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=(a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1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 a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2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</a:t>
              </a:r>
              <a:r>
                <a:rPr lang="en-US" altLang="zh-CN" sz="2800">
                  <a:ea typeface="华文新魏" panose="02010800040101010101" pitchFamily="2" charset="-122"/>
                  <a:sym typeface="Symbol" panose="05050102010706020507" pitchFamily="18" charset="2"/>
                </a:rPr>
                <a:t>…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,a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n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)</a:t>
              </a:r>
              <a:r>
                <a:rPr lang="en-US" altLang="zh-CN" sz="2800" baseline="30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T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 =(b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1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 b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2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</a:t>
              </a:r>
              <a:r>
                <a:rPr lang="en-US" altLang="zh-CN" sz="2800">
                  <a:ea typeface="华文新魏" panose="02010800040101010101" pitchFamily="2" charset="-122"/>
                  <a:sym typeface="Symbol" panose="05050102010706020507" pitchFamily="18" charset="2"/>
                </a:rPr>
                <a:t>…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,b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n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)</a:t>
              </a:r>
              <a:r>
                <a:rPr lang="en-US" altLang="zh-CN" sz="2800" baseline="30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T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R</a:t>
              </a:r>
              <a:r>
                <a:rPr lang="en-US" altLang="zh-CN" sz="2800" baseline="30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n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.</a:t>
              </a:r>
              <a:endParaRPr lang="zh-CN" altLang="en-US"/>
            </a:p>
          </p:txBody>
        </p:sp>
        <p:graphicFrame>
          <p:nvGraphicFramePr>
            <p:cNvPr id="62476" name="Object 2">
              <a:extLst>
                <a:ext uri="{FF2B5EF4-FFF2-40B4-BE49-F238E27FC236}">
                  <a16:creationId xmlns:a16="http://schemas.microsoft.com/office/drawing/2014/main" id="{8E5E4431-36C5-4BDA-87B7-253B387C66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77107" y="2997746"/>
            <a:ext cx="8669763" cy="7200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822700" imgH="317500" progId="Equation.DSMT4">
                    <p:embed/>
                  </p:oleObj>
                </mc:Choice>
                <mc:Fallback>
                  <p:oleObj name="Equation" r:id="rId2" imgW="3822700" imgH="3175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7107" y="2997746"/>
                          <a:ext cx="8669763" cy="7200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11">
            <a:extLst>
              <a:ext uri="{FF2B5EF4-FFF2-40B4-BE49-F238E27FC236}">
                <a16:creationId xmlns:a16="http://schemas.microsoft.com/office/drawing/2014/main" id="{6B1A18A9-83B1-406D-A095-055D631D9E57}"/>
              </a:ext>
            </a:extLst>
          </p:cNvPr>
          <p:cNvGrpSpPr>
            <a:grpSpLocks/>
          </p:cNvGrpSpPr>
          <p:nvPr/>
        </p:nvGrpSpPr>
        <p:grpSpPr bwMode="auto">
          <a:xfrm>
            <a:off x="120650" y="3789363"/>
            <a:ext cx="11898313" cy="2424112"/>
            <a:chOff x="120923" y="3789834"/>
            <a:chExt cx="11898610" cy="2424151"/>
          </a:xfrm>
        </p:grpSpPr>
        <p:grpSp>
          <p:nvGrpSpPr>
            <p:cNvPr id="62471" name="组合 8">
              <a:extLst>
                <a:ext uri="{FF2B5EF4-FFF2-40B4-BE49-F238E27FC236}">
                  <a16:creationId xmlns:a16="http://schemas.microsoft.com/office/drawing/2014/main" id="{23F7A7FA-C53D-4C02-8E33-C9D66DDF13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923" y="3789834"/>
              <a:ext cx="11898610" cy="1328506"/>
              <a:chOff x="120923" y="4089362"/>
              <a:chExt cx="11898610" cy="1328506"/>
            </a:xfrm>
          </p:grpSpPr>
          <p:sp>
            <p:nvSpPr>
              <p:cNvPr id="62473" name="矩形 5">
                <a:extLst>
                  <a:ext uri="{FF2B5EF4-FFF2-40B4-BE49-F238E27FC236}">
                    <a16:creationId xmlns:a16="http://schemas.microsoft.com/office/drawing/2014/main" id="{8883B166-4261-4591-A3A5-1A8D614750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23" y="4089362"/>
                <a:ext cx="11898610" cy="1232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514350" indent="-51435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(2)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在闭区间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[a, b]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上的实连续函数所成的欧氏空间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C[a, b]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中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  </a:t>
                </a:r>
              </a:p>
              <a:p>
                <a:pPr eaLnBrk="1" hangingPunct="1">
                  <a:lnSpc>
                    <a:spcPct val="150000"/>
                  </a:lnSpc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    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内积为                                               </a:t>
                </a:r>
                <a:r>
                  <a:rPr lang="en-US" altLang="zh-CN" sz="2800" dirty="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, </a:t>
                </a:r>
                <a:r>
                  <a:rPr lang="zh-CN" altLang="en-US" sz="28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对</a:t>
                </a:r>
                <a:r>
                  <a:rPr lang="en-US" altLang="zh-CN" sz="2800" dirty="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f(x), g(x)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C[a, b]</a:t>
                </a:r>
                <a:r>
                  <a:rPr lang="en-US" altLang="zh-CN" sz="2800" dirty="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.</a:t>
                </a:r>
                <a:endParaRPr lang="zh-CN" altLang="en-US" dirty="0"/>
              </a:p>
            </p:txBody>
          </p:sp>
          <p:graphicFrame>
            <p:nvGraphicFramePr>
              <p:cNvPr id="62474" name="Object 3">
                <a:extLst>
                  <a:ext uri="{FF2B5EF4-FFF2-40B4-BE49-F238E27FC236}">
                    <a16:creationId xmlns:a16="http://schemas.microsoft.com/office/drawing/2014/main" id="{69415B87-2314-4546-B74C-E144076776B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49115" y="4611418"/>
              <a:ext cx="4062412" cy="806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790700" imgH="355600" progId="Equation.DSMT4">
                      <p:embed/>
                    </p:oleObj>
                  </mc:Choice>
                  <mc:Fallback>
                    <p:oleObj name="Equation" r:id="rId4" imgW="1790700" imgH="355600" progId="Equation.DSMT4">
                      <p:embed/>
                      <p:pic>
                        <p:nvPicPr>
                          <p:cNvPr id="0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49115" y="4611418"/>
                            <a:ext cx="4062412" cy="8064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2472" name="Object 4">
              <a:extLst>
                <a:ext uri="{FF2B5EF4-FFF2-40B4-BE49-F238E27FC236}">
                  <a16:creationId xmlns:a16="http://schemas.microsoft.com/office/drawing/2014/main" id="{82D07A8D-40CF-494E-B529-AEF92E39B02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71813" y="5232910"/>
            <a:ext cx="6078537" cy="981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679700" imgH="431800" progId="Equation.DSMT4">
                    <p:embed/>
                  </p:oleObj>
                </mc:Choice>
                <mc:Fallback>
                  <p:oleObj name="Equation" r:id="rId6" imgW="2679700" imgH="4318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1813" y="5232910"/>
                          <a:ext cx="6078537" cy="981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B5A019CA-981A-49AB-AE51-B1AAB6E33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3" y="6203950"/>
            <a:ext cx="8834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注：以上这两个不等式都是历史上著名的不等式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5">
            <a:extLst>
              <a:ext uri="{FF2B5EF4-FFF2-40B4-BE49-F238E27FC236}">
                <a16:creationId xmlns:a16="http://schemas.microsoft.com/office/drawing/2014/main" id="{02CD6CD3-72FA-41D3-B57D-09CD397E4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欧氏空间中向量的长度和角度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4FA25F1E-7654-4EB2-A3F8-5D00EFD19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4298950"/>
            <a:ext cx="914400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可见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 &lt;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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&gt;=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/2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当且仅当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[, ]=0.</a:t>
            </a:r>
          </a:p>
        </p:txBody>
      </p:sp>
      <p:grpSp>
        <p:nvGrpSpPr>
          <p:cNvPr id="2" name="组合 14">
            <a:extLst>
              <a:ext uri="{FF2B5EF4-FFF2-40B4-BE49-F238E27FC236}">
                <a16:creationId xmlns:a16="http://schemas.microsoft.com/office/drawing/2014/main" id="{A0916B56-3887-4CC0-A39C-2768FA705746}"/>
              </a:ext>
            </a:extLst>
          </p:cNvPr>
          <p:cNvGrpSpPr>
            <a:grpSpLocks/>
          </p:cNvGrpSpPr>
          <p:nvPr/>
        </p:nvGrpSpPr>
        <p:grpSpPr bwMode="auto">
          <a:xfrm>
            <a:off x="49213" y="2565400"/>
            <a:ext cx="11809412" cy="1725613"/>
            <a:chOff x="49931" y="2565698"/>
            <a:chExt cx="11808296" cy="1724619"/>
          </a:xfrm>
        </p:grpSpPr>
        <p:sp>
          <p:nvSpPr>
            <p:cNvPr id="63502" name="Text Box 3">
              <a:extLst>
                <a:ext uri="{FF2B5EF4-FFF2-40B4-BE49-F238E27FC236}">
                  <a16:creationId xmlns:a16="http://schemas.microsoft.com/office/drawing/2014/main" id="{F8FD1812-B12F-4E84-BFEE-DAB48BB2FF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31" y="2565698"/>
              <a:ext cx="11808296" cy="607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定义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2    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在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欧氏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空间中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,  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两个非零向量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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 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的</a:t>
              </a:r>
              <a:r>
                <a:rPr lang="zh-CN" altLang="en-US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夹角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记为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&lt;, &gt;,  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规定为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:</a:t>
              </a:r>
            </a:p>
          </p:txBody>
        </p:sp>
        <p:graphicFrame>
          <p:nvGraphicFramePr>
            <p:cNvPr id="63503" name="Object 9">
              <a:extLst>
                <a:ext uri="{FF2B5EF4-FFF2-40B4-BE49-F238E27FC236}">
                  <a16:creationId xmlns:a16="http://schemas.microsoft.com/office/drawing/2014/main" id="{4BFC61CF-BB36-4194-A7CE-A66C19DD96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89275" y="3290192"/>
            <a:ext cx="5214938" cy="1000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184400" imgH="419100" progId="Equation.DSMT4">
                    <p:embed/>
                  </p:oleObj>
                </mc:Choice>
                <mc:Fallback>
                  <p:oleObj name="Equation" r:id="rId2" imgW="2184400" imgH="4191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9275" y="3290192"/>
                          <a:ext cx="5214938" cy="1000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493" name="组合 9">
            <a:extLst>
              <a:ext uri="{FF2B5EF4-FFF2-40B4-BE49-F238E27FC236}">
                <a16:creationId xmlns:a16="http://schemas.microsoft.com/office/drawing/2014/main" id="{6E4E205F-DF31-4F24-8DF9-1BDFEBB1F334}"/>
              </a:ext>
            </a:extLst>
          </p:cNvPr>
          <p:cNvGrpSpPr>
            <a:grpSpLocks/>
          </p:cNvGrpSpPr>
          <p:nvPr/>
        </p:nvGrpSpPr>
        <p:grpSpPr bwMode="auto">
          <a:xfrm>
            <a:off x="119063" y="1125538"/>
            <a:ext cx="11666537" cy="576262"/>
            <a:chOff x="118927" y="1038782"/>
            <a:chExt cx="11667292" cy="576064"/>
          </a:xfrm>
        </p:grpSpPr>
        <p:sp>
          <p:nvSpPr>
            <p:cNvPr id="63500" name="矩形 5">
              <a:extLst>
                <a:ext uri="{FF2B5EF4-FFF2-40B4-BE49-F238E27FC236}">
                  <a16:creationId xmlns:a16="http://schemas.microsoft.com/office/drawing/2014/main" id="{1CA04FC5-5A84-47DD-8E26-A14718A31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927" y="1053530"/>
              <a:ext cx="1166729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     根据柯西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-</a:t>
              </a:r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布涅科夫斯基不等式，我们有三角形不等式                         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.</a:t>
              </a:r>
            </a:p>
          </p:txBody>
        </p:sp>
        <p:graphicFrame>
          <p:nvGraphicFramePr>
            <p:cNvPr id="63501" name="Object 3">
              <a:extLst>
                <a:ext uri="{FF2B5EF4-FFF2-40B4-BE49-F238E27FC236}">
                  <a16:creationId xmlns:a16="http://schemas.microsoft.com/office/drawing/2014/main" id="{0DFA6A10-3492-4487-ABC4-27B359B3E9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23198" y="1038782"/>
            <a:ext cx="2016225" cy="5760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888614" imgH="253890" progId="Equation.DSMT4">
                    <p:embed/>
                  </p:oleObj>
                </mc:Choice>
                <mc:Fallback>
                  <p:oleObj name="Equation" r:id="rId4" imgW="888614" imgH="25389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23198" y="1038782"/>
                          <a:ext cx="2016225" cy="5760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13">
            <a:extLst>
              <a:ext uri="{FF2B5EF4-FFF2-40B4-BE49-F238E27FC236}">
                <a16:creationId xmlns:a16="http://schemas.microsoft.com/office/drawing/2014/main" id="{3424085B-ED17-413F-8C1E-0CA415BE73B4}"/>
              </a:ext>
            </a:extLst>
          </p:cNvPr>
          <p:cNvGrpSpPr>
            <a:grpSpLocks/>
          </p:cNvGrpSpPr>
          <p:nvPr/>
        </p:nvGrpSpPr>
        <p:grpSpPr bwMode="auto">
          <a:xfrm>
            <a:off x="120650" y="1773238"/>
            <a:ext cx="11668125" cy="779462"/>
            <a:chOff x="120923" y="1773610"/>
            <a:chExt cx="11667292" cy="779462"/>
          </a:xfrm>
        </p:grpSpPr>
        <p:sp>
          <p:nvSpPr>
            <p:cNvPr id="63498" name="矩形 7">
              <a:extLst>
                <a:ext uri="{FF2B5EF4-FFF2-40B4-BE49-F238E27FC236}">
                  <a16:creationId xmlns:a16="http://schemas.microsoft.com/office/drawing/2014/main" id="{DD6AD2BC-A919-4CE8-AF9C-7A015AA9F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923" y="1927958"/>
              <a:ext cx="1166729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证明：                                                                                                                   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.</a:t>
              </a:r>
            </a:p>
          </p:txBody>
        </p:sp>
        <p:graphicFrame>
          <p:nvGraphicFramePr>
            <p:cNvPr id="63499" name="Object 4">
              <a:extLst>
                <a:ext uri="{FF2B5EF4-FFF2-40B4-BE49-F238E27FC236}">
                  <a16:creationId xmlns:a16="http://schemas.microsoft.com/office/drawing/2014/main" id="{4C2F11EF-9E2B-4BE2-A639-F620D551FA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5059" y="1773610"/>
            <a:ext cx="9909176" cy="779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368800" imgH="342900" progId="Equation.DSMT4">
                    <p:embed/>
                  </p:oleObj>
                </mc:Choice>
                <mc:Fallback>
                  <p:oleObj name="Equation" r:id="rId6" imgW="4368800" imgH="3429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5059" y="1773610"/>
                          <a:ext cx="9909176" cy="779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Text Box 6">
            <a:extLst>
              <a:ext uri="{FF2B5EF4-FFF2-40B4-BE49-F238E27FC236}">
                <a16:creationId xmlns:a16="http://schemas.microsoft.com/office/drawing/2014/main" id="{D031564E-3E7D-4783-99FA-8A15FB5C3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4946650"/>
            <a:ext cx="914400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定义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如果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[, ]=0,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则称与正交（互相垂直）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66FE3E9D-35E2-4BA8-9A1B-BAF7D22EE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5532438"/>
            <a:ext cx="914400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注：只有零向量才与自己正交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F046651B-AE96-494A-8EB5-80570E74C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6065838"/>
            <a:ext cx="11088687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注：勾股定理    当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正交时，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|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+|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 |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|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 ||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1" grpId="0" autoUpdateAnimBg="0"/>
      <p:bldP spid="12" grpId="0" autoUpdateAnimBg="0"/>
      <p:bldP spid="1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>
            <a:extLst>
              <a:ext uri="{FF2B5EF4-FFF2-40B4-BE49-F238E27FC236}">
                <a16:creationId xmlns:a16="http://schemas.microsoft.com/office/drawing/2014/main" id="{CB4D8FBE-94BB-41D4-9D88-C237F6835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557338"/>
            <a:ext cx="9144000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endParaRPr lang="zh-CN" altLang="en-US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4515" name="Rectangle 5">
            <a:extLst>
              <a:ext uri="{FF2B5EF4-FFF2-40B4-BE49-F238E27FC236}">
                <a16:creationId xmlns:a16="http://schemas.microsoft.com/office/drawing/2014/main" id="{57BA96A7-0B98-45F4-9C64-62B0F19BA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欧氏空间中的规范正交基</a:t>
            </a:r>
          </a:p>
        </p:txBody>
      </p:sp>
      <p:sp>
        <p:nvSpPr>
          <p:cNvPr id="64516" name="Text Box 16">
            <a:extLst>
              <a:ext uri="{FF2B5EF4-FFF2-40B4-BE49-F238E27FC236}">
                <a16:creationId xmlns:a16="http://schemas.microsoft.com/office/drawing/2014/main" id="{BAEF568C-A2E4-4D6C-B4AE-5DD721BE7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0775"/>
            <a:ext cx="12195175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定义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  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在欧氏空间中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,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一组两两正交的非零向量称为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正交向量组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,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由单位向量构成的正交向量组称为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规范正交向量组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22" name="Text Box 8">
            <a:extLst>
              <a:ext uri="{FF2B5EF4-FFF2-40B4-BE49-F238E27FC236}">
                <a16:creationId xmlns:a16="http://schemas.microsoft.com/office/drawing/2014/main" id="{7E3E6049-7E79-4F11-8C0E-71EAE707E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2420938"/>
            <a:ext cx="914400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注：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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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为规范正交向量组 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[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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]=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ij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17F02455-2104-47B3-973A-15F34F15D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3213100"/>
            <a:ext cx="91440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定理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1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正交向量组必线性无关</a:t>
            </a:r>
            <a:r>
              <a:rPr lang="zh-CN" altLang="en-US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grpSp>
        <p:nvGrpSpPr>
          <p:cNvPr id="2" name="组合 12">
            <a:extLst>
              <a:ext uri="{FF2B5EF4-FFF2-40B4-BE49-F238E27FC236}">
                <a16:creationId xmlns:a16="http://schemas.microsoft.com/office/drawing/2014/main" id="{BDAC24E0-C223-45F4-A672-38E6CE985FEF}"/>
              </a:ext>
            </a:extLst>
          </p:cNvPr>
          <p:cNvGrpSpPr>
            <a:grpSpLocks/>
          </p:cNvGrpSpPr>
          <p:nvPr/>
        </p:nvGrpSpPr>
        <p:grpSpPr bwMode="auto">
          <a:xfrm>
            <a:off x="49213" y="3857625"/>
            <a:ext cx="11695112" cy="652463"/>
            <a:chOff x="48915" y="3857428"/>
            <a:chExt cx="11695880" cy="652486"/>
          </a:xfrm>
        </p:grpSpPr>
        <p:sp>
          <p:nvSpPr>
            <p:cNvPr id="64524" name="Text Box 10">
              <a:extLst>
                <a:ext uri="{FF2B5EF4-FFF2-40B4-BE49-F238E27FC236}">
                  <a16:creationId xmlns:a16="http://schemas.microsoft.com/office/drawing/2014/main" id="{7475E044-8A9D-488C-B12D-ADE7ECBD73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15" y="3857428"/>
              <a:ext cx="9144000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证明：设正交向量组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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1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 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2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</a:t>
              </a:r>
              <a:r>
                <a:rPr lang="en-US" altLang="zh-CN" sz="2800">
                  <a:ea typeface="华文新魏" panose="02010800040101010101" pitchFamily="2" charset="-122"/>
                  <a:sym typeface="Symbol" panose="05050102010706020507" pitchFamily="18" charset="2"/>
                </a:rPr>
                <a:t>…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 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n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有一线性关系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4525" name="矩形 24">
              <a:extLst>
                <a:ext uri="{FF2B5EF4-FFF2-40B4-BE49-F238E27FC236}">
                  <a16:creationId xmlns:a16="http://schemas.microsoft.com/office/drawing/2014/main" id="{7B18E319-90BB-47D0-8959-71938A37A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9872" y="3948598"/>
              <a:ext cx="416492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k</a:t>
              </a:r>
              <a:r>
                <a:rPr lang="en-US" altLang="zh-CN" sz="2800" baseline="-250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1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</a:t>
              </a:r>
              <a:r>
                <a:rPr lang="en-US" altLang="zh-CN" sz="2800" baseline="-250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1 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+ k</a:t>
              </a:r>
              <a:r>
                <a:rPr lang="en-US" altLang="zh-CN" sz="2800" baseline="-250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2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</a:t>
              </a:r>
              <a:r>
                <a:rPr lang="en-US" altLang="zh-CN" sz="2800" baseline="-250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2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+ </a:t>
              </a:r>
              <a:r>
                <a:rPr lang="en-US" altLang="zh-CN" sz="2800">
                  <a:solidFill>
                    <a:srgbClr val="000000"/>
                  </a:solidFill>
                  <a:ea typeface="华文新魏" panose="02010800040101010101" pitchFamily="2" charset="-122"/>
                  <a:sym typeface="Symbol" panose="05050102010706020507" pitchFamily="18" charset="2"/>
                </a:rPr>
                <a:t>… 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+k</a:t>
              </a:r>
              <a:r>
                <a:rPr lang="en-US" altLang="zh-CN" sz="2800" baseline="-250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n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</a:t>
              </a:r>
              <a:r>
                <a:rPr lang="en-US" altLang="zh-CN" sz="2800" baseline="-250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n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=0.</a:t>
              </a:r>
              <a:endParaRPr lang="zh-CN" altLang="en-US"/>
            </a:p>
          </p:txBody>
        </p:sp>
      </p:grpSp>
      <p:grpSp>
        <p:nvGrpSpPr>
          <p:cNvPr id="3" name="组合 28">
            <a:extLst>
              <a:ext uri="{FF2B5EF4-FFF2-40B4-BE49-F238E27FC236}">
                <a16:creationId xmlns:a16="http://schemas.microsoft.com/office/drawing/2014/main" id="{E708D95A-D32D-4349-9795-9209B6944636}"/>
              </a:ext>
            </a:extLst>
          </p:cNvPr>
          <p:cNvGrpSpPr>
            <a:grpSpLocks/>
          </p:cNvGrpSpPr>
          <p:nvPr/>
        </p:nvGrpSpPr>
        <p:grpSpPr bwMode="auto">
          <a:xfrm>
            <a:off x="49213" y="4797425"/>
            <a:ext cx="11809412" cy="612775"/>
            <a:chOff x="48915" y="4689527"/>
            <a:chExt cx="11809312" cy="612475"/>
          </a:xfrm>
        </p:grpSpPr>
        <p:sp>
          <p:nvSpPr>
            <p:cNvPr id="64522" name="Text Box 10">
              <a:extLst>
                <a:ext uri="{FF2B5EF4-FFF2-40B4-BE49-F238E27FC236}">
                  <a16:creationId xmlns:a16="http://schemas.microsoft.com/office/drawing/2014/main" id="{8BB59BD8-CB1B-41D3-AB3D-83B6F8CAE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15" y="4689527"/>
              <a:ext cx="9144000" cy="612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用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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i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与等式两边作内积，可得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4523" name="矩形 26">
              <a:extLst>
                <a:ext uri="{FF2B5EF4-FFF2-40B4-BE49-F238E27FC236}">
                  <a16:creationId xmlns:a16="http://schemas.microsoft.com/office/drawing/2014/main" id="{B9F09715-41A3-4EE2-B572-CF0AAD7A2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3451" y="4768450"/>
              <a:ext cx="698477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k</a:t>
              </a:r>
              <a:r>
                <a:rPr lang="en-US" altLang="zh-CN" sz="2800" baseline="-250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[</a:t>
              </a:r>
              <a:r>
                <a:rPr lang="en-US" altLang="zh-CN" sz="2800" baseline="-250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i 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 </a:t>
              </a:r>
              <a:r>
                <a:rPr lang="en-US" altLang="zh-CN" sz="2800" baseline="-250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i 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]=0.  </a:t>
              </a:r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由于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</a:t>
              </a:r>
              <a:r>
                <a:rPr lang="en-US" altLang="zh-CN" sz="2800" baseline="-250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i 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≠0</a:t>
              </a:r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，所以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[</a:t>
              </a:r>
              <a:r>
                <a:rPr lang="en-US" altLang="zh-CN" sz="2800" baseline="-250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i 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 </a:t>
              </a:r>
              <a:r>
                <a:rPr lang="en-US" altLang="zh-CN" sz="2800" baseline="-250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i </a:t>
              </a:r>
              <a:r>
                <a:rPr lang="en-US" altLang="zh-CN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]&gt;</a:t>
              </a:r>
              <a:r>
                <a:rPr lang="en-US" altLang="zh-CN" sz="2800">
                  <a:solidFill>
                    <a:srgbClr val="000000"/>
                  </a:solidFill>
                  <a:ea typeface="华文新魏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0,</a:t>
              </a:r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Text Box 10">
            <a:extLst>
              <a:ext uri="{FF2B5EF4-FFF2-40B4-BE49-F238E27FC236}">
                <a16:creationId xmlns:a16="http://schemas.microsoft.com/office/drawing/2014/main" id="{D4A26EB2-AF5A-4283-B771-FC54A2D70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5586413"/>
            <a:ext cx="116649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从而有 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800" baseline="-25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2800">
                <a:solidFill>
                  <a:srgbClr val="000000"/>
                </a:solidFill>
                <a:ea typeface="华文新魏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0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( i=1, 2, ..., n)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  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这就证明了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是线性无关的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5">
            <a:extLst>
              <a:ext uri="{FF2B5EF4-FFF2-40B4-BE49-F238E27FC236}">
                <a16:creationId xmlns:a16="http://schemas.microsoft.com/office/drawing/2014/main" id="{A1B0F992-FAA3-48DE-A7E5-5772EB12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欧氏空间中的规范正交基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03D6F5DD-622C-45F8-BEBC-46F23C652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510088"/>
            <a:ext cx="91440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解之得一个解为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=(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－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2, 1, 1)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将单位化得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AB3450D1-D825-4726-AFFF-BFEF96B71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2781300"/>
            <a:ext cx="914400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解：先求与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都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正交的向量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记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=(x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则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885AF5FB-CAA4-4B9C-B341-3849DC115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763" y="3573463"/>
            <a:ext cx="914400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[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]= 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=0,        [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]=x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－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=0</a:t>
            </a:r>
          </a:p>
        </p:txBody>
      </p:sp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BD0777CF-CBA5-4734-A6C2-A3282E9EF3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7175" y="5102225"/>
          <a:ext cx="5984875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30500" imgH="419100" progId="Equation.DSMT4">
                  <p:embed/>
                </p:oleObj>
              </mc:Choice>
              <mc:Fallback>
                <p:oleObj name="Equation" r:id="rId2" imgW="2730500" imgH="419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5102225"/>
                        <a:ext cx="5984875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3" name="Text Box 10">
            <a:extLst>
              <a:ext uri="{FF2B5EF4-FFF2-40B4-BE49-F238E27FC236}">
                <a16:creationId xmlns:a16="http://schemas.microsoft.com/office/drawing/2014/main" id="{5BB7F0BA-1AAC-4CD1-A39A-3030A4580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196975"/>
            <a:ext cx="11952287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1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中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取标准内积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[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, ]=x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使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成为一个 欧氏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在欧氏空间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中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求一个单位向量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使其与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=(1, 1, 1)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=(0, 1,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－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1)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都正交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83D9F86C-1AF3-4D9C-8837-A00C2B26F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021388"/>
            <a:ext cx="91440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向量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就是与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两个向量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都正交的单位向量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5">
            <a:extLst>
              <a:ext uri="{FF2B5EF4-FFF2-40B4-BE49-F238E27FC236}">
                <a16:creationId xmlns:a16="http://schemas.microsoft.com/office/drawing/2014/main" id="{11003AC3-B092-431C-98AB-48B663D02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欧氏空间中的规范正交基</a:t>
            </a:r>
          </a:p>
        </p:txBody>
      </p:sp>
      <p:sp>
        <p:nvSpPr>
          <p:cNvPr id="66563" name="Text Box 5">
            <a:extLst>
              <a:ext uri="{FF2B5EF4-FFF2-40B4-BE49-F238E27FC236}">
                <a16:creationId xmlns:a16="http://schemas.microsoft.com/office/drawing/2014/main" id="{7480E27F-3AFE-47AD-BA03-6ED48C4AB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001713"/>
            <a:ext cx="12145962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定理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2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在欧氏空间中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如果向量组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m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线性无关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则有规范正交向量组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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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m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与之等价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  <a:endParaRPr lang="en-US" altLang="zh-CN" sz="2800" baseline="-2500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4" name="Object 14">
            <a:extLst>
              <a:ext uri="{FF2B5EF4-FFF2-40B4-BE49-F238E27FC236}">
                <a16:creationId xmlns:a16="http://schemas.microsoft.com/office/drawing/2014/main" id="{22AD90E6-F6E3-4EDC-A8DB-1810F78833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11491"/>
              </p:ext>
            </p:extLst>
          </p:nvPr>
        </p:nvGraphicFramePr>
        <p:xfrm>
          <a:off x="669925" y="4221163"/>
          <a:ext cx="55880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34880" imgH="431640" progId="Equation.DSMT4">
                  <p:embed/>
                </p:oleObj>
              </mc:Choice>
              <mc:Fallback>
                <p:oleObj name="Equation" r:id="rId2" imgW="2234880" imgH="4316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4221163"/>
                        <a:ext cx="55880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>
            <a:extLst>
              <a:ext uri="{FF2B5EF4-FFF2-40B4-BE49-F238E27FC236}">
                <a16:creationId xmlns:a16="http://schemas.microsoft.com/office/drawing/2014/main" id="{4A83BE36-2D69-4948-8A54-3A018EF6A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05038"/>
            <a:ext cx="91440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证明：  先正交化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取</a:t>
            </a:r>
            <a:endParaRPr lang="zh-CN" altLang="en-US" sz="280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12074F86-F72A-4C74-A2D8-07A99BE8E1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657864"/>
              </p:ext>
            </p:extLst>
          </p:nvPr>
        </p:nvGraphicFramePr>
        <p:xfrm>
          <a:off x="762000" y="3124200"/>
          <a:ext cx="30797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1560" imgH="431640" progId="Equation.DSMT4">
                  <p:embed/>
                </p:oleObj>
              </mc:Choice>
              <mc:Fallback>
                <p:oleObj name="Equation" r:id="rId4" imgW="1231560" imgH="4316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124200"/>
                        <a:ext cx="307975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">
            <a:extLst>
              <a:ext uri="{FF2B5EF4-FFF2-40B4-BE49-F238E27FC236}">
                <a16:creationId xmlns:a16="http://schemas.microsoft.com/office/drawing/2014/main" id="{B1D54CBF-5BCF-4E61-A440-7442B6A7EA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5175405"/>
              </p:ext>
            </p:extLst>
          </p:nvPr>
        </p:nvGraphicFramePr>
        <p:xfrm>
          <a:off x="696913" y="4294188"/>
          <a:ext cx="48260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30320" imgH="431640" progId="Equation.DSMT4">
                  <p:embed/>
                </p:oleObj>
              </mc:Choice>
              <mc:Fallback>
                <p:oleObj name="Equation" r:id="rId6" imgW="1930320" imgH="4316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13" y="4294188"/>
                        <a:ext cx="48260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7">
            <a:extLst>
              <a:ext uri="{FF2B5EF4-FFF2-40B4-BE49-F238E27FC236}">
                <a16:creationId xmlns:a16="http://schemas.microsoft.com/office/drawing/2014/main" id="{8E98E475-C110-4DC3-BDA7-F1C6BD3657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212135"/>
              </p:ext>
            </p:extLst>
          </p:nvPr>
        </p:nvGraphicFramePr>
        <p:xfrm>
          <a:off x="758825" y="5638800"/>
          <a:ext cx="85090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03440" imgH="431640" progId="Equation.DSMT4">
                  <p:embed/>
                </p:oleObj>
              </mc:Choice>
              <mc:Fallback>
                <p:oleObj name="Equation" r:id="rId8" imgW="3403440" imgH="43164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5638800"/>
                        <a:ext cx="85090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2" name="Object 16">
            <a:extLst>
              <a:ext uri="{FF2B5EF4-FFF2-40B4-BE49-F238E27FC236}">
                <a16:creationId xmlns:a16="http://schemas.microsoft.com/office/drawing/2014/main" id="{023AACE1-454F-4D02-B24E-9B407F10B2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1475" y="5403850"/>
          <a:ext cx="301625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06500" imgH="101600" progId="Equation.DSMT4">
                  <p:embed/>
                </p:oleObj>
              </mc:Choice>
              <mc:Fallback>
                <p:oleObj name="Equation" r:id="rId10" imgW="1206500" imgH="101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1475" y="5403850"/>
                        <a:ext cx="301625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7" name="Object 7">
            <a:extLst>
              <a:ext uri="{FF2B5EF4-FFF2-40B4-BE49-F238E27FC236}">
                <a16:creationId xmlns:a16="http://schemas.microsoft.com/office/drawing/2014/main" id="{D83D4AE2-343E-40B2-86D6-5FDBA0E85E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213" y="2757488"/>
          <a:ext cx="12382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95085" imgH="228501" progId="Equation.DSMT4">
                  <p:embed/>
                </p:oleObj>
              </mc:Choice>
              <mc:Fallback>
                <p:oleObj name="Equation" r:id="rId12" imgW="495085" imgH="228501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3" y="2757488"/>
                        <a:ext cx="12382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8" name="Object 8">
            <a:extLst>
              <a:ext uri="{FF2B5EF4-FFF2-40B4-BE49-F238E27FC236}">
                <a16:creationId xmlns:a16="http://schemas.microsoft.com/office/drawing/2014/main" id="{443DE9C1-3308-4B58-B908-186E211EA6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2278063"/>
          <a:ext cx="5954713" cy="216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149600" imgH="1143000" progId="Equation.DSMT4">
                  <p:embed/>
                </p:oleObj>
              </mc:Choice>
              <mc:Fallback>
                <p:oleObj name="Equation" r:id="rId14" imgW="3149600" imgH="1143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278063"/>
                        <a:ext cx="5954713" cy="216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5">
            <a:extLst>
              <a:ext uri="{FF2B5EF4-FFF2-40B4-BE49-F238E27FC236}">
                <a16:creationId xmlns:a16="http://schemas.microsoft.com/office/drawing/2014/main" id="{CF11919A-6DAD-48EB-B69F-65BD18E20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欧氏空间中的规范正交基</a:t>
            </a:r>
          </a:p>
        </p:txBody>
      </p:sp>
      <p:sp>
        <p:nvSpPr>
          <p:cNvPr id="67587" name="Text Box 4">
            <a:extLst>
              <a:ext uri="{FF2B5EF4-FFF2-40B4-BE49-F238E27FC236}">
                <a16:creationId xmlns:a16="http://schemas.microsoft.com/office/drawing/2014/main" id="{A2325745-D7B1-4A87-B8A1-2A90B6AC3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981075"/>
            <a:ext cx="914400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再将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m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单位化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取</a:t>
            </a:r>
          </a:p>
        </p:txBody>
      </p:sp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F66C4366-E88D-4E50-8B37-325C3C6BBF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675" y="2062163"/>
          <a:ext cx="62865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14600" imgH="431800" progId="Equation.DSMT4">
                  <p:embed/>
                </p:oleObj>
              </mc:Choice>
              <mc:Fallback>
                <p:oleObj name="Equation" r:id="rId2" imgW="25146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" y="2062163"/>
                        <a:ext cx="62865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1">
            <a:extLst>
              <a:ext uri="{FF2B5EF4-FFF2-40B4-BE49-F238E27FC236}">
                <a16:creationId xmlns:a16="http://schemas.microsoft.com/office/drawing/2014/main" id="{BA2D7EB2-33EB-449E-8DAF-977D04219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8" y="5446713"/>
            <a:ext cx="11491912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则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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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m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就是所求与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m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等价的规范正交向量组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graphicFrame>
        <p:nvGraphicFramePr>
          <p:cNvPr id="70668" name="Object 3">
            <a:extLst>
              <a:ext uri="{FF2B5EF4-FFF2-40B4-BE49-F238E27FC236}">
                <a16:creationId xmlns:a16="http://schemas.microsoft.com/office/drawing/2014/main" id="{138BAD8E-A526-41F5-95E6-8147534CA1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3" y="3286125"/>
          <a:ext cx="6745287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98900" imgH="1193800" progId="Equation.DSMT4">
                  <p:embed/>
                </p:oleObj>
              </mc:Choice>
              <mc:Fallback>
                <p:oleObj name="Equation" r:id="rId4" imgW="3898900" imgH="1193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3" y="3286125"/>
                        <a:ext cx="6745287" cy="206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B8250B05-C819-42C0-9A7A-5EE031915E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75450" y="3286125"/>
          <a:ext cx="5381625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11500" imgH="1193800" progId="Equation.DSMT4">
                  <p:embed/>
                </p:oleObj>
              </mc:Choice>
              <mc:Fallback>
                <p:oleObj name="Equation" r:id="rId6" imgW="3111500" imgH="1193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5450" y="3286125"/>
                        <a:ext cx="5381625" cy="206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5E17F64B-762F-4858-B35D-B97DD2D58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6094413"/>
            <a:ext cx="95773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注：上述方法称为</a:t>
            </a:r>
            <a:r>
              <a:rPr lang="en-US" altLang="zh-CN" sz="2800" dirty="0" err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Schimidt</a:t>
            </a:r>
            <a:r>
              <a:rPr lang="en-US" altLang="zh-CN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斯密特</a:t>
            </a:r>
            <a:r>
              <a:rPr lang="en-US" altLang="zh-CN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正交化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过程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  <a:endParaRPr lang="zh-CN" altLang="en-US" sz="2800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49CA741-D38D-4F78-9A42-3BF0741D9F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07225" y="1341438"/>
          <a:ext cx="4570413" cy="165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49600" imgH="1143000" progId="Equation.DSMT4">
                  <p:embed/>
                </p:oleObj>
              </mc:Choice>
              <mc:Fallback>
                <p:oleObj name="Equation" r:id="rId8" imgW="3149600" imgH="1143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7225" y="1341438"/>
                        <a:ext cx="4570413" cy="165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3CBE5C2-E123-4718-93A4-C60A4681BDC1}"/>
              </a:ext>
            </a:extLst>
          </p:cNvPr>
          <p:cNvCxnSpPr/>
          <p:nvPr/>
        </p:nvCxnSpPr>
        <p:spPr>
          <a:xfrm flipH="1">
            <a:off x="2713038" y="2420938"/>
            <a:ext cx="4679950" cy="165735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5">
            <a:extLst>
              <a:ext uri="{FF2B5EF4-FFF2-40B4-BE49-F238E27FC236}">
                <a16:creationId xmlns:a16="http://schemas.microsoft.com/office/drawing/2014/main" id="{63FAC3D9-E2CE-4149-A92F-B1156CCE0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欧氏空间中的规范正交基</a:t>
            </a:r>
          </a:p>
        </p:txBody>
      </p:sp>
      <p:sp>
        <p:nvSpPr>
          <p:cNvPr id="68611" name="Text Box 13">
            <a:extLst>
              <a:ext uri="{FF2B5EF4-FFF2-40B4-BE49-F238E27FC236}">
                <a16:creationId xmlns:a16="http://schemas.microsoft.com/office/drawing/2014/main" id="{344C32F0-34BC-4D7C-8127-278B972BF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1054100"/>
            <a:ext cx="12072937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定义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  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维欧氏空间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中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,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含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有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个向量的正交向量组称为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正交基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   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           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由单位向量构成的正交基称为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规范正交基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grpSp>
        <p:nvGrpSpPr>
          <p:cNvPr id="2" name="组合 14">
            <a:extLst>
              <a:ext uri="{FF2B5EF4-FFF2-40B4-BE49-F238E27FC236}">
                <a16:creationId xmlns:a16="http://schemas.microsoft.com/office/drawing/2014/main" id="{9A8DAE3A-D36A-406D-BA58-3F6BE566846C}"/>
              </a:ext>
            </a:extLst>
          </p:cNvPr>
          <p:cNvGrpSpPr>
            <a:grpSpLocks/>
          </p:cNvGrpSpPr>
          <p:nvPr/>
        </p:nvGrpSpPr>
        <p:grpSpPr bwMode="auto">
          <a:xfrm>
            <a:off x="49213" y="2205038"/>
            <a:ext cx="12145962" cy="1244600"/>
            <a:chOff x="49931" y="2205658"/>
            <a:chExt cx="12145244" cy="1244637"/>
          </a:xfrm>
        </p:grpSpPr>
        <p:sp>
          <p:nvSpPr>
            <p:cNvPr id="68620" name="Text Box 2">
              <a:extLst>
                <a:ext uri="{FF2B5EF4-FFF2-40B4-BE49-F238E27FC236}">
                  <a16:creationId xmlns:a16="http://schemas.microsoft.com/office/drawing/2014/main" id="{42D4E239-86D1-4E93-99F5-1D0EC7D5E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31" y="2277666"/>
              <a:ext cx="12145244" cy="1172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例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2  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在欧氏空间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R[x]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中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,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内积为                                                  ，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试求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R[x]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3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的一组规范正交基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.</a:t>
              </a:r>
              <a:endPara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68621" name="Object 3">
              <a:extLst>
                <a:ext uri="{FF2B5EF4-FFF2-40B4-BE49-F238E27FC236}">
                  <a16:creationId xmlns:a16="http://schemas.microsoft.com/office/drawing/2014/main" id="{5C3B4548-E1B7-45C5-8B75-0BAB7094EC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3491" y="2205658"/>
            <a:ext cx="4267200" cy="781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803400" imgH="330200" progId="Equation.DSMT4">
                    <p:embed/>
                  </p:oleObj>
                </mc:Choice>
                <mc:Fallback>
                  <p:oleObj name="Equation" r:id="rId2" imgW="1803400" imgH="3302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3491" y="2205658"/>
                          <a:ext cx="4267200" cy="781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5">
            <a:extLst>
              <a:ext uri="{FF2B5EF4-FFF2-40B4-BE49-F238E27FC236}">
                <a16:creationId xmlns:a16="http://schemas.microsoft.com/office/drawing/2014/main" id="{23E6939A-AD0E-4011-91EA-DFF13D022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" y="3357563"/>
            <a:ext cx="103949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解：   取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R[x]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的一组基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=1, 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=x,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=x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将其正交化得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784B2FBF-D8C2-4545-852C-F2586918E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713" y="4329113"/>
            <a:ext cx="3097212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=1, </a:t>
            </a:r>
          </a:p>
        </p:txBody>
      </p: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5AF43B9E-5663-423A-A85D-AFEA379307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237484"/>
              </p:ext>
            </p:extLst>
          </p:nvPr>
        </p:nvGraphicFramePr>
        <p:xfrm>
          <a:off x="3217863" y="4184650"/>
          <a:ext cx="29845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93760" imgH="431640" progId="Equation.DSMT4">
                  <p:embed/>
                </p:oleObj>
              </mc:Choice>
              <mc:Fallback>
                <p:oleObj name="Equation" r:id="rId4" imgW="1193760" imgH="4316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863" y="4184650"/>
                        <a:ext cx="29845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84E3787C-0574-456C-B947-53CDF756FF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9025" y="3933825"/>
          <a:ext cx="2851150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26698" imgH="634725" progId="Equation.DSMT4">
                  <p:embed/>
                </p:oleObj>
              </mc:Choice>
              <mc:Fallback>
                <p:oleObj name="Equation" r:id="rId6" imgW="926698" imgH="63472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9025" y="3933825"/>
                        <a:ext cx="2851150" cy="154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45FFDD15-0EFD-4A64-A1C2-DC10EF2970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63025" y="4543425"/>
          <a:ext cx="9144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890" imgH="139639" progId="Equation.DSMT4">
                  <p:embed/>
                </p:oleObj>
              </mc:Choice>
              <mc:Fallback>
                <p:oleObj name="Equation" r:id="rId8" imgW="253890" imgH="13963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3025" y="4543425"/>
                        <a:ext cx="9144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6584A804-66C2-4ADF-8731-FD30AE019E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7275" y="5157788"/>
          <a:ext cx="5943600" cy="157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92300" imgH="635000" progId="Equation.DSMT4">
                  <p:embed/>
                </p:oleObj>
              </mc:Choice>
              <mc:Fallback>
                <p:oleObj name="Equation" r:id="rId10" imgW="1892300" imgH="635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275" y="5157788"/>
                        <a:ext cx="5943600" cy="157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F58A929D-60EC-4B37-BEA8-013CC56E86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1988" y="5691188"/>
          <a:ext cx="20955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47419" imgH="203112" progId="Equation.DSMT4">
                  <p:embed/>
                </p:oleObj>
              </mc:Choice>
              <mc:Fallback>
                <p:oleObj name="Equation" r:id="rId12" imgW="647419" imgH="20311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1988" y="5691188"/>
                        <a:ext cx="20955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019CF889-89ED-499E-BFD1-3DA492914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6062663"/>
            <a:ext cx="91440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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,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就是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R[x]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的一组规范正交基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grpSp>
        <p:nvGrpSpPr>
          <p:cNvPr id="3" name="组合 12">
            <a:extLst>
              <a:ext uri="{FF2B5EF4-FFF2-40B4-BE49-F238E27FC236}">
                <a16:creationId xmlns:a16="http://schemas.microsoft.com/office/drawing/2014/main" id="{57A9F625-815E-4C4C-9BB7-F066F21A645F}"/>
              </a:ext>
            </a:extLst>
          </p:cNvPr>
          <p:cNvGrpSpPr>
            <a:grpSpLocks/>
          </p:cNvGrpSpPr>
          <p:nvPr/>
        </p:nvGrpSpPr>
        <p:grpSpPr bwMode="auto">
          <a:xfrm>
            <a:off x="860425" y="1630363"/>
            <a:ext cx="4635500" cy="1447800"/>
            <a:chOff x="860053" y="1629594"/>
            <a:chExt cx="4635500" cy="1447800"/>
          </a:xfrm>
        </p:grpSpPr>
        <p:graphicFrame>
          <p:nvGraphicFramePr>
            <p:cNvPr id="69646" name="Object 13">
              <a:extLst>
                <a:ext uri="{FF2B5EF4-FFF2-40B4-BE49-F238E27FC236}">
                  <a16:creationId xmlns:a16="http://schemas.microsoft.com/office/drawing/2014/main" id="{8E071D53-4879-42EF-BC92-E6B76AFB69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0053" y="1629594"/>
            <a:ext cx="1778000" cy="1079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710891" imgH="431613" progId="Equation.DSMT4">
                    <p:embed/>
                  </p:oleObj>
                </mc:Choice>
                <mc:Fallback>
                  <p:oleObj name="Equation" r:id="rId2" imgW="710891" imgH="431613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0053" y="1629594"/>
                          <a:ext cx="1778000" cy="1079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47" name="Object 14">
              <a:extLst>
                <a:ext uri="{FF2B5EF4-FFF2-40B4-BE49-F238E27FC236}">
                  <a16:creationId xmlns:a16="http://schemas.microsoft.com/office/drawing/2014/main" id="{9DDF54C9-AE47-4C74-A932-07774C2409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77728" y="1680394"/>
            <a:ext cx="2000250" cy="1397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800100" imgH="558800" progId="Equation.DSMT4">
                    <p:embed/>
                  </p:oleObj>
                </mc:Choice>
                <mc:Fallback>
                  <p:oleObj name="Equation" r:id="rId4" imgW="800100" imgH="5588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7728" y="1680394"/>
                          <a:ext cx="2000250" cy="1397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48" name="Object 15">
              <a:extLst>
                <a:ext uri="{FF2B5EF4-FFF2-40B4-BE49-F238E27FC236}">
                  <a16:creationId xmlns:a16="http://schemas.microsoft.com/office/drawing/2014/main" id="{34BE2A7A-E93E-45D1-A866-6EA5748A33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43053" y="1629594"/>
            <a:ext cx="952500" cy="1079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80835" imgH="431613" progId="Equation.DSMT4">
                    <p:embed/>
                  </p:oleObj>
                </mc:Choice>
                <mc:Fallback>
                  <p:oleObj name="Equation" r:id="rId6" imgW="380835" imgH="431613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3053" y="1629594"/>
                          <a:ext cx="952500" cy="1079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13">
            <a:extLst>
              <a:ext uri="{FF2B5EF4-FFF2-40B4-BE49-F238E27FC236}">
                <a16:creationId xmlns:a16="http://schemas.microsoft.com/office/drawing/2014/main" id="{5DBB34D1-99BA-4FA9-A8A6-241C30D7B189}"/>
              </a:ext>
            </a:extLst>
          </p:cNvPr>
          <p:cNvGrpSpPr>
            <a:grpSpLocks/>
          </p:cNvGrpSpPr>
          <p:nvPr/>
        </p:nvGrpSpPr>
        <p:grpSpPr bwMode="auto">
          <a:xfrm>
            <a:off x="841375" y="3217863"/>
            <a:ext cx="5137150" cy="1460500"/>
            <a:chOff x="841003" y="3217094"/>
            <a:chExt cx="5137150" cy="1460500"/>
          </a:xfrm>
        </p:grpSpPr>
        <p:graphicFrame>
          <p:nvGraphicFramePr>
            <p:cNvPr id="69643" name="Object 16">
              <a:extLst>
                <a:ext uri="{FF2B5EF4-FFF2-40B4-BE49-F238E27FC236}">
                  <a16:creationId xmlns:a16="http://schemas.microsoft.com/office/drawing/2014/main" id="{37AE4F2E-42B8-4A5A-B649-AEFD50D31F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41003" y="3217094"/>
            <a:ext cx="1873250" cy="1079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48975" imgH="431613" progId="Equation.DSMT4">
                    <p:embed/>
                  </p:oleObj>
                </mc:Choice>
                <mc:Fallback>
                  <p:oleObj name="Equation" r:id="rId8" imgW="748975" imgH="431613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1003" y="3217094"/>
                          <a:ext cx="1873250" cy="1079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44" name="Object 17">
              <a:extLst>
                <a:ext uri="{FF2B5EF4-FFF2-40B4-BE49-F238E27FC236}">
                  <a16:creationId xmlns:a16="http://schemas.microsoft.com/office/drawing/2014/main" id="{AF1980BE-E1DE-40A7-BEFD-74865BB580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66628" y="3280594"/>
            <a:ext cx="2127250" cy="1397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850900" imgH="558800" progId="Equation.DSMT4">
                    <p:embed/>
                  </p:oleObj>
                </mc:Choice>
                <mc:Fallback>
                  <p:oleObj name="Equation" r:id="rId10" imgW="850900" imgH="5588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6628" y="3280594"/>
                          <a:ext cx="2127250" cy="1397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45" name="Object 18">
              <a:extLst>
                <a:ext uri="{FF2B5EF4-FFF2-40B4-BE49-F238E27FC236}">
                  <a16:creationId xmlns:a16="http://schemas.microsoft.com/office/drawing/2014/main" id="{15B3EDE9-6E44-4976-B98A-EA09EEB620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1653" y="3229794"/>
            <a:ext cx="1206500" cy="1079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82391" imgH="431613" progId="Equation.DSMT4">
                    <p:embed/>
                  </p:oleObj>
                </mc:Choice>
                <mc:Fallback>
                  <p:oleObj name="Equation" r:id="rId12" imgW="482391" imgH="431613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1653" y="3229794"/>
                          <a:ext cx="1206500" cy="1079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14">
            <a:extLst>
              <a:ext uri="{FF2B5EF4-FFF2-40B4-BE49-F238E27FC236}">
                <a16:creationId xmlns:a16="http://schemas.microsoft.com/office/drawing/2014/main" id="{A59169CF-E8FF-4A5C-9536-62B9C48B3E4A}"/>
              </a:ext>
            </a:extLst>
          </p:cNvPr>
          <p:cNvGrpSpPr>
            <a:grpSpLocks/>
          </p:cNvGrpSpPr>
          <p:nvPr/>
        </p:nvGrpSpPr>
        <p:grpSpPr bwMode="auto">
          <a:xfrm>
            <a:off x="857250" y="4679950"/>
            <a:ext cx="7535863" cy="1485900"/>
            <a:chOff x="856878" y="4680198"/>
            <a:chExt cx="7535863" cy="1485900"/>
          </a:xfrm>
        </p:grpSpPr>
        <p:graphicFrame>
          <p:nvGraphicFramePr>
            <p:cNvPr id="69640" name="Object 19">
              <a:extLst>
                <a:ext uri="{FF2B5EF4-FFF2-40B4-BE49-F238E27FC236}">
                  <a16:creationId xmlns:a16="http://schemas.microsoft.com/office/drawing/2014/main" id="{A32647ED-8CEF-42F3-B713-7A2F8B4FA6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56878" y="4756398"/>
            <a:ext cx="1841500" cy="1079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736600" imgH="431800" progId="Equation.DSMT4">
                    <p:embed/>
                  </p:oleObj>
                </mc:Choice>
                <mc:Fallback>
                  <p:oleObj name="Equation" r:id="rId14" imgW="736600" imgH="4318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6878" y="4756398"/>
                          <a:ext cx="1841500" cy="1079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41" name="Object 20">
              <a:extLst>
                <a:ext uri="{FF2B5EF4-FFF2-40B4-BE49-F238E27FC236}">
                  <a16:creationId xmlns:a16="http://schemas.microsoft.com/office/drawing/2014/main" id="{774072AD-E59C-4360-AAB0-8560F2807D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69803" y="4769098"/>
            <a:ext cx="3459163" cy="1397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625600" imgH="558800" progId="Equation.DSMT4">
                    <p:embed/>
                  </p:oleObj>
                </mc:Choice>
                <mc:Fallback>
                  <p:oleObj name="Equation" r:id="rId16" imgW="1625600" imgH="5588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9803" y="4769098"/>
                          <a:ext cx="3459163" cy="1397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42" name="Object 21">
              <a:extLst>
                <a:ext uri="{FF2B5EF4-FFF2-40B4-BE49-F238E27FC236}">
                  <a16:creationId xmlns:a16="http://schemas.microsoft.com/office/drawing/2014/main" id="{DD67A673-0E36-4430-9653-210B7ABB8C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43253" y="4680198"/>
            <a:ext cx="2249488" cy="1079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965200" imgH="431800" progId="Equation.DSMT4">
                    <p:embed/>
                  </p:oleObj>
                </mc:Choice>
                <mc:Fallback>
                  <p:oleObj name="Equation" r:id="rId18" imgW="965200" imgH="43180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43253" y="4680198"/>
                          <a:ext cx="2249488" cy="1079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9638" name="Text Box 22">
            <a:extLst>
              <a:ext uri="{FF2B5EF4-FFF2-40B4-BE49-F238E27FC236}">
                <a16:creationId xmlns:a16="http://schemas.microsoft.com/office/drawing/2014/main" id="{06507B52-CFD6-4D42-AC0B-51DA5261C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054100"/>
            <a:ext cx="914400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再将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单位化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取</a:t>
            </a:r>
          </a:p>
        </p:txBody>
      </p:sp>
      <p:sp>
        <p:nvSpPr>
          <p:cNvPr id="69639" name="Rectangle 5">
            <a:extLst>
              <a:ext uri="{FF2B5EF4-FFF2-40B4-BE49-F238E27FC236}">
                <a16:creationId xmlns:a16="http://schemas.microsoft.com/office/drawing/2014/main" id="{B63B56EB-1EA1-4BD4-ADEB-52BA30E94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 dirty="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欧氏空间中的规范正交基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ACB3E66-0CE5-4D5C-87EB-8FACE4A82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55" y="1197546"/>
            <a:ext cx="11521280" cy="623764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B2FB27BC-734B-4209-BBB7-9DCB6A817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 dirty="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EDD981B-16B7-423F-BD6B-F14D3AD9D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932" y="2013942"/>
            <a:ext cx="8053309" cy="100811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F21372B-7210-4008-A897-1C1E2B58D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26" y="4367753"/>
            <a:ext cx="11233248" cy="1294026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D43FB0F1-7833-4BF4-9FBB-58E10A3C0687}"/>
              </a:ext>
            </a:extLst>
          </p:cNvPr>
          <p:cNvGrpSpPr/>
          <p:nvPr/>
        </p:nvGrpSpPr>
        <p:grpSpPr>
          <a:xfrm>
            <a:off x="2085109" y="1897546"/>
            <a:ext cx="844126" cy="668152"/>
            <a:chOff x="2070932" y="1872888"/>
            <a:chExt cx="844126" cy="668152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89389269-4F0B-46A9-9804-EC129F49C5C9}"/>
                </a:ext>
              </a:extLst>
            </p:cNvPr>
            <p:cNvCxnSpPr/>
            <p:nvPr/>
          </p:nvCxnSpPr>
          <p:spPr>
            <a:xfrm>
              <a:off x="2070932" y="2277666"/>
              <a:ext cx="210231" cy="24033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9B85458D-E44C-480E-A05F-0B6E7F49B8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1163" y="1872888"/>
              <a:ext cx="633895" cy="66815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A682387-18E6-45AE-901E-FD5AB6B26AA1}"/>
              </a:ext>
            </a:extLst>
          </p:cNvPr>
          <p:cNvGrpSpPr/>
          <p:nvPr/>
        </p:nvGrpSpPr>
        <p:grpSpPr>
          <a:xfrm>
            <a:off x="6025579" y="4993627"/>
            <a:ext cx="844126" cy="668152"/>
            <a:chOff x="2070932" y="1872888"/>
            <a:chExt cx="844126" cy="668152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8A51A8A-02BE-4482-B328-9C007F117BB6}"/>
                </a:ext>
              </a:extLst>
            </p:cNvPr>
            <p:cNvCxnSpPr/>
            <p:nvPr/>
          </p:nvCxnSpPr>
          <p:spPr>
            <a:xfrm>
              <a:off x="2070932" y="2277666"/>
              <a:ext cx="210231" cy="24033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34032942-AFC3-47A2-8F8B-285A386367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1163" y="1872888"/>
              <a:ext cx="633895" cy="66815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064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8E4F3041-B8BD-47AB-B829-25DBA50C4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 dirty="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A6CDF3-B216-4A46-8ACE-1D522E0E4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39" y="1269554"/>
            <a:ext cx="11737304" cy="55323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66593EB-1C8E-4E76-B757-514D48396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39" y="3861842"/>
            <a:ext cx="11737305" cy="610663"/>
          </a:xfrm>
          <a:prstGeom prst="rect">
            <a:avLst/>
          </a:prstGeom>
        </p:spPr>
      </p:pic>
      <p:sp>
        <p:nvSpPr>
          <p:cNvPr id="5" name="Text Box 6">
            <a:extLst>
              <a:ext uri="{FF2B5EF4-FFF2-40B4-BE49-F238E27FC236}">
                <a16:creationId xmlns:a16="http://schemas.microsoft.com/office/drawing/2014/main" id="{F7961121-00F8-4A0A-94E2-C578238FD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050" y="2133650"/>
            <a:ext cx="91440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方法一：初等行变换法；       方法二：三阶子式等于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0.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8D4A7BF-D3E6-4867-9CB7-53004B18D4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13991"/>
              </p:ext>
            </p:extLst>
          </p:nvPr>
        </p:nvGraphicFramePr>
        <p:xfrm>
          <a:off x="9863640" y="4871431"/>
          <a:ext cx="1900820" cy="1437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4" imgW="1041480" imgH="787320" progId="Paint.Picture">
                  <p:embed/>
                </p:oleObj>
              </mc:Choice>
              <mc:Fallback>
                <p:oleObj name="BMP 图像" r:id="rId4" imgW="1041480" imgH="7873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863640" y="4871431"/>
                        <a:ext cx="1900820" cy="14372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>
            <a:extLst>
              <a:ext uri="{FF2B5EF4-FFF2-40B4-BE49-F238E27FC236}">
                <a16:creationId xmlns:a16="http://schemas.microsoft.com/office/drawing/2014/main" id="{9D231DCB-108B-47D8-ACEE-FAC77CA88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2123" y="1146558"/>
            <a:ext cx="542607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82871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8E4F3041-B8BD-47AB-B829-25DBA50C4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 dirty="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91650F-0FAA-4B39-8E57-5D855E534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16" y="1197546"/>
            <a:ext cx="11174218" cy="4464496"/>
          </a:xfrm>
          <a:prstGeom prst="rect">
            <a:avLst/>
          </a:prstGeom>
        </p:spPr>
      </p:pic>
      <p:pic>
        <p:nvPicPr>
          <p:cNvPr id="5" name="图形 4" descr="关闭">
            <a:extLst>
              <a:ext uri="{FF2B5EF4-FFF2-40B4-BE49-F238E27FC236}">
                <a16:creationId xmlns:a16="http://schemas.microsoft.com/office/drawing/2014/main" id="{29322B81-C134-4613-BF4C-3AEDBE18F5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1553" y="1536566"/>
            <a:ext cx="576064" cy="576064"/>
          </a:xfrm>
          <a:prstGeom prst="rect">
            <a:avLst/>
          </a:prstGeom>
        </p:spPr>
      </p:pic>
      <p:pic>
        <p:nvPicPr>
          <p:cNvPr id="6" name="图形 5" descr="关闭">
            <a:extLst>
              <a:ext uri="{FF2B5EF4-FFF2-40B4-BE49-F238E27FC236}">
                <a16:creationId xmlns:a16="http://schemas.microsoft.com/office/drawing/2014/main" id="{23F9E164-A321-448A-B917-7A17ACDA6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2063" y="2349674"/>
            <a:ext cx="576064" cy="576064"/>
          </a:xfrm>
          <a:prstGeom prst="rect">
            <a:avLst/>
          </a:prstGeom>
        </p:spPr>
      </p:pic>
      <p:pic>
        <p:nvPicPr>
          <p:cNvPr id="7" name="图形 6" descr="关闭">
            <a:extLst>
              <a:ext uri="{FF2B5EF4-FFF2-40B4-BE49-F238E27FC236}">
                <a16:creationId xmlns:a16="http://schemas.microsoft.com/office/drawing/2014/main" id="{A48EF593-0A8C-4CAD-AFB9-E91DA147B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2063" y="2760702"/>
            <a:ext cx="576064" cy="576064"/>
          </a:xfrm>
          <a:prstGeom prst="rect">
            <a:avLst/>
          </a:prstGeom>
        </p:spPr>
      </p:pic>
      <p:pic>
        <p:nvPicPr>
          <p:cNvPr id="9" name="图形 8" descr="复选标记">
            <a:extLst>
              <a:ext uri="{FF2B5EF4-FFF2-40B4-BE49-F238E27FC236}">
                <a16:creationId xmlns:a16="http://schemas.microsoft.com/office/drawing/2014/main" id="{0071446E-BC61-427E-B7A0-9BE43F989B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3051" y="3121279"/>
            <a:ext cx="576064" cy="576064"/>
          </a:xfrm>
          <a:prstGeom prst="rect">
            <a:avLst/>
          </a:prstGeom>
        </p:spPr>
      </p:pic>
      <p:pic>
        <p:nvPicPr>
          <p:cNvPr id="10" name="图形 9" descr="复选标记">
            <a:extLst>
              <a:ext uri="{FF2B5EF4-FFF2-40B4-BE49-F238E27FC236}">
                <a16:creationId xmlns:a16="http://schemas.microsoft.com/office/drawing/2014/main" id="{5091C5CE-7CAA-49B5-A73E-5FC0D9A627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94071" y="3912830"/>
            <a:ext cx="576064" cy="576064"/>
          </a:xfrm>
          <a:prstGeom prst="rect">
            <a:avLst/>
          </a:prstGeom>
        </p:spPr>
      </p:pic>
      <p:sp>
        <p:nvSpPr>
          <p:cNvPr id="11" name="Text Box 6">
            <a:extLst>
              <a:ext uri="{FF2B5EF4-FFF2-40B4-BE49-F238E27FC236}">
                <a16:creationId xmlns:a16="http://schemas.microsoft.com/office/drawing/2014/main" id="{86FA1AE3-B9E2-4C7B-99E6-57AA685E9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0785" y="3373233"/>
            <a:ext cx="998911" cy="61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d=6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802C4206-345D-4463-9841-8529BD196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0890" y="3373233"/>
            <a:ext cx="998911" cy="61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d=3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3F52E15A-288D-4364-88F3-522BB61D9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459" y="4332354"/>
            <a:ext cx="998911" cy="61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d=2</a:t>
            </a:r>
          </a:p>
        </p:txBody>
      </p:sp>
    </p:spTree>
    <p:extLst>
      <p:ext uri="{BB962C8B-B14F-4D97-AF65-F5344CB8AC3E}">
        <p14:creationId xmlns:p14="http://schemas.microsoft.com/office/powerpoint/2010/main" val="149822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8E4F3041-B8BD-47AB-B829-25DBA50C4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 dirty="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1ACD44-50C5-415C-B7C9-59D23713B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917" y="1179321"/>
            <a:ext cx="7992888" cy="5419917"/>
          </a:xfrm>
          <a:prstGeom prst="rect">
            <a:avLst/>
          </a:prstGeom>
        </p:spPr>
      </p:pic>
      <p:pic>
        <p:nvPicPr>
          <p:cNvPr id="5" name="图形 4" descr="复选标记">
            <a:extLst>
              <a:ext uri="{FF2B5EF4-FFF2-40B4-BE49-F238E27FC236}">
                <a16:creationId xmlns:a16="http://schemas.microsoft.com/office/drawing/2014/main" id="{A85C11F9-D38D-448C-9A3B-91CB3DF80D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1653" y="1845618"/>
            <a:ext cx="576064" cy="576064"/>
          </a:xfrm>
          <a:prstGeom prst="rect">
            <a:avLst/>
          </a:prstGeom>
        </p:spPr>
      </p:pic>
      <p:pic>
        <p:nvPicPr>
          <p:cNvPr id="6" name="图形 5" descr="复选标记">
            <a:extLst>
              <a:ext uri="{FF2B5EF4-FFF2-40B4-BE49-F238E27FC236}">
                <a16:creationId xmlns:a16="http://schemas.microsoft.com/office/drawing/2014/main" id="{B022458B-937C-48B7-9342-9BCA1E4245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36662" y="3183802"/>
            <a:ext cx="576064" cy="576064"/>
          </a:xfrm>
          <a:prstGeom prst="rect">
            <a:avLst/>
          </a:prstGeom>
        </p:spPr>
      </p:pic>
      <p:pic>
        <p:nvPicPr>
          <p:cNvPr id="7" name="图形 6" descr="复选标记">
            <a:extLst>
              <a:ext uri="{FF2B5EF4-FFF2-40B4-BE49-F238E27FC236}">
                <a16:creationId xmlns:a16="http://schemas.microsoft.com/office/drawing/2014/main" id="{156D8026-0CA5-4AD9-BE51-3C9F2D7CCA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6152" y="4694408"/>
            <a:ext cx="576064" cy="576064"/>
          </a:xfrm>
          <a:prstGeom prst="rect">
            <a:avLst/>
          </a:prstGeom>
        </p:spPr>
      </p:pic>
      <p:pic>
        <p:nvPicPr>
          <p:cNvPr id="8" name="图形 7" descr="复选标记">
            <a:extLst>
              <a:ext uri="{FF2B5EF4-FFF2-40B4-BE49-F238E27FC236}">
                <a16:creationId xmlns:a16="http://schemas.microsoft.com/office/drawing/2014/main" id="{80533680-A0E2-4FCD-80F5-1C1B1A08AC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2163" y="5428419"/>
            <a:ext cx="576064" cy="576064"/>
          </a:xfrm>
          <a:prstGeom prst="rect">
            <a:avLst/>
          </a:prstGeom>
        </p:spPr>
      </p:pic>
      <p:pic>
        <p:nvPicPr>
          <p:cNvPr id="9" name="图形 8" descr="关闭">
            <a:extLst>
              <a:ext uri="{FF2B5EF4-FFF2-40B4-BE49-F238E27FC236}">
                <a16:creationId xmlns:a16="http://schemas.microsoft.com/office/drawing/2014/main" id="{EA62469D-8D3E-4079-9774-9BADB0AEC3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5199" y="2651646"/>
            <a:ext cx="576064" cy="576064"/>
          </a:xfrm>
          <a:prstGeom prst="rect">
            <a:avLst/>
          </a:prstGeom>
        </p:spPr>
      </p:pic>
      <p:pic>
        <p:nvPicPr>
          <p:cNvPr id="10" name="图形 9" descr="关闭">
            <a:extLst>
              <a:ext uri="{FF2B5EF4-FFF2-40B4-BE49-F238E27FC236}">
                <a16:creationId xmlns:a16="http://schemas.microsoft.com/office/drawing/2014/main" id="{1A9A98AD-1C6A-411B-A575-1E1D2D095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62826" y="3980494"/>
            <a:ext cx="576064" cy="576064"/>
          </a:xfrm>
          <a:prstGeom prst="rect">
            <a:avLst/>
          </a:prstGeom>
        </p:spPr>
      </p:pic>
      <p:sp>
        <p:nvSpPr>
          <p:cNvPr id="11" name="Text Box 6">
            <a:extLst>
              <a:ext uri="{FF2B5EF4-FFF2-40B4-BE49-F238E27FC236}">
                <a16:creationId xmlns:a16="http://schemas.microsoft.com/office/drawing/2014/main" id="{4FBFC449-0E59-419C-A9FE-EB7A6B469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795" y="1809207"/>
            <a:ext cx="1224136" cy="61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d=n-1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EC21C7D8-4EA2-4CAB-B3DB-4C9628D33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7827" y="2907194"/>
            <a:ext cx="1224136" cy="61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d=n-1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177C16F3-C589-43E5-BE90-6E16067B8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2491" y="4659171"/>
            <a:ext cx="1224136" cy="61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d=1</a:t>
            </a:r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F0284001-61CF-4D88-A7C7-905863A1E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3394" y="5392008"/>
            <a:ext cx="1224136" cy="61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d=2</a:t>
            </a:r>
          </a:p>
        </p:txBody>
      </p:sp>
    </p:spTree>
    <p:extLst>
      <p:ext uri="{BB962C8B-B14F-4D97-AF65-F5344CB8AC3E}">
        <p14:creationId xmlns:p14="http://schemas.microsoft.com/office/powerpoint/2010/main" val="2840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92F85BA-A433-43B9-9706-E302C0A412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9710610"/>
              </p:ext>
            </p:extLst>
          </p:nvPr>
        </p:nvGraphicFramePr>
        <p:xfrm>
          <a:off x="1273051" y="1289199"/>
          <a:ext cx="9956825" cy="2140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3" imgW="5168880" imgH="1111320" progId="Paint.Picture">
                  <p:embed/>
                </p:oleObj>
              </mc:Choice>
              <mc:Fallback>
                <p:oleObj name="BMP 图像" r:id="rId3" imgW="5168880" imgH="11113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73051" y="1289199"/>
                        <a:ext cx="9956825" cy="2140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C0983F45-EFC9-47E0-B4FC-C1190104D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 dirty="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F049502D-B2C2-459E-B62C-ED8D38D34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652" y="2025231"/>
            <a:ext cx="3179472" cy="6124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提示：利用行列式</a:t>
            </a:r>
            <a:endParaRPr lang="en-US" altLang="zh-CN" sz="2800" dirty="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AD6FA3D-3F65-43C8-A037-8A723904CC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530489"/>
              </p:ext>
            </p:extLst>
          </p:nvPr>
        </p:nvGraphicFramePr>
        <p:xfrm>
          <a:off x="3937347" y="3645818"/>
          <a:ext cx="7932366" cy="2953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5" imgW="4451400" imgH="1657440" progId="Paint.Picture">
                  <p:embed/>
                </p:oleObj>
              </mc:Choice>
              <mc:Fallback>
                <p:oleObj name="BMP 图像" r:id="rId5" imgW="4451400" imgH="16574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37347" y="3645818"/>
                        <a:ext cx="7932366" cy="2953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785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8E4F3041-B8BD-47AB-B829-25DBA50C4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 dirty="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B04D761-8AA0-437B-A4D2-C284B1ACF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1" y="1197546"/>
            <a:ext cx="11809312" cy="377104"/>
          </a:xfrm>
          <a:prstGeom prst="rect">
            <a:avLst/>
          </a:prstGeom>
        </p:spPr>
      </p:pic>
      <p:sp>
        <p:nvSpPr>
          <p:cNvPr id="5" name="Text Box 6">
            <a:extLst>
              <a:ext uri="{FF2B5EF4-FFF2-40B4-BE49-F238E27FC236}">
                <a16:creationId xmlns:a16="http://schemas.microsoft.com/office/drawing/2014/main" id="{903232A8-9B04-4F94-9990-622B4AD82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95" y="2637706"/>
            <a:ext cx="1152128" cy="6124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提示：</a:t>
            </a:r>
            <a:endParaRPr lang="en-US" altLang="zh-CN" sz="2800" dirty="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83B7BF1-FA9E-460F-A778-AF66484637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8567397"/>
              </p:ext>
            </p:extLst>
          </p:nvPr>
        </p:nvGraphicFramePr>
        <p:xfrm>
          <a:off x="688755" y="3609408"/>
          <a:ext cx="10817664" cy="1147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029200" imgH="533160" progId="Equation.DSMT4">
                  <p:embed/>
                </p:oleObj>
              </mc:Choice>
              <mc:Fallback>
                <p:oleObj name="Equation" r:id="rId3" imgW="502920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8755" y="3609408"/>
                        <a:ext cx="10817664" cy="1147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0365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A721BFE-A239-4C3C-8F41-FA87215B2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 dirty="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04C2F0D-FF65-4576-B071-D8D51E60B0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655601"/>
              </p:ext>
            </p:extLst>
          </p:nvPr>
        </p:nvGraphicFramePr>
        <p:xfrm>
          <a:off x="877007" y="1253954"/>
          <a:ext cx="10441160" cy="4351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2" imgW="4616280" imgH="1924200" progId="Paint.Picture">
                  <p:embed/>
                </p:oleObj>
              </mc:Choice>
              <mc:Fallback>
                <p:oleObj name="BMP 图像" r:id="rId2" imgW="4616280" imgH="19242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77007" y="1253954"/>
                        <a:ext cx="10441160" cy="4351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形 3" descr="复选标记">
            <a:extLst>
              <a:ext uri="{FF2B5EF4-FFF2-40B4-BE49-F238E27FC236}">
                <a16:creationId xmlns:a16="http://schemas.microsoft.com/office/drawing/2014/main" id="{B7177A39-B7E7-48A3-A162-CF30C896FA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1597" y="2010654"/>
            <a:ext cx="576064" cy="576064"/>
          </a:xfrm>
          <a:prstGeom prst="rect">
            <a:avLst/>
          </a:prstGeom>
        </p:spPr>
      </p:pic>
      <p:pic>
        <p:nvPicPr>
          <p:cNvPr id="5" name="图形 4" descr="复选标记">
            <a:extLst>
              <a:ext uri="{FF2B5EF4-FFF2-40B4-BE49-F238E27FC236}">
                <a16:creationId xmlns:a16="http://schemas.microsoft.com/office/drawing/2014/main" id="{F50FA614-42E0-4DDC-884F-9EC84F8631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1597" y="2868543"/>
            <a:ext cx="576064" cy="576064"/>
          </a:xfrm>
          <a:prstGeom prst="rect">
            <a:avLst/>
          </a:prstGeom>
        </p:spPr>
      </p:pic>
      <p:pic>
        <p:nvPicPr>
          <p:cNvPr id="6" name="图形 5" descr="复选标记">
            <a:extLst>
              <a:ext uri="{FF2B5EF4-FFF2-40B4-BE49-F238E27FC236}">
                <a16:creationId xmlns:a16="http://schemas.microsoft.com/office/drawing/2014/main" id="{981BF686-1CF1-43EC-9FB6-FBE5F2A36D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81363" y="2932778"/>
            <a:ext cx="576064" cy="576064"/>
          </a:xfrm>
          <a:prstGeom prst="rect">
            <a:avLst/>
          </a:prstGeom>
        </p:spPr>
      </p:pic>
      <p:pic>
        <p:nvPicPr>
          <p:cNvPr id="7" name="图形 6" descr="关闭">
            <a:extLst>
              <a:ext uri="{FF2B5EF4-FFF2-40B4-BE49-F238E27FC236}">
                <a16:creationId xmlns:a16="http://schemas.microsoft.com/office/drawing/2014/main" id="{CA0F6F65-7E8E-4CBD-A393-C17A00A457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5038" y="2052694"/>
            <a:ext cx="57606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9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E20ADB1-CD92-4273-8BED-707073BFD7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43718"/>
              </p:ext>
            </p:extLst>
          </p:nvPr>
        </p:nvGraphicFramePr>
        <p:xfrm>
          <a:off x="1201043" y="1044562"/>
          <a:ext cx="9145016" cy="3033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2" imgW="5149800" imgH="1708200" progId="Paint.Picture">
                  <p:embed/>
                </p:oleObj>
              </mc:Choice>
              <mc:Fallback>
                <p:oleObj name="BMP 图像" r:id="rId2" imgW="5149800" imgH="17082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01043" y="1044562"/>
                        <a:ext cx="9145016" cy="30333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78E26321-5B51-46A1-A2FD-E667C0E60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 dirty="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2C40790-A303-4EDF-9C44-3A0497FBB3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669247"/>
              </p:ext>
            </p:extLst>
          </p:nvPr>
        </p:nvGraphicFramePr>
        <p:xfrm>
          <a:off x="1057027" y="4510009"/>
          <a:ext cx="5400600" cy="2182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4" imgW="3772080" imgH="1523880" progId="Paint.Picture">
                  <p:embed/>
                </p:oleObj>
              </mc:Choice>
              <mc:Fallback>
                <p:oleObj name="BMP 图像" r:id="rId4" imgW="3772080" imgH="15238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7027" y="4510009"/>
                        <a:ext cx="5400600" cy="21820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>
            <a:extLst>
              <a:ext uri="{FF2B5EF4-FFF2-40B4-BE49-F238E27FC236}">
                <a16:creationId xmlns:a16="http://schemas.microsoft.com/office/drawing/2014/main" id="{ABF07AE1-5660-46C7-87AB-254EF7F94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349" y="4077866"/>
            <a:ext cx="710096" cy="6124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解：</a:t>
            </a:r>
            <a:endParaRPr lang="en-US" altLang="zh-CN" sz="2800" dirty="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161BADF-7799-46E2-B243-2895AAB792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719792"/>
              </p:ext>
            </p:extLst>
          </p:nvPr>
        </p:nvGraphicFramePr>
        <p:xfrm>
          <a:off x="6572209" y="4510009"/>
          <a:ext cx="5286018" cy="2181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6" imgW="3676680" imgH="1517760" progId="Paint.Picture">
                  <p:embed/>
                </p:oleObj>
              </mc:Choice>
              <mc:Fallback>
                <p:oleObj name="BMP 图像" r:id="rId6" imgW="3676680" imgH="15177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572209" y="4510009"/>
                        <a:ext cx="5286018" cy="21819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103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78E26321-5B51-46A1-A2FD-E667C0E60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 dirty="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F47D71A-5934-49A6-BFD6-9ED4543588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9305220"/>
              </p:ext>
            </p:extLst>
          </p:nvPr>
        </p:nvGraphicFramePr>
        <p:xfrm>
          <a:off x="1129035" y="1036856"/>
          <a:ext cx="8998444" cy="1672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2" imgW="5226120" imgH="971640" progId="Paint.Picture">
                  <p:embed/>
                </p:oleObj>
              </mc:Choice>
              <mc:Fallback>
                <p:oleObj name="BMP 图像" r:id="rId2" imgW="5226120" imgH="9716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29035" y="1036856"/>
                        <a:ext cx="8998444" cy="16728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C5B788F-8626-4D6D-8D2E-7022E9795E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497222"/>
              </p:ext>
            </p:extLst>
          </p:nvPr>
        </p:nvGraphicFramePr>
        <p:xfrm>
          <a:off x="1133068" y="2967531"/>
          <a:ext cx="6041759" cy="1368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4" imgW="3505320" imgH="793800" progId="Paint.Picture">
                  <p:embed/>
                </p:oleObj>
              </mc:Choice>
              <mc:Fallback>
                <p:oleObj name="BMP 图像" r:id="rId4" imgW="3505320" imgH="7938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33068" y="2967531"/>
                        <a:ext cx="6041759" cy="13681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DEA5964-7BC5-45D1-890F-D36EEB98A1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5404862"/>
              </p:ext>
            </p:extLst>
          </p:nvPr>
        </p:nvGraphicFramePr>
        <p:xfrm>
          <a:off x="7465739" y="3405056"/>
          <a:ext cx="4129845" cy="2649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6" imgW="1523880" imgH="977760" progId="Paint.Picture">
                  <p:embed/>
                </p:oleObj>
              </mc:Choice>
              <mc:Fallback>
                <p:oleObj name="BMP 图像" r:id="rId6" imgW="1523880" imgH="9777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465739" y="3405056"/>
                        <a:ext cx="4129845" cy="26499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7167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78E26321-5B51-46A1-A2FD-E667C0E60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 dirty="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04A2386-FDCE-4F72-9983-D69B465D4E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553327"/>
              </p:ext>
            </p:extLst>
          </p:nvPr>
        </p:nvGraphicFramePr>
        <p:xfrm>
          <a:off x="242399" y="1125538"/>
          <a:ext cx="11710375" cy="1488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2" imgW="4146480" imgH="527040" progId="Paint.Picture">
                  <p:embed/>
                </p:oleObj>
              </mc:Choice>
              <mc:Fallback>
                <p:oleObj name="BMP 图像" r:id="rId2" imgW="4146480" imgH="5270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2399" y="1125538"/>
                        <a:ext cx="11710375" cy="1488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87B1A92-AE5B-4BF6-913B-DA41490728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86873"/>
              </p:ext>
            </p:extLst>
          </p:nvPr>
        </p:nvGraphicFramePr>
        <p:xfrm>
          <a:off x="837063" y="2709714"/>
          <a:ext cx="10521047" cy="3960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4" imgW="5549760" imgH="2089080" progId="Paint.Picture">
                  <p:embed/>
                </p:oleObj>
              </mc:Choice>
              <mc:Fallback>
                <p:oleObj name="BMP 图像" r:id="rId4" imgW="5549760" imgH="20890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7063" y="2709714"/>
                        <a:ext cx="10521047" cy="3960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284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78E26321-5B51-46A1-A2FD-E667C0E60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810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 dirty="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65BEC80-B096-42AF-B369-7570367603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8106653"/>
              </p:ext>
            </p:extLst>
          </p:nvPr>
        </p:nvGraphicFramePr>
        <p:xfrm>
          <a:off x="696986" y="1053530"/>
          <a:ext cx="10754155" cy="1656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2" imgW="6184800" imgH="952560" progId="Paint.Picture">
                  <p:embed/>
                </p:oleObj>
              </mc:Choice>
              <mc:Fallback>
                <p:oleObj name="BMP 图像" r:id="rId2" imgW="6184800" imgH="9525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6986" y="1053530"/>
                        <a:ext cx="10754155" cy="16561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7119247-301D-4FB7-B3F3-F9FD6850F4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893438"/>
              </p:ext>
            </p:extLst>
          </p:nvPr>
        </p:nvGraphicFramePr>
        <p:xfrm>
          <a:off x="1561083" y="2743171"/>
          <a:ext cx="8064896" cy="4070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4" imgW="6642000" imgH="3352680" progId="Paint.Picture">
                  <p:embed/>
                </p:oleObj>
              </mc:Choice>
              <mc:Fallback>
                <p:oleObj name="BMP 图像" r:id="rId4" imgW="6642000" imgH="3352680" progId="Paint.Picture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6F9B713-E6F5-4B77-B540-C8328E31A5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61083" y="2743171"/>
                        <a:ext cx="8064896" cy="40709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531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技巧">
  <a:themeElements>
    <a:clrScheme name="技巧 3">
      <a:dk1>
        <a:srgbClr val="000000"/>
      </a:dk1>
      <a:lt1>
        <a:srgbClr val="FDE1BC"/>
      </a:lt1>
      <a:dk2>
        <a:srgbClr val="000000"/>
      </a:dk2>
      <a:lt2>
        <a:srgbClr val="FEF0DD"/>
      </a:lt2>
      <a:accent1>
        <a:srgbClr val="2A1801"/>
      </a:accent1>
      <a:accent2>
        <a:srgbClr val="2A1801"/>
      </a:accent2>
      <a:accent3>
        <a:srgbClr val="FEEEDA"/>
      </a:accent3>
      <a:accent4>
        <a:srgbClr val="000000"/>
      </a:accent4>
      <a:accent5>
        <a:srgbClr val="ACABAA"/>
      </a:accent5>
      <a:accent6>
        <a:srgbClr val="251501"/>
      </a:accent6>
      <a:hlink>
        <a:srgbClr val="EB8803"/>
      </a:hlink>
      <a:folHlink>
        <a:srgbClr val="5F7791"/>
      </a:folHlink>
    </a:clrScheme>
    <a:fontScheme name="技巧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市镇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>
    <a:extraClrScheme>
      <a:clrScheme name="技巧 1">
        <a:dk1>
          <a:srgbClr val="F9B150"/>
        </a:dk1>
        <a:lt1>
          <a:srgbClr val="FDE1BC"/>
        </a:lt1>
        <a:dk2>
          <a:srgbClr val="D6ECFF"/>
        </a:dk2>
        <a:lt2>
          <a:srgbClr val="FEF0DD"/>
        </a:lt2>
        <a:accent1>
          <a:srgbClr val="2A1801"/>
        </a:accent1>
        <a:accent2>
          <a:srgbClr val="2A1801"/>
        </a:accent2>
        <a:accent3>
          <a:srgbClr val="FEEEDA"/>
        </a:accent3>
        <a:accent4>
          <a:srgbClr val="D59743"/>
        </a:accent4>
        <a:accent5>
          <a:srgbClr val="ACABAA"/>
        </a:accent5>
        <a:accent6>
          <a:srgbClr val="251501"/>
        </a:accent6>
        <a:hlink>
          <a:srgbClr val="EB8803"/>
        </a:hlink>
        <a:folHlink>
          <a:srgbClr val="5F779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技巧 2">
        <a:dk1>
          <a:srgbClr val="000000"/>
        </a:dk1>
        <a:lt1>
          <a:srgbClr val="FDE1BC"/>
        </a:lt1>
        <a:dk2>
          <a:srgbClr val="D6ECFF"/>
        </a:dk2>
        <a:lt2>
          <a:srgbClr val="FEF0DD"/>
        </a:lt2>
        <a:accent1>
          <a:srgbClr val="2A1801"/>
        </a:accent1>
        <a:accent2>
          <a:srgbClr val="2A1801"/>
        </a:accent2>
        <a:accent3>
          <a:srgbClr val="FEEEDA"/>
        </a:accent3>
        <a:accent4>
          <a:srgbClr val="000000"/>
        </a:accent4>
        <a:accent5>
          <a:srgbClr val="ACABAA"/>
        </a:accent5>
        <a:accent6>
          <a:srgbClr val="251501"/>
        </a:accent6>
        <a:hlink>
          <a:srgbClr val="EB8803"/>
        </a:hlink>
        <a:folHlink>
          <a:srgbClr val="5F779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技巧 3">
        <a:dk1>
          <a:srgbClr val="000000"/>
        </a:dk1>
        <a:lt1>
          <a:srgbClr val="FDE1BC"/>
        </a:lt1>
        <a:dk2>
          <a:srgbClr val="000000"/>
        </a:dk2>
        <a:lt2>
          <a:srgbClr val="FEF0DD"/>
        </a:lt2>
        <a:accent1>
          <a:srgbClr val="2A1801"/>
        </a:accent1>
        <a:accent2>
          <a:srgbClr val="2A1801"/>
        </a:accent2>
        <a:accent3>
          <a:srgbClr val="FEEEDA"/>
        </a:accent3>
        <a:accent4>
          <a:srgbClr val="000000"/>
        </a:accent4>
        <a:accent5>
          <a:srgbClr val="ACABAA"/>
        </a:accent5>
        <a:accent6>
          <a:srgbClr val="251501"/>
        </a:accent6>
        <a:hlink>
          <a:srgbClr val="EB8803"/>
        </a:hlink>
        <a:folHlink>
          <a:srgbClr val="5F779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13399</TotalTime>
  <Words>1818</Words>
  <Application>Microsoft Office PowerPoint</Application>
  <PresentationFormat>自定义</PresentationFormat>
  <Paragraphs>119</Paragraphs>
  <Slides>27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华文新魏</vt:lpstr>
      <vt:lpstr>楷体</vt:lpstr>
      <vt:lpstr>微软雅黑</vt:lpstr>
      <vt:lpstr>Arial</vt:lpstr>
      <vt:lpstr>Franklin Gothic Book</vt:lpstr>
      <vt:lpstr>Times New Roman</vt:lpstr>
      <vt:lpstr>Wingdings 2</vt:lpstr>
      <vt:lpstr>技巧</vt:lpstr>
      <vt:lpstr>BMP 图像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xitong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第七章</dc:title>
  <dc:creator>guoyang</dc:creator>
  <cp:lastModifiedBy>阳 郭</cp:lastModifiedBy>
  <cp:revision>742</cp:revision>
  <dcterms:created xsi:type="dcterms:W3CDTF">2002-06-16T14:32:15Z</dcterms:created>
  <dcterms:modified xsi:type="dcterms:W3CDTF">2025-12-22T02:46:41Z</dcterms:modified>
</cp:coreProperties>
</file>