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25"/>
  </p:notesMasterIdLst>
  <p:sldIdLst>
    <p:sldId id="856" r:id="rId2"/>
    <p:sldId id="857" r:id="rId3"/>
    <p:sldId id="858" r:id="rId4"/>
    <p:sldId id="859" r:id="rId5"/>
    <p:sldId id="860" r:id="rId6"/>
    <p:sldId id="861" r:id="rId7"/>
    <p:sldId id="863" r:id="rId8"/>
    <p:sldId id="865" r:id="rId9"/>
    <p:sldId id="866" r:id="rId10"/>
    <p:sldId id="867" r:id="rId11"/>
    <p:sldId id="868" r:id="rId12"/>
    <p:sldId id="869" r:id="rId13"/>
    <p:sldId id="870" r:id="rId14"/>
    <p:sldId id="871" r:id="rId15"/>
    <p:sldId id="909" r:id="rId16"/>
    <p:sldId id="872" r:id="rId17"/>
    <p:sldId id="910" r:id="rId18"/>
    <p:sldId id="873" r:id="rId19"/>
    <p:sldId id="874" r:id="rId20"/>
    <p:sldId id="875" r:id="rId21"/>
    <p:sldId id="876" r:id="rId22"/>
    <p:sldId id="877" r:id="rId23"/>
    <p:sldId id="878" r:id="rId24"/>
  </p:sldIdLst>
  <p:sldSz cx="12195175" cy="685958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82600" indent="1270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66788" indent="250825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449388" indent="377825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933575" indent="503238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2">
          <p15:clr>
            <a:srgbClr val="A4A3A4"/>
          </p15:clr>
        </p15:guide>
        <p15:guide id="2" pos="320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80808"/>
    <a:srgbClr val="800000"/>
    <a:srgbClr val="FFFFFF"/>
    <a:srgbClr val="FFFF00"/>
    <a:srgbClr val="FF99FF"/>
    <a:srgbClr val="CB68DC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3" autoAdjust="0"/>
    <p:restoredTop sz="93135" autoAdjust="0"/>
  </p:normalViewPr>
  <p:slideViewPr>
    <p:cSldViewPr>
      <p:cViewPr varScale="1">
        <p:scale>
          <a:sx n="61" d="100"/>
          <a:sy n="61" d="100"/>
        </p:scale>
        <p:origin x="668" y="60"/>
      </p:cViewPr>
      <p:guideLst>
        <p:guide orient="horz" pos="4082"/>
        <p:guide pos="32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3774"/>
    </p:cViewPr>
  </p:sorterViewPr>
  <p:notesViewPr>
    <p:cSldViewPr>
      <p:cViewPr varScale="1">
        <p:scale>
          <a:sx n="53" d="100"/>
          <a:sy n="53" d="100"/>
        </p:scale>
        <p:origin x="-294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0B550A2-DFF5-4695-A07B-12AFBECFFB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03C3A49-E7C5-400C-870E-096382FDBCF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670DEF5F-47C7-4245-AB21-0C3BB7DD40A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2412842-B331-4324-9A1E-5CC0191A042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F775D5B-E9CC-4323-98D7-2D89745447D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EC2212F-8A20-4BE6-B217-400178CFA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41CAC01D-DB7D-4C08-BE4B-CCDE1882EB6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8260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6678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44938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9335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419462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03356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87245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71139" algn="l" defTabSz="96778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7D72388-EB9A-4CD6-96A3-36FE6A4B3A43}"/>
              </a:ext>
            </a:extLst>
          </p:cNvPr>
          <p:cNvCxnSpPr/>
          <p:nvPr userDrawn="1"/>
        </p:nvCxnSpPr>
        <p:spPr>
          <a:xfrm>
            <a:off x="0" y="950586"/>
            <a:ext cx="12195175" cy="2117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17" descr="logo">
            <a:extLst>
              <a:ext uri="{FF2B5EF4-FFF2-40B4-BE49-F238E27FC236}">
                <a16:creationId xmlns:a16="http://schemas.microsoft.com/office/drawing/2014/main" id="{7727962C-6C26-4074-AC7F-8A32558A53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275" y="188913"/>
            <a:ext cx="1633538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FC95743-1CE0-4ED8-BBB0-F6104EF4ADE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13713" y="279400"/>
            <a:ext cx="2344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数学系：郭阳</a:t>
            </a:r>
          </a:p>
        </p:txBody>
      </p:sp>
    </p:spTree>
    <p:extLst>
      <p:ext uri="{BB962C8B-B14F-4D97-AF65-F5344CB8AC3E}">
        <p14:creationId xmlns:p14="http://schemas.microsoft.com/office/powerpoint/2010/main" val="175386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A36E01E1-49DE-4A84-B1ED-BF9F0450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423025"/>
            <a:ext cx="2846388" cy="366713"/>
          </a:xfrm>
          <a:prstGeom prst="rect">
            <a:avLst/>
          </a:prstGeom>
        </p:spPr>
        <p:txBody>
          <a:bodyPr vert="horz" lIns="96778" tIns="48388" rIns="96778" bIns="0" anchor="b"/>
          <a:lstStyle>
            <a:lvl1pPr algn="l">
              <a:spcBef>
                <a:spcPct val="0"/>
              </a:spcBef>
              <a:defRPr kumimoji="0" sz="1100">
                <a:solidFill>
                  <a:schemeClr val="tx2">
                    <a:shade val="50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1BFE8283-18FB-4860-BFA8-EF225B107BD5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777BF287-EF1C-422D-9250-910F58A56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7188" y="6423025"/>
            <a:ext cx="3860800" cy="366713"/>
          </a:xfrm>
          <a:prstGeom prst="rect">
            <a:avLst/>
          </a:prstGeom>
        </p:spPr>
        <p:txBody>
          <a:bodyPr vert="horz" lIns="0" tIns="48388" rIns="0" bIns="0" anchor="b"/>
          <a:lstStyle>
            <a:lvl1pPr algn="ctr">
              <a:spcBef>
                <a:spcPct val="0"/>
              </a:spcBef>
              <a:defRPr kumimoji="0" sz="1100">
                <a:solidFill>
                  <a:schemeClr val="tx2">
                    <a:shade val="50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7C557705-1FF3-4FD8-AA68-292CDAC6E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74375" y="6423025"/>
            <a:ext cx="1016000" cy="366713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kumimoji="0" sz="1100">
                <a:solidFill>
                  <a:srgbClr val="000000"/>
                </a:solidFill>
              </a:defRPr>
            </a:lvl1pPr>
          </a:lstStyle>
          <a:p>
            <a:fld id="{7F0A99CE-C275-4EEF-81DD-26CF20ED11B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  <a:ea typeface="宋体" charset="-122"/>
        </a:defRPr>
      </a:lvl5pPr>
      <a:lvl6pPr marL="609743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6pPr>
      <a:lvl7pPr marL="1219487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7pPr>
      <a:lvl8pPr marL="1829230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8pPr>
      <a:lvl9pPr marL="2438974" algn="l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Franklin Gothic Book" pitchFamily="34" charset="0"/>
          <a:ea typeface="宋体" charset="-122"/>
        </a:defRPr>
      </a:lvl9pPr>
    </p:titleStyle>
    <p:bodyStyle>
      <a:lvl1pPr marL="444500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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763588" indent="-2889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anose="05020102010507070707" pitchFamily="18" charset="2"/>
        <a:buChar char="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062038" indent="-268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anose="020B0604020202020204" pitchFamily="34" charset="0"/>
        <a:buChar char="○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52550" indent="-249238" algn="l" rtl="0" eaLnBrk="0" fontAlgn="base" hangingPunct="0">
        <a:spcBef>
          <a:spcPct val="20000"/>
        </a:spcBef>
        <a:spcAft>
          <a:spcPct val="0"/>
        </a:spcAft>
        <a:buClr>
          <a:srgbClr val="2A1801"/>
        </a:buClr>
        <a:buSzPct val="90000"/>
        <a:buFont typeface="Wingdings 2" panose="05020102010507070707" pitchFamily="18" charset="2"/>
        <a:buChar char="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76388" indent="-192088" algn="l" rtl="0" eaLnBrk="0" fontAlgn="base" hangingPunct="0">
        <a:spcBef>
          <a:spcPct val="20000"/>
        </a:spcBef>
        <a:spcAft>
          <a:spcPct val="0"/>
        </a:spcAft>
        <a:buClr>
          <a:srgbClr val="00ADDC"/>
        </a:buClr>
        <a:buSzPct val="100000"/>
        <a:buFont typeface="Arial" panose="020B0604020202020204" pitchFamily="34" charset="0"/>
        <a:buChar char="-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00078" indent="-193557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1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32347" indent="-193557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9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64617" indent="-193557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2467850" indent="-193557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43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487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230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974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717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460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204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947" algn="l" defTabSz="12194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5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2.wmf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2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1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0.wmf"/><Relationship Id="rId2" Type="http://schemas.openxmlformats.org/officeDocument/2006/relationships/oleObject" Target="../embeddings/oleObject21.bin"/><Relationship Id="rId16" Type="http://schemas.openxmlformats.org/officeDocument/2006/relationships/oleObject" Target="../embeddings/oleObject2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4.bin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4.bin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5.wmf"/><Relationship Id="rId5" Type="http://schemas.openxmlformats.org/officeDocument/2006/relationships/image" Target="../media/image42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5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4.bin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6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7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72.wmf"/><Relationship Id="rId7" Type="http://schemas.openxmlformats.org/officeDocument/2006/relationships/image" Target="../media/image74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6.wmf"/><Relationship Id="rId5" Type="http://schemas.openxmlformats.org/officeDocument/2006/relationships/image" Target="../media/image73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82.wmf"/><Relationship Id="rId18" Type="http://schemas.openxmlformats.org/officeDocument/2006/relationships/oleObject" Target="../embeddings/oleObject83.bin"/><Relationship Id="rId3" Type="http://schemas.openxmlformats.org/officeDocument/2006/relationships/image" Target="../media/image77.wmf"/><Relationship Id="rId21" Type="http://schemas.openxmlformats.org/officeDocument/2006/relationships/image" Target="../media/image86.wmf"/><Relationship Id="rId7" Type="http://schemas.openxmlformats.org/officeDocument/2006/relationships/image" Target="../media/image79.w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84.wmf"/><Relationship Id="rId2" Type="http://schemas.openxmlformats.org/officeDocument/2006/relationships/oleObject" Target="../embeddings/oleObject75.bin"/><Relationship Id="rId16" Type="http://schemas.openxmlformats.org/officeDocument/2006/relationships/oleObject" Target="../embeddings/oleObject82.bin"/><Relationship Id="rId20" Type="http://schemas.openxmlformats.org/officeDocument/2006/relationships/oleObject" Target="../embeddings/oleObject8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81.wmf"/><Relationship Id="rId5" Type="http://schemas.openxmlformats.org/officeDocument/2006/relationships/image" Target="../media/image78.wmf"/><Relationship Id="rId15" Type="http://schemas.openxmlformats.org/officeDocument/2006/relationships/image" Target="../media/image83.wmf"/><Relationship Id="rId23" Type="http://schemas.openxmlformats.org/officeDocument/2006/relationships/image" Target="../media/image87.wmf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85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80.wmf"/><Relationship Id="rId14" Type="http://schemas.openxmlformats.org/officeDocument/2006/relationships/oleObject" Target="../embeddings/oleObject81.bin"/><Relationship Id="rId22" Type="http://schemas.openxmlformats.org/officeDocument/2006/relationships/oleObject" Target="../embeddings/oleObject8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93.wmf"/><Relationship Id="rId18" Type="http://schemas.openxmlformats.org/officeDocument/2006/relationships/oleObject" Target="../embeddings/oleObject94.bin"/><Relationship Id="rId3" Type="http://schemas.openxmlformats.org/officeDocument/2006/relationships/image" Target="../media/image88.wmf"/><Relationship Id="rId7" Type="http://schemas.openxmlformats.org/officeDocument/2006/relationships/image" Target="../media/image90.w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95.wmf"/><Relationship Id="rId2" Type="http://schemas.openxmlformats.org/officeDocument/2006/relationships/oleObject" Target="../embeddings/oleObject86.bin"/><Relationship Id="rId16" Type="http://schemas.openxmlformats.org/officeDocument/2006/relationships/oleObject" Target="../embeddings/oleObject9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92.wmf"/><Relationship Id="rId5" Type="http://schemas.openxmlformats.org/officeDocument/2006/relationships/image" Target="../media/image89.wmf"/><Relationship Id="rId15" Type="http://schemas.openxmlformats.org/officeDocument/2006/relationships/image" Target="../media/image94.wmf"/><Relationship Id="rId10" Type="http://schemas.openxmlformats.org/officeDocument/2006/relationships/oleObject" Target="../embeddings/oleObject90.bin"/><Relationship Id="rId19" Type="http://schemas.openxmlformats.org/officeDocument/2006/relationships/image" Target="../media/image96.w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91.wmf"/><Relationship Id="rId14" Type="http://schemas.openxmlformats.org/officeDocument/2006/relationships/oleObject" Target="../embeddings/oleObject92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2.wmf"/><Relationship Id="rId18" Type="http://schemas.openxmlformats.org/officeDocument/2006/relationships/oleObject" Target="../embeddings/oleObject103.bin"/><Relationship Id="rId26" Type="http://schemas.openxmlformats.org/officeDocument/2006/relationships/oleObject" Target="../embeddings/oleObject107.bin"/><Relationship Id="rId21" Type="http://schemas.openxmlformats.org/officeDocument/2006/relationships/image" Target="../media/image106.wmf"/><Relationship Id="rId34" Type="http://schemas.openxmlformats.org/officeDocument/2006/relationships/oleObject" Target="../embeddings/oleObject111.bin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04.wmf"/><Relationship Id="rId25" Type="http://schemas.openxmlformats.org/officeDocument/2006/relationships/image" Target="../media/image108.wmf"/><Relationship Id="rId33" Type="http://schemas.openxmlformats.org/officeDocument/2006/relationships/image" Target="../media/image112.wmf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29" Type="http://schemas.openxmlformats.org/officeDocument/2006/relationships/image" Target="../media/image110.w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01.wmf"/><Relationship Id="rId24" Type="http://schemas.openxmlformats.org/officeDocument/2006/relationships/oleObject" Target="../embeddings/oleObject106.bin"/><Relationship Id="rId32" Type="http://schemas.openxmlformats.org/officeDocument/2006/relationships/oleObject" Target="../embeddings/oleObject110.bin"/><Relationship Id="rId37" Type="http://schemas.openxmlformats.org/officeDocument/2006/relationships/image" Target="../media/image114.wmf"/><Relationship Id="rId5" Type="http://schemas.openxmlformats.org/officeDocument/2006/relationships/image" Target="../media/image98.wmf"/><Relationship Id="rId15" Type="http://schemas.openxmlformats.org/officeDocument/2006/relationships/image" Target="../media/image103.wmf"/><Relationship Id="rId23" Type="http://schemas.openxmlformats.org/officeDocument/2006/relationships/image" Target="../media/image107.wmf"/><Relationship Id="rId28" Type="http://schemas.openxmlformats.org/officeDocument/2006/relationships/oleObject" Target="../embeddings/oleObject108.bin"/><Relationship Id="rId36" Type="http://schemas.openxmlformats.org/officeDocument/2006/relationships/oleObject" Target="../embeddings/oleObject112.bin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05.wmf"/><Relationship Id="rId31" Type="http://schemas.openxmlformats.org/officeDocument/2006/relationships/image" Target="../media/image111.w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101.bin"/><Relationship Id="rId22" Type="http://schemas.openxmlformats.org/officeDocument/2006/relationships/oleObject" Target="../embeddings/oleObject105.bin"/><Relationship Id="rId27" Type="http://schemas.openxmlformats.org/officeDocument/2006/relationships/image" Target="../media/image109.wmf"/><Relationship Id="rId30" Type="http://schemas.openxmlformats.org/officeDocument/2006/relationships/oleObject" Target="../embeddings/oleObject109.bin"/><Relationship Id="rId35" Type="http://schemas.openxmlformats.org/officeDocument/2006/relationships/image" Target="../media/image113.wmf"/><Relationship Id="rId8" Type="http://schemas.openxmlformats.org/officeDocument/2006/relationships/oleObject" Target="../embeddings/oleObject98.bin"/><Relationship Id="rId3" Type="http://schemas.openxmlformats.org/officeDocument/2006/relationships/image" Target="../media/image9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>
            <a:extLst>
              <a:ext uri="{FF2B5EF4-FFF2-40B4-BE49-F238E27FC236}">
                <a16:creationId xmlns:a16="http://schemas.microsoft.com/office/drawing/2014/main" id="{5224E2C5-428F-4238-A594-C18268097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1054100"/>
            <a:ext cx="12145962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n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维线性空间中的任意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个线性无关的向量都可以作为它的一组基，同一向量在不同基下的坐标一般来说也不相同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这一讲我们讨论线性空间中不同基之间的变换关系，进而研究同一向量在不同基下坐标的变换关系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771" name="Rectangle 5">
            <a:extLst>
              <a:ext uri="{FF2B5EF4-FFF2-40B4-BE49-F238E27FC236}">
                <a16:creationId xmlns:a16="http://schemas.microsoft.com/office/drawing/2014/main" id="{EE9C006F-B4C6-4F73-8D1F-8E89A405F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线性空间的基变换与坐标变换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DDABDEB3-37C7-4DDE-B855-21EAD07DB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13100"/>
            <a:ext cx="1219517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设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和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的两组基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于是有</a:t>
            </a:r>
          </a:p>
        </p:txBody>
      </p:sp>
      <p:graphicFrame>
        <p:nvGraphicFramePr>
          <p:cNvPr id="1031" name="Object 2">
            <a:extLst>
              <a:ext uri="{FF2B5EF4-FFF2-40B4-BE49-F238E27FC236}">
                <a16:creationId xmlns:a16="http://schemas.microsoft.com/office/drawing/2014/main" id="{270C0CB7-0FF4-4C91-BE72-30CF272391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4475" y="4078288"/>
          <a:ext cx="5959475" cy="228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1100" imgH="939800" progId="Equation.DSMT4">
                  <p:embed/>
                </p:oleObj>
              </mc:Choice>
              <mc:Fallback>
                <p:oleObj name="Equation" r:id="rId2" imgW="2451100" imgH="939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4078288"/>
                        <a:ext cx="5959475" cy="228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>
            <a:extLst>
              <a:ext uri="{FF2B5EF4-FFF2-40B4-BE49-F238E27FC236}">
                <a16:creationId xmlns:a16="http://schemas.microsoft.com/office/drawing/2014/main" id="{F0676EBA-3F6B-4709-8A13-EB58257E7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线性空间的基变换与坐标变换</a:t>
            </a:r>
          </a:p>
        </p:txBody>
      </p:sp>
      <p:sp>
        <p:nvSpPr>
          <p:cNvPr id="33795" name="Text Box 6">
            <a:extLst>
              <a:ext uri="{FF2B5EF4-FFF2-40B4-BE49-F238E27FC236}">
                <a16:creationId xmlns:a16="http://schemas.microsoft.com/office/drawing/2014/main" id="{C0743154-850E-42D0-A263-54CAEC9B6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046163"/>
            <a:ext cx="91440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合起来就有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: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3796" name="Object 2">
            <a:extLst>
              <a:ext uri="{FF2B5EF4-FFF2-40B4-BE49-F238E27FC236}">
                <a16:creationId xmlns:a16="http://schemas.microsoft.com/office/drawing/2014/main" id="{F3F2E9FA-C2ED-4428-80A5-DF7E0A3F87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5338" y="1125538"/>
          <a:ext cx="7596187" cy="228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4200" imgH="939800" progId="Equation.DSMT4">
                  <p:embed/>
                </p:oleObj>
              </mc:Choice>
              <mc:Fallback>
                <p:oleObj name="Equation" r:id="rId2" imgW="3124200" imgH="939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1125538"/>
                        <a:ext cx="7596187" cy="228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8">
            <a:extLst>
              <a:ext uri="{FF2B5EF4-FFF2-40B4-BE49-F238E27FC236}">
                <a16:creationId xmlns:a16="http://schemas.microsoft.com/office/drawing/2014/main" id="{79084A68-A3E0-4DD1-8AE4-4AD9A8B84DEE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3646488"/>
            <a:ext cx="12145962" cy="631825"/>
            <a:chOff x="49931" y="3645818"/>
            <a:chExt cx="12145244" cy="632286"/>
          </a:xfrm>
        </p:grpSpPr>
        <p:sp>
          <p:nvSpPr>
            <p:cNvPr id="33817" name="Text Box 4">
              <a:extLst>
                <a:ext uri="{FF2B5EF4-FFF2-40B4-BE49-F238E27FC236}">
                  <a16:creationId xmlns:a16="http://schemas.microsoft.com/office/drawing/2014/main" id="{B845CB03-CC6A-4FF7-A894-A88C2E549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31" y="3645818"/>
              <a:ext cx="12145244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简记为                                                         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.  </a:t>
              </a:r>
              <a:endPara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3818" name="Object 3">
              <a:extLst>
                <a:ext uri="{FF2B5EF4-FFF2-40B4-BE49-F238E27FC236}">
                  <a16:creationId xmlns:a16="http://schemas.microsoft.com/office/drawing/2014/main" id="{C070E290-85B4-47C5-B7EE-00D2A3C1D4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7067" y="3660566"/>
            <a:ext cx="4878387" cy="617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05729" imgH="253890" progId="Equation.DSMT4">
                    <p:embed/>
                  </p:oleObj>
                </mc:Choice>
                <mc:Fallback>
                  <p:oleObj name="Equation" r:id="rId4" imgW="2005729" imgH="25389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7067" y="3660566"/>
                          <a:ext cx="4878387" cy="617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E94FE87-52A3-4A11-A732-B7142B14C286}"/>
              </a:ext>
            </a:extLst>
          </p:cNvPr>
          <p:cNvCxnSpPr/>
          <p:nvPr/>
        </p:nvCxnSpPr>
        <p:spPr>
          <a:xfrm flipV="1">
            <a:off x="6169025" y="3286125"/>
            <a:ext cx="433388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1">
            <a:extLst>
              <a:ext uri="{FF2B5EF4-FFF2-40B4-BE49-F238E27FC236}">
                <a16:creationId xmlns:a16="http://schemas.microsoft.com/office/drawing/2014/main" id="{C476CEA0-3CAA-4A00-BDF0-A733CA15F21A}"/>
              </a:ext>
            </a:extLst>
          </p:cNvPr>
          <p:cNvGrpSpPr>
            <a:grpSpLocks/>
          </p:cNvGrpSpPr>
          <p:nvPr/>
        </p:nvGrpSpPr>
        <p:grpSpPr bwMode="auto">
          <a:xfrm>
            <a:off x="2698750" y="1270000"/>
            <a:ext cx="5286375" cy="2087563"/>
            <a:chOff x="2698463" y="1269554"/>
            <a:chExt cx="5286080" cy="2088232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B96F39D-F5B6-4EEE-B2DE-C615D5B8C885}"/>
                </a:ext>
              </a:extLst>
            </p:cNvPr>
            <p:cNvSpPr/>
            <p:nvPr/>
          </p:nvSpPr>
          <p:spPr>
            <a:xfrm>
              <a:off x="7479746" y="1269554"/>
              <a:ext cx="504797" cy="20882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E014F20-DF60-4364-9CE6-1132A9A71458}"/>
                </a:ext>
              </a:extLst>
            </p:cNvPr>
            <p:cNvSpPr/>
            <p:nvPr/>
          </p:nvSpPr>
          <p:spPr>
            <a:xfrm>
              <a:off x="2698463" y="1988922"/>
              <a:ext cx="360343" cy="5764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4" name="组合 23">
            <a:extLst>
              <a:ext uri="{FF2B5EF4-FFF2-40B4-BE49-F238E27FC236}">
                <a16:creationId xmlns:a16="http://schemas.microsoft.com/office/drawing/2014/main" id="{1AB514B9-93BB-4787-9CBB-866067B07432}"/>
              </a:ext>
            </a:extLst>
          </p:cNvPr>
          <p:cNvGrpSpPr>
            <a:grpSpLocks/>
          </p:cNvGrpSpPr>
          <p:nvPr/>
        </p:nvGrpSpPr>
        <p:grpSpPr bwMode="auto">
          <a:xfrm>
            <a:off x="3576638" y="1270000"/>
            <a:ext cx="5848350" cy="2087563"/>
            <a:chOff x="3577307" y="1269554"/>
            <a:chExt cx="5847396" cy="2088232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11AF8E7-1CE9-4136-BE4D-0CB083E1A80C}"/>
                </a:ext>
              </a:extLst>
            </p:cNvPr>
            <p:cNvSpPr/>
            <p:nvPr/>
          </p:nvSpPr>
          <p:spPr>
            <a:xfrm>
              <a:off x="8919960" y="1269554"/>
              <a:ext cx="504743" cy="20882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7F40314-B483-414F-8DFC-1BFFDE6A2B61}"/>
                </a:ext>
              </a:extLst>
            </p:cNvPr>
            <p:cNvSpPr/>
            <p:nvPr/>
          </p:nvSpPr>
          <p:spPr>
            <a:xfrm>
              <a:off x="3577307" y="1988922"/>
              <a:ext cx="360303" cy="5764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5" name="组合 23">
            <a:extLst>
              <a:ext uri="{FF2B5EF4-FFF2-40B4-BE49-F238E27FC236}">
                <a16:creationId xmlns:a16="http://schemas.microsoft.com/office/drawing/2014/main" id="{1C87441B-D35A-4C74-916F-A7C771055F00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4505325"/>
            <a:ext cx="12145962" cy="652463"/>
            <a:chOff x="48915" y="4361484"/>
            <a:chExt cx="12146260" cy="652486"/>
          </a:xfrm>
        </p:grpSpPr>
        <p:sp>
          <p:nvSpPr>
            <p:cNvPr id="33809" name="Text Box 6">
              <a:extLst>
                <a:ext uri="{FF2B5EF4-FFF2-40B4-BE49-F238E27FC236}">
                  <a16:creationId xmlns:a16="http://schemas.microsoft.com/office/drawing/2014/main" id="{246C72CC-830A-4C03-A069-A6C6BE46C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4361484"/>
              <a:ext cx="12146260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否则，         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满足            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进而                                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   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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</a:t>
              </a:r>
              <a:r>
                <a:rPr lang="en-US" altLang="zh-CN" sz="2800">
                  <a:ea typeface="华文新魏" panose="02010800040101010101" pitchFamily="2" charset="-122"/>
                  <a:sym typeface="Symbol" panose="05050102010706020507" pitchFamily="18" charset="2"/>
                </a:rPr>
                <a:t>…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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n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线性相关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矛盾！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33810" name="Object 4">
              <a:extLst>
                <a:ext uri="{FF2B5EF4-FFF2-40B4-BE49-F238E27FC236}">
                  <a16:creationId xmlns:a16="http://schemas.microsoft.com/office/drawing/2014/main" id="{4827E34E-2E03-4806-BF50-BE2003046E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7698" y="4509914"/>
            <a:ext cx="1071119" cy="504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31613" imgH="203112" progId="Equation.DSMT4">
                    <p:embed/>
                  </p:oleObj>
                </mc:Choice>
                <mc:Fallback>
                  <p:oleObj name="Equation" r:id="rId6" imgW="431613" imgH="203112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7698" y="4509914"/>
                          <a:ext cx="1071119" cy="504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5">
              <a:extLst>
                <a:ext uri="{FF2B5EF4-FFF2-40B4-BE49-F238E27FC236}">
                  <a16:creationId xmlns:a16="http://schemas.microsoft.com/office/drawing/2014/main" id="{A741B35C-649F-48C6-B67D-E0E4E849F1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01243" y="4467402"/>
            <a:ext cx="1103313" cy="503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44307" imgH="203112" progId="Equation.DSMT4">
                    <p:embed/>
                  </p:oleObj>
                </mc:Choice>
                <mc:Fallback>
                  <p:oleObj name="Equation" r:id="rId8" imgW="444307" imgH="203112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1243" y="4467402"/>
                          <a:ext cx="1103313" cy="503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6">
              <a:extLst>
                <a:ext uri="{FF2B5EF4-FFF2-40B4-BE49-F238E27FC236}">
                  <a16:creationId xmlns:a16="http://schemas.microsoft.com/office/drawing/2014/main" id="{61713231-5DF3-474D-80D3-725BE01684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6085" y="4395788"/>
            <a:ext cx="3333750" cy="617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71600" imgH="254000" progId="Equation.DSMT4">
                    <p:embed/>
                  </p:oleObj>
                </mc:Choice>
                <mc:Fallback>
                  <p:oleObj name="Equation" r:id="rId10" imgW="1371600" imgH="2540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6085" y="4395788"/>
                          <a:ext cx="3333750" cy="617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 Box 6">
            <a:extLst>
              <a:ext uri="{FF2B5EF4-FFF2-40B4-BE49-F238E27FC236}">
                <a16:creationId xmlns:a16="http://schemas.microsoft.com/office/drawing/2014/main" id="{D3D9951F-EF48-47CE-A69B-1ABFC4FFC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5441950"/>
            <a:ext cx="12145962" cy="607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定义    称上式为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基变换公式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C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为由基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,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到基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过渡矩阵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" name="组合 26">
            <a:extLst>
              <a:ext uri="{FF2B5EF4-FFF2-40B4-BE49-F238E27FC236}">
                <a16:creationId xmlns:a16="http://schemas.microsoft.com/office/drawing/2014/main" id="{A6719B55-FFE2-4806-84F9-B04A89DD43A1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270000"/>
            <a:ext cx="5024438" cy="2087563"/>
            <a:chOff x="2209155" y="1269554"/>
            <a:chExt cx="5025812" cy="2088232"/>
          </a:xfrm>
        </p:grpSpPr>
        <p:grpSp>
          <p:nvGrpSpPr>
            <p:cNvPr id="33805" name="组合 20">
              <a:extLst>
                <a:ext uri="{FF2B5EF4-FFF2-40B4-BE49-F238E27FC236}">
                  <a16:creationId xmlns:a16="http://schemas.microsoft.com/office/drawing/2014/main" id="{3E2BD1A5-788A-4FB3-A839-C7E06EA69B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155" y="1269554"/>
              <a:ext cx="5025812" cy="2088232"/>
              <a:chOff x="2209155" y="1269554"/>
              <a:chExt cx="5025812" cy="2088232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D5AE703-9986-416A-A5D2-A8AE1A161E15}"/>
                  </a:ext>
                </a:extLst>
              </p:cNvPr>
              <p:cNvSpPr/>
              <p:nvPr/>
            </p:nvSpPr>
            <p:spPr>
              <a:xfrm>
                <a:off x="6731591" y="1269554"/>
                <a:ext cx="503376" cy="208823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4C89C61-B985-4F85-91EE-E9BEC194758A}"/>
                  </a:ext>
                </a:extLst>
              </p:cNvPr>
              <p:cNvSpPr/>
              <p:nvPr/>
            </p:nvSpPr>
            <p:spPr>
              <a:xfrm>
                <a:off x="2209155" y="1988922"/>
                <a:ext cx="360462" cy="57644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8C2F241-BF00-4F56-B236-BA2CC6ECDBA0}"/>
                </a:ext>
              </a:extLst>
            </p:cNvPr>
            <p:cNvCxnSpPr/>
            <p:nvPr/>
          </p:nvCxnSpPr>
          <p:spPr>
            <a:xfrm>
              <a:off x="4657749" y="2565369"/>
              <a:ext cx="1656216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 Box 4">
            <a:extLst>
              <a:ext uri="{FF2B5EF4-FFF2-40B4-BE49-F238E27FC236}">
                <a16:creationId xmlns:a16="http://schemas.microsoft.com/office/drawing/2014/main" id="{BBBB2A42-F719-49F8-9EFE-2F939EBC5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238" y="3616325"/>
            <a:ext cx="4441825" cy="6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显然，</a:t>
            </a:r>
            <a:r>
              <a:rPr lang="zh-CN" altLang="en-US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矩阵</a:t>
            </a:r>
            <a:r>
              <a:rPr lang="en-US" altLang="zh-CN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C</a:t>
            </a:r>
            <a:r>
              <a:rPr lang="zh-CN" altLang="en-US" sz="28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是可逆矩阵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>
            <a:extLst>
              <a:ext uri="{FF2B5EF4-FFF2-40B4-BE49-F238E27FC236}">
                <a16:creationId xmlns:a16="http://schemas.microsoft.com/office/drawing/2014/main" id="{68AB5C7B-7623-4AE5-917E-D3BCADCE8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线性空间的基变换与坐标变换</a:t>
            </a:r>
          </a:p>
        </p:txBody>
      </p:sp>
      <p:sp>
        <p:nvSpPr>
          <p:cNvPr id="34819" name="Text Box 6">
            <a:extLst>
              <a:ext uri="{FF2B5EF4-FFF2-40B4-BE49-F238E27FC236}">
                <a16:creationId xmlns:a16="http://schemas.microsoft.com/office/drawing/2014/main" id="{9F199578-C180-478C-A7A5-07BF9E2E1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193800"/>
            <a:ext cx="1214596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：求线性空间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R[x]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中由基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1, x, x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到基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1, 1+2x, 1+2x+3x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的过渡矩阵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11">
            <a:extLst>
              <a:ext uri="{FF2B5EF4-FFF2-40B4-BE49-F238E27FC236}">
                <a16:creationId xmlns:a16="http://schemas.microsoft.com/office/drawing/2014/main" id="{6564F5EC-0275-42A5-971D-F21ABC18F3C7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1912938"/>
            <a:ext cx="12144375" cy="2308225"/>
            <a:chOff x="48915" y="1913212"/>
            <a:chExt cx="12145244" cy="2308670"/>
          </a:xfrm>
        </p:grpSpPr>
        <p:sp>
          <p:nvSpPr>
            <p:cNvPr id="34827" name="Text Box 6">
              <a:extLst>
                <a:ext uri="{FF2B5EF4-FFF2-40B4-BE49-F238E27FC236}">
                  <a16:creationId xmlns:a16="http://schemas.microsoft.com/office/drawing/2014/main" id="{A37DC0F5-EB33-423F-A016-F8226FBD8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1913212"/>
              <a:ext cx="12145244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解：因为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34828" name="Object 2">
              <a:extLst>
                <a:ext uri="{FF2B5EF4-FFF2-40B4-BE49-F238E27FC236}">
                  <a16:creationId xmlns:a16="http://schemas.microsoft.com/office/drawing/2014/main" id="{0F8E5292-0F43-4770-84F1-D2AB6F682C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85019" y="2493690"/>
            <a:ext cx="10458014" cy="1728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305300" imgH="711200" progId="Equation.DSMT4">
                    <p:embed/>
                  </p:oleObj>
                </mc:Choice>
                <mc:Fallback>
                  <p:oleObj name="Equation" r:id="rId2" imgW="4305300" imgH="7112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5019" y="2493690"/>
                          <a:ext cx="10458014" cy="1728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8">
            <a:extLst>
              <a:ext uri="{FF2B5EF4-FFF2-40B4-BE49-F238E27FC236}">
                <a16:creationId xmlns:a16="http://schemas.microsoft.com/office/drawing/2014/main" id="{61ED7108-0EAC-4A7E-998C-92B419A5E194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4510088"/>
            <a:ext cx="12144375" cy="1727200"/>
            <a:chOff x="48915" y="4181123"/>
            <a:chExt cx="12145244" cy="1727200"/>
          </a:xfrm>
        </p:grpSpPr>
        <p:sp>
          <p:nvSpPr>
            <p:cNvPr id="34825" name="Text Box 6">
              <a:extLst>
                <a:ext uri="{FF2B5EF4-FFF2-40B4-BE49-F238E27FC236}">
                  <a16:creationId xmlns:a16="http://schemas.microsoft.com/office/drawing/2014/main" id="{A3CD5B31-8711-4780-A588-6001D2C2C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4674287"/>
              <a:ext cx="12145244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所以有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34826" name="Object 3">
              <a:extLst>
                <a:ext uri="{FF2B5EF4-FFF2-40B4-BE49-F238E27FC236}">
                  <a16:creationId xmlns:a16="http://schemas.microsoft.com/office/drawing/2014/main" id="{E259446D-C85F-4A94-951E-99B4D4B1F4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55713" y="4181123"/>
            <a:ext cx="6632575" cy="172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30500" imgH="711200" progId="Equation.DSMT4">
                    <p:embed/>
                  </p:oleObj>
                </mc:Choice>
                <mc:Fallback>
                  <p:oleObj name="Equation" r:id="rId4" imgW="2730500" imgH="7112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5713" y="4181123"/>
                          <a:ext cx="6632575" cy="172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2">
            <a:extLst>
              <a:ext uri="{FF2B5EF4-FFF2-40B4-BE49-F238E27FC236}">
                <a16:creationId xmlns:a16="http://schemas.microsoft.com/office/drawing/2014/main" id="{D701D60B-34FE-40C5-B95E-6364426CC2DC}"/>
              </a:ext>
            </a:extLst>
          </p:cNvPr>
          <p:cNvGrpSpPr>
            <a:grpSpLocks/>
          </p:cNvGrpSpPr>
          <p:nvPr/>
        </p:nvGrpSpPr>
        <p:grpSpPr bwMode="auto">
          <a:xfrm>
            <a:off x="7826375" y="4495800"/>
            <a:ext cx="3776663" cy="1727200"/>
            <a:chOff x="7825779" y="4495666"/>
            <a:chExt cx="3777259" cy="1727200"/>
          </a:xfrm>
        </p:grpSpPr>
        <p:sp>
          <p:nvSpPr>
            <p:cNvPr id="34823" name="Text Box 6">
              <a:extLst>
                <a:ext uri="{FF2B5EF4-FFF2-40B4-BE49-F238E27FC236}">
                  <a16:creationId xmlns:a16="http://schemas.microsoft.com/office/drawing/2014/main" id="{AAC6DCE4-F9D8-49C5-A345-F33065A93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5779" y="4941962"/>
              <a:ext cx="3015952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过渡矩阵为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34824" name="Object 4">
              <a:extLst>
                <a:ext uri="{FF2B5EF4-FFF2-40B4-BE49-F238E27FC236}">
                  <a16:creationId xmlns:a16="http://schemas.microsoft.com/office/drawing/2014/main" id="{6DA15DE9-610F-4475-B684-02467ECBD3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83763" y="4495666"/>
            <a:ext cx="1819275" cy="172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48975" imgH="710891" progId="Equation.DSMT4">
                    <p:embed/>
                  </p:oleObj>
                </mc:Choice>
                <mc:Fallback>
                  <p:oleObj name="Equation" r:id="rId6" imgW="748975" imgH="710891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83763" y="4495666"/>
                          <a:ext cx="1819275" cy="172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>
            <a:extLst>
              <a:ext uri="{FF2B5EF4-FFF2-40B4-BE49-F238E27FC236}">
                <a16:creationId xmlns:a16="http://schemas.microsoft.com/office/drawing/2014/main" id="{37F4EE29-CCBF-4420-AF48-02683B340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线性空间的基变换与坐标变换</a:t>
            </a:r>
          </a:p>
        </p:txBody>
      </p:sp>
      <p:sp>
        <p:nvSpPr>
          <p:cNvPr id="35843" name="Text Box 6">
            <a:extLst>
              <a:ext uri="{FF2B5EF4-FFF2-40B4-BE49-F238E27FC236}">
                <a16:creationId xmlns:a16="http://schemas.microsoft.com/office/drawing/2014/main" id="{2DF35A4E-56BC-41C5-BB9C-23C8CEEB2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412875"/>
            <a:ext cx="12144375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定理    设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和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的两组基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如果向量在这两组基下的坐标分别为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x=(x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x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y=(y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y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y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x=Cy.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其中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C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是由基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到基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的过渡矩阵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FD2742A6-081B-4A8D-A0B1-F6B72D4F7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5763" y="4611688"/>
          <a:ext cx="4878387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5729" imgH="253890" progId="Equation.DSMT4">
                  <p:embed/>
                </p:oleObj>
              </mc:Choice>
              <mc:Fallback>
                <p:oleObj name="Equation" r:id="rId2" imgW="2005729" imgH="25389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5763" y="4611688"/>
                        <a:ext cx="4878387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2">
            <a:extLst>
              <a:ext uri="{FF2B5EF4-FFF2-40B4-BE49-F238E27FC236}">
                <a16:creationId xmlns:a16="http://schemas.microsoft.com/office/drawing/2014/main" id="{28BABEC1-4544-49F3-A9D1-FAFF12A45242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3725863"/>
            <a:ext cx="12144375" cy="681037"/>
            <a:chOff x="48915" y="3726573"/>
            <a:chExt cx="12145244" cy="681022"/>
          </a:xfrm>
        </p:grpSpPr>
        <p:sp>
          <p:nvSpPr>
            <p:cNvPr id="35858" name="Text Box 6">
              <a:extLst>
                <a:ext uri="{FF2B5EF4-FFF2-40B4-BE49-F238E27FC236}">
                  <a16:creationId xmlns:a16="http://schemas.microsoft.com/office/drawing/2014/main" id="{22372710-2442-4F65-9767-EB1601AFA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3726573"/>
              <a:ext cx="12145244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证明：已知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35859" name="Object 3">
              <a:extLst>
                <a:ext uri="{FF2B5EF4-FFF2-40B4-BE49-F238E27FC236}">
                  <a16:creationId xmlns:a16="http://schemas.microsoft.com/office/drawing/2014/main" id="{A0C7D420-2B9D-4D51-83E0-39074173DF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19325" y="3790057"/>
            <a:ext cx="6978650" cy="617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870200" imgH="254000" progId="Equation.DSMT4">
                    <p:embed/>
                  </p:oleObj>
                </mc:Choice>
                <mc:Fallback>
                  <p:oleObj name="Equation" r:id="rId4" imgW="2870200" imgH="2540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9325" y="3790057"/>
                          <a:ext cx="6978650" cy="617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9AC29B9-2BDD-4070-83AC-6A6DC5855E09}"/>
              </a:ext>
            </a:extLst>
          </p:cNvPr>
          <p:cNvCxnSpPr/>
          <p:nvPr/>
        </p:nvCxnSpPr>
        <p:spPr>
          <a:xfrm flipV="1">
            <a:off x="7897813" y="4365625"/>
            <a:ext cx="0" cy="43180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B5E8CF51-13FD-4B80-9575-B5305DA773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3325" y="5403850"/>
          <a:ext cx="32416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500" imgH="254000" progId="Equation.DSMT4">
                  <p:embed/>
                </p:oleObj>
              </mc:Choice>
              <mc:Fallback>
                <p:oleObj name="Equation" r:id="rId6" imgW="13335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325" y="5403850"/>
                        <a:ext cx="3241675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>
            <a:extLst>
              <a:ext uri="{FF2B5EF4-FFF2-40B4-BE49-F238E27FC236}">
                <a16:creationId xmlns:a16="http://schemas.microsoft.com/office/drawing/2014/main" id="{21AAC1B1-1E31-45AE-8ECE-F785789FFB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5963" y="5459413"/>
          <a:ext cx="17907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280" imgH="177723" progId="Equation.DSMT4">
                  <p:embed/>
                </p:oleObj>
              </mc:Choice>
              <mc:Fallback>
                <p:oleObj name="Equation" r:id="rId8" imgW="736280" imgH="17772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5963" y="5459413"/>
                        <a:ext cx="17907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2">
            <a:extLst>
              <a:ext uri="{FF2B5EF4-FFF2-40B4-BE49-F238E27FC236}">
                <a16:creationId xmlns:a16="http://schemas.microsoft.com/office/drawing/2014/main" id="{AB5EACF1-DBBA-43F7-BEA0-5806F18DEB83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337050"/>
            <a:ext cx="4349750" cy="1598613"/>
            <a:chOff x="2209155" y="4336402"/>
            <a:chExt cx="4349976" cy="1598924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1EED589-4DCE-4D79-9A3F-5BB55DDA3DEA}"/>
                </a:ext>
              </a:extLst>
            </p:cNvPr>
            <p:cNvCxnSpPr/>
            <p:nvPr/>
          </p:nvCxnSpPr>
          <p:spPr>
            <a:xfrm>
              <a:off x="2209155" y="4336402"/>
              <a:ext cx="287353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8445A186-1B8D-4096-A883-0E3BC6765DD2}"/>
                </a:ext>
              </a:extLst>
            </p:cNvPr>
            <p:cNvCxnSpPr/>
            <p:nvPr/>
          </p:nvCxnSpPr>
          <p:spPr>
            <a:xfrm>
              <a:off x="6271779" y="5935326"/>
              <a:ext cx="28735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26">
            <a:extLst>
              <a:ext uri="{FF2B5EF4-FFF2-40B4-BE49-F238E27FC236}">
                <a16:creationId xmlns:a16="http://schemas.microsoft.com/office/drawing/2014/main" id="{93EC0C18-DEBB-43A4-9AC2-EA0CE4CF3291}"/>
              </a:ext>
            </a:extLst>
          </p:cNvPr>
          <p:cNvGrpSpPr>
            <a:grpSpLocks/>
          </p:cNvGrpSpPr>
          <p:nvPr/>
        </p:nvGrpSpPr>
        <p:grpSpPr bwMode="auto">
          <a:xfrm>
            <a:off x="2928938" y="4365625"/>
            <a:ext cx="5832475" cy="1612900"/>
            <a:chOff x="2929235" y="4365898"/>
            <a:chExt cx="5832648" cy="1611940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DB56C7E-8324-4A52-843F-8DFD7619C86F}"/>
                </a:ext>
              </a:extLst>
            </p:cNvPr>
            <p:cNvCxnSpPr/>
            <p:nvPr/>
          </p:nvCxnSpPr>
          <p:spPr>
            <a:xfrm>
              <a:off x="2929235" y="4365898"/>
              <a:ext cx="1728838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363217E8-EF91-4748-ACE3-C1D66296B9A4}"/>
                </a:ext>
              </a:extLst>
            </p:cNvPr>
            <p:cNvCxnSpPr/>
            <p:nvPr/>
          </p:nvCxnSpPr>
          <p:spPr>
            <a:xfrm>
              <a:off x="7033044" y="5977838"/>
              <a:ext cx="1728839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29">
            <a:extLst>
              <a:ext uri="{FF2B5EF4-FFF2-40B4-BE49-F238E27FC236}">
                <a16:creationId xmlns:a16="http://schemas.microsoft.com/office/drawing/2014/main" id="{F000F96E-A190-433E-91B6-0FDF202A1A37}"/>
              </a:ext>
            </a:extLst>
          </p:cNvPr>
          <p:cNvGrpSpPr>
            <a:grpSpLocks/>
          </p:cNvGrpSpPr>
          <p:nvPr/>
        </p:nvGrpSpPr>
        <p:grpSpPr bwMode="auto">
          <a:xfrm>
            <a:off x="4887913" y="3717925"/>
            <a:ext cx="4564062" cy="2303463"/>
            <a:chOff x="4888199" y="3717826"/>
            <a:chExt cx="4564268" cy="2304256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9CC8C70-866B-4F6C-80F2-AE2557384295}"/>
                </a:ext>
              </a:extLst>
            </p:cNvPr>
            <p:cNvSpPr/>
            <p:nvPr/>
          </p:nvSpPr>
          <p:spPr>
            <a:xfrm>
              <a:off x="4888199" y="3717826"/>
              <a:ext cx="360378" cy="647923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2FF9DA51-1497-4D3B-9081-6FCBA018DA93}"/>
                </a:ext>
              </a:extLst>
            </p:cNvPr>
            <p:cNvSpPr/>
            <p:nvPr/>
          </p:nvSpPr>
          <p:spPr>
            <a:xfrm>
              <a:off x="8919043" y="5343986"/>
              <a:ext cx="533424" cy="678096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>
            <a:extLst>
              <a:ext uri="{FF2B5EF4-FFF2-40B4-BE49-F238E27FC236}">
                <a16:creationId xmlns:a16="http://schemas.microsoft.com/office/drawing/2014/main" id="{09D84077-369E-4D63-895B-B4E9DA000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线性空间的基变换与坐标变换</a:t>
            </a:r>
          </a:p>
        </p:txBody>
      </p:sp>
      <p:sp>
        <p:nvSpPr>
          <p:cNvPr id="36867" name="Text Box 6">
            <a:extLst>
              <a:ext uri="{FF2B5EF4-FFF2-40B4-BE49-F238E27FC236}">
                <a16:creationId xmlns:a16="http://schemas.microsoft.com/office/drawing/2014/main" id="{CEC9F11C-A883-401D-B9C3-8EE540C37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193800"/>
            <a:ext cx="12145962" cy="388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：求线性空间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×2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中由基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到基                                                                           的过渡矩阵，并求出矩阵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          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在基                    下的坐标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</a:pP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6868" name="Object 2">
            <a:extLst>
              <a:ext uri="{FF2B5EF4-FFF2-40B4-BE49-F238E27FC236}">
                <a16:creationId xmlns:a16="http://schemas.microsoft.com/office/drawing/2014/main" id="{4FD227E5-5B4C-4621-B2BE-1930BF61BD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0125" y="1111250"/>
          <a:ext cx="711993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68700" imgH="457200" progId="Equation.DSMT4">
                  <p:embed/>
                </p:oleObj>
              </mc:Choice>
              <mc:Fallback>
                <p:oleObj name="Equation" r:id="rId2" imgW="356870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5" y="1111250"/>
                        <a:ext cx="7119938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3">
            <a:extLst>
              <a:ext uri="{FF2B5EF4-FFF2-40B4-BE49-F238E27FC236}">
                <a16:creationId xmlns:a16="http://schemas.microsoft.com/office/drawing/2014/main" id="{AC1ABA64-D443-41D4-962E-6C78DAA635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813" y="2101850"/>
          <a:ext cx="63595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87700" imgH="457200" progId="Equation.DSMT4">
                  <p:embed/>
                </p:oleObj>
              </mc:Choice>
              <mc:Fallback>
                <p:oleObj name="Equation" r:id="rId4" imgW="31877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3" y="2101850"/>
                        <a:ext cx="63595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4">
            <a:extLst>
              <a:ext uri="{FF2B5EF4-FFF2-40B4-BE49-F238E27FC236}">
                <a16:creationId xmlns:a16="http://schemas.microsoft.com/office/drawing/2014/main" id="{546E9D44-761B-471F-8FB5-21551C7875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" y="3141663"/>
          <a:ext cx="14700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600" imgH="457200" progId="Equation.DSMT4">
                  <p:embed/>
                </p:oleObj>
              </mc:Choice>
              <mc:Fallback>
                <p:oleObj name="Equation" r:id="rId6" imgW="7366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" y="3141663"/>
                        <a:ext cx="14700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5">
            <a:extLst>
              <a:ext uri="{FF2B5EF4-FFF2-40B4-BE49-F238E27FC236}">
                <a16:creationId xmlns:a16="http://schemas.microsoft.com/office/drawing/2014/main" id="{13CA7C67-F9E1-420B-ABE0-16BDF8C512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7138" y="3387725"/>
          <a:ext cx="16732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200" imgH="228600" progId="Equation.DSMT4">
                  <p:embed/>
                </p:oleObj>
              </mc:Choice>
              <mc:Fallback>
                <p:oleObj name="Equation" r:id="rId8" imgW="8382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3387725"/>
                        <a:ext cx="167322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9">
            <a:extLst>
              <a:ext uri="{FF2B5EF4-FFF2-40B4-BE49-F238E27FC236}">
                <a16:creationId xmlns:a16="http://schemas.microsoft.com/office/drawing/2014/main" id="{E4E25326-783E-4856-A62B-ACECB28F3AAE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3789363"/>
            <a:ext cx="12144375" cy="1579562"/>
            <a:chOff x="48915" y="3789834"/>
            <a:chExt cx="12145244" cy="1579187"/>
          </a:xfrm>
        </p:grpSpPr>
        <p:sp>
          <p:nvSpPr>
            <p:cNvPr id="36877" name="Text Box 6">
              <a:extLst>
                <a:ext uri="{FF2B5EF4-FFF2-40B4-BE49-F238E27FC236}">
                  <a16:creationId xmlns:a16="http://schemas.microsoft.com/office/drawing/2014/main" id="{AEF42F47-E7D4-4F06-8464-71827BE6D1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4185471"/>
              <a:ext cx="12145244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解：                                                              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36878" name="Object 6">
              <a:extLst>
                <a:ext uri="{FF2B5EF4-FFF2-40B4-BE49-F238E27FC236}">
                  <a16:creationId xmlns:a16="http://schemas.microsoft.com/office/drawing/2014/main" id="{56699B4E-F55D-4E8E-AA90-BC85ACE0C8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995" y="3789834"/>
            <a:ext cx="5400600" cy="1579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124200" imgH="914400" progId="Equation.DSMT4">
                    <p:embed/>
                  </p:oleObj>
                </mc:Choice>
                <mc:Fallback>
                  <p:oleObj name="Equation" r:id="rId10" imgW="3124200" imgH="9144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995" y="3789834"/>
                          <a:ext cx="5400600" cy="1579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4" name="Object 7">
            <a:extLst>
              <a:ext uri="{FF2B5EF4-FFF2-40B4-BE49-F238E27FC236}">
                <a16:creationId xmlns:a16="http://schemas.microsoft.com/office/drawing/2014/main" id="{E1AED6EF-96FE-49D9-9260-4BFC8385D1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7375" y="4941888"/>
          <a:ext cx="6048375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733800" imgH="965200" progId="Equation.DSMT4">
                  <p:embed/>
                </p:oleObj>
              </mc:Choice>
              <mc:Fallback>
                <p:oleObj name="Equation" r:id="rId12" imgW="3733800" imgH="965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75" y="4941888"/>
                        <a:ext cx="6048375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7F91AFA0-87E8-4773-A95F-A8C2D59F3B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6863" y="5013325"/>
          <a:ext cx="2817812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01800" imgH="914400" progId="Equation.DSMT4">
                  <p:embed/>
                </p:oleObj>
              </mc:Choice>
              <mc:Fallback>
                <p:oleObj name="Equation" r:id="rId14" imgW="1701800" imgH="914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3" y="5013325"/>
                        <a:ext cx="2817812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81CF5AC9-5F49-48EF-AA47-5EB83351A6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3757613"/>
          <a:ext cx="5846762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29000" imgH="965200" progId="Equation.DSMT4">
                  <p:embed/>
                </p:oleObj>
              </mc:Choice>
              <mc:Fallback>
                <p:oleObj name="Equation" r:id="rId16" imgW="3429000" imgH="965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757613"/>
                        <a:ext cx="5846762" cy="164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E22305E-D929-411E-8BE5-6D9C43CF8008}"/>
              </a:ext>
            </a:extLst>
          </p:cNvPr>
          <p:cNvCxnSpPr/>
          <p:nvPr/>
        </p:nvCxnSpPr>
        <p:spPr>
          <a:xfrm flipH="1">
            <a:off x="2425700" y="4870450"/>
            <a:ext cx="4535488" cy="64770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>
            <a:extLst>
              <a:ext uri="{FF2B5EF4-FFF2-40B4-BE49-F238E27FC236}">
                <a16:creationId xmlns:a16="http://schemas.microsoft.com/office/drawing/2014/main" id="{85E7D4ED-328E-483C-8AC2-F7BE8ADF6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" y="261938"/>
            <a:ext cx="81851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线性空间的基变换与坐标变换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sp>
        <p:nvSpPr>
          <p:cNvPr id="37891" name="Text Box 2">
            <a:extLst>
              <a:ext uri="{FF2B5EF4-FFF2-40B4-BE49-F238E27FC236}">
                <a16:creationId xmlns:a16="http://schemas.microsoft.com/office/drawing/2014/main" id="{1FED5AD1-CB2F-4B3B-AD3C-F9067E763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1322388"/>
            <a:ext cx="12145963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设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维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的一组基，求由基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1/2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1/3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到基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的过渡矩阵？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13">
            <a:extLst>
              <a:ext uri="{FF2B5EF4-FFF2-40B4-BE49-F238E27FC236}">
                <a16:creationId xmlns:a16="http://schemas.microsoft.com/office/drawing/2014/main" id="{13F57A67-4405-44EB-88B2-44001A9DA31A}"/>
              </a:ext>
            </a:extLst>
          </p:cNvPr>
          <p:cNvGrpSpPr>
            <a:grpSpLocks/>
          </p:cNvGrpSpPr>
          <p:nvPr/>
        </p:nvGrpSpPr>
        <p:grpSpPr bwMode="auto">
          <a:xfrm>
            <a:off x="336550" y="2981325"/>
            <a:ext cx="11353800" cy="2105025"/>
            <a:chOff x="336947" y="2980903"/>
            <a:chExt cx="11353156" cy="2105348"/>
          </a:xfrm>
        </p:grpSpPr>
        <p:sp>
          <p:nvSpPr>
            <p:cNvPr id="37901" name="Text Box 2">
              <a:extLst>
                <a:ext uri="{FF2B5EF4-FFF2-40B4-BE49-F238E27FC236}">
                  <a16:creationId xmlns:a16="http://schemas.microsoft.com/office/drawing/2014/main" id="{29ED5470-6DB4-4B4D-BE0A-00BB8272C2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947" y="2980903"/>
              <a:ext cx="11353156" cy="684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514350" indent="-5143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解：由题意可知</a:t>
              </a:r>
              <a:endPara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37902" name="Object 2">
              <a:extLst>
                <a:ext uri="{FF2B5EF4-FFF2-40B4-BE49-F238E27FC236}">
                  <a16:creationId xmlns:a16="http://schemas.microsoft.com/office/drawing/2014/main" id="{0AA0509C-A08D-4569-AABA-C1AA21E87E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8132" y="3717826"/>
            <a:ext cx="5351463" cy="1368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81300" imgH="711200" progId="Equation.DSMT4">
                    <p:embed/>
                  </p:oleObj>
                </mc:Choice>
                <mc:Fallback>
                  <p:oleObj name="Equation" r:id="rId2" imgW="2781300" imgH="7112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8132" y="3717826"/>
                          <a:ext cx="5351463" cy="1368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55" name="Object 3">
            <a:extLst>
              <a:ext uri="{FF2B5EF4-FFF2-40B4-BE49-F238E27FC236}">
                <a16:creationId xmlns:a16="http://schemas.microsoft.com/office/drawing/2014/main" id="{387E758B-45A4-46FD-B3CD-6EF7C4E0BD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5229225"/>
          <a:ext cx="5840413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35300" imgH="711200" progId="Equation.DSMT4">
                  <p:embed/>
                </p:oleObj>
              </mc:Choice>
              <mc:Fallback>
                <p:oleObj name="Equation" r:id="rId4" imgW="30353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229225"/>
                        <a:ext cx="5840413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>
            <a:extLst>
              <a:ext uri="{FF2B5EF4-FFF2-40B4-BE49-F238E27FC236}">
                <a16:creationId xmlns:a16="http://schemas.microsoft.com/office/drawing/2014/main" id="{4BE90E5F-EB81-499C-BD09-A0F0E3F8D1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2050" y="4005263"/>
          <a:ext cx="383540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93900" imgH="393700" progId="Equation.DSMT4">
                  <p:embed/>
                </p:oleObj>
              </mc:Choice>
              <mc:Fallback>
                <p:oleObj name="Equation" r:id="rId6" imgW="19939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4005263"/>
                        <a:ext cx="3835400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>
            <a:extLst>
              <a:ext uri="{FF2B5EF4-FFF2-40B4-BE49-F238E27FC236}">
                <a16:creationId xmlns:a16="http://schemas.microsoft.com/office/drawing/2014/main" id="{461C1261-2F85-441D-B5B4-39C4465C99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45700" y="3646488"/>
          <a:ext cx="2149475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600" imgH="749300" progId="Equation.DSMT4">
                  <p:embed/>
                </p:oleObj>
              </mc:Choice>
              <mc:Fallback>
                <p:oleObj name="Equation" r:id="rId8" imgW="1117600" imgH="749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5700" y="3646488"/>
                        <a:ext cx="2149475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>
            <a:extLst>
              <a:ext uri="{FF2B5EF4-FFF2-40B4-BE49-F238E27FC236}">
                <a16:creationId xmlns:a16="http://schemas.microsoft.com/office/drawing/2014/main" id="{19A4CA40-8F75-483D-BB79-B0B579D49E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58400" y="3717925"/>
          <a:ext cx="1368425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0891" imgH="710891" progId="Equation.DSMT4">
                  <p:embed/>
                </p:oleObj>
              </mc:Choice>
              <mc:Fallback>
                <p:oleObj name="Equation" r:id="rId10" imgW="710891" imgH="71089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3717925"/>
                        <a:ext cx="1368425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F0EE696-A181-4B76-A4F2-15BC2011B267}"/>
              </a:ext>
            </a:extLst>
          </p:cNvPr>
          <p:cNvCxnSpPr/>
          <p:nvPr/>
        </p:nvCxnSpPr>
        <p:spPr>
          <a:xfrm flipH="1">
            <a:off x="4225925" y="4654550"/>
            <a:ext cx="2879725" cy="107950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532BBE3E-860B-4F62-BEC6-AA977F1639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5518150"/>
          <a:ext cx="20764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79032" imgH="393529" progId="Equation.DSMT4">
                  <p:embed/>
                </p:oleObj>
              </mc:Choice>
              <mc:Fallback>
                <p:oleObj name="Equation" r:id="rId12" imgW="1079032" imgH="393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5518150"/>
                        <a:ext cx="20764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8">
            <a:extLst>
              <a:ext uri="{FF2B5EF4-FFF2-40B4-BE49-F238E27FC236}">
                <a16:creationId xmlns:a16="http://schemas.microsoft.com/office/drawing/2014/main" id="{1404F7E6-65C4-4B7F-B37A-D14333FC63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9613" y="5157788"/>
          <a:ext cx="2662237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84300" imgH="711200" progId="Equation.DSMT4">
                  <p:embed/>
                </p:oleObj>
              </mc:Choice>
              <mc:Fallback>
                <p:oleObj name="Equation" r:id="rId14" imgW="13843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9613" y="5157788"/>
                        <a:ext cx="2662237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9">
            <a:extLst>
              <a:ext uri="{FF2B5EF4-FFF2-40B4-BE49-F238E27FC236}">
                <a16:creationId xmlns:a16="http://schemas.microsoft.com/office/drawing/2014/main" id="{4D39F6F1-6385-468E-BDA6-62A14B18D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9613" y="5159375"/>
          <a:ext cx="1368425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10891" imgH="710891" progId="Equation.DSMT4">
                  <p:embed/>
                </p:oleObj>
              </mc:Choice>
              <mc:Fallback>
                <p:oleObj name="Equation" r:id="rId16" imgW="710891" imgH="71089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9613" y="5159375"/>
                        <a:ext cx="1368425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>
            <a:extLst>
              <a:ext uri="{FF2B5EF4-FFF2-40B4-BE49-F238E27FC236}">
                <a16:creationId xmlns:a16="http://schemas.microsoft.com/office/drawing/2014/main" id="{FAB36FB1-0E51-4D94-95DB-299AE737A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" y="261938"/>
            <a:ext cx="81851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线性空间的基变换与坐标变换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sp>
        <p:nvSpPr>
          <p:cNvPr id="39939" name="Text Box 2">
            <a:extLst>
              <a:ext uri="{FF2B5EF4-FFF2-40B4-BE49-F238E27FC236}">
                <a16:creationId xmlns:a16="http://schemas.microsoft.com/office/drawing/2014/main" id="{F76F0A83-A914-41ED-B939-CE1F9E637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179513"/>
            <a:ext cx="11952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求线性空间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R[x]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中由基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: 1, x-1, (x-1)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到基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: 1,  x+1,  (x+1)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 2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的过渡矩阵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EA118E-6EB4-4005-8D82-658079324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2278063"/>
            <a:ext cx="38163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解：取基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   1,  x,  x</a:t>
            </a:r>
            <a:r>
              <a:rPr lang="en-US" altLang="zh-CN" sz="2800" baseline="30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endParaRPr lang="zh-CN" altLang="en-US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D9579074-77ED-41FB-B71A-21988893D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450" y="2997200"/>
          <a:ext cx="5318125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01900" imgH="711200" progId="Equation.DSMT4">
                  <p:embed/>
                </p:oleObj>
              </mc:Choice>
              <mc:Fallback>
                <p:oleObj name="Equation" r:id="rId2" imgW="2501900" imgH="71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2997200"/>
                        <a:ext cx="5318125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518F75F7-F803-4401-8745-E102117F8E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550" y="4725988"/>
          <a:ext cx="5472113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9500" imgH="711200" progId="Equation.DSMT4">
                  <p:embed/>
                </p:oleObj>
              </mc:Choice>
              <mc:Fallback>
                <p:oleObj name="Equation" r:id="rId4" imgW="23495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" y="4725988"/>
                        <a:ext cx="5472113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2376A83C-7E47-401D-9B47-B774D2C4E1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5175" y="2913063"/>
          <a:ext cx="5940425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4000" imgH="749300" progId="Equation.DSMT4">
                  <p:embed/>
                </p:oleObj>
              </mc:Choice>
              <mc:Fallback>
                <p:oleObj name="Equation" r:id="rId6" imgW="2794000" imgH="749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5175" y="2913063"/>
                        <a:ext cx="5940425" cy="159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AF618B8-BEBE-4841-8B79-D49B3DD7E40B}"/>
              </a:ext>
            </a:extLst>
          </p:cNvPr>
          <p:cNvCxnSpPr/>
          <p:nvPr/>
        </p:nvCxnSpPr>
        <p:spPr>
          <a:xfrm flipH="1">
            <a:off x="3505200" y="3933825"/>
            <a:ext cx="3168650" cy="1368425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2A33945C-CEFC-4393-8E73-71AE44025B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7225" y="5229225"/>
          <a:ext cx="24034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29810" imgH="253890" progId="Equation.DSMT4">
                  <p:embed/>
                </p:oleObj>
              </mc:Choice>
              <mc:Fallback>
                <p:oleObj name="Equation" r:id="rId8" imgW="1129810" imgH="25389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7225" y="5229225"/>
                        <a:ext cx="24034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AE17188-5F6A-4586-971C-3C587E691DC5}"/>
              </a:ext>
            </a:extLst>
          </p:cNvPr>
          <p:cNvCxnSpPr/>
          <p:nvPr/>
        </p:nvCxnSpPr>
        <p:spPr>
          <a:xfrm>
            <a:off x="8242300" y="6267450"/>
            <a:ext cx="122555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510" name="Object 6">
            <a:extLst>
              <a:ext uri="{FF2B5EF4-FFF2-40B4-BE49-F238E27FC236}">
                <a16:creationId xmlns:a16="http://schemas.microsoft.com/office/drawing/2014/main" id="{8B6951A8-5DD8-4628-8B16-C0D6376087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3713" y="4654550"/>
          <a:ext cx="3563937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6400" imgH="749300" progId="Equation.DSMT4">
                  <p:embed/>
                </p:oleObj>
              </mc:Choice>
              <mc:Fallback>
                <p:oleObj name="Equation" r:id="rId10" imgW="1676400" imgH="749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3713" y="4654550"/>
                        <a:ext cx="3563937" cy="159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>
            <a:extLst>
              <a:ext uri="{FF2B5EF4-FFF2-40B4-BE49-F238E27FC236}">
                <a16:creationId xmlns:a16="http://schemas.microsoft.com/office/drawing/2014/main" id="{9EB10B90-3F1B-4AE1-B1F5-8D0CEB2697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5" y="4752975"/>
          <a:ext cx="15113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0891" imgH="710891" progId="Equation.DSMT4">
                  <p:embed/>
                </p:oleObj>
              </mc:Choice>
              <mc:Fallback>
                <p:oleObj name="Equation" r:id="rId12" imgW="710891" imgH="71089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5" y="4752975"/>
                        <a:ext cx="151130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id="{07D04B23-CD9F-4D2C-8A84-65E5BE897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4100"/>
            <a:ext cx="12195175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我们知道，数域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上任意一个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维线性空间都与</a:t>
            </a:r>
            <a:r>
              <a:rPr lang="en-US" altLang="zh-CN" sz="2800" dirty="0" err="1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800" baseline="30000" dirty="0" err="1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同构，因此，有限维线性空间的结构可以认为完全清楚了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需要进一步研究的是，线性空间之间各种各样的联系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在线性空间中，事物之间的联系就反映为线性空间的映射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线性空间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到自身的映射通常称为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的一个变换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线性变换是其中最简单的，同时也可以认为是最基本的一种变换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 </a:t>
            </a:r>
            <a:r>
              <a:rPr lang="zh-CN" altLang="en-US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线性变换是线性代数的一个主要研究对象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zh-CN" altLang="en-US" sz="28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987" name="Rectangle 5">
            <a:extLst>
              <a:ext uri="{FF2B5EF4-FFF2-40B4-BE49-F238E27FC236}">
                <a16:creationId xmlns:a16="http://schemas.microsoft.com/office/drawing/2014/main" id="{405BC2F9-B951-42E2-90F4-8093F20DA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线性变换的定义及性质</a:t>
            </a:r>
          </a:p>
        </p:txBody>
      </p:sp>
      <p:grpSp>
        <p:nvGrpSpPr>
          <p:cNvPr id="2" name="组合 9">
            <a:extLst>
              <a:ext uri="{FF2B5EF4-FFF2-40B4-BE49-F238E27FC236}">
                <a16:creationId xmlns:a16="http://schemas.microsoft.com/office/drawing/2014/main" id="{41E7CAE3-B7FD-4D93-966A-8E01E1C6384E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4433888"/>
            <a:ext cx="12145962" cy="2028282"/>
            <a:chOff x="49931" y="4433492"/>
            <a:chExt cx="12145244" cy="2028355"/>
          </a:xfrm>
        </p:grpSpPr>
        <p:sp>
          <p:nvSpPr>
            <p:cNvPr id="41989" name="Text Box 5">
              <a:extLst>
                <a:ext uri="{FF2B5EF4-FFF2-40B4-BE49-F238E27FC236}">
                  <a16:creationId xmlns:a16="http://schemas.microsoft.com/office/drawing/2014/main" id="{EF8F3739-68AB-4FDA-B995-DAE491852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" y="4433492"/>
              <a:ext cx="12122151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定义    设</a:t>
              </a: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是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R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上线性空间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V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到自身的一个变换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,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且满足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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V,  kR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都有</a:t>
              </a:r>
              <a:endParaRPr lang="zh-CN" altLang="en-US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1990" name="Text Box 6">
              <a:extLst>
                <a:ext uri="{FF2B5EF4-FFF2-40B4-BE49-F238E27FC236}">
                  <a16:creationId xmlns:a16="http://schemas.microsoft.com/office/drawing/2014/main" id="{B030C92D-0007-43EF-B55E-9634B2B75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31" y="5841655"/>
              <a:ext cx="9144000" cy="620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则称 </a:t>
              </a:r>
              <a:r>
                <a:rPr lang="en-US" altLang="zh-CN" sz="2800" dirty="0">
                  <a:solidFill>
                    <a:srgbClr val="C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r>
                <a:rPr lang="zh-CN" altLang="en-US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为</a:t>
              </a:r>
              <a:r>
                <a:rPr lang="en-US" altLang="zh-CN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V</a:t>
              </a:r>
              <a:r>
                <a:rPr lang="zh-CN" altLang="en-US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的一个线性变换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.</a:t>
              </a:r>
            </a:p>
          </p:txBody>
        </p:sp>
        <p:grpSp>
          <p:nvGrpSpPr>
            <p:cNvPr id="41991" name="组合 18">
              <a:extLst>
                <a:ext uri="{FF2B5EF4-FFF2-40B4-BE49-F238E27FC236}">
                  <a16:creationId xmlns:a16="http://schemas.microsoft.com/office/drawing/2014/main" id="{CB7C7C1C-D660-4CE8-B986-50BD7659EA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7107" y="5149158"/>
              <a:ext cx="7321723" cy="656900"/>
              <a:chOff x="1777107" y="4793532"/>
              <a:chExt cx="7321723" cy="656900"/>
            </a:xfrm>
          </p:grpSpPr>
          <p:sp>
            <p:nvSpPr>
              <p:cNvPr id="41992" name="Text Box 7">
                <a:extLst>
                  <a:ext uri="{FF2B5EF4-FFF2-40B4-BE49-F238E27FC236}">
                    <a16:creationId xmlns:a16="http://schemas.microsoft.com/office/drawing/2014/main" id="{F135A097-095C-4FBF-9EAA-1E6FF873FB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7107" y="4797946"/>
                <a:ext cx="4104456" cy="652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en-US" altLang="zh-CN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800"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A </a:t>
                </a:r>
                <a:r>
                  <a:rPr lang="en-US" altLang="zh-CN" sz="28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</a:t>
                </a:r>
                <a:r>
                  <a:rPr lang="en-US" altLang="zh-CN" sz="28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+)=</a:t>
                </a:r>
                <a:r>
                  <a:rPr lang="en-US" altLang="zh-CN" sz="2800"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 A  </a:t>
                </a:r>
                <a:r>
                  <a:rPr lang="en-US" altLang="zh-CN" sz="28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</a:t>
                </a:r>
                <a:r>
                  <a:rPr lang="en-US" altLang="zh-CN" sz="28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)+</a:t>
                </a:r>
                <a:r>
                  <a:rPr lang="en-US" altLang="zh-CN" sz="2800"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 A  </a:t>
                </a:r>
                <a:r>
                  <a:rPr lang="en-US" altLang="zh-CN" sz="28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</a:t>
                </a:r>
                <a:r>
                  <a:rPr lang="en-US" altLang="zh-CN" sz="28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)</a:t>
                </a:r>
                <a:r>
                  <a:rPr lang="zh-CN" altLang="en-US" sz="280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，</a:t>
                </a:r>
                <a:endParaRPr lang="en-US" altLang="zh-CN" sz="28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41993" name="Text Box 8">
                <a:extLst>
                  <a:ext uri="{FF2B5EF4-FFF2-40B4-BE49-F238E27FC236}">
                    <a16:creationId xmlns:a16="http://schemas.microsoft.com/office/drawing/2014/main" id="{629C1FE9-6E06-4B9A-8BC2-116B6BB721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1603" y="4793532"/>
                <a:ext cx="2857227" cy="652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en-US" altLang="zh-CN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800">
                    <a:solidFill>
                      <a:srgbClr val="000000"/>
                    </a:solidFill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A 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(k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)=k</a:t>
                </a:r>
                <a:r>
                  <a:rPr lang="en-US" altLang="zh-CN" sz="2800"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 A 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</a:t>
                </a:r>
                <a:r>
                  <a:rPr lang="en-US" altLang="zh-CN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)</a:t>
                </a:r>
                <a:r>
                  <a:rPr lang="zh-CN" altLang="en-US" sz="2800">
                    <a:latin typeface="华文新魏" panose="02010800040101010101" pitchFamily="2" charset="-122"/>
                    <a:ea typeface="华文新魏" panose="02010800040101010101" pitchFamily="2" charset="-122"/>
                    <a:sym typeface="Symbol" panose="05050102010706020507" pitchFamily="18" charset="2"/>
                  </a:rPr>
                  <a:t>，</a:t>
                </a:r>
                <a:endPara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>
            <a:extLst>
              <a:ext uri="{FF2B5EF4-FFF2-40B4-BE49-F238E27FC236}">
                <a16:creationId xmlns:a16="http://schemas.microsoft.com/office/drawing/2014/main" id="{7A016D31-93D9-414E-A537-5BA38A376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线性变换的定义及性质</a:t>
            </a:r>
          </a:p>
        </p:txBody>
      </p:sp>
      <p:grpSp>
        <p:nvGrpSpPr>
          <p:cNvPr id="2" name="组合 12">
            <a:extLst>
              <a:ext uri="{FF2B5EF4-FFF2-40B4-BE49-F238E27FC236}">
                <a16:creationId xmlns:a16="http://schemas.microsoft.com/office/drawing/2014/main" id="{B1DC47B1-73AE-400A-8165-6ABD2FC9C9E0}"/>
              </a:ext>
            </a:extLst>
          </p:cNvPr>
          <p:cNvGrpSpPr>
            <a:grpSpLocks/>
          </p:cNvGrpSpPr>
          <p:nvPr/>
        </p:nvGrpSpPr>
        <p:grpSpPr bwMode="auto">
          <a:xfrm>
            <a:off x="73025" y="1739900"/>
            <a:ext cx="12122150" cy="681038"/>
            <a:chOff x="73024" y="1413570"/>
            <a:chExt cx="12122151" cy="681982"/>
          </a:xfrm>
        </p:grpSpPr>
        <p:sp>
          <p:nvSpPr>
            <p:cNvPr id="43021" name="Text Box 5">
              <a:extLst>
                <a:ext uri="{FF2B5EF4-FFF2-40B4-BE49-F238E27FC236}">
                  <a16:creationId xmlns:a16="http://schemas.microsoft.com/office/drawing/2014/main" id="{EA068DC9-F40E-4FCB-8A1A-0E3DCD325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" y="1441472"/>
              <a:ext cx="12122151" cy="621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例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线性空间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V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中的</a:t>
              </a:r>
              <a:r>
                <a:rPr lang="zh-CN" altLang="en-US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恒等变换</a:t>
              </a:r>
              <a:r>
                <a:rPr lang="en-US" altLang="zh-CN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</a:t>
              </a:r>
              <a:r>
                <a:rPr lang="zh-CN" altLang="en-US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单位变换</a:t>
              </a:r>
              <a:r>
                <a:rPr lang="en-US" altLang="zh-CN" sz="2800" dirty="0">
                  <a:solidFill>
                    <a:srgbClr val="C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E </a:t>
              </a:r>
              <a:r>
                <a:rPr lang="en-US" altLang="zh-CN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)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,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即</a:t>
              </a:r>
              <a:endParaRPr lang="zh-CN" altLang="en-US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22" name="Text Box 5">
              <a:extLst>
                <a:ext uri="{FF2B5EF4-FFF2-40B4-BE49-F238E27FC236}">
                  <a16:creationId xmlns:a16="http://schemas.microsoft.com/office/drawing/2014/main" id="{7D6301E4-1FB7-47BF-8503-F31F1CFE9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3691" y="1443066"/>
              <a:ext cx="3356612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</a:rPr>
                <a:t>E </a:t>
              </a:r>
              <a:r>
                <a:rPr lang="en-US" altLang="zh-CN" sz="2800">
                  <a:ea typeface="华文新魏" panose="0201080004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</a:t>
              </a:r>
              <a:r>
                <a:rPr lang="en-US" altLang="zh-CN" sz="2800">
                  <a:ea typeface="华文新魏" panose="02010800040101010101" pitchFamily="2" charset="-122"/>
                </a:rPr>
                <a:t>)=</a:t>
              </a:r>
              <a:r>
                <a:rPr lang="en-US" altLang="zh-CN" sz="28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 ,  ( ∈V)</a:t>
              </a:r>
              <a:endParaRPr lang="zh-CN" altLang="en-US" sz="2800" baseline="-25000"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23" name="Text Box 5">
              <a:extLst>
                <a:ext uri="{FF2B5EF4-FFF2-40B4-BE49-F238E27FC236}">
                  <a16:creationId xmlns:a16="http://schemas.microsoft.com/office/drawing/2014/main" id="{2D493DF6-E924-4F40-8982-F5A93CCAF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9995" y="1413570"/>
              <a:ext cx="2088232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是线性变换</a:t>
              </a: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.</a:t>
              </a:r>
              <a:endParaRPr lang="zh-CN" altLang="en-US" sz="2800" baseline="-25000"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6" name="Text Box 5">
            <a:extLst>
              <a:ext uri="{FF2B5EF4-FFF2-40B4-BE49-F238E27FC236}">
                <a16:creationId xmlns:a16="http://schemas.microsoft.com/office/drawing/2014/main" id="{D63D6936-452F-4862-AB81-102D8966D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3070225"/>
            <a:ext cx="12122150" cy="616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2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线性空间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中的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零变换</a:t>
            </a:r>
            <a:r>
              <a:rPr lang="en-US" altLang="zh-CN" sz="2800" dirty="0">
                <a:solidFill>
                  <a:srgbClr val="C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0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，即</a:t>
            </a:r>
            <a:r>
              <a:rPr lang="en-US" altLang="zh-CN" sz="2800" dirty="0">
                <a:latin typeface="CommercialScript BT" panose="03030803040807090C04" pitchFamily="66" charset="0"/>
                <a:ea typeface="华文新魏" panose="02010800040101010101" pitchFamily="2" charset="-122"/>
              </a:rPr>
              <a:t>0 </a:t>
            </a:r>
            <a:r>
              <a:rPr lang="en-US" altLang="zh-CN" sz="2800" dirty="0">
                <a:ea typeface="华文新魏" panose="020108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dirty="0">
                <a:ea typeface="华文新魏" panose="02010800040101010101" pitchFamily="2" charset="-122"/>
              </a:rPr>
              <a:t>)=</a:t>
            </a:r>
            <a:r>
              <a:rPr lang="en-US" altLang="zh-CN" sz="28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0,    ( ∈V) </a:t>
            </a:r>
            <a:r>
              <a:rPr lang="zh-CN" altLang="en-US" sz="2800" dirty="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是线性变换</a:t>
            </a:r>
            <a:r>
              <a:rPr lang="en-US" altLang="zh-CN" sz="2800" dirty="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zh-CN" altLang="en-US" sz="2800" baseline="-25000" dirty="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" name="组合 13">
            <a:extLst>
              <a:ext uri="{FF2B5EF4-FFF2-40B4-BE49-F238E27FC236}">
                <a16:creationId xmlns:a16="http://schemas.microsoft.com/office/drawing/2014/main" id="{2F7AC0AA-C1A4-4941-8C46-C0F46FE4C2A5}"/>
              </a:ext>
            </a:extLst>
          </p:cNvPr>
          <p:cNvGrpSpPr>
            <a:grpSpLocks/>
          </p:cNvGrpSpPr>
          <p:nvPr/>
        </p:nvGrpSpPr>
        <p:grpSpPr bwMode="auto">
          <a:xfrm>
            <a:off x="49213" y="4465638"/>
            <a:ext cx="12122150" cy="1628775"/>
            <a:chOff x="48915" y="4465808"/>
            <a:chExt cx="12122151" cy="1704704"/>
          </a:xfrm>
        </p:grpSpPr>
        <p:sp>
          <p:nvSpPr>
            <p:cNvPr id="43018" name="Text Box 5">
              <a:extLst>
                <a:ext uri="{FF2B5EF4-FFF2-40B4-BE49-F238E27FC236}">
                  <a16:creationId xmlns:a16="http://schemas.microsoft.com/office/drawing/2014/main" id="{9FED8593-BAE6-4D34-9349-4E8579D45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5" y="4465808"/>
              <a:ext cx="12122151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例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3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设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V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是数域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上的线性空间，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k</a:t>
              </a:r>
              <a:r>
                <a:rPr lang="en-US" altLang="zh-CN" sz="28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sz="28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是数域</a:t>
              </a:r>
              <a:r>
                <a:rPr lang="en-US" altLang="zh-CN" sz="28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F</a:t>
              </a:r>
              <a:r>
                <a:rPr lang="zh-CN" altLang="en-US" sz="28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中的某个数，定义变换如下：</a:t>
              </a:r>
              <a:endParaRPr lang="zh-CN" altLang="en-US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19" name="Text Box 5">
              <a:extLst>
                <a:ext uri="{FF2B5EF4-FFF2-40B4-BE49-F238E27FC236}">
                  <a16:creationId xmlns:a16="http://schemas.microsoft.com/office/drawing/2014/main" id="{8B5F4F3B-04E7-420B-A35E-35BEED4385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8623" y="5041872"/>
              <a:ext cx="4104456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</a:rPr>
                <a:t>K </a:t>
              </a:r>
              <a:r>
                <a:rPr lang="en-US" altLang="zh-CN" sz="2800">
                  <a:ea typeface="华文新魏" panose="0201080004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</a:t>
              </a:r>
              <a:r>
                <a:rPr lang="en-US" altLang="zh-CN" sz="2800">
                  <a:ea typeface="华文新魏" panose="02010800040101010101" pitchFamily="2" charset="-122"/>
                </a:rPr>
                <a:t>)=</a:t>
              </a:r>
              <a:r>
                <a:rPr lang="en-US" altLang="zh-CN" sz="280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 k,    ( ∈V)</a:t>
              </a:r>
              <a:endParaRPr lang="zh-CN" altLang="en-US" sz="2800" baseline="-25000"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20" name="Text Box 5">
              <a:extLst>
                <a:ext uri="{FF2B5EF4-FFF2-40B4-BE49-F238E27FC236}">
                  <a16:creationId xmlns:a16="http://schemas.microsoft.com/office/drawing/2014/main" id="{1E2081F3-8B61-4E4D-9EAD-0D6207D7C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69" y="5518026"/>
              <a:ext cx="9126613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dirty="0"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于是</a:t>
              </a:r>
              <a:r>
                <a:rPr lang="en-US" altLang="zh-CN" sz="2800" dirty="0"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K</a:t>
              </a:r>
              <a:r>
                <a:rPr lang="zh-CN" altLang="en-US" sz="2800" dirty="0"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是一个线性变换，称为</a:t>
              </a:r>
              <a:r>
                <a:rPr lang="zh-CN" altLang="en-US" sz="2800" dirty="0">
                  <a:solidFill>
                    <a:srgbClr val="C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由数</a:t>
              </a:r>
              <a:r>
                <a:rPr lang="en-US" altLang="zh-CN" sz="2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k</a:t>
              </a:r>
              <a:r>
                <a:rPr lang="zh-CN" altLang="en-US" sz="2800" dirty="0">
                  <a:solidFill>
                    <a:srgbClr val="C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决定的数乘变换</a:t>
              </a:r>
              <a:r>
                <a:rPr lang="en-US" altLang="zh-CN" sz="2800" dirty="0"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.</a:t>
              </a:r>
              <a:endParaRPr lang="zh-CN" altLang="en-US" sz="2800" baseline="-25000" dirty="0"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43014" name="Text Box 5">
            <a:extLst>
              <a:ext uri="{FF2B5EF4-FFF2-40B4-BE49-F238E27FC236}">
                <a16:creationId xmlns:a16="http://schemas.microsoft.com/office/drawing/2014/main" id="{A8190448-17C3-423E-BD4B-5154D0366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1165225"/>
            <a:ext cx="5300662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几个例子：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1E3CBA03-2518-42AE-969C-27B27256E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2344738"/>
            <a:ext cx="95773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E </a:t>
            </a:r>
            <a:r>
              <a:rPr lang="en-US" altLang="zh-CN" sz="2800">
                <a:ea typeface="华文新魏" panose="020108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β</a:t>
            </a:r>
            <a:r>
              <a:rPr lang="en-US" altLang="zh-CN" sz="2800">
                <a:ea typeface="华文新魏" panose="02010800040101010101" pitchFamily="2" charset="-122"/>
              </a:rPr>
              <a:t>)=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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E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ea typeface="华文新魏" panose="02010800040101010101" pitchFamily="2" charset="-122"/>
              </a:rPr>
              <a:t>) 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E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β</a:t>
            </a:r>
            <a:r>
              <a:rPr lang="en-US" altLang="zh-CN" sz="2800">
                <a:ea typeface="华文新魏" panose="02010800040101010101" pitchFamily="2" charset="-122"/>
              </a:rPr>
              <a:t>)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      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E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k</a:t>
            </a:r>
            <a:r>
              <a:rPr lang="en-US" altLang="zh-CN" sz="2800">
                <a:ea typeface="华文新魏" panose="02010800040101010101" pitchFamily="2" charset="-122"/>
              </a:rPr>
              <a:t>)=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k=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E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ea typeface="华文新魏" panose="02010800040101010101" pitchFamily="2" charset="-122"/>
              </a:rPr>
              <a:t>)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</a:t>
            </a:r>
            <a:endParaRPr lang="zh-CN" altLang="en-US" sz="2800" baseline="-25000"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14048D3C-E13C-458F-BDB3-43EDE175E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3641725"/>
            <a:ext cx="9577387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0 </a:t>
            </a:r>
            <a:r>
              <a:rPr lang="en-US" altLang="zh-CN" sz="2800">
                <a:ea typeface="华文新魏" panose="020108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β</a:t>
            </a:r>
            <a:r>
              <a:rPr lang="en-US" altLang="zh-CN" sz="2800">
                <a:ea typeface="华文新魏" panose="02010800040101010101" pitchFamily="2" charset="-122"/>
              </a:rPr>
              <a:t>)=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0=0 + 0=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0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ea typeface="华文新魏" panose="02010800040101010101" pitchFamily="2" charset="-122"/>
              </a:rPr>
              <a:t>) 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0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β</a:t>
            </a:r>
            <a:r>
              <a:rPr lang="en-US" altLang="zh-CN" sz="2800">
                <a:ea typeface="华文新魏" panose="02010800040101010101" pitchFamily="2" charset="-122"/>
              </a:rPr>
              <a:t>)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  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0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k</a:t>
            </a:r>
            <a:r>
              <a:rPr lang="en-US" altLang="zh-CN" sz="2800">
                <a:ea typeface="华文新魏" panose="02010800040101010101" pitchFamily="2" charset="-122"/>
              </a:rPr>
              <a:t>)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=0=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0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ea typeface="华文新魏" panose="02010800040101010101" pitchFamily="2" charset="-122"/>
              </a:rPr>
              <a:t>)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</a:t>
            </a:r>
            <a:endParaRPr lang="zh-CN" altLang="en-US" sz="2800" baseline="-25000"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B17EDB19-6A0D-41F2-B10F-B2B61EDF2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738" y="6021388"/>
            <a:ext cx="1015206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K </a:t>
            </a:r>
            <a:r>
              <a:rPr lang="en-US" altLang="zh-CN" sz="2800">
                <a:ea typeface="华文新魏" panose="020108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β</a:t>
            </a:r>
            <a:r>
              <a:rPr lang="en-US" altLang="zh-CN" sz="2800">
                <a:ea typeface="华文新魏" panose="02010800040101010101" pitchFamily="2" charset="-122"/>
              </a:rPr>
              <a:t>)=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k(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β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K 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ea typeface="华文新魏" panose="02010800040101010101" pitchFamily="2" charset="-122"/>
              </a:rPr>
              <a:t>) 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K 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l-GR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β</a:t>
            </a:r>
            <a:r>
              <a:rPr lang="en-US" altLang="zh-CN" sz="2800">
                <a:ea typeface="华文新魏" panose="02010800040101010101" pitchFamily="2" charset="-122"/>
              </a:rPr>
              <a:t>)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  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K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l</a:t>
            </a:r>
            <a:r>
              <a:rPr lang="en-US" altLang="zh-CN" sz="2800">
                <a:ea typeface="华文新魏" panose="02010800040101010101" pitchFamily="2" charset="-122"/>
              </a:rPr>
              <a:t>)=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k(l)=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K  </a:t>
            </a:r>
            <a:r>
              <a:rPr lang="en-US" altLang="zh-CN" sz="2800">
                <a:ea typeface="华文新魏" panose="0201080004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ea typeface="华文新魏" panose="02010800040101010101" pitchFamily="2" charset="-122"/>
              </a:rPr>
              <a:t>)</a:t>
            </a:r>
            <a:r>
              <a:rPr lang="en-US" altLang="zh-CN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</a:t>
            </a:r>
            <a:endParaRPr lang="zh-CN" altLang="en-US" sz="2800" baseline="-25000"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3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>
            <a:extLst>
              <a:ext uri="{FF2B5EF4-FFF2-40B4-BE49-F238E27FC236}">
                <a16:creationId xmlns:a16="http://schemas.microsoft.com/office/drawing/2014/main" id="{B6D70F96-A8DC-464B-A77A-15F6275F9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线性变换的定义及性质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922262FF-FE45-40B2-AF81-794E2DC2E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2420938"/>
            <a:ext cx="9648825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因为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D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(f(x)+g(x))=f </a:t>
            </a:r>
            <a:r>
              <a:rPr lang="en-US" altLang="zh-CN" baseline="700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/</a:t>
            </a:r>
            <a:r>
              <a:rPr lang="en-US" altLang="zh-CN" sz="2800" spc="-12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(x)+g </a:t>
            </a:r>
            <a:r>
              <a:rPr lang="en-US" altLang="zh-CN" baseline="700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  <a:sym typeface="Symbol" pitchFamily="18" charset="2"/>
              </a:rPr>
              <a:t>/ </a:t>
            </a:r>
            <a:r>
              <a:rPr lang="en-US" altLang="zh-CN" sz="2800" spc="-12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 x)=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D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(f(x))+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D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 g(x)), 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9D993F2-DFA0-42B0-B96E-F05C116FD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5229225"/>
            <a:ext cx="12122150" cy="65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因为  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G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(f(x)+g(x))=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G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(f(x))+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G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 g(x)),         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G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</a:t>
            </a:r>
            <a:r>
              <a:rPr lang="en-US" altLang="zh-CN" sz="2800" dirty="0" err="1">
                <a:latin typeface="华文新魏" pitchFamily="2" charset="-122"/>
                <a:ea typeface="华文新魏" pitchFamily="2" charset="-122"/>
                <a:sym typeface="Symbol" pitchFamily="18" charset="2"/>
              </a:rPr>
              <a:t>kf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(x))= k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 G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(f(x))</a:t>
            </a:r>
            <a:r>
              <a:rPr lang="en-US" altLang="zh-CN" sz="2800" spc="-12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.</a:t>
            </a:r>
            <a:endParaRPr lang="zh-CN" altLang="en-US" sz="2800" spc="-120" dirty="0">
              <a:latin typeface="华文新魏" pitchFamily="2" charset="-122"/>
              <a:ea typeface="华文新魏" pitchFamily="2" charset="-122"/>
              <a:sym typeface="Symbol" pitchFamily="18" charset="2"/>
            </a:endParaRPr>
          </a:p>
        </p:txBody>
      </p:sp>
      <p:grpSp>
        <p:nvGrpSpPr>
          <p:cNvPr id="2" name="组合 8">
            <a:extLst>
              <a:ext uri="{FF2B5EF4-FFF2-40B4-BE49-F238E27FC236}">
                <a16:creationId xmlns:a16="http://schemas.microsoft.com/office/drawing/2014/main" id="{8663DDE2-AE90-4155-9F83-DC39930D8BCF}"/>
              </a:ext>
            </a:extLst>
          </p:cNvPr>
          <p:cNvGrpSpPr>
            <a:grpSpLocks/>
          </p:cNvGrpSpPr>
          <p:nvPr/>
        </p:nvGrpSpPr>
        <p:grpSpPr bwMode="auto">
          <a:xfrm>
            <a:off x="63500" y="3829050"/>
            <a:ext cx="12122150" cy="1257300"/>
            <a:chOff x="63663" y="3829233"/>
            <a:chExt cx="12122151" cy="1256745"/>
          </a:xfrm>
        </p:grpSpPr>
        <p:sp>
          <p:nvSpPr>
            <p:cNvPr id="44040" name="Text Box 5">
              <a:extLst>
                <a:ext uri="{FF2B5EF4-FFF2-40B4-BE49-F238E27FC236}">
                  <a16:creationId xmlns:a16="http://schemas.microsoft.com/office/drawing/2014/main" id="{9E986881-8A2B-48C1-9DDB-BCCFE27F69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63" y="3829233"/>
              <a:ext cx="12122151" cy="1212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例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5  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定义在闭区间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[a, b]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上的全体连续函数组成实数域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R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上一个线性空间，记为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C[a, b].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在这个空间中，变换  </a:t>
              </a: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</a:rPr>
                <a:t>G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                 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是一个线性变换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. </a:t>
              </a:r>
            </a:p>
          </p:txBody>
        </p:sp>
        <p:graphicFrame>
          <p:nvGraphicFramePr>
            <p:cNvPr id="44041" name="Object 2">
              <a:extLst>
                <a:ext uri="{FF2B5EF4-FFF2-40B4-BE49-F238E27FC236}">
                  <a16:creationId xmlns:a16="http://schemas.microsoft.com/office/drawing/2014/main" id="{C5E08BA0-1E55-4BC9-B228-FE87FD9B87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97171" y="4380646"/>
            <a:ext cx="2267138" cy="705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3000" imgH="355600" progId="Equation.DSMT4">
                    <p:embed/>
                  </p:oleObj>
                </mc:Choice>
                <mc:Fallback>
                  <p:oleObj name="Equation" r:id="rId2" imgW="1143000" imgH="3556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7171" y="4380646"/>
                          <a:ext cx="2267138" cy="705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5">
            <a:extLst>
              <a:ext uri="{FF2B5EF4-FFF2-40B4-BE49-F238E27FC236}">
                <a16:creationId xmlns:a16="http://schemas.microsoft.com/office/drawing/2014/main" id="{3326CF1B-7025-4B9D-A5D8-1DD4EAD5B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2994025"/>
            <a:ext cx="5808662" cy="65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D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</a:t>
            </a:r>
            <a:r>
              <a:rPr lang="en-US" altLang="zh-CN" sz="2800" dirty="0" err="1">
                <a:latin typeface="华文新魏" pitchFamily="2" charset="-122"/>
                <a:ea typeface="华文新魏" pitchFamily="2" charset="-122"/>
                <a:sym typeface="Symbol" pitchFamily="18" charset="2"/>
              </a:rPr>
              <a:t>kf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(x))=k</a:t>
            </a:r>
            <a:r>
              <a:rPr lang="en-US" altLang="zh-CN" sz="28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  <a:sym typeface="Symbol" pitchFamily="18" charset="2"/>
              </a:rPr>
              <a:t> f </a:t>
            </a:r>
            <a:r>
              <a:rPr lang="en-US" altLang="zh-CN" baseline="700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  <a:sym typeface="Symbol" pitchFamily="18" charset="2"/>
              </a:rPr>
              <a:t>/</a:t>
            </a:r>
            <a:r>
              <a:rPr lang="en-US" altLang="zh-CN" sz="2800" spc="-12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  <a:sym typeface="Symbol" pitchFamily="18" charset="2"/>
              </a:rPr>
              <a:t>(x)=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dirty="0" err="1">
                <a:latin typeface="华文新魏" pitchFamily="2" charset="-122"/>
                <a:ea typeface="华文新魏" pitchFamily="2" charset="-122"/>
                <a:sym typeface="Symbol" pitchFamily="18" charset="2"/>
              </a:rPr>
              <a:t>k</a:t>
            </a:r>
            <a:r>
              <a:rPr lang="en-US" altLang="zh-CN" sz="2800" dirty="0" err="1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D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(f(x))</a:t>
            </a:r>
            <a:r>
              <a:rPr lang="en-US" altLang="zh-CN" sz="2800" spc="-12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.</a:t>
            </a:r>
            <a:endParaRPr lang="zh-CN" altLang="en-US" sz="2800" spc="-120" dirty="0">
              <a:latin typeface="华文新魏" pitchFamily="2" charset="-122"/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9C49039F-4A0F-484A-8E9E-F6B60A63F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1120775"/>
            <a:ext cx="12122150" cy="129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4    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在线性空间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R[x]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或者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R[x]</a:t>
            </a:r>
            <a:r>
              <a:rPr lang="en-US" altLang="zh-CN" sz="2800" baseline="-25000" dirty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中，求微商是一个线性变换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.  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这个变换通常用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D 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代表，即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D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(f(x))=f </a:t>
            </a:r>
            <a:r>
              <a:rPr lang="en-US" altLang="zh-CN" baseline="700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/</a:t>
            </a:r>
            <a:r>
              <a:rPr lang="en-US" altLang="zh-CN" sz="2800" spc="-12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(x).</a:t>
            </a:r>
            <a:endParaRPr lang="zh-CN" altLang="en-US" sz="2800" spc="-120" dirty="0">
              <a:latin typeface="华文新魏" pitchFamily="2" charset="-122"/>
              <a:ea typeface="华文新魏" pitchFamily="2" charset="-122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>
            <a:extLst>
              <a:ext uri="{FF2B5EF4-FFF2-40B4-BE49-F238E27FC236}">
                <a16:creationId xmlns:a16="http://schemas.microsoft.com/office/drawing/2014/main" id="{C73E8028-8567-4521-9EF2-CAB530029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线性变换的定义及性质</a:t>
            </a:r>
          </a:p>
        </p:txBody>
      </p:sp>
      <p:sp>
        <p:nvSpPr>
          <p:cNvPr id="45059" name="Text Box 5">
            <a:extLst>
              <a:ext uri="{FF2B5EF4-FFF2-40B4-BE49-F238E27FC236}">
                <a16:creationId xmlns:a16="http://schemas.microsoft.com/office/drawing/2014/main" id="{0408E560-7CE3-474A-BE4A-9327760E5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1589088"/>
            <a:ext cx="121221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6  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nn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T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A)=A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T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n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的一个线性变换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7F5585F-600D-4DCE-890C-8366AB99B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2489200"/>
            <a:ext cx="8785225" cy="65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因为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T 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A+B)=(A+B)</a:t>
            </a:r>
            <a:r>
              <a:rPr lang="en-US" altLang="zh-CN" sz="2800" baseline="300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 T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=A</a:t>
            </a:r>
            <a:r>
              <a:rPr lang="en-US" altLang="zh-CN" sz="2800" baseline="300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T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+B</a:t>
            </a:r>
            <a:r>
              <a:rPr lang="en-US" altLang="zh-CN" sz="2800" baseline="300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T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=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T 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A)+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T 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(B),    </a:t>
            </a:r>
            <a:endParaRPr lang="zh-CN" altLang="en-US" sz="2800" spc="-120" dirty="0">
              <a:latin typeface="华文新魏" pitchFamily="2" charset="-122"/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CA76132F-2815-4BAA-848D-06887CA90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3821113"/>
            <a:ext cx="121221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7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取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nn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R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T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)=A,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T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的一个线性变换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EA4DA2D5-DDB5-4945-B214-87E5EE19C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4649788"/>
            <a:ext cx="9288462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 因为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T 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 +</a:t>
            </a:r>
            <a:r>
              <a:rPr lang="el-GR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β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)=A( +</a:t>
            </a:r>
            <a:r>
              <a:rPr lang="el-GR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β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)=A  + A</a:t>
            </a:r>
            <a:r>
              <a:rPr lang="el-GR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β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=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T 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)+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T 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</a:t>
            </a:r>
            <a:r>
              <a:rPr lang="el-GR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β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),   </a:t>
            </a:r>
            <a:endParaRPr lang="zh-CN" altLang="en-US" sz="2800" spc="-120" dirty="0">
              <a:latin typeface="华文新魏" pitchFamily="2" charset="-122"/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CB9CC07F-463C-4484-8F34-E4FD1667B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3141663"/>
            <a:ext cx="8064500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T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(k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A)=(kA)</a:t>
            </a:r>
            <a:r>
              <a:rPr lang="en-US" altLang="zh-CN" sz="2800" baseline="300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 T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=</a:t>
            </a:r>
            <a:r>
              <a:rPr lang="en-US" altLang="zh-CN" sz="2800" dirty="0" err="1">
                <a:latin typeface="华文新魏" pitchFamily="2" charset="-122"/>
                <a:ea typeface="华文新魏" pitchFamily="2" charset="-122"/>
                <a:sym typeface="Symbol" pitchFamily="18" charset="2"/>
              </a:rPr>
              <a:t>kA</a:t>
            </a:r>
            <a:r>
              <a:rPr lang="en-US" altLang="zh-CN" sz="2800" baseline="30000" dirty="0" err="1">
                <a:latin typeface="华文新魏" pitchFamily="2" charset="-122"/>
                <a:ea typeface="华文新魏" pitchFamily="2" charset="-122"/>
                <a:sym typeface="Symbol" pitchFamily="18" charset="2"/>
              </a:rPr>
              <a:t>T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=k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T 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A). </a:t>
            </a:r>
            <a:endParaRPr lang="zh-CN" altLang="en-US" sz="2800" spc="-120" dirty="0">
              <a:latin typeface="华文新魏" pitchFamily="2" charset="-122"/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8C1F0BDD-2C6C-4BCA-A321-4FA9A79EA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373688"/>
            <a:ext cx="5689600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T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(k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)=A(k)=kA=k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  <a:sym typeface="Symbol" pitchFamily="18" charset="2"/>
              </a:rPr>
              <a:t> T 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(). </a:t>
            </a:r>
            <a:endParaRPr lang="zh-CN" altLang="en-US" sz="2800" spc="-120" dirty="0">
              <a:latin typeface="华文新魏" pitchFamily="2" charset="-122"/>
              <a:ea typeface="华文新魏" pitchFamily="2" charset="-122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>
            <a:extLst>
              <a:ext uri="{FF2B5EF4-FFF2-40B4-BE49-F238E27FC236}">
                <a16:creationId xmlns:a16="http://schemas.microsoft.com/office/drawing/2014/main" id="{6F7FEB08-62FD-44DD-A598-BFDEA7964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线性变换的定义及性质</a:t>
            </a:r>
          </a:p>
        </p:txBody>
      </p:sp>
      <p:sp>
        <p:nvSpPr>
          <p:cNvPr id="46083" name="Text Box 5">
            <a:extLst>
              <a:ext uri="{FF2B5EF4-FFF2-40B4-BE49-F238E27FC236}">
                <a16:creationId xmlns:a16="http://schemas.microsoft.com/office/drawing/2014/main" id="{C51634B4-C1FD-4519-804A-88C0B98BA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1125538"/>
            <a:ext cx="99949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由定义可推出线性变换具有如下简单性质：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B80528D4-C139-4915-88BA-B5817EE6A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1768475"/>
            <a:ext cx="99949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(1)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设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A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的线性变换，则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(0)=0,  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 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)=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).</a:t>
            </a: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438C8A77-403C-401B-AB0D-B8D006966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2344738"/>
            <a:ext cx="11807825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因为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A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(0)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=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A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ea typeface="华文新魏" pitchFamily="2" charset="-122"/>
                <a:cs typeface="Times New Roman" pitchFamily="18" charset="0"/>
              </a:rPr>
              <a:t>0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 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)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=</a:t>
            </a:r>
            <a:r>
              <a:rPr lang="en-US" altLang="zh-CN" sz="2800" dirty="0">
                <a:ea typeface="华文新魏" pitchFamily="2" charset="-122"/>
                <a:cs typeface="Times New Roman" pitchFamily="18" charset="0"/>
              </a:rPr>
              <a:t> 0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A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)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=</a:t>
            </a:r>
            <a:r>
              <a:rPr lang="en-US" altLang="zh-CN" sz="2800" dirty="0">
                <a:ea typeface="华文新魏" pitchFamily="2" charset="-122"/>
                <a:cs typeface="Times New Roman" pitchFamily="18" charset="0"/>
              </a:rPr>
              <a:t>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0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,    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A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 )=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 A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1) )=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1)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A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) =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A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). </a:t>
            </a:r>
            <a:endParaRPr lang="zh-CN" altLang="en-US" sz="2800" spc="-120" dirty="0">
              <a:latin typeface="华文新魏" pitchFamily="2" charset="-122"/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01BE17F3-2502-45FA-BAFF-67B1E2375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3281760"/>
            <a:ext cx="99949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(2)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线性变换保持线性组合与线性关系式不变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353B8926-6626-4505-ADE8-AABD976C2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3929460"/>
            <a:ext cx="12122150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       A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(k</a:t>
            </a:r>
            <a:r>
              <a:rPr lang="en-US" altLang="zh-CN" sz="2800" baseline="-25000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</a:t>
            </a:r>
            <a:r>
              <a:rPr lang="en-US" altLang="zh-CN" sz="2800" baseline="-250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1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+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en-US" altLang="zh-CN" sz="2800" baseline="-25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</a:t>
            </a:r>
            <a:r>
              <a:rPr lang="en-US" altLang="zh-CN" sz="2800" baseline="-250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2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+ … + </a:t>
            </a:r>
            <a:r>
              <a:rPr lang="en-US" altLang="zh-CN" sz="2800" dirty="0" err="1">
                <a:latin typeface="华文新魏" pitchFamily="2" charset="-122"/>
                <a:ea typeface="华文新魏" pitchFamily="2" charset="-122"/>
              </a:rPr>
              <a:t>k</a:t>
            </a:r>
            <a:r>
              <a:rPr lang="en-US" altLang="zh-CN" sz="2800" baseline="-25000" dirty="0" err="1">
                <a:latin typeface="华文新魏" pitchFamily="2" charset="-122"/>
                <a:ea typeface="华文新魏" pitchFamily="2" charset="-122"/>
              </a:rPr>
              <a:t>m</a:t>
            </a:r>
            <a:r>
              <a:rPr lang="en-US" altLang="zh-CN" sz="2800" dirty="0" err="1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</a:t>
            </a:r>
            <a:r>
              <a:rPr lang="en-US" altLang="zh-CN" sz="2800" baseline="-25000" dirty="0" err="1">
                <a:latin typeface="华文新魏" pitchFamily="2" charset="-122"/>
                <a:ea typeface="华文新魏" pitchFamily="2" charset="-122"/>
                <a:sym typeface="Symbol" pitchFamily="18" charset="2"/>
              </a:rPr>
              <a:t>m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) =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 k</a:t>
            </a:r>
            <a:r>
              <a:rPr lang="en-US" altLang="zh-CN" sz="2800" baseline="-25000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A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</a:t>
            </a:r>
            <a:r>
              <a:rPr lang="en-US" altLang="zh-CN" sz="2800" baseline="-250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1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) +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en-US" altLang="zh-CN" sz="2800" baseline="-25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 A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</a:t>
            </a:r>
            <a:r>
              <a:rPr lang="en-US" altLang="zh-CN" sz="2800" baseline="-250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2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) + … +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en-US" altLang="zh-CN" sz="2800" baseline="-25000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lang="en-US" altLang="zh-CN" sz="2800" dirty="0">
                <a:latin typeface="CommercialScript BT" pitchFamily="66" charset="0"/>
                <a:ea typeface="华文新魏" pitchFamily="2" charset="-122"/>
              </a:rPr>
              <a:t> A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 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</a:t>
            </a:r>
            <a:r>
              <a:rPr lang="en-US" altLang="zh-CN" sz="2800" baseline="-250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m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). </a:t>
            </a:r>
            <a:endParaRPr lang="zh-CN" altLang="en-US" sz="2800" spc="-120" dirty="0">
              <a:latin typeface="华文新魏" pitchFamily="2" charset="-122"/>
              <a:ea typeface="华文新魏" pitchFamily="2" charset="-122"/>
              <a:sym typeface="Symbol" pitchFamily="18" charset="2"/>
            </a:endParaRPr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C1E5AC6B-65A2-4AEA-B33C-990D37C5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4869954"/>
            <a:ext cx="11809413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(3) 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线性变换把线性相关的向量组变成线性相关的向量组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5F5322E3-84A2-4B12-8EA5-89640A652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5477967"/>
            <a:ext cx="99949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: (3)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的逆命题不成立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.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例如：零变换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0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CB0B7280-8F13-20D1-13DC-72D097E86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39" y="6125369"/>
            <a:ext cx="7992888" cy="6124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问题：线性变换把线性无关的向量组变成？？？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6" grpId="0" autoUpdateAnimBg="0"/>
      <p:bldP spid="10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>
            <a:extLst>
              <a:ext uri="{FF2B5EF4-FFF2-40B4-BE49-F238E27FC236}">
                <a16:creationId xmlns:a16="http://schemas.microsoft.com/office/drawing/2014/main" id="{D1A313FA-3038-4D69-8E2C-93847D3D2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" y="1054100"/>
            <a:ext cx="119062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定义    设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维线性空间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的一个线性变换，</a:t>
            </a:r>
            <a:r>
              <a:rPr lang="el-GR" altLang="zh-CN" sz="2800"/>
              <a:t> ε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el-GR" altLang="zh-CN" sz="2800"/>
              <a:t>ε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l-GR" altLang="zh-CN" sz="2800"/>
              <a:t>ε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一组基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endParaRPr lang="zh-CN" altLang="en-US" sz="280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7107" name="Rectangle 5">
            <a:extLst>
              <a:ext uri="{FF2B5EF4-FFF2-40B4-BE49-F238E27FC236}">
                <a16:creationId xmlns:a16="http://schemas.microsoft.com/office/drawing/2014/main" id="{F76CA393-D5B4-43E2-AB17-E95D0D329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线性变换的矩阵表示</a:t>
            </a:r>
          </a:p>
        </p:txBody>
      </p:sp>
      <p:grpSp>
        <p:nvGrpSpPr>
          <p:cNvPr id="47108" name="组合 29">
            <a:extLst>
              <a:ext uri="{FF2B5EF4-FFF2-40B4-BE49-F238E27FC236}">
                <a16:creationId xmlns:a16="http://schemas.microsoft.com/office/drawing/2014/main" id="{B86AE885-04D6-4F26-8151-FB0FC80ECEF1}"/>
              </a:ext>
            </a:extLst>
          </p:cNvPr>
          <p:cNvGrpSpPr>
            <a:grpSpLocks/>
          </p:cNvGrpSpPr>
          <p:nvPr/>
        </p:nvGrpSpPr>
        <p:grpSpPr bwMode="auto">
          <a:xfrm>
            <a:off x="95250" y="1744663"/>
            <a:ext cx="10582275" cy="1901825"/>
            <a:chOff x="95751" y="1788358"/>
            <a:chExt cx="10581773" cy="1901159"/>
          </a:xfrm>
        </p:grpSpPr>
        <p:grpSp>
          <p:nvGrpSpPr>
            <p:cNvPr id="47134" name="组合 21">
              <a:extLst>
                <a:ext uri="{FF2B5EF4-FFF2-40B4-BE49-F238E27FC236}">
                  <a16:creationId xmlns:a16="http://schemas.microsoft.com/office/drawing/2014/main" id="{358B6D46-9AEF-458D-A1ED-E541D606DD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587" y="1788358"/>
              <a:ext cx="4579937" cy="1901159"/>
              <a:chOff x="3538538" y="2321910"/>
              <a:chExt cx="4579937" cy="1901159"/>
            </a:xfrm>
          </p:grpSpPr>
          <p:graphicFrame>
            <p:nvGraphicFramePr>
              <p:cNvPr id="47136" name="Object 2">
                <a:extLst>
                  <a:ext uri="{FF2B5EF4-FFF2-40B4-BE49-F238E27FC236}">
                    <a16:creationId xmlns:a16="http://schemas.microsoft.com/office/drawing/2014/main" id="{1B4768C9-E6AA-4418-AA3C-9678F57A95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38538" y="2351406"/>
              <a:ext cx="4579937" cy="18716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298700" imgH="939800" progId="Equation.DSMT4">
                      <p:embed/>
                    </p:oleObj>
                  </mc:Choice>
                  <mc:Fallback>
                    <p:oleObj name="Equation" r:id="rId2" imgW="2298700" imgH="939800" progId="Equation.DSMT4">
                      <p:embed/>
                      <p:pic>
                        <p:nvPicPr>
                          <p:cNvPr id="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38538" y="2351406"/>
                            <a:ext cx="4579937" cy="18716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37" name="矩形 16">
                <a:extLst>
                  <a:ext uri="{FF2B5EF4-FFF2-40B4-BE49-F238E27FC236}">
                    <a16:creationId xmlns:a16="http://schemas.microsoft.com/office/drawing/2014/main" id="{9832ADE9-40AD-497E-A9CB-B5473D468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575" y="2321910"/>
                <a:ext cx="51648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olidFill>
                      <a:srgbClr val="000000"/>
                    </a:solidFill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A </a:t>
                </a:r>
                <a:endParaRPr lang="zh-CN" altLang="en-US"/>
              </a:p>
            </p:txBody>
          </p:sp>
          <p:sp>
            <p:nvSpPr>
              <p:cNvPr id="47138" name="矩形 19">
                <a:extLst>
                  <a:ext uri="{FF2B5EF4-FFF2-40B4-BE49-F238E27FC236}">
                    <a16:creationId xmlns:a16="http://schemas.microsoft.com/office/drawing/2014/main" id="{397DC7BB-F42D-42B6-96E3-0DB7B7615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7079" y="2777306"/>
                <a:ext cx="51648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olidFill>
                      <a:srgbClr val="000000"/>
                    </a:solidFill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A </a:t>
                </a:r>
                <a:endParaRPr lang="zh-CN" altLang="en-US"/>
              </a:p>
            </p:txBody>
          </p:sp>
          <p:sp>
            <p:nvSpPr>
              <p:cNvPr id="47139" name="矩形 20">
                <a:extLst>
                  <a:ext uri="{FF2B5EF4-FFF2-40B4-BE49-F238E27FC236}">
                    <a16:creationId xmlns:a16="http://schemas.microsoft.com/office/drawing/2014/main" id="{9A18FA6B-1F5E-42ED-B95E-B84D2E7B9F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063" y="3688330"/>
                <a:ext cx="51648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olidFill>
                      <a:srgbClr val="000000"/>
                    </a:solidFill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A </a:t>
                </a:r>
                <a:endParaRPr lang="zh-CN" altLang="en-US"/>
              </a:p>
            </p:txBody>
          </p:sp>
        </p:grpSp>
        <p:sp>
          <p:nvSpPr>
            <p:cNvPr id="47135" name="矩形 28">
              <a:extLst>
                <a:ext uri="{FF2B5EF4-FFF2-40B4-BE49-F238E27FC236}">
                  <a16:creationId xmlns:a16="http://schemas.microsoft.com/office/drawing/2014/main" id="{A8E4A306-4B83-441E-B2B0-0E58B169D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1" y="2349674"/>
              <a:ext cx="5929828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于是基向量的像可以被基线性表出：</a:t>
              </a:r>
              <a:endPara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47109" name="矩形 30">
            <a:extLst>
              <a:ext uri="{FF2B5EF4-FFF2-40B4-BE49-F238E27FC236}">
                <a16:creationId xmlns:a16="http://schemas.microsoft.com/office/drawing/2014/main" id="{FF3CF5A7-F409-478C-9312-F8FA9D02A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430588"/>
            <a:ext cx="31416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可用矩阵表示为：</a:t>
            </a:r>
            <a:r>
              <a:rPr lang="en-US" altLang="zh-CN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 </a:t>
            </a:r>
            <a:endParaRPr lang="zh-CN" altLang="en-US"/>
          </a:p>
        </p:txBody>
      </p:sp>
      <p:grpSp>
        <p:nvGrpSpPr>
          <p:cNvPr id="47110" name="组合 44">
            <a:extLst>
              <a:ext uri="{FF2B5EF4-FFF2-40B4-BE49-F238E27FC236}">
                <a16:creationId xmlns:a16="http://schemas.microsoft.com/office/drawing/2014/main" id="{9184813F-8AAE-49F8-96E4-3E82443C01D9}"/>
              </a:ext>
            </a:extLst>
          </p:cNvPr>
          <p:cNvGrpSpPr>
            <a:grpSpLocks/>
          </p:cNvGrpSpPr>
          <p:nvPr/>
        </p:nvGrpSpPr>
        <p:grpSpPr bwMode="auto">
          <a:xfrm>
            <a:off x="193675" y="3717925"/>
            <a:ext cx="11914188" cy="1638300"/>
            <a:chOff x="192931" y="4122738"/>
            <a:chExt cx="11914932" cy="1638300"/>
          </a:xfrm>
        </p:grpSpPr>
        <p:grpSp>
          <p:nvGrpSpPr>
            <p:cNvPr id="47124" name="组合 36">
              <a:extLst>
                <a:ext uri="{FF2B5EF4-FFF2-40B4-BE49-F238E27FC236}">
                  <a16:creationId xmlns:a16="http://schemas.microsoft.com/office/drawing/2014/main" id="{DDE407E8-15E5-4399-80C1-D85C9FC77C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931" y="4581922"/>
              <a:ext cx="9289032" cy="648072"/>
              <a:chOff x="336947" y="4581922"/>
              <a:chExt cx="9289032" cy="648072"/>
            </a:xfrm>
          </p:grpSpPr>
          <p:grpSp>
            <p:nvGrpSpPr>
              <p:cNvPr id="47126" name="组合 33">
                <a:extLst>
                  <a:ext uri="{FF2B5EF4-FFF2-40B4-BE49-F238E27FC236}">
                    <a16:creationId xmlns:a16="http://schemas.microsoft.com/office/drawing/2014/main" id="{04CA3932-8BD1-4023-ACD7-8CAB03FB8C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947" y="4653930"/>
                <a:ext cx="8136904" cy="537968"/>
                <a:chOff x="264939" y="4380646"/>
                <a:chExt cx="8136904" cy="537968"/>
              </a:xfrm>
            </p:grpSpPr>
            <p:sp>
              <p:nvSpPr>
                <p:cNvPr id="47128" name="矩形 22">
                  <a:extLst>
                    <a:ext uri="{FF2B5EF4-FFF2-40B4-BE49-F238E27FC236}">
                      <a16:creationId xmlns:a16="http://schemas.microsoft.com/office/drawing/2014/main" id="{0D5CBE35-EF24-473A-B6E9-F21CDFE5E5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939" y="4380646"/>
                  <a:ext cx="8136904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>
                      <a:solidFill>
                        <a:srgbClr val="000000"/>
                      </a:solidFill>
                      <a:latin typeface="CommercialScript BT" panose="03030803040807090C04" pitchFamily="66" charset="0"/>
                      <a:ea typeface="华文新魏" panose="02010800040101010101" pitchFamily="2" charset="-122"/>
                    </a:rPr>
                    <a:t> A </a:t>
                  </a:r>
                  <a:endParaRPr lang="zh-CN" altLang="en-US"/>
                </a:p>
              </p:txBody>
            </p:sp>
            <p:grpSp>
              <p:nvGrpSpPr>
                <p:cNvPr id="47129" name="组合 32">
                  <a:extLst>
                    <a:ext uri="{FF2B5EF4-FFF2-40B4-BE49-F238E27FC236}">
                      <a16:creationId xmlns:a16="http://schemas.microsoft.com/office/drawing/2014/main" id="{CD650627-2FC0-45E0-9D2D-57AA0354EA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35806" y="4393662"/>
                  <a:ext cx="7666037" cy="524952"/>
                  <a:chOff x="2623892" y="4393662"/>
                  <a:chExt cx="7666037" cy="524952"/>
                </a:xfrm>
              </p:grpSpPr>
              <p:graphicFrame>
                <p:nvGraphicFramePr>
                  <p:cNvPr id="47130" name="Object 3">
                    <a:extLst>
                      <a:ext uri="{FF2B5EF4-FFF2-40B4-BE49-F238E27FC236}">
                        <a16:creationId xmlns:a16="http://schemas.microsoft.com/office/drawing/2014/main" id="{5EB787FD-AD83-4867-8DD1-A9F25BE2DDEB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623892" y="4428891"/>
                  <a:ext cx="7666037" cy="45561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4" imgW="3848100" imgH="228600" progId="Equation.DSMT4">
                          <p:embed/>
                        </p:oleObj>
                      </mc:Choice>
                      <mc:Fallback>
                        <p:oleObj name="Equation" r:id="rId4" imgW="3848100" imgH="228600" progId="Equation.DSMT4">
                          <p:embed/>
                          <p:pic>
                            <p:nvPicPr>
                              <p:cNvPr id="0" name="Object 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623892" y="4428891"/>
                                <a:ext cx="7666037" cy="45561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47131" name="矩形 24">
                    <a:extLst>
                      <a:ext uri="{FF2B5EF4-FFF2-40B4-BE49-F238E27FC236}">
                        <a16:creationId xmlns:a16="http://schemas.microsoft.com/office/drawing/2014/main" id="{B871DBD9-10F3-4741-A8D8-D6F0CAFC4A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7427" y="4395394"/>
                    <a:ext cx="516488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800">
                        <a:solidFill>
                          <a:srgbClr val="000000"/>
                        </a:solidFill>
                        <a:latin typeface="CommercialScript BT" panose="03030803040807090C04" pitchFamily="66" charset="0"/>
                        <a:ea typeface="华文新魏" panose="02010800040101010101" pitchFamily="2" charset="-122"/>
                      </a:rPr>
                      <a:t>A </a:t>
                    </a:r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7132" name="矩形 25">
                    <a:extLst>
                      <a:ext uri="{FF2B5EF4-FFF2-40B4-BE49-F238E27FC236}">
                        <a16:creationId xmlns:a16="http://schemas.microsoft.com/office/drawing/2014/main" id="{4DC39485-92F4-4E57-84D8-6DD6841DEF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81099" y="4395394"/>
                    <a:ext cx="516488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800">
                        <a:solidFill>
                          <a:srgbClr val="000000"/>
                        </a:solidFill>
                        <a:latin typeface="CommercialScript BT" panose="03030803040807090C04" pitchFamily="66" charset="0"/>
                        <a:ea typeface="华文新魏" panose="02010800040101010101" pitchFamily="2" charset="-122"/>
                      </a:rPr>
                      <a:t>A </a:t>
                    </a:r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7133" name="矩形 27">
                    <a:extLst>
                      <a:ext uri="{FF2B5EF4-FFF2-40B4-BE49-F238E27FC236}">
                        <a16:creationId xmlns:a16="http://schemas.microsoft.com/office/drawing/2014/main" id="{F0B14EA5-3D6C-4DDF-BE1A-A6F95DE614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978747" y="4393662"/>
                    <a:ext cx="516488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800">
                        <a:solidFill>
                          <a:srgbClr val="000000"/>
                        </a:solidFill>
                        <a:latin typeface="CommercialScript BT" panose="03030803040807090C04" pitchFamily="66" charset="0"/>
                        <a:ea typeface="华文新魏" panose="02010800040101010101" pitchFamily="2" charset="-122"/>
                      </a:rPr>
                      <a:t>A </a:t>
                    </a:r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sp>
            <p:nvSpPr>
              <p:cNvPr id="47127" name="Rectangle 3">
                <a:extLst>
                  <a:ext uri="{FF2B5EF4-FFF2-40B4-BE49-F238E27FC236}">
                    <a16:creationId xmlns:a16="http://schemas.microsoft.com/office/drawing/2014/main" id="{AE3F5088-5EFB-4F2D-89EE-9A2E8D46E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96944" y="4581922"/>
                <a:ext cx="1129035" cy="648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</a:pPr>
                <a:r>
                  <a:rPr lang="zh-CN" altLang="en-US" sz="2800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其中</a:t>
                </a:r>
              </a:p>
            </p:txBody>
          </p:sp>
        </p:grpSp>
        <p:graphicFrame>
          <p:nvGraphicFramePr>
            <p:cNvPr id="47125" name="Object 4">
              <a:extLst>
                <a:ext uri="{FF2B5EF4-FFF2-40B4-BE49-F238E27FC236}">
                  <a16:creationId xmlns:a16="http://schemas.microsoft.com/office/drawing/2014/main" id="{26649777-5CAA-4812-9ABF-75CF09C4DD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83688" y="4122738"/>
            <a:ext cx="2924175" cy="163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76400" imgH="939800" progId="Equation.DSMT4">
                    <p:embed/>
                  </p:oleObj>
                </mc:Choice>
                <mc:Fallback>
                  <p:oleObj name="Equation" r:id="rId6" imgW="1676400" imgH="9398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83688" y="4122738"/>
                          <a:ext cx="2924175" cy="163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44">
            <a:extLst>
              <a:ext uri="{FF2B5EF4-FFF2-40B4-BE49-F238E27FC236}">
                <a16:creationId xmlns:a16="http://schemas.microsoft.com/office/drawing/2014/main" id="{AF63A206-86D4-40AA-A0F0-53D732AE6BA4}"/>
              </a:ext>
            </a:extLst>
          </p:cNvPr>
          <p:cNvGrpSpPr>
            <a:grpSpLocks/>
          </p:cNvGrpSpPr>
          <p:nvPr/>
        </p:nvGrpSpPr>
        <p:grpSpPr bwMode="auto">
          <a:xfrm>
            <a:off x="3721100" y="3816350"/>
            <a:ext cx="7072313" cy="1512888"/>
            <a:chOff x="3721323" y="3816970"/>
            <a:chExt cx="7071532" cy="1512168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CBC80A07-4E15-4707-B6CA-59CA0E88100A}"/>
                </a:ext>
              </a:extLst>
            </p:cNvPr>
            <p:cNvSpPr/>
            <p:nvPr/>
          </p:nvSpPr>
          <p:spPr>
            <a:xfrm>
              <a:off x="3721323" y="4321555"/>
              <a:ext cx="863505" cy="4315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DC20F99B-D651-482C-B277-9FCB54BC4C07}"/>
                </a:ext>
              </a:extLst>
            </p:cNvPr>
            <p:cNvSpPr/>
            <p:nvPr/>
          </p:nvSpPr>
          <p:spPr>
            <a:xfrm>
              <a:off x="10361103" y="3816970"/>
              <a:ext cx="431752" cy="1512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9" name="组合 46">
            <a:extLst>
              <a:ext uri="{FF2B5EF4-FFF2-40B4-BE49-F238E27FC236}">
                <a16:creationId xmlns:a16="http://schemas.microsoft.com/office/drawing/2014/main" id="{E1416829-B707-4A00-8466-7635A7DF0CB7}"/>
              </a:ext>
            </a:extLst>
          </p:cNvPr>
          <p:cNvGrpSpPr>
            <a:grpSpLocks/>
          </p:cNvGrpSpPr>
          <p:nvPr/>
        </p:nvGrpSpPr>
        <p:grpSpPr bwMode="auto">
          <a:xfrm>
            <a:off x="5089525" y="3816350"/>
            <a:ext cx="6797675" cy="1512888"/>
            <a:chOff x="5089475" y="3816970"/>
            <a:chExt cx="6798248" cy="1512168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2D57E574-C5C5-4024-863B-F65A3DA0694B}"/>
                </a:ext>
              </a:extLst>
            </p:cNvPr>
            <p:cNvSpPr/>
            <p:nvPr/>
          </p:nvSpPr>
          <p:spPr>
            <a:xfrm>
              <a:off x="5089475" y="4321555"/>
              <a:ext cx="863673" cy="4315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AD479A00-1986-4814-ACD9-E5C74B5C9A46}"/>
                </a:ext>
              </a:extLst>
            </p:cNvPr>
            <p:cNvSpPr/>
            <p:nvPr/>
          </p:nvSpPr>
          <p:spPr>
            <a:xfrm>
              <a:off x="11455887" y="3816970"/>
              <a:ext cx="431836" cy="1512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47113" name="矩形 43">
            <a:extLst>
              <a:ext uri="{FF2B5EF4-FFF2-40B4-BE49-F238E27FC236}">
                <a16:creationId xmlns:a16="http://schemas.microsoft.com/office/drawing/2014/main" id="{DD1D00B2-00F0-4149-93AF-CD4D8E798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4869954"/>
            <a:ext cx="87709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矩阵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称为</a:t>
            </a:r>
            <a:r>
              <a:rPr lang="zh-CN" altLang="en-US" sz="2800" dirty="0">
                <a:solidFill>
                  <a:srgbClr val="C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线性变换 </a:t>
            </a:r>
            <a:r>
              <a:rPr lang="en-US" altLang="zh-CN" sz="2800" dirty="0">
                <a:solidFill>
                  <a:srgbClr val="C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zh-CN" altLang="en-US" sz="2800" dirty="0">
                <a:solidFill>
                  <a:srgbClr val="C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在基</a:t>
            </a:r>
            <a:r>
              <a:rPr lang="el-GR" altLang="zh-CN" sz="2800" dirty="0">
                <a:solidFill>
                  <a:srgbClr val="C00000"/>
                </a:solidFill>
              </a:rPr>
              <a:t>ε</a:t>
            </a:r>
            <a:r>
              <a:rPr lang="en-US" altLang="zh-CN" sz="2800" baseline="-25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el-GR" altLang="zh-CN" sz="2800" dirty="0">
                <a:solidFill>
                  <a:srgbClr val="C00000"/>
                </a:solidFill>
              </a:rPr>
              <a:t>ε</a:t>
            </a:r>
            <a:r>
              <a:rPr lang="en-US" altLang="zh-CN" sz="2800" baseline="-25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800" dirty="0">
                <a:solidFill>
                  <a:srgbClr val="C00000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… </a:t>
            </a:r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l-GR" altLang="zh-CN" sz="2800" dirty="0">
                <a:solidFill>
                  <a:srgbClr val="C00000"/>
                </a:solidFill>
              </a:rPr>
              <a:t>ε</a:t>
            </a:r>
            <a:r>
              <a:rPr lang="en-US" altLang="zh-CN" sz="2800" baseline="-25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下的矩阵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A2FF301-36A8-4CF0-8335-C6E32F1AE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99" y="5643563"/>
            <a:ext cx="12023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注：矩阵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是由</a:t>
            </a:r>
            <a:r>
              <a:rPr lang="zh-CN" altLang="en-US" sz="2800" dirty="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基</a:t>
            </a:r>
            <a:r>
              <a:rPr lang="el-GR" altLang="zh-CN" sz="2800" dirty="0"/>
              <a:t>ε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el-GR" altLang="zh-CN" sz="2800" dirty="0"/>
              <a:t>ε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800" dirty="0">
                <a:ea typeface="华文新魏" panose="02010800040101010101" pitchFamily="2" charset="-122"/>
                <a:sym typeface="Symbol" panose="05050102010706020507" pitchFamily="18" charset="2"/>
              </a:rPr>
              <a:t>… 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l-GR" altLang="zh-CN" sz="2800" dirty="0"/>
              <a:t>ε</a:t>
            </a:r>
            <a:r>
              <a:rPr lang="en-US" altLang="zh-CN" sz="2800" baseline="-250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和</a:t>
            </a:r>
            <a:r>
              <a:rPr lang="zh-CN" altLang="en-US" sz="2800" dirty="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线性变换 </a:t>
            </a:r>
            <a:r>
              <a:rPr lang="en-US" altLang="zh-CN" sz="2800" dirty="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zh-CN" altLang="en-US" sz="2800" dirty="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所唯一确定的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800" dirty="0"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(L(V)</a:t>
            </a:r>
            <a:r>
              <a:rPr lang="zh-CN" altLang="en-US" sz="2800" dirty="0"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2800" dirty="0" err="1"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aseline="30000" dirty="0" err="1"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nxn</a:t>
            </a:r>
            <a:r>
              <a:rPr lang="zh-CN" altLang="en-US" sz="2800" dirty="0"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同构</a:t>
            </a:r>
            <a:r>
              <a:rPr lang="en-US" altLang="zh-CN" sz="2800" dirty="0">
                <a:highlight>
                  <a:srgbClr val="FFFF00"/>
                </a:highligh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32" name="Text Box 16">
            <a:extLst>
              <a:ext uri="{FF2B5EF4-FFF2-40B4-BE49-F238E27FC236}">
                <a16:creationId xmlns:a16="http://schemas.microsoft.com/office/drawing/2014/main" id="{37DFD43E-597F-4E31-B5AB-0B1400B42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094413"/>
            <a:ext cx="118078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零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变换（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单位变换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）在任何基下的矩阵都是零矩阵（单位矩阵）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</a:p>
        </p:txBody>
      </p:sp>
      <p:grpSp>
        <p:nvGrpSpPr>
          <p:cNvPr id="10" name="组合 36">
            <a:extLst>
              <a:ext uri="{FF2B5EF4-FFF2-40B4-BE49-F238E27FC236}">
                <a16:creationId xmlns:a16="http://schemas.microsoft.com/office/drawing/2014/main" id="{195D925D-2931-465B-BC2E-0B1B92B066AE}"/>
              </a:ext>
            </a:extLst>
          </p:cNvPr>
          <p:cNvGrpSpPr>
            <a:grpSpLocks/>
          </p:cNvGrpSpPr>
          <p:nvPr/>
        </p:nvGrpSpPr>
        <p:grpSpPr bwMode="auto">
          <a:xfrm>
            <a:off x="2713038" y="3816350"/>
            <a:ext cx="7488237" cy="1512888"/>
            <a:chOff x="2713211" y="3816970"/>
            <a:chExt cx="7488832" cy="1512168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D1C7061-386E-4E9F-A69B-2CC91F741E68}"/>
                </a:ext>
              </a:extLst>
            </p:cNvPr>
            <p:cNvSpPr/>
            <p:nvPr/>
          </p:nvSpPr>
          <p:spPr>
            <a:xfrm>
              <a:off x="9770209" y="3816970"/>
              <a:ext cx="431834" cy="1512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C4454989-7217-4690-A417-47AFD4585334}"/>
                </a:ext>
              </a:extLst>
            </p:cNvPr>
            <p:cNvSpPr/>
            <p:nvPr/>
          </p:nvSpPr>
          <p:spPr>
            <a:xfrm>
              <a:off x="2713211" y="4321555"/>
              <a:ext cx="863669" cy="4315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03162B32-A8BE-42BE-ABD1-6845F7D3E7C5}"/>
                </a:ext>
              </a:extLst>
            </p:cNvPr>
            <p:cNvCxnSpPr/>
            <p:nvPr/>
          </p:nvCxnSpPr>
          <p:spPr>
            <a:xfrm>
              <a:off x="6458421" y="4797578"/>
              <a:ext cx="151142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">
            <a:extLst>
              <a:ext uri="{FF2B5EF4-FFF2-40B4-BE49-F238E27FC236}">
                <a16:creationId xmlns:a16="http://schemas.microsoft.com/office/drawing/2014/main" id="{A036C9BA-2D95-3C1C-3FB7-572020A26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024" y="5311105"/>
            <a:ext cx="3179282" cy="36847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是方阵吗？</a:t>
            </a:r>
            <a:r>
              <a:rPr lang="en-US" altLang="zh-CN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可逆吗？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32" grpId="0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17">
            <a:extLst>
              <a:ext uri="{FF2B5EF4-FFF2-40B4-BE49-F238E27FC236}">
                <a16:creationId xmlns:a16="http://schemas.microsoft.com/office/drawing/2014/main" id="{B95A3B04-F6D7-4FBF-A0DF-48C6AD040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1049338"/>
            <a:ext cx="12074525" cy="149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3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在线性空间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22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定义线性变换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(X)=X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X ∈ 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22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求线性变换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在基                                                                               下的矩阵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</a:t>
            </a:r>
          </a:p>
        </p:txBody>
      </p:sp>
      <p:graphicFrame>
        <p:nvGraphicFramePr>
          <p:cNvPr id="48131" name="Object 2">
            <a:extLst>
              <a:ext uri="{FF2B5EF4-FFF2-40B4-BE49-F238E27FC236}">
                <a16:creationId xmlns:a16="http://schemas.microsoft.com/office/drawing/2014/main" id="{155BB3A6-63EB-4508-A549-A8963064F1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7275" y="1771650"/>
          <a:ext cx="66246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05200" imgH="457200" progId="Equation.DSMT4">
                  <p:embed/>
                </p:oleObj>
              </mc:Choice>
              <mc:Fallback>
                <p:oleObj name="Equation" r:id="rId2" imgW="350520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1771650"/>
                        <a:ext cx="66246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7">
            <a:extLst>
              <a:ext uri="{FF2B5EF4-FFF2-40B4-BE49-F238E27FC236}">
                <a16:creationId xmlns:a16="http://schemas.microsoft.com/office/drawing/2014/main" id="{051E5181-05F1-4E55-8598-164591C72C97}"/>
              </a:ext>
            </a:extLst>
          </p:cNvPr>
          <p:cNvGrpSpPr>
            <a:grpSpLocks/>
          </p:cNvGrpSpPr>
          <p:nvPr/>
        </p:nvGrpSpPr>
        <p:grpSpPr bwMode="auto">
          <a:xfrm>
            <a:off x="193675" y="2781300"/>
            <a:ext cx="5827713" cy="1050925"/>
            <a:chOff x="192931" y="2781722"/>
            <a:chExt cx="5828466" cy="1050503"/>
          </a:xfrm>
        </p:grpSpPr>
        <p:sp>
          <p:nvSpPr>
            <p:cNvPr id="48148" name="Text Box 17">
              <a:extLst>
                <a:ext uri="{FF2B5EF4-FFF2-40B4-BE49-F238E27FC236}">
                  <a16:creationId xmlns:a16="http://schemas.microsoft.com/office/drawing/2014/main" id="{C803A435-D644-4A98-AD1C-298483BD4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31" y="2781722"/>
              <a:ext cx="2016224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解：因为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49" name="矩形 4">
              <a:extLst>
                <a:ext uri="{FF2B5EF4-FFF2-40B4-BE49-F238E27FC236}">
                  <a16:creationId xmlns:a16="http://schemas.microsoft.com/office/drawing/2014/main" id="{9F4E3C92-1265-4D41-98DE-D87BBF75E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7793" y="3141762"/>
              <a:ext cx="103898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A</a:t>
              </a:r>
              <a:endParaRPr lang="zh-CN" altLang="en-US"/>
            </a:p>
          </p:txBody>
        </p:sp>
        <p:graphicFrame>
          <p:nvGraphicFramePr>
            <p:cNvPr id="48150" name="Object 3">
              <a:extLst>
                <a:ext uri="{FF2B5EF4-FFF2-40B4-BE49-F238E27FC236}">
                  <a16:creationId xmlns:a16="http://schemas.microsoft.com/office/drawing/2014/main" id="{F2597393-2BA3-4388-B61F-0230877BCE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8360" y="2873375"/>
            <a:ext cx="2713037" cy="958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435100" imgH="508000" progId="Equation.DSMT4">
                    <p:embed/>
                  </p:oleObj>
                </mc:Choice>
                <mc:Fallback>
                  <p:oleObj name="Equation" r:id="rId4" imgW="1435100" imgH="5080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8360" y="2873375"/>
                          <a:ext cx="2713037" cy="958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8">
            <a:extLst>
              <a:ext uri="{FF2B5EF4-FFF2-40B4-BE49-F238E27FC236}">
                <a16:creationId xmlns:a16="http://schemas.microsoft.com/office/drawing/2014/main" id="{F342F9F0-CECC-4C2F-BD06-6B7D25C151C8}"/>
              </a:ext>
            </a:extLst>
          </p:cNvPr>
          <p:cNvGrpSpPr>
            <a:grpSpLocks/>
          </p:cNvGrpSpPr>
          <p:nvPr/>
        </p:nvGrpSpPr>
        <p:grpSpPr bwMode="auto">
          <a:xfrm>
            <a:off x="6530975" y="2854325"/>
            <a:ext cx="3167063" cy="958850"/>
            <a:chOff x="6531682" y="2854325"/>
            <a:chExt cx="3166305" cy="958850"/>
          </a:xfrm>
        </p:grpSpPr>
        <p:sp>
          <p:nvSpPr>
            <p:cNvPr id="48146" name="矩形 6">
              <a:extLst>
                <a:ext uri="{FF2B5EF4-FFF2-40B4-BE49-F238E27FC236}">
                  <a16:creationId xmlns:a16="http://schemas.microsoft.com/office/drawing/2014/main" id="{09D095FD-66E5-4390-8FCE-35296900C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1682" y="3122117"/>
              <a:ext cx="103898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A</a:t>
              </a:r>
              <a:endParaRPr lang="zh-CN" altLang="en-US"/>
            </a:p>
          </p:txBody>
        </p:sp>
        <p:graphicFrame>
          <p:nvGraphicFramePr>
            <p:cNvPr id="48147" name="Object 4">
              <a:extLst>
                <a:ext uri="{FF2B5EF4-FFF2-40B4-BE49-F238E27FC236}">
                  <a16:creationId xmlns:a16="http://schemas.microsoft.com/office/drawing/2014/main" id="{927BF6B5-6CC8-4172-A40A-DA0B80A6AA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61137" y="2854325"/>
            <a:ext cx="2736850" cy="958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47800" imgH="508000" progId="Equation.DSMT4">
                    <p:embed/>
                  </p:oleObj>
                </mc:Choice>
                <mc:Fallback>
                  <p:oleObj name="Equation" r:id="rId6" imgW="1447800" imgH="508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1137" y="2854325"/>
                          <a:ext cx="2736850" cy="958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9">
            <a:extLst>
              <a:ext uri="{FF2B5EF4-FFF2-40B4-BE49-F238E27FC236}">
                <a16:creationId xmlns:a16="http://schemas.microsoft.com/office/drawing/2014/main" id="{295CF039-16DE-4E8E-BB3A-D2B87C3C4D46}"/>
              </a:ext>
            </a:extLst>
          </p:cNvPr>
          <p:cNvGrpSpPr>
            <a:grpSpLocks/>
          </p:cNvGrpSpPr>
          <p:nvPr/>
        </p:nvGrpSpPr>
        <p:grpSpPr bwMode="auto">
          <a:xfrm>
            <a:off x="2882900" y="4078288"/>
            <a:ext cx="3165475" cy="958850"/>
            <a:chOff x="2882541" y="4078288"/>
            <a:chExt cx="3165834" cy="958850"/>
          </a:xfrm>
        </p:grpSpPr>
        <p:sp>
          <p:nvSpPr>
            <p:cNvPr id="48144" name="矩形 8">
              <a:extLst>
                <a:ext uri="{FF2B5EF4-FFF2-40B4-BE49-F238E27FC236}">
                  <a16:creationId xmlns:a16="http://schemas.microsoft.com/office/drawing/2014/main" id="{079F5BBB-94D7-4938-8EB4-E4748EC7C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2541" y="4346253"/>
              <a:ext cx="103898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A</a:t>
              </a:r>
              <a:endParaRPr lang="zh-CN" altLang="en-US"/>
            </a:p>
          </p:txBody>
        </p:sp>
        <p:graphicFrame>
          <p:nvGraphicFramePr>
            <p:cNvPr id="48145" name="Object 5">
              <a:extLst>
                <a:ext uri="{FF2B5EF4-FFF2-40B4-BE49-F238E27FC236}">
                  <a16:creationId xmlns:a16="http://schemas.microsoft.com/office/drawing/2014/main" id="{B062A16E-135B-4228-B825-151B057460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1525" y="4078288"/>
            <a:ext cx="2736850" cy="958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47800" imgH="508000" progId="Equation.DSMT4">
                    <p:embed/>
                  </p:oleObj>
                </mc:Choice>
                <mc:Fallback>
                  <p:oleObj name="Equation" r:id="rId8" imgW="1447800" imgH="5080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1525" y="4078288"/>
                          <a:ext cx="2736850" cy="958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20">
            <a:extLst>
              <a:ext uri="{FF2B5EF4-FFF2-40B4-BE49-F238E27FC236}">
                <a16:creationId xmlns:a16="http://schemas.microsoft.com/office/drawing/2014/main" id="{9E1EE00D-DB75-418E-9115-126A2B546E60}"/>
              </a:ext>
            </a:extLst>
          </p:cNvPr>
          <p:cNvGrpSpPr>
            <a:grpSpLocks/>
          </p:cNvGrpSpPr>
          <p:nvPr/>
        </p:nvGrpSpPr>
        <p:grpSpPr bwMode="auto">
          <a:xfrm>
            <a:off x="6546850" y="4059238"/>
            <a:ext cx="3189288" cy="958850"/>
            <a:chOff x="6546430" y="4059238"/>
            <a:chExt cx="3189708" cy="958850"/>
          </a:xfrm>
        </p:grpSpPr>
        <p:sp>
          <p:nvSpPr>
            <p:cNvPr id="48142" name="矩形 10">
              <a:extLst>
                <a:ext uri="{FF2B5EF4-FFF2-40B4-BE49-F238E27FC236}">
                  <a16:creationId xmlns:a16="http://schemas.microsoft.com/office/drawing/2014/main" id="{28DC7CD1-9CDD-415F-9D26-D7ECE0A77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6430" y="4326608"/>
              <a:ext cx="103898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A</a:t>
              </a:r>
              <a:endParaRPr lang="zh-CN" altLang="en-US"/>
            </a:p>
          </p:txBody>
        </p:sp>
        <p:graphicFrame>
          <p:nvGraphicFramePr>
            <p:cNvPr id="48143" name="Object 6">
              <a:extLst>
                <a:ext uri="{FF2B5EF4-FFF2-40B4-BE49-F238E27FC236}">
                  <a16:creationId xmlns:a16="http://schemas.microsoft.com/office/drawing/2014/main" id="{5BED5460-95A0-4E1D-9A6B-C84E8905DE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51663" y="4059238"/>
            <a:ext cx="2784475" cy="958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473200" imgH="508000" progId="Equation.DSMT4">
                    <p:embed/>
                  </p:oleObj>
                </mc:Choice>
                <mc:Fallback>
                  <p:oleObj name="Equation" r:id="rId10" imgW="1473200" imgH="5080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1663" y="4059238"/>
                          <a:ext cx="2784475" cy="958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21">
            <a:extLst>
              <a:ext uri="{FF2B5EF4-FFF2-40B4-BE49-F238E27FC236}">
                <a16:creationId xmlns:a16="http://schemas.microsoft.com/office/drawing/2014/main" id="{491780D5-11D6-4AE9-9858-903FAD01B954}"/>
              </a:ext>
            </a:extLst>
          </p:cNvPr>
          <p:cNvGrpSpPr>
            <a:grpSpLocks/>
          </p:cNvGrpSpPr>
          <p:nvPr/>
        </p:nvGrpSpPr>
        <p:grpSpPr bwMode="auto">
          <a:xfrm>
            <a:off x="193675" y="4865688"/>
            <a:ext cx="7847013" cy="1874837"/>
            <a:chOff x="192931" y="4865540"/>
            <a:chExt cx="7848327" cy="1875630"/>
          </a:xfrm>
        </p:grpSpPr>
        <p:sp>
          <p:nvSpPr>
            <p:cNvPr id="48138" name="Text Box 17">
              <a:extLst>
                <a:ext uri="{FF2B5EF4-FFF2-40B4-BE49-F238E27FC236}">
                  <a16:creationId xmlns:a16="http://schemas.microsoft.com/office/drawing/2014/main" id="{F92D8176-D2ED-4BC9-BCF1-5858A7F44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31" y="4865540"/>
              <a:ext cx="2016224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所以有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48139" name="组合 13">
              <a:extLst>
                <a:ext uri="{FF2B5EF4-FFF2-40B4-BE49-F238E27FC236}">
                  <a16:creationId xmlns:a16="http://schemas.microsoft.com/office/drawing/2014/main" id="{DD7CDA96-1220-437E-95F9-7D7C7B78D8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783" y="5013970"/>
              <a:ext cx="6897475" cy="1727200"/>
              <a:chOff x="1143783" y="5013970"/>
              <a:chExt cx="6897475" cy="1727200"/>
            </a:xfrm>
          </p:grpSpPr>
          <p:sp>
            <p:nvSpPr>
              <p:cNvPr id="48140" name="矩形 14">
                <a:extLst>
                  <a:ext uri="{FF2B5EF4-FFF2-40B4-BE49-F238E27FC236}">
                    <a16:creationId xmlns:a16="http://schemas.microsoft.com/office/drawing/2014/main" id="{F08006E8-9A6A-4F0A-AC46-7E26246FE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783" y="5604782"/>
                <a:ext cx="103898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olidFill>
                      <a:srgbClr val="000000"/>
                    </a:solidFill>
                    <a:latin typeface="CommercialScript BT" panose="03030803040807090C04" pitchFamily="66" charset="0"/>
                    <a:ea typeface="华文新魏" panose="02010800040101010101" pitchFamily="2" charset="-122"/>
                    <a:sym typeface="Symbol" panose="05050102010706020507" pitchFamily="18" charset="2"/>
                  </a:rPr>
                  <a:t>A</a:t>
                </a:r>
                <a:endParaRPr lang="zh-CN" altLang="en-US"/>
              </a:p>
            </p:txBody>
          </p:sp>
          <p:graphicFrame>
            <p:nvGraphicFramePr>
              <p:cNvPr id="48141" name="Object 7">
                <a:extLst>
                  <a:ext uri="{FF2B5EF4-FFF2-40B4-BE49-F238E27FC236}">
                    <a16:creationId xmlns:a16="http://schemas.microsoft.com/office/drawing/2014/main" id="{4D4A586F-E522-4C81-BAD7-9A41E77B102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61083" y="5013970"/>
              <a:ext cx="6480175" cy="1727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3429000" imgH="914400" progId="Equation.DSMT4">
                      <p:embed/>
                    </p:oleObj>
                  </mc:Choice>
                  <mc:Fallback>
                    <p:oleObj name="Equation" r:id="rId12" imgW="3429000" imgH="91440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1083" y="5013970"/>
                            <a:ext cx="6480175" cy="1727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8137" name="Rectangle 5">
            <a:extLst>
              <a:ext uri="{FF2B5EF4-FFF2-40B4-BE49-F238E27FC236}">
                <a16:creationId xmlns:a16="http://schemas.microsoft.com/office/drawing/2014/main" id="{0DF937C9-827A-4F8D-AB54-A482EF1C2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线性变换的矩阵表示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B58B209F-08B9-4516-ABA2-453CC9E2B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线性变换的矩阵表示</a:t>
            </a:r>
          </a:p>
        </p:txBody>
      </p:sp>
      <p:sp>
        <p:nvSpPr>
          <p:cNvPr id="49177" name="矩形 38">
            <a:extLst>
              <a:ext uri="{FF2B5EF4-FFF2-40B4-BE49-F238E27FC236}">
                <a16:creationId xmlns:a16="http://schemas.microsoft.com/office/drawing/2014/main" id="{B235E819-EAB9-413D-AA90-BA539C6A4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412495"/>
            <a:ext cx="39326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注意：</a:t>
            </a:r>
            <a:endParaRPr lang="zh-CN" altLang="en-US" dirty="0"/>
          </a:p>
        </p:txBody>
      </p:sp>
      <p:graphicFrame>
        <p:nvGraphicFramePr>
          <p:cNvPr id="49178" name="Object 4">
            <a:extLst>
              <a:ext uri="{FF2B5EF4-FFF2-40B4-BE49-F238E27FC236}">
                <a16:creationId xmlns:a16="http://schemas.microsoft.com/office/drawing/2014/main" id="{59AED4DF-4E59-44D4-BB57-00658921C5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6139" y="1648041"/>
          <a:ext cx="5751513" cy="157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560" imgH="711000" progId="Equation.DSMT4">
                  <p:embed/>
                </p:oleObj>
              </mc:Choice>
              <mc:Fallback>
                <p:oleObj name="Equation" r:id="rId2" imgW="2590560" imgH="711000" progId="Equation.DSMT4">
                  <p:embed/>
                  <p:pic>
                    <p:nvPicPr>
                      <p:cNvPr id="49178" name="Object 4">
                        <a:extLst>
                          <a:ext uri="{FF2B5EF4-FFF2-40B4-BE49-F238E27FC236}">
                            <a16:creationId xmlns:a16="http://schemas.microsoft.com/office/drawing/2014/main" id="{59AED4DF-4E59-44D4-BB57-00658921C5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139" y="1648041"/>
                        <a:ext cx="5751513" cy="157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4" name="Object 5">
            <a:extLst>
              <a:ext uri="{FF2B5EF4-FFF2-40B4-BE49-F238E27FC236}">
                <a16:creationId xmlns:a16="http://schemas.microsoft.com/office/drawing/2014/main" id="{35D792A8-95C4-49AE-BA81-CCE202E8D2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7401168"/>
              </p:ext>
            </p:extLst>
          </p:nvPr>
        </p:nvGraphicFramePr>
        <p:xfrm>
          <a:off x="235743" y="3146640"/>
          <a:ext cx="11723688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79880" imgH="711000" progId="Equation.DSMT4">
                  <p:embed/>
                </p:oleObj>
              </mc:Choice>
              <mc:Fallback>
                <p:oleObj name="Equation" r:id="rId4" imgW="5879880" imgH="711000" progId="Equation.DSMT4">
                  <p:embed/>
                  <p:pic>
                    <p:nvPicPr>
                      <p:cNvPr id="49174" name="Object 5">
                        <a:extLst>
                          <a:ext uri="{FF2B5EF4-FFF2-40B4-BE49-F238E27FC236}">
                            <a16:creationId xmlns:a16="http://schemas.microsoft.com/office/drawing/2014/main" id="{35D792A8-95C4-49AE-BA81-CCE202E8D2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" y="3146640"/>
                        <a:ext cx="11723688" cy="1417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9" name="矩形 46">
            <a:extLst>
              <a:ext uri="{FF2B5EF4-FFF2-40B4-BE49-F238E27FC236}">
                <a16:creationId xmlns:a16="http://schemas.microsoft.com/office/drawing/2014/main" id="{E0D1B676-0338-47A1-9156-02D83491A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505" y="5038108"/>
            <a:ext cx="3932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于是</a:t>
            </a:r>
          </a:p>
        </p:txBody>
      </p:sp>
      <p:graphicFrame>
        <p:nvGraphicFramePr>
          <p:cNvPr id="49171" name="Object 6">
            <a:extLst>
              <a:ext uri="{FF2B5EF4-FFF2-40B4-BE49-F238E27FC236}">
                <a16:creationId xmlns:a16="http://schemas.microsoft.com/office/drawing/2014/main" id="{45CA1452-B746-48A1-BDA4-6D5EF7E4E7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114969"/>
              </p:ext>
            </p:extLst>
          </p:nvPr>
        </p:nvGraphicFramePr>
        <p:xfrm>
          <a:off x="3278013" y="4589463"/>
          <a:ext cx="6203950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11480" imgH="711000" progId="Equation.DSMT4">
                  <p:embed/>
                </p:oleObj>
              </mc:Choice>
              <mc:Fallback>
                <p:oleObj name="Equation" r:id="rId6" imgW="3111480" imgH="711000" progId="Equation.DSMT4">
                  <p:embed/>
                  <p:pic>
                    <p:nvPicPr>
                      <p:cNvPr id="49171" name="Object 6">
                        <a:extLst>
                          <a:ext uri="{FF2B5EF4-FFF2-40B4-BE49-F238E27FC236}">
                            <a16:creationId xmlns:a16="http://schemas.microsoft.com/office/drawing/2014/main" id="{45CA1452-B746-48A1-BDA4-6D5EF7E4E7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013" y="4589463"/>
                        <a:ext cx="6203950" cy="1417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>
            <a:extLst>
              <a:ext uri="{FF2B5EF4-FFF2-40B4-BE49-F238E27FC236}">
                <a16:creationId xmlns:a16="http://schemas.microsoft.com/office/drawing/2014/main" id="{61BF9A07-A3B7-4999-96C2-D03B1ADCB0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6804" y="1703388"/>
          <a:ext cx="3697287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54000" imgH="736560" progId="Equation.DSMT4">
                  <p:embed/>
                </p:oleObj>
              </mc:Choice>
              <mc:Fallback>
                <p:oleObj name="Equation" r:id="rId8" imgW="1854000" imgH="736560" progId="Equation.DSMT4">
                  <p:embed/>
                  <p:pic>
                    <p:nvPicPr>
                      <p:cNvPr id="29" name="Object 5">
                        <a:extLst>
                          <a:ext uri="{FF2B5EF4-FFF2-40B4-BE49-F238E27FC236}">
                            <a16:creationId xmlns:a16="http://schemas.microsoft.com/office/drawing/2014/main" id="{61BF9A07-A3B7-4999-96C2-D03B1ADCB0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6804" y="1703388"/>
                        <a:ext cx="3697287" cy="146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6742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B58B209F-08B9-4516-ABA2-453CC9E2B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线性变换的矩阵表示</a:t>
            </a:r>
          </a:p>
        </p:txBody>
      </p:sp>
      <p:sp>
        <p:nvSpPr>
          <p:cNvPr id="49155" name="矩形 30">
            <a:extLst>
              <a:ext uri="{FF2B5EF4-FFF2-40B4-BE49-F238E27FC236}">
                <a16:creationId xmlns:a16="http://schemas.microsoft.com/office/drawing/2014/main" id="{D6B6EF11-B47E-44AA-A708-2B307EE03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1054100"/>
            <a:ext cx="12003087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定理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    设线性变换 </a:t>
            </a:r>
            <a:r>
              <a:rPr lang="en-US" altLang="zh-CN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zh-CN" altLang="en-US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在基</a:t>
            </a:r>
            <a:r>
              <a:rPr lang="el-GR" altLang="zh-CN" sz="2800"/>
              <a:t>ε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el-GR" altLang="zh-CN" sz="2800"/>
              <a:t>ε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l-GR" altLang="zh-CN" sz="2800"/>
              <a:t>ε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下的矩阵为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向量</a:t>
            </a:r>
            <a:r>
              <a:rPr lang="el-GR" altLang="zh-CN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ξ</a:t>
            </a:r>
            <a:r>
              <a:rPr lang="zh-CN" altLang="en-US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在基</a:t>
            </a:r>
            <a:r>
              <a:rPr lang="el-GR" altLang="zh-CN" sz="2800">
                <a:solidFill>
                  <a:srgbClr val="000000"/>
                </a:solidFill>
              </a:rPr>
              <a:t>ε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…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l-GR" altLang="zh-CN" sz="2800">
                <a:solidFill>
                  <a:srgbClr val="000000"/>
                </a:solidFill>
              </a:rPr>
              <a:t>ε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下坐标是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X=(x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x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… ,x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(</a:t>
            </a:r>
            <a:r>
              <a:rPr lang="el-GR" altLang="zh-CN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ξ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在基</a:t>
            </a:r>
            <a:r>
              <a:rPr lang="el-GR" altLang="zh-CN" sz="2800">
                <a:solidFill>
                  <a:srgbClr val="000000"/>
                </a:solidFill>
              </a:rPr>
              <a:t>ε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el-GR" altLang="zh-CN" sz="2800">
                <a:solidFill>
                  <a:srgbClr val="000000"/>
                </a:solidFill>
              </a:rPr>
              <a:t>ε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800">
                <a:solidFill>
                  <a:srgbClr val="000000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l-GR" altLang="zh-CN" sz="2800">
                <a:solidFill>
                  <a:srgbClr val="000000"/>
                </a:solidFill>
              </a:rPr>
              <a:t>ε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下坐标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Y=(y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y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… ,y</a:t>
            </a:r>
            <a:r>
              <a:rPr lang="en-US" altLang="zh-CN" sz="2800" baseline="-25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aseline="30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可以按公式 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Y=AX  </a:t>
            </a:r>
            <a:r>
              <a:rPr lang="zh-CN" altLang="en-US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计算</a:t>
            </a:r>
            <a:r>
              <a:rPr lang="en-US" altLang="zh-CN" sz="28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  </a:t>
            </a:r>
            <a:endParaRPr lang="zh-CN" altLang="en-US">
              <a:cs typeface="Times New Roman" panose="02020603050405020304" pitchFamily="18" charset="0"/>
            </a:endParaRPr>
          </a:p>
        </p:txBody>
      </p:sp>
      <p:graphicFrame>
        <p:nvGraphicFramePr>
          <p:cNvPr id="34" name="Object 2">
            <a:extLst>
              <a:ext uri="{FF2B5EF4-FFF2-40B4-BE49-F238E27FC236}">
                <a16:creationId xmlns:a16="http://schemas.microsoft.com/office/drawing/2014/main" id="{41E2003C-7FDE-45F1-B3EA-9A18C02118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6475" y="4781550"/>
          <a:ext cx="2305050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700" imgH="939800" progId="Equation.DSMT4">
                  <p:embed/>
                </p:oleObj>
              </mc:Choice>
              <mc:Fallback>
                <p:oleObj name="Equation" r:id="rId2" imgW="1155700" imgH="939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6475" y="4781550"/>
                        <a:ext cx="2305050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36">
            <a:extLst>
              <a:ext uri="{FF2B5EF4-FFF2-40B4-BE49-F238E27FC236}">
                <a16:creationId xmlns:a16="http://schemas.microsoft.com/office/drawing/2014/main" id="{6EC5B204-57AD-4FEA-AB74-F390DB94A098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3140075"/>
            <a:ext cx="7893050" cy="1873250"/>
            <a:chOff x="76680" y="3139537"/>
            <a:chExt cx="7893115" cy="1873250"/>
          </a:xfrm>
        </p:grpSpPr>
        <p:grpSp>
          <p:nvGrpSpPr>
            <p:cNvPr id="49176" name="组合 10">
              <a:extLst>
                <a:ext uri="{FF2B5EF4-FFF2-40B4-BE49-F238E27FC236}">
                  <a16:creationId xmlns:a16="http://schemas.microsoft.com/office/drawing/2014/main" id="{1F9FB104-57BC-44C7-8300-401CB03FAB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47" y="3788651"/>
              <a:ext cx="4422817" cy="523220"/>
              <a:chOff x="3965111" y="2301014"/>
              <a:chExt cx="4422817" cy="523220"/>
            </a:xfrm>
          </p:grpSpPr>
          <p:sp>
            <p:nvSpPr>
              <p:cNvPr id="49179" name="矩形 40">
                <a:extLst>
                  <a:ext uri="{FF2B5EF4-FFF2-40B4-BE49-F238E27FC236}">
                    <a16:creationId xmlns:a16="http://schemas.microsoft.com/office/drawing/2014/main" id="{908C548F-2571-4EAF-9748-EC689ABF2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5111" y="2301014"/>
                <a:ext cx="72008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olidFill>
                      <a:srgbClr val="000000"/>
                    </a:solidFill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 A</a:t>
                </a:r>
                <a:endParaRPr lang="zh-CN" altLang="en-US"/>
              </a:p>
            </p:txBody>
          </p:sp>
          <p:graphicFrame>
            <p:nvGraphicFramePr>
              <p:cNvPr id="49180" name="Object 3">
                <a:extLst>
                  <a:ext uri="{FF2B5EF4-FFF2-40B4-BE49-F238E27FC236}">
                    <a16:creationId xmlns:a16="http://schemas.microsoft.com/office/drawing/2014/main" id="{4E81BF58-9CE4-48D2-B70B-43DD7FD790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41403" y="2349674"/>
              <a:ext cx="3946525" cy="455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981200" imgH="228600" progId="Equation.DSMT4">
                      <p:embed/>
                    </p:oleObj>
                  </mc:Choice>
                  <mc:Fallback>
                    <p:oleObj name="Equation" r:id="rId4" imgW="1981200" imgH="228600" progId="Equation.DSMT4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1403" y="2349674"/>
                            <a:ext cx="3946525" cy="4556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177" name="矩形 38">
              <a:extLst>
                <a:ext uri="{FF2B5EF4-FFF2-40B4-BE49-F238E27FC236}">
                  <a16:creationId xmlns:a16="http://schemas.microsoft.com/office/drawing/2014/main" id="{B235E819-EAB9-413D-AA90-BA539C6A4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80" y="3213770"/>
              <a:ext cx="39326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证明：已知</a:t>
              </a:r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 </a:t>
              </a:r>
              <a:endParaRPr lang="zh-CN" altLang="en-US"/>
            </a:p>
          </p:txBody>
        </p:sp>
        <p:graphicFrame>
          <p:nvGraphicFramePr>
            <p:cNvPr id="49178" name="Object 4">
              <a:extLst>
                <a:ext uri="{FF2B5EF4-FFF2-40B4-BE49-F238E27FC236}">
                  <a16:creationId xmlns:a16="http://schemas.microsoft.com/office/drawing/2014/main" id="{59AED4DF-4E59-44D4-BB57-00658921C5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58320" y="3139537"/>
            <a:ext cx="2911475" cy="1873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59866" imgH="939392" progId="Equation.DSMT4">
                    <p:embed/>
                  </p:oleObj>
                </mc:Choice>
                <mc:Fallback>
                  <p:oleObj name="Equation" r:id="rId6" imgW="1459866" imgH="939392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8320" y="3139537"/>
                          <a:ext cx="2911475" cy="1873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9">
            <a:extLst>
              <a:ext uri="{FF2B5EF4-FFF2-40B4-BE49-F238E27FC236}">
                <a16:creationId xmlns:a16="http://schemas.microsoft.com/office/drawing/2014/main" id="{CCF2F845-272B-48FE-A209-5F1CE516BE89}"/>
              </a:ext>
            </a:extLst>
          </p:cNvPr>
          <p:cNvGrpSpPr>
            <a:grpSpLocks/>
          </p:cNvGrpSpPr>
          <p:nvPr/>
        </p:nvGrpSpPr>
        <p:grpSpPr bwMode="auto">
          <a:xfrm>
            <a:off x="8156575" y="3140075"/>
            <a:ext cx="3557588" cy="1873250"/>
            <a:chOff x="7969795" y="3285919"/>
            <a:chExt cx="3557888" cy="1873250"/>
          </a:xfrm>
        </p:grpSpPr>
        <p:graphicFrame>
          <p:nvGraphicFramePr>
            <p:cNvPr id="49174" name="Object 5">
              <a:extLst>
                <a:ext uri="{FF2B5EF4-FFF2-40B4-BE49-F238E27FC236}">
                  <a16:creationId xmlns:a16="http://schemas.microsoft.com/office/drawing/2014/main" id="{35D792A8-95C4-49AE-BA81-CCE202E8D2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87608" y="3285919"/>
            <a:ext cx="3140075" cy="1873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74800" imgH="939800" progId="Equation.DSMT4">
                    <p:embed/>
                  </p:oleObj>
                </mc:Choice>
                <mc:Fallback>
                  <p:oleObj name="Equation" r:id="rId8" imgW="1574800" imgH="9398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7608" y="3285919"/>
                          <a:ext cx="3140075" cy="1873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5" name="矩形 44">
              <a:extLst>
                <a:ext uri="{FF2B5EF4-FFF2-40B4-BE49-F238E27FC236}">
                  <a16:creationId xmlns:a16="http://schemas.microsoft.com/office/drawing/2014/main" id="{624F9568-0808-4E2A-BCB5-FA18677EC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9795" y="3933850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grpSp>
        <p:nvGrpSpPr>
          <p:cNvPr id="5" name="组合 45">
            <a:extLst>
              <a:ext uri="{FF2B5EF4-FFF2-40B4-BE49-F238E27FC236}">
                <a16:creationId xmlns:a16="http://schemas.microsoft.com/office/drawing/2014/main" id="{3DEF275C-F886-4945-85F9-983CED51F8E7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4797425"/>
            <a:ext cx="7245350" cy="1873250"/>
            <a:chOff x="76680" y="4796904"/>
            <a:chExt cx="7245043" cy="1873250"/>
          </a:xfrm>
        </p:grpSpPr>
        <p:sp>
          <p:nvSpPr>
            <p:cNvPr id="49169" name="矩形 46">
              <a:extLst>
                <a:ext uri="{FF2B5EF4-FFF2-40B4-BE49-F238E27FC236}">
                  <a16:creationId xmlns:a16="http://schemas.microsoft.com/office/drawing/2014/main" id="{E0D1B676-0338-47A1-9156-02D83491A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80" y="4850790"/>
              <a:ext cx="39326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于是</a:t>
              </a:r>
            </a:p>
          </p:txBody>
        </p:sp>
        <p:grpSp>
          <p:nvGrpSpPr>
            <p:cNvPr id="49170" name="组合 22">
              <a:extLst>
                <a:ext uri="{FF2B5EF4-FFF2-40B4-BE49-F238E27FC236}">
                  <a16:creationId xmlns:a16="http://schemas.microsoft.com/office/drawing/2014/main" id="{6ED814FE-2D5C-4EC7-B403-C16754ED9F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060" y="4796904"/>
              <a:ext cx="6619663" cy="1873250"/>
              <a:chOff x="639727" y="4509914"/>
              <a:chExt cx="6619663" cy="1873250"/>
            </a:xfrm>
          </p:grpSpPr>
          <p:graphicFrame>
            <p:nvGraphicFramePr>
              <p:cNvPr id="49171" name="Object 6">
                <a:extLst>
                  <a:ext uri="{FF2B5EF4-FFF2-40B4-BE49-F238E27FC236}">
                    <a16:creationId xmlns:a16="http://schemas.microsoft.com/office/drawing/2014/main" id="{45CA1452-B746-48A1-BDA4-6D5EF7E4E7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7027" y="4509914"/>
              <a:ext cx="6202363" cy="1873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3111500" imgH="939800" progId="Equation.DSMT4">
                      <p:embed/>
                    </p:oleObj>
                  </mc:Choice>
                  <mc:Fallback>
                    <p:oleObj name="Equation" r:id="rId10" imgW="3111500" imgH="939800" progId="Equation.DSMT4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7027" y="4509914"/>
                            <a:ext cx="6202363" cy="1873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172" name="矩形 49">
                <a:extLst>
                  <a:ext uri="{FF2B5EF4-FFF2-40B4-BE49-F238E27FC236}">
                    <a16:creationId xmlns:a16="http://schemas.microsoft.com/office/drawing/2014/main" id="{8DBAD45C-945D-4C3B-9718-55E1FF6F5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727" y="5181334"/>
                <a:ext cx="51648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olidFill>
                      <a:srgbClr val="000000"/>
                    </a:solidFill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A </a:t>
                </a:r>
                <a:endParaRPr lang="zh-CN" altLang="en-US"/>
              </a:p>
            </p:txBody>
          </p:sp>
          <p:sp>
            <p:nvSpPr>
              <p:cNvPr id="49173" name="矩形 50">
                <a:extLst>
                  <a:ext uri="{FF2B5EF4-FFF2-40B4-BE49-F238E27FC236}">
                    <a16:creationId xmlns:a16="http://schemas.microsoft.com/office/drawing/2014/main" id="{E429F128-5BEC-4C80-A493-315CE00B7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9651" y="5171002"/>
                <a:ext cx="51648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olidFill>
                      <a:srgbClr val="000000"/>
                    </a:solidFill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A </a:t>
                </a:r>
                <a:endParaRPr lang="zh-CN" altLang="en-US"/>
              </a:p>
            </p:txBody>
          </p:sp>
        </p:grpSp>
      </p:grpSp>
      <p:grpSp>
        <p:nvGrpSpPr>
          <p:cNvPr id="7" name="组合 29">
            <a:extLst>
              <a:ext uri="{FF2B5EF4-FFF2-40B4-BE49-F238E27FC236}">
                <a16:creationId xmlns:a16="http://schemas.microsoft.com/office/drawing/2014/main" id="{9A8F5A57-D9F6-4A94-AFDD-1A6E091D4F51}"/>
              </a:ext>
            </a:extLst>
          </p:cNvPr>
          <p:cNvGrpSpPr>
            <a:grpSpLocks/>
          </p:cNvGrpSpPr>
          <p:nvPr/>
        </p:nvGrpSpPr>
        <p:grpSpPr bwMode="auto">
          <a:xfrm>
            <a:off x="727075" y="3789363"/>
            <a:ext cx="8250238" cy="2201862"/>
            <a:chOff x="727467" y="3789834"/>
            <a:chExt cx="8250440" cy="2201768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B855DA36-C0EE-4BC1-A5A5-526DCBB155BF}"/>
                </a:ext>
              </a:extLst>
            </p:cNvPr>
            <p:cNvSpPr/>
            <p:nvPr/>
          </p:nvSpPr>
          <p:spPr>
            <a:xfrm>
              <a:off x="8185725" y="3789834"/>
              <a:ext cx="792182" cy="50480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38408D61-8416-45B9-B31B-EC6DB7A37DBB}"/>
                </a:ext>
              </a:extLst>
            </p:cNvPr>
            <p:cNvSpPr/>
            <p:nvPr/>
          </p:nvSpPr>
          <p:spPr>
            <a:xfrm>
              <a:off x="727467" y="5486799"/>
              <a:ext cx="792182" cy="50480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" name="组合 33">
            <a:extLst>
              <a:ext uri="{FF2B5EF4-FFF2-40B4-BE49-F238E27FC236}">
                <a16:creationId xmlns:a16="http://schemas.microsoft.com/office/drawing/2014/main" id="{9BB412BF-35C0-491D-8F09-73169264176B}"/>
              </a:ext>
            </a:extLst>
          </p:cNvPr>
          <p:cNvGrpSpPr>
            <a:grpSpLocks/>
          </p:cNvGrpSpPr>
          <p:nvPr/>
        </p:nvGrpSpPr>
        <p:grpSpPr bwMode="auto">
          <a:xfrm>
            <a:off x="4873625" y="4324350"/>
            <a:ext cx="6007100" cy="1666875"/>
            <a:chOff x="4873451" y="4324370"/>
            <a:chExt cx="6007144" cy="1667232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11618825-B4C3-40B4-84A4-A932ED726CC5}"/>
                </a:ext>
              </a:extLst>
            </p:cNvPr>
            <p:cNvCxnSpPr/>
            <p:nvPr/>
          </p:nvCxnSpPr>
          <p:spPr>
            <a:xfrm>
              <a:off x="9367697" y="4324370"/>
              <a:ext cx="1512898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6C395346-6229-4A5A-9C09-B3671D9C717C}"/>
                </a:ext>
              </a:extLst>
            </p:cNvPr>
            <p:cNvCxnSpPr/>
            <p:nvPr/>
          </p:nvCxnSpPr>
          <p:spPr>
            <a:xfrm>
              <a:off x="4873451" y="5991602"/>
              <a:ext cx="1512899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36">
            <a:extLst>
              <a:ext uri="{FF2B5EF4-FFF2-40B4-BE49-F238E27FC236}">
                <a16:creationId xmlns:a16="http://schemas.microsoft.com/office/drawing/2014/main" id="{26174E60-0061-418E-8A73-247559A308A6}"/>
              </a:ext>
            </a:extLst>
          </p:cNvPr>
          <p:cNvGrpSpPr>
            <a:grpSpLocks/>
          </p:cNvGrpSpPr>
          <p:nvPr/>
        </p:nvGrpSpPr>
        <p:grpSpPr bwMode="auto">
          <a:xfrm>
            <a:off x="6427788" y="3141663"/>
            <a:ext cx="5157787" cy="3529012"/>
            <a:chOff x="6427147" y="3141762"/>
            <a:chExt cx="5158288" cy="3528392"/>
          </a:xfrm>
        </p:grpSpPr>
        <p:sp>
          <p:nvSpPr>
            <p:cNvPr id="59" name="圆角矩形 58">
              <a:extLst>
                <a:ext uri="{FF2B5EF4-FFF2-40B4-BE49-F238E27FC236}">
                  <a16:creationId xmlns:a16="http://schemas.microsoft.com/office/drawing/2014/main" id="{9F9D6119-18EB-4C4C-8CDF-23DE01FBBE01}"/>
                </a:ext>
              </a:extLst>
            </p:cNvPr>
            <p:cNvSpPr/>
            <p:nvPr/>
          </p:nvSpPr>
          <p:spPr>
            <a:xfrm>
              <a:off x="10907507" y="3141762"/>
              <a:ext cx="677928" cy="1872921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0" name="圆角矩形 59">
              <a:extLst>
                <a:ext uri="{FF2B5EF4-FFF2-40B4-BE49-F238E27FC236}">
                  <a16:creationId xmlns:a16="http://schemas.microsoft.com/office/drawing/2014/main" id="{7AE0B0B3-81FF-4CFE-AC75-5F58ED8CE857}"/>
                </a:ext>
              </a:extLst>
            </p:cNvPr>
            <p:cNvSpPr/>
            <p:nvPr/>
          </p:nvSpPr>
          <p:spPr>
            <a:xfrm>
              <a:off x="6427147" y="4797233"/>
              <a:ext cx="863684" cy="1872921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B58B209F-08B9-4516-ABA2-453CC9E2B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线性变换的矩阵表示</a:t>
            </a:r>
          </a:p>
        </p:txBody>
      </p:sp>
      <p:sp>
        <p:nvSpPr>
          <p:cNvPr id="49177" name="矩形 38">
            <a:extLst>
              <a:ext uri="{FF2B5EF4-FFF2-40B4-BE49-F238E27FC236}">
                <a16:creationId xmlns:a16="http://schemas.microsoft.com/office/drawing/2014/main" id="{B235E819-EAB9-413D-AA90-BA539C6A4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412495"/>
            <a:ext cx="39326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例：</a:t>
            </a:r>
            <a:endParaRPr lang="zh-CN" altLang="en-US" dirty="0"/>
          </a:p>
        </p:txBody>
      </p:sp>
      <p:sp>
        <p:nvSpPr>
          <p:cNvPr id="49169" name="矩形 46">
            <a:extLst>
              <a:ext uri="{FF2B5EF4-FFF2-40B4-BE49-F238E27FC236}">
                <a16:creationId xmlns:a16="http://schemas.microsoft.com/office/drawing/2014/main" id="{E0D1B676-0338-47A1-9156-02D83491A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035" y="5447093"/>
            <a:ext cx="3932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于是</a:t>
            </a:r>
          </a:p>
        </p:txBody>
      </p:sp>
      <p:graphicFrame>
        <p:nvGraphicFramePr>
          <p:cNvPr id="49171" name="Object 6">
            <a:extLst>
              <a:ext uri="{FF2B5EF4-FFF2-40B4-BE49-F238E27FC236}">
                <a16:creationId xmlns:a16="http://schemas.microsoft.com/office/drawing/2014/main" id="{45CA1452-B746-48A1-BDA4-6D5EF7E4E7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644500"/>
              </p:ext>
            </p:extLst>
          </p:nvPr>
        </p:nvGraphicFramePr>
        <p:xfrm>
          <a:off x="2065139" y="5202290"/>
          <a:ext cx="92678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47960" imgH="507960" progId="Equation.DSMT4">
                  <p:embed/>
                </p:oleObj>
              </mc:Choice>
              <mc:Fallback>
                <p:oleObj name="Equation" r:id="rId2" imgW="4647960" imgH="507960" progId="Equation.DSMT4">
                  <p:embed/>
                  <p:pic>
                    <p:nvPicPr>
                      <p:cNvPr id="49171" name="Object 6">
                        <a:extLst>
                          <a:ext uri="{FF2B5EF4-FFF2-40B4-BE49-F238E27FC236}">
                            <a16:creationId xmlns:a16="http://schemas.microsoft.com/office/drawing/2014/main" id="{45CA1452-B746-48A1-BDA4-6D5EF7E4E7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139" y="5202290"/>
                        <a:ext cx="92678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>
            <a:extLst>
              <a:ext uri="{FF2B5EF4-FFF2-40B4-BE49-F238E27FC236}">
                <a16:creationId xmlns:a16="http://schemas.microsoft.com/office/drawing/2014/main" id="{61BF9A07-A3B7-4999-96C2-D03B1ADCB0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271782"/>
              </p:ext>
            </p:extLst>
          </p:nvPr>
        </p:nvGraphicFramePr>
        <p:xfrm>
          <a:off x="1489075" y="1197546"/>
          <a:ext cx="747236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46160" imgH="507960" progId="Equation.DSMT4">
                  <p:embed/>
                </p:oleObj>
              </mc:Choice>
              <mc:Fallback>
                <p:oleObj name="Equation" r:id="rId4" imgW="3746160" imgH="507960" progId="Equation.DSMT4">
                  <p:embed/>
                  <p:pic>
                    <p:nvPicPr>
                      <p:cNvPr id="29" name="Object 5">
                        <a:extLst>
                          <a:ext uri="{FF2B5EF4-FFF2-40B4-BE49-F238E27FC236}">
                            <a16:creationId xmlns:a16="http://schemas.microsoft.com/office/drawing/2014/main" id="{61BF9A07-A3B7-4999-96C2-D03B1ADCB0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1197546"/>
                        <a:ext cx="7472363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CCD81035-64BA-44D9-A327-494F04CE6F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923291"/>
              </p:ext>
            </p:extLst>
          </p:nvPr>
        </p:nvGraphicFramePr>
        <p:xfrm>
          <a:off x="4513411" y="2325515"/>
          <a:ext cx="49403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76440" imgH="253800" progId="Equation.DSMT4">
                  <p:embed/>
                </p:oleObj>
              </mc:Choice>
              <mc:Fallback>
                <p:oleObj name="Equation" r:id="rId6" imgW="2476440" imgH="253800" progId="Equation.DSMT4">
                  <p:embed/>
                  <p:pic>
                    <p:nvPicPr>
                      <p:cNvPr id="29" name="Object 5">
                        <a:extLst>
                          <a:ext uri="{FF2B5EF4-FFF2-40B4-BE49-F238E27FC236}">
                            <a16:creationId xmlns:a16="http://schemas.microsoft.com/office/drawing/2014/main" id="{61BF9A07-A3B7-4999-96C2-D03B1ADCB0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411" y="2325515"/>
                        <a:ext cx="49403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064471DF-C3EE-48FE-8C53-7F114D1D17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813998"/>
              </p:ext>
            </p:extLst>
          </p:nvPr>
        </p:nvGraphicFramePr>
        <p:xfrm>
          <a:off x="4513411" y="3879931"/>
          <a:ext cx="696753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92360" imgH="482400" progId="Equation.DSMT4">
                  <p:embed/>
                </p:oleObj>
              </mc:Choice>
              <mc:Fallback>
                <p:oleObj name="Equation" r:id="rId8" imgW="3492360" imgH="48240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CCD81035-64BA-44D9-A327-494F04CE6F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411" y="3879931"/>
                        <a:ext cx="6967538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9FFAD9CF-03B2-4FAE-9F14-22DDA4D9AF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73293"/>
              </p:ext>
            </p:extLst>
          </p:nvPr>
        </p:nvGraphicFramePr>
        <p:xfrm>
          <a:off x="4513411" y="3102723"/>
          <a:ext cx="60547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35160" imgH="253800" progId="Equation.DSMT4">
                  <p:embed/>
                </p:oleObj>
              </mc:Choice>
              <mc:Fallback>
                <p:oleObj name="Equation" r:id="rId10" imgW="3035160" imgH="25380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CCD81035-64BA-44D9-A327-494F04CE6F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411" y="3102723"/>
                        <a:ext cx="60547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2670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>
            <a:extLst>
              <a:ext uri="{FF2B5EF4-FFF2-40B4-BE49-F238E27FC236}">
                <a16:creationId xmlns:a16="http://schemas.microsoft.com/office/drawing/2014/main" id="{DA6D8D7E-25AE-4111-9124-0599DD09F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线性变换的矩阵表示</a:t>
            </a:r>
          </a:p>
        </p:txBody>
      </p:sp>
      <p:sp>
        <p:nvSpPr>
          <p:cNvPr id="50179" name="Text Box 2">
            <a:extLst>
              <a:ext uri="{FF2B5EF4-FFF2-40B4-BE49-F238E27FC236}">
                <a16:creationId xmlns:a16="http://schemas.microsoft.com/office/drawing/2014/main" id="{21B2B3BA-00A2-428C-B142-16A3793FA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" y="1054100"/>
            <a:ext cx="12099925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定理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2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设 </a:t>
            </a:r>
            <a:r>
              <a:rPr lang="en-US" altLang="zh-CN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是线性空间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的线性变换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如果 </a:t>
            </a:r>
            <a:r>
              <a:rPr lang="en-US" altLang="zh-CN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在两组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基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和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下的矩阵分别为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B,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且由基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到基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 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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的过渡矩阵为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C,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则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B=C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AC.</a:t>
            </a:r>
          </a:p>
        </p:txBody>
      </p:sp>
      <p:grpSp>
        <p:nvGrpSpPr>
          <p:cNvPr id="2" name="组合 30">
            <a:extLst>
              <a:ext uri="{FF2B5EF4-FFF2-40B4-BE49-F238E27FC236}">
                <a16:creationId xmlns:a16="http://schemas.microsoft.com/office/drawing/2014/main" id="{12CDAD35-95AA-4164-B8C0-C9D74F55D7E2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2925763"/>
            <a:ext cx="11787188" cy="546100"/>
            <a:chOff x="76680" y="2925738"/>
            <a:chExt cx="11786034" cy="546568"/>
          </a:xfrm>
        </p:grpSpPr>
        <p:sp>
          <p:nvSpPr>
            <p:cNvPr id="50201" name="矩形 3">
              <a:extLst>
                <a:ext uri="{FF2B5EF4-FFF2-40B4-BE49-F238E27FC236}">
                  <a16:creationId xmlns:a16="http://schemas.microsoft.com/office/drawing/2014/main" id="{300FE5B7-9306-469F-8A99-D408D228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80" y="2925738"/>
              <a:ext cx="39326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证明：已知</a:t>
              </a:r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 </a:t>
              </a:r>
              <a:endParaRPr lang="zh-CN" altLang="en-US"/>
            </a:p>
          </p:txBody>
        </p:sp>
        <p:grpSp>
          <p:nvGrpSpPr>
            <p:cNvPr id="50202" name="组合 10">
              <a:extLst>
                <a:ext uri="{FF2B5EF4-FFF2-40B4-BE49-F238E27FC236}">
                  <a16:creationId xmlns:a16="http://schemas.microsoft.com/office/drawing/2014/main" id="{144052A5-B26C-45B2-9D6C-D219F7D68C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5139" y="2949086"/>
              <a:ext cx="9797575" cy="523220"/>
              <a:chOff x="264939" y="3645818"/>
              <a:chExt cx="9797575" cy="523220"/>
            </a:xfrm>
          </p:grpSpPr>
          <p:grpSp>
            <p:nvGrpSpPr>
              <p:cNvPr id="50203" name="组合 4">
                <a:extLst>
                  <a:ext uri="{FF2B5EF4-FFF2-40B4-BE49-F238E27FC236}">
                    <a16:creationId xmlns:a16="http://schemas.microsoft.com/office/drawing/2014/main" id="{2FEE47F9-A0F9-43D2-8485-21F72B5509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4939" y="3645818"/>
                <a:ext cx="4680520" cy="523220"/>
                <a:chOff x="3965111" y="2301014"/>
                <a:chExt cx="4680520" cy="523220"/>
              </a:xfrm>
            </p:grpSpPr>
            <p:sp>
              <p:nvSpPr>
                <p:cNvPr id="50207" name="矩形 5">
                  <a:extLst>
                    <a:ext uri="{FF2B5EF4-FFF2-40B4-BE49-F238E27FC236}">
                      <a16:creationId xmlns:a16="http://schemas.microsoft.com/office/drawing/2014/main" id="{C32C4800-1B11-4BC3-8669-6A66DE134F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5111" y="2301014"/>
                  <a:ext cx="720080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>
                      <a:solidFill>
                        <a:srgbClr val="000000"/>
                      </a:solidFill>
                      <a:latin typeface="CommercialScript BT" panose="03030803040807090C04" pitchFamily="66" charset="0"/>
                      <a:ea typeface="华文新魏" panose="02010800040101010101" pitchFamily="2" charset="-122"/>
                    </a:rPr>
                    <a:t> A</a:t>
                  </a:r>
                  <a:endParaRPr lang="zh-CN" altLang="en-US"/>
                </a:p>
              </p:txBody>
            </p:sp>
            <p:graphicFrame>
              <p:nvGraphicFramePr>
                <p:cNvPr id="50208" name="Object 2">
                  <a:extLst>
                    <a:ext uri="{FF2B5EF4-FFF2-40B4-BE49-F238E27FC236}">
                      <a16:creationId xmlns:a16="http://schemas.microsoft.com/office/drawing/2014/main" id="{1442EACE-00B4-4643-8C11-81376A38A87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46693" y="2349309"/>
                <a:ext cx="4198938" cy="4556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" imgW="2108200" imgH="228600" progId="Equation.DSMT4">
                        <p:embed/>
                      </p:oleObj>
                    </mc:Choice>
                    <mc:Fallback>
                      <p:oleObj name="Equation" r:id="rId2" imgW="2108200" imgH="228600" progId="Equation.DSMT4">
                        <p:embed/>
                        <p:pic>
                          <p:nvPicPr>
                            <p:cNvPr id="0" name="Object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46693" y="2349309"/>
                              <a:ext cx="4198938" cy="45561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50204" name="组合 7">
                <a:extLst>
                  <a:ext uri="{FF2B5EF4-FFF2-40B4-BE49-F238E27FC236}">
                    <a16:creationId xmlns:a16="http://schemas.microsoft.com/office/drawing/2014/main" id="{1BA13A94-9FB4-463C-8943-78AAD17E2B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49515" y="3645818"/>
                <a:ext cx="4612999" cy="523220"/>
                <a:chOff x="9955865" y="2244335"/>
                <a:chExt cx="4612999" cy="523220"/>
              </a:xfrm>
            </p:grpSpPr>
            <p:sp>
              <p:nvSpPr>
                <p:cNvPr id="50205" name="矩形 8">
                  <a:extLst>
                    <a:ext uri="{FF2B5EF4-FFF2-40B4-BE49-F238E27FC236}">
                      <a16:creationId xmlns:a16="http://schemas.microsoft.com/office/drawing/2014/main" id="{222160D1-C1CF-4800-98A3-8203403488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955865" y="2244335"/>
                  <a:ext cx="720080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>
                      <a:solidFill>
                        <a:srgbClr val="000000"/>
                      </a:solidFill>
                      <a:latin typeface="CommercialScript BT" panose="03030803040807090C04" pitchFamily="66" charset="0"/>
                      <a:ea typeface="华文新魏" panose="02010800040101010101" pitchFamily="2" charset="-122"/>
                    </a:rPr>
                    <a:t> A</a:t>
                  </a:r>
                  <a:endParaRPr lang="zh-CN" altLang="en-US"/>
                </a:p>
              </p:txBody>
            </p:sp>
            <p:graphicFrame>
              <p:nvGraphicFramePr>
                <p:cNvPr id="50206" name="Object 3">
                  <a:extLst>
                    <a:ext uri="{FF2B5EF4-FFF2-40B4-BE49-F238E27FC236}">
                      <a16:creationId xmlns:a16="http://schemas.microsoft.com/office/drawing/2014/main" id="{EDF1109B-F9FB-4A77-82DA-921437F0BA6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446126" y="2292159"/>
                <a:ext cx="4122738" cy="4556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2070100" imgH="228600" progId="Equation.DSMT4">
                        <p:embed/>
                      </p:oleObj>
                    </mc:Choice>
                    <mc:Fallback>
                      <p:oleObj name="Equation" r:id="rId4" imgW="2070100" imgH="228600" progId="Equation.DSMT4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446126" y="2292159"/>
                              <a:ext cx="4122738" cy="45561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23B0D163-78FF-49A8-BE6A-A8E3D041AE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4700" y="3983038"/>
          <a:ext cx="417353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500" imgH="228600" progId="Equation.DSMT4">
                  <p:embed/>
                </p:oleObj>
              </mc:Choice>
              <mc:Fallback>
                <p:oleObj name="Equation" r:id="rId6" imgW="20955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3983038"/>
                        <a:ext cx="417353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31">
            <a:extLst>
              <a:ext uri="{FF2B5EF4-FFF2-40B4-BE49-F238E27FC236}">
                <a16:creationId xmlns:a16="http://schemas.microsoft.com/office/drawing/2014/main" id="{8B48D870-C3F6-4572-8B2B-B9F6123EC9EE}"/>
              </a:ext>
            </a:extLst>
          </p:cNvPr>
          <p:cNvGrpSpPr>
            <a:grpSpLocks/>
          </p:cNvGrpSpPr>
          <p:nvPr/>
        </p:nvGrpSpPr>
        <p:grpSpPr bwMode="auto">
          <a:xfrm>
            <a:off x="5521325" y="3502025"/>
            <a:ext cx="4752975" cy="503238"/>
            <a:chOff x="5521523" y="3501802"/>
            <a:chExt cx="4752528" cy="504056"/>
          </a:xfrm>
        </p:grpSpPr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F79545D7-7BF1-4AD8-9EA1-336D40FE76E3}"/>
                </a:ext>
              </a:extLst>
            </p:cNvPr>
            <p:cNvCxnSpPr/>
            <p:nvPr/>
          </p:nvCxnSpPr>
          <p:spPr>
            <a:xfrm flipV="1">
              <a:off x="5521523" y="3501802"/>
              <a:ext cx="2736593" cy="504056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5E008459-54BB-4B04-A626-1E6574C9FDD5}"/>
                </a:ext>
              </a:extLst>
            </p:cNvPr>
            <p:cNvCxnSpPr/>
            <p:nvPr/>
          </p:nvCxnSpPr>
          <p:spPr>
            <a:xfrm flipV="1">
              <a:off x="5521523" y="3501802"/>
              <a:ext cx="4752528" cy="504056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33">
            <a:extLst>
              <a:ext uri="{FF2B5EF4-FFF2-40B4-BE49-F238E27FC236}">
                <a16:creationId xmlns:a16="http://schemas.microsoft.com/office/drawing/2014/main" id="{611CEA08-FB31-4FB7-B635-AEFFC84EC5B5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4346575"/>
            <a:ext cx="5514975" cy="1100138"/>
            <a:chOff x="76679" y="4346734"/>
            <a:chExt cx="5514496" cy="1099284"/>
          </a:xfrm>
        </p:grpSpPr>
        <p:sp>
          <p:nvSpPr>
            <p:cNvPr id="50196" name="矩形 16">
              <a:extLst>
                <a:ext uri="{FF2B5EF4-FFF2-40B4-BE49-F238E27FC236}">
                  <a16:creationId xmlns:a16="http://schemas.microsoft.com/office/drawing/2014/main" id="{17D010C3-FE44-4ACA-A69C-739EB25FA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9" y="4346734"/>
              <a:ext cx="39326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可得到</a:t>
              </a:r>
              <a:endParaRPr lang="zh-CN" altLang="en-US"/>
            </a:p>
          </p:txBody>
        </p:sp>
        <p:sp>
          <p:nvSpPr>
            <p:cNvPr id="50197" name="矩形 17">
              <a:extLst>
                <a:ext uri="{FF2B5EF4-FFF2-40B4-BE49-F238E27FC236}">
                  <a16:creationId xmlns:a16="http://schemas.microsoft.com/office/drawing/2014/main" id="{D62F457E-BD76-4F08-AD11-DA0B2144D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766" y="4922798"/>
              <a:ext cx="7200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 A</a:t>
              </a:r>
              <a:endParaRPr lang="zh-CN" altLang="en-US"/>
            </a:p>
          </p:txBody>
        </p:sp>
        <p:graphicFrame>
          <p:nvGraphicFramePr>
            <p:cNvPr id="50198" name="Object 5">
              <a:extLst>
                <a:ext uri="{FF2B5EF4-FFF2-40B4-BE49-F238E27FC236}">
                  <a16:creationId xmlns:a16="http://schemas.microsoft.com/office/drawing/2014/main" id="{67E74685-C41F-4511-BCC3-9353F1A643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3625" y="4969853"/>
            <a:ext cx="4527550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73300" imgH="228600" progId="Equation.DSMT4">
                    <p:embed/>
                  </p:oleObj>
                </mc:Choice>
                <mc:Fallback>
                  <p:oleObj name="Equation" r:id="rId8" imgW="2273300" imgH="228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3625" y="4969853"/>
                          <a:ext cx="4527550" cy="455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21">
            <a:extLst>
              <a:ext uri="{FF2B5EF4-FFF2-40B4-BE49-F238E27FC236}">
                <a16:creationId xmlns:a16="http://schemas.microsoft.com/office/drawing/2014/main" id="{A4E02C00-6020-4736-978C-9EC1D28801CF}"/>
              </a:ext>
            </a:extLst>
          </p:cNvPr>
          <p:cNvGrpSpPr>
            <a:grpSpLocks/>
          </p:cNvGrpSpPr>
          <p:nvPr/>
        </p:nvGrpSpPr>
        <p:grpSpPr bwMode="auto">
          <a:xfrm>
            <a:off x="5597525" y="4887913"/>
            <a:ext cx="5540375" cy="547687"/>
            <a:chOff x="5591175" y="5191125"/>
            <a:chExt cx="5540375" cy="547341"/>
          </a:xfrm>
        </p:grpSpPr>
        <p:graphicFrame>
          <p:nvGraphicFramePr>
            <p:cNvPr id="50194" name="Object 6">
              <a:extLst>
                <a:ext uri="{FF2B5EF4-FFF2-40B4-BE49-F238E27FC236}">
                  <a16:creationId xmlns:a16="http://schemas.microsoft.com/office/drawing/2014/main" id="{2DB910E2-B954-47E8-BC10-2E3C79B6C3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91175" y="5191125"/>
            <a:ext cx="5540375" cy="531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781300" imgH="266700" progId="Equation.DSMT4">
                    <p:embed/>
                  </p:oleObj>
                </mc:Choice>
                <mc:Fallback>
                  <p:oleObj name="Equation" r:id="rId10" imgW="2781300" imgH="2667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1175" y="5191125"/>
                          <a:ext cx="5540375" cy="531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5" name="矩形 20">
              <a:extLst>
                <a:ext uri="{FF2B5EF4-FFF2-40B4-BE49-F238E27FC236}">
                  <a16:creationId xmlns:a16="http://schemas.microsoft.com/office/drawing/2014/main" id="{DF392F57-F150-4499-BFEF-4634F5CE4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1139" y="521524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grpSp>
        <p:nvGrpSpPr>
          <p:cNvPr id="9" name="组合 27">
            <a:extLst>
              <a:ext uri="{FF2B5EF4-FFF2-40B4-BE49-F238E27FC236}">
                <a16:creationId xmlns:a16="http://schemas.microsoft.com/office/drawing/2014/main" id="{F800030B-45E2-48C6-B333-9344636B173E}"/>
              </a:ext>
            </a:extLst>
          </p:cNvPr>
          <p:cNvGrpSpPr>
            <a:grpSpLocks/>
          </p:cNvGrpSpPr>
          <p:nvPr/>
        </p:nvGrpSpPr>
        <p:grpSpPr bwMode="auto">
          <a:xfrm>
            <a:off x="2136775" y="3430588"/>
            <a:ext cx="8137525" cy="2016125"/>
            <a:chOff x="2137147" y="3573810"/>
            <a:chExt cx="8136904" cy="2016224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4DFC7600-9611-4AB4-AFF3-54EFB3487BA8}"/>
                </a:ext>
              </a:extLst>
            </p:cNvPr>
            <p:cNvCxnSpPr/>
            <p:nvPr/>
          </p:nvCxnSpPr>
          <p:spPr>
            <a:xfrm>
              <a:off x="2137147" y="3573810"/>
              <a:ext cx="4247826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642C2CF-CDE4-41CF-AC5E-0E4282C7C38E}"/>
                </a:ext>
              </a:extLst>
            </p:cNvPr>
            <p:cNvCxnSpPr/>
            <p:nvPr/>
          </p:nvCxnSpPr>
          <p:spPr>
            <a:xfrm>
              <a:off x="6026225" y="5590034"/>
              <a:ext cx="4247826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30">
            <a:extLst>
              <a:ext uri="{FF2B5EF4-FFF2-40B4-BE49-F238E27FC236}">
                <a16:creationId xmlns:a16="http://schemas.microsoft.com/office/drawing/2014/main" id="{11846B8D-53CA-4158-A176-1049C7A1B8F2}"/>
              </a:ext>
            </a:extLst>
          </p:cNvPr>
          <p:cNvGrpSpPr>
            <a:grpSpLocks/>
          </p:cNvGrpSpPr>
          <p:nvPr/>
        </p:nvGrpSpPr>
        <p:grpSpPr bwMode="auto">
          <a:xfrm>
            <a:off x="6384925" y="2982913"/>
            <a:ext cx="4695825" cy="2463800"/>
            <a:chOff x="6385619" y="3127014"/>
            <a:chExt cx="4695760" cy="2463020"/>
          </a:xfrm>
        </p:grpSpPr>
        <p:sp>
          <p:nvSpPr>
            <p:cNvPr id="29" name="圆角矩形 28">
              <a:extLst>
                <a:ext uri="{FF2B5EF4-FFF2-40B4-BE49-F238E27FC236}">
                  <a16:creationId xmlns:a16="http://schemas.microsoft.com/office/drawing/2014/main" id="{E8C5C131-58E5-4D54-9690-30C6D72FBDF5}"/>
                </a:ext>
              </a:extLst>
            </p:cNvPr>
            <p:cNvSpPr/>
            <p:nvPr/>
          </p:nvSpPr>
          <p:spPr>
            <a:xfrm>
              <a:off x="10201916" y="5013953"/>
              <a:ext cx="879463" cy="576081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0" name="圆角矩形 29">
              <a:extLst>
                <a:ext uri="{FF2B5EF4-FFF2-40B4-BE49-F238E27FC236}">
                  <a16:creationId xmlns:a16="http://schemas.microsoft.com/office/drawing/2014/main" id="{928C553A-2BB1-4482-AA10-EC455696E43B}"/>
                </a:ext>
              </a:extLst>
            </p:cNvPr>
            <p:cNvSpPr/>
            <p:nvPr/>
          </p:nvSpPr>
          <p:spPr>
            <a:xfrm>
              <a:off x="6385619" y="3127014"/>
              <a:ext cx="431794" cy="431663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aphicFrame>
        <p:nvGraphicFramePr>
          <p:cNvPr id="33" name="Object 7">
            <a:extLst>
              <a:ext uri="{FF2B5EF4-FFF2-40B4-BE49-F238E27FC236}">
                <a16:creationId xmlns:a16="http://schemas.microsoft.com/office/drawing/2014/main" id="{9DBAC9C8-4C80-4699-9BEB-1E085C7967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0200" y="5589588"/>
          <a:ext cx="17954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1309" imgH="228501" progId="Equation.DSMT4">
                  <p:embed/>
                </p:oleObj>
              </mc:Choice>
              <mc:Fallback>
                <p:oleObj name="Equation" r:id="rId12" imgW="901309" imgH="22850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0200" y="5589588"/>
                        <a:ext cx="179546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>
            <a:extLst>
              <a:ext uri="{FF2B5EF4-FFF2-40B4-BE49-F238E27FC236}">
                <a16:creationId xmlns:a16="http://schemas.microsoft.com/office/drawing/2014/main" id="{4E1F049E-8C5A-4F69-B97F-63A5143A3D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17100" y="5589588"/>
          <a:ext cx="18970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52087" imgH="228501" progId="Equation.DSMT4">
                  <p:embed/>
                </p:oleObj>
              </mc:Choice>
              <mc:Fallback>
                <p:oleObj name="Equation" r:id="rId14" imgW="952087" imgH="22850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7100" y="5589588"/>
                        <a:ext cx="189706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 37">
            <a:extLst>
              <a:ext uri="{FF2B5EF4-FFF2-40B4-BE49-F238E27FC236}">
                <a16:creationId xmlns:a16="http://schemas.microsoft.com/office/drawing/2014/main" id="{538DB74F-9EF9-4A14-85C9-0911502D1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8" y="5716588"/>
            <a:ext cx="76914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注：同一个线性变换在不同基下矩阵是相似的，</a:t>
            </a:r>
            <a:endParaRPr lang="en-US" altLang="zh-CN" sz="2800">
              <a:solidFill>
                <a:srgbClr val="000000"/>
              </a:solidFill>
              <a:latin typeface="CommercialScript BT" panose="03030803040807090C04" pitchFamily="66" charset="0"/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          两个基之间的过渡矩阵就是相似变换矩阵</a:t>
            </a:r>
            <a:r>
              <a:rPr lang="en-US" altLang="zh-CN" sz="2800">
                <a:solidFill>
                  <a:srgbClr val="000000"/>
                </a:solidFill>
                <a:latin typeface="CommercialScript BT" panose="03030803040807090C04" pitchFamily="66" charset="0"/>
                <a:ea typeface="华文新魏" panose="02010800040101010101" pitchFamily="2" charset="-122"/>
              </a:rPr>
              <a:t>.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>
            <a:extLst>
              <a:ext uri="{FF2B5EF4-FFF2-40B4-BE49-F238E27FC236}">
                <a16:creationId xmlns:a16="http://schemas.microsoft.com/office/drawing/2014/main" id="{86DB21BD-0595-4873-8F3D-312F5E3B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60350"/>
            <a:ext cx="55705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线性变换的矩阵表示</a:t>
            </a:r>
          </a:p>
        </p:txBody>
      </p:sp>
      <p:sp>
        <p:nvSpPr>
          <p:cNvPr id="51203" name="Text Box 17">
            <a:extLst>
              <a:ext uri="{FF2B5EF4-FFF2-40B4-BE49-F238E27FC236}">
                <a16:creationId xmlns:a16="http://schemas.microsoft.com/office/drawing/2014/main" id="{7B0EFF29-8B46-4BC5-86B0-5CFDC78E6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1049338"/>
            <a:ext cx="120745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R[x]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D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是微商线性变换，求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D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在基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1, x, x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>
                <a:ea typeface="华文新魏" panose="020108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x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n-1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下的矩阵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Text Box 17">
            <a:extLst>
              <a:ext uri="{FF2B5EF4-FFF2-40B4-BE49-F238E27FC236}">
                <a16:creationId xmlns:a16="http://schemas.microsoft.com/office/drawing/2014/main" id="{A5BE8351-D660-4A2D-A5F5-D003AA25A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1697038"/>
            <a:ext cx="99377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解：因为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)=k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k-1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所以有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8">
            <a:extLst>
              <a:ext uri="{FF2B5EF4-FFF2-40B4-BE49-F238E27FC236}">
                <a16:creationId xmlns:a16="http://schemas.microsoft.com/office/drawing/2014/main" id="{B86BC949-1975-4F2A-9955-087ABC9F291B}"/>
              </a:ext>
            </a:extLst>
          </p:cNvPr>
          <p:cNvGrpSpPr>
            <a:grpSpLocks/>
          </p:cNvGrpSpPr>
          <p:nvPr/>
        </p:nvGrpSpPr>
        <p:grpSpPr bwMode="auto">
          <a:xfrm>
            <a:off x="2641600" y="1774825"/>
            <a:ext cx="6264275" cy="2087563"/>
            <a:chOff x="2713211" y="4538422"/>
            <a:chExt cx="6264696" cy="2087563"/>
          </a:xfrm>
        </p:grpSpPr>
        <p:sp>
          <p:nvSpPr>
            <p:cNvPr id="51233" name="矩形 6">
              <a:extLst>
                <a:ext uri="{FF2B5EF4-FFF2-40B4-BE49-F238E27FC236}">
                  <a16:creationId xmlns:a16="http://schemas.microsoft.com/office/drawing/2014/main" id="{E27291FC-8B00-4B1C-B067-7E83DF085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3211" y="5302002"/>
              <a:ext cx="45236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D</a:t>
              </a:r>
              <a:endParaRPr lang="zh-CN" altLang="en-US"/>
            </a:p>
          </p:txBody>
        </p:sp>
        <p:graphicFrame>
          <p:nvGraphicFramePr>
            <p:cNvPr id="51234" name="Object 2">
              <a:extLst>
                <a:ext uri="{FF2B5EF4-FFF2-40B4-BE49-F238E27FC236}">
                  <a16:creationId xmlns:a16="http://schemas.microsoft.com/office/drawing/2014/main" id="{1E0E9474-91A2-47B4-9484-669B52C2B8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7332" y="4538422"/>
            <a:ext cx="5870575" cy="2087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213100" imgH="1143000" progId="Equation.DSMT4">
                    <p:embed/>
                  </p:oleObj>
                </mc:Choice>
                <mc:Fallback>
                  <p:oleObj name="Equation" r:id="rId2" imgW="3213100" imgH="11430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332" y="4538422"/>
                          <a:ext cx="5870575" cy="2087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7">
            <a:extLst>
              <a:ext uri="{FF2B5EF4-FFF2-40B4-BE49-F238E27FC236}">
                <a16:creationId xmlns:a16="http://schemas.microsoft.com/office/drawing/2014/main" id="{638CEF5E-07A7-4CF6-8CA2-67C7CEF6A3D7}"/>
              </a:ext>
            </a:extLst>
          </p:cNvPr>
          <p:cNvGrpSpPr>
            <a:grpSpLocks/>
          </p:cNvGrpSpPr>
          <p:nvPr/>
        </p:nvGrpSpPr>
        <p:grpSpPr bwMode="auto">
          <a:xfrm>
            <a:off x="3316288" y="1774825"/>
            <a:ext cx="3759200" cy="2016125"/>
            <a:chOff x="3317039" y="1774279"/>
            <a:chExt cx="3759164" cy="2016224"/>
          </a:xfrm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02BE21DE-7224-4A11-A61C-EE9BCD4D0CBE}"/>
                </a:ext>
              </a:extLst>
            </p:cNvPr>
            <p:cNvSpPr/>
            <p:nvPr/>
          </p:nvSpPr>
          <p:spPr>
            <a:xfrm>
              <a:off x="6788868" y="1774279"/>
              <a:ext cx="287335" cy="201622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B110A531-8B88-479C-94C8-AD3E69B6DB11}"/>
                </a:ext>
              </a:extLst>
            </p:cNvPr>
            <p:cNvSpPr/>
            <p:nvPr/>
          </p:nvSpPr>
          <p:spPr>
            <a:xfrm>
              <a:off x="3317039" y="2668086"/>
              <a:ext cx="230185" cy="258775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4" name="组合 13">
            <a:extLst>
              <a:ext uri="{FF2B5EF4-FFF2-40B4-BE49-F238E27FC236}">
                <a16:creationId xmlns:a16="http://schemas.microsoft.com/office/drawing/2014/main" id="{73500284-E5F2-4407-B338-E8D1B068CD79}"/>
              </a:ext>
            </a:extLst>
          </p:cNvPr>
          <p:cNvGrpSpPr>
            <a:grpSpLocks/>
          </p:cNvGrpSpPr>
          <p:nvPr/>
        </p:nvGrpSpPr>
        <p:grpSpPr bwMode="auto">
          <a:xfrm>
            <a:off x="120650" y="3717925"/>
            <a:ext cx="12074525" cy="935038"/>
            <a:chOff x="120923" y="981522"/>
            <a:chExt cx="12074252" cy="936104"/>
          </a:xfrm>
        </p:grpSpPr>
        <p:sp>
          <p:nvSpPr>
            <p:cNvPr id="51229" name="Text Box 17">
              <a:extLst>
                <a:ext uri="{FF2B5EF4-FFF2-40B4-BE49-F238E27FC236}">
                  <a16:creationId xmlns:a16="http://schemas.microsoft.com/office/drawing/2014/main" id="{8D7D1A19-5275-41FE-BDB3-08B4A19B3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23" y="1125538"/>
              <a:ext cx="12074252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例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4  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线性空间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R[x]</a:t>
              </a:r>
              <a:r>
                <a:rPr lang="en-US" altLang="zh-CN" sz="2800" baseline="-250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n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中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, </a:t>
              </a: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D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是微商线性变换，求</a:t>
              </a: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D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在基                          下的矩阵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.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51230" name="Object 3">
              <a:extLst>
                <a:ext uri="{FF2B5EF4-FFF2-40B4-BE49-F238E27FC236}">
                  <a16:creationId xmlns:a16="http://schemas.microsoft.com/office/drawing/2014/main" id="{472A7A50-3422-488D-98E3-B96907E3C4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29835" y="981522"/>
            <a:ext cx="2327609" cy="936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68400" imgH="469900" progId="Equation.DSMT4">
                    <p:embed/>
                  </p:oleObj>
                </mc:Choice>
                <mc:Fallback>
                  <p:oleObj name="Equation" r:id="rId4" imgW="1168400" imgH="4699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29835" y="981522"/>
                          <a:ext cx="2327609" cy="936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39">
            <a:extLst>
              <a:ext uri="{FF2B5EF4-FFF2-40B4-BE49-F238E27FC236}">
                <a16:creationId xmlns:a16="http://schemas.microsoft.com/office/drawing/2014/main" id="{6F172920-C9CA-4A71-A95B-78F8CEBD7AEA}"/>
              </a:ext>
            </a:extLst>
          </p:cNvPr>
          <p:cNvGrpSpPr>
            <a:grpSpLocks/>
          </p:cNvGrpSpPr>
          <p:nvPr/>
        </p:nvGrpSpPr>
        <p:grpSpPr bwMode="auto">
          <a:xfrm>
            <a:off x="193675" y="4581525"/>
            <a:ext cx="6551613" cy="652463"/>
            <a:chOff x="192931" y="4581922"/>
            <a:chExt cx="6552728" cy="652486"/>
          </a:xfrm>
        </p:grpSpPr>
        <p:sp>
          <p:nvSpPr>
            <p:cNvPr id="51227" name="Text Box 17">
              <a:extLst>
                <a:ext uri="{FF2B5EF4-FFF2-40B4-BE49-F238E27FC236}">
                  <a16:creationId xmlns:a16="http://schemas.microsoft.com/office/drawing/2014/main" id="{87AF521E-15C8-4870-BA92-EE5E8207E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31" y="4581922"/>
              <a:ext cx="6552728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解：因为</a:t>
              </a: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D      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                              ,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所以有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51228" name="Object 4">
              <a:extLst>
                <a:ext uri="{FF2B5EF4-FFF2-40B4-BE49-F238E27FC236}">
                  <a16:creationId xmlns:a16="http://schemas.microsoft.com/office/drawing/2014/main" id="{619F5CAD-A412-4FC0-95AA-39A1746837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0592" y="4652963"/>
            <a:ext cx="2936875" cy="506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73200" imgH="254000" progId="Equation.DSMT4">
                    <p:embed/>
                  </p:oleObj>
                </mc:Choice>
                <mc:Fallback>
                  <p:oleObj name="Equation" r:id="rId6" imgW="1473200" imgH="254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592" y="4652963"/>
                          <a:ext cx="2936875" cy="506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19">
            <a:extLst>
              <a:ext uri="{FF2B5EF4-FFF2-40B4-BE49-F238E27FC236}">
                <a16:creationId xmlns:a16="http://schemas.microsoft.com/office/drawing/2014/main" id="{3C1C504F-506D-4264-9CF9-628B254FBDC3}"/>
              </a:ext>
            </a:extLst>
          </p:cNvPr>
          <p:cNvGrpSpPr>
            <a:grpSpLocks/>
          </p:cNvGrpSpPr>
          <p:nvPr/>
        </p:nvGrpSpPr>
        <p:grpSpPr bwMode="auto">
          <a:xfrm>
            <a:off x="2132013" y="4581525"/>
            <a:ext cx="7421562" cy="2087563"/>
            <a:chOff x="2713211" y="4537827"/>
            <a:chExt cx="7421761" cy="2087562"/>
          </a:xfrm>
        </p:grpSpPr>
        <p:sp>
          <p:nvSpPr>
            <p:cNvPr id="51225" name="矩形 20">
              <a:extLst>
                <a:ext uri="{FF2B5EF4-FFF2-40B4-BE49-F238E27FC236}">
                  <a16:creationId xmlns:a16="http://schemas.microsoft.com/office/drawing/2014/main" id="{17A50C99-BCED-407E-B3F8-1D9DB902B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3211" y="5302002"/>
              <a:ext cx="45236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  <a:sym typeface="Symbol" panose="05050102010706020507" pitchFamily="18" charset="2"/>
                </a:rPr>
                <a:t>D</a:t>
              </a:r>
              <a:endParaRPr lang="zh-CN" altLang="en-US"/>
            </a:p>
          </p:txBody>
        </p:sp>
        <p:graphicFrame>
          <p:nvGraphicFramePr>
            <p:cNvPr id="51226" name="Object 5">
              <a:extLst>
                <a:ext uri="{FF2B5EF4-FFF2-40B4-BE49-F238E27FC236}">
                  <a16:creationId xmlns:a16="http://schemas.microsoft.com/office/drawing/2014/main" id="{4715819F-39FC-4F02-8784-BE82E2FC64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3935" y="4537827"/>
            <a:ext cx="7031037" cy="2087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48100" imgH="1143000" progId="Equation.DSMT4">
                    <p:embed/>
                  </p:oleObj>
                </mc:Choice>
                <mc:Fallback>
                  <p:oleObj name="Equation" r:id="rId8" imgW="3848100" imgH="11430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3935" y="4537827"/>
                          <a:ext cx="7031037" cy="2087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37">
            <a:extLst>
              <a:ext uri="{FF2B5EF4-FFF2-40B4-BE49-F238E27FC236}">
                <a16:creationId xmlns:a16="http://schemas.microsoft.com/office/drawing/2014/main" id="{D3FDDF06-F1EA-4B8B-AA10-7B2B2B8A1E4D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4583113"/>
            <a:ext cx="5300662" cy="2016125"/>
            <a:chOff x="2798235" y="4582517"/>
            <a:chExt cx="5300828" cy="2016224"/>
          </a:xfrm>
        </p:grpSpPr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4B30D808-070C-4CEA-BE13-02BB68035C05}"/>
                </a:ext>
              </a:extLst>
            </p:cNvPr>
            <p:cNvSpPr/>
            <p:nvPr/>
          </p:nvSpPr>
          <p:spPr>
            <a:xfrm>
              <a:off x="7811717" y="4582517"/>
              <a:ext cx="287346" cy="201622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6" name="圆角矩形 25">
              <a:extLst>
                <a:ext uri="{FF2B5EF4-FFF2-40B4-BE49-F238E27FC236}">
                  <a16:creationId xmlns:a16="http://schemas.microsoft.com/office/drawing/2014/main" id="{B0CD09F5-47BB-4443-9F07-72D74CD5117E}"/>
                </a:ext>
              </a:extLst>
            </p:cNvPr>
            <p:cNvSpPr/>
            <p:nvPr/>
          </p:nvSpPr>
          <p:spPr>
            <a:xfrm>
              <a:off x="2798235" y="5476323"/>
              <a:ext cx="230194" cy="258776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9" name="组合 38">
            <a:extLst>
              <a:ext uri="{FF2B5EF4-FFF2-40B4-BE49-F238E27FC236}">
                <a16:creationId xmlns:a16="http://schemas.microsoft.com/office/drawing/2014/main" id="{1FB87A54-8579-40FB-A2A6-A54E213F90ED}"/>
              </a:ext>
            </a:extLst>
          </p:cNvPr>
          <p:cNvGrpSpPr>
            <a:grpSpLocks/>
          </p:cNvGrpSpPr>
          <p:nvPr/>
        </p:nvGrpSpPr>
        <p:grpSpPr bwMode="auto">
          <a:xfrm>
            <a:off x="8904288" y="2997200"/>
            <a:ext cx="3170237" cy="1501775"/>
            <a:chOff x="8903639" y="2997746"/>
            <a:chExt cx="3170612" cy="1500513"/>
          </a:xfrm>
        </p:grpSpPr>
        <p:sp>
          <p:nvSpPr>
            <p:cNvPr id="31" name="任意多边形 30">
              <a:extLst>
                <a:ext uri="{FF2B5EF4-FFF2-40B4-BE49-F238E27FC236}">
                  <a16:creationId xmlns:a16="http://schemas.microsoft.com/office/drawing/2014/main" id="{7A39E191-B4CC-4306-B74E-B3115C90BFBE}"/>
                </a:ext>
              </a:extLst>
            </p:cNvPr>
            <p:cNvSpPr/>
            <p:nvPr/>
          </p:nvSpPr>
          <p:spPr>
            <a:xfrm>
              <a:off x="8903639" y="3142088"/>
              <a:ext cx="793844" cy="1356171"/>
            </a:xfrm>
            <a:custGeom>
              <a:avLst/>
              <a:gdLst>
                <a:gd name="connsiteX0" fmla="*/ 0 w 631723"/>
                <a:gd name="connsiteY0" fmla="*/ 0 h 1327355"/>
                <a:gd name="connsiteX1" fmla="*/ 560439 w 631723"/>
                <a:gd name="connsiteY1" fmla="*/ 339213 h 1327355"/>
                <a:gd name="connsiteX2" fmla="*/ 427703 w 631723"/>
                <a:gd name="connsiteY2" fmla="*/ 1327355 h 1327355"/>
                <a:gd name="connsiteX3" fmla="*/ 427703 w 631723"/>
                <a:gd name="connsiteY3" fmla="*/ 1327355 h 1327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723" h="1327355">
                  <a:moveTo>
                    <a:pt x="0" y="0"/>
                  </a:moveTo>
                  <a:cubicBezTo>
                    <a:pt x="244577" y="58993"/>
                    <a:pt x="489155" y="117987"/>
                    <a:pt x="560439" y="339213"/>
                  </a:cubicBezTo>
                  <a:cubicBezTo>
                    <a:pt x="631723" y="560439"/>
                    <a:pt x="427703" y="1327355"/>
                    <a:pt x="427703" y="1327355"/>
                  </a:cubicBezTo>
                  <a:lnTo>
                    <a:pt x="427703" y="1327355"/>
                  </a:lnTo>
                </a:path>
              </a:pathLst>
            </a:custGeom>
            <a:ln w="38100">
              <a:solidFill>
                <a:srgbClr val="C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1222" name="Text Box 17">
              <a:extLst>
                <a:ext uri="{FF2B5EF4-FFF2-40B4-BE49-F238E27FC236}">
                  <a16:creationId xmlns:a16="http://schemas.microsoft.com/office/drawing/2014/main" id="{EB81E430-3834-4E50-962B-C763F1A197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5979" y="2997746"/>
              <a:ext cx="2448272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它们是相似的！</a:t>
              </a:r>
              <a:endPara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4" name="组合 32">
            <a:extLst>
              <a:ext uri="{FF2B5EF4-FFF2-40B4-BE49-F238E27FC236}">
                <a16:creationId xmlns:a16="http://schemas.microsoft.com/office/drawing/2014/main" id="{AC35E564-23AD-446C-B6E3-232153467623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1774825"/>
            <a:ext cx="3543300" cy="2016125"/>
            <a:chOff x="3130511" y="1774279"/>
            <a:chExt cx="3543140" cy="2016224"/>
          </a:xfrm>
        </p:grpSpPr>
        <p:grpSp>
          <p:nvGrpSpPr>
            <p:cNvPr id="51217" name="组合 26">
              <a:extLst>
                <a:ext uri="{FF2B5EF4-FFF2-40B4-BE49-F238E27FC236}">
                  <a16:creationId xmlns:a16="http://schemas.microsoft.com/office/drawing/2014/main" id="{98A05FEB-3FBA-4EED-BC81-C4DB22ED9D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0511" y="1774279"/>
              <a:ext cx="3543140" cy="2016224"/>
              <a:chOff x="3130511" y="1774279"/>
              <a:chExt cx="3543140" cy="2016224"/>
            </a:xfrm>
          </p:grpSpPr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48E6F652-10E8-4C8B-8A0C-F5341CFABE19}"/>
                  </a:ext>
                </a:extLst>
              </p:cNvPr>
              <p:cNvSpPr/>
              <p:nvPr/>
            </p:nvSpPr>
            <p:spPr>
              <a:xfrm>
                <a:off x="6386327" y="1774279"/>
                <a:ext cx="287324" cy="2016224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0F1C3790-E4A9-41FD-BA2B-18F1244F4A65}"/>
                  </a:ext>
                </a:extLst>
              </p:cNvPr>
              <p:cNvSpPr/>
              <p:nvPr/>
            </p:nvSpPr>
            <p:spPr>
              <a:xfrm>
                <a:off x="3130511" y="2653797"/>
                <a:ext cx="144456" cy="287352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5BAB501-4FEF-4C27-8EE2-1FE86BBC81AA}"/>
                </a:ext>
              </a:extLst>
            </p:cNvPr>
            <p:cNvCxnSpPr/>
            <p:nvPr/>
          </p:nvCxnSpPr>
          <p:spPr>
            <a:xfrm>
              <a:off x="4873507" y="2998302"/>
              <a:ext cx="129534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36">
            <a:extLst>
              <a:ext uri="{FF2B5EF4-FFF2-40B4-BE49-F238E27FC236}">
                <a16:creationId xmlns:a16="http://schemas.microsoft.com/office/drawing/2014/main" id="{7E541861-2D85-41D9-9167-D0AEFBF1B7CC}"/>
              </a:ext>
            </a:extLst>
          </p:cNvPr>
          <p:cNvGrpSpPr>
            <a:grpSpLocks/>
          </p:cNvGrpSpPr>
          <p:nvPr/>
        </p:nvGrpSpPr>
        <p:grpSpPr bwMode="auto">
          <a:xfrm>
            <a:off x="2611438" y="4583113"/>
            <a:ext cx="5084762" cy="2016125"/>
            <a:chOff x="2611707" y="4582517"/>
            <a:chExt cx="5084804" cy="2016224"/>
          </a:xfrm>
        </p:grpSpPr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E20D0B1C-7A19-472F-9E73-CE0791C078F7}"/>
                </a:ext>
              </a:extLst>
            </p:cNvPr>
            <p:cNvSpPr/>
            <p:nvPr/>
          </p:nvSpPr>
          <p:spPr>
            <a:xfrm>
              <a:off x="7409172" y="4582517"/>
              <a:ext cx="287339" cy="201622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A1F3B371-642C-4E5A-8547-E40136EFC3B0}"/>
                </a:ext>
              </a:extLst>
            </p:cNvPr>
            <p:cNvSpPr/>
            <p:nvPr/>
          </p:nvSpPr>
          <p:spPr>
            <a:xfrm>
              <a:off x="2611707" y="5462035"/>
              <a:ext cx="144463" cy="287351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C7592D7-2CEB-403A-96E4-EFF8A69E9563}"/>
                </a:ext>
              </a:extLst>
            </p:cNvPr>
            <p:cNvCxnSpPr/>
            <p:nvPr/>
          </p:nvCxnSpPr>
          <p:spPr>
            <a:xfrm>
              <a:off x="5161253" y="6093891"/>
              <a:ext cx="1944703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>
            <a:extLst>
              <a:ext uri="{FF2B5EF4-FFF2-40B4-BE49-F238E27FC236}">
                <a16:creationId xmlns:a16="http://schemas.microsoft.com/office/drawing/2014/main" id="{30A2127B-FB7E-4D8A-B6FA-B0A126F79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" y="261938"/>
            <a:ext cx="81851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sp>
        <p:nvSpPr>
          <p:cNvPr id="52227" name="Text Box 2">
            <a:extLst>
              <a:ext uri="{FF2B5EF4-FFF2-40B4-BE49-F238E27FC236}">
                <a16:creationId xmlns:a16="http://schemas.microsoft.com/office/drawing/2014/main" id="{F528CB8E-E8BA-428F-BCF5-ED791DCAC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1322388"/>
            <a:ext cx="12145963" cy="160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求线性空间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的线性变换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A                                   </a:t>
            </a:r>
            <a:r>
              <a:rPr lang="zh-CN" altLang="en-US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在基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=(1,0,0)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=(0,1,0)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=(0,0,1)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下的矩阵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  <a:endParaRPr lang="en-US" altLang="zh-CN" sz="2800">
              <a:latin typeface="CommercialScript BT" panose="03030803040807090C04" pitchFamily="66" charset="0"/>
              <a:ea typeface="华文新魏" panose="02010800040101010101" pitchFamily="2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140A284D-20A1-4F88-9684-9AB590BFF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3136900"/>
            <a:ext cx="950595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解：由线性变换的法则可知</a:t>
            </a:r>
          </a:p>
        </p:txBody>
      </p:sp>
      <p:graphicFrame>
        <p:nvGraphicFramePr>
          <p:cNvPr id="52229" name="Object 3">
            <a:extLst>
              <a:ext uri="{FF2B5EF4-FFF2-40B4-BE49-F238E27FC236}">
                <a16:creationId xmlns:a16="http://schemas.microsoft.com/office/drawing/2014/main" id="{1A965756-C517-4331-A396-55ECF28146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9888" y="1196975"/>
          <a:ext cx="230346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5100" imgH="711200" progId="Equation.DSMT4">
                  <p:embed/>
                </p:oleObj>
              </mc:Choice>
              <mc:Fallback>
                <p:oleObj name="Equation" r:id="rId2" imgW="14351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9888" y="1196975"/>
                        <a:ext cx="230346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3">
            <a:extLst>
              <a:ext uri="{FF2B5EF4-FFF2-40B4-BE49-F238E27FC236}">
                <a16:creationId xmlns:a16="http://schemas.microsoft.com/office/drawing/2014/main" id="{9BD3B4A6-67B2-4C34-9D7B-4BEEBB0ACA17}"/>
              </a:ext>
            </a:extLst>
          </p:cNvPr>
          <p:cNvGrpSpPr>
            <a:grpSpLocks/>
          </p:cNvGrpSpPr>
          <p:nvPr/>
        </p:nvGrpSpPr>
        <p:grpSpPr bwMode="auto">
          <a:xfrm>
            <a:off x="2928938" y="3860800"/>
            <a:ext cx="1603375" cy="1368425"/>
            <a:chOff x="4801443" y="2925738"/>
            <a:chExt cx="1603623" cy="1368425"/>
          </a:xfrm>
        </p:grpSpPr>
        <p:graphicFrame>
          <p:nvGraphicFramePr>
            <p:cNvPr id="52240" name="Object 2">
              <a:extLst>
                <a:ext uri="{FF2B5EF4-FFF2-40B4-BE49-F238E27FC236}">
                  <a16:creationId xmlns:a16="http://schemas.microsoft.com/office/drawing/2014/main" id="{2620307F-CDD0-44A5-8EC3-3C649D15E2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3491" y="2925738"/>
            <a:ext cx="1171575" cy="1368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336" imgH="710891" progId="Equation.DSMT4">
                    <p:embed/>
                  </p:oleObj>
                </mc:Choice>
                <mc:Fallback>
                  <p:oleObj name="Equation" r:id="rId4" imgW="609336" imgH="710891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3491" y="2925738"/>
                          <a:ext cx="1171575" cy="1368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41" name="矩形 12">
              <a:extLst>
                <a:ext uri="{FF2B5EF4-FFF2-40B4-BE49-F238E27FC236}">
                  <a16:creationId xmlns:a16="http://schemas.microsoft.com/office/drawing/2014/main" id="{726E9FE8-4961-42E5-A196-D3552217D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grpSp>
        <p:nvGrpSpPr>
          <p:cNvPr id="3" name="组合 14">
            <a:extLst>
              <a:ext uri="{FF2B5EF4-FFF2-40B4-BE49-F238E27FC236}">
                <a16:creationId xmlns:a16="http://schemas.microsoft.com/office/drawing/2014/main" id="{4517B5E5-4AED-4792-9003-44B82FA425EC}"/>
              </a:ext>
            </a:extLst>
          </p:cNvPr>
          <p:cNvGrpSpPr>
            <a:grpSpLocks/>
          </p:cNvGrpSpPr>
          <p:nvPr/>
        </p:nvGrpSpPr>
        <p:grpSpPr bwMode="auto">
          <a:xfrm>
            <a:off x="5137150" y="3860800"/>
            <a:ext cx="1824038" cy="1368425"/>
            <a:chOff x="4801443" y="2925763"/>
            <a:chExt cx="1824286" cy="1368425"/>
          </a:xfrm>
        </p:grpSpPr>
        <p:graphicFrame>
          <p:nvGraphicFramePr>
            <p:cNvPr id="52238" name="Object 4">
              <a:extLst>
                <a:ext uri="{FF2B5EF4-FFF2-40B4-BE49-F238E27FC236}">
                  <a16:creationId xmlns:a16="http://schemas.microsoft.com/office/drawing/2014/main" id="{D5962797-3FF5-4B71-8A9A-969074D4FF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3491" y="2925763"/>
            <a:ext cx="1392238" cy="1368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23586" imgH="710891" progId="Equation.DSMT4">
                    <p:embed/>
                  </p:oleObj>
                </mc:Choice>
                <mc:Fallback>
                  <p:oleObj name="Equation" r:id="rId6" imgW="723586" imgH="710891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3491" y="2925763"/>
                          <a:ext cx="1392238" cy="1368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9" name="矩形 18">
              <a:extLst>
                <a:ext uri="{FF2B5EF4-FFF2-40B4-BE49-F238E27FC236}">
                  <a16:creationId xmlns:a16="http://schemas.microsoft.com/office/drawing/2014/main" id="{B05E408A-5188-42E9-AD0B-FC1A4C0F0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grpSp>
        <p:nvGrpSpPr>
          <p:cNvPr id="4" name="组合 19">
            <a:extLst>
              <a:ext uri="{FF2B5EF4-FFF2-40B4-BE49-F238E27FC236}">
                <a16:creationId xmlns:a16="http://schemas.microsoft.com/office/drawing/2014/main" id="{CBA9E48C-DF42-4EB5-AEC1-5EDB1548AFEA}"/>
              </a:ext>
            </a:extLst>
          </p:cNvPr>
          <p:cNvGrpSpPr>
            <a:grpSpLocks/>
          </p:cNvGrpSpPr>
          <p:nvPr/>
        </p:nvGrpSpPr>
        <p:grpSpPr bwMode="auto">
          <a:xfrm>
            <a:off x="7442200" y="3860800"/>
            <a:ext cx="1679575" cy="1368425"/>
            <a:chOff x="4801443" y="2925788"/>
            <a:chExt cx="1680270" cy="1368425"/>
          </a:xfrm>
        </p:grpSpPr>
        <p:graphicFrame>
          <p:nvGraphicFramePr>
            <p:cNvPr id="52236" name="Object 5">
              <a:extLst>
                <a:ext uri="{FF2B5EF4-FFF2-40B4-BE49-F238E27FC236}">
                  <a16:creationId xmlns:a16="http://schemas.microsoft.com/office/drawing/2014/main" id="{CDA3A671-363E-4F54-A0DA-ED266C2BCE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7113" y="2925788"/>
            <a:ext cx="1244600" cy="1368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47700" imgH="711200" progId="Equation.DSMT4">
                    <p:embed/>
                  </p:oleObj>
                </mc:Choice>
                <mc:Fallback>
                  <p:oleObj name="Equation" r:id="rId8" imgW="647700" imgH="7112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7113" y="2925788"/>
                          <a:ext cx="1244600" cy="1368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7" name="矩形 21">
              <a:extLst>
                <a:ext uri="{FF2B5EF4-FFF2-40B4-BE49-F238E27FC236}">
                  <a16:creationId xmlns:a16="http://schemas.microsoft.com/office/drawing/2014/main" id="{8D9245AD-789F-4FF8-A9C0-34375E0A6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grpSp>
        <p:nvGrpSpPr>
          <p:cNvPr id="5" name="组合 22">
            <a:extLst>
              <a:ext uri="{FF2B5EF4-FFF2-40B4-BE49-F238E27FC236}">
                <a16:creationId xmlns:a16="http://schemas.microsoft.com/office/drawing/2014/main" id="{4BAC0D0F-8DC9-4988-8A16-92F661DC142B}"/>
              </a:ext>
            </a:extLst>
          </p:cNvPr>
          <p:cNvGrpSpPr>
            <a:grpSpLocks/>
          </p:cNvGrpSpPr>
          <p:nvPr/>
        </p:nvGrpSpPr>
        <p:grpSpPr bwMode="auto">
          <a:xfrm>
            <a:off x="2857500" y="5332413"/>
            <a:ext cx="4754563" cy="1368425"/>
            <a:chOff x="4801443" y="2956276"/>
            <a:chExt cx="4754810" cy="1368425"/>
          </a:xfrm>
        </p:grpSpPr>
        <p:graphicFrame>
          <p:nvGraphicFramePr>
            <p:cNvPr id="52234" name="Object 6">
              <a:extLst>
                <a:ext uri="{FF2B5EF4-FFF2-40B4-BE49-F238E27FC236}">
                  <a16:creationId xmlns:a16="http://schemas.microsoft.com/office/drawing/2014/main" id="{842EE5E6-EB62-4A9D-A086-8803BC209A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3491" y="2956276"/>
            <a:ext cx="4322762" cy="1368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47900" imgH="711200" progId="Equation.DSMT4">
                    <p:embed/>
                  </p:oleObj>
                </mc:Choice>
                <mc:Fallback>
                  <p:oleObj name="Equation" r:id="rId10" imgW="2247900" imgH="711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3491" y="2956276"/>
                          <a:ext cx="4322762" cy="1368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5" name="矩形 24">
              <a:extLst>
                <a:ext uri="{FF2B5EF4-FFF2-40B4-BE49-F238E27FC236}">
                  <a16:creationId xmlns:a16="http://schemas.microsoft.com/office/drawing/2014/main" id="{E3FFFB02-84B8-43E0-95FE-411C2D499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>
            <a:extLst>
              <a:ext uri="{FF2B5EF4-FFF2-40B4-BE49-F238E27FC236}">
                <a16:creationId xmlns:a16="http://schemas.microsoft.com/office/drawing/2014/main" id="{1C214590-A3C6-49F2-BAD1-41AA0C898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" y="261938"/>
            <a:ext cx="81851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48D2401D-60D3-47EB-B65B-246D0A653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1322388"/>
            <a:ext cx="12145963" cy="289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已知线性空间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的两组基                              和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如果线性变换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zh-CN" altLang="en-US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使得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                                  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求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(1)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A </a:t>
            </a:r>
            <a:r>
              <a:rPr lang="zh-CN" altLang="en-US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在基 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ε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ε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ε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下的矩阵；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(2)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A </a:t>
            </a:r>
            <a:r>
              <a:rPr lang="zh-CN" altLang="en-US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在基 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η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η 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η 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下的矩阵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53252" name="Object 2">
            <a:extLst>
              <a:ext uri="{FF2B5EF4-FFF2-40B4-BE49-F238E27FC236}">
                <a16:creationId xmlns:a16="http://schemas.microsoft.com/office/drawing/2014/main" id="{303A3257-D41E-48B4-8E1A-126FC0E3B0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7925" y="1196975"/>
          <a:ext cx="2590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900" imgH="711200" progId="Equation.DSMT4">
                  <p:embed/>
                </p:oleObj>
              </mc:Choice>
              <mc:Fallback>
                <p:oleObj name="Equation" r:id="rId2" imgW="1612900" imgH="71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1196975"/>
                        <a:ext cx="2590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3">
            <a:extLst>
              <a:ext uri="{FF2B5EF4-FFF2-40B4-BE49-F238E27FC236}">
                <a16:creationId xmlns:a16="http://schemas.microsoft.com/office/drawing/2014/main" id="{C1C7BFDD-B6B6-4592-B4BF-95DF4401E2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0200" y="1196975"/>
          <a:ext cx="263366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300" imgH="711200" progId="Equation.DSMT4">
                  <p:embed/>
                </p:oleObj>
              </mc:Choice>
              <mc:Fallback>
                <p:oleObj name="Equation" r:id="rId4" imgW="16383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0200" y="1196975"/>
                        <a:ext cx="263366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4" name="组合 5">
            <a:extLst>
              <a:ext uri="{FF2B5EF4-FFF2-40B4-BE49-F238E27FC236}">
                <a16:creationId xmlns:a16="http://schemas.microsoft.com/office/drawing/2014/main" id="{12624BFC-DC3F-4317-88A2-655C117E2CF5}"/>
              </a:ext>
            </a:extLst>
          </p:cNvPr>
          <p:cNvGrpSpPr>
            <a:grpSpLocks/>
          </p:cNvGrpSpPr>
          <p:nvPr/>
        </p:nvGrpSpPr>
        <p:grpSpPr bwMode="auto">
          <a:xfrm>
            <a:off x="3433763" y="2366963"/>
            <a:ext cx="1685925" cy="1250950"/>
            <a:chOff x="4801443" y="2974725"/>
            <a:chExt cx="1881011" cy="1368425"/>
          </a:xfrm>
        </p:grpSpPr>
        <p:graphicFrame>
          <p:nvGraphicFramePr>
            <p:cNvPr id="53277" name="Object 4">
              <a:extLst>
                <a:ext uri="{FF2B5EF4-FFF2-40B4-BE49-F238E27FC236}">
                  <a16:creationId xmlns:a16="http://schemas.microsoft.com/office/drawing/2014/main" id="{54B2C1CB-4D53-4477-BA16-4A975D2DEE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66404" y="2974725"/>
            <a:ext cx="1416050" cy="1368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36600" imgH="711200" progId="Equation.DSMT4">
                    <p:embed/>
                  </p:oleObj>
                </mc:Choice>
                <mc:Fallback>
                  <p:oleObj name="Equation" r:id="rId6" imgW="736600" imgH="7112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6404" y="2974725"/>
                          <a:ext cx="1416050" cy="1368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8" name="矩形 7">
              <a:extLst>
                <a:ext uri="{FF2B5EF4-FFF2-40B4-BE49-F238E27FC236}">
                  <a16:creationId xmlns:a16="http://schemas.microsoft.com/office/drawing/2014/main" id="{D56FA809-C6ED-4C29-A67D-8953839B3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grpSp>
        <p:nvGrpSpPr>
          <p:cNvPr id="53255" name="组合 8">
            <a:extLst>
              <a:ext uri="{FF2B5EF4-FFF2-40B4-BE49-F238E27FC236}">
                <a16:creationId xmlns:a16="http://schemas.microsoft.com/office/drawing/2014/main" id="{328AA97D-6681-4E88-8F22-DD9364B49DAE}"/>
              </a:ext>
            </a:extLst>
          </p:cNvPr>
          <p:cNvGrpSpPr>
            <a:grpSpLocks/>
          </p:cNvGrpSpPr>
          <p:nvPr/>
        </p:nvGrpSpPr>
        <p:grpSpPr bwMode="auto">
          <a:xfrm>
            <a:off x="5233988" y="2349500"/>
            <a:ext cx="1655762" cy="1252538"/>
            <a:chOff x="4801443" y="2957440"/>
            <a:chExt cx="1824287" cy="1369150"/>
          </a:xfrm>
        </p:grpSpPr>
        <p:graphicFrame>
          <p:nvGraphicFramePr>
            <p:cNvPr id="53275" name="Object 5">
              <a:extLst>
                <a:ext uri="{FF2B5EF4-FFF2-40B4-BE49-F238E27FC236}">
                  <a16:creationId xmlns:a16="http://schemas.microsoft.com/office/drawing/2014/main" id="{488D57B0-9B17-4CB2-ACF1-51FBFC9D6A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09010" y="2957440"/>
            <a:ext cx="1316720" cy="1369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85800" imgH="711200" progId="Equation.DSMT4">
                    <p:embed/>
                  </p:oleObj>
                </mc:Choice>
                <mc:Fallback>
                  <p:oleObj name="Equation" r:id="rId8" imgW="685800" imgH="7112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9010" y="2957440"/>
                          <a:ext cx="1316720" cy="1369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6" name="矩形 10">
              <a:extLst>
                <a:ext uri="{FF2B5EF4-FFF2-40B4-BE49-F238E27FC236}">
                  <a16:creationId xmlns:a16="http://schemas.microsoft.com/office/drawing/2014/main" id="{3F78F566-1D91-4370-B809-370BEBA4A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grpSp>
        <p:nvGrpSpPr>
          <p:cNvPr id="53256" name="组合 11">
            <a:extLst>
              <a:ext uri="{FF2B5EF4-FFF2-40B4-BE49-F238E27FC236}">
                <a16:creationId xmlns:a16="http://schemas.microsoft.com/office/drawing/2014/main" id="{806CC2AF-C310-4AD3-A23B-2ABCF6E9C8DE}"/>
              </a:ext>
            </a:extLst>
          </p:cNvPr>
          <p:cNvGrpSpPr>
            <a:grpSpLocks/>
          </p:cNvGrpSpPr>
          <p:nvPr/>
        </p:nvGrpSpPr>
        <p:grpSpPr bwMode="auto">
          <a:xfrm>
            <a:off x="6937375" y="2278063"/>
            <a:ext cx="1897063" cy="1323975"/>
            <a:chOff x="4801443" y="2926198"/>
            <a:chExt cx="1896294" cy="1368520"/>
          </a:xfrm>
        </p:grpSpPr>
        <p:graphicFrame>
          <p:nvGraphicFramePr>
            <p:cNvPr id="53273" name="Object 6">
              <a:extLst>
                <a:ext uri="{FF2B5EF4-FFF2-40B4-BE49-F238E27FC236}">
                  <a16:creationId xmlns:a16="http://schemas.microsoft.com/office/drawing/2014/main" id="{E1251E9D-ED6E-43DC-AD76-D7DAAB75A3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0100" y="2926198"/>
            <a:ext cx="1417637" cy="1368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36600" imgH="711200" progId="Equation.DSMT4">
                    <p:embed/>
                  </p:oleObj>
                </mc:Choice>
                <mc:Fallback>
                  <p:oleObj name="Equation" r:id="rId10" imgW="736600" imgH="711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100" y="2926198"/>
                          <a:ext cx="1417637" cy="1368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4" name="矩形 13">
              <a:extLst>
                <a:ext uri="{FF2B5EF4-FFF2-40B4-BE49-F238E27FC236}">
                  <a16:creationId xmlns:a16="http://schemas.microsoft.com/office/drawing/2014/main" id="{CCCDE4E1-0CB1-47AA-89E6-BCD1036AF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sp>
        <p:nvSpPr>
          <p:cNvPr id="15" name="Text Box 6">
            <a:extLst>
              <a:ext uri="{FF2B5EF4-FFF2-40B4-BE49-F238E27FC236}">
                <a16:creationId xmlns:a16="http://schemas.microsoft.com/office/drawing/2014/main" id="{11157B16-A48B-48A6-99CE-907FA806A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4360863"/>
            <a:ext cx="950595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解：由题意可知</a:t>
            </a:r>
          </a:p>
        </p:txBody>
      </p:sp>
      <p:grpSp>
        <p:nvGrpSpPr>
          <p:cNvPr id="5" name="组合 15">
            <a:extLst>
              <a:ext uri="{FF2B5EF4-FFF2-40B4-BE49-F238E27FC236}">
                <a16:creationId xmlns:a16="http://schemas.microsoft.com/office/drawing/2014/main" id="{D343D443-3A0D-4E4D-B867-0ACAF86EFC42}"/>
              </a:ext>
            </a:extLst>
          </p:cNvPr>
          <p:cNvGrpSpPr>
            <a:grpSpLocks/>
          </p:cNvGrpSpPr>
          <p:nvPr/>
        </p:nvGrpSpPr>
        <p:grpSpPr bwMode="auto">
          <a:xfrm>
            <a:off x="2784475" y="4149725"/>
            <a:ext cx="4075113" cy="1160463"/>
            <a:chOff x="4801443" y="3047319"/>
            <a:chExt cx="4074960" cy="1160907"/>
          </a:xfrm>
        </p:grpSpPr>
        <p:graphicFrame>
          <p:nvGraphicFramePr>
            <p:cNvPr id="53271" name="Object 7">
              <a:extLst>
                <a:ext uri="{FF2B5EF4-FFF2-40B4-BE49-F238E27FC236}">
                  <a16:creationId xmlns:a16="http://schemas.microsoft.com/office/drawing/2014/main" id="{C3AE18F2-6BD7-4987-A2E2-1F6CC322EE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50925" y="3047319"/>
            <a:ext cx="3625478" cy="1160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22500" imgH="711200" progId="Equation.DSMT4">
                    <p:embed/>
                  </p:oleObj>
                </mc:Choice>
                <mc:Fallback>
                  <p:oleObj name="Equation" r:id="rId12" imgW="2222500" imgH="711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0925" y="3047319"/>
                          <a:ext cx="3625478" cy="11609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2" name="矩形 17">
              <a:extLst>
                <a:ext uri="{FF2B5EF4-FFF2-40B4-BE49-F238E27FC236}">
                  <a16:creationId xmlns:a16="http://schemas.microsoft.com/office/drawing/2014/main" id="{32BA7EE8-60B6-4051-A559-956BB1D5E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graphicFrame>
        <p:nvGraphicFramePr>
          <p:cNvPr id="22536" name="Object 8">
            <a:extLst>
              <a:ext uri="{FF2B5EF4-FFF2-40B4-BE49-F238E27FC236}">
                <a16:creationId xmlns:a16="http://schemas.microsoft.com/office/drawing/2014/main" id="{1D666383-9DF6-430A-AB4C-8DEA615FFE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7450" y="4121150"/>
          <a:ext cx="365125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20900" imgH="711200" progId="Equation.DSMT4">
                  <p:embed/>
                </p:oleObj>
              </mc:Choice>
              <mc:Fallback>
                <p:oleObj name="Equation" r:id="rId14" imgW="21209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7450" y="4121150"/>
                        <a:ext cx="3651250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>
            <a:extLst>
              <a:ext uri="{FF2B5EF4-FFF2-40B4-BE49-F238E27FC236}">
                <a16:creationId xmlns:a16="http://schemas.microsoft.com/office/drawing/2014/main" id="{55393C07-6857-4D01-B3AA-A53B1E5D1D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3" y="5272088"/>
          <a:ext cx="4152900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13000" imgH="749300" progId="Equation.DSMT4">
                  <p:embed/>
                </p:oleObj>
              </mc:Choice>
              <mc:Fallback>
                <p:oleObj name="Equation" r:id="rId16" imgW="2413000" imgH="749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3" y="5272088"/>
                        <a:ext cx="4152900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24">
            <a:extLst>
              <a:ext uri="{FF2B5EF4-FFF2-40B4-BE49-F238E27FC236}">
                <a16:creationId xmlns:a16="http://schemas.microsoft.com/office/drawing/2014/main" id="{08B19CBB-617E-499E-81A5-87F31EB528D9}"/>
              </a:ext>
            </a:extLst>
          </p:cNvPr>
          <p:cNvGrpSpPr>
            <a:grpSpLocks/>
          </p:cNvGrpSpPr>
          <p:nvPr/>
        </p:nvGrpSpPr>
        <p:grpSpPr bwMode="auto">
          <a:xfrm>
            <a:off x="1128713" y="4870450"/>
            <a:ext cx="3744912" cy="935038"/>
            <a:chOff x="1129035" y="4869954"/>
            <a:chExt cx="3744416" cy="936104"/>
          </a:xfrm>
        </p:grpSpPr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71099FD3-BC30-4E54-ADC7-6642952858BE}"/>
                </a:ext>
              </a:extLst>
            </p:cNvPr>
            <p:cNvCxnSpPr/>
            <p:nvPr/>
          </p:nvCxnSpPr>
          <p:spPr>
            <a:xfrm flipV="1">
              <a:off x="1129035" y="4941473"/>
              <a:ext cx="2665059" cy="86458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886650F9-3035-4E49-9221-FB9B9CD9EA6C}"/>
                </a:ext>
              </a:extLst>
            </p:cNvPr>
            <p:cNvCxnSpPr/>
            <p:nvPr/>
          </p:nvCxnSpPr>
          <p:spPr>
            <a:xfrm flipV="1">
              <a:off x="1200463" y="4869954"/>
              <a:ext cx="3672988" cy="936104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25">
            <a:extLst>
              <a:ext uri="{FF2B5EF4-FFF2-40B4-BE49-F238E27FC236}">
                <a16:creationId xmlns:a16="http://schemas.microsoft.com/office/drawing/2014/main" id="{97097EA5-72D5-47D8-8B00-53627A2F770D}"/>
              </a:ext>
            </a:extLst>
          </p:cNvPr>
          <p:cNvGrpSpPr>
            <a:grpSpLocks/>
          </p:cNvGrpSpPr>
          <p:nvPr/>
        </p:nvGrpSpPr>
        <p:grpSpPr bwMode="auto">
          <a:xfrm>
            <a:off x="4225925" y="5684838"/>
            <a:ext cx="3065463" cy="522287"/>
            <a:chOff x="4483915" y="3357786"/>
            <a:chExt cx="3065463" cy="523220"/>
          </a:xfrm>
        </p:grpSpPr>
        <p:graphicFrame>
          <p:nvGraphicFramePr>
            <p:cNvPr id="53267" name="Object 10">
              <a:extLst>
                <a:ext uri="{FF2B5EF4-FFF2-40B4-BE49-F238E27FC236}">
                  <a16:creationId xmlns:a16="http://schemas.microsoft.com/office/drawing/2014/main" id="{7FFFB87D-D571-4A4A-9465-16C22E2625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83915" y="3440697"/>
            <a:ext cx="3065463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879600" imgH="228600" progId="Equation.DSMT4">
                    <p:embed/>
                  </p:oleObj>
                </mc:Choice>
                <mc:Fallback>
                  <p:oleObj name="Equation" r:id="rId18" imgW="1879600" imgH="228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3915" y="3440697"/>
                          <a:ext cx="3065463" cy="373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8" name="矩形 27">
              <a:extLst>
                <a:ext uri="{FF2B5EF4-FFF2-40B4-BE49-F238E27FC236}">
                  <a16:creationId xmlns:a16="http://schemas.microsoft.com/office/drawing/2014/main" id="{27FEC96E-FA07-4919-959E-A0D19EB46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C28A98F-6CF9-46C9-9C1C-B32968AD0AF6}"/>
              </a:ext>
            </a:extLst>
          </p:cNvPr>
          <p:cNvCxnSpPr/>
          <p:nvPr/>
        </p:nvCxnSpPr>
        <p:spPr>
          <a:xfrm>
            <a:off x="5521325" y="5302250"/>
            <a:ext cx="129698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F64EA98-D450-41B9-BD02-315E1112C4CD}"/>
              </a:ext>
            </a:extLst>
          </p:cNvPr>
          <p:cNvCxnSpPr/>
          <p:nvPr/>
        </p:nvCxnSpPr>
        <p:spPr>
          <a:xfrm>
            <a:off x="7366000" y="6597650"/>
            <a:ext cx="125253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Object 11">
            <a:extLst>
              <a:ext uri="{FF2B5EF4-FFF2-40B4-BE49-F238E27FC236}">
                <a16:creationId xmlns:a16="http://schemas.microsoft.com/office/drawing/2014/main" id="{21B36C07-3B87-44DE-93CD-2459EB932E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1550" y="5302250"/>
          <a:ext cx="3729038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86000" imgH="749300" progId="Equation.DSMT4">
                  <p:embed/>
                </p:oleObj>
              </mc:Choice>
              <mc:Fallback>
                <p:oleObj name="Equation" r:id="rId20" imgW="2286000" imgH="749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302250"/>
                        <a:ext cx="3729038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Object 12">
            <a:extLst>
              <a:ext uri="{FF2B5EF4-FFF2-40B4-BE49-F238E27FC236}">
                <a16:creationId xmlns:a16="http://schemas.microsoft.com/office/drawing/2014/main" id="{D68F3362-EED9-4081-BD86-49B619B232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1550" y="5373688"/>
          <a:ext cx="140811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63225" imgH="710891" progId="Equation.DSMT4">
                  <p:embed/>
                </p:oleObj>
              </mc:Choice>
              <mc:Fallback>
                <p:oleObj name="Equation" r:id="rId22" imgW="863225" imgH="71089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373688"/>
                        <a:ext cx="140811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5">
            <a:extLst>
              <a:ext uri="{FF2B5EF4-FFF2-40B4-BE49-F238E27FC236}">
                <a16:creationId xmlns:a16="http://schemas.microsoft.com/office/drawing/2014/main" id="{BC137531-DED5-4FE8-A47D-24E7303DC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" y="261938"/>
            <a:ext cx="81851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grpSp>
        <p:nvGrpSpPr>
          <p:cNvPr id="54275" name="组合 6">
            <a:extLst>
              <a:ext uri="{FF2B5EF4-FFF2-40B4-BE49-F238E27FC236}">
                <a16:creationId xmlns:a16="http://schemas.microsoft.com/office/drawing/2014/main" id="{0019A696-4F03-45A3-B978-6F1F95CA0ECC}"/>
              </a:ext>
            </a:extLst>
          </p:cNvPr>
          <p:cNvGrpSpPr>
            <a:grpSpLocks/>
          </p:cNvGrpSpPr>
          <p:nvPr/>
        </p:nvGrpSpPr>
        <p:grpSpPr bwMode="auto">
          <a:xfrm>
            <a:off x="217488" y="1054100"/>
            <a:ext cx="12144375" cy="1384300"/>
            <a:chOff x="73023" y="1322978"/>
            <a:chExt cx="12145244" cy="1384995"/>
          </a:xfrm>
        </p:grpSpPr>
        <p:sp>
          <p:nvSpPr>
            <p:cNvPr id="54292" name="Text Box 2">
              <a:extLst>
                <a:ext uri="{FF2B5EF4-FFF2-40B4-BE49-F238E27FC236}">
                  <a16:creationId xmlns:a16="http://schemas.microsoft.com/office/drawing/2014/main" id="{CCF8C6E7-0C46-459D-A68A-E0D534170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3" y="1322978"/>
              <a:ext cx="12145244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习题</a:t>
              </a:r>
              <a:r>
                <a:rPr lang="en-US" altLang="zh-CN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  </a:t>
              </a: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在线性空间                                       </a:t>
              </a: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</a:rPr>
                <a:t>                                   </a:t>
              </a:r>
              <a:r>
                <a:rPr lang="zh-CN" altLang="en-US" sz="2800">
                  <a:latin typeface="CommercialScript BT" panose="03030803040807090C04" pitchFamily="66" charset="0"/>
                  <a:ea typeface="华文新魏" panose="02010800040101010101" pitchFamily="2" charset="-122"/>
                </a:rPr>
                <a:t>中取一组基</a:t>
              </a:r>
              <a:endPara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endParaRPr>
            </a:p>
            <a:p>
              <a:pPr eaLnBrk="1" hangingPunct="1">
                <a:lnSpc>
                  <a:spcPct val="150000"/>
                </a:lnSpc>
              </a:pP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</a:rPr>
                <a:t>                                                                           </a:t>
              </a:r>
              <a:r>
                <a:rPr lang="zh-CN" altLang="en-US" sz="2800">
                  <a:latin typeface="CommercialScript BT" panose="03030803040807090C04" pitchFamily="66" charset="0"/>
                  <a:ea typeface="华文新魏" panose="02010800040101010101" pitchFamily="2" charset="-122"/>
                </a:rPr>
                <a:t>求微分运算</a:t>
              </a: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</a:rPr>
                <a:t>D</a:t>
              </a:r>
              <a:r>
                <a:rPr lang="zh-CN" altLang="en-US" sz="2800">
                  <a:latin typeface="CommercialScript BT" panose="03030803040807090C04" pitchFamily="66" charset="0"/>
                  <a:ea typeface="华文新魏" panose="02010800040101010101" pitchFamily="2" charset="-122"/>
                </a:rPr>
                <a:t>在这个基下的矩阵</a:t>
              </a:r>
              <a:r>
                <a:rPr lang="en-US" altLang="zh-CN" sz="2800">
                  <a:latin typeface="CommercialScript BT" panose="03030803040807090C04" pitchFamily="66" charset="0"/>
                  <a:ea typeface="华文新魏" panose="02010800040101010101" pitchFamily="2" charset="-122"/>
                </a:rPr>
                <a:t>.</a:t>
              </a:r>
            </a:p>
          </p:txBody>
        </p:sp>
        <p:graphicFrame>
          <p:nvGraphicFramePr>
            <p:cNvPr id="54293" name="Object 2">
              <a:extLst>
                <a:ext uri="{FF2B5EF4-FFF2-40B4-BE49-F238E27FC236}">
                  <a16:creationId xmlns:a16="http://schemas.microsoft.com/office/drawing/2014/main" id="{736E09E6-4BEA-4BA9-BAAE-652D318EA3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9235" y="1440655"/>
            <a:ext cx="5957539" cy="5767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55900" imgH="266700" progId="Equation.DSMT4">
                    <p:embed/>
                  </p:oleObj>
                </mc:Choice>
                <mc:Fallback>
                  <p:oleObj name="Equation" r:id="rId2" imgW="2755900" imgH="2667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9235" y="1440655"/>
                          <a:ext cx="5957539" cy="5767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4" name="Object 3">
              <a:extLst>
                <a:ext uri="{FF2B5EF4-FFF2-40B4-BE49-F238E27FC236}">
                  <a16:creationId xmlns:a16="http://schemas.microsoft.com/office/drawing/2014/main" id="{5E2043D7-C143-4A3E-B2C4-C383284CC3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4263" y="2061642"/>
            <a:ext cx="4256087" cy="577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68500" imgH="266700" progId="Equation.DSMT4">
                    <p:embed/>
                  </p:oleObj>
                </mc:Choice>
                <mc:Fallback>
                  <p:oleObj name="Equation" r:id="rId4" imgW="1968500" imgH="2667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4263" y="2061642"/>
                          <a:ext cx="4256087" cy="577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6">
            <a:extLst>
              <a:ext uri="{FF2B5EF4-FFF2-40B4-BE49-F238E27FC236}">
                <a16:creationId xmlns:a16="http://schemas.microsoft.com/office/drawing/2014/main" id="{D4E4D0A2-7287-4581-ACAF-F51473A73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3" y="2493963"/>
            <a:ext cx="950436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解：由线性变换的法则可知</a:t>
            </a:r>
          </a:p>
        </p:txBody>
      </p:sp>
      <p:grpSp>
        <p:nvGrpSpPr>
          <p:cNvPr id="3" name="组合 19">
            <a:extLst>
              <a:ext uri="{FF2B5EF4-FFF2-40B4-BE49-F238E27FC236}">
                <a16:creationId xmlns:a16="http://schemas.microsoft.com/office/drawing/2014/main" id="{A8DB11FB-555F-43D7-BD33-DFE6D4CA723E}"/>
              </a:ext>
            </a:extLst>
          </p:cNvPr>
          <p:cNvGrpSpPr>
            <a:grpSpLocks/>
          </p:cNvGrpSpPr>
          <p:nvPr/>
        </p:nvGrpSpPr>
        <p:grpSpPr bwMode="auto">
          <a:xfrm>
            <a:off x="552450" y="3414713"/>
            <a:ext cx="2955925" cy="622300"/>
            <a:chOff x="2166789" y="3742896"/>
            <a:chExt cx="2955629" cy="623002"/>
          </a:xfrm>
        </p:grpSpPr>
        <p:graphicFrame>
          <p:nvGraphicFramePr>
            <p:cNvPr id="54290" name="Object 4">
              <a:extLst>
                <a:ext uri="{FF2B5EF4-FFF2-40B4-BE49-F238E27FC236}">
                  <a16:creationId xmlns:a16="http://schemas.microsoft.com/office/drawing/2014/main" id="{C2922827-4A55-4966-B7D1-9449280292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8838" y="3742896"/>
            <a:ext cx="2523580" cy="6230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91726" imgH="266584" progId="Equation.DSMT4">
                    <p:embed/>
                  </p:oleObj>
                </mc:Choice>
                <mc:Fallback>
                  <p:oleObj name="Equation" r:id="rId6" imgW="1091726" imgH="266584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8838" y="3742896"/>
                          <a:ext cx="2523580" cy="6230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1" name="矩形 9">
              <a:extLst>
                <a:ext uri="{FF2B5EF4-FFF2-40B4-BE49-F238E27FC236}">
                  <a16:creationId xmlns:a16="http://schemas.microsoft.com/office/drawing/2014/main" id="{886642B6-FB42-4AE1-9189-A032531E2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6789" y="3842678"/>
              <a:ext cx="45236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D</a:t>
              </a:r>
              <a:endParaRPr lang="zh-CN" altLang="en-US"/>
            </a:p>
          </p:txBody>
        </p:sp>
      </p:grpSp>
      <p:grpSp>
        <p:nvGrpSpPr>
          <p:cNvPr id="4" name="组合 20">
            <a:extLst>
              <a:ext uri="{FF2B5EF4-FFF2-40B4-BE49-F238E27FC236}">
                <a16:creationId xmlns:a16="http://schemas.microsoft.com/office/drawing/2014/main" id="{E178E6A3-3DF5-4721-ACFA-25FCAF4CAA0D}"/>
              </a:ext>
            </a:extLst>
          </p:cNvPr>
          <p:cNvGrpSpPr>
            <a:grpSpLocks/>
          </p:cNvGrpSpPr>
          <p:nvPr/>
        </p:nvGrpSpPr>
        <p:grpSpPr bwMode="auto">
          <a:xfrm>
            <a:off x="481013" y="4538663"/>
            <a:ext cx="2455862" cy="622300"/>
            <a:chOff x="5263132" y="3743324"/>
            <a:chExt cx="2455154" cy="622574"/>
          </a:xfrm>
        </p:grpSpPr>
        <p:graphicFrame>
          <p:nvGraphicFramePr>
            <p:cNvPr id="54288" name="Object 5">
              <a:extLst>
                <a:ext uri="{FF2B5EF4-FFF2-40B4-BE49-F238E27FC236}">
                  <a16:creationId xmlns:a16="http://schemas.microsoft.com/office/drawing/2014/main" id="{AACF6706-2AFF-4D8F-B4D2-D2BD7F6C66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94922" y="3743324"/>
            <a:ext cx="2023364" cy="622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75920" imgH="266584" progId="Equation.DSMT4">
                    <p:embed/>
                  </p:oleObj>
                </mc:Choice>
                <mc:Fallback>
                  <p:oleObj name="Equation" r:id="rId8" imgW="875920" imgH="266584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4922" y="3743324"/>
                          <a:ext cx="2023364" cy="6225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9" name="矩形 12">
              <a:extLst>
                <a:ext uri="{FF2B5EF4-FFF2-40B4-BE49-F238E27FC236}">
                  <a16:creationId xmlns:a16="http://schemas.microsoft.com/office/drawing/2014/main" id="{96C78551-D0C0-4F07-8A01-23A8BFAA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3132" y="3842678"/>
              <a:ext cx="45236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D</a:t>
              </a:r>
              <a:endParaRPr lang="zh-CN" altLang="en-US"/>
            </a:p>
          </p:txBody>
        </p:sp>
      </p:grpSp>
      <p:grpSp>
        <p:nvGrpSpPr>
          <p:cNvPr id="5" name="组合 21">
            <a:extLst>
              <a:ext uri="{FF2B5EF4-FFF2-40B4-BE49-F238E27FC236}">
                <a16:creationId xmlns:a16="http://schemas.microsoft.com/office/drawing/2014/main" id="{6D5F6D9A-17FE-4636-9681-4D7C5ED75B39}"/>
              </a:ext>
            </a:extLst>
          </p:cNvPr>
          <p:cNvGrpSpPr>
            <a:grpSpLocks/>
          </p:cNvGrpSpPr>
          <p:nvPr/>
        </p:nvGrpSpPr>
        <p:grpSpPr bwMode="auto">
          <a:xfrm>
            <a:off x="454025" y="5662613"/>
            <a:ext cx="1639888" cy="622300"/>
            <a:chOff x="7984689" y="3743324"/>
            <a:chExt cx="1641290" cy="622574"/>
          </a:xfrm>
        </p:grpSpPr>
        <p:graphicFrame>
          <p:nvGraphicFramePr>
            <p:cNvPr id="54286" name="Object 6">
              <a:extLst>
                <a:ext uri="{FF2B5EF4-FFF2-40B4-BE49-F238E27FC236}">
                  <a16:creationId xmlns:a16="http://schemas.microsoft.com/office/drawing/2014/main" id="{260A9255-2EB9-4BBD-B28C-FA8A6FDBDB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31485" y="3743324"/>
            <a:ext cx="1194494" cy="619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20474" imgH="266584" progId="Equation.DSMT4">
                    <p:embed/>
                  </p:oleObj>
                </mc:Choice>
                <mc:Fallback>
                  <p:oleObj name="Equation" r:id="rId10" imgW="520474" imgH="266584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31485" y="3743324"/>
                          <a:ext cx="1194494" cy="619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7" name="矩形 15">
              <a:extLst>
                <a:ext uri="{FF2B5EF4-FFF2-40B4-BE49-F238E27FC236}">
                  <a16:creationId xmlns:a16="http://schemas.microsoft.com/office/drawing/2014/main" id="{753437C2-55C4-4CA9-9607-A73B13F67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4689" y="3842678"/>
              <a:ext cx="45236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D</a:t>
              </a:r>
              <a:endParaRPr lang="zh-CN" altLang="en-US"/>
            </a:p>
          </p:txBody>
        </p:sp>
      </p:grpSp>
      <p:grpSp>
        <p:nvGrpSpPr>
          <p:cNvPr id="7" name="组合 22">
            <a:extLst>
              <a:ext uri="{FF2B5EF4-FFF2-40B4-BE49-F238E27FC236}">
                <a16:creationId xmlns:a16="http://schemas.microsoft.com/office/drawing/2014/main" id="{96463318-F0C0-46F2-B4F0-B2EFF918EB3B}"/>
              </a:ext>
            </a:extLst>
          </p:cNvPr>
          <p:cNvGrpSpPr>
            <a:grpSpLocks/>
          </p:cNvGrpSpPr>
          <p:nvPr/>
        </p:nvGrpSpPr>
        <p:grpSpPr bwMode="auto">
          <a:xfrm>
            <a:off x="6242050" y="4365625"/>
            <a:ext cx="4679950" cy="1728788"/>
            <a:chOff x="1461311" y="4725541"/>
            <a:chExt cx="4680520" cy="1728788"/>
          </a:xfrm>
        </p:grpSpPr>
        <p:graphicFrame>
          <p:nvGraphicFramePr>
            <p:cNvPr id="54284" name="Object 7">
              <a:extLst>
                <a:ext uri="{FF2B5EF4-FFF2-40B4-BE49-F238E27FC236}">
                  <a16:creationId xmlns:a16="http://schemas.microsoft.com/office/drawing/2014/main" id="{E793B6BC-1740-42E0-B972-583A356C96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6231" y="4725541"/>
            <a:ext cx="4165600" cy="1728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070100" imgH="711200" progId="Equation.DSMT4">
                    <p:embed/>
                  </p:oleObj>
                </mc:Choice>
                <mc:Fallback>
                  <p:oleObj name="Equation" r:id="rId12" imgW="2070100" imgH="711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6231" y="4725541"/>
                          <a:ext cx="4165600" cy="1728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5" name="矩形 18">
              <a:extLst>
                <a:ext uri="{FF2B5EF4-FFF2-40B4-BE49-F238E27FC236}">
                  <a16:creationId xmlns:a16="http://schemas.microsoft.com/office/drawing/2014/main" id="{469BD73C-F3E1-4168-B8BC-945EF0CE3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1311" y="5331498"/>
              <a:ext cx="52770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D </a:t>
              </a:r>
              <a:endParaRPr lang="zh-CN" altLang="en-US"/>
            </a:p>
          </p:txBody>
        </p:sp>
      </p:grpSp>
      <p:graphicFrame>
        <p:nvGraphicFramePr>
          <p:cNvPr id="25" name="Object 8">
            <a:extLst>
              <a:ext uri="{FF2B5EF4-FFF2-40B4-BE49-F238E27FC236}">
                <a16:creationId xmlns:a16="http://schemas.microsoft.com/office/drawing/2014/main" id="{18DA2A36-DDCA-44F5-AFB5-396D8C7ECC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7100" y="2997200"/>
          <a:ext cx="2212975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0948" imgH="710891" progId="Equation.DSMT4">
                  <p:embed/>
                </p:oleObj>
              </mc:Choice>
              <mc:Fallback>
                <p:oleObj name="Equation" r:id="rId14" imgW="1040948" imgH="71089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2997200"/>
                        <a:ext cx="2212975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>
            <a:extLst>
              <a:ext uri="{FF2B5EF4-FFF2-40B4-BE49-F238E27FC236}">
                <a16:creationId xmlns:a16="http://schemas.microsoft.com/office/drawing/2014/main" id="{8C335EF5-73D8-4591-A180-FA8752ED87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4149725"/>
          <a:ext cx="2185988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28254" imgH="710891" progId="Equation.DSMT4">
                  <p:embed/>
                </p:oleObj>
              </mc:Choice>
              <mc:Fallback>
                <p:oleObj name="Equation" r:id="rId16" imgW="1028254" imgH="71089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4149725"/>
                        <a:ext cx="2185988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>
            <a:extLst>
              <a:ext uri="{FF2B5EF4-FFF2-40B4-BE49-F238E27FC236}">
                <a16:creationId xmlns:a16="http://schemas.microsoft.com/office/drawing/2014/main" id="{4EBCE684-499C-4940-B2C0-507A6097A5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5338" y="5243513"/>
          <a:ext cx="2185987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8254" imgH="710891" progId="Equation.DSMT4">
                  <p:embed/>
                </p:oleObj>
              </mc:Choice>
              <mc:Fallback>
                <p:oleObj name="Equation" r:id="rId18" imgW="1028254" imgH="71089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5243513"/>
                        <a:ext cx="2185987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>
            <a:extLst>
              <a:ext uri="{FF2B5EF4-FFF2-40B4-BE49-F238E27FC236}">
                <a16:creationId xmlns:a16="http://schemas.microsoft.com/office/drawing/2014/main" id="{8C322AD1-4858-451E-9FB1-061456125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" y="261938"/>
            <a:ext cx="81851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78" tIns="48388" rIns="96778" bIns="4838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 </a:t>
            </a:r>
            <a:r>
              <a:rPr kumimoji="0" lang="en-US" altLang="zh-CN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 </a:t>
            </a:r>
            <a:r>
              <a:rPr kumimoji="0" lang="zh-CN" altLang="en-US" sz="3200">
                <a:solidFill>
                  <a:srgbClr val="4242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习题</a:t>
            </a:r>
          </a:p>
        </p:txBody>
      </p:sp>
      <p:sp>
        <p:nvSpPr>
          <p:cNvPr id="55299" name="Text Box 2">
            <a:extLst>
              <a:ext uri="{FF2B5EF4-FFF2-40B4-BE49-F238E27FC236}">
                <a16:creationId xmlns:a16="http://schemas.microsoft.com/office/drawing/2014/main" id="{0D5D6F87-8E44-4D8F-9388-9BC4D4C78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88" y="1054100"/>
            <a:ext cx="11784012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800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定义如下：                         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                         ,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                              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其中                                                                         求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A </a:t>
            </a:r>
            <a:r>
              <a:rPr lang="zh-CN" altLang="en-US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在基 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η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η 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</a:t>
            </a: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el-GR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η </a:t>
            </a:r>
            <a:r>
              <a:rPr lang="en-US" altLang="zh-CN" sz="2800" baseline="-250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3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下的矩阵及在</a:t>
            </a:r>
            <a:endParaRPr lang="en-US" altLang="zh-CN" sz="280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基 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                                                                   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下的矩阵</a:t>
            </a:r>
            <a:r>
              <a:rPr lang="en-US" altLang="zh-CN" sz="2800">
                <a:latin typeface="CommercialScript BT" panose="03030803040807090C04" pitchFamily="66" charset="0"/>
                <a:ea typeface="华文新魏" panose="02010800040101010101" pitchFamily="2" charset="-122"/>
              </a:rPr>
              <a:t>.</a:t>
            </a:r>
          </a:p>
        </p:txBody>
      </p:sp>
      <p:grpSp>
        <p:nvGrpSpPr>
          <p:cNvPr id="55300" name="组合 3">
            <a:extLst>
              <a:ext uri="{FF2B5EF4-FFF2-40B4-BE49-F238E27FC236}">
                <a16:creationId xmlns:a16="http://schemas.microsoft.com/office/drawing/2014/main" id="{E129806F-1F54-4D50-9A53-6311EFB80E4A}"/>
              </a:ext>
            </a:extLst>
          </p:cNvPr>
          <p:cNvGrpSpPr>
            <a:grpSpLocks/>
          </p:cNvGrpSpPr>
          <p:nvPr/>
        </p:nvGrpSpPr>
        <p:grpSpPr bwMode="auto">
          <a:xfrm>
            <a:off x="4384675" y="1196975"/>
            <a:ext cx="2335213" cy="528638"/>
            <a:chOff x="4801443" y="3353048"/>
            <a:chExt cx="2335461" cy="527958"/>
          </a:xfrm>
        </p:grpSpPr>
        <p:graphicFrame>
          <p:nvGraphicFramePr>
            <p:cNvPr id="55335" name="Object 2">
              <a:extLst>
                <a:ext uri="{FF2B5EF4-FFF2-40B4-BE49-F238E27FC236}">
                  <a16:creationId xmlns:a16="http://schemas.microsoft.com/office/drawing/2014/main" id="{534F2FC4-B696-424D-AC96-09D10D9761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3491" y="3353048"/>
            <a:ext cx="1903413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90170" imgH="266584" progId="Equation.DSMT4">
                    <p:embed/>
                  </p:oleObj>
                </mc:Choice>
                <mc:Fallback>
                  <p:oleObj name="Equation" r:id="rId2" imgW="990170" imgH="266584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3491" y="3353048"/>
                          <a:ext cx="1903413" cy="512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36" name="矩形 5">
              <a:extLst>
                <a:ext uri="{FF2B5EF4-FFF2-40B4-BE49-F238E27FC236}">
                  <a16:creationId xmlns:a16="http://schemas.microsoft.com/office/drawing/2014/main" id="{820A816D-92C2-4900-8B5B-9CCFCE8BE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grpSp>
        <p:nvGrpSpPr>
          <p:cNvPr id="55301" name="组合 6">
            <a:extLst>
              <a:ext uri="{FF2B5EF4-FFF2-40B4-BE49-F238E27FC236}">
                <a16:creationId xmlns:a16="http://schemas.microsoft.com/office/drawing/2014/main" id="{73398743-B78A-4E4A-A745-7DAECA39F88E}"/>
              </a:ext>
            </a:extLst>
          </p:cNvPr>
          <p:cNvGrpSpPr>
            <a:grpSpLocks/>
          </p:cNvGrpSpPr>
          <p:nvPr/>
        </p:nvGrpSpPr>
        <p:grpSpPr bwMode="auto">
          <a:xfrm>
            <a:off x="6761163" y="1196975"/>
            <a:ext cx="2303462" cy="528638"/>
            <a:chOff x="4801443" y="3352964"/>
            <a:chExt cx="2304256" cy="528042"/>
          </a:xfrm>
        </p:grpSpPr>
        <p:graphicFrame>
          <p:nvGraphicFramePr>
            <p:cNvPr id="55333" name="Object 3">
              <a:extLst>
                <a:ext uri="{FF2B5EF4-FFF2-40B4-BE49-F238E27FC236}">
                  <a16:creationId xmlns:a16="http://schemas.microsoft.com/office/drawing/2014/main" id="{353D8F24-4FC0-4AF2-AEE5-72FBEE3256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6099" y="3352964"/>
            <a:ext cx="1879600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77476" imgH="266584" progId="Equation.DSMT4">
                    <p:embed/>
                  </p:oleObj>
                </mc:Choice>
                <mc:Fallback>
                  <p:oleObj name="Equation" r:id="rId4" imgW="977476" imgH="266584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6099" y="3352964"/>
                          <a:ext cx="1879600" cy="512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34" name="矩形 8">
              <a:extLst>
                <a:ext uri="{FF2B5EF4-FFF2-40B4-BE49-F238E27FC236}">
                  <a16:creationId xmlns:a16="http://schemas.microsoft.com/office/drawing/2014/main" id="{B8E279DF-C6A2-4B77-A1B6-3A6E3B9AA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grpSp>
        <p:nvGrpSpPr>
          <p:cNvPr id="55302" name="组合 9">
            <a:extLst>
              <a:ext uri="{FF2B5EF4-FFF2-40B4-BE49-F238E27FC236}">
                <a16:creationId xmlns:a16="http://schemas.microsoft.com/office/drawing/2014/main" id="{1B677978-EF80-4AB0-B094-CF3790642D03}"/>
              </a:ext>
            </a:extLst>
          </p:cNvPr>
          <p:cNvGrpSpPr>
            <a:grpSpLocks/>
          </p:cNvGrpSpPr>
          <p:nvPr/>
        </p:nvGrpSpPr>
        <p:grpSpPr bwMode="auto">
          <a:xfrm>
            <a:off x="9209088" y="1196975"/>
            <a:ext cx="2576512" cy="530225"/>
            <a:chOff x="4801443" y="3352145"/>
            <a:chExt cx="2577540" cy="528861"/>
          </a:xfrm>
        </p:grpSpPr>
        <p:graphicFrame>
          <p:nvGraphicFramePr>
            <p:cNvPr id="55331" name="Object 4">
              <a:extLst>
                <a:ext uri="{FF2B5EF4-FFF2-40B4-BE49-F238E27FC236}">
                  <a16:creationId xmlns:a16="http://schemas.microsoft.com/office/drawing/2014/main" id="{BB78C08E-6807-4D98-9AD9-1D39D3EC38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9508" y="3352145"/>
            <a:ext cx="2149475" cy="51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17115" imgH="266584" progId="Equation.DSMT4">
                    <p:embed/>
                  </p:oleObj>
                </mc:Choice>
                <mc:Fallback>
                  <p:oleObj name="Equation" r:id="rId6" imgW="1117115" imgH="266584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9508" y="3352145"/>
                          <a:ext cx="2149475" cy="512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32" name="矩形 11">
              <a:extLst>
                <a:ext uri="{FF2B5EF4-FFF2-40B4-BE49-F238E27FC236}">
                  <a16:creationId xmlns:a16="http://schemas.microsoft.com/office/drawing/2014/main" id="{5823C343-52F9-4146-94D4-F540A6041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443" y="3357786"/>
              <a:ext cx="5164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graphicFrame>
        <p:nvGraphicFramePr>
          <p:cNvPr id="55303" name="Object 5">
            <a:extLst>
              <a:ext uri="{FF2B5EF4-FFF2-40B4-BE49-F238E27FC236}">
                <a16:creationId xmlns:a16="http://schemas.microsoft.com/office/drawing/2014/main" id="{11A8574F-C478-44A2-86AD-84F462021B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0300" y="1846263"/>
          <a:ext cx="175736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003" imgH="266584" progId="Equation.DSMT4">
                  <p:embed/>
                </p:oleObj>
              </mc:Choice>
              <mc:Fallback>
                <p:oleObj name="Equation" r:id="rId8" imgW="914003" imgH="26658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1846263"/>
                        <a:ext cx="1757363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6">
            <a:extLst>
              <a:ext uri="{FF2B5EF4-FFF2-40B4-BE49-F238E27FC236}">
                <a16:creationId xmlns:a16="http://schemas.microsoft.com/office/drawing/2014/main" id="{568F294A-8313-41E9-B01E-CBF3941B5E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7200" y="1846263"/>
          <a:ext cx="15621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2447" imgH="266584" progId="Equation.DSMT4">
                  <p:embed/>
                </p:oleObj>
              </mc:Choice>
              <mc:Fallback>
                <p:oleObj name="Equation" r:id="rId10" imgW="812447" imgH="26658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1846263"/>
                        <a:ext cx="15621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7">
            <a:extLst>
              <a:ext uri="{FF2B5EF4-FFF2-40B4-BE49-F238E27FC236}">
                <a16:creationId xmlns:a16="http://schemas.microsoft.com/office/drawing/2014/main" id="{47704B27-F44D-4CC1-B2F6-90B5FD1D59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9938" y="1846263"/>
          <a:ext cx="173355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1309" imgH="266584" progId="Equation.DSMT4">
                  <p:embed/>
                </p:oleObj>
              </mc:Choice>
              <mc:Fallback>
                <p:oleObj name="Equation" r:id="rId12" imgW="901309" imgH="26658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938" y="1846263"/>
                        <a:ext cx="173355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8">
            <a:extLst>
              <a:ext uri="{FF2B5EF4-FFF2-40B4-BE49-F238E27FC236}">
                <a16:creationId xmlns:a16="http://schemas.microsoft.com/office/drawing/2014/main" id="{3A44CA87-A549-4994-8C3B-5BB01385A5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0425" y="2463800"/>
          <a:ext cx="15144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87058" imgH="266584" progId="Equation.DSMT4">
                  <p:embed/>
                </p:oleObj>
              </mc:Choice>
              <mc:Fallback>
                <p:oleObj name="Equation" r:id="rId14" imgW="787058" imgH="26658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2463800"/>
                        <a:ext cx="15144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9">
            <a:extLst>
              <a:ext uri="{FF2B5EF4-FFF2-40B4-BE49-F238E27FC236}">
                <a16:creationId xmlns:a16="http://schemas.microsoft.com/office/drawing/2014/main" id="{08B57288-887A-466D-B545-4BEFBDED7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5238" y="2463800"/>
          <a:ext cx="15621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447" imgH="266584" progId="Equation.DSMT4">
                  <p:embed/>
                </p:oleObj>
              </mc:Choice>
              <mc:Fallback>
                <p:oleObj name="Equation" r:id="rId16" imgW="812447" imgH="266584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238" y="2463800"/>
                        <a:ext cx="15621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8" name="Object 10">
            <a:extLst>
              <a:ext uri="{FF2B5EF4-FFF2-40B4-BE49-F238E27FC236}">
                <a16:creationId xmlns:a16="http://schemas.microsoft.com/office/drawing/2014/main" id="{991D7B86-A98B-4A23-A6AA-D84FC7587D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1325" y="2463800"/>
          <a:ext cx="14652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61669" imgH="266584" progId="Equation.DSMT4">
                  <p:embed/>
                </p:oleObj>
              </mc:Choice>
              <mc:Fallback>
                <p:oleObj name="Equation" r:id="rId18" imgW="761669" imgH="266584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1325" y="2463800"/>
                        <a:ext cx="146526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6">
            <a:extLst>
              <a:ext uri="{FF2B5EF4-FFF2-40B4-BE49-F238E27FC236}">
                <a16:creationId xmlns:a16="http://schemas.microsoft.com/office/drawing/2014/main" id="{B68AFA27-DA25-45B4-AFA0-7FE45999B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3065463"/>
            <a:ext cx="950436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解：由题意可知</a:t>
            </a:r>
          </a:p>
        </p:txBody>
      </p:sp>
      <p:graphicFrame>
        <p:nvGraphicFramePr>
          <p:cNvPr id="24588" name="Object 12">
            <a:extLst>
              <a:ext uri="{FF2B5EF4-FFF2-40B4-BE49-F238E27FC236}">
                <a16:creationId xmlns:a16="http://schemas.microsoft.com/office/drawing/2014/main" id="{9BD492A5-C035-4846-938C-D46D7DA996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8938" y="3070225"/>
          <a:ext cx="416718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86000" imgH="711200" progId="Equation.DSMT4">
                  <p:embed/>
                </p:oleObj>
              </mc:Choice>
              <mc:Fallback>
                <p:oleObj name="Equation" r:id="rId20" imgW="2286000" imgH="71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3070225"/>
                        <a:ext cx="4167187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3">
            <a:extLst>
              <a:ext uri="{FF2B5EF4-FFF2-40B4-BE49-F238E27FC236}">
                <a16:creationId xmlns:a16="http://schemas.microsoft.com/office/drawing/2014/main" id="{1372D80C-1C3F-4CED-9B20-BB71038A5E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5650" y="2997200"/>
          <a:ext cx="4722813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90800" imgH="749300" progId="Equation.DSMT4">
                  <p:embed/>
                </p:oleObj>
              </mc:Choice>
              <mc:Fallback>
                <p:oleObj name="Equation" r:id="rId22" imgW="2590800" imgH="7493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650" y="2997200"/>
                        <a:ext cx="4722813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A07EFA1-F139-4099-888A-45ECC02D4A67}"/>
              </a:ext>
            </a:extLst>
          </p:cNvPr>
          <p:cNvCxnSpPr/>
          <p:nvPr/>
        </p:nvCxnSpPr>
        <p:spPr>
          <a:xfrm flipH="1">
            <a:off x="3073400" y="3862388"/>
            <a:ext cx="4392613" cy="86360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29">
            <a:extLst>
              <a:ext uri="{FF2B5EF4-FFF2-40B4-BE49-F238E27FC236}">
                <a16:creationId xmlns:a16="http://schemas.microsoft.com/office/drawing/2014/main" id="{6EC99206-D065-4463-ADE4-F7D2A3C2C6F9}"/>
              </a:ext>
            </a:extLst>
          </p:cNvPr>
          <p:cNvGrpSpPr>
            <a:grpSpLocks/>
          </p:cNvGrpSpPr>
          <p:nvPr/>
        </p:nvGrpSpPr>
        <p:grpSpPr bwMode="auto">
          <a:xfrm>
            <a:off x="5176838" y="4659313"/>
            <a:ext cx="3206750" cy="534987"/>
            <a:chOff x="1305708" y="5206389"/>
            <a:chExt cx="3859981" cy="713988"/>
          </a:xfrm>
        </p:grpSpPr>
        <p:graphicFrame>
          <p:nvGraphicFramePr>
            <p:cNvPr id="55329" name="Object 14">
              <a:extLst>
                <a:ext uri="{FF2B5EF4-FFF2-40B4-BE49-F238E27FC236}">
                  <a16:creationId xmlns:a16="http://schemas.microsoft.com/office/drawing/2014/main" id="{58AD329C-8010-40FF-8DDB-03967FF5AB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05708" y="5312550"/>
            <a:ext cx="3859981" cy="55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917700" imgH="228600" progId="Equation.DSMT4">
                    <p:embed/>
                  </p:oleObj>
                </mc:Choice>
                <mc:Fallback>
                  <p:oleObj name="Equation" r:id="rId24" imgW="1917700" imgH="2286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5708" y="5312550"/>
                          <a:ext cx="3859981" cy="556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30" name="矩形 31">
              <a:extLst>
                <a:ext uri="{FF2B5EF4-FFF2-40B4-BE49-F238E27FC236}">
                  <a16:creationId xmlns:a16="http://schemas.microsoft.com/office/drawing/2014/main" id="{C7D6235F-D713-4F4D-A169-FCABA43F0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960" y="5206389"/>
              <a:ext cx="584114" cy="713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206EEA0-71E9-4F9F-80C3-C33FC5376BD0}"/>
              </a:ext>
            </a:extLst>
          </p:cNvPr>
          <p:cNvCxnSpPr/>
          <p:nvPr/>
        </p:nvCxnSpPr>
        <p:spPr>
          <a:xfrm>
            <a:off x="8431213" y="5734050"/>
            <a:ext cx="1338262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9C8E5F0-78EA-4609-8573-08B7BBDAE38D}"/>
              </a:ext>
            </a:extLst>
          </p:cNvPr>
          <p:cNvCxnSpPr/>
          <p:nvPr/>
        </p:nvCxnSpPr>
        <p:spPr>
          <a:xfrm flipH="1">
            <a:off x="1920875" y="3933825"/>
            <a:ext cx="1512888" cy="720725"/>
          </a:xfrm>
          <a:prstGeom prst="straightConnector1">
            <a:avLst/>
          </a:prstGeom>
          <a:ln w="38100">
            <a:solidFill>
              <a:srgbClr val="00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37">
            <a:extLst>
              <a:ext uri="{FF2B5EF4-FFF2-40B4-BE49-F238E27FC236}">
                <a16:creationId xmlns:a16="http://schemas.microsoft.com/office/drawing/2014/main" id="{F0872628-26F1-4C03-9143-043A6190423A}"/>
              </a:ext>
            </a:extLst>
          </p:cNvPr>
          <p:cNvGrpSpPr>
            <a:grpSpLocks/>
          </p:cNvGrpSpPr>
          <p:nvPr/>
        </p:nvGrpSpPr>
        <p:grpSpPr bwMode="auto">
          <a:xfrm>
            <a:off x="931863" y="5810250"/>
            <a:ext cx="3162300" cy="534988"/>
            <a:chOff x="1315781" y="5206389"/>
            <a:chExt cx="3806477" cy="713988"/>
          </a:xfrm>
        </p:grpSpPr>
        <p:graphicFrame>
          <p:nvGraphicFramePr>
            <p:cNvPr id="55327" name="Object 15">
              <a:extLst>
                <a:ext uri="{FF2B5EF4-FFF2-40B4-BE49-F238E27FC236}">
                  <a16:creationId xmlns:a16="http://schemas.microsoft.com/office/drawing/2014/main" id="{3C33475F-5498-4E76-989D-C284703BE9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5781" y="5256709"/>
            <a:ext cx="3806477" cy="5547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892300" imgH="228600" progId="Equation.DSMT4">
                    <p:embed/>
                  </p:oleObj>
                </mc:Choice>
                <mc:Fallback>
                  <p:oleObj name="Equation" r:id="rId26" imgW="1892300" imgH="2286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5781" y="5256709"/>
                          <a:ext cx="3806477" cy="5547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28" name="矩形 39">
              <a:extLst>
                <a:ext uri="{FF2B5EF4-FFF2-40B4-BE49-F238E27FC236}">
                  <a16:creationId xmlns:a16="http://schemas.microsoft.com/office/drawing/2014/main" id="{75347F1F-4102-494C-A755-744C5F742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960" y="5206389"/>
              <a:ext cx="584114" cy="713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0000"/>
                  </a:solidFill>
                  <a:latin typeface="CommercialScript BT" panose="03030803040807090C04" pitchFamily="66" charset="0"/>
                  <a:ea typeface="华文新魏" panose="02010800040101010101" pitchFamily="2" charset="-122"/>
                </a:rPr>
                <a:t>A </a:t>
              </a:r>
              <a:endParaRPr lang="zh-CN" altLang="en-US"/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7E425F5-1042-4941-8CC9-BFBE038D7B44}"/>
              </a:ext>
            </a:extLst>
          </p:cNvPr>
          <p:cNvCxnSpPr/>
          <p:nvPr/>
        </p:nvCxnSpPr>
        <p:spPr>
          <a:xfrm>
            <a:off x="4314825" y="6729413"/>
            <a:ext cx="151288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Object 16">
            <a:extLst>
              <a:ext uri="{FF2B5EF4-FFF2-40B4-BE49-F238E27FC236}">
                <a16:creationId xmlns:a16="http://schemas.microsoft.com/office/drawing/2014/main" id="{C16D6F81-87C5-4F64-BDE6-ADFC8AD46F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01050" y="4297363"/>
          <a:ext cx="3184525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05000" imgH="749300" progId="Equation.DSMT4">
                  <p:embed/>
                </p:oleObj>
              </mc:Choice>
              <mc:Fallback>
                <p:oleObj name="Equation" r:id="rId28" imgW="1905000" imgH="7493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1050" y="4297363"/>
                        <a:ext cx="3184525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4" name="Object 17">
            <a:extLst>
              <a:ext uri="{FF2B5EF4-FFF2-40B4-BE49-F238E27FC236}">
                <a16:creationId xmlns:a16="http://schemas.microsoft.com/office/drawing/2014/main" id="{4220EC1B-75D2-402D-A526-398628581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04225" y="4365625"/>
          <a:ext cx="14224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50531" imgH="710891" progId="Equation.DSMT4">
                  <p:embed/>
                </p:oleObj>
              </mc:Choice>
              <mc:Fallback>
                <p:oleObj name="Equation" r:id="rId30" imgW="850531" imgH="71089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4225" y="4365625"/>
                        <a:ext cx="14224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43">
            <a:extLst>
              <a:ext uri="{FF2B5EF4-FFF2-40B4-BE49-F238E27FC236}">
                <a16:creationId xmlns:a16="http://schemas.microsoft.com/office/drawing/2014/main" id="{83FAD04E-9F0B-4283-BEA7-3E9E6C39B55E}"/>
              </a:ext>
            </a:extLst>
          </p:cNvPr>
          <p:cNvGrpSpPr>
            <a:grpSpLocks/>
          </p:cNvGrpSpPr>
          <p:nvPr/>
        </p:nvGrpSpPr>
        <p:grpSpPr bwMode="auto">
          <a:xfrm>
            <a:off x="193675" y="4078288"/>
            <a:ext cx="4967288" cy="1444625"/>
            <a:chOff x="192931" y="4077866"/>
            <a:chExt cx="4968552" cy="1444377"/>
          </a:xfrm>
        </p:grpSpPr>
        <p:grpSp>
          <p:nvGrpSpPr>
            <p:cNvPr id="55323" name="组合 19">
              <a:extLst>
                <a:ext uri="{FF2B5EF4-FFF2-40B4-BE49-F238E27FC236}">
                  <a16:creationId xmlns:a16="http://schemas.microsoft.com/office/drawing/2014/main" id="{01D3D2FA-BFEA-4DEE-A210-AAEB8B53C2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6255" y="4226843"/>
              <a:ext cx="4335228" cy="1295400"/>
              <a:chOff x="1461311" y="4726170"/>
              <a:chExt cx="5218330" cy="1727796"/>
            </a:xfrm>
          </p:grpSpPr>
          <p:graphicFrame>
            <p:nvGraphicFramePr>
              <p:cNvPr id="55325" name="Object 11">
                <a:extLst>
                  <a:ext uri="{FF2B5EF4-FFF2-40B4-BE49-F238E27FC236}">
                    <a16:creationId xmlns:a16="http://schemas.microsoft.com/office/drawing/2014/main" id="{8ACE4C74-23E9-42F7-AE58-54C39CC3922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03718" y="4726170"/>
              <a:ext cx="4675923" cy="17277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2324100" imgH="711200" progId="Equation.DSMT4">
                      <p:embed/>
                    </p:oleObj>
                  </mc:Choice>
                  <mc:Fallback>
                    <p:oleObj name="Equation" r:id="rId32" imgW="2324100" imgH="711200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03718" y="4726170"/>
                            <a:ext cx="4675923" cy="17277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326" name="矩形 21">
                <a:extLst>
                  <a:ext uri="{FF2B5EF4-FFF2-40B4-BE49-F238E27FC236}">
                    <a16:creationId xmlns:a16="http://schemas.microsoft.com/office/drawing/2014/main" id="{3196E1A2-1CBC-43C9-AAC0-7CDC0605D2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1311" y="5245101"/>
                <a:ext cx="584114" cy="7139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olidFill>
                      <a:srgbClr val="000000"/>
                    </a:solidFill>
                    <a:latin typeface="CommercialScript BT" panose="03030803040807090C04" pitchFamily="66" charset="0"/>
                    <a:ea typeface="华文新魏" panose="02010800040101010101" pitchFamily="2" charset="-122"/>
                  </a:rPr>
                  <a:t>A </a:t>
                </a:r>
                <a:endParaRPr lang="zh-CN" altLang="en-US"/>
              </a:p>
            </p:txBody>
          </p:sp>
        </p:grpSp>
        <p:sp>
          <p:nvSpPr>
            <p:cNvPr id="55324" name="Text Box 6">
              <a:extLst>
                <a:ext uri="{FF2B5EF4-FFF2-40B4-BE49-F238E27FC236}">
                  <a16:creationId xmlns:a16="http://schemas.microsoft.com/office/drawing/2014/main" id="{012088B9-1C9B-41AE-A9B0-9D0108885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31" y="4077866"/>
              <a:ext cx="3880048" cy="61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由题意还可知</a:t>
              </a:r>
            </a:p>
          </p:txBody>
        </p:sp>
      </p:grpSp>
      <p:graphicFrame>
        <p:nvGraphicFramePr>
          <p:cNvPr id="47" name="Object 18">
            <a:extLst>
              <a:ext uri="{FF2B5EF4-FFF2-40B4-BE49-F238E27FC236}">
                <a16:creationId xmlns:a16="http://schemas.microsoft.com/office/drawing/2014/main" id="{08DC1290-819B-499C-ACD5-9D65FECC67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6225" y="5376863"/>
          <a:ext cx="3163888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892300" imgH="749300" progId="Equation.DSMT4">
                  <p:embed/>
                </p:oleObj>
              </mc:Choice>
              <mc:Fallback>
                <p:oleObj name="Equation" r:id="rId34" imgW="1892300" imgH="7493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6225" y="5376863"/>
                        <a:ext cx="3163888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6" name="Object 19">
            <a:extLst>
              <a:ext uri="{FF2B5EF4-FFF2-40B4-BE49-F238E27FC236}">
                <a16:creationId xmlns:a16="http://schemas.microsoft.com/office/drawing/2014/main" id="{D734E763-E6A4-4C3C-9E26-F99AD3674B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1463" y="5432425"/>
          <a:ext cx="201771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06500" imgH="711200" progId="Equation.DSMT4">
                  <p:embed/>
                </p:oleObj>
              </mc:Choice>
              <mc:Fallback>
                <p:oleObj name="Equation" r:id="rId36" imgW="1206500" imgH="711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1463" y="5432425"/>
                        <a:ext cx="2017712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技巧">
  <a:themeElements>
    <a:clrScheme name="技巧 3">
      <a:dk1>
        <a:srgbClr val="000000"/>
      </a:dk1>
      <a:lt1>
        <a:srgbClr val="FDE1BC"/>
      </a:lt1>
      <a:dk2>
        <a:srgbClr val="000000"/>
      </a:dk2>
      <a:lt2>
        <a:srgbClr val="FEF0DD"/>
      </a:lt2>
      <a:accent1>
        <a:srgbClr val="2A1801"/>
      </a:accent1>
      <a:accent2>
        <a:srgbClr val="2A1801"/>
      </a:accent2>
      <a:accent3>
        <a:srgbClr val="FEEEDA"/>
      </a:accent3>
      <a:accent4>
        <a:srgbClr val="000000"/>
      </a:accent4>
      <a:accent5>
        <a:srgbClr val="ACABAA"/>
      </a:accent5>
      <a:accent6>
        <a:srgbClr val="251501"/>
      </a:accent6>
      <a:hlink>
        <a:srgbClr val="EB8803"/>
      </a:hlink>
      <a:folHlink>
        <a:srgbClr val="5F7791"/>
      </a:folHlink>
    </a:clrScheme>
    <a:fontScheme name="技巧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市镇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>
    <a:extraClrScheme>
      <a:clrScheme name="技巧 1">
        <a:dk1>
          <a:srgbClr val="F9B150"/>
        </a:dk1>
        <a:lt1>
          <a:srgbClr val="FDE1BC"/>
        </a:lt1>
        <a:dk2>
          <a:srgbClr val="D6ECFF"/>
        </a:dk2>
        <a:lt2>
          <a:srgbClr val="FEF0DD"/>
        </a:lt2>
        <a:accent1>
          <a:srgbClr val="2A1801"/>
        </a:accent1>
        <a:accent2>
          <a:srgbClr val="2A1801"/>
        </a:accent2>
        <a:accent3>
          <a:srgbClr val="FEEEDA"/>
        </a:accent3>
        <a:accent4>
          <a:srgbClr val="D59743"/>
        </a:accent4>
        <a:accent5>
          <a:srgbClr val="ACABAA"/>
        </a:accent5>
        <a:accent6>
          <a:srgbClr val="251501"/>
        </a:accent6>
        <a:hlink>
          <a:srgbClr val="EB8803"/>
        </a:hlink>
        <a:folHlink>
          <a:srgbClr val="5F77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技巧 2">
        <a:dk1>
          <a:srgbClr val="000000"/>
        </a:dk1>
        <a:lt1>
          <a:srgbClr val="FDE1BC"/>
        </a:lt1>
        <a:dk2>
          <a:srgbClr val="D6ECFF"/>
        </a:dk2>
        <a:lt2>
          <a:srgbClr val="FEF0DD"/>
        </a:lt2>
        <a:accent1>
          <a:srgbClr val="2A1801"/>
        </a:accent1>
        <a:accent2>
          <a:srgbClr val="2A1801"/>
        </a:accent2>
        <a:accent3>
          <a:srgbClr val="FEEEDA"/>
        </a:accent3>
        <a:accent4>
          <a:srgbClr val="000000"/>
        </a:accent4>
        <a:accent5>
          <a:srgbClr val="ACABAA"/>
        </a:accent5>
        <a:accent6>
          <a:srgbClr val="251501"/>
        </a:accent6>
        <a:hlink>
          <a:srgbClr val="EB8803"/>
        </a:hlink>
        <a:folHlink>
          <a:srgbClr val="5F77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技巧 3">
        <a:dk1>
          <a:srgbClr val="000000"/>
        </a:dk1>
        <a:lt1>
          <a:srgbClr val="FDE1BC"/>
        </a:lt1>
        <a:dk2>
          <a:srgbClr val="000000"/>
        </a:dk2>
        <a:lt2>
          <a:srgbClr val="FEF0DD"/>
        </a:lt2>
        <a:accent1>
          <a:srgbClr val="2A1801"/>
        </a:accent1>
        <a:accent2>
          <a:srgbClr val="2A1801"/>
        </a:accent2>
        <a:accent3>
          <a:srgbClr val="FEEEDA"/>
        </a:accent3>
        <a:accent4>
          <a:srgbClr val="000000"/>
        </a:accent4>
        <a:accent5>
          <a:srgbClr val="ACABAA"/>
        </a:accent5>
        <a:accent6>
          <a:srgbClr val="251501"/>
        </a:accent6>
        <a:hlink>
          <a:srgbClr val="EB8803"/>
        </a:hlink>
        <a:folHlink>
          <a:srgbClr val="5F779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13306</TotalTime>
  <Words>2023</Words>
  <Application>Microsoft Office PowerPoint</Application>
  <PresentationFormat>自定义</PresentationFormat>
  <Paragraphs>166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华文新魏</vt:lpstr>
      <vt:lpstr>楷体</vt:lpstr>
      <vt:lpstr>微软雅黑</vt:lpstr>
      <vt:lpstr>Arial</vt:lpstr>
      <vt:lpstr>CommercialScript BT</vt:lpstr>
      <vt:lpstr>Franklin Gothic Book</vt:lpstr>
      <vt:lpstr>Symbol</vt:lpstr>
      <vt:lpstr>Times New Roman</vt:lpstr>
      <vt:lpstr>Wingdings 2</vt:lpstr>
      <vt:lpstr>技巧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xitong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</dc:title>
  <dc:creator>guoyang</dc:creator>
  <cp:lastModifiedBy>阳 郭</cp:lastModifiedBy>
  <cp:revision>741</cp:revision>
  <dcterms:created xsi:type="dcterms:W3CDTF">2002-06-16T14:32:15Z</dcterms:created>
  <dcterms:modified xsi:type="dcterms:W3CDTF">2025-12-15T14:16:41Z</dcterms:modified>
</cp:coreProperties>
</file>