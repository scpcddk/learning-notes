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2"/>
  </p:notesMasterIdLst>
  <p:sldIdLst>
    <p:sldId id="814" r:id="rId2"/>
    <p:sldId id="821" r:id="rId3"/>
    <p:sldId id="822" r:id="rId4"/>
    <p:sldId id="823" r:id="rId5"/>
    <p:sldId id="824" r:id="rId6"/>
    <p:sldId id="825" r:id="rId7"/>
    <p:sldId id="826" r:id="rId8"/>
    <p:sldId id="834" r:id="rId9"/>
    <p:sldId id="835" r:id="rId10"/>
    <p:sldId id="836" r:id="rId11"/>
    <p:sldId id="837" r:id="rId12"/>
    <p:sldId id="838" r:id="rId13"/>
    <p:sldId id="839" r:id="rId14"/>
    <p:sldId id="840" r:id="rId15"/>
    <p:sldId id="841" r:id="rId16"/>
    <p:sldId id="842" r:id="rId17"/>
    <p:sldId id="843" r:id="rId18"/>
    <p:sldId id="844" r:id="rId19"/>
    <p:sldId id="845" r:id="rId20"/>
    <p:sldId id="846" r:id="rId21"/>
    <p:sldId id="847" r:id="rId22"/>
    <p:sldId id="848" r:id="rId23"/>
    <p:sldId id="849" r:id="rId24"/>
    <p:sldId id="850" r:id="rId25"/>
    <p:sldId id="851" r:id="rId26"/>
    <p:sldId id="852" r:id="rId27"/>
    <p:sldId id="853" r:id="rId28"/>
    <p:sldId id="899" r:id="rId29"/>
    <p:sldId id="854" r:id="rId30"/>
    <p:sldId id="855" r:id="rId31"/>
  </p:sldIdLst>
  <p:sldSz cx="12195175" cy="685958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82600" indent="1270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66788" indent="250825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449388" indent="377825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933575" indent="503238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2">
          <p15:clr>
            <a:srgbClr val="A4A3A4"/>
          </p15:clr>
        </p15:guide>
        <p15:guide id="2" pos="320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80808"/>
    <a:srgbClr val="800000"/>
    <a:srgbClr val="FFFFFF"/>
    <a:srgbClr val="FFFF00"/>
    <a:srgbClr val="FF99FF"/>
    <a:srgbClr val="CB68DC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3" autoAdjust="0"/>
    <p:restoredTop sz="93135" autoAdjust="0"/>
  </p:normalViewPr>
  <p:slideViewPr>
    <p:cSldViewPr>
      <p:cViewPr varScale="1">
        <p:scale>
          <a:sx n="61" d="100"/>
          <a:sy n="61" d="100"/>
        </p:scale>
        <p:origin x="668" y="60"/>
      </p:cViewPr>
      <p:guideLst>
        <p:guide orient="horz" pos="4082"/>
        <p:guide pos="32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3774"/>
    </p:cViewPr>
  </p:sorterViewPr>
  <p:notesViewPr>
    <p:cSldViewPr>
      <p:cViewPr varScale="1">
        <p:scale>
          <a:sx n="53" d="100"/>
          <a:sy n="53" d="100"/>
        </p:scale>
        <p:origin x="-294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0B550A2-DFF5-4695-A07B-12AFBECFFB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03C3A49-E7C5-400C-870E-096382FDBCF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670DEF5F-47C7-4245-AB21-0C3BB7DD40A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2412842-B331-4324-9A1E-5CC0191A042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F775D5B-E9CC-4323-98D7-2D89745447D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EC2212F-8A20-4BE6-B217-400178CFA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41CAC01D-DB7D-4C08-BE4B-CCDE1882EB6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8260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6678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44938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9335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419462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03356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87245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71139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A7BFAFC1-5555-49B6-BADB-36CDF0E73B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6B9A0456-DF58-4D83-B53F-CA2912CB2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46B7D3DC-1227-47DD-8334-1276563D4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B83CEF1-DBC7-41C0-8EDC-DA4B4837A618}" type="slidenum">
              <a:rPr lang="en-US" altLang="zh-CN" sz="1200"/>
              <a:pPr eaLnBrk="1" hangingPunct="1">
                <a:spcBef>
                  <a:spcPct val="0"/>
                </a:spcBef>
              </a:pPr>
              <a:t>17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7D72388-EB9A-4CD6-96A3-36FE6A4B3A43}"/>
              </a:ext>
            </a:extLst>
          </p:cNvPr>
          <p:cNvCxnSpPr/>
          <p:nvPr userDrawn="1"/>
        </p:nvCxnSpPr>
        <p:spPr>
          <a:xfrm>
            <a:off x="0" y="950586"/>
            <a:ext cx="12195175" cy="2117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17" descr="logo">
            <a:extLst>
              <a:ext uri="{FF2B5EF4-FFF2-40B4-BE49-F238E27FC236}">
                <a16:creationId xmlns:a16="http://schemas.microsoft.com/office/drawing/2014/main" id="{7727962C-6C26-4074-AC7F-8A32558A53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275" y="188913"/>
            <a:ext cx="1633538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FC95743-1CE0-4ED8-BBB0-F6104EF4ADE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13713" y="279400"/>
            <a:ext cx="2344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数学系：郭阳</a:t>
            </a:r>
          </a:p>
        </p:txBody>
      </p:sp>
    </p:spTree>
    <p:extLst>
      <p:ext uri="{BB962C8B-B14F-4D97-AF65-F5344CB8AC3E}">
        <p14:creationId xmlns:p14="http://schemas.microsoft.com/office/powerpoint/2010/main" val="175386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A36E01E1-49DE-4A84-B1ED-BF9F0450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423025"/>
            <a:ext cx="2846388" cy="366713"/>
          </a:xfrm>
          <a:prstGeom prst="rect">
            <a:avLst/>
          </a:prstGeom>
        </p:spPr>
        <p:txBody>
          <a:bodyPr vert="horz" lIns="96778" tIns="48388" rIns="96778" bIns="0" anchor="b"/>
          <a:lstStyle>
            <a:lvl1pPr algn="l">
              <a:spcBef>
                <a:spcPct val="0"/>
              </a:spcBef>
              <a:defRPr kumimoji="0" sz="1100">
                <a:solidFill>
                  <a:schemeClr val="tx2">
                    <a:shade val="50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1BFE8283-18FB-4860-BFA8-EF225B107BD5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777BF287-EF1C-422D-9250-910F58A56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7188" y="6423025"/>
            <a:ext cx="3860800" cy="366713"/>
          </a:xfrm>
          <a:prstGeom prst="rect">
            <a:avLst/>
          </a:prstGeom>
        </p:spPr>
        <p:txBody>
          <a:bodyPr vert="horz" lIns="0" tIns="48388" rIns="0" bIns="0" anchor="b"/>
          <a:lstStyle>
            <a:lvl1pPr algn="ctr">
              <a:spcBef>
                <a:spcPct val="0"/>
              </a:spcBef>
              <a:defRPr kumimoji="0" sz="1100">
                <a:solidFill>
                  <a:schemeClr val="tx2">
                    <a:shade val="50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7C557705-1FF3-4FD8-AA68-292CDAC6E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74375" y="6423025"/>
            <a:ext cx="1016000" cy="366713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kumimoji="0" sz="1100">
                <a:solidFill>
                  <a:srgbClr val="000000"/>
                </a:solidFill>
              </a:defRPr>
            </a:lvl1pPr>
          </a:lstStyle>
          <a:p>
            <a:fld id="{7F0A99CE-C275-4EEF-81DD-26CF20ED11B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5pPr>
      <a:lvl6pPr marL="609743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6pPr>
      <a:lvl7pPr marL="1219487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7pPr>
      <a:lvl8pPr marL="1829230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8pPr>
      <a:lvl9pPr marL="2438974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9pPr>
    </p:titleStyle>
    <p:bodyStyle>
      <a:lvl1pPr marL="444500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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763588" indent="-2889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anose="05020102010507070707" pitchFamily="18" charset="2"/>
        <a:buChar char="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062038" indent="-268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anose="020B0604020202020204" pitchFamily="34" charset="0"/>
        <a:buChar char="○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52550" indent="-249238" algn="l" rtl="0" eaLnBrk="0" fontAlgn="base" hangingPunct="0">
        <a:spcBef>
          <a:spcPct val="20000"/>
        </a:spcBef>
        <a:spcAft>
          <a:spcPct val="0"/>
        </a:spcAft>
        <a:buClr>
          <a:srgbClr val="2A1801"/>
        </a:buClr>
        <a:buSzPct val="90000"/>
        <a:buFont typeface="Wingdings 2" panose="05020102010507070707" pitchFamily="18" charset="2"/>
        <a:buChar char="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76388" indent="-192088" algn="l" rtl="0" eaLnBrk="0" fontAlgn="base" hangingPunct="0">
        <a:spcBef>
          <a:spcPct val="20000"/>
        </a:spcBef>
        <a:spcAft>
          <a:spcPct val="0"/>
        </a:spcAft>
        <a:buClr>
          <a:srgbClr val="00ADDC"/>
        </a:buClr>
        <a:buSzPct val="100000"/>
        <a:buFont typeface="Arial" panose="020B0604020202020204" pitchFamily="34" charset="0"/>
        <a:buChar char="-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00078" indent="-193557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1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32347" indent="-193557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9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64617" indent="-193557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2467850" indent="-193557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43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487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230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974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717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460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204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947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21.wmf"/><Relationship Id="rId21" Type="http://schemas.openxmlformats.org/officeDocument/2006/relationships/oleObject" Target="../embeddings/oleObject29.bin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8.w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5.wmf"/><Relationship Id="rId24" Type="http://schemas.openxmlformats.org/officeDocument/2006/relationships/image" Target="../media/image31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23" Type="http://schemas.openxmlformats.org/officeDocument/2006/relationships/oleObject" Target="../embeddings/oleObject30.bin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9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5.bin"/><Relationship Id="rId22" Type="http://schemas.openxmlformats.org/officeDocument/2006/relationships/image" Target="../media/image30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4.wmf"/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43.bin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44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50.wmf"/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49.bin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49.wmf"/><Relationship Id="rId5" Type="http://schemas.openxmlformats.org/officeDocument/2006/relationships/image" Target="../media/image47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55.bin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4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57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6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>
            <a:extLst>
              <a:ext uri="{FF2B5EF4-FFF2-40B4-BE49-F238E27FC236}">
                <a16:creationId xmlns:a16="http://schemas.microsoft.com/office/drawing/2014/main" id="{0A5E4090-0A33-4BAD-BE79-DD9F29200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" y="1989138"/>
            <a:ext cx="11593513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4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第七章  线性空间与线性变换</a:t>
            </a:r>
            <a:endParaRPr kumimoji="0" lang="en-US" altLang="zh-CN" sz="4200">
              <a:solidFill>
                <a:srgbClr val="4242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/>
            <a:endParaRPr kumimoji="0" lang="en-US" altLang="zh-CN" sz="1600">
              <a:solidFill>
                <a:srgbClr val="4242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/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Chapter 7  Linear Spaces and Linear Transformations</a:t>
            </a:r>
            <a:endParaRPr kumimoji="0" lang="zh-CN" altLang="en-US" sz="3200">
              <a:solidFill>
                <a:srgbClr val="4242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F045773-AD11-493C-A037-AA414A330244}"/>
              </a:ext>
            </a:extLst>
          </p:cNvPr>
          <p:cNvSpPr txBox="1"/>
          <p:nvPr/>
        </p:nvSpPr>
        <p:spPr>
          <a:xfrm>
            <a:off x="4441825" y="3717925"/>
            <a:ext cx="3117850" cy="862013"/>
          </a:xfrm>
          <a:prstGeom prst="rect">
            <a:avLst/>
          </a:prstGeom>
          <a:noFill/>
        </p:spPr>
        <p:txBody>
          <a:bodyPr wrap="none" lIns="121948" tIns="60975" rIns="121948" bIns="60975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2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362834" algn="ctr" rtl="0" fontAlgn="base">
              <a:spcBef>
                <a:spcPct val="0"/>
              </a:spcBef>
              <a:spcAft>
                <a:spcPct val="0"/>
              </a:spcAft>
              <a:defRPr sz="22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725668" algn="ctr" rtl="0" fontAlgn="base">
              <a:spcBef>
                <a:spcPct val="0"/>
              </a:spcBef>
              <a:spcAft>
                <a:spcPct val="0"/>
              </a:spcAft>
              <a:defRPr sz="22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088502" algn="ctr" rtl="0" fontAlgn="base">
              <a:spcBef>
                <a:spcPct val="0"/>
              </a:spcBef>
              <a:spcAft>
                <a:spcPct val="0"/>
              </a:spcAft>
              <a:defRPr sz="22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451336" algn="ctr" rtl="0" fontAlgn="base">
              <a:spcBef>
                <a:spcPct val="0"/>
              </a:spcBef>
              <a:spcAft>
                <a:spcPct val="0"/>
              </a:spcAft>
              <a:defRPr sz="22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1814170" algn="l" defTabSz="725668" rtl="0" eaLnBrk="1" latinLnBrk="0" hangingPunct="1">
              <a:defRPr sz="22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177004" algn="l" defTabSz="725668" rtl="0" eaLnBrk="1" latinLnBrk="0" hangingPunct="1">
              <a:defRPr sz="22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2539837" algn="l" defTabSz="725668" rtl="0" eaLnBrk="1" latinLnBrk="0" hangingPunct="1">
              <a:defRPr sz="22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2902671" algn="l" defTabSz="725668" rtl="0" eaLnBrk="1" latinLnBrk="0" hangingPunct="1">
              <a:defRPr sz="22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dirty="0">
                <a:ln w="18415" cmpd="sng">
                  <a:noFill/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主讲教师：郭阳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2F665FF1-C5E0-49BF-9824-202C65B21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线性空间的定义和例子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54B6735-BA0B-411C-925F-0D63B849D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1196975"/>
            <a:ext cx="12145962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线性空间是线性代数最基本的概念之一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这一讲我们来给出它的定义，并介绍一些例子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6D8C71E-A3E9-4CC2-BA6A-522C36789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2709863"/>
            <a:ext cx="121459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定义：设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是由一些复数组成的集合，其中包括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 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中任意两个数（这两个数也可以相同）的和、差、积、商（除数不为零）仍然是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中的数，那么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就称为一个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数域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zh-CN" altLang="en-US" sz="28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A5135D1-9CDB-449A-8167-A9C061FC3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4510088"/>
            <a:ext cx="121459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数域的定义也可以说成，如果一个包含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0,1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在内的数集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对于加法、减法、乘法与除法（除数不为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）是封闭的，那么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就称为一个数域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7">
            <a:extLst>
              <a:ext uri="{FF2B5EF4-FFF2-40B4-BE49-F238E27FC236}">
                <a16:creationId xmlns:a16="http://schemas.microsoft.com/office/drawing/2014/main" id="{2F5BA11F-0D27-4973-8D5F-860842B8A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481138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：有理数集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Q,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实数集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复数集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C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都是数域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Text Box 29">
            <a:extLst>
              <a:ext uri="{FF2B5EF4-FFF2-40B4-BE49-F238E27FC236}">
                <a16:creationId xmlns:a16="http://schemas.microsoft.com/office/drawing/2014/main" id="{FAC0779C-E6EF-4C26-9544-397136850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3138488"/>
            <a:ext cx="12145962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：所有奇数组成的数集，对乘法是封闭的，但对于加、减法不是封闭的，因此该数集不是数域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2" name="组合 6">
            <a:extLst>
              <a:ext uri="{FF2B5EF4-FFF2-40B4-BE49-F238E27FC236}">
                <a16:creationId xmlns:a16="http://schemas.microsoft.com/office/drawing/2014/main" id="{F31D4FF1-E780-41BA-90F5-4A623AF90ADB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2344738"/>
            <a:ext cx="9144000" cy="652462"/>
            <a:chOff x="48915" y="1773610"/>
            <a:chExt cx="9144000" cy="652486"/>
          </a:xfrm>
        </p:grpSpPr>
        <p:sp>
          <p:nvSpPr>
            <p:cNvPr id="5129" name="Text Box 28">
              <a:extLst>
                <a:ext uri="{FF2B5EF4-FFF2-40B4-BE49-F238E27FC236}">
                  <a16:creationId xmlns:a16="http://schemas.microsoft.com/office/drawing/2014/main" id="{9BF21D3A-86F2-4581-A777-1BC4BC328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1773610"/>
              <a:ext cx="9144000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例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：数集                                                     也是数域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. </a:t>
              </a:r>
              <a:endPara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130" name="Object 2">
              <a:extLst>
                <a:ext uri="{FF2B5EF4-FFF2-40B4-BE49-F238E27FC236}">
                  <a16:creationId xmlns:a16="http://schemas.microsoft.com/office/drawing/2014/main" id="{5A68428D-35E3-460D-8895-06CFE90B13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4121" y="1773610"/>
            <a:ext cx="4476750" cy="615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752600" imgH="241300" progId="Equation.3">
                    <p:embed/>
                  </p:oleObj>
                </mc:Choice>
                <mc:Fallback>
                  <p:oleObj name="公式" r:id="rId2" imgW="1752600" imgH="241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4121" y="1773610"/>
                          <a:ext cx="4476750" cy="615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29">
            <a:extLst>
              <a:ext uri="{FF2B5EF4-FFF2-40B4-BE49-F238E27FC236}">
                <a16:creationId xmlns:a16="http://schemas.microsoft.com/office/drawing/2014/main" id="{842238F5-5774-400F-A77B-45EDEB049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4506913"/>
            <a:ext cx="12145962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4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：所有整数组成的数集，对于加法、减法、乘法是封闭的，但对于除法不封闭，因此该数集不是数域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5B9F41B-D081-4E22-94DB-50B431AD2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5662613"/>
            <a:ext cx="91440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注：所有的数域都包含有理数域作为它的一部分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127" name="Rectangle 5">
            <a:extLst>
              <a:ext uri="{FF2B5EF4-FFF2-40B4-BE49-F238E27FC236}">
                <a16:creationId xmlns:a16="http://schemas.microsoft.com/office/drawing/2014/main" id="{137FD2AC-0970-4D93-9A44-1F67C8679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线性空间的定义和例子</a:t>
            </a:r>
          </a:p>
        </p:txBody>
      </p:sp>
      <p:sp>
        <p:nvSpPr>
          <p:cNvPr id="5128" name="Rectangle 3">
            <a:extLst>
              <a:ext uri="{FF2B5EF4-FFF2-40B4-BE49-F238E27FC236}">
                <a16:creationId xmlns:a16="http://schemas.microsoft.com/office/drawing/2014/main" id="{F20E91B0-0461-4495-A9EE-5CE306020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909638"/>
            <a:ext cx="357822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数域的几个例子：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EB980703-1D86-4E31-92FB-E73A67F15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" y="1054100"/>
            <a:ext cx="120745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定义：设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是一个非空集合，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是一个数域。在集合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的元素之间定义了一种代数运算，叫做加法；这就是说，给出了一个法则，对于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中任意两个元素</a:t>
            </a:r>
            <a:r>
              <a:rPr lang="el-GR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l-GR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，在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中都有唯一的一个元素</a:t>
            </a:r>
            <a:r>
              <a:rPr lang="el-GR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γ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与它们对应，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称为</a:t>
            </a:r>
            <a:r>
              <a:rPr lang="el-GR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l-GR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 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的和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，记为</a:t>
            </a:r>
            <a:r>
              <a:rPr lang="el-GR" altLang="zh-CN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γ </a:t>
            </a:r>
            <a:r>
              <a:rPr lang="en-US" altLang="zh-CN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l-GR" altLang="zh-CN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在数域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与集合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的元素之间还定义了一种运算，叫做数量乘法；这就是说，对于数域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中任一数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中任一元素</a:t>
            </a:r>
            <a:r>
              <a:rPr lang="el-GR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，在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中都有唯一的一个元素</a:t>
            </a:r>
            <a:r>
              <a:rPr lang="el-GR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δ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与它们对应，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称为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l-GR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的数量乘积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，记为</a:t>
            </a:r>
            <a:r>
              <a:rPr lang="el-GR" altLang="zh-CN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δ </a:t>
            </a:r>
            <a:r>
              <a:rPr lang="en-US" altLang="zh-CN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=k</a:t>
            </a:r>
            <a:r>
              <a:rPr lang="el-GR" altLang="zh-CN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如果加法与数量乘法满足下述八条规则</a:t>
            </a:r>
            <a:endParaRPr lang="en-US" altLang="zh-CN" sz="28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00BFE5E5-8365-4E94-AEF4-B9EBB00AD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线性空间的定义和例子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>
            <a:extLst>
              <a:ext uri="{FF2B5EF4-FFF2-40B4-BE49-F238E27FC236}">
                <a16:creationId xmlns:a16="http://schemas.microsoft.com/office/drawing/2014/main" id="{5CD7F5C5-4A21-4AAE-A131-463BC5B88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线性空间的定义和例子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E22EE6-8358-44C0-B8BE-8539C7869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5518150"/>
            <a:ext cx="590391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数量乘法与加法满足下面两条规则：</a:t>
            </a:r>
            <a:endParaRPr lang="en-US" altLang="zh-CN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67F2EA29-6720-4E8D-A4D8-A4D6C4A17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线性空间的定义和例子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73BBE8D-9118-4779-944E-C3F3FE4C6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1557338"/>
            <a:ext cx="36004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</a:t>
            </a:r>
          </a:p>
        </p:txBody>
      </p:sp>
      <p:sp>
        <p:nvSpPr>
          <p:cNvPr id="7174" name="矩形 7">
            <a:extLst>
              <a:ext uri="{FF2B5EF4-FFF2-40B4-BE49-F238E27FC236}">
                <a16:creationId xmlns:a16="http://schemas.microsoft.com/office/drawing/2014/main" id="{81DF4353-51DB-4C43-99AC-5719A16AB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1054100"/>
            <a:ext cx="4133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加法满足下面四条规则：</a:t>
            </a:r>
            <a:endParaRPr lang="en-US" altLang="zh-CN" sz="28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94F8AA0-8BFA-4560-9BEF-AF91C7554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3" y="1974850"/>
            <a:ext cx="6192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γ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+(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γ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);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5E4DBEA-BC1F-4FF5-B4B3-FE8BA57B7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3" y="2420938"/>
            <a:ext cx="11622087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）在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中有一个元素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，对于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中任一元素</a:t>
            </a:r>
            <a:r>
              <a:rPr lang="el-GR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都有</a:t>
            </a:r>
            <a:endParaRPr lang="en-US" altLang="zh-CN" sz="28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                  </a:t>
            </a:r>
            <a:r>
              <a:rPr lang="el-GR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+ 0 =</a:t>
            </a:r>
            <a:r>
              <a:rPr lang="el-GR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 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（元素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称为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的零元素）；</a:t>
            </a:r>
            <a:endParaRPr lang="en-US" altLang="zh-CN" sz="28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89F6A90-D8DB-41DF-BC3F-2AFB3F5F6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343275"/>
            <a:ext cx="120745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）对于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中每一个元素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，都有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中的元素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，使得</a:t>
            </a:r>
            <a:endParaRPr lang="en-US" altLang="zh-CN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                   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            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称为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的负元素）；</a:t>
            </a:r>
            <a:endParaRPr lang="en-US" altLang="zh-CN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796E84-64CB-4082-9B5B-0A7ACC6FD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4078288"/>
            <a:ext cx="4851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数量乘法满足下面两条规则：</a:t>
            </a:r>
            <a:endParaRPr lang="en-US" altLang="zh-CN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8D184F4-ED1A-40CC-B759-B78C5BE22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4581525"/>
            <a:ext cx="61912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α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en-US" altLang="zh-CN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B1EA713-A9A7-4C6A-90D6-66F194016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5013325"/>
            <a:ext cx="359886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k( l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)=(kl)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0E3A607-C263-4136-A385-EBD4115D2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6381750"/>
            <a:ext cx="59055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k(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)=k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+k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B5563B7-3B65-44E4-8D99-6337C3D15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5949950"/>
            <a:ext cx="590391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( k+l)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=k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+l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3FA60B-8C31-44F0-82BB-89B5BF983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446" y="5202237"/>
            <a:ext cx="5062604" cy="138499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那么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称为数域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线性空间</a:t>
            </a:r>
            <a:endParaRPr lang="en-US" altLang="zh-CN" sz="28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也称为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向量空间</a:t>
            </a:r>
            <a:endParaRPr lang="en-US" altLang="zh-CN" sz="28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V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中的元素都称为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向量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>
            <a:extLst>
              <a:ext uri="{FF2B5EF4-FFF2-40B4-BE49-F238E27FC236}">
                <a16:creationId xmlns:a16="http://schemas.microsoft.com/office/drawing/2014/main" id="{6D66B510-D4D5-458A-BAF2-98E8C3E1F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线性空间的定义和例子</a:t>
            </a:r>
          </a:p>
        </p:txBody>
      </p:sp>
      <p:sp>
        <p:nvSpPr>
          <p:cNvPr id="8195" name="矩形 3">
            <a:extLst>
              <a:ext uri="{FF2B5EF4-FFF2-40B4-BE49-F238E27FC236}">
                <a16:creationId xmlns:a16="http://schemas.microsoft.com/office/drawing/2014/main" id="{8AEF32DB-E356-48F9-A60F-D3ACA4F34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" y="1108075"/>
            <a:ext cx="121094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：实数域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 ×n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矩阵全体，按照矩阵的加法和矩阵与数的数量乘法，构成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上的一个线性空间，记为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 </a:t>
            </a:r>
            <a:r>
              <a:rPr lang="en-US" altLang="zh-CN" sz="2800" baseline="30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 ×n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07F1A3-80E1-4ACE-B5D6-E6C12357A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6075363"/>
            <a:ext cx="90344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注：取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n=1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说明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 </a:t>
            </a:r>
            <a:r>
              <a:rPr lang="en-US" altLang="zh-CN" sz="2800" baseline="30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上的一个线性空间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99AECC1A-AE70-40DE-9674-BC1328CD99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8713" y="2735263"/>
          <a:ext cx="3600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7200" imgH="228600" progId="Equation.DSMT4">
                  <p:embed/>
                </p:oleObj>
              </mc:Choice>
              <mc:Fallback>
                <p:oleObj name="Equation" r:id="rId2" imgW="17272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2735263"/>
                        <a:ext cx="36004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3">
            <a:extLst>
              <a:ext uri="{FF2B5EF4-FFF2-40B4-BE49-F238E27FC236}">
                <a16:creationId xmlns:a16="http://schemas.microsoft.com/office/drawing/2014/main" id="{FCF1631D-1978-4CFB-9807-AA143C9596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625" y="3455988"/>
          <a:ext cx="59563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57500" imgH="228600" progId="Equation.DSMT4">
                  <p:embed/>
                </p:oleObj>
              </mc:Choice>
              <mc:Fallback>
                <p:oleObj name="Equation" r:id="rId4" imgW="28575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3455988"/>
                        <a:ext cx="59563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4">
            <a:extLst>
              <a:ext uri="{FF2B5EF4-FFF2-40B4-BE49-F238E27FC236}">
                <a16:creationId xmlns:a16="http://schemas.microsoft.com/office/drawing/2014/main" id="{3ADD8BCD-3BF6-4B50-BD69-F4FCC7CAF1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0513" y="4078288"/>
          <a:ext cx="270033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400" imgH="228600" progId="Equation.DSMT4">
                  <p:embed/>
                </p:oleObj>
              </mc:Choice>
              <mc:Fallback>
                <p:oleObj name="Equation" r:id="rId6" imgW="12954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513" y="4078288"/>
                        <a:ext cx="2700337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5">
            <a:extLst>
              <a:ext uri="{FF2B5EF4-FFF2-40B4-BE49-F238E27FC236}">
                <a16:creationId xmlns:a16="http://schemas.microsoft.com/office/drawing/2014/main" id="{F3CC8EA0-F8ED-4EF4-A9F4-98576E3BB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5100" y="4727575"/>
          <a:ext cx="309721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85900" imgH="228600" progId="Equation.DSMT4">
                  <p:embed/>
                </p:oleObj>
              </mc:Choice>
              <mc:Fallback>
                <p:oleObj name="Equation" r:id="rId8" imgW="14859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4727575"/>
                        <a:ext cx="3097213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6">
            <a:extLst>
              <a:ext uri="{FF2B5EF4-FFF2-40B4-BE49-F238E27FC236}">
                <a16:creationId xmlns:a16="http://schemas.microsoft.com/office/drawing/2014/main" id="{A2044353-E1A4-45DD-AECA-15146F7007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2275" y="2735263"/>
          <a:ext cx="18002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25" imgH="228501" progId="Equation.DSMT4">
                  <p:embed/>
                </p:oleObj>
              </mc:Choice>
              <mc:Fallback>
                <p:oleObj name="Equation" r:id="rId10" imgW="863225" imgH="22850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2275" y="2735263"/>
                        <a:ext cx="18002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7">
            <a:extLst>
              <a:ext uri="{FF2B5EF4-FFF2-40B4-BE49-F238E27FC236}">
                <a16:creationId xmlns:a16="http://schemas.microsoft.com/office/drawing/2014/main" id="{41B4D175-9102-4617-9D79-715679A6CB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4138" y="3384550"/>
          <a:ext cx="262096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7300" imgH="228600" progId="Equation.DSMT4">
                  <p:embed/>
                </p:oleObj>
              </mc:Choice>
              <mc:Fallback>
                <p:oleObj name="Equation" r:id="rId12" imgW="12573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4138" y="3384550"/>
                        <a:ext cx="2620962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8">
            <a:extLst>
              <a:ext uri="{FF2B5EF4-FFF2-40B4-BE49-F238E27FC236}">
                <a16:creationId xmlns:a16="http://schemas.microsoft.com/office/drawing/2014/main" id="{24398F8D-AF9A-494E-BC35-BDEE0465A2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7425" y="4005263"/>
          <a:ext cx="36004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27200" imgH="228600" progId="Equation.DSMT4">
                  <p:embed/>
                </p:oleObj>
              </mc:Choice>
              <mc:Fallback>
                <p:oleObj name="Equation" r:id="rId14" imgW="17272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7425" y="4005263"/>
                        <a:ext cx="36004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9">
            <a:extLst>
              <a:ext uri="{FF2B5EF4-FFF2-40B4-BE49-F238E27FC236}">
                <a16:creationId xmlns:a16="http://schemas.microsoft.com/office/drawing/2014/main" id="{6ACD1347-AEF4-4BE0-8B17-65600D5CAD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5488" y="4654550"/>
          <a:ext cx="42354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32000" imgH="228600" progId="Equation.DSMT4">
                  <p:embed/>
                </p:oleObj>
              </mc:Choice>
              <mc:Fallback>
                <p:oleObj name="Equation" r:id="rId16" imgW="20320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5488" y="4654550"/>
                        <a:ext cx="42354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144664E5-EAB8-4BAF-ADB9-F4FF90FA9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2133600"/>
            <a:ext cx="11233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首先，矩阵的加法运算、矩阵与数的数量乘法运算都是封闭的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314FED-4000-4AC9-9603-A091B5FE1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" y="5446713"/>
            <a:ext cx="109077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因此，实数域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 ×n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矩阵全体构成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上的一个线性空间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>
            <a:extLst>
              <a:ext uri="{FF2B5EF4-FFF2-40B4-BE49-F238E27FC236}">
                <a16:creationId xmlns:a16="http://schemas.microsoft.com/office/drawing/2014/main" id="{CE59B0F2-6B07-4FF0-B65D-EE573C106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线性空间的定义和例子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9C4B9D-9A46-4B22-A375-84F0CD618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2835275"/>
            <a:ext cx="121031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：实数域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上一元多项式全体，按通常的多项式加法和数与多项式的乘法，构成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上一个线性空间，记为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R[x].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696BD6-594E-4378-BFE9-EBF3F672C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4481513"/>
            <a:ext cx="121031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注：若只考虑其中次数小于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的多项式，再添上零多项式也构成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上的一个线性空间，记为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R[x]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7E09A86C-D38F-439B-8797-8F6BC4BAF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3763" y="4899025"/>
          <a:ext cx="642143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38500" imgH="266700" progId="Equation.DSMT4">
                  <p:embed/>
                </p:oleObj>
              </mc:Choice>
              <mc:Fallback>
                <p:oleObj name="Equation" r:id="rId2" imgW="3238500" imgH="266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4899025"/>
                        <a:ext cx="6421437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矩形 5">
            <a:extLst>
              <a:ext uri="{FF2B5EF4-FFF2-40B4-BE49-F238E27FC236}">
                <a16:creationId xmlns:a16="http://schemas.microsoft.com/office/drawing/2014/main" id="{49705DE6-DFE5-49F1-B798-D837F8869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1196975"/>
            <a:ext cx="12117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：数域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阶可逆（不可逆）矩阵全体都不构成数域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上的线性空间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CC2ACD-9D9D-454A-A71C-6F28FECFE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5589588"/>
            <a:ext cx="9410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：次数等于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的一元多项式全体不构成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上的线性空间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6627" name="Object 3">
            <a:extLst>
              <a:ext uri="{FF2B5EF4-FFF2-40B4-BE49-F238E27FC236}">
                <a16:creationId xmlns:a16="http://schemas.microsoft.com/office/drawing/2014/main" id="{C363DFE3-72CF-40EC-9F2F-4F34927F6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1738" y="1989138"/>
          <a:ext cx="30448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59866" imgH="215806" progId="Equation.DSMT4">
                  <p:embed/>
                </p:oleObj>
              </mc:Choice>
              <mc:Fallback>
                <p:oleObj name="Equation" r:id="rId4" imgW="1459866" imgH="21580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1989138"/>
                        <a:ext cx="30448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id="{2A9605AF-0A76-49DF-87C2-121FF0CCBE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2188" y="1773238"/>
          <a:ext cx="3998912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700" imgH="457200" progId="Equation.DSMT4">
                  <p:embed/>
                </p:oleObj>
              </mc:Choice>
              <mc:Fallback>
                <p:oleObj name="Equation" r:id="rId6" imgW="19177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2188" y="1773238"/>
                        <a:ext cx="3998912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2DA31A27-FA15-45F9-B22B-6BC4BB778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2725" y="1970088"/>
            <a:ext cx="2755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加法都不封闭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E4CE8A-0EBD-410E-8948-137968922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3862388"/>
            <a:ext cx="107283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可以验证，加法与数乘运算都封闭，而且满足定义中的八条规则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4A368-B9FF-4C21-B574-27EF83624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5025" y="6165850"/>
            <a:ext cx="2755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加法不封闭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8AC5617F-75A2-4B15-91DE-355AEBD1DF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7275" y="6140450"/>
          <a:ext cx="71485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9000" imgH="254000" progId="Equation.DSMT4">
                  <p:embed/>
                </p:oleObj>
              </mc:Choice>
              <mc:Fallback>
                <p:oleObj name="Equation" r:id="rId8" imgW="34290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6140450"/>
                        <a:ext cx="7148513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>
            <a:extLst>
              <a:ext uri="{FF2B5EF4-FFF2-40B4-BE49-F238E27FC236}">
                <a16:creationId xmlns:a16="http://schemas.microsoft.com/office/drawing/2014/main" id="{1F947F64-7464-46EA-B2EE-074872124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线性空间的例子和性质</a:t>
            </a:r>
          </a:p>
        </p:txBody>
      </p:sp>
      <p:sp>
        <p:nvSpPr>
          <p:cNvPr id="10243" name="矩形 2">
            <a:extLst>
              <a:ext uri="{FF2B5EF4-FFF2-40B4-BE49-F238E27FC236}">
                <a16:creationId xmlns:a16="http://schemas.microsoft.com/office/drawing/2014/main" id="{B5A9DFE1-294F-4B21-8BBD-7F477A4EA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" y="1684338"/>
            <a:ext cx="121094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：区间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[a, b]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上所有实连续函数的集合，对函数的加法和数乘函数运算，构成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上的一个线性空间，记为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C[a, b].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44" name="矩形 3">
            <a:extLst>
              <a:ext uri="{FF2B5EF4-FFF2-40B4-BE49-F238E27FC236}">
                <a16:creationId xmlns:a16="http://schemas.microsoft.com/office/drawing/2014/main" id="{D85BE7C6-5CD0-4FFD-83E3-D14674BAF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22613"/>
            <a:ext cx="9034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：实数集合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构成实数域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上的一个线性空间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45" name="矩形 4">
            <a:extLst>
              <a:ext uri="{FF2B5EF4-FFF2-40B4-BE49-F238E27FC236}">
                <a16:creationId xmlns:a16="http://schemas.microsoft.com/office/drawing/2014/main" id="{EF122536-5CB5-4DA0-8BC0-C5D1617B7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4275138"/>
            <a:ext cx="90344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：复数集合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构成实数域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上的一个线性空间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A636BE-8F8B-42A4-81D6-2FE922299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5354638"/>
            <a:ext cx="9034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：实数集合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不构成复数域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上的一个线性空间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9">
            <a:extLst>
              <a:ext uri="{FF2B5EF4-FFF2-40B4-BE49-F238E27FC236}">
                <a16:creationId xmlns:a16="http://schemas.microsoft.com/office/drawing/2014/main" id="{A08EF0FE-E75E-40BE-AD1E-D64C6C6621D6}"/>
              </a:ext>
            </a:extLst>
          </p:cNvPr>
          <p:cNvGrpSpPr>
            <a:grpSpLocks/>
          </p:cNvGrpSpPr>
          <p:nvPr/>
        </p:nvGrpSpPr>
        <p:grpSpPr bwMode="auto">
          <a:xfrm>
            <a:off x="912813" y="2608263"/>
            <a:ext cx="10729912" cy="2722562"/>
            <a:chOff x="913011" y="2608210"/>
            <a:chExt cx="10729192" cy="2723288"/>
          </a:xfrm>
        </p:grpSpPr>
        <p:sp>
          <p:nvSpPr>
            <p:cNvPr id="10250" name="矩形 6">
              <a:extLst>
                <a:ext uri="{FF2B5EF4-FFF2-40B4-BE49-F238E27FC236}">
                  <a16:creationId xmlns:a16="http://schemas.microsoft.com/office/drawing/2014/main" id="{FBE60D18-79AA-4BD5-9D64-80770F13D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011" y="2608210"/>
              <a:ext cx="107291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可以验证，加法与数乘运算都封闭，而且满足定义中的八条规则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  <a:endParaRPr lang="en-US" altLang="zh-CN" sz="2800" baseline="30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251" name="矩形 7">
              <a:extLst>
                <a:ext uri="{FF2B5EF4-FFF2-40B4-BE49-F238E27FC236}">
                  <a16:creationId xmlns:a16="http://schemas.microsoft.com/office/drawing/2014/main" id="{5032383A-3507-4FCF-8740-24EBB0A9A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011" y="3656150"/>
              <a:ext cx="107291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可以验证，加法与数乘运算都封闭，而且满足定义中的八条规则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  <a:endParaRPr lang="en-US" altLang="zh-CN" sz="2800" baseline="30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252" name="矩形 8">
              <a:extLst>
                <a:ext uri="{FF2B5EF4-FFF2-40B4-BE49-F238E27FC236}">
                  <a16:creationId xmlns:a16="http://schemas.microsoft.com/office/drawing/2014/main" id="{C33291C0-CDDE-4890-889C-7CF74CC1D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011" y="4808278"/>
              <a:ext cx="107291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可以验证，加法与数乘运算都封闭，而且满足定义中的八条规则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  <a:endParaRPr lang="en-US" altLang="zh-CN" sz="2800" baseline="30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24FC1B6F-61C3-42A7-8573-862D493A3A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7275" y="6021388"/>
          <a:ext cx="47355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229" imgH="203112" progId="Equation.DSMT4">
                  <p:embed/>
                </p:oleObj>
              </mc:Choice>
              <mc:Fallback>
                <p:oleObj name="Equation" r:id="rId2" imgW="1777229" imgH="20311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6021388"/>
                        <a:ext cx="473551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23D4355A-B851-4E57-94DC-9A2C25C4F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50" y="6010275"/>
            <a:ext cx="41767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数乘运算不满足封闭性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A146AB0C-3894-4B07-AE6E-DDBE5A5D4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025525"/>
            <a:ext cx="121459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：用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表示所有正实数集合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对任意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a, b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kR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定义加法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ab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定义数量乘法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k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验证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对所定义加法和数乘运算构成线性空间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B45A99D-F204-4B3C-86F6-6F1285330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2062163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解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：显然，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非空，而且加法和数乘运算是封闭的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7DCF4311-8E32-4DD5-A78F-333017855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3" y="3506788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为零元素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使得对任意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1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·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97552369-BB7C-4841-BE52-CB2F77257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3" y="4010025"/>
            <a:ext cx="91440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）对任意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存在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使得有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a</a:t>
            </a:r>
            <a:r>
              <a:rPr lang="zh-CN" altLang="en-US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－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F1E46010-5A2C-4942-BF89-C45B47A11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2498725"/>
            <a:ext cx="91440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对任意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a, b,c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k, l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满足：  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ABA538-ED4A-4943-AD64-05BCE1099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3073400"/>
            <a:ext cx="10896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ab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＝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b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a;                      2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(a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b)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abc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=a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(b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 ) ;</a:t>
            </a:r>
            <a:endParaRPr lang="zh-CN" altLang="en-US"/>
          </a:p>
        </p:txBody>
      </p:sp>
      <p:grpSp>
        <p:nvGrpSpPr>
          <p:cNvPr id="2" name="组合 23">
            <a:extLst>
              <a:ext uri="{FF2B5EF4-FFF2-40B4-BE49-F238E27FC236}">
                <a16:creationId xmlns:a16="http://schemas.microsoft.com/office/drawing/2014/main" id="{83B55FFD-A70A-4437-97F6-F3CAD4B0BFBE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4441825"/>
            <a:ext cx="6745287" cy="652463"/>
            <a:chOff x="-1" y="4653930"/>
            <a:chExt cx="6745659" cy="652486"/>
          </a:xfrm>
        </p:grpSpPr>
        <p:sp>
          <p:nvSpPr>
            <p:cNvPr id="11291" name="Text Box 12">
              <a:extLst>
                <a:ext uri="{FF2B5EF4-FFF2-40B4-BE49-F238E27FC236}">
                  <a16:creationId xmlns:a16="http://schemas.microsoft.com/office/drawing/2014/main" id="{AD1A172C-72FE-4BA9-BB7B-A2E0A1943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" y="4653930"/>
              <a:ext cx="6745659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）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   a=a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1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＝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a,  aR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 1R.</a:t>
              </a:r>
            </a:p>
          </p:txBody>
        </p:sp>
        <p:graphicFrame>
          <p:nvGraphicFramePr>
            <p:cNvPr id="11292" name="Object 2">
              <a:extLst>
                <a:ext uri="{FF2B5EF4-FFF2-40B4-BE49-F238E27FC236}">
                  <a16:creationId xmlns:a16="http://schemas.microsoft.com/office/drawing/2014/main" id="{C3980DB2-4523-4918-8F43-86E924C2B9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1003" y="4914323"/>
            <a:ext cx="228600" cy="2160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468" imgH="114151" progId="Equation.DSMT4">
                    <p:embed/>
                  </p:oleObj>
                </mc:Choice>
                <mc:Fallback>
                  <p:oleObj name="Equation" r:id="rId2" imgW="101468" imgH="114151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1003" y="4914323"/>
                          <a:ext cx="228600" cy="2160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4">
            <a:extLst>
              <a:ext uri="{FF2B5EF4-FFF2-40B4-BE49-F238E27FC236}">
                <a16:creationId xmlns:a16="http://schemas.microsoft.com/office/drawing/2014/main" id="{C41A01A4-0268-4670-A23F-CD6310840480}"/>
              </a:ext>
            </a:extLst>
          </p:cNvPr>
          <p:cNvGrpSpPr>
            <a:grpSpLocks/>
          </p:cNvGrpSpPr>
          <p:nvPr/>
        </p:nvGrpSpPr>
        <p:grpSpPr bwMode="auto">
          <a:xfrm>
            <a:off x="300038" y="4946650"/>
            <a:ext cx="9144000" cy="652463"/>
            <a:chOff x="34925" y="5157986"/>
            <a:chExt cx="9144000" cy="652486"/>
          </a:xfrm>
        </p:grpSpPr>
        <p:sp>
          <p:nvSpPr>
            <p:cNvPr id="11287" name="Text Box 11">
              <a:extLst>
                <a:ext uri="{FF2B5EF4-FFF2-40B4-BE49-F238E27FC236}">
                  <a16:creationId xmlns:a16="http://schemas.microsoft.com/office/drawing/2014/main" id="{009DBFC2-096B-4594-A04D-9836F6E1A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5" y="5157986"/>
              <a:ext cx="9144000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）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   (l   a) = (a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l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)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＝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a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kl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=(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kl)   a;</a:t>
              </a:r>
            </a:p>
          </p:txBody>
        </p:sp>
        <p:graphicFrame>
          <p:nvGraphicFramePr>
            <p:cNvPr id="11288" name="Object 3">
              <a:extLst>
                <a:ext uri="{FF2B5EF4-FFF2-40B4-BE49-F238E27FC236}">
                  <a16:creationId xmlns:a16="http://schemas.microsoft.com/office/drawing/2014/main" id="{3431D423-A18F-4CC0-BAC2-51D164FCEA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27759" y="5416770"/>
            <a:ext cx="2286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468" imgH="114151" progId="Equation.DSMT4">
                    <p:embed/>
                  </p:oleObj>
                </mc:Choice>
                <mc:Fallback>
                  <p:oleObj name="Equation" r:id="rId2" imgW="101468" imgH="114151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7759" y="5416770"/>
                          <a:ext cx="2286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9" name="Object 4">
              <a:extLst>
                <a:ext uri="{FF2B5EF4-FFF2-40B4-BE49-F238E27FC236}">
                  <a16:creationId xmlns:a16="http://schemas.microsoft.com/office/drawing/2014/main" id="{345CE361-3673-4DE0-907F-38DDCE755A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9303" y="5431518"/>
            <a:ext cx="2286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468" imgH="114151" progId="Equation.DSMT4">
                    <p:embed/>
                  </p:oleObj>
                </mc:Choice>
                <mc:Fallback>
                  <p:oleObj name="Equation" r:id="rId2" imgW="101468" imgH="114151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9303" y="5431518"/>
                          <a:ext cx="2286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0" name="Object 5">
              <a:extLst>
                <a:ext uri="{FF2B5EF4-FFF2-40B4-BE49-F238E27FC236}">
                  <a16:creationId xmlns:a16="http://schemas.microsoft.com/office/drawing/2014/main" id="{DB3D76CE-4CCF-4686-AA64-8AC7B66788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2679" y="5447874"/>
            <a:ext cx="2286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468" imgH="114151" progId="Equation.DSMT4">
                    <p:embed/>
                  </p:oleObj>
                </mc:Choice>
                <mc:Fallback>
                  <p:oleObj name="Equation" r:id="rId2" imgW="101468" imgH="114151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2679" y="5447874"/>
                          <a:ext cx="2286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22">
            <a:extLst>
              <a:ext uri="{FF2B5EF4-FFF2-40B4-BE49-F238E27FC236}">
                <a16:creationId xmlns:a16="http://schemas.microsoft.com/office/drawing/2014/main" id="{AFCD3264-E6B6-4BE6-BDDC-B67A3A063A8D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5449888"/>
            <a:ext cx="5881687" cy="652462"/>
            <a:chOff x="0" y="5662042"/>
            <a:chExt cx="5881563" cy="652486"/>
          </a:xfrm>
        </p:grpSpPr>
        <p:sp>
          <p:nvSpPr>
            <p:cNvPr id="11283" name="Text Box 10">
              <a:extLst>
                <a:ext uri="{FF2B5EF4-FFF2-40B4-BE49-F238E27FC236}">
                  <a16:creationId xmlns:a16="http://schemas.microsoft.com/office/drawing/2014/main" id="{2160A4F8-265B-4455-A6ED-1B7DBE845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5662042"/>
              <a:ext cx="5881563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）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(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k+l)   a=a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k+l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＝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a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a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l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＝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   al   a;</a:t>
              </a:r>
            </a:p>
          </p:txBody>
        </p:sp>
        <p:graphicFrame>
          <p:nvGraphicFramePr>
            <p:cNvPr id="11284" name="Object 6">
              <a:extLst>
                <a:ext uri="{FF2B5EF4-FFF2-40B4-BE49-F238E27FC236}">
                  <a16:creationId xmlns:a16="http://schemas.microsoft.com/office/drawing/2014/main" id="{BFBC4D2F-3923-4994-BDAB-E5BE43DFC4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91247" y="5935450"/>
            <a:ext cx="2286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468" imgH="114151" progId="Equation.DSMT4">
                    <p:embed/>
                  </p:oleObj>
                </mc:Choice>
                <mc:Fallback>
                  <p:oleObj name="Equation" r:id="rId2" imgW="101468" imgH="114151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1247" y="5935450"/>
                          <a:ext cx="2286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5" name="Object 7">
              <a:extLst>
                <a:ext uri="{FF2B5EF4-FFF2-40B4-BE49-F238E27FC236}">
                  <a16:creationId xmlns:a16="http://schemas.microsoft.com/office/drawing/2014/main" id="{360C3DF8-88EC-461E-86F2-9958552E28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0795" y="5933718"/>
            <a:ext cx="2286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468" imgH="114151" progId="Equation.DSMT4">
                    <p:embed/>
                  </p:oleObj>
                </mc:Choice>
                <mc:Fallback>
                  <p:oleObj name="Equation" r:id="rId2" imgW="101468" imgH="114151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0795" y="5933718"/>
                          <a:ext cx="2286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6" name="Object 8">
              <a:extLst>
                <a:ext uri="{FF2B5EF4-FFF2-40B4-BE49-F238E27FC236}">
                  <a16:creationId xmlns:a16="http://schemas.microsoft.com/office/drawing/2014/main" id="{17CD9BD3-DA08-4DCE-BB70-D085461816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7631" y="5950198"/>
            <a:ext cx="2286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468" imgH="114151" progId="Equation.DSMT4">
                    <p:embed/>
                  </p:oleObj>
                </mc:Choice>
                <mc:Fallback>
                  <p:oleObj name="Equation" r:id="rId2" imgW="101468" imgH="114151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7631" y="5950198"/>
                          <a:ext cx="2286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28">
            <a:extLst>
              <a:ext uri="{FF2B5EF4-FFF2-40B4-BE49-F238E27FC236}">
                <a16:creationId xmlns:a16="http://schemas.microsoft.com/office/drawing/2014/main" id="{3EEEBF44-06EB-4E39-8616-F5C5F57B84E8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5949950"/>
            <a:ext cx="7897812" cy="652463"/>
            <a:chOff x="-1" y="6161684"/>
            <a:chExt cx="7897787" cy="652486"/>
          </a:xfrm>
        </p:grpSpPr>
        <p:sp>
          <p:nvSpPr>
            <p:cNvPr id="11279" name="Text Box 9">
              <a:extLst>
                <a:ext uri="{FF2B5EF4-FFF2-40B4-BE49-F238E27FC236}">
                  <a16:creationId xmlns:a16="http://schemas.microsoft.com/office/drawing/2014/main" id="{27D0A1C4-ABE5-4248-A8F3-27FFEA5DE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" y="6161684"/>
              <a:ext cx="7897787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8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   (ab)=(ab)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=a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＝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   ak   b.</a:t>
              </a:r>
            </a:p>
          </p:txBody>
        </p:sp>
        <p:graphicFrame>
          <p:nvGraphicFramePr>
            <p:cNvPr id="11280" name="Object 9">
              <a:extLst>
                <a:ext uri="{FF2B5EF4-FFF2-40B4-BE49-F238E27FC236}">
                  <a16:creationId xmlns:a16="http://schemas.microsoft.com/office/drawing/2014/main" id="{D7DE9044-C02B-4B0B-BAA9-8F0545F71C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0435" y="6424758"/>
            <a:ext cx="2286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468" imgH="114151" progId="Equation.DSMT4">
                    <p:embed/>
                  </p:oleObj>
                </mc:Choice>
                <mc:Fallback>
                  <p:oleObj name="Equation" r:id="rId2" imgW="101468" imgH="114151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0435" y="6424758"/>
                          <a:ext cx="2286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Object 10">
              <a:extLst>
                <a:ext uri="{FF2B5EF4-FFF2-40B4-BE49-F238E27FC236}">
                  <a16:creationId xmlns:a16="http://schemas.microsoft.com/office/drawing/2014/main" id="{73293CCA-3462-4356-AD55-31940540BA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2907" y="6423026"/>
            <a:ext cx="2286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468" imgH="114151" progId="Equation.DSMT4">
                    <p:embed/>
                  </p:oleObj>
                </mc:Choice>
                <mc:Fallback>
                  <p:oleObj name="Equation" r:id="rId2" imgW="101468" imgH="114151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2907" y="6423026"/>
                          <a:ext cx="2286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2" name="Object 11">
              <a:extLst>
                <a:ext uri="{FF2B5EF4-FFF2-40B4-BE49-F238E27FC236}">
                  <a16:creationId xmlns:a16="http://schemas.microsoft.com/office/drawing/2014/main" id="{216533A6-DCC6-41BD-8306-B93038ECE3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36939" y="6439506"/>
            <a:ext cx="2286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468" imgH="114151" progId="Equation.DSMT4">
                    <p:embed/>
                  </p:oleObj>
                </mc:Choice>
                <mc:Fallback>
                  <p:oleObj name="Equation" r:id="rId2" imgW="101468" imgH="114151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6939" y="6439506"/>
                          <a:ext cx="2286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76" name="Rectangle 5">
            <a:extLst>
              <a:ext uri="{FF2B5EF4-FFF2-40B4-BE49-F238E27FC236}">
                <a16:creationId xmlns:a16="http://schemas.microsoft.com/office/drawing/2014/main" id="{5972ED5D-66AE-4CB1-A78D-5188E9845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线性空间的例子和性质</a:t>
            </a:r>
          </a:p>
        </p:txBody>
      </p:sp>
      <p:graphicFrame>
        <p:nvGraphicFramePr>
          <p:cNvPr id="11277" name="Object 12">
            <a:extLst>
              <a:ext uri="{FF2B5EF4-FFF2-40B4-BE49-F238E27FC236}">
                <a16:creationId xmlns:a16="http://schemas.microsoft.com/office/drawing/2014/main" id="{92BF5CCD-AE1E-493B-B519-8E55527E1C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4288" y="1630363"/>
          <a:ext cx="228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1630363"/>
                        <a:ext cx="2286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">
            <a:extLst>
              <a:ext uri="{FF2B5EF4-FFF2-40B4-BE49-F238E27FC236}">
                <a16:creationId xmlns:a16="http://schemas.microsoft.com/office/drawing/2014/main" id="{6D4B4B8C-F250-4431-B680-1811042F7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5589588"/>
            <a:ext cx="56403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经验证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对所定义加法和数乘运算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构成线性空间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3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5">
            <a:extLst>
              <a:ext uri="{FF2B5EF4-FFF2-40B4-BE49-F238E27FC236}">
                <a16:creationId xmlns:a16="http://schemas.microsoft.com/office/drawing/2014/main" id="{63D92655-3D2C-4277-B08A-DBF5541DE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线性空间的例子和性质</a:t>
            </a:r>
          </a:p>
        </p:txBody>
      </p:sp>
      <p:sp>
        <p:nvSpPr>
          <p:cNvPr id="12291" name="矩形 4">
            <a:extLst>
              <a:ext uri="{FF2B5EF4-FFF2-40B4-BE49-F238E27FC236}">
                <a16:creationId xmlns:a16="http://schemas.microsoft.com/office/drawing/2014/main" id="{2D7F3650-00F1-489F-8B66-546C1E253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1250950"/>
            <a:ext cx="90360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由线性空间的定义可以得到线性空间的一些基本性质</a:t>
            </a:r>
            <a:endParaRPr lang="en-US" altLang="zh-CN" sz="2800" baseline="300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F1009A-EB67-4226-A8C2-A442A655A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2024063"/>
            <a:ext cx="90360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性质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：零向量是唯一的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D13152-AAFE-4EC2-9DC9-8CC213B58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2690813"/>
            <a:ext cx="90360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证明：假设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都是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零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向量，那么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+0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1E8F9F-E7A5-4AEC-A826-F0E9E2899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3698875"/>
            <a:ext cx="90360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性质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：负向量是唯一的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888F49-D25F-4439-B9F2-8138B53DA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4365625"/>
            <a:ext cx="106918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证明：假设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γ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都是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的负向量，即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 +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0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γ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0.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E90003-DB2B-47AC-909B-F4CBFA83F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3698875"/>
            <a:ext cx="40909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向量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的负向量记为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EF456D-B4A2-45EB-8C89-68895C3A3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5067300"/>
            <a:ext cx="90360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+0=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+(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γ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)=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)+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γ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=0+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γ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l-GR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γ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1">
            <a:extLst>
              <a:ext uri="{FF2B5EF4-FFF2-40B4-BE49-F238E27FC236}">
                <a16:creationId xmlns:a16="http://schemas.microsoft.com/office/drawing/2014/main" id="{1BD55926-FEE8-4E44-99C4-AE32C5CA8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1846263"/>
            <a:ext cx="90360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性质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800" dirty="0">
                <a:solidFill>
                  <a:srgbClr val="000000"/>
                </a:solidFill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=0, (-1)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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-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k0=0, 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V, </a:t>
            </a:r>
            <a:r>
              <a:rPr lang="en-US" altLang="zh-CN" sz="2800" dirty="0" err="1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kF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513BB2-40C8-4AB3-9C51-D622468AB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2565400"/>
            <a:ext cx="9036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证明：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  <a:cs typeface="Times New Roman" panose="02020603050405020304" pitchFamily="18" charset="0"/>
              </a:rPr>
              <a:t> 0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+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=(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</a:rPr>
              <a:t>0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+1)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=1=   →  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</a:rPr>
              <a:t>0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=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DD288C-9251-45A8-90AE-629D9B6D5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4778375"/>
            <a:ext cx="9036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性质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：若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=0,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则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k=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  <a:cs typeface="Times New Roman" panose="02020603050405020304" pitchFamily="18" charset="0"/>
              </a:rPr>
              <a:t> 0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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76309A-3F47-4A3A-BFF5-588127638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3267075"/>
            <a:ext cx="90360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(-1)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 +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=(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-1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+1)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= 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</a:rPr>
              <a:t>0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=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→ 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(-1)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 =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-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F08392-BDAB-4AFB-9B6A-FC6DC41C5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975" y="3933825"/>
            <a:ext cx="9036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k0+k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=k(0+ )=k  → 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k0=0.</a:t>
            </a:r>
            <a:endParaRPr lang="en-US" altLang="zh-CN" sz="28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9" name="Rectangle 5">
            <a:extLst>
              <a:ext uri="{FF2B5EF4-FFF2-40B4-BE49-F238E27FC236}">
                <a16:creationId xmlns:a16="http://schemas.microsoft.com/office/drawing/2014/main" id="{4CBF0C0D-D0CB-42FD-8ADA-15561FB8C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线性空间的例子和性质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B4FCC4-008A-4A5D-83D2-C22E8069F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446713"/>
            <a:ext cx="114490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证明：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000000"/>
                </a:solidFill>
                <a:ea typeface="华文新魏" panose="0201080004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k=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</a:rPr>
              <a:t> 0 ,</a:t>
            </a:r>
            <a:r>
              <a:rPr lang="zh-CN" altLang="en-US" sz="2800">
                <a:solidFill>
                  <a:srgbClr val="000000"/>
                </a:solidFill>
                <a:ea typeface="华文新魏" panose="02010800040101010101" pitchFamily="2" charset="-122"/>
              </a:rPr>
              <a:t>命题成立；否则，等式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两边同时数乘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1/k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→  =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>
            <a:extLst>
              <a:ext uri="{FF2B5EF4-FFF2-40B4-BE49-F238E27FC236}">
                <a16:creationId xmlns:a16="http://schemas.microsoft.com/office/drawing/2014/main" id="{DFBC2D3F-DABF-45AD-9850-A31553B85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6738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子空间的定义和例子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68B6032-3406-4B6E-BE02-8D20F5CD8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1054100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一、线性子空间的定义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64BB920E-C00C-4330-8397-0A159EF0A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557338"/>
            <a:ext cx="9144000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41" name="Text Box 3">
            <a:extLst>
              <a:ext uri="{FF2B5EF4-FFF2-40B4-BE49-F238E27FC236}">
                <a16:creationId xmlns:a16="http://schemas.microsoft.com/office/drawing/2014/main" id="{7F096101-D01D-4975-9C9F-8D6AC127D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773238"/>
            <a:ext cx="11952287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定义：设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是线性空间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的一个非空子集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的加法和数乘两种运算也构成线性空间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则称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的线性子空间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，简称为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子空间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9E3F0EA-BFFC-4480-94F5-A8BB1963C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3830638"/>
            <a:ext cx="12145962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注：仅由零向量组成的集合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{0}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的子空间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称之为零子空间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也是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的子空间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这两个子空间称为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平凡子空间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其它的子空间称为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非平凡子空间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>
            <a:extLst>
              <a:ext uri="{FF2B5EF4-FFF2-40B4-BE49-F238E27FC236}">
                <a16:creationId xmlns:a16="http://schemas.microsoft.com/office/drawing/2014/main" id="{2552AD06-004E-4159-859B-DD9579BB3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6738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子空间的定义和例子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E5DA0BFC-AC9A-4BD5-AD4D-6E2D7E576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022350"/>
            <a:ext cx="12145962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定理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设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上线性空间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的一个非空子集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则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的子空间的充分必要条件是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的加法和数乘两种运算是封闭的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即   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, U,   </a:t>
            </a:r>
            <a:r>
              <a:rPr lang="en-US" altLang="zh-CN" sz="2800" dirty="0" err="1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kR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都有         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                                        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+U,         kU.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12DF239A-C686-43B8-97AC-17C1BC197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2420938"/>
            <a:ext cx="12145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证明：必要性证明是显然的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下证充分性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endParaRPr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DA7E545-BD4A-410A-82EF-787AFA28A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6238875"/>
            <a:ext cx="532923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k(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)=k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+k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42271B6C-5F81-4014-95B8-CAA2859B9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100" y="3884613"/>
            <a:ext cx="6337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k=</a:t>
            </a:r>
            <a:r>
              <a:rPr lang="en-US" altLang="zh-CN" sz="2800"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时，规则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（存在零元素）满足；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C80D2510-CEDA-4AC7-904A-F0375DD72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100" y="4337050"/>
            <a:ext cx="63357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k=-1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时，规则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（存在负元素）满足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945EB6D-0EC2-4736-946D-BF424DFA5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3314700"/>
            <a:ext cx="439261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B96C8FD-4DAB-47FA-AF5E-C45C40D22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925" y="3286125"/>
            <a:ext cx="53276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γ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+(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γ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);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40B28EA-049E-4DE6-94F5-AB098C444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4740275"/>
            <a:ext cx="53292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α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en-US" altLang="zh-CN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6B7D570-3721-4967-B9B3-0FDFB935B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5229225"/>
            <a:ext cx="532765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k( l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)=(kl)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0833B37-69C7-4811-B090-D07B18596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5734050"/>
            <a:ext cx="53292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 k+l)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=k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+l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1D2CA87-576F-4925-92AF-789306090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3805238"/>
            <a:ext cx="35433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）存在零向量？</a:t>
            </a:r>
            <a:endParaRPr lang="en-US" altLang="zh-CN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7C94254-7203-4C2A-ACAC-BDE66FF58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4265613"/>
            <a:ext cx="53276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）存在负向量？</a:t>
            </a:r>
            <a:endParaRPr lang="en-US" altLang="zh-CN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D64E06AD-8003-4045-990D-7DD653BC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2835275"/>
            <a:ext cx="121459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首先，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上的加法和数乘也都是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的运算，而且显然满足八条规则中的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>
            <a:extLst>
              <a:ext uri="{FF2B5EF4-FFF2-40B4-BE49-F238E27FC236}">
                <a16:creationId xmlns:a16="http://schemas.microsoft.com/office/drawing/2014/main" id="{BA3B2125-A0BA-4ABF-A7FE-512B0FAC8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6738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子空间的定义和例子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7F028E06-1C05-4BFD-A060-B27E9960E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1630363"/>
            <a:ext cx="993616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元实系数齐次线性方程组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Ax=0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的解空间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的子空间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38A286DC-39F0-479D-94F6-ED90EA49D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2560638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中所有对角矩阵构成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的子空间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EDD38946-796B-4C37-AF85-3958487C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3497263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中所有对称（反对称）矩阵构成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的子空间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236D4C-8123-4B08-8BA2-5FE7B6E34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4505325"/>
            <a:ext cx="91440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中所有上三角（下三角）矩阵构成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的子空间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4AF7D964-FBB1-4E68-AA72-B2501167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5586413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F[x]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F[x]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的子空间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16392" name="Text Box 2">
            <a:extLst>
              <a:ext uri="{FF2B5EF4-FFF2-40B4-BE49-F238E27FC236}">
                <a16:creationId xmlns:a16="http://schemas.microsoft.com/office/drawing/2014/main" id="{8417C08A-4C5C-427B-BFDA-987692FA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1020763"/>
            <a:ext cx="99361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线性子空间的几个例子：</a:t>
            </a:r>
          </a:p>
        </p:txBody>
      </p:sp>
      <p:grpSp>
        <p:nvGrpSpPr>
          <p:cNvPr id="2" name="组合 16">
            <a:extLst>
              <a:ext uri="{FF2B5EF4-FFF2-40B4-BE49-F238E27FC236}">
                <a16:creationId xmlns:a16="http://schemas.microsoft.com/office/drawing/2014/main" id="{642E0A9C-A5C2-4E12-A824-BBF9CC13FE90}"/>
              </a:ext>
            </a:extLst>
          </p:cNvPr>
          <p:cNvGrpSpPr>
            <a:grpSpLocks/>
          </p:cNvGrpSpPr>
          <p:nvPr/>
        </p:nvGrpSpPr>
        <p:grpSpPr bwMode="auto">
          <a:xfrm>
            <a:off x="1417638" y="2090738"/>
            <a:ext cx="4464050" cy="4622090"/>
            <a:chOff x="1417067" y="2091138"/>
            <a:chExt cx="4464496" cy="4621741"/>
          </a:xfrm>
        </p:grpSpPr>
        <p:sp>
          <p:nvSpPr>
            <p:cNvPr id="16394" name="Text Box 2">
              <a:extLst>
                <a:ext uri="{FF2B5EF4-FFF2-40B4-BE49-F238E27FC236}">
                  <a16:creationId xmlns:a16="http://schemas.microsoft.com/office/drawing/2014/main" id="{A9D14634-7C08-40F4-AAD1-2FF371A10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7067" y="2091138"/>
              <a:ext cx="4464496" cy="580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满足加法和数乘运算封闭</a:t>
              </a:r>
              <a:r>
                <a:rPr lang="en-US" altLang="zh-CN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  <a:endPara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6395" name="Text Box 2">
              <a:extLst>
                <a:ext uri="{FF2B5EF4-FFF2-40B4-BE49-F238E27FC236}">
                  <a16:creationId xmlns:a16="http://schemas.microsoft.com/office/drawing/2014/main" id="{7E0DE012-9936-44EC-B1FE-D15F24B54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7067" y="3036420"/>
              <a:ext cx="4464496" cy="580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满足加法和数乘运算封闭</a:t>
              </a:r>
              <a:r>
                <a:rPr lang="en-US" altLang="zh-CN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  <a:endPara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6396" name="Text Box 2">
              <a:extLst>
                <a:ext uri="{FF2B5EF4-FFF2-40B4-BE49-F238E27FC236}">
                  <a16:creationId xmlns:a16="http://schemas.microsoft.com/office/drawing/2014/main" id="{161D5489-3FDF-45EC-8296-74FE9B4F78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7067" y="4016768"/>
              <a:ext cx="4464496" cy="580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满足加法和数乘运算封闭</a:t>
              </a:r>
              <a:r>
                <a:rPr lang="en-US" altLang="zh-CN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  <a:endPara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6397" name="Text Box 2">
              <a:extLst>
                <a:ext uri="{FF2B5EF4-FFF2-40B4-BE49-F238E27FC236}">
                  <a16:creationId xmlns:a16="http://schemas.microsoft.com/office/drawing/2014/main" id="{29FA1917-8226-4195-BD91-BA09C0290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7067" y="5052644"/>
              <a:ext cx="4464496" cy="580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满足加法和数乘运算封闭</a:t>
              </a:r>
              <a:r>
                <a:rPr lang="en-US" altLang="zh-CN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  <a:endPara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6398" name="Text Box 2">
              <a:extLst>
                <a:ext uri="{FF2B5EF4-FFF2-40B4-BE49-F238E27FC236}">
                  <a16:creationId xmlns:a16="http://schemas.microsoft.com/office/drawing/2014/main" id="{FAD26338-A447-4067-9FBD-96A90F502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7067" y="6132764"/>
              <a:ext cx="4464496" cy="580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满足加法和数乘运算封闭</a:t>
              </a:r>
              <a:r>
                <a:rPr lang="en-US" altLang="zh-CN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  <a:endPara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>
            <a:extLst>
              <a:ext uri="{FF2B5EF4-FFF2-40B4-BE49-F238E27FC236}">
                <a16:creationId xmlns:a16="http://schemas.microsoft.com/office/drawing/2014/main" id="{D5483130-1117-4652-9709-D3F18D5DE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6738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子空间的定义和例子</a:t>
            </a:r>
          </a:p>
        </p:txBody>
      </p:sp>
      <p:sp>
        <p:nvSpPr>
          <p:cNvPr id="17411" name="Text Box 6">
            <a:extLst>
              <a:ext uri="{FF2B5EF4-FFF2-40B4-BE49-F238E27FC236}">
                <a16:creationId xmlns:a16="http://schemas.microsoft.com/office/drawing/2014/main" id="{D637A6AA-0F7F-4B1A-B23A-85166834C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1054100"/>
            <a:ext cx="91440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：设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,…,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中的一组向量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则</a:t>
            </a:r>
          </a:p>
        </p:txBody>
      </p:sp>
      <p:sp>
        <p:nvSpPr>
          <p:cNvPr id="17412" name="Text Box 9">
            <a:extLst>
              <a:ext uri="{FF2B5EF4-FFF2-40B4-BE49-F238E27FC236}">
                <a16:creationId xmlns:a16="http://schemas.microsoft.com/office/drawing/2014/main" id="{A3689C01-C9B4-47B3-8EB7-DD725141A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768475"/>
            <a:ext cx="91440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L(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,…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)={ 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+…+k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| 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…, 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F }</a:t>
            </a:r>
          </a:p>
        </p:txBody>
      </p:sp>
      <p:sp>
        <p:nvSpPr>
          <p:cNvPr id="17413" name="Text Box 11">
            <a:extLst>
              <a:ext uri="{FF2B5EF4-FFF2-40B4-BE49-F238E27FC236}">
                <a16:creationId xmlns:a16="http://schemas.microsoft.com/office/drawing/2014/main" id="{C09025C8-78C3-496A-9E46-BFB4A77BF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2420938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的子空间，称为由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…,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生成的子空间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2AD46098-EAF7-4C96-806F-9C106A21C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3281363"/>
            <a:ext cx="95059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解：首先，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L(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,…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的非空子集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2B3C510A-7DDB-467C-8DA2-074993385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4002088"/>
            <a:ext cx="95059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 任意 </a:t>
            </a:r>
            <a:r>
              <a:rPr lang="el-GR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+…+k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l-GR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γ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l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+…+l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endParaRPr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AFD73802-7C12-40B4-BB36-22B9BAC23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4721225"/>
            <a:ext cx="96488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有 </a:t>
            </a:r>
            <a:r>
              <a:rPr lang="el-GR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l-GR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γ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(k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+l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+…+(k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+l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∈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L(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,…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endParaRPr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3F6F180A-17AC-405D-856A-8EC355A84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5486400"/>
            <a:ext cx="993775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 任意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∈ F,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有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b</a:t>
            </a:r>
            <a:r>
              <a:rPr lang="el-GR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=b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+…+bk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∈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L(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,…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).</a:t>
            </a:r>
            <a:endParaRPr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FFFB4D79-F94B-4298-B020-50202A1DB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6132513"/>
            <a:ext cx="1029811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满足加法和数乘运算封闭，因此是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的子空间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43D2A7BC-108F-40F0-B9D4-CB063A809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440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一．线性空间的基和维数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6DA9872-876F-4CA1-976D-794E1C044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4154488"/>
            <a:ext cx="12145962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定义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 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在线性空间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如果有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个向量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线性无关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而且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中任意向量都可由它们线性表示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则称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为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的一组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基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称为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维数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称为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维线性空间，记作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en-US" altLang="zh-CN" sz="2800" baseline="-25000" dirty="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436" name="矩形 11">
            <a:extLst>
              <a:ext uri="{FF2B5EF4-FFF2-40B4-BE49-F238E27FC236}">
                <a16:creationId xmlns:a16="http://schemas.microsoft.com/office/drawing/2014/main" id="{42A067A3-E44C-4B9F-813C-858EA6329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1846263"/>
            <a:ext cx="12145962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首先，需要说明的是，我们完全可以把对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元数组所作的关于线性组合、线性相关、线性无关等概念及性质应用到数域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上的抽象的线性空间来得出相同的定义及性质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zh-CN" altLang="en-US" sz="2800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AA0DCCF9-47B5-476D-8BCF-04883E3A9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</a:t>
            </a:r>
          </a:p>
        </p:txBody>
      </p:sp>
      <p:graphicFrame>
        <p:nvGraphicFramePr>
          <p:cNvPr id="18438" name="对象 1">
            <a:extLst>
              <a:ext uri="{FF2B5EF4-FFF2-40B4-BE49-F238E27FC236}">
                <a16:creationId xmlns:a16="http://schemas.microsoft.com/office/drawing/2014/main" id="{7D235B3D-B4D5-45E2-B3DE-2E39DB6AAB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1100" y="3052763"/>
          <a:ext cx="6826250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7320" imgH="457200" progId="Equation.DSMT4">
                  <p:embed/>
                </p:oleObj>
              </mc:Choice>
              <mc:Fallback>
                <p:oleObj name="Equation" r:id="rId2" imgW="2857320" imgH="457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3052763"/>
                        <a:ext cx="6826250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>
            <a:extLst>
              <a:ext uri="{FF2B5EF4-FFF2-40B4-BE49-F238E27FC236}">
                <a16:creationId xmlns:a16="http://schemas.microsoft.com/office/drawing/2014/main" id="{55ED052A-7CE8-4CE6-8657-5C6C0922E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5518150"/>
            <a:ext cx="89058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(4)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在线性代数中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只讨论有限维线性空间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en-US" altLang="zh-CN" sz="28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EC4C11-D4DD-45AF-8EF2-37E5DF2C8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1700213"/>
            <a:ext cx="1214755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700"/>
              </a:lnSpc>
              <a:buFontTx/>
              <a:buAutoNum type="arabicParenBoth"/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对于数域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上的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维线性空间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，若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为一组基，则  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ts val="4700"/>
              </a:lnSpc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                     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={ 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+…+k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n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| 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…, k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F };</a:t>
            </a:r>
            <a:endParaRPr lang="zh-CN" altLang="en-US" sz="2800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D56CCB9B-746D-47DF-83C5-16F55AA6B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3213100"/>
            <a:ext cx="89058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(2)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仅含零向量的线性空间维数是零；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D661975E-CD94-4E63-BB93-F902CB561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4294188"/>
            <a:ext cx="12123737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(3)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如果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中有任意多个线性无关的向量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称其为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无限维线性空间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如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F[x].  </a:t>
            </a: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A6E5C4FA-0BF5-489F-990B-F185E28B4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</a:t>
            </a:r>
          </a:p>
        </p:txBody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B5D971B0-FE01-463B-BA4D-792D250AF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1054100"/>
            <a:ext cx="30718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几点说明：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6E6D89AC-0017-4393-B7C5-24A3A5BC7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1773238"/>
            <a:ext cx="118522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：线性空间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R[x]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维的，它的一组基为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=1,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=x, …,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=x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n-1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9F0E39B-C827-4B3F-839F-68A58B31C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2565400"/>
            <a:ext cx="940911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：求线性空间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×3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的维数和一组基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2" name="组合 7">
            <a:extLst>
              <a:ext uri="{FF2B5EF4-FFF2-40B4-BE49-F238E27FC236}">
                <a16:creationId xmlns:a16="http://schemas.microsoft.com/office/drawing/2014/main" id="{202E3EE1-BDD2-4E16-9158-C767DD85AA00}"/>
              </a:ext>
            </a:extLst>
          </p:cNvPr>
          <p:cNvGrpSpPr>
            <a:grpSpLocks/>
          </p:cNvGrpSpPr>
          <p:nvPr/>
        </p:nvGrpSpPr>
        <p:grpSpPr bwMode="auto">
          <a:xfrm>
            <a:off x="92075" y="3070225"/>
            <a:ext cx="9677400" cy="1295400"/>
            <a:chOff x="91427" y="3141762"/>
            <a:chExt cx="9678568" cy="1296144"/>
          </a:xfrm>
        </p:grpSpPr>
        <p:sp>
          <p:nvSpPr>
            <p:cNvPr id="20490" name="Rectangle 11">
              <a:extLst>
                <a:ext uri="{FF2B5EF4-FFF2-40B4-BE49-F238E27FC236}">
                  <a16:creationId xmlns:a16="http://schemas.microsoft.com/office/drawing/2014/main" id="{42457AED-4004-4C9D-BC77-7647DB934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7" y="3141762"/>
              <a:ext cx="9678568" cy="1296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marL="514350" indent="-5143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解：显然，                                                                       线性无关，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0491" name="Object 2">
              <a:extLst>
                <a:ext uri="{FF2B5EF4-FFF2-40B4-BE49-F238E27FC236}">
                  <a16:creationId xmlns:a16="http://schemas.microsoft.com/office/drawing/2014/main" id="{BF798199-76DD-48F2-9F26-53D5A5C250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1123" y="3487054"/>
            <a:ext cx="6102351" cy="768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632200" imgH="457200" progId="Equation.DSMT4">
                    <p:embed/>
                  </p:oleObj>
                </mc:Choice>
                <mc:Fallback>
                  <p:oleObj name="Equation" r:id="rId2" imgW="3632200" imgH="4572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1123" y="3487054"/>
                          <a:ext cx="6102351" cy="768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Rectangle 11">
            <a:extLst>
              <a:ext uri="{FF2B5EF4-FFF2-40B4-BE49-F238E27FC236}">
                <a16:creationId xmlns:a16="http://schemas.microsoft.com/office/drawing/2014/main" id="{28EB7ED4-22CC-4D43-AF4A-CF3924658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3" y="4294188"/>
            <a:ext cx="12107862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而且任意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×3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实矩阵都可以由它们线性表出，所以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E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E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13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E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E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E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×3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的一组基，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×3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6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维的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A368396-22F4-48AC-B39A-40B888530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5518150"/>
            <a:ext cx="94091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一般地，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m×n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m×n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维线性空间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22EA9A2-5C5A-4FBB-B2BB-1D4BE6DD5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6094413"/>
            <a:ext cx="9771062" cy="57626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注：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维线性空间中的任意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个线性无关向量都是它的一组基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0488" name="Rectangle 5">
            <a:extLst>
              <a:ext uri="{FF2B5EF4-FFF2-40B4-BE49-F238E27FC236}">
                <a16:creationId xmlns:a16="http://schemas.microsoft.com/office/drawing/2014/main" id="{CEBDE8DF-6FD6-4E46-91D5-893FDF9FB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</a:t>
            </a:r>
          </a:p>
        </p:txBody>
      </p:sp>
      <p:sp>
        <p:nvSpPr>
          <p:cNvPr id="20489" name="Rectangle 3">
            <a:extLst>
              <a:ext uri="{FF2B5EF4-FFF2-40B4-BE49-F238E27FC236}">
                <a16:creationId xmlns:a16="http://schemas.microsoft.com/office/drawing/2014/main" id="{F4BA7F78-6E7B-4A5C-8A5A-B2107A159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1054100"/>
            <a:ext cx="30718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几个例子：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E6DE51F4-BA2B-481E-96A6-E4C8C4805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557338"/>
            <a:ext cx="12145962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维线性空间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如果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中向量组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,…, 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线性无关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则在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中必有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－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个向量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m+1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m+2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,…,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使得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,…,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m+1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…,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的一组基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24D2160-C4B4-4884-8351-2F4953F1B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4725988"/>
            <a:ext cx="977106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注：含有非零向量的有限维线性空间一定存在基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FEF939F-8D55-4E58-80DE-93F811673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518150"/>
            <a:ext cx="121189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推论：如果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的子空间，则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的维数不大于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的维数，而且当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的维数等于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的维数时一定有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U=V.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3E10A8FC-FA0C-4851-A7F4-75AECAC9A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535B3F2-04C5-4A9E-AFFE-AB9207E38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781300"/>
            <a:ext cx="118538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证明：若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m=n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，显然成立；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B71EA303-AF31-48D4-B86F-2FBDB4CB4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3357563"/>
            <a:ext cx="121189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若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 &lt; 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，则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中至少存在一个向量不能由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,…,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线性表出，不妨设为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m+1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，以此类推，定理得证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>
            <a:extLst>
              <a:ext uri="{FF2B5EF4-FFF2-40B4-BE49-F238E27FC236}">
                <a16:creationId xmlns:a16="http://schemas.microsoft.com/office/drawing/2014/main" id="{5DBC1F85-3331-427D-B759-A4DCA3A4A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</a:t>
            </a:r>
          </a:p>
        </p:txBody>
      </p:sp>
      <p:sp>
        <p:nvSpPr>
          <p:cNvPr id="22531" name="矩形 2">
            <a:extLst>
              <a:ext uri="{FF2B5EF4-FFF2-40B4-BE49-F238E27FC236}">
                <a16:creationId xmlns:a16="http://schemas.microsoft.com/office/drawing/2014/main" id="{A0532F3D-B1FD-4A03-9274-59D3DDCBA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1054100"/>
            <a:ext cx="121475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设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的一组基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设是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中任一向量，于是可以被基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线性表出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:</a:t>
            </a:r>
            <a:endParaRPr lang="zh-CN" altLang="en-US" sz="2800"/>
          </a:p>
        </p:txBody>
      </p:sp>
      <p:sp>
        <p:nvSpPr>
          <p:cNvPr id="22532" name="Text Box 5">
            <a:extLst>
              <a:ext uri="{FF2B5EF4-FFF2-40B4-BE49-F238E27FC236}">
                <a16:creationId xmlns:a16="http://schemas.microsoft.com/office/drawing/2014/main" id="{9324D0DD-EE52-4D5E-8606-9B96C4618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738" y="1985963"/>
            <a:ext cx="547211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     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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… +x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2533" name="Text Box 6">
            <a:extLst>
              <a:ext uri="{FF2B5EF4-FFF2-40B4-BE49-F238E27FC236}">
                <a16:creationId xmlns:a16="http://schemas.microsoft.com/office/drawing/2014/main" id="{658CB3D7-6A3D-4F8B-A559-3FDC2F464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2565400"/>
            <a:ext cx="12122150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其中系数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x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…, </a:t>
            </a:r>
            <a:r>
              <a:rPr lang="en-US" altLang="zh-CN" sz="2800" dirty="0" err="1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aseline="-25000" dirty="0" err="1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是被向量和基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唯一确定的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这组数就称为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向量在基</a:t>
            </a:r>
            <a:r>
              <a:rPr lang="en-US" altLang="zh-CN" sz="2800" baseline="-25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solidFill>
                  <a:srgbClr val="C00000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下的坐标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2" name="Group 64">
            <a:extLst>
              <a:ext uri="{FF2B5EF4-FFF2-40B4-BE49-F238E27FC236}">
                <a16:creationId xmlns:a16="http://schemas.microsoft.com/office/drawing/2014/main" id="{B47F5340-3D19-4265-AE17-A4CC74F917B9}"/>
              </a:ext>
            </a:extLst>
          </p:cNvPr>
          <p:cNvGrpSpPr>
            <a:grpSpLocks/>
          </p:cNvGrpSpPr>
          <p:nvPr/>
        </p:nvGrpSpPr>
        <p:grpSpPr bwMode="auto">
          <a:xfrm>
            <a:off x="2713038" y="4149725"/>
            <a:ext cx="4968875" cy="742950"/>
            <a:chOff x="839" y="1964"/>
            <a:chExt cx="3130" cy="468"/>
          </a:xfrm>
        </p:grpSpPr>
        <p:sp>
          <p:nvSpPr>
            <p:cNvPr id="22539" name="WordArt 60">
              <a:extLst>
                <a:ext uri="{FF2B5EF4-FFF2-40B4-BE49-F238E27FC236}">
                  <a16:creationId xmlns:a16="http://schemas.microsoft.com/office/drawing/2014/main" id="{A9D17A55-0932-463A-9A12-482D5F92B93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 rot="-1078610">
              <a:off x="975" y="2024"/>
              <a:ext cx="725" cy="181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4255"/>
                </a:avLst>
              </a:prstTxWarp>
            </a:bodyPr>
            <a:lstStyle/>
            <a:p>
              <a:r>
                <a:rPr lang="zh-CN" altLang="en-US" sz="2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宋体" panose="02010600030101010101" pitchFamily="2" charset="-122"/>
                </a:rPr>
                <a:t>抽象向量</a:t>
              </a:r>
            </a:p>
          </p:txBody>
        </p:sp>
        <p:sp>
          <p:nvSpPr>
            <p:cNvPr id="22540" name="WordArt 61">
              <a:extLst>
                <a:ext uri="{FF2B5EF4-FFF2-40B4-BE49-F238E27FC236}">
                  <a16:creationId xmlns:a16="http://schemas.microsoft.com/office/drawing/2014/main" id="{6FAFE906-C261-4D5B-B37A-8F4AF21C685B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 rot="1125395">
              <a:off x="3198" y="1986"/>
              <a:ext cx="725" cy="181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4255"/>
                </a:avLst>
              </a:prstTxWarp>
            </a:bodyPr>
            <a:lstStyle/>
            <a:p>
              <a:r>
                <a:rPr lang="zh-CN" altLang="en-US" sz="2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宋体" panose="02010600030101010101" pitchFamily="2" charset="-122"/>
                </a:rPr>
                <a:t>具体数组</a:t>
              </a:r>
            </a:p>
          </p:txBody>
        </p:sp>
        <p:sp>
          <p:nvSpPr>
            <p:cNvPr id="22541" name="Freeform 63">
              <a:extLst>
                <a:ext uri="{FF2B5EF4-FFF2-40B4-BE49-F238E27FC236}">
                  <a16:creationId xmlns:a16="http://schemas.microsoft.com/office/drawing/2014/main" id="{EB70DB82-9B9F-4C03-98C5-DCCD63043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" y="1964"/>
              <a:ext cx="3130" cy="468"/>
            </a:xfrm>
            <a:custGeom>
              <a:avLst/>
              <a:gdLst>
                <a:gd name="T0" fmla="*/ 0 w 3130"/>
                <a:gd name="T1" fmla="*/ 468 h 468"/>
                <a:gd name="T2" fmla="*/ 1633 w 3130"/>
                <a:gd name="T3" fmla="*/ 15 h 468"/>
                <a:gd name="T4" fmla="*/ 3130 w 3130"/>
                <a:gd name="T5" fmla="*/ 377 h 468"/>
                <a:gd name="T6" fmla="*/ 0 60000 65536"/>
                <a:gd name="T7" fmla="*/ 0 60000 65536"/>
                <a:gd name="T8" fmla="*/ 0 60000 65536"/>
                <a:gd name="T9" fmla="*/ 0 w 3130"/>
                <a:gd name="T10" fmla="*/ 0 h 468"/>
                <a:gd name="T11" fmla="*/ 3130 w 3130"/>
                <a:gd name="T12" fmla="*/ 468 h 4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0" h="468">
                  <a:moveTo>
                    <a:pt x="0" y="468"/>
                  </a:moveTo>
                  <a:cubicBezTo>
                    <a:pt x="555" y="249"/>
                    <a:pt x="1111" y="30"/>
                    <a:pt x="1633" y="15"/>
                  </a:cubicBezTo>
                  <a:cubicBezTo>
                    <a:pt x="2155" y="0"/>
                    <a:pt x="2881" y="317"/>
                    <a:pt x="3130" y="377"/>
                  </a:cubicBezTo>
                </a:path>
              </a:pathLst>
            </a:custGeom>
            <a:noFill/>
            <a:ln w="158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3">
            <a:extLst>
              <a:ext uri="{FF2B5EF4-FFF2-40B4-BE49-F238E27FC236}">
                <a16:creationId xmlns:a16="http://schemas.microsoft.com/office/drawing/2014/main" id="{424BEC35-E483-4795-BCFA-EE12888BDF6A}"/>
              </a:ext>
            </a:extLst>
          </p:cNvPr>
          <p:cNvGrpSpPr>
            <a:grpSpLocks/>
          </p:cNvGrpSpPr>
          <p:nvPr/>
        </p:nvGrpSpPr>
        <p:grpSpPr bwMode="auto">
          <a:xfrm>
            <a:off x="134938" y="3789363"/>
            <a:ext cx="9771062" cy="2376487"/>
            <a:chOff x="-440393" y="3861842"/>
            <a:chExt cx="9769995" cy="2376264"/>
          </a:xfrm>
        </p:grpSpPr>
        <p:sp>
          <p:nvSpPr>
            <p:cNvPr id="22537" name="Rectangle 11">
              <a:extLst>
                <a:ext uri="{FF2B5EF4-FFF2-40B4-BE49-F238E27FC236}">
                  <a16:creationId xmlns:a16="http://schemas.microsoft.com/office/drawing/2014/main" id="{BFCFFA31-9E61-4C3B-9CFF-D8689679C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40393" y="3861842"/>
              <a:ext cx="9769995" cy="576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marL="514350" indent="-5143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形式上写成：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2538" name="Object 2">
              <a:extLst>
                <a:ext uri="{FF2B5EF4-FFF2-40B4-BE49-F238E27FC236}">
                  <a16:creationId xmlns:a16="http://schemas.microsoft.com/office/drawing/2014/main" id="{2C765E4C-F127-4D07-982B-32655B20BD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1123" y="4276370"/>
            <a:ext cx="6120680" cy="19617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933700" imgH="939800" progId="Equation.DSMT4">
                    <p:embed/>
                  </p:oleObj>
                </mc:Choice>
                <mc:Fallback>
                  <p:oleObj name="Equation" r:id="rId2" imgW="2933700" imgH="9398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1123" y="4276370"/>
                          <a:ext cx="6120680" cy="19617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Rectangle 11">
            <a:extLst>
              <a:ext uri="{FF2B5EF4-FFF2-40B4-BE49-F238E27FC236}">
                <a16:creationId xmlns:a16="http://schemas.microsoft.com/office/drawing/2014/main" id="{9D6FB961-061D-4E0E-87B7-AF6240AB4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6094413"/>
            <a:ext cx="97694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注：抽象线性空间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与具体线性空间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之间建立了一一对应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>
            <a:extLst>
              <a:ext uri="{FF2B5EF4-FFF2-40B4-BE49-F238E27FC236}">
                <a16:creationId xmlns:a16="http://schemas.microsoft.com/office/drawing/2014/main" id="{C03A3793-7951-4C97-B960-126F9E947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46744B5-8F85-4E04-A0B6-91F1543B10B7}"/>
              </a:ext>
            </a:extLst>
          </p:cNvPr>
          <p:cNvSpPr/>
          <p:nvPr/>
        </p:nvSpPr>
        <p:spPr>
          <a:xfrm>
            <a:off x="1417638" y="1341438"/>
            <a:ext cx="2951162" cy="172878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556" name="Rectangle 11">
            <a:extLst>
              <a:ext uri="{FF2B5EF4-FFF2-40B4-BE49-F238E27FC236}">
                <a16:creationId xmlns:a16="http://schemas.microsoft.com/office/drawing/2014/main" id="{3F0E924F-DF3D-4AD7-82A2-7C37F8336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275" y="1557338"/>
            <a:ext cx="21605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BCA0F70-CF0E-4955-89ED-CB8DE75F8A63}"/>
              </a:ext>
            </a:extLst>
          </p:cNvPr>
          <p:cNvSpPr/>
          <p:nvPr/>
        </p:nvSpPr>
        <p:spPr>
          <a:xfrm>
            <a:off x="5233988" y="1341438"/>
            <a:ext cx="2951162" cy="16557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558" name="矩形 5">
            <a:extLst>
              <a:ext uri="{FF2B5EF4-FFF2-40B4-BE49-F238E27FC236}">
                <a16:creationId xmlns:a16="http://schemas.microsoft.com/office/drawing/2014/main" id="{811530CB-1EBF-4369-AD01-C989E7045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225" y="1449388"/>
            <a:ext cx="1944688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线性空间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baseline="30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endParaRPr lang="en-US" altLang="zh-CN" sz="28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2EC8555-9D22-4EC9-B5F0-131595F01381}"/>
              </a:ext>
            </a:extLst>
          </p:cNvPr>
          <p:cNvSpPr/>
          <p:nvPr/>
        </p:nvSpPr>
        <p:spPr>
          <a:xfrm>
            <a:off x="8618538" y="1125538"/>
            <a:ext cx="1439862" cy="9366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560" name="矩形 10">
            <a:extLst>
              <a:ext uri="{FF2B5EF4-FFF2-40B4-BE49-F238E27FC236}">
                <a16:creationId xmlns:a16="http://schemas.microsoft.com/office/drawing/2014/main" id="{0AB3A572-1662-457F-A71D-738E7C616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3163" y="1155700"/>
            <a:ext cx="109061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数域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</a:p>
        </p:txBody>
      </p:sp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CD1309FF-6B56-4283-872C-077977E20D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3900" y="2147888"/>
          <a:ext cx="16557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300" imgH="228600" progId="Equation.DSMT4">
                  <p:embed/>
                </p:oleObj>
              </mc:Choice>
              <mc:Fallback>
                <p:oleObj name="Equation" r:id="rId2" imgW="8763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2147888"/>
                        <a:ext cx="16557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47">
            <a:extLst>
              <a:ext uri="{FF2B5EF4-FFF2-40B4-BE49-F238E27FC236}">
                <a16:creationId xmlns:a16="http://schemas.microsoft.com/office/drawing/2014/main" id="{A9326626-25C4-47D1-A19F-B332D8762493}"/>
              </a:ext>
            </a:extLst>
          </p:cNvPr>
          <p:cNvGrpSpPr>
            <a:grpSpLocks/>
          </p:cNvGrpSpPr>
          <p:nvPr/>
        </p:nvGrpSpPr>
        <p:grpSpPr bwMode="auto">
          <a:xfrm>
            <a:off x="1344613" y="1485900"/>
            <a:ext cx="5246687" cy="3527425"/>
            <a:chOff x="-98425" y="1485578"/>
            <a:chExt cx="5245992" cy="3527747"/>
          </a:xfrm>
        </p:grpSpPr>
        <p:grpSp>
          <p:nvGrpSpPr>
            <p:cNvPr id="23577" name="组合 46">
              <a:extLst>
                <a:ext uri="{FF2B5EF4-FFF2-40B4-BE49-F238E27FC236}">
                  <a16:creationId xmlns:a16="http://schemas.microsoft.com/office/drawing/2014/main" id="{3B5F5C78-D11E-46B8-9AF0-95DC5F97D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98425" y="1485578"/>
              <a:ext cx="4529138" cy="3527747"/>
              <a:chOff x="-98425" y="1485578"/>
              <a:chExt cx="4529138" cy="3527747"/>
            </a:xfrm>
          </p:grpSpPr>
          <p:grpSp>
            <p:nvGrpSpPr>
              <p:cNvPr id="23579" name="组合 26">
                <a:extLst>
                  <a:ext uri="{FF2B5EF4-FFF2-40B4-BE49-F238E27FC236}">
                    <a16:creationId xmlns:a16="http://schemas.microsoft.com/office/drawing/2014/main" id="{0BC9A7D2-1DF0-4A63-941D-44C1201BC2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5911" y="1485578"/>
                <a:ext cx="864096" cy="360040"/>
                <a:chOff x="2925911" y="1485578"/>
                <a:chExt cx="864096" cy="360040"/>
              </a:xfrm>
            </p:grpSpPr>
            <p:cxnSp>
              <p:nvCxnSpPr>
                <p:cNvPr id="25" name="直接箭头连接符 24">
                  <a:extLst>
                    <a:ext uri="{FF2B5EF4-FFF2-40B4-BE49-F238E27FC236}">
                      <a16:creationId xmlns:a16="http://schemas.microsoft.com/office/drawing/2014/main" id="{AA90686F-7AA2-44AC-8D0E-447278D41C68}"/>
                    </a:ext>
                  </a:extLst>
                </p:cNvPr>
                <p:cNvCxnSpPr/>
                <p:nvPr/>
              </p:nvCxnSpPr>
              <p:spPr>
                <a:xfrm>
                  <a:off x="2925361" y="1845974"/>
                  <a:ext cx="85555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23586" name="Object 3">
                  <a:extLst>
                    <a:ext uri="{FF2B5EF4-FFF2-40B4-BE49-F238E27FC236}">
                      <a16:creationId xmlns:a16="http://schemas.microsoft.com/office/drawing/2014/main" id="{CF97B46B-587B-4164-AE39-6BE62D3E3BB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181212" y="1485578"/>
                <a:ext cx="392771" cy="3600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152334" imgH="139639" progId="Equation.DSMT4">
                        <p:embed/>
                      </p:oleObj>
                    </mc:Choice>
                    <mc:Fallback>
                      <p:oleObj name="Equation" r:id="rId4" imgW="152334" imgH="139639" progId="Equation.DSMT4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81212" y="1485578"/>
                              <a:ext cx="392771" cy="3600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3580" name="组合 44">
                <a:extLst>
                  <a:ext uri="{FF2B5EF4-FFF2-40B4-BE49-F238E27FC236}">
                    <a16:creationId xmlns:a16="http://schemas.microsoft.com/office/drawing/2014/main" id="{2DDDE463-AB9C-4417-99DB-7E5515289F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98425" y="2565400"/>
                <a:ext cx="4529138" cy="2447925"/>
                <a:chOff x="-98425" y="2565400"/>
                <a:chExt cx="4529138" cy="2447925"/>
              </a:xfrm>
            </p:grpSpPr>
            <p:graphicFrame>
              <p:nvGraphicFramePr>
                <p:cNvPr id="23581" name="Object 4">
                  <a:extLst>
                    <a:ext uri="{FF2B5EF4-FFF2-40B4-BE49-F238E27FC236}">
                      <a16:creationId xmlns:a16="http://schemas.microsoft.com/office/drawing/2014/main" id="{541A7550-C6F0-40AB-9498-4F1F718ED8B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999852" y="2565400"/>
                <a:ext cx="269875" cy="4794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114201" imgH="203024" progId="Equation.DSMT4">
                        <p:embed/>
                      </p:oleObj>
                    </mc:Choice>
                    <mc:Fallback>
                      <p:oleObj name="Equation" r:id="rId6" imgW="114201" imgH="203024" progId="Equation.DSMT4">
                        <p:embed/>
                        <p:pic>
                          <p:nvPicPr>
                            <p:cNvPr id="0" name="Object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99852" y="2565400"/>
                              <a:ext cx="269875" cy="4794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23582" name="组合 43">
                  <a:extLst>
                    <a:ext uri="{FF2B5EF4-FFF2-40B4-BE49-F238E27FC236}">
                      <a16:creationId xmlns:a16="http://schemas.microsoft.com/office/drawing/2014/main" id="{61CDE8B4-0809-4FC6-A325-773C1F98E3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98425" y="3051175"/>
                  <a:ext cx="4529138" cy="1962150"/>
                  <a:chOff x="-98425" y="3051175"/>
                  <a:chExt cx="4529138" cy="1962150"/>
                </a:xfrm>
              </p:grpSpPr>
              <p:graphicFrame>
                <p:nvGraphicFramePr>
                  <p:cNvPr id="23583" name="Object 7">
                    <a:extLst>
                      <a:ext uri="{FF2B5EF4-FFF2-40B4-BE49-F238E27FC236}">
                        <a16:creationId xmlns:a16="http://schemas.microsoft.com/office/drawing/2014/main" id="{1E39C02D-4354-4CC9-A1C6-C24ED89E9273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-98425" y="3051175"/>
                  <a:ext cx="4529138" cy="196215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8" imgW="2171700" imgH="939800" progId="Equation.DSMT4">
                          <p:embed/>
                        </p:oleObj>
                      </mc:Choice>
                      <mc:Fallback>
                        <p:oleObj name="Equation" r:id="rId8" imgW="2171700" imgH="939800" progId="Equation.DSMT4">
                          <p:embed/>
                          <p:pic>
                            <p:nvPicPr>
                              <p:cNvPr id="0" name="Object 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-98425" y="3051175"/>
                                <a:ext cx="4529138" cy="196215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3584" name="Object 6">
                    <a:extLst>
                      <a:ext uri="{FF2B5EF4-FFF2-40B4-BE49-F238E27FC236}">
                        <a16:creationId xmlns:a16="http://schemas.microsoft.com/office/drawing/2014/main" id="{E6558741-68E4-4C5B-97A9-71339DF9FF12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809659" y="3573810"/>
                  <a:ext cx="392113" cy="36036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0" imgW="152334" imgH="139639" progId="Equation.DSMT4">
                          <p:embed/>
                        </p:oleObj>
                      </mc:Choice>
                      <mc:Fallback>
                        <p:oleObj name="Equation" r:id="rId10" imgW="152334" imgH="139639" progId="Equation.DSMT4">
                          <p:embed/>
                          <p:pic>
                            <p:nvPicPr>
                              <p:cNvPr id="0" name="Object 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09659" y="3573810"/>
                                <a:ext cx="392113" cy="36036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</p:grpSp>
        <p:graphicFrame>
          <p:nvGraphicFramePr>
            <p:cNvPr id="23578" name="Object 8">
              <a:extLst>
                <a:ext uri="{FF2B5EF4-FFF2-40B4-BE49-F238E27FC236}">
                  <a16:creationId xmlns:a16="http://schemas.microsoft.com/office/drawing/2014/main" id="{AC8A9066-E54E-4071-8EBE-41E7C18BEC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6111" y="2376488"/>
            <a:ext cx="421456" cy="333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5" imgH="164885" progId="Equation.DSMT4">
                    <p:embed/>
                  </p:oleObj>
                </mc:Choice>
                <mc:Fallback>
                  <p:oleObj name="Equation" r:id="rId12" imgW="164885" imgH="164885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6111" y="2376488"/>
                          <a:ext cx="421456" cy="333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48">
            <a:extLst>
              <a:ext uri="{FF2B5EF4-FFF2-40B4-BE49-F238E27FC236}">
                <a16:creationId xmlns:a16="http://schemas.microsoft.com/office/drawing/2014/main" id="{46FDC431-2249-46E0-A496-AEA18E06C7DE}"/>
              </a:ext>
            </a:extLst>
          </p:cNvPr>
          <p:cNvGrpSpPr>
            <a:grpSpLocks/>
          </p:cNvGrpSpPr>
          <p:nvPr/>
        </p:nvGrpSpPr>
        <p:grpSpPr bwMode="auto">
          <a:xfrm>
            <a:off x="2670175" y="2373313"/>
            <a:ext cx="8035925" cy="2640012"/>
            <a:chOff x="1014515" y="2373312"/>
            <a:chExt cx="8035400" cy="2640013"/>
          </a:xfrm>
        </p:grpSpPr>
        <p:grpSp>
          <p:nvGrpSpPr>
            <p:cNvPr id="23572" name="组合 45">
              <a:extLst>
                <a:ext uri="{FF2B5EF4-FFF2-40B4-BE49-F238E27FC236}">
                  <a16:creationId xmlns:a16="http://schemas.microsoft.com/office/drawing/2014/main" id="{61C3F128-68B7-45A5-98F6-F5D572A2AB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515" y="2640013"/>
              <a:ext cx="8035400" cy="2373312"/>
              <a:chOff x="1014515" y="2640013"/>
              <a:chExt cx="8035400" cy="2373312"/>
            </a:xfrm>
          </p:grpSpPr>
          <p:graphicFrame>
            <p:nvGraphicFramePr>
              <p:cNvPr id="23574" name="Object 5">
                <a:extLst>
                  <a:ext uri="{FF2B5EF4-FFF2-40B4-BE49-F238E27FC236}">
                    <a16:creationId xmlns:a16="http://schemas.microsoft.com/office/drawing/2014/main" id="{96A8693E-A75B-41CE-BB49-59986DF8ACA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14515" y="2640013"/>
              <a:ext cx="627062" cy="3905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66353" imgH="164885" progId="Equation.DSMT4">
                      <p:embed/>
                    </p:oleObj>
                  </mc:Choice>
                  <mc:Fallback>
                    <p:oleObj name="Equation" r:id="rId14" imgW="266353" imgH="164885" progId="Equation.DSMT4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14515" y="2640013"/>
                            <a:ext cx="627062" cy="3905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75" name="Object 10">
                <a:extLst>
                  <a:ext uri="{FF2B5EF4-FFF2-40B4-BE49-F238E27FC236}">
                    <a16:creationId xmlns:a16="http://schemas.microsoft.com/office/drawing/2014/main" id="{D625C468-9B68-49A0-A370-60519461371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74703" y="3051175"/>
              <a:ext cx="4875212" cy="1962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336800" imgH="939800" progId="Equation.DSMT4">
                      <p:embed/>
                    </p:oleObj>
                  </mc:Choice>
                  <mc:Fallback>
                    <p:oleObj name="Equation" r:id="rId16" imgW="2336800" imgH="93980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4703" y="3051175"/>
                            <a:ext cx="4875212" cy="1962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76" name="Object 9">
                <a:extLst>
                  <a:ext uri="{FF2B5EF4-FFF2-40B4-BE49-F238E27FC236}">
                    <a16:creationId xmlns:a16="http://schemas.microsoft.com/office/drawing/2014/main" id="{341A58AB-7DFA-494E-9ED0-5C050EE3E5A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389422" y="3592042"/>
              <a:ext cx="392113" cy="360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52334" imgH="139639" progId="Equation.DSMT4">
                      <p:embed/>
                    </p:oleObj>
                  </mc:Choice>
                  <mc:Fallback>
                    <p:oleObj name="Equation" r:id="rId10" imgW="152334" imgH="139639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389422" y="3592042"/>
                            <a:ext cx="392113" cy="360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3573" name="Object 11">
              <a:extLst>
                <a:ext uri="{FF2B5EF4-FFF2-40B4-BE49-F238E27FC236}">
                  <a16:creationId xmlns:a16="http://schemas.microsoft.com/office/drawing/2014/main" id="{C76F014E-BFAA-4C59-A646-9141558FF8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3955" y="2373312"/>
            <a:ext cx="587088" cy="408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91973" imgH="203112" progId="Equation.DSMT4">
                    <p:embed/>
                  </p:oleObj>
                </mc:Choice>
                <mc:Fallback>
                  <p:oleObj name="Equation" r:id="rId18" imgW="291973" imgH="203112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3955" y="2373312"/>
                          <a:ext cx="587088" cy="408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40">
            <a:extLst>
              <a:ext uri="{FF2B5EF4-FFF2-40B4-BE49-F238E27FC236}">
                <a16:creationId xmlns:a16="http://schemas.microsoft.com/office/drawing/2014/main" id="{AE2D4140-E20A-4163-A25A-892953F984EB}"/>
              </a:ext>
            </a:extLst>
          </p:cNvPr>
          <p:cNvGrpSpPr>
            <a:grpSpLocks/>
          </p:cNvGrpSpPr>
          <p:nvPr/>
        </p:nvGrpSpPr>
        <p:grpSpPr bwMode="auto">
          <a:xfrm>
            <a:off x="541338" y="4978400"/>
            <a:ext cx="8724900" cy="612775"/>
            <a:chOff x="109077" y="5157986"/>
            <a:chExt cx="8724814" cy="612475"/>
          </a:xfrm>
        </p:grpSpPr>
        <p:sp>
          <p:nvSpPr>
            <p:cNvPr id="23570" name="矩形 36">
              <a:extLst>
                <a:ext uri="{FF2B5EF4-FFF2-40B4-BE49-F238E27FC236}">
                  <a16:creationId xmlns:a16="http://schemas.microsoft.com/office/drawing/2014/main" id="{C8C3F945-01C5-40C2-B3CF-45A1CFAE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77" y="5157986"/>
              <a:ext cx="8724814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514350" indent="-5143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可以证明，映射      是双射，而且满足：</a:t>
              </a:r>
              <a:endPara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3571" name="Object 12">
              <a:extLst>
                <a:ext uri="{FF2B5EF4-FFF2-40B4-BE49-F238E27FC236}">
                  <a16:creationId xmlns:a16="http://schemas.microsoft.com/office/drawing/2014/main" id="{A6E44F3C-6C84-41EB-9F57-B6B422D907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70471" y="5344514"/>
            <a:ext cx="392112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2334" imgH="139639" progId="Equation.DSMT4">
                    <p:embed/>
                  </p:oleObj>
                </mc:Choice>
                <mc:Fallback>
                  <p:oleObj name="Equation" r:id="rId20" imgW="152334" imgH="139639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0471" y="5344514"/>
                          <a:ext cx="392112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41">
            <a:extLst>
              <a:ext uri="{FF2B5EF4-FFF2-40B4-BE49-F238E27FC236}">
                <a16:creationId xmlns:a16="http://schemas.microsoft.com/office/drawing/2014/main" id="{EF1E2AA4-6E0B-4B2B-8C63-270F383B0521}"/>
              </a:ext>
            </a:extLst>
          </p:cNvPr>
          <p:cNvGrpSpPr>
            <a:grpSpLocks/>
          </p:cNvGrpSpPr>
          <p:nvPr/>
        </p:nvGrpSpPr>
        <p:grpSpPr bwMode="auto">
          <a:xfrm>
            <a:off x="1993900" y="5699125"/>
            <a:ext cx="7824788" cy="466725"/>
            <a:chOff x="36314" y="5878265"/>
            <a:chExt cx="7826052" cy="466725"/>
          </a:xfrm>
        </p:grpSpPr>
        <p:graphicFrame>
          <p:nvGraphicFramePr>
            <p:cNvPr id="23568" name="Object 13">
              <a:extLst>
                <a:ext uri="{FF2B5EF4-FFF2-40B4-BE49-F238E27FC236}">
                  <a16:creationId xmlns:a16="http://schemas.microsoft.com/office/drawing/2014/main" id="{EE6AEBDD-6CE1-4084-B782-64B6A24032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14" y="5878265"/>
            <a:ext cx="4518025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968500" imgH="203200" progId="Equation.DSMT4">
                    <p:embed/>
                  </p:oleObj>
                </mc:Choice>
                <mc:Fallback>
                  <p:oleObj name="Equation" r:id="rId21" imgW="1968500" imgH="2032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14" y="5878265"/>
                          <a:ext cx="4518025" cy="466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9" name="Object 14">
              <a:extLst>
                <a:ext uri="{FF2B5EF4-FFF2-40B4-BE49-F238E27FC236}">
                  <a16:creationId xmlns:a16="http://schemas.microsoft.com/office/drawing/2014/main" id="{E5D0615D-40CD-4643-9FCB-CCC8F1E71D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04866" y="5878265"/>
            <a:ext cx="2857500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244600" imgH="203200" progId="Equation.DSMT4">
                    <p:embed/>
                  </p:oleObj>
                </mc:Choice>
                <mc:Fallback>
                  <p:oleObj name="Equation" r:id="rId23" imgW="1244600" imgH="2032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4866" y="5878265"/>
                          <a:ext cx="2857500" cy="466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97132E2C-072A-4762-B158-3EE410302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6129338"/>
            <a:ext cx="822166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因此，我们说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与线性空间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baseline="30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同构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en-US" altLang="zh-CN" sz="28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3567" name="矩形 49">
            <a:extLst>
              <a:ext uri="{FF2B5EF4-FFF2-40B4-BE49-F238E27FC236}">
                <a16:creationId xmlns:a16="http://schemas.microsoft.com/office/drawing/2014/main" id="{5CF94FB4-2D2A-4BCD-8FDF-A8A3CB5A8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8538" y="1520825"/>
            <a:ext cx="16129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0,1,...,k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>
            <a:extLst>
              <a:ext uri="{FF2B5EF4-FFF2-40B4-BE49-F238E27FC236}">
                <a16:creationId xmlns:a16="http://schemas.microsoft.com/office/drawing/2014/main" id="{01AEC675-34B0-4947-8E29-A5542D9E9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</a:t>
            </a:r>
          </a:p>
        </p:txBody>
      </p:sp>
      <p:sp>
        <p:nvSpPr>
          <p:cNvPr id="24579" name="矩形 2">
            <a:extLst>
              <a:ext uri="{FF2B5EF4-FFF2-40B4-BE49-F238E27FC236}">
                <a16:creationId xmlns:a16="http://schemas.microsoft.com/office/drawing/2014/main" id="{1A87C684-D88F-44D2-A327-280625A0C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8" y="1181100"/>
            <a:ext cx="120856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    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是两个线性空间，如果在它们的元素之间存在一一对应关系，且这种关系保持元素之间线性运算的对应，则称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线性空间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同构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35FCAD-1796-4E7B-8FE8-EF8659BFD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8" y="2765425"/>
            <a:ext cx="8940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线性空间的同构具有如下性质：</a:t>
            </a:r>
            <a:endParaRPr lang="en-US" altLang="zh-CN" sz="28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） 反身性：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同构；</a:t>
            </a:r>
            <a:endParaRPr lang="en-US" altLang="zh-CN" sz="28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）对称性：若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同构，则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也同构；</a:t>
            </a:r>
            <a:endParaRPr lang="en-US" altLang="zh-CN" sz="28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）传递性：若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同构，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W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同构，则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W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同构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FCD497-ECFE-442D-80CB-498209DD3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70450"/>
            <a:ext cx="121951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定理    数域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上两个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有限维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线性空间</a:t>
            </a:r>
            <a:r>
              <a:rPr lang="zh-CN" altLang="en-US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同构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的充分必要条件是它们有</a:t>
            </a:r>
            <a:r>
              <a:rPr lang="zh-CN" altLang="en-US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相同的维数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95685C-471E-46D7-89C3-E05D800FE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5734050"/>
            <a:ext cx="979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注：数域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上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维线性空间都与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元数组所成的空间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baseline="30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同构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>
            <a:extLst>
              <a:ext uri="{FF2B5EF4-FFF2-40B4-BE49-F238E27FC236}">
                <a16:creationId xmlns:a16="http://schemas.microsoft.com/office/drawing/2014/main" id="{0660F4C7-54B3-4CF0-8903-1119A1C1A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38651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grpSp>
        <p:nvGrpSpPr>
          <p:cNvPr id="25603" name="组合 12">
            <a:extLst>
              <a:ext uri="{FF2B5EF4-FFF2-40B4-BE49-F238E27FC236}">
                <a16:creationId xmlns:a16="http://schemas.microsoft.com/office/drawing/2014/main" id="{AB2501C3-D35F-43C8-B637-026DBF32053A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1270000"/>
            <a:ext cx="11952287" cy="571500"/>
            <a:chOff x="49931" y="1540743"/>
            <a:chExt cx="11952312" cy="571164"/>
          </a:xfrm>
        </p:grpSpPr>
        <p:sp>
          <p:nvSpPr>
            <p:cNvPr id="25611" name="Text Box 2">
              <a:extLst>
                <a:ext uri="{FF2B5EF4-FFF2-40B4-BE49-F238E27FC236}">
                  <a16:creationId xmlns:a16="http://schemas.microsoft.com/office/drawing/2014/main" id="{85046649-DC89-4228-8F8C-D85A424CB0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31" y="1540743"/>
              <a:ext cx="1195231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习题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求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R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上全体数量矩阵构成的线性空间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                    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的一组基和维数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</a:p>
          </p:txBody>
        </p:sp>
        <p:graphicFrame>
          <p:nvGraphicFramePr>
            <p:cNvPr id="25612" name="Object 2">
              <a:extLst>
                <a:ext uri="{FF2B5EF4-FFF2-40B4-BE49-F238E27FC236}">
                  <a16:creationId xmlns:a16="http://schemas.microsoft.com/office/drawing/2014/main" id="{C8F319E9-ECAD-4912-B470-C1D9B5A1AE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73651" y="1614846"/>
            <a:ext cx="2423172" cy="4970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90170" imgH="203112" progId="Equation.DSMT4">
                    <p:embed/>
                  </p:oleObj>
                </mc:Choice>
                <mc:Fallback>
                  <p:oleObj name="Equation" r:id="rId2" imgW="990170" imgH="203112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73651" y="1614846"/>
                          <a:ext cx="2423172" cy="4970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Text Box 2">
            <a:extLst>
              <a:ext uri="{FF2B5EF4-FFF2-40B4-BE49-F238E27FC236}">
                <a16:creationId xmlns:a16="http://schemas.microsoft.com/office/drawing/2014/main" id="{4DC9FC25-E09F-4E23-9289-71A739599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843088"/>
            <a:ext cx="871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解：单位矩阵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E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的一组基，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的维数等于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1.</a:t>
            </a:r>
          </a:p>
        </p:txBody>
      </p:sp>
      <p:sp>
        <p:nvSpPr>
          <p:cNvPr id="25605" name="Text Box 2">
            <a:extLst>
              <a:ext uri="{FF2B5EF4-FFF2-40B4-BE49-F238E27FC236}">
                <a16:creationId xmlns:a16="http://schemas.microsoft.com/office/drawing/2014/main" id="{52978866-A17F-41FE-BA8A-EE44A7A05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2635250"/>
            <a:ext cx="9361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  求实数域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上实数集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构成线性空间的一组基和维数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1E62839-858E-4847-A363-B71B6F875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3140075"/>
            <a:ext cx="8712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解：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的一组基，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的维数等于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1.</a:t>
            </a:r>
          </a:p>
        </p:txBody>
      </p:sp>
      <p:sp>
        <p:nvSpPr>
          <p:cNvPr id="25607" name="Text Box 2">
            <a:extLst>
              <a:ext uri="{FF2B5EF4-FFF2-40B4-BE49-F238E27FC236}">
                <a16:creationId xmlns:a16="http://schemas.microsoft.com/office/drawing/2014/main" id="{5B401CE5-9AA0-43AD-9600-AB1D712A3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5227638"/>
            <a:ext cx="9361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求实数域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上复数集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构成线性空间的一组基和维数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A91F7874-671F-476B-8C93-409335AF6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5732463"/>
            <a:ext cx="8712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解：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1,  i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的一组基，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的维数等于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2.</a:t>
            </a:r>
          </a:p>
        </p:txBody>
      </p:sp>
      <p:sp>
        <p:nvSpPr>
          <p:cNvPr id="25609" name="Text Box 2">
            <a:extLst>
              <a:ext uri="{FF2B5EF4-FFF2-40B4-BE49-F238E27FC236}">
                <a16:creationId xmlns:a16="http://schemas.microsoft.com/office/drawing/2014/main" id="{F7A861DE-B2A2-4FBC-A1C6-AC484486B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4022725"/>
            <a:ext cx="9361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  求复数域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上复数集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构成线性空间的一组基和维数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15C3F6AD-3C71-4D11-864F-8997F6129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4527550"/>
            <a:ext cx="8712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解：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的一组基，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的维数等于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>
            <a:extLst>
              <a:ext uri="{FF2B5EF4-FFF2-40B4-BE49-F238E27FC236}">
                <a16:creationId xmlns:a16="http://schemas.microsoft.com/office/drawing/2014/main" id="{0CE4FE5E-36D9-4DB2-BC39-79CD29964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365625"/>
            <a:ext cx="91440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所以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对线性运算封闭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22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的子空间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2170A5D6-526E-46E2-9098-81906FBAF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8" y="1125538"/>
            <a:ext cx="12145962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验证集合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V=                            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的子空间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并求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的一组基和维数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graphicFrame>
        <p:nvGraphicFramePr>
          <p:cNvPr id="26628" name="Object 2">
            <a:extLst>
              <a:ext uri="{FF2B5EF4-FFF2-40B4-BE49-F238E27FC236}">
                <a16:creationId xmlns:a16="http://schemas.microsoft.com/office/drawing/2014/main" id="{9B4DFAAA-C592-4481-8216-7772D4EE1C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0538" y="1054100"/>
          <a:ext cx="273526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07532" imgH="482391" progId="Equation.3">
                  <p:embed/>
                </p:oleObj>
              </mc:Choice>
              <mc:Fallback>
                <p:oleObj name="公式" r:id="rId2" imgW="1307532" imgH="48239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8" y="1054100"/>
                        <a:ext cx="273526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4">
            <a:extLst>
              <a:ext uri="{FF2B5EF4-FFF2-40B4-BE49-F238E27FC236}">
                <a16:creationId xmlns:a16="http://schemas.microsoft.com/office/drawing/2014/main" id="{5C9C7844-55D3-4D6C-A206-41FA8347E3F0}"/>
              </a:ext>
            </a:extLst>
          </p:cNvPr>
          <p:cNvGrpSpPr>
            <a:grpSpLocks/>
          </p:cNvGrpSpPr>
          <p:nvPr/>
        </p:nvGrpSpPr>
        <p:grpSpPr bwMode="auto">
          <a:xfrm>
            <a:off x="120650" y="2132013"/>
            <a:ext cx="9144000" cy="1009650"/>
            <a:chOff x="121939" y="2349674"/>
            <a:chExt cx="9144000" cy="1009650"/>
          </a:xfrm>
        </p:grpSpPr>
        <p:sp>
          <p:nvSpPr>
            <p:cNvPr id="26637" name="Text Box 3">
              <a:extLst>
                <a:ext uri="{FF2B5EF4-FFF2-40B4-BE49-F238E27FC236}">
                  <a16:creationId xmlns:a16="http://schemas.microsoft.com/office/drawing/2014/main" id="{28CF89E4-57E5-4B19-A737-C0CFE5CFE7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39" y="2493690"/>
              <a:ext cx="9144000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解：非空集合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VR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22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，且</a:t>
              </a:r>
            </a:p>
          </p:txBody>
        </p:sp>
        <p:graphicFrame>
          <p:nvGraphicFramePr>
            <p:cNvPr id="26638" name="Object 3">
              <a:extLst>
                <a:ext uri="{FF2B5EF4-FFF2-40B4-BE49-F238E27FC236}">
                  <a16:creationId xmlns:a16="http://schemas.microsoft.com/office/drawing/2014/main" id="{70FD11CB-147A-4A1B-B38C-BAE0A46BBA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97411" y="2349674"/>
            <a:ext cx="4408488" cy="1009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108200" imgH="482600" progId="Equation.3">
                    <p:embed/>
                  </p:oleObj>
                </mc:Choice>
                <mc:Fallback>
                  <p:oleObj name="公式" r:id="rId4" imgW="2108200" imgH="482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7411" y="2349674"/>
                          <a:ext cx="4408488" cy="1009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3">
            <a:extLst>
              <a:ext uri="{FF2B5EF4-FFF2-40B4-BE49-F238E27FC236}">
                <a16:creationId xmlns:a16="http://schemas.microsoft.com/office/drawing/2014/main" id="{5A856C1E-6E34-4B99-A6AD-94EA729BD3FE}"/>
              </a:ext>
            </a:extLst>
          </p:cNvPr>
          <p:cNvGrpSpPr>
            <a:grpSpLocks/>
          </p:cNvGrpSpPr>
          <p:nvPr/>
        </p:nvGrpSpPr>
        <p:grpSpPr bwMode="auto">
          <a:xfrm>
            <a:off x="120650" y="3284538"/>
            <a:ext cx="9144000" cy="1009650"/>
            <a:chOff x="121939" y="3398760"/>
            <a:chExt cx="9144000" cy="1009650"/>
          </a:xfrm>
        </p:grpSpPr>
        <p:sp>
          <p:nvSpPr>
            <p:cNvPr id="26635" name="Text Box 5">
              <a:extLst>
                <a:ext uri="{FF2B5EF4-FFF2-40B4-BE49-F238E27FC236}">
                  <a16:creationId xmlns:a16="http://schemas.microsoft.com/office/drawing/2014/main" id="{FB5FF98A-8470-45EF-AB9F-70AF360AA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39" y="3537399"/>
              <a:ext cx="9144000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都有</a:t>
              </a:r>
            </a:p>
          </p:txBody>
        </p:sp>
        <p:graphicFrame>
          <p:nvGraphicFramePr>
            <p:cNvPr id="26636" name="Object 4">
              <a:extLst>
                <a:ext uri="{FF2B5EF4-FFF2-40B4-BE49-F238E27FC236}">
                  <a16:creationId xmlns:a16="http://schemas.microsoft.com/office/drawing/2014/main" id="{65BDCF7C-43B6-4DA7-B732-1B19BD9D7A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42507" y="3398760"/>
            <a:ext cx="6559550" cy="1009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136900" imgH="482600" progId="Equation.3">
                    <p:embed/>
                  </p:oleObj>
                </mc:Choice>
                <mc:Fallback>
                  <p:oleObj name="公式" r:id="rId6" imgW="3136900" imgH="482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2507" y="3398760"/>
                          <a:ext cx="6559550" cy="1009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2">
            <a:extLst>
              <a:ext uri="{FF2B5EF4-FFF2-40B4-BE49-F238E27FC236}">
                <a16:creationId xmlns:a16="http://schemas.microsoft.com/office/drawing/2014/main" id="{F001108D-067B-4D40-B2DD-612180AED41F}"/>
              </a:ext>
            </a:extLst>
          </p:cNvPr>
          <p:cNvGrpSpPr>
            <a:grpSpLocks/>
          </p:cNvGrpSpPr>
          <p:nvPr/>
        </p:nvGrpSpPr>
        <p:grpSpPr bwMode="auto">
          <a:xfrm>
            <a:off x="120650" y="5075238"/>
            <a:ext cx="9302750" cy="1595437"/>
            <a:chOff x="120923" y="4948568"/>
            <a:chExt cx="9303022" cy="1594413"/>
          </a:xfrm>
        </p:grpSpPr>
        <p:sp>
          <p:nvSpPr>
            <p:cNvPr id="26633" name="Text Box 9">
              <a:extLst>
                <a:ext uri="{FF2B5EF4-FFF2-40B4-BE49-F238E27FC236}">
                  <a16:creationId xmlns:a16="http://schemas.microsoft.com/office/drawing/2014/main" id="{3755771C-9052-4030-8EC2-E8A40BDD1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23" y="5157986"/>
              <a:ext cx="9303022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容易验证                                                                 是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V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的一个基，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/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/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 V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是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维线性空间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</a:p>
          </p:txBody>
        </p:sp>
        <p:graphicFrame>
          <p:nvGraphicFramePr>
            <p:cNvPr id="26634" name="Object 5">
              <a:extLst>
                <a:ext uri="{FF2B5EF4-FFF2-40B4-BE49-F238E27FC236}">
                  <a16:creationId xmlns:a16="http://schemas.microsoft.com/office/drawing/2014/main" id="{E855E6B2-9E25-48B5-9E55-86D9D5DB0D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6817" y="4948568"/>
            <a:ext cx="5576888" cy="957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667000" imgH="457200" progId="Equation.3">
                    <p:embed/>
                  </p:oleObj>
                </mc:Choice>
                <mc:Fallback>
                  <p:oleObj name="公式" r:id="rId8" imgW="2667000" imgH="457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6817" y="4948568"/>
                          <a:ext cx="5576888" cy="957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32" name="Rectangle 5">
            <a:extLst>
              <a:ext uri="{FF2B5EF4-FFF2-40B4-BE49-F238E27FC236}">
                <a16:creationId xmlns:a16="http://schemas.microsoft.com/office/drawing/2014/main" id="{1B27FC4F-BF0D-4FAE-8E37-D2F293BFF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38651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D2F08A64-6E64-4E50-8B2C-10FAEA325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846263"/>
            <a:ext cx="105124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求全体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阶实对称矩阵所构成线性空间的一组基和维数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grpSp>
        <p:nvGrpSpPr>
          <p:cNvPr id="2" name="组合 14">
            <a:extLst>
              <a:ext uri="{FF2B5EF4-FFF2-40B4-BE49-F238E27FC236}">
                <a16:creationId xmlns:a16="http://schemas.microsoft.com/office/drawing/2014/main" id="{DE4A15B8-AD4D-4B83-8632-7C947ECAC0CE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2921000"/>
            <a:ext cx="12025312" cy="2236788"/>
            <a:chOff x="48915" y="1553172"/>
            <a:chExt cx="12025336" cy="2236662"/>
          </a:xfrm>
        </p:grpSpPr>
        <p:sp>
          <p:nvSpPr>
            <p:cNvPr id="27653" name="Text Box 3">
              <a:extLst>
                <a:ext uri="{FF2B5EF4-FFF2-40B4-BE49-F238E27FC236}">
                  <a16:creationId xmlns:a16="http://schemas.microsoft.com/office/drawing/2014/main" id="{97BF19A5-E763-4866-B2CB-AD047C261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1553172"/>
              <a:ext cx="9144000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解：</a:t>
              </a:r>
            </a:p>
          </p:txBody>
        </p:sp>
        <p:grpSp>
          <p:nvGrpSpPr>
            <p:cNvPr id="27654" name="组合 18">
              <a:extLst>
                <a:ext uri="{FF2B5EF4-FFF2-40B4-BE49-F238E27FC236}">
                  <a16:creationId xmlns:a16="http://schemas.microsoft.com/office/drawing/2014/main" id="{CE43E11F-7E5F-43D2-8905-FC132E5B4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955" y="2146800"/>
              <a:ext cx="11665296" cy="1643034"/>
              <a:chOff x="408955" y="2146800"/>
              <a:chExt cx="11665296" cy="1643034"/>
            </a:xfrm>
          </p:grpSpPr>
          <p:graphicFrame>
            <p:nvGraphicFramePr>
              <p:cNvPr id="27655" name="Object 2">
                <a:extLst>
                  <a:ext uri="{FF2B5EF4-FFF2-40B4-BE49-F238E27FC236}">
                    <a16:creationId xmlns:a16="http://schemas.microsoft.com/office/drawing/2014/main" id="{CF240B4C-1A0B-4614-A6E4-CB18251FA95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8955" y="2146800"/>
              <a:ext cx="7876330" cy="16430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4381500" imgH="914400" progId="Equation.DSMT4">
                      <p:embed/>
                    </p:oleObj>
                  </mc:Choice>
                  <mc:Fallback>
                    <p:oleObj name="Equation" r:id="rId2" imgW="4381500" imgH="914400" progId="Equation.DSMT4">
                      <p:embed/>
                      <p:pic>
                        <p:nvPicPr>
                          <p:cNvPr id="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955" y="2146800"/>
                            <a:ext cx="7876330" cy="16430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656" name="Text Box 3">
                <a:extLst>
                  <a:ext uri="{FF2B5EF4-FFF2-40B4-BE49-F238E27FC236}">
                    <a16:creationId xmlns:a16="http://schemas.microsoft.com/office/drawing/2014/main" id="{61417A6D-0805-4146-AF9C-7464652F5D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57827" y="2646442"/>
                <a:ext cx="3816424" cy="652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zh-CN" altLang="en-US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为一组基，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n(n+1)/2</a:t>
                </a:r>
                <a:r>
                  <a:rPr lang="zh-CN" altLang="en-US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维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.</a:t>
                </a:r>
                <a:endPara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</p:grpSp>
      <p:sp>
        <p:nvSpPr>
          <p:cNvPr id="27652" name="Rectangle 5">
            <a:extLst>
              <a:ext uri="{FF2B5EF4-FFF2-40B4-BE49-F238E27FC236}">
                <a16:creationId xmlns:a16="http://schemas.microsoft.com/office/drawing/2014/main" id="{3E16E4E4-B6ED-4A1A-9D30-4539741D7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38651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E3F2C538-FCB6-49DF-8779-924546628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1754188"/>
            <a:ext cx="10799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求全体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阶实反对称矩阵所构成线性空间的一组基和维数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grpSp>
        <p:nvGrpSpPr>
          <p:cNvPr id="2" name="组合 15">
            <a:extLst>
              <a:ext uri="{FF2B5EF4-FFF2-40B4-BE49-F238E27FC236}">
                <a16:creationId xmlns:a16="http://schemas.microsoft.com/office/drawing/2014/main" id="{589E25E5-699E-4E6C-97EB-105A7E96F5AE}"/>
              </a:ext>
            </a:extLst>
          </p:cNvPr>
          <p:cNvGrpSpPr>
            <a:grpSpLocks/>
          </p:cNvGrpSpPr>
          <p:nvPr/>
        </p:nvGrpSpPr>
        <p:grpSpPr bwMode="auto">
          <a:xfrm>
            <a:off x="193675" y="3055938"/>
            <a:ext cx="12001500" cy="2030412"/>
            <a:chOff x="48915" y="4509914"/>
            <a:chExt cx="12002244" cy="2030703"/>
          </a:xfrm>
        </p:grpSpPr>
        <p:sp>
          <p:nvSpPr>
            <p:cNvPr id="28677" name="Text Box 3">
              <a:extLst>
                <a:ext uri="{FF2B5EF4-FFF2-40B4-BE49-F238E27FC236}">
                  <a16:creationId xmlns:a16="http://schemas.microsoft.com/office/drawing/2014/main" id="{B83FA0D4-6A05-4876-A2E4-24D84F600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4509914"/>
              <a:ext cx="9144000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解：</a:t>
              </a:r>
            </a:p>
          </p:txBody>
        </p:sp>
        <p:grpSp>
          <p:nvGrpSpPr>
            <p:cNvPr id="28678" name="组合 19">
              <a:extLst>
                <a:ext uri="{FF2B5EF4-FFF2-40B4-BE49-F238E27FC236}">
                  <a16:creationId xmlns:a16="http://schemas.microsoft.com/office/drawing/2014/main" id="{7F874525-5E6B-4B0E-A3B0-C108951E71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931" y="5013970"/>
              <a:ext cx="11858228" cy="1526647"/>
              <a:chOff x="336947" y="5071499"/>
              <a:chExt cx="11858228" cy="1526647"/>
            </a:xfrm>
          </p:grpSpPr>
          <p:graphicFrame>
            <p:nvGraphicFramePr>
              <p:cNvPr id="28679" name="Object 2">
                <a:extLst>
                  <a:ext uri="{FF2B5EF4-FFF2-40B4-BE49-F238E27FC236}">
                    <a16:creationId xmlns:a16="http://schemas.microsoft.com/office/drawing/2014/main" id="{2D4CA064-3B36-4DDC-B8AA-FF013D4FA3F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6947" y="5071499"/>
              <a:ext cx="8208912" cy="15266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4914900" imgH="914400" progId="Equation.DSMT4">
                      <p:embed/>
                    </p:oleObj>
                  </mc:Choice>
                  <mc:Fallback>
                    <p:oleObj name="Equation" r:id="rId2" imgW="4914900" imgH="914400" progId="Equation.DSMT4">
                      <p:embed/>
                      <p:pic>
                        <p:nvPicPr>
                          <p:cNvPr id="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947" y="5071499"/>
                            <a:ext cx="8208912" cy="15266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680" name="Text Box 3">
                <a:extLst>
                  <a:ext uri="{FF2B5EF4-FFF2-40B4-BE49-F238E27FC236}">
                    <a16:creationId xmlns:a16="http://schemas.microsoft.com/office/drawing/2014/main" id="{87641BA1-898F-4E1A-B245-2BD8940B64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50759" y="5553623"/>
                <a:ext cx="3744416" cy="612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zh-CN" altLang="en-US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为一组基，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n(n-1)/2</a:t>
                </a:r>
                <a:r>
                  <a:rPr lang="zh-CN" altLang="en-US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维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.</a:t>
                </a:r>
                <a:endPara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</p:grpSp>
      <p:sp>
        <p:nvSpPr>
          <p:cNvPr id="28676" name="Rectangle 5">
            <a:extLst>
              <a:ext uri="{FF2B5EF4-FFF2-40B4-BE49-F238E27FC236}">
                <a16:creationId xmlns:a16="http://schemas.microsoft.com/office/drawing/2014/main" id="{D2262FC5-C46E-49E4-B537-4BD4CEEF6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38651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D0B3EF86-8B77-40BB-A9D3-CD55FA9B2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1609725"/>
            <a:ext cx="11736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求由向量组                                             生成子空间的一组基和维数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29699" name="Rectangle 5">
            <a:extLst>
              <a:ext uri="{FF2B5EF4-FFF2-40B4-BE49-F238E27FC236}">
                <a16:creationId xmlns:a16="http://schemas.microsoft.com/office/drawing/2014/main" id="{D773372F-7ACC-47C0-BE65-594DD5D14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38651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graphicFrame>
        <p:nvGraphicFramePr>
          <p:cNvPr id="29700" name="Object 2">
            <a:extLst>
              <a:ext uri="{FF2B5EF4-FFF2-40B4-BE49-F238E27FC236}">
                <a16:creationId xmlns:a16="http://schemas.microsoft.com/office/drawing/2014/main" id="{00E2358D-BC39-413B-8FC5-732834477E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7050" y="1168400"/>
          <a:ext cx="375126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300" imgH="914400" progId="Equation.DSMT4">
                  <p:embed/>
                </p:oleObj>
              </mc:Choice>
              <mc:Fallback>
                <p:oleObj name="Equation" r:id="rId2" imgW="2400300" imgH="914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1168400"/>
                        <a:ext cx="375126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7">
            <a:extLst>
              <a:ext uri="{FF2B5EF4-FFF2-40B4-BE49-F238E27FC236}">
                <a16:creationId xmlns:a16="http://schemas.microsoft.com/office/drawing/2014/main" id="{0A2B8511-6EDD-40C1-8BA5-3783B9255380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2781300"/>
            <a:ext cx="11736387" cy="1212850"/>
            <a:chOff x="264939" y="2925738"/>
            <a:chExt cx="11737304" cy="1212640"/>
          </a:xfrm>
        </p:grpSpPr>
        <p:sp>
          <p:nvSpPr>
            <p:cNvPr id="29713" name="Text Box 3">
              <a:extLst>
                <a:ext uri="{FF2B5EF4-FFF2-40B4-BE49-F238E27FC236}">
                  <a16:creationId xmlns:a16="http://schemas.microsoft.com/office/drawing/2014/main" id="{25871CFB-6FA0-4C89-B09C-E8C4FC1E4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939" y="2925738"/>
              <a:ext cx="11737304" cy="1212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解：我们知道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生成子空间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L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{                  }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的基和维数就是向量组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{                  }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的极大线性无关组和秩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.</a:t>
              </a:r>
              <a:endPara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9714" name="Object 3">
              <a:extLst>
                <a:ext uri="{FF2B5EF4-FFF2-40B4-BE49-F238E27FC236}">
                  <a16:creationId xmlns:a16="http://schemas.microsoft.com/office/drawing/2014/main" id="{84A37702-5ECE-47D1-997F-E434951CF1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3953" y="3053274"/>
            <a:ext cx="1584178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38200" imgH="228600" progId="Equation.DSMT4">
                    <p:embed/>
                  </p:oleObj>
                </mc:Choice>
                <mc:Fallback>
                  <p:oleObj name="Equation" r:id="rId4" imgW="838200" imgH="2286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3953" y="3053274"/>
                          <a:ext cx="1584178" cy="4320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5" name="Object 4">
              <a:extLst>
                <a:ext uri="{FF2B5EF4-FFF2-40B4-BE49-F238E27FC236}">
                  <a16:creationId xmlns:a16="http://schemas.microsoft.com/office/drawing/2014/main" id="{96D94C13-FC7C-42D4-A119-DF07CFA484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301666" y="3055006"/>
            <a:ext cx="158432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38200" imgH="228600" progId="Equation.DSMT4">
                    <p:embed/>
                  </p:oleObj>
                </mc:Choice>
                <mc:Fallback>
                  <p:oleObj name="Equation" r:id="rId6" imgW="838200" imgH="2286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01666" y="3055006"/>
                          <a:ext cx="1584325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7A56F9F8-174B-473F-833A-CD801131D9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2150" y="3646488"/>
          <a:ext cx="2057400" cy="176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800" imgH="914400" progId="Equation.DSMT4">
                  <p:embed/>
                </p:oleObj>
              </mc:Choice>
              <mc:Fallback>
                <p:oleObj name="Equation" r:id="rId8" imgW="1066800" imgH="91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3646488"/>
                        <a:ext cx="2057400" cy="176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>
            <a:extLst>
              <a:ext uri="{FF2B5EF4-FFF2-40B4-BE49-F238E27FC236}">
                <a16:creationId xmlns:a16="http://schemas.microsoft.com/office/drawing/2014/main" id="{8DD76F44-58F2-4A07-8D77-A452DE89DC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6375" y="3646488"/>
          <a:ext cx="2278063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81100" imgH="914400" progId="Equation.DSMT4">
                  <p:embed/>
                </p:oleObj>
              </mc:Choice>
              <mc:Fallback>
                <p:oleObj name="Equation" r:id="rId10" imgW="1181100" imgH="914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75" y="3646488"/>
                        <a:ext cx="2278063" cy="176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6">
            <a:extLst>
              <a:ext uri="{FF2B5EF4-FFF2-40B4-BE49-F238E27FC236}">
                <a16:creationId xmlns:a16="http://schemas.microsoft.com/office/drawing/2014/main" id="{C1C5E22D-8594-4D53-BA95-154B226EB7CB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5373688"/>
            <a:ext cx="11736387" cy="652462"/>
            <a:chOff x="0" y="5446018"/>
            <a:chExt cx="11737304" cy="652486"/>
          </a:xfrm>
        </p:grpSpPr>
        <p:sp>
          <p:nvSpPr>
            <p:cNvPr id="29710" name="Text Box 3">
              <a:extLst>
                <a:ext uri="{FF2B5EF4-FFF2-40B4-BE49-F238E27FC236}">
                  <a16:creationId xmlns:a16="http://schemas.microsoft.com/office/drawing/2014/main" id="{A5928AE6-69A1-4A28-9E30-D1572567D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5446018"/>
              <a:ext cx="11737304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显然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向量组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{                  }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的一个极大线性无关组是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{         },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秩等于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</a:t>
              </a:r>
              <a:endPara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9711" name="Object 7">
              <a:extLst>
                <a:ext uri="{FF2B5EF4-FFF2-40B4-BE49-F238E27FC236}">
                  <a16:creationId xmlns:a16="http://schemas.microsoft.com/office/drawing/2014/main" id="{45E017A3-F96A-4191-9093-FDDDC9AD79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35400" y="5590034"/>
            <a:ext cx="76676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06224" imgH="228501" progId="Equation.DSMT4">
                    <p:embed/>
                  </p:oleObj>
                </mc:Choice>
                <mc:Fallback>
                  <p:oleObj name="Equation" r:id="rId12" imgW="406224" imgH="228501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35400" y="5590034"/>
                          <a:ext cx="766762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2" name="Object 8">
              <a:extLst>
                <a:ext uri="{FF2B5EF4-FFF2-40B4-BE49-F238E27FC236}">
                  <a16:creationId xmlns:a16="http://schemas.microsoft.com/office/drawing/2014/main" id="{6BC663A2-7304-4BD3-A2D8-92BD968001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1744" y="5590034"/>
            <a:ext cx="1584178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38200" imgH="228600" progId="Equation.DSMT4">
                    <p:embed/>
                  </p:oleObj>
                </mc:Choice>
                <mc:Fallback>
                  <p:oleObj name="Equation" r:id="rId6" imgW="838200" imgH="228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1744" y="5590034"/>
                          <a:ext cx="1584178" cy="4320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8">
            <a:extLst>
              <a:ext uri="{FF2B5EF4-FFF2-40B4-BE49-F238E27FC236}">
                <a16:creationId xmlns:a16="http://schemas.microsoft.com/office/drawing/2014/main" id="{6BE314CD-B14D-4EF5-BAEB-444B1D2C7ED3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6018213"/>
            <a:ext cx="11736387" cy="652462"/>
            <a:chOff x="264939" y="6017668"/>
            <a:chExt cx="11737304" cy="652486"/>
          </a:xfrm>
        </p:grpSpPr>
        <p:grpSp>
          <p:nvGrpSpPr>
            <p:cNvPr id="29706" name="组合 20">
              <a:extLst>
                <a:ext uri="{FF2B5EF4-FFF2-40B4-BE49-F238E27FC236}">
                  <a16:creationId xmlns:a16="http://schemas.microsoft.com/office/drawing/2014/main" id="{69B8B53C-1090-45ED-B9D9-0F1844CAA9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39" y="6017668"/>
              <a:ext cx="11737304" cy="652486"/>
              <a:chOff x="264939" y="6017668"/>
              <a:chExt cx="11737304" cy="652486"/>
            </a:xfrm>
          </p:grpSpPr>
          <p:sp>
            <p:nvSpPr>
              <p:cNvPr id="29708" name="Text Box 3">
                <a:extLst>
                  <a:ext uri="{FF2B5EF4-FFF2-40B4-BE49-F238E27FC236}">
                    <a16:creationId xmlns:a16="http://schemas.microsoft.com/office/drawing/2014/main" id="{8C913332-F0C4-48BC-9D9F-F2F35C394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939" y="6017668"/>
                <a:ext cx="11737304" cy="652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zh-CN" altLang="en-US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因此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, </a:t>
                </a:r>
                <a:r>
                  <a:rPr lang="zh-CN" altLang="en-US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生成子空间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L</a:t>
                </a:r>
                <a:r>
                  <a:rPr lang="zh-CN" altLang="en-US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{                  }</a:t>
                </a:r>
                <a:r>
                  <a:rPr lang="zh-CN" altLang="en-US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的一组基是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{         } </a:t>
                </a:r>
                <a:r>
                  <a:rPr lang="zh-CN" altLang="en-US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，维数是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2.</a:t>
                </a:r>
                <a:endPara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endParaRPr>
              </a:p>
            </p:txBody>
          </p:sp>
          <p:graphicFrame>
            <p:nvGraphicFramePr>
              <p:cNvPr id="29709" name="Object 9">
                <a:extLst>
                  <a:ext uri="{FF2B5EF4-FFF2-40B4-BE49-F238E27FC236}">
                    <a16:creationId xmlns:a16="http://schemas.microsoft.com/office/drawing/2014/main" id="{11F84714-CF27-41E9-93DC-C439D6B9072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03793" y="6151350"/>
              <a:ext cx="1584178" cy="4320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838200" imgH="228600" progId="Equation.DSMT4">
                      <p:embed/>
                    </p:oleObj>
                  </mc:Choice>
                  <mc:Fallback>
                    <p:oleObj name="Equation" r:id="rId6" imgW="838200" imgH="228600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3793" y="6151350"/>
                            <a:ext cx="1584178" cy="4320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9707" name="Object 10">
              <a:extLst>
                <a:ext uri="{FF2B5EF4-FFF2-40B4-BE49-F238E27FC236}">
                  <a16:creationId xmlns:a16="http://schemas.microsoft.com/office/drawing/2014/main" id="{3F902C2F-0294-4132-8B8A-7577538425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33691" y="6166098"/>
            <a:ext cx="76676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06224" imgH="228501" progId="Equation.DSMT4">
                    <p:embed/>
                  </p:oleObj>
                </mc:Choice>
                <mc:Fallback>
                  <p:oleObj name="Equation" r:id="rId14" imgW="406224" imgH="228501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3691" y="6166098"/>
                          <a:ext cx="766762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D0B3EF86-8B77-40BB-A9D3-CD55FA9B2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7" y="1278731"/>
            <a:ext cx="1173638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求由向量组                                                                             生成子空间的一组基和维数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29699" name="Rectangle 5">
            <a:extLst>
              <a:ext uri="{FF2B5EF4-FFF2-40B4-BE49-F238E27FC236}">
                <a16:creationId xmlns:a16="http://schemas.microsoft.com/office/drawing/2014/main" id="{D773372F-7ACC-47C0-BE65-594DD5D14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38651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graphicFrame>
        <p:nvGraphicFramePr>
          <p:cNvPr id="29700" name="Object 2">
            <a:extLst>
              <a:ext uri="{FF2B5EF4-FFF2-40B4-BE49-F238E27FC236}">
                <a16:creationId xmlns:a16="http://schemas.microsoft.com/office/drawing/2014/main" id="{00E2358D-BC39-413B-8FC5-732834477E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853761"/>
              </p:ext>
            </p:extLst>
          </p:nvPr>
        </p:nvGraphicFramePr>
        <p:xfrm>
          <a:off x="3001243" y="1071724"/>
          <a:ext cx="6653547" cy="95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457200" progId="Equation.DSMT4">
                  <p:embed/>
                </p:oleObj>
              </mc:Choice>
              <mc:Fallback>
                <p:oleObj name="Equation" r:id="rId2" imgW="3200400" imgH="457200" progId="Equation.DSMT4">
                  <p:embed/>
                  <p:pic>
                    <p:nvPicPr>
                      <p:cNvPr id="29700" name="Object 2">
                        <a:extLst>
                          <a:ext uri="{FF2B5EF4-FFF2-40B4-BE49-F238E27FC236}">
                            <a16:creationId xmlns:a16="http://schemas.microsoft.com/office/drawing/2014/main" id="{00E2358D-BC39-413B-8FC5-732834477E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243" y="1071724"/>
                        <a:ext cx="6653547" cy="95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7A56F9F8-174B-473F-833A-CD801131D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58211"/>
              </p:ext>
            </p:extLst>
          </p:nvPr>
        </p:nvGraphicFramePr>
        <p:xfrm>
          <a:off x="4021138" y="3446463"/>
          <a:ext cx="1933575" cy="176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960" imgH="914400" progId="Equation.DSMT4">
                  <p:embed/>
                </p:oleObj>
              </mc:Choice>
              <mc:Fallback>
                <p:oleObj name="Equation" r:id="rId4" imgW="1002960" imgH="914400" progId="Equation.DSMT4">
                  <p:embed/>
                  <p:pic>
                    <p:nvPicPr>
                      <p:cNvPr id="26629" name="Object 5">
                        <a:extLst>
                          <a:ext uri="{FF2B5EF4-FFF2-40B4-BE49-F238E27FC236}">
                            <a16:creationId xmlns:a16="http://schemas.microsoft.com/office/drawing/2014/main" id="{7A56F9F8-174B-473F-833A-CD801131D9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3446463"/>
                        <a:ext cx="1933575" cy="176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>
            <a:extLst>
              <a:ext uri="{FF2B5EF4-FFF2-40B4-BE49-F238E27FC236}">
                <a16:creationId xmlns:a16="http://schemas.microsoft.com/office/drawing/2014/main" id="{8DD76F44-58F2-4A07-8D77-A452DE89DC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263600"/>
              </p:ext>
            </p:extLst>
          </p:nvPr>
        </p:nvGraphicFramePr>
        <p:xfrm>
          <a:off x="6016476" y="3434953"/>
          <a:ext cx="2278063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0800" imgH="914400" progId="Equation.DSMT4">
                  <p:embed/>
                </p:oleObj>
              </mc:Choice>
              <mc:Fallback>
                <p:oleObj name="Equation" r:id="rId6" imgW="1180800" imgH="914400" progId="Equation.DSMT4">
                  <p:embed/>
                  <p:pic>
                    <p:nvPicPr>
                      <p:cNvPr id="26630" name="Object 6">
                        <a:extLst>
                          <a:ext uri="{FF2B5EF4-FFF2-40B4-BE49-F238E27FC236}">
                            <a16:creationId xmlns:a16="http://schemas.microsoft.com/office/drawing/2014/main" id="{8DD76F44-58F2-4A07-8D77-A452DE89DC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476" y="3434953"/>
                        <a:ext cx="2278063" cy="176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Text Box 3">
            <a:extLst>
              <a:ext uri="{FF2B5EF4-FFF2-40B4-BE49-F238E27FC236}">
                <a16:creationId xmlns:a16="http://schemas.microsoft.com/office/drawing/2014/main" id="{A5928AE6-69A1-4A28-9E30-D1572567D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3" y="5373684"/>
            <a:ext cx="11736387" cy="6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显然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坐标向量组的一个极大线性无关组是前三个坐标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秩等于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4" name="组合 18">
            <a:extLst>
              <a:ext uri="{FF2B5EF4-FFF2-40B4-BE49-F238E27FC236}">
                <a16:creationId xmlns:a16="http://schemas.microsoft.com/office/drawing/2014/main" id="{6BE314CD-B14D-4EF5-BAEB-444B1D2C7ED3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6018208"/>
            <a:ext cx="11736387" cy="612475"/>
            <a:chOff x="264939" y="6017668"/>
            <a:chExt cx="11737304" cy="612498"/>
          </a:xfrm>
        </p:grpSpPr>
        <p:grpSp>
          <p:nvGrpSpPr>
            <p:cNvPr id="29706" name="组合 20">
              <a:extLst>
                <a:ext uri="{FF2B5EF4-FFF2-40B4-BE49-F238E27FC236}">
                  <a16:creationId xmlns:a16="http://schemas.microsoft.com/office/drawing/2014/main" id="{69B8B53C-1090-45ED-B9D9-0F1844CAA9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39" y="6017668"/>
              <a:ext cx="11737304" cy="612498"/>
              <a:chOff x="264939" y="6017668"/>
              <a:chExt cx="11737304" cy="612498"/>
            </a:xfrm>
          </p:grpSpPr>
          <p:sp>
            <p:nvSpPr>
              <p:cNvPr id="29708" name="Text Box 3">
                <a:extLst>
                  <a:ext uri="{FF2B5EF4-FFF2-40B4-BE49-F238E27FC236}">
                    <a16:creationId xmlns:a16="http://schemas.microsoft.com/office/drawing/2014/main" id="{8C913332-F0C4-48BC-9D9F-F2F35C394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939" y="6017668"/>
                <a:ext cx="11737304" cy="612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因此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, </a:t>
                </a:r>
                <a:r>
                  <a:rPr lang="zh-CN" altLang="en-US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生成子空间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L</a:t>
                </a:r>
                <a:r>
                  <a:rPr lang="zh-CN" altLang="en-US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{                  }</a:t>
                </a:r>
                <a:r>
                  <a:rPr lang="zh-CN" altLang="en-US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的一组基是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{              } </a:t>
                </a:r>
                <a:r>
                  <a:rPr lang="zh-CN" altLang="en-US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，维数是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3.</a:t>
                </a:r>
                <a:endPara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endParaRPr>
              </a:p>
            </p:txBody>
          </p:sp>
          <p:graphicFrame>
            <p:nvGraphicFramePr>
              <p:cNvPr id="29709" name="Object 9">
                <a:extLst>
                  <a:ext uri="{FF2B5EF4-FFF2-40B4-BE49-F238E27FC236}">
                    <a16:creationId xmlns:a16="http://schemas.microsoft.com/office/drawing/2014/main" id="{11F84714-CF27-41E9-93DC-C439D6B9072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03793" y="6151350"/>
              <a:ext cx="1584178" cy="4320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838200" imgH="228600" progId="Equation.DSMT4">
                      <p:embed/>
                    </p:oleObj>
                  </mc:Choice>
                  <mc:Fallback>
                    <p:oleObj name="Equation" r:id="rId8" imgW="838200" imgH="228600" progId="Equation.DSMT4">
                      <p:embed/>
                      <p:pic>
                        <p:nvPicPr>
                          <p:cNvPr id="29709" name="Object 9">
                            <a:extLst>
                              <a:ext uri="{FF2B5EF4-FFF2-40B4-BE49-F238E27FC236}">
                                <a16:creationId xmlns:a16="http://schemas.microsoft.com/office/drawing/2014/main" id="{11F84714-CF27-41E9-93DC-C439D6B9072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3793" y="6151350"/>
                            <a:ext cx="1584178" cy="4320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9707" name="Object 10">
              <a:extLst>
                <a:ext uri="{FF2B5EF4-FFF2-40B4-BE49-F238E27FC236}">
                  <a16:creationId xmlns:a16="http://schemas.microsoft.com/office/drawing/2014/main" id="{3F902C2F-0294-4132-8B8A-7577538425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8229468"/>
                </p:ext>
              </p:extLst>
            </p:nvPr>
          </p:nvGraphicFramePr>
          <p:xfrm>
            <a:off x="7044557" y="6165559"/>
            <a:ext cx="1174842" cy="431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22080" imgH="228600" progId="Equation.DSMT4">
                    <p:embed/>
                  </p:oleObj>
                </mc:Choice>
                <mc:Fallback>
                  <p:oleObj name="Equation" r:id="rId10" imgW="622080" imgH="228600" progId="Equation.DSMT4">
                    <p:embed/>
                    <p:pic>
                      <p:nvPicPr>
                        <p:cNvPr id="29707" name="Object 10">
                          <a:extLst>
                            <a:ext uri="{FF2B5EF4-FFF2-40B4-BE49-F238E27FC236}">
                              <a16:creationId xmlns:a16="http://schemas.microsoft.com/office/drawing/2014/main" id="{3F902C2F-0294-4132-8B8A-7577538425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4557" y="6165559"/>
                          <a:ext cx="1174842" cy="431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8B824CF-3392-4989-B9AB-6E313335F894}"/>
              </a:ext>
            </a:extLst>
          </p:cNvPr>
          <p:cNvGrpSpPr/>
          <p:nvPr/>
        </p:nvGrpSpPr>
        <p:grpSpPr>
          <a:xfrm>
            <a:off x="281251" y="2128838"/>
            <a:ext cx="11736387" cy="1296807"/>
            <a:chOff x="281251" y="2128838"/>
            <a:chExt cx="11736387" cy="1296807"/>
          </a:xfrm>
        </p:grpSpPr>
        <p:sp>
          <p:nvSpPr>
            <p:cNvPr id="29713" name="Text Box 3">
              <a:extLst>
                <a:ext uri="{FF2B5EF4-FFF2-40B4-BE49-F238E27FC236}">
                  <a16:creationId xmlns:a16="http://schemas.microsoft.com/office/drawing/2014/main" id="{25871CFB-6FA0-4C89-B09C-E8C4FC1E4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251" y="2253016"/>
              <a:ext cx="11736387" cy="1172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解：取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R</a:t>
              </a:r>
              <a:r>
                <a:rPr lang="en-US" altLang="zh-CN" sz="2800" baseline="300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2x2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的一组基                                                                        ，则原问题在同构意义下转化为坐标向量组的问题：</a:t>
              </a:r>
            </a:p>
          </p:txBody>
        </p:sp>
        <p:graphicFrame>
          <p:nvGraphicFramePr>
            <p:cNvPr id="20" name="Object 2">
              <a:extLst>
                <a:ext uri="{FF2B5EF4-FFF2-40B4-BE49-F238E27FC236}">
                  <a16:creationId xmlns:a16="http://schemas.microsoft.com/office/drawing/2014/main" id="{103038DC-F904-44F1-9C26-7D4AF44216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8858976"/>
                </p:ext>
              </p:extLst>
            </p:nvPr>
          </p:nvGraphicFramePr>
          <p:xfrm>
            <a:off x="3485083" y="2128838"/>
            <a:ext cx="6284912" cy="949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022560" imgH="457200" progId="Equation.DSMT4">
                    <p:embed/>
                  </p:oleObj>
                </mc:Choice>
                <mc:Fallback>
                  <p:oleObj name="Equation" r:id="rId12" imgW="3022560" imgH="457200" progId="Equation.DSMT4">
                    <p:embed/>
                    <p:pic>
                      <p:nvPicPr>
                        <p:cNvPr id="29700" name="Object 2">
                          <a:extLst>
                            <a:ext uri="{FF2B5EF4-FFF2-40B4-BE49-F238E27FC236}">
                              <a16:creationId xmlns:a16="http://schemas.microsoft.com/office/drawing/2014/main" id="{00E2358D-BC39-413B-8FC5-732834477E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5083" y="2128838"/>
                          <a:ext cx="6284912" cy="949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4131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41DD3948-6A16-4B09-87C0-E05726391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3" y="5049838"/>
            <a:ext cx="91440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解得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=1,  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=1/2,  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－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1/2.</a:t>
            </a:r>
            <a:endParaRPr lang="en-US" altLang="zh-CN" sz="2800" baseline="-250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1FBBB652-E0C9-431A-9CF0-FCA255B5D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5878513"/>
            <a:ext cx="91440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所以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向量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在基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下的坐标为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(1, 1/2,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－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1/2)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0724" name="Text Box 2">
            <a:extLst>
              <a:ext uri="{FF2B5EF4-FFF2-40B4-BE49-F238E27FC236}">
                <a16:creationId xmlns:a16="http://schemas.microsoft.com/office/drawing/2014/main" id="{58BC2797-A389-4267-A717-3697521D1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341438"/>
            <a:ext cx="1188085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求线性空间</a:t>
            </a:r>
            <a:r>
              <a:rPr lang="zh-CN" altLang="en-US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             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中向量</a:t>
            </a:r>
          </a:p>
          <a:p>
            <a:pPr eaLnBrk="1" hangingPunct="1">
              <a:lnSpc>
                <a:spcPct val="30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在基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:                                                            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下的坐标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graphicFrame>
        <p:nvGraphicFramePr>
          <p:cNvPr id="30725" name="Object 2">
            <a:extLst>
              <a:ext uri="{FF2B5EF4-FFF2-40B4-BE49-F238E27FC236}">
                <a16:creationId xmlns:a16="http://schemas.microsoft.com/office/drawing/2014/main" id="{C82933B4-BDD0-4F2B-9DA9-E09326F726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1160463"/>
          <a:ext cx="31670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11300" imgH="457200" progId="Equation.3">
                  <p:embed/>
                </p:oleObj>
              </mc:Choice>
              <mc:Fallback>
                <p:oleObj name="公式" r:id="rId2" imgW="15113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1160463"/>
                        <a:ext cx="316706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3">
            <a:extLst>
              <a:ext uri="{FF2B5EF4-FFF2-40B4-BE49-F238E27FC236}">
                <a16:creationId xmlns:a16="http://schemas.microsoft.com/office/drawing/2014/main" id="{16D2EF3A-F33A-4D90-9E92-19F2C9628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5650" y="1155700"/>
          <a:ext cx="14906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11200" imgH="457200" progId="Equation.3">
                  <p:embed/>
                </p:oleObj>
              </mc:Choice>
              <mc:Fallback>
                <p:oleObj name="公式" r:id="rId4" imgW="7112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650" y="1155700"/>
                        <a:ext cx="149066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4">
            <a:extLst>
              <a:ext uri="{FF2B5EF4-FFF2-40B4-BE49-F238E27FC236}">
                <a16:creationId xmlns:a16="http://schemas.microsoft.com/office/drawing/2014/main" id="{24479FF4-0498-4DFD-AA02-61150924E3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2825" y="2203450"/>
          <a:ext cx="16510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87400" imgH="457200" progId="Equation.3">
                  <p:embed/>
                </p:oleObj>
              </mc:Choice>
              <mc:Fallback>
                <p:oleObj name="公式" r:id="rId6" imgW="787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" y="2203450"/>
                        <a:ext cx="16510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5">
            <a:extLst>
              <a:ext uri="{FF2B5EF4-FFF2-40B4-BE49-F238E27FC236}">
                <a16:creationId xmlns:a16="http://schemas.microsoft.com/office/drawing/2014/main" id="{4C830F37-214D-4F6A-BB2C-03E13E2332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7163" y="2225675"/>
          <a:ext cx="18637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89000" imgH="457200" progId="Equation.3">
                  <p:embed/>
                </p:oleObj>
              </mc:Choice>
              <mc:Fallback>
                <p:oleObj name="公式" r:id="rId8" imgW="8890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2225675"/>
                        <a:ext cx="186372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6">
            <a:extLst>
              <a:ext uri="{FF2B5EF4-FFF2-40B4-BE49-F238E27FC236}">
                <a16:creationId xmlns:a16="http://schemas.microsoft.com/office/drawing/2014/main" id="{0FC2D7FA-127E-4A5A-9D9D-4BCFD5FF26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3275" y="2225675"/>
          <a:ext cx="19161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14400" imgH="457200" progId="Equation.3">
                  <p:embed/>
                </p:oleObj>
              </mc:Choice>
              <mc:Fallback>
                <p:oleObj name="公式" r:id="rId10" imgW="9144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3275" y="2225675"/>
                        <a:ext cx="191611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3">
            <a:extLst>
              <a:ext uri="{FF2B5EF4-FFF2-40B4-BE49-F238E27FC236}">
                <a16:creationId xmlns:a16="http://schemas.microsoft.com/office/drawing/2014/main" id="{1BD441EC-9731-44FA-88D1-21AD6DA1CB39}"/>
              </a:ext>
            </a:extLst>
          </p:cNvPr>
          <p:cNvGrpSpPr>
            <a:grpSpLocks/>
          </p:cNvGrpSpPr>
          <p:nvPr/>
        </p:nvGrpSpPr>
        <p:grpSpPr bwMode="auto">
          <a:xfrm>
            <a:off x="122238" y="3286125"/>
            <a:ext cx="9144000" cy="1868488"/>
            <a:chOff x="121939" y="3285778"/>
            <a:chExt cx="9144000" cy="1868487"/>
          </a:xfrm>
        </p:grpSpPr>
        <p:sp>
          <p:nvSpPr>
            <p:cNvPr id="30732" name="Text Box 4">
              <a:extLst>
                <a:ext uri="{FF2B5EF4-FFF2-40B4-BE49-F238E27FC236}">
                  <a16:creationId xmlns:a16="http://schemas.microsoft.com/office/drawing/2014/main" id="{2CCBEFC9-A6FA-4FD8-B498-8E08819D0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39" y="3856272"/>
              <a:ext cx="9144000" cy="609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解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: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    设 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+x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+x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3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3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=A,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于是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  </a:t>
              </a:r>
              <a:endParaRPr lang="zh-CN" altLang="en-US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0733" name="Object 7">
              <a:extLst>
                <a:ext uri="{FF2B5EF4-FFF2-40B4-BE49-F238E27FC236}">
                  <a16:creationId xmlns:a16="http://schemas.microsoft.com/office/drawing/2014/main" id="{65D4EE69-FFA0-4469-AD39-FB7B6A8C4F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9515" y="3285778"/>
            <a:ext cx="2668588" cy="1868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016000" imgH="711200" progId="Equation.3">
                    <p:embed/>
                  </p:oleObj>
                </mc:Choice>
                <mc:Fallback>
                  <p:oleObj name="公式" r:id="rId12" imgW="1016000" imgH="711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9515" y="3285778"/>
                          <a:ext cx="2668588" cy="1868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1" name="Rectangle 5">
            <a:extLst>
              <a:ext uri="{FF2B5EF4-FFF2-40B4-BE49-F238E27FC236}">
                <a16:creationId xmlns:a16="http://schemas.microsoft.com/office/drawing/2014/main" id="{DB086EF2-6B67-4A7C-82D9-A0CFFC3C7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38651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>
            <a:extLst>
              <a:ext uri="{FF2B5EF4-FFF2-40B4-BE49-F238E27FC236}">
                <a16:creationId xmlns:a16="http://schemas.microsoft.com/office/drawing/2014/main" id="{97B5E394-E990-476B-B2E7-15D63E75E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638651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线性空间的基、维数和坐标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grpSp>
        <p:nvGrpSpPr>
          <p:cNvPr id="31747" name="组合 15">
            <a:extLst>
              <a:ext uri="{FF2B5EF4-FFF2-40B4-BE49-F238E27FC236}">
                <a16:creationId xmlns:a16="http://schemas.microsoft.com/office/drawing/2014/main" id="{444B6B10-4C8B-4B62-A9D1-55589D95128F}"/>
              </a:ext>
            </a:extLst>
          </p:cNvPr>
          <p:cNvGrpSpPr>
            <a:grpSpLocks/>
          </p:cNvGrpSpPr>
          <p:nvPr/>
        </p:nvGrpSpPr>
        <p:grpSpPr bwMode="auto">
          <a:xfrm>
            <a:off x="120650" y="1054100"/>
            <a:ext cx="11880850" cy="1398588"/>
            <a:chOff x="49213" y="1197546"/>
            <a:chExt cx="11881022" cy="1399133"/>
          </a:xfrm>
        </p:grpSpPr>
        <p:sp>
          <p:nvSpPr>
            <p:cNvPr id="31757" name="Text Box 2">
              <a:extLst>
                <a:ext uri="{FF2B5EF4-FFF2-40B4-BE49-F238E27FC236}">
                  <a16:creationId xmlns:a16="http://schemas.microsoft.com/office/drawing/2014/main" id="{DD631F2C-C24E-43D1-A1C6-55F55917D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3" y="1616234"/>
              <a:ext cx="11881022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习题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在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R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中，求由齐次线性方程组                                         确定的解空间的一组基与维数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</a:p>
          </p:txBody>
        </p:sp>
        <p:graphicFrame>
          <p:nvGraphicFramePr>
            <p:cNvPr id="31758" name="Object 2">
              <a:extLst>
                <a:ext uri="{FF2B5EF4-FFF2-40B4-BE49-F238E27FC236}">
                  <a16:creationId xmlns:a16="http://schemas.microsoft.com/office/drawing/2014/main" id="{3AD969E2-B278-4005-A065-7C97228F0B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49311" y="1197546"/>
            <a:ext cx="3372910" cy="1399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14500" imgH="711200" progId="Equation.DSMT4">
                    <p:embed/>
                  </p:oleObj>
                </mc:Choice>
                <mc:Fallback>
                  <p:oleObj name="Equation" r:id="rId2" imgW="1714500" imgH="7112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9311" y="1197546"/>
                          <a:ext cx="3372910" cy="1399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2">
            <a:extLst>
              <a:ext uri="{FF2B5EF4-FFF2-40B4-BE49-F238E27FC236}">
                <a16:creationId xmlns:a16="http://schemas.microsoft.com/office/drawing/2014/main" id="{0D04E03E-33C9-48AF-9239-B11D0A20D7B9}"/>
              </a:ext>
            </a:extLst>
          </p:cNvPr>
          <p:cNvGrpSpPr>
            <a:grpSpLocks/>
          </p:cNvGrpSpPr>
          <p:nvPr/>
        </p:nvGrpSpPr>
        <p:grpSpPr bwMode="auto">
          <a:xfrm>
            <a:off x="193675" y="2692400"/>
            <a:ext cx="2879725" cy="2033588"/>
            <a:chOff x="193229" y="2691711"/>
            <a:chExt cx="2880022" cy="2034227"/>
          </a:xfrm>
        </p:grpSpPr>
        <p:sp>
          <p:nvSpPr>
            <p:cNvPr id="31755" name="Text Box 2">
              <a:extLst>
                <a:ext uri="{FF2B5EF4-FFF2-40B4-BE49-F238E27FC236}">
                  <a16:creationId xmlns:a16="http://schemas.microsoft.com/office/drawing/2014/main" id="{86E028FA-EF66-445E-B05E-ABC17D745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229" y="2691711"/>
              <a:ext cx="288002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解：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31756" name="Object 3">
              <a:extLst>
                <a:ext uri="{FF2B5EF4-FFF2-40B4-BE49-F238E27FC236}">
                  <a16:creationId xmlns:a16="http://schemas.microsoft.com/office/drawing/2014/main" id="{63A18756-A3C2-4AF5-BC52-7472D860D2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032" y="3325763"/>
            <a:ext cx="2398712" cy="1400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18671" imgH="710891" progId="Equation.DSMT4">
                    <p:embed/>
                  </p:oleObj>
                </mc:Choice>
                <mc:Fallback>
                  <p:oleObj name="Equation" r:id="rId4" imgW="1218671" imgH="710891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032" y="3325763"/>
                          <a:ext cx="2398712" cy="1400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511" name="Object 4">
            <a:extLst>
              <a:ext uri="{FF2B5EF4-FFF2-40B4-BE49-F238E27FC236}">
                <a16:creationId xmlns:a16="http://schemas.microsoft.com/office/drawing/2014/main" id="{50D0AB2E-AEAF-46E0-A955-B0C17C26BE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2588" y="3322638"/>
          <a:ext cx="317500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900" imgH="711200" progId="Equation.DSMT4">
                  <p:embed/>
                </p:oleObj>
              </mc:Choice>
              <mc:Fallback>
                <p:oleObj name="Equation" r:id="rId6" imgW="1612900" imgH="71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588" y="3322638"/>
                        <a:ext cx="3175000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5">
            <a:extLst>
              <a:ext uri="{FF2B5EF4-FFF2-40B4-BE49-F238E27FC236}">
                <a16:creationId xmlns:a16="http://schemas.microsoft.com/office/drawing/2014/main" id="{7846B583-B5BB-48F6-BF26-7C1FE3A24D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7425" y="3502025"/>
          <a:ext cx="3125788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6811" imgH="482391" progId="Equation.DSMT4">
                  <p:embed/>
                </p:oleObj>
              </mc:Choice>
              <mc:Fallback>
                <p:oleObj name="Equation" r:id="rId8" imgW="1586811" imgH="48239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425" y="3502025"/>
                        <a:ext cx="3125788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23">
            <a:extLst>
              <a:ext uri="{FF2B5EF4-FFF2-40B4-BE49-F238E27FC236}">
                <a16:creationId xmlns:a16="http://schemas.microsoft.com/office/drawing/2014/main" id="{E93C4C8C-E327-4221-B273-288DBB351FF5}"/>
              </a:ext>
            </a:extLst>
          </p:cNvPr>
          <p:cNvGrpSpPr>
            <a:grpSpLocks/>
          </p:cNvGrpSpPr>
          <p:nvPr/>
        </p:nvGrpSpPr>
        <p:grpSpPr bwMode="auto">
          <a:xfrm>
            <a:off x="912813" y="4799013"/>
            <a:ext cx="4824412" cy="1798637"/>
            <a:chOff x="913011" y="4799509"/>
            <a:chExt cx="4824536" cy="1798637"/>
          </a:xfrm>
        </p:grpSpPr>
        <p:graphicFrame>
          <p:nvGraphicFramePr>
            <p:cNvPr id="31753" name="Object 6">
              <a:extLst>
                <a:ext uri="{FF2B5EF4-FFF2-40B4-BE49-F238E27FC236}">
                  <a16:creationId xmlns:a16="http://schemas.microsoft.com/office/drawing/2014/main" id="{477DC9F6-F792-4C31-A5B0-B55A504744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3011" y="4799509"/>
            <a:ext cx="1549400" cy="179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87400" imgH="914400" progId="Equation.DSMT4">
                    <p:embed/>
                  </p:oleObj>
                </mc:Choice>
                <mc:Fallback>
                  <p:oleObj name="Equation" r:id="rId10" imgW="787400" imgH="9144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3011" y="4799509"/>
                          <a:ext cx="1549400" cy="1798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4" name="Text Box 2">
              <a:extLst>
                <a:ext uri="{FF2B5EF4-FFF2-40B4-BE49-F238E27FC236}">
                  <a16:creationId xmlns:a16="http://schemas.microsoft.com/office/drawing/2014/main" id="{B1AF75A9-1F45-4BB9-933D-EAAE0CDB4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7187" y="5446018"/>
              <a:ext cx="324036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是一组基础解系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</a:p>
          </p:txBody>
        </p:sp>
      </p:grpSp>
      <p:sp>
        <p:nvSpPr>
          <p:cNvPr id="22" name="Text Box 2">
            <a:extLst>
              <a:ext uri="{FF2B5EF4-FFF2-40B4-BE49-F238E27FC236}">
                <a16:creationId xmlns:a16="http://schemas.microsoft.com/office/drawing/2014/main" id="{ABFB7B81-58E1-4664-BA73-4E47B5CA8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00" y="6021388"/>
            <a:ext cx="741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它们也是解空间的一组基，解空间的维数为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技巧">
  <a:themeElements>
    <a:clrScheme name="技巧 3">
      <a:dk1>
        <a:srgbClr val="000000"/>
      </a:dk1>
      <a:lt1>
        <a:srgbClr val="FDE1BC"/>
      </a:lt1>
      <a:dk2>
        <a:srgbClr val="000000"/>
      </a:dk2>
      <a:lt2>
        <a:srgbClr val="FEF0DD"/>
      </a:lt2>
      <a:accent1>
        <a:srgbClr val="2A1801"/>
      </a:accent1>
      <a:accent2>
        <a:srgbClr val="2A1801"/>
      </a:accent2>
      <a:accent3>
        <a:srgbClr val="FEEEDA"/>
      </a:accent3>
      <a:accent4>
        <a:srgbClr val="000000"/>
      </a:accent4>
      <a:accent5>
        <a:srgbClr val="ACABAA"/>
      </a:accent5>
      <a:accent6>
        <a:srgbClr val="251501"/>
      </a:accent6>
      <a:hlink>
        <a:srgbClr val="EB8803"/>
      </a:hlink>
      <a:folHlink>
        <a:srgbClr val="5F7791"/>
      </a:folHlink>
    </a:clrScheme>
    <a:fontScheme name="技巧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市镇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>
    <a:extraClrScheme>
      <a:clrScheme name="技巧 1">
        <a:dk1>
          <a:srgbClr val="F9B150"/>
        </a:dk1>
        <a:lt1>
          <a:srgbClr val="FDE1BC"/>
        </a:lt1>
        <a:dk2>
          <a:srgbClr val="D6ECFF"/>
        </a:dk2>
        <a:lt2>
          <a:srgbClr val="FEF0DD"/>
        </a:lt2>
        <a:accent1>
          <a:srgbClr val="2A1801"/>
        </a:accent1>
        <a:accent2>
          <a:srgbClr val="2A1801"/>
        </a:accent2>
        <a:accent3>
          <a:srgbClr val="FEEEDA"/>
        </a:accent3>
        <a:accent4>
          <a:srgbClr val="D59743"/>
        </a:accent4>
        <a:accent5>
          <a:srgbClr val="ACABAA"/>
        </a:accent5>
        <a:accent6>
          <a:srgbClr val="251501"/>
        </a:accent6>
        <a:hlink>
          <a:srgbClr val="EB8803"/>
        </a:hlink>
        <a:folHlink>
          <a:srgbClr val="5F77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技巧 2">
        <a:dk1>
          <a:srgbClr val="000000"/>
        </a:dk1>
        <a:lt1>
          <a:srgbClr val="FDE1BC"/>
        </a:lt1>
        <a:dk2>
          <a:srgbClr val="D6ECFF"/>
        </a:dk2>
        <a:lt2>
          <a:srgbClr val="FEF0DD"/>
        </a:lt2>
        <a:accent1>
          <a:srgbClr val="2A1801"/>
        </a:accent1>
        <a:accent2>
          <a:srgbClr val="2A1801"/>
        </a:accent2>
        <a:accent3>
          <a:srgbClr val="FEEEDA"/>
        </a:accent3>
        <a:accent4>
          <a:srgbClr val="000000"/>
        </a:accent4>
        <a:accent5>
          <a:srgbClr val="ACABAA"/>
        </a:accent5>
        <a:accent6>
          <a:srgbClr val="251501"/>
        </a:accent6>
        <a:hlink>
          <a:srgbClr val="EB8803"/>
        </a:hlink>
        <a:folHlink>
          <a:srgbClr val="5F77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技巧 3">
        <a:dk1>
          <a:srgbClr val="000000"/>
        </a:dk1>
        <a:lt1>
          <a:srgbClr val="FDE1BC"/>
        </a:lt1>
        <a:dk2>
          <a:srgbClr val="000000"/>
        </a:dk2>
        <a:lt2>
          <a:srgbClr val="FEF0DD"/>
        </a:lt2>
        <a:accent1>
          <a:srgbClr val="2A1801"/>
        </a:accent1>
        <a:accent2>
          <a:srgbClr val="2A1801"/>
        </a:accent2>
        <a:accent3>
          <a:srgbClr val="FEEEDA"/>
        </a:accent3>
        <a:accent4>
          <a:srgbClr val="000000"/>
        </a:accent4>
        <a:accent5>
          <a:srgbClr val="ACABAA"/>
        </a:accent5>
        <a:accent6>
          <a:srgbClr val="251501"/>
        </a:accent6>
        <a:hlink>
          <a:srgbClr val="EB8803"/>
        </a:hlink>
        <a:folHlink>
          <a:srgbClr val="5F779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13318</TotalTime>
  <Words>3671</Words>
  <Application>Microsoft Office PowerPoint</Application>
  <PresentationFormat>自定义</PresentationFormat>
  <Paragraphs>221</Paragraphs>
  <Slides>30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华文新魏</vt:lpstr>
      <vt:lpstr>楷体</vt:lpstr>
      <vt:lpstr>宋体</vt:lpstr>
      <vt:lpstr>微软雅黑</vt:lpstr>
      <vt:lpstr>Arial</vt:lpstr>
      <vt:lpstr>Franklin Gothic Book</vt:lpstr>
      <vt:lpstr>Times New Roman</vt:lpstr>
      <vt:lpstr>Wingdings 2</vt:lpstr>
      <vt:lpstr>技巧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xitong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</dc:title>
  <dc:creator>guoyang</dc:creator>
  <cp:lastModifiedBy>阳 郭</cp:lastModifiedBy>
  <cp:revision>740</cp:revision>
  <dcterms:created xsi:type="dcterms:W3CDTF">2002-06-16T14:32:15Z</dcterms:created>
  <dcterms:modified xsi:type="dcterms:W3CDTF">2025-11-30T14:27:43Z</dcterms:modified>
</cp:coreProperties>
</file>